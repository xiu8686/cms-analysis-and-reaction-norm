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4"/>
  </p:notesMasterIdLst>
  <p:sldIdLst>
    <p:sldId id="369" r:id="rId2"/>
    <p:sldId id="423" r:id="rId3"/>
    <p:sldId id="370" r:id="rId4"/>
    <p:sldId id="372" r:id="rId5"/>
    <p:sldId id="429" r:id="rId6"/>
    <p:sldId id="430" r:id="rId7"/>
    <p:sldId id="431" r:id="rId8"/>
    <p:sldId id="433" r:id="rId9"/>
    <p:sldId id="376" r:id="rId10"/>
    <p:sldId id="377" r:id="rId11"/>
    <p:sldId id="378" r:id="rId12"/>
    <p:sldId id="379" r:id="rId13"/>
    <p:sldId id="380" r:id="rId14"/>
    <p:sldId id="381" r:id="rId15"/>
    <p:sldId id="401" r:id="rId16"/>
    <p:sldId id="407" r:id="rId17"/>
    <p:sldId id="383" r:id="rId18"/>
    <p:sldId id="384" r:id="rId19"/>
    <p:sldId id="428" r:id="rId20"/>
    <p:sldId id="385" r:id="rId21"/>
    <p:sldId id="406" r:id="rId22"/>
    <p:sldId id="386" r:id="rId23"/>
    <p:sldId id="387" r:id="rId24"/>
    <p:sldId id="388" r:id="rId25"/>
    <p:sldId id="390" r:id="rId26"/>
    <p:sldId id="392" r:id="rId27"/>
    <p:sldId id="394" r:id="rId28"/>
    <p:sldId id="396" r:id="rId29"/>
    <p:sldId id="397" r:id="rId30"/>
    <p:sldId id="398" r:id="rId31"/>
    <p:sldId id="399" r:id="rId32"/>
    <p:sldId id="265" r:id="rId33"/>
    <p:sldId id="266" r:id="rId34"/>
    <p:sldId id="403" r:id="rId35"/>
    <p:sldId id="424" r:id="rId36"/>
    <p:sldId id="400" r:id="rId37"/>
    <p:sldId id="268" r:id="rId38"/>
    <p:sldId id="257" r:id="rId39"/>
    <p:sldId id="338" r:id="rId40"/>
    <p:sldId id="340" r:id="rId41"/>
    <p:sldId id="360" r:id="rId42"/>
    <p:sldId id="339" r:id="rId43"/>
    <p:sldId id="343" r:id="rId44"/>
    <p:sldId id="411" r:id="rId45"/>
    <p:sldId id="349" r:id="rId46"/>
    <p:sldId id="350" r:id="rId47"/>
    <p:sldId id="412" r:id="rId48"/>
    <p:sldId id="351" r:id="rId49"/>
    <p:sldId id="413" r:id="rId50"/>
    <p:sldId id="414" r:id="rId51"/>
    <p:sldId id="415" r:id="rId52"/>
    <p:sldId id="418" r:id="rId53"/>
    <p:sldId id="417" r:id="rId54"/>
    <p:sldId id="358" r:id="rId55"/>
    <p:sldId id="410" r:id="rId56"/>
    <p:sldId id="425" r:id="rId57"/>
    <p:sldId id="363" r:id="rId58"/>
    <p:sldId id="361" r:id="rId59"/>
    <p:sldId id="362" r:id="rId60"/>
    <p:sldId id="365" r:id="rId61"/>
    <p:sldId id="426" r:id="rId62"/>
    <p:sldId id="366" r:id="rId63"/>
    <p:sldId id="368" r:id="rId64"/>
    <p:sldId id="422" r:id="rId65"/>
    <p:sldId id="367" r:id="rId66"/>
    <p:sldId id="408" r:id="rId67"/>
    <p:sldId id="435" r:id="rId68"/>
    <p:sldId id="434" r:id="rId69"/>
    <p:sldId id="258" r:id="rId70"/>
    <p:sldId id="259" r:id="rId71"/>
    <p:sldId id="260" r:id="rId72"/>
    <p:sldId id="261" r:id="rId73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0070C0"/>
    <a:srgbClr val="92D050"/>
    <a:srgbClr val="A6A6A6"/>
    <a:srgbClr val="C00000"/>
    <a:srgbClr val="00206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250" autoAdjust="0"/>
  </p:normalViewPr>
  <p:slideViewPr>
    <p:cSldViewPr>
      <p:cViewPr varScale="1">
        <p:scale>
          <a:sx n="59" d="100"/>
          <a:sy n="59" d="100"/>
        </p:scale>
        <p:origin x="92" y="4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9292"/>
    </p:cViewPr>
  </p:sorterViewPr>
  <p:notesViewPr>
    <p:cSldViewPr>
      <p:cViewPr varScale="1">
        <p:scale>
          <a:sx n="59" d="100"/>
          <a:sy n="59" d="100"/>
        </p:scale>
        <p:origin x="-250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2B72F966-863F-4F3B-A166-F4E2E9072A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97990AC-8C62-4368-AA62-5BFB4F6BF733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6A3DD71-15FA-4C15-82BF-9B3F350A1245}" type="slidenum">
              <a:rPr lang="en-GB" altLang="en-US" smtClean="0">
                <a:solidFill>
                  <a:srgbClr val="000000"/>
                </a:solidFill>
              </a:rPr>
              <a:pPr/>
              <a:t>2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4E832E6-EDD0-4D63-AD89-337DD15D4EA2}" type="slidenum">
              <a:rPr lang="en-GB" altLang="en-US" smtClean="0">
                <a:solidFill>
                  <a:srgbClr val="000000"/>
                </a:solidFill>
              </a:rPr>
              <a:pPr/>
              <a:t>35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4D1F908-D576-4684-8844-26948DC81CB6}" type="slidenum">
              <a:rPr lang="en-GB" altLang="en-US" smtClean="0">
                <a:solidFill>
                  <a:srgbClr val="000000"/>
                </a:solidFill>
              </a:rPr>
              <a:pPr/>
              <a:t>56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1B637AC-4C40-415A-A812-202D34B99A43}" type="slidenum">
              <a:rPr lang="en-GB" altLang="en-US" smtClean="0">
                <a:solidFill>
                  <a:srgbClr val="000000"/>
                </a:solidFill>
              </a:rPr>
              <a:pPr/>
              <a:t>61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1B637AC-4C40-415A-A812-202D34B99A43}" type="slidenum">
              <a:rPr lang="en-GB" altLang="en-US" smtClean="0">
                <a:solidFill>
                  <a:srgbClr val="000000"/>
                </a:solidFill>
              </a:rPr>
              <a:pPr/>
              <a:t>68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7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BB02B-EF9A-4177-8B5F-813A9D3D0DC2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D440A-0509-48A6-A20C-76745E75A3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62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 sz="2400"/>
            </a:lvl3pPr>
            <a:lvl4pPr>
              <a:buClr>
                <a:srgbClr val="C00000"/>
              </a:buClr>
              <a:defRPr sz="2400"/>
            </a:lvl4pPr>
            <a:lvl5pPr>
              <a:buClr>
                <a:srgbClr val="C00000"/>
              </a:buCl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98ACB-B92D-4EBF-8C9C-8A5F9984FF98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33AE8-7335-4870-8FF7-B7599B2B97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47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4119D-9FEB-40DE-A3C4-118A4159C8DD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84C8E-6634-4882-8A2D-857DBD275F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34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81B50-4916-4A8E-B35E-3E946655A430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54C9E-7ADC-4433-91E3-E224F5C076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8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1196976"/>
            <a:ext cx="5755216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96976"/>
            <a:ext cx="575521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8EE89-D5FC-4EE0-9CD6-95074104DC4B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34BF1-CD22-4B24-96E2-D6CB9A5137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376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54B91-BB9E-49DC-92A5-B8D969871C67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1F9DF-E0AB-48F1-8D38-7701D29E6E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32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31B21-3199-4C8C-BE95-462FC55BFF54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205B0-0EFF-4CB8-A865-34B4F56875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14D2A-334A-4023-A68F-3E7A5314108B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962D-40E2-48A2-9D2A-F7AE43557F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45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9FD17-97C3-4530-B362-2DF234BB4DEA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AD2CE-C9AB-4E0A-B6B4-502D3C43E7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86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B6307-43D3-4269-9918-27318FA4EC62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AA6E2B-A37F-41B7-9E83-F2BAB91762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22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93D8F4-7F73-4796-A1E9-6DC051EAAC6B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4519F-54F0-48FA-BF7B-9E4B11BE82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864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5467" y="269876"/>
            <a:ext cx="2927351" cy="5895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9184" y="269876"/>
            <a:ext cx="8583083" cy="5895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5DA7C-17CA-4E68-AB97-DF7ED84AC6D5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3EE7F-DEDA-412F-86F0-DBF30DD0A7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62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E6E6E6"/>
            </a:gs>
            <a:gs pos="50000">
              <a:srgbClr val="DDDDDD"/>
            </a:gs>
            <a:gs pos="100000">
              <a:srgbClr val="E6E6E6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185" y="269875"/>
            <a:ext cx="1171363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5" y="1196976"/>
            <a:ext cx="11713633" cy="4968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81E89AC-C70D-4FE6-B422-8234E6C18716}" type="datetime4">
              <a:rPr lang="en-GB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GB"/>
              <a:t>Lecture 6</a:t>
            </a:r>
          </a:p>
        </p:txBody>
      </p:sp>
      <p:sp>
        <p:nvSpPr>
          <p:cNvPr id="578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833BFE2-A8F4-40DF-8195-98EEFE1384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143934" y="212725"/>
            <a:ext cx="662516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600" b="1">
              <a:solidFill>
                <a:schemeClr val="bg1"/>
              </a:solidFill>
            </a:endParaRPr>
          </a:p>
        </p:txBody>
      </p:sp>
      <p:pic>
        <p:nvPicPr>
          <p:cNvPr id="1032" name="Picture 9" descr="roslin new logo Blk"/>
          <p:cNvPicPr>
            <a:picLocks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000" y="6336000"/>
            <a:ext cx="105576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 descr="R(D)SVSlogofade3.psd"/>
          <p:cNvPicPr>
            <a:picLocks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6211889"/>
            <a:ext cx="1537929" cy="52228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1"/>
          <p:cNvPicPr>
            <a:picLocks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219825"/>
            <a:ext cx="524901" cy="5222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800">
          <a:solidFill>
            <a:srgbClr val="4D4D4D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196B061-7E78-4C51-9874-117DA62EBF4B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6 ...</a:t>
            </a:r>
            <a:br>
              <a:rPr lang="en-GB" altLang="en-US"/>
            </a:br>
            <a:r>
              <a:rPr lang="en-GB" altLang="en-US"/>
              <a:t>Single Locus Models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FC41158-4880-4C12-89EC-F5C28EF52FC7}" type="datetime4">
              <a:rPr lang="en-GB" altLang="en-US">
                <a:solidFill>
                  <a:srgbClr val="000000"/>
                </a:solidFill>
              </a:rPr>
              <a:pPr/>
              <a:t>29 January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6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6 ...</a:t>
            </a:r>
            <a:br>
              <a:rPr lang="en-GB" altLang="en-US"/>
            </a:br>
            <a:r>
              <a:rPr lang="en-GB" altLang="en-US"/>
              <a:t>Single Locus Models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1: estimating effects of loci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Genetic Variation in Models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Sources with ‘random effect’</a:t>
            </a:r>
          </a:p>
          <a:p>
            <a:pPr lvl="1" eaLnBrk="1" hangingPunct="1"/>
            <a:r>
              <a:rPr lang="en-GB" altLang="en-US"/>
              <a:t>infinitesimal model within breeds </a:t>
            </a:r>
          </a:p>
          <a:p>
            <a:pPr lvl="1" eaLnBrk="1" hangingPunct="1"/>
            <a:r>
              <a:rPr lang="en-GB" altLang="en-US"/>
              <a:t>many loci within breeds i.e. approximate</a:t>
            </a:r>
          </a:p>
          <a:p>
            <a:pPr lvl="1" eaLnBrk="1" hangingPunct="1"/>
            <a:r>
              <a:rPr lang="en-GB" altLang="en-US"/>
              <a:t>a set of inbred lines derived from a base </a:t>
            </a:r>
          </a:p>
          <a:p>
            <a:pPr lvl="1" eaLnBrk="1" hangingPunct="1"/>
            <a:r>
              <a:rPr lang="en-GB" altLang="en-US"/>
              <a:t>a large sample of breeds (possibly)</a:t>
            </a:r>
          </a:p>
          <a:p>
            <a:pPr eaLnBrk="1" hangingPunct="1"/>
            <a:r>
              <a:rPr lang="en-GB" altLang="en-US"/>
              <a:t>Sources with fixed effect</a:t>
            </a:r>
          </a:p>
          <a:p>
            <a:pPr lvl="1" eaLnBrk="1" hangingPunct="1"/>
            <a:r>
              <a:rPr lang="en-GB" altLang="en-US"/>
              <a:t>differences between breeds or named lines</a:t>
            </a:r>
          </a:p>
          <a:p>
            <a:pPr lvl="2" eaLnBrk="1" hangingPunct="1"/>
            <a:r>
              <a:rPr lang="en-GB" altLang="en-US"/>
              <a:t>unlikely to be a randomly sampled</a:t>
            </a:r>
          </a:p>
          <a:p>
            <a:pPr lvl="1" eaLnBrk="1" hangingPunct="1"/>
            <a:r>
              <a:rPr lang="en-GB" altLang="en-US" u="sng"/>
              <a:t>specific pre-determined loci</a:t>
            </a:r>
          </a:p>
          <a:p>
            <a:pPr lvl="1" eaLnBrk="1" hangingPunct="1"/>
            <a:endParaRPr lang="en-GB" altLang="en-US"/>
          </a:p>
          <a:p>
            <a:pPr lvl="1"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717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E3A057-AC8D-4E16-93A0-2B530A35B40D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Myostatin Gene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/>
              <a:t>Causes double muscling in  cattle</a:t>
            </a:r>
          </a:p>
          <a:p>
            <a:pPr eaLnBrk="1" hangingPunct="1"/>
            <a:r>
              <a:rPr lang="en-GB" altLang="en-US" sz="2800" dirty="0"/>
              <a:t>One of the first causative variants identified for a complex trait</a:t>
            </a:r>
          </a:p>
          <a:p>
            <a:pPr lvl="1" eaLnBrk="1" hangingPunct="1"/>
            <a:r>
              <a:rPr lang="en-GB" altLang="en-US" sz="2400" dirty="0"/>
              <a:t>is it in other populations?</a:t>
            </a:r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6B1973-60E5-42C7-A061-F3FE8B1ECD9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pic>
        <p:nvPicPr>
          <p:cNvPr id="9222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698" y="2348880"/>
            <a:ext cx="4327641" cy="3054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7"/>
          <p:cNvSpPr txBox="1">
            <a:spLocks noChangeArrowheads="1"/>
          </p:cNvSpPr>
          <p:nvPr/>
        </p:nvSpPr>
        <p:spPr bwMode="auto">
          <a:xfrm>
            <a:off x="7412731" y="5003328"/>
            <a:ext cx="3579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Nature Genetics 17: 71-74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Myostatin Gene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/>
              <a:t>Causes double muscling in  cattle</a:t>
            </a:r>
          </a:p>
          <a:p>
            <a:pPr eaLnBrk="1" hangingPunct="1"/>
            <a:r>
              <a:rPr lang="en-GB" altLang="en-US" sz="2800" dirty="0"/>
              <a:t>One of the first causative variants identified for a complex trait</a:t>
            </a:r>
          </a:p>
          <a:p>
            <a:pPr lvl="1" eaLnBrk="1" hangingPunct="1"/>
            <a:r>
              <a:rPr lang="en-GB" altLang="en-US" sz="2400" dirty="0"/>
              <a:t>is it in other populations?</a:t>
            </a:r>
          </a:p>
          <a:p>
            <a:pPr lvl="2" eaLnBrk="1" hangingPunct="1"/>
            <a:r>
              <a:rPr lang="en-GB" altLang="en-US" sz="2000" dirty="0"/>
              <a:t>YES!</a:t>
            </a:r>
          </a:p>
          <a:p>
            <a:pPr lvl="1" eaLnBrk="1" hangingPunct="1"/>
            <a:r>
              <a:rPr lang="en-GB" altLang="en-US" sz="2400" dirty="0"/>
              <a:t>does it have the same effect?</a:t>
            </a:r>
          </a:p>
          <a:p>
            <a:pPr lvl="1" eaLnBrk="1" hangingPunct="1"/>
            <a:endParaRPr lang="en-GB" altLang="en-US" sz="2400" dirty="0"/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6B1973-60E5-42C7-A061-F3FE8B1ECD9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pic>
        <p:nvPicPr>
          <p:cNvPr id="9222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698" y="2348880"/>
            <a:ext cx="4327641" cy="3054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7"/>
          <p:cNvSpPr txBox="1">
            <a:spLocks noChangeArrowheads="1"/>
          </p:cNvSpPr>
          <p:nvPr/>
        </p:nvSpPr>
        <p:spPr bwMode="auto">
          <a:xfrm>
            <a:off x="7412731" y="5003328"/>
            <a:ext cx="3579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Nature Genetics 17: 71-74</a:t>
            </a:r>
          </a:p>
        </p:txBody>
      </p:sp>
    </p:spTree>
    <p:extLst>
      <p:ext uri="{BB962C8B-B14F-4D97-AF65-F5344CB8AC3E}">
        <p14:creationId xmlns:p14="http://schemas.microsoft.com/office/powerpoint/2010/main" val="355189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Myostatin Gene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/>
              <a:t>Causes double muscling in  cattle</a:t>
            </a:r>
          </a:p>
          <a:p>
            <a:pPr eaLnBrk="1" hangingPunct="1"/>
            <a:r>
              <a:rPr lang="en-GB" altLang="en-US" sz="2800" dirty="0"/>
              <a:t>One of the first causative variants identified for a complex trait</a:t>
            </a:r>
          </a:p>
          <a:p>
            <a:pPr lvl="1" eaLnBrk="1" hangingPunct="1"/>
            <a:r>
              <a:rPr lang="en-GB" altLang="en-US" sz="2400" dirty="0"/>
              <a:t>is it in other populations?</a:t>
            </a:r>
          </a:p>
          <a:p>
            <a:pPr lvl="2" eaLnBrk="1" hangingPunct="1"/>
            <a:r>
              <a:rPr lang="en-GB" altLang="en-US" sz="2000" dirty="0"/>
              <a:t>YES!</a:t>
            </a:r>
          </a:p>
          <a:p>
            <a:pPr lvl="1" eaLnBrk="1" hangingPunct="1"/>
            <a:r>
              <a:rPr lang="en-GB" altLang="en-US" sz="2400" dirty="0"/>
              <a:t>does it have the same effect?</a:t>
            </a:r>
          </a:p>
          <a:p>
            <a:pPr lvl="2" eaLnBrk="1" hangingPunct="1"/>
            <a:r>
              <a:rPr lang="en-GB" altLang="en-US" sz="2000" dirty="0"/>
              <a:t>NO!</a:t>
            </a:r>
          </a:p>
          <a:p>
            <a:pPr lvl="1" eaLnBrk="1" hangingPunct="1"/>
            <a:endParaRPr lang="en-GB" altLang="en-US" sz="2400" dirty="0"/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6B1973-60E5-42C7-A061-F3FE8B1ECD9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pic>
        <p:nvPicPr>
          <p:cNvPr id="9222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698" y="2348880"/>
            <a:ext cx="4327641" cy="3054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7"/>
          <p:cNvSpPr txBox="1">
            <a:spLocks noChangeArrowheads="1"/>
          </p:cNvSpPr>
          <p:nvPr/>
        </p:nvSpPr>
        <p:spPr bwMode="auto">
          <a:xfrm>
            <a:off x="7412731" y="5003328"/>
            <a:ext cx="3579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Nature Genetics 17: 71-74</a:t>
            </a:r>
          </a:p>
        </p:txBody>
      </p:sp>
    </p:spTree>
    <p:extLst>
      <p:ext uri="{BB962C8B-B14F-4D97-AF65-F5344CB8AC3E}">
        <p14:creationId xmlns:p14="http://schemas.microsoft.com/office/powerpoint/2010/main" val="308446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Myostatin Gene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/>
              <a:t>Causes double muscling in  cattle</a:t>
            </a:r>
          </a:p>
          <a:p>
            <a:pPr eaLnBrk="1" hangingPunct="1"/>
            <a:r>
              <a:rPr lang="en-GB" altLang="en-US" sz="2800" dirty="0"/>
              <a:t>One of the first causative variants identified for a complex trait</a:t>
            </a:r>
          </a:p>
          <a:p>
            <a:pPr lvl="1" eaLnBrk="1" hangingPunct="1"/>
            <a:r>
              <a:rPr lang="en-GB" altLang="en-US" sz="2400" dirty="0"/>
              <a:t>is it in other populations?</a:t>
            </a:r>
          </a:p>
          <a:p>
            <a:pPr lvl="2" eaLnBrk="1" hangingPunct="1"/>
            <a:r>
              <a:rPr lang="en-GB" altLang="en-US" sz="2000" dirty="0"/>
              <a:t>YES!</a:t>
            </a:r>
          </a:p>
          <a:p>
            <a:pPr lvl="1" eaLnBrk="1" hangingPunct="1"/>
            <a:r>
              <a:rPr lang="en-GB" altLang="en-US" sz="2400" dirty="0"/>
              <a:t>does it have the same effect?</a:t>
            </a:r>
          </a:p>
          <a:p>
            <a:pPr lvl="2" eaLnBrk="1" hangingPunct="1"/>
            <a:r>
              <a:rPr lang="en-GB" altLang="en-US" sz="2000" dirty="0"/>
              <a:t>NO!</a:t>
            </a:r>
          </a:p>
          <a:p>
            <a:pPr lvl="1" eaLnBrk="1" hangingPunct="1"/>
            <a:endParaRPr lang="en-GB" altLang="en-US" sz="2400" dirty="0"/>
          </a:p>
          <a:p>
            <a:pPr lvl="1" eaLnBrk="1" hangingPunct="1"/>
            <a:endParaRPr lang="en-GB" altLang="en-US" sz="2400" dirty="0"/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6B1973-60E5-42C7-A061-F3FE8B1ECD9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pic>
        <p:nvPicPr>
          <p:cNvPr id="9222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698" y="2348880"/>
            <a:ext cx="4327641" cy="3054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7"/>
          <p:cNvSpPr txBox="1">
            <a:spLocks noChangeArrowheads="1"/>
          </p:cNvSpPr>
          <p:nvPr/>
        </p:nvSpPr>
        <p:spPr bwMode="auto">
          <a:xfrm>
            <a:off x="7412731" y="5003328"/>
            <a:ext cx="3579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Nature Genetics 17: 71-74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C4BCA86-89A4-4F6C-A490-78081A1829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2" y="2884026"/>
            <a:ext cx="4593905" cy="30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51AE1C35-ABB3-47F5-AF6D-F724FFB6F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6" y="5570539"/>
            <a:ext cx="201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from Wikipedia</a:t>
            </a:r>
          </a:p>
        </p:txBody>
      </p:sp>
    </p:spTree>
    <p:extLst>
      <p:ext uri="{BB962C8B-B14F-4D97-AF65-F5344CB8AC3E}">
        <p14:creationId xmlns:p14="http://schemas.microsoft.com/office/powerpoint/2010/main" val="3568436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Myostatin Gene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/>
              <a:t>Causes double muscling in  cattle</a:t>
            </a:r>
          </a:p>
          <a:p>
            <a:pPr eaLnBrk="1" hangingPunct="1"/>
            <a:r>
              <a:rPr lang="en-GB" altLang="en-US" sz="2800" dirty="0"/>
              <a:t>One of the first causative variants identified for a complex trait</a:t>
            </a:r>
          </a:p>
          <a:p>
            <a:pPr lvl="1" eaLnBrk="1" hangingPunct="1"/>
            <a:r>
              <a:rPr lang="en-GB" altLang="en-US" sz="2400" dirty="0"/>
              <a:t>is it in other populations?</a:t>
            </a:r>
          </a:p>
          <a:p>
            <a:pPr lvl="2" eaLnBrk="1" hangingPunct="1"/>
            <a:r>
              <a:rPr lang="en-GB" altLang="en-US" sz="2000" dirty="0"/>
              <a:t>YES!</a:t>
            </a:r>
          </a:p>
          <a:p>
            <a:pPr lvl="1" eaLnBrk="1" hangingPunct="1"/>
            <a:r>
              <a:rPr lang="en-GB" altLang="en-US" sz="2400" dirty="0"/>
              <a:t>does it have the same effect?</a:t>
            </a:r>
          </a:p>
          <a:p>
            <a:pPr lvl="2" eaLnBrk="1" hangingPunct="1"/>
            <a:r>
              <a:rPr lang="en-GB" altLang="en-US" sz="2000" dirty="0"/>
              <a:t>NO!</a:t>
            </a:r>
          </a:p>
          <a:p>
            <a:pPr lvl="1" eaLnBrk="1" hangingPunct="1"/>
            <a:r>
              <a:rPr lang="en-GB" altLang="en-US" sz="2400" dirty="0"/>
              <a:t>is it pleiotropic?</a:t>
            </a:r>
          </a:p>
          <a:p>
            <a:pPr lvl="2" eaLnBrk="1" hangingPunct="1"/>
            <a:r>
              <a:rPr lang="en-GB" altLang="en-US" sz="2000" dirty="0"/>
              <a:t>YES!</a:t>
            </a:r>
          </a:p>
          <a:p>
            <a:pPr lvl="1" eaLnBrk="1" hangingPunct="1"/>
            <a:endParaRPr lang="en-GB" altLang="en-US" sz="2400" dirty="0"/>
          </a:p>
          <a:p>
            <a:pPr lvl="1" eaLnBrk="1" hangingPunct="1"/>
            <a:endParaRPr lang="en-GB" altLang="en-US" sz="2400" dirty="0"/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6B1973-60E5-42C7-A061-F3FE8B1ECD9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pic>
        <p:nvPicPr>
          <p:cNvPr id="9222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698" y="2348880"/>
            <a:ext cx="4327641" cy="3054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7"/>
          <p:cNvSpPr txBox="1">
            <a:spLocks noChangeArrowheads="1"/>
          </p:cNvSpPr>
          <p:nvPr/>
        </p:nvSpPr>
        <p:spPr bwMode="auto">
          <a:xfrm>
            <a:off x="7412731" y="5003328"/>
            <a:ext cx="3579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Nature Genetics 17: 71-74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C4BCA86-89A4-4F6C-A490-78081A1829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2" y="2884026"/>
            <a:ext cx="4593905" cy="30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51AE1C35-ABB3-47F5-AF6D-F724FFB6F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6" y="5570539"/>
            <a:ext cx="201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from Wikipedia</a:t>
            </a:r>
          </a:p>
        </p:txBody>
      </p:sp>
    </p:spTree>
    <p:extLst>
      <p:ext uri="{BB962C8B-B14F-4D97-AF65-F5344CB8AC3E}">
        <p14:creationId xmlns:p14="http://schemas.microsoft.com/office/powerpoint/2010/main" val="127994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Test Effects 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Natural experiment to look at these questions</a:t>
            </a:r>
          </a:p>
          <a:p>
            <a:pPr lvl="1" eaLnBrk="1" hangingPunct="1"/>
            <a:r>
              <a:rPr lang="en-GB" altLang="en-US"/>
              <a:t>sample population</a:t>
            </a:r>
          </a:p>
          <a:p>
            <a:pPr lvl="1" eaLnBrk="1" hangingPunct="1"/>
            <a:r>
              <a:rPr lang="en-GB" altLang="en-US"/>
              <a:t>measure traits of interest</a:t>
            </a:r>
          </a:p>
          <a:p>
            <a:pPr lvl="1" eaLnBrk="1" hangingPunct="1"/>
            <a:r>
              <a:rPr lang="en-GB" altLang="en-US"/>
              <a:t>genotype the locus</a:t>
            </a:r>
          </a:p>
          <a:p>
            <a:pPr lvl="1" eaLnBrk="1" hangingPunct="1"/>
            <a:r>
              <a:rPr lang="en-GB" altLang="en-US"/>
              <a:t>fit a model</a:t>
            </a:r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6991C27-7ADB-4AC5-841F-983036E02E03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Least Squares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Model </a:t>
            </a:r>
            <a:r>
              <a:rPr lang="en-GB" b="1" dirty="0"/>
              <a:t>y </a:t>
            </a:r>
            <a:r>
              <a:rPr lang="en-GB" dirty="0"/>
              <a:t>= </a:t>
            </a:r>
            <a:r>
              <a:rPr lang="en-GB" b="1" dirty="0"/>
              <a:t>1</a:t>
            </a:r>
            <a:r>
              <a:rPr lang="en-GB" i="1" dirty="0"/>
              <a:t>m </a:t>
            </a:r>
            <a:r>
              <a:rPr lang="en-GB" dirty="0"/>
              <a:t>+</a:t>
            </a:r>
            <a:r>
              <a:rPr lang="en-GB" i="1" dirty="0"/>
              <a:t> </a:t>
            </a:r>
            <a:r>
              <a:rPr lang="en-GB" b="1" dirty="0"/>
              <a:t>X</a:t>
            </a:r>
            <a:r>
              <a:rPr lang="en-GB" baseline="-25000" dirty="0"/>
              <a:t>1</a:t>
            </a:r>
            <a:r>
              <a:rPr lang="en-GB" b="1" dirty="0"/>
              <a:t>b </a:t>
            </a:r>
            <a:r>
              <a:rPr lang="en-GB" dirty="0"/>
              <a:t>+ </a:t>
            </a:r>
            <a:r>
              <a:rPr lang="en-GB" b="1" dirty="0"/>
              <a:t>X</a:t>
            </a:r>
            <a:r>
              <a:rPr lang="en-GB" baseline="-25000" dirty="0"/>
              <a:t>2</a:t>
            </a:r>
            <a:r>
              <a:rPr lang="en-GB" b="1" dirty="0"/>
              <a:t>g </a:t>
            </a:r>
            <a:r>
              <a:rPr lang="en-GB" dirty="0"/>
              <a:t>+ </a:t>
            </a:r>
            <a:r>
              <a:rPr lang="en-GB" b="1" dirty="0"/>
              <a:t>e</a:t>
            </a:r>
          </a:p>
          <a:p>
            <a:pPr lvl="1" eaLnBrk="1" hangingPunct="1">
              <a:defRPr/>
            </a:pPr>
            <a:r>
              <a:rPr lang="en-GB" b="1" dirty="0"/>
              <a:t>y</a:t>
            </a:r>
            <a:r>
              <a:rPr lang="en-GB" dirty="0"/>
              <a:t> 	vector of observations (n x 1)</a:t>
            </a:r>
          </a:p>
          <a:p>
            <a:pPr lvl="1" eaLnBrk="1" hangingPunct="1">
              <a:defRPr/>
            </a:pPr>
            <a:r>
              <a:rPr lang="en-GB" b="1" dirty="0"/>
              <a:t>1</a:t>
            </a:r>
            <a:r>
              <a:rPr lang="en-GB" i="1" dirty="0"/>
              <a:t>m</a:t>
            </a:r>
            <a:r>
              <a:rPr lang="en-GB" dirty="0"/>
              <a:t>	</a:t>
            </a:r>
            <a:r>
              <a:rPr lang="en-GB" i="1" dirty="0"/>
              <a:t>m</a:t>
            </a:r>
            <a:r>
              <a:rPr lang="en-GB" dirty="0"/>
              <a:t> is mean effect, fixed (1 </a:t>
            </a:r>
            <a:r>
              <a:rPr lang="en-GB" dirty="0" err="1"/>
              <a:t>d.f.</a:t>
            </a:r>
            <a:r>
              <a:rPr lang="en-GB" dirty="0"/>
              <a:t>)</a:t>
            </a:r>
          </a:p>
          <a:p>
            <a:pPr lvl="2" eaLnBrk="1" hangingPunct="1">
              <a:defRPr/>
            </a:pPr>
            <a:r>
              <a:rPr lang="en-GB" dirty="0"/>
              <a:t>	design vector </a:t>
            </a:r>
            <a:r>
              <a:rPr lang="en-GB" b="1" dirty="0"/>
              <a:t>1 </a:t>
            </a:r>
            <a:r>
              <a:rPr lang="en-GB" dirty="0"/>
              <a:t>is (n x 1) vector of 1’s</a:t>
            </a:r>
          </a:p>
          <a:p>
            <a:pPr lvl="1" eaLnBrk="1" hangingPunct="1">
              <a:defRPr/>
            </a:pPr>
            <a:r>
              <a:rPr lang="en-GB" b="1" dirty="0"/>
              <a:t>b</a:t>
            </a:r>
            <a:r>
              <a:rPr lang="en-GB" dirty="0"/>
              <a:t>	nuisance effects, (fixed) with design </a:t>
            </a:r>
            <a:r>
              <a:rPr lang="en-GB" b="1" dirty="0"/>
              <a:t>X</a:t>
            </a:r>
            <a:r>
              <a:rPr lang="en-GB" baseline="-25000" dirty="0"/>
              <a:t>1</a:t>
            </a:r>
            <a:endParaRPr lang="en-GB" dirty="0"/>
          </a:p>
          <a:p>
            <a:pPr lvl="1" eaLnBrk="1" hangingPunct="1">
              <a:defRPr/>
            </a:pPr>
            <a:r>
              <a:rPr lang="en-GB" b="1" dirty="0"/>
              <a:t>g</a:t>
            </a:r>
            <a:r>
              <a:rPr lang="en-GB" dirty="0"/>
              <a:t>	QTL locus, fixed with design </a:t>
            </a:r>
            <a:r>
              <a:rPr lang="en-GB" b="1" dirty="0"/>
              <a:t>X</a:t>
            </a:r>
            <a:r>
              <a:rPr lang="en-GB" baseline="-25000" dirty="0"/>
              <a:t>2 </a:t>
            </a:r>
            <a:r>
              <a:rPr lang="en-GB" dirty="0"/>
              <a:t>(2 </a:t>
            </a:r>
            <a:r>
              <a:rPr lang="en-GB" dirty="0" err="1"/>
              <a:t>d.f.</a:t>
            </a:r>
            <a:r>
              <a:rPr lang="en-GB" dirty="0"/>
              <a:t>)</a:t>
            </a:r>
          </a:p>
          <a:p>
            <a:pPr marL="457200" lvl="1" indent="0" eaLnBrk="1" hangingPunct="1">
              <a:buNone/>
              <a:defRPr/>
            </a:pPr>
            <a:endParaRPr lang="en-GB" b="1" dirty="0"/>
          </a:p>
          <a:p>
            <a:pPr marL="914400" lvl="2" indent="0" eaLnBrk="1" hangingPunct="1">
              <a:buNone/>
              <a:defRPr/>
            </a:pPr>
            <a:r>
              <a:rPr lang="en-GB" dirty="0"/>
              <a:t>	                </a:t>
            </a:r>
          </a:p>
          <a:p>
            <a:pPr lvl="1" eaLnBrk="1" hangingPunct="1">
              <a:defRPr/>
            </a:pPr>
            <a:r>
              <a:rPr lang="en-GB" b="1" dirty="0"/>
              <a:t>e	</a:t>
            </a:r>
            <a:r>
              <a:rPr lang="en-GB" dirty="0"/>
              <a:t>(n x 1) vector of residual effects</a:t>
            </a:r>
          </a:p>
          <a:p>
            <a:pPr lvl="2" eaLnBrk="1" hangingPunct="1">
              <a:defRPr/>
            </a:pPr>
            <a:r>
              <a:rPr lang="en-GB" dirty="0"/>
              <a:t> 	</a:t>
            </a:r>
            <a:r>
              <a:rPr lang="en-GB" b="1" dirty="0"/>
              <a:t>e </a:t>
            </a:r>
            <a:r>
              <a:rPr lang="en-GB" dirty="0"/>
              <a:t>random, assumed MVN(0,</a:t>
            </a:r>
            <a:r>
              <a:rPr lang="el-GR" dirty="0"/>
              <a:t>σ</a:t>
            </a:r>
            <a:r>
              <a:rPr lang="en-GB" baseline="-25000" dirty="0"/>
              <a:t>E</a:t>
            </a:r>
            <a:r>
              <a:rPr lang="en-GB" baseline="30000" dirty="0"/>
              <a:t>2</a:t>
            </a:r>
            <a:r>
              <a:rPr lang="en-GB" b="1" dirty="0"/>
              <a:t>I</a:t>
            </a:r>
            <a:r>
              <a:rPr lang="en-GB" dirty="0"/>
              <a:t>)</a:t>
            </a:r>
          </a:p>
        </p:txBody>
      </p:sp>
      <p:sp>
        <p:nvSpPr>
          <p:cNvPr id="1434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12E7B72-D285-4B42-8ADF-8ED53EBDDD14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6451600" y="26670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Equation" r:id="rId3" imgW="914400" imgH="203040" progId="Equation.DSMT4">
                  <p:embed/>
                </p:oleObj>
              </mc:Choice>
              <mc:Fallback>
                <p:oleObj name="Equation" r:id="rId3" imgW="9144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26670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4D2E474D-01B8-468C-BEC6-66102A9B3997}"/>
              </a:ext>
            </a:extLst>
          </p:cNvPr>
          <p:cNvSpPr txBox="1">
            <a:spLocks noChangeArrowheads="1"/>
          </p:cNvSpPr>
          <p:nvPr/>
        </p:nvSpPr>
        <p:spPr bwMode="auto">
          <a:xfrm rot="437555">
            <a:off x="7176120" y="2060009"/>
            <a:ext cx="4176464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n … number of observations</a:t>
            </a:r>
            <a:r>
              <a:rPr lang="en-GB" altLang="en-US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Least Squares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Model </a:t>
            </a:r>
            <a:r>
              <a:rPr lang="en-GB" b="1" dirty="0"/>
              <a:t>y </a:t>
            </a:r>
            <a:r>
              <a:rPr lang="en-GB" dirty="0"/>
              <a:t>= </a:t>
            </a:r>
            <a:r>
              <a:rPr lang="en-GB" b="1" dirty="0"/>
              <a:t>1</a:t>
            </a:r>
            <a:r>
              <a:rPr lang="en-GB" i="1" dirty="0"/>
              <a:t>m </a:t>
            </a:r>
            <a:r>
              <a:rPr lang="en-GB" dirty="0"/>
              <a:t>+</a:t>
            </a:r>
            <a:r>
              <a:rPr lang="en-GB" i="1" dirty="0"/>
              <a:t> </a:t>
            </a:r>
            <a:r>
              <a:rPr lang="en-GB" b="1" dirty="0"/>
              <a:t>X</a:t>
            </a:r>
            <a:r>
              <a:rPr lang="en-GB" baseline="-25000" dirty="0"/>
              <a:t>1</a:t>
            </a:r>
            <a:r>
              <a:rPr lang="en-GB" b="1" dirty="0"/>
              <a:t>b </a:t>
            </a:r>
            <a:r>
              <a:rPr lang="en-GB" dirty="0"/>
              <a:t>+ </a:t>
            </a:r>
            <a:r>
              <a:rPr lang="en-GB" b="1" dirty="0"/>
              <a:t>X</a:t>
            </a:r>
            <a:r>
              <a:rPr lang="en-GB" baseline="-25000" dirty="0"/>
              <a:t>2</a:t>
            </a:r>
            <a:r>
              <a:rPr lang="en-GB" b="1" dirty="0"/>
              <a:t>g </a:t>
            </a:r>
            <a:r>
              <a:rPr lang="en-GB" dirty="0"/>
              <a:t>+ </a:t>
            </a:r>
            <a:r>
              <a:rPr lang="en-GB" b="1" dirty="0"/>
              <a:t>e</a:t>
            </a:r>
          </a:p>
          <a:p>
            <a:pPr lvl="1" eaLnBrk="1" hangingPunct="1">
              <a:defRPr/>
            </a:pPr>
            <a:r>
              <a:rPr lang="en-GB" b="1" dirty="0"/>
              <a:t>y</a:t>
            </a:r>
            <a:r>
              <a:rPr lang="en-GB" dirty="0"/>
              <a:t> 	vector of observations (n x 1)</a:t>
            </a:r>
          </a:p>
          <a:p>
            <a:pPr lvl="1" eaLnBrk="1" hangingPunct="1">
              <a:defRPr/>
            </a:pPr>
            <a:r>
              <a:rPr lang="en-GB" b="1" dirty="0"/>
              <a:t>1</a:t>
            </a:r>
            <a:r>
              <a:rPr lang="en-GB" i="1" dirty="0"/>
              <a:t>m</a:t>
            </a:r>
            <a:r>
              <a:rPr lang="en-GB" dirty="0"/>
              <a:t>	</a:t>
            </a:r>
            <a:r>
              <a:rPr lang="en-GB" i="1" dirty="0"/>
              <a:t>m</a:t>
            </a:r>
            <a:r>
              <a:rPr lang="en-GB" dirty="0"/>
              <a:t> is mean effect, fixed (1 </a:t>
            </a:r>
            <a:r>
              <a:rPr lang="en-GB" dirty="0" err="1"/>
              <a:t>d.f.</a:t>
            </a:r>
            <a:r>
              <a:rPr lang="en-GB" dirty="0"/>
              <a:t>)</a:t>
            </a:r>
          </a:p>
          <a:p>
            <a:pPr lvl="2" eaLnBrk="1" hangingPunct="1">
              <a:defRPr/>
            </a:pPr>
            <a:r>
              <a:rPr lang="en-GB" dirty="0"/>
              <a:t>	design vector </a:t>
            </a:r>
            <a:r>
              <a:rPr lang="en-GB" b="1" dirty="0"/>
              <a:t>1 </a:t>
            </a:r>
            <a:r>
              <a:rPr lang="en-GB" dirty="0"/>
              <a:t>is (n x 1) vector of 1’s</a:t>
            </a:r>
          </a:p>
          <a:p>
            <a:pPr lvl="1" eaLnBrk="1" hangingPunct="1">
              <a:defRPr/>
            </a:pPr>
            <a:r>
              <a:rPr lang="en-GB" b="1" dirty="0"/>
              <a:t>b</a:t>
            </a:r>
            <a:r>
              <a:rPr lang="en-GB" dirty="0"/>
              <a:t>	nuisance effects, (fixed) with design </a:t>
            </a:r>
            <a:r>
              <a:rPr lang="en-GB" b="1" dirty="0"/>
              <a:t>X</a:t>
            </a:r>
            <a:r>
              <a:rPr lang="en-GB" baseline="-25000" dirty="0"/>
              <a:t>1</a:t>
            </a:r>
            <a:endParaRPr lang="en-GB" dirty="0"/>
          </a:p>
          <a:p>
            <a:pPr lvl="1" eaLnBrk="1" hangingPunct="1">
              <a:defRPr/>
            </a:pPr>
            <a:r>
              <a:rPr lang="en-GB" b="1" dirty="0"/>
              <a:t>g</a:t>
            </a:r>
            <a:r>
              <a:rPr lang="en-GB" dirty="0"/>
              <a:t>	QTL locus, fixed with design </a:t>
            </a:r>
            <a:r>
              <a:rPr lang="en-GB" b="1" dirty="0"/>
              <a:t>X</a:t>
            </a:r>
            <a:r>
              <a:rPr lang="en-GB" baseline="-25000" dirty="0"/>
              <a:t>2 </a:t>
            </a:r>
            <a:r>
              <a:rPr lang="en-GB" dirty="0"/>
              <a:t>(2 </a:t>
            </a:r>
            <a:r>
              <a:rPr lang="en-GB" dirty="0" err="1"/>
              <a:t>d.f.</a:t>
            </a:r>
            <a:r>
              <a:rPr lang="en-GB" dirty="0"/>
              <a:t>)</a:t>
            </a:r>
          </a:p>
          <a:p>
            <a:pPr marL="457200" lvl="1" indent="0" eaLnBrk="1" hangingPunct="1">
              <a:buNone/>
              <a:defRPr/>
            </a:pPr>
            <a:endParaRPr lang="en-GB" b="1" dirty="0"/>
          </a:p>
          <a:p>
            <a:pPr marL="914400" lvl="2" indent="0" eaLnBrk="1" hangingPunct="1">
              <a:buNone/>
              <a:defRPr/>
            </a:pPr>
            <a:r>
              <a:rPr lang="en-GB" dirty="0"/>
              <a:t>	                </a:t>
            </a:r>
          </a:p>
          <a:p>
            <a:pPr lvl="1" eaLnBrk="1" hangingPunct="1">
              <a:defRPr/>
            </a:pPr>
            <a:r>
              <a:rPr lang="en-GB" b="1" dirty="0"/>
              <a:t>e	</a:t>
            </a:r>
            <a:r>
              <a:rPr lang="en-GB" dirty="0"/>
              <a:t>(n x 1) vector of residual effects</a:t>
            </a:r>
          </a:p>
          <a:p>
            <a:pPr lvl="2" eaLnBrk="1" hangingPunct="1">
              <a:defRPr/>
            </a:pPr>
            <a:r>
              <a:rPr lang="en-GB" dirty="0"/>
              <a:t> 	</a:t>
            </a:r>
            <a:r>
              <a:rPr lang="en-GB" b="1" dirty="0"/>
              <a:t>e </a:t>
            </a:r>
            <a:r>
              <a:rPr lang="en-GB" dirty="0"/>
              <a:t>random, assumed MVN(0,</a:t>
            </a:r>
            <a:r>
              <a:rPr lang="el-GR" dirty="0"/>
              <a:t>σ</a:t>
            </a:r>
            <a:r>
              <a:rPr lang="en-GB" baseline="-25000" dirty="0"/>
              <a:t>E</a:t>
            </a:r>
            <a:r>
              <a:rPr lang="en-GB" baseline="30000" dirty="0"/>
              <a:t>2</a:t>
            </a:r>
            <a:r>
              <a:rPr lang="en-GB" b="1" dirty="0"/>
              <a:t>I</a:t>
            </a:r>
            <a:r>
              <a:rPr lang="en-GB" dirty="0"/>
              <a:t>)</a:t>
            </a:r>
          </a:p>
        </p:txBody>
      </p:sp>
      <p:sp>
        <p:nvSpPr>
          <p:cNvPr id="153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A3C86CB-8DF3-4EA8-A566-BC19699D3E7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536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6451600" y="26670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Equation" r:id="rId3" imgW="914400" imgH="203040" progId="Equation.DSMT4">
                  <p:embed/>
                </p:oleObj>
              </mc:Choice>
              <mc:Fallback>
                <p:oleObj name="Equation" r:id="rId3" imgW="9144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26670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TextBox 5"/>
          <p:cNvSpPr txBox="1">
            <a:spLocks noChangeArrowheads="1"/>
          </p:cNvSpPr>
          <p:nvPr/>
        </p:nvSpPr>
        <p:spPr bwMode="auto">
          <a:xfrm rot="21287930">
            <a:off x="4167188" y="3340100"/>
            <a:ext cx="3384550" cy="58420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200"/>
              <a:t>This is wrong!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Complex Traits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For a complex trait one must expect multiple loci with effects</a:t>
            </a:r>
          </a:p>
          <a:p>
            <a:pPr eaLnBrk="1" hangingPunct="1"/>
            <a:r>
              <a:rPr lang="en-GB" altLang="en-US" dirty="0"/>
              <a:t>If this is neglected, only way to explain genetic change is the identified locus</a:t>
            </a:r>
          </a:p>
          <a:p>
            <a:pPr lvl="1" eaLnBrk="1" hangingPunct="1"/>
            <a:r>
              <a:rPr lang="en-GB" altLang="en-US" dirty="0"/>
              <a:t>bias the estimated effect </a:t>
            </a:r>
          </a:p>
          <a:p>
            <a:pPr lvl="1" eaLnBrk="1" hangingPunct="1"/>
            <a:r>
              <a:rPr lang="en-GB" altLang="en-US" dirty="0"/>
              <a:t>particularly if change is caused by selection</a:t>
            </a:r>
          </a:p>
          <a:p>
            <a:pPr lvl="1" eaLnBrk="1" hangingPunct="1"/>
            <a:endParaRPr lang="en-GB" altLang="en-US" dirty="0"/>
          </a:p>
        </p:txBody>
      </p:sp>
      <p:sp>
        <p:nvSpPr>
          <p:cNvPr id="163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C55CE00-C707-48ED-9896-02C226C9FD50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63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Polygenic Variance 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Need to account for other genetic variation</a:t>
            </a:r>
          </a:p>
          <a:p>
            <a:pPr lvl="1" eaLnBrk="1" hangingPunct="1"/>
            <a:r>
              <a:rPr lang="en-GB" altLang="en-US"/>
              <a:t>plus any selection</a:t>
            </a:r>
          </a:p>
          <a:p>
            <a:pPr eaLnBrk="1" hangingPunct="1"/>
            <a:r>
              <a:rPr lang="en-GB" altLang="en-US"/>
              <a:t>Introduce a polygenic effect </a:t>
            </a:r>
          </a:p>
          <a:p>
            <a:pPr lvl="1" eaLnBrk="1" hangingPunct="1"/>
            <a:r>
              <a:rPr lang="en-GB" altLang="en-US"/>
              <a:t>typically assumed to be ‘polygenic’</a:t>
            </a:r>
          </a:p>
          <a:p>
            <a:pPr lvl="2" eaLnBrk="1" hangingPunct="1"/>
            <a:r>
              <a:rPr lang="en-GB" altLang="en-US"/>
              <a:t>many alleles of small effect</a:t>
            </a:r>
          </a:p>
          <a:p>
            <a:pPr lvl="1" eaLnBrk="1" hangingPunct="1"/>
            <a:r>
              <a:rPr lang="en-GB" altLang="en-US"/>
              <a:t>modelled by random effects</a:t>
            </a:r>
          </a:p>
          <a:p>
            <a:pPr eaLnBrk="1" hangingPunct="1"/>
            <a:r>
              <a:rPr lang="en-GB" altLang="en-US"/>
              <a:t>Paper showing bias and polygenic correction </a:t>
            </a:r>
          </a:p>
          <a:p>
            <a:pPr lvl="3" eaLnBrk="1" hangingPunct="1"/>
            <a:r>
              <a:rPr lang="en-GB" altLang="en-US"/>
              <a:t>Kennedy, Quinton &amp; van Arendonk</a:t>
            </a:r>
          </a:p>
          <a:p>
            <a:pPr lvl="3" eaLnBrk="1" hangingPunct="1"/>
            <a:r>
              <a:rPr lang="en-GB" altLang="en-US"/>
              <a:t>J. Anim. Sci. 1992, 70: 2000-2012</a:t>
            </a:r>
          </a:p>
        </p:txBody>
      </p:sp>
      <p:sp>
        <p:nvSpPr>
          <p:cNvPr id="1741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A5DDA2D-984F-4087-BEB9-01900F1AEB01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741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Polygenic Model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 </a:t>
            </a:r>
            <a:r>
              <a:rPr lang="en-GB" altLang="en-US" b="1" dirty="0"/>
              <a:t>y </a:t>
            </a:r>
            <a:r>
              <a:rPr lang="en-GB" altLang="en-US" dirty="0"/>
              <a:t>= </a:t>
            </a:r>
            <a:r>
              <a:rPr lang="en-GB" altLang="en-US" b="1" dirty="0"/>
              <a:t>1</a:t>
            </a:r>
            <a:r>
              <a:rPr lang="en-GB" altLang="en-US" i="1" dirty="0"/>
              <a:t>m </a:t>
            </a:r>
            <a:r>
              <a:rPr lang="en-GB" altLang="en-US" dirty="0"/>
              <a:t>+</a:t>
            </a:r>
            <a:r>
              <a:rPr lang="en-GB" altLang="en-US" i="1" dirty="0"/>
              <a:t> </a:t>
            </a:r>
            <a:r>
              <a:rPr lang="en-GB" altLang="en-US" b="1" dirty="0"/>
              <a:t>X</a:t>
            </a:r>
            <a:r>
              <a:rPr lang="en-GB" altLang="en-US" baseline="-25000" dirty="0"/>
              <a:t>1</a:t>
            </a:r>
            <a:r>
              <a:rPr lang="en-GB" altLang="en-US" b="1" dirty="0"/>
              <a:t>b </a:t>
            </a:r>
            <a:r>
              <a:rPr lang="en-GB" altLang="en-US" dirty="0"/>
              <a:t>+ </a:t>
            </a:r>
            <a:r>
              <a:rPr lang="en-GB" altLang="en-US" b="1" dirty="0"/>
              <a:t>X</a:t>
            </a:r>
            <a:r>
              <a:rPr lang="en-GB" altLang="en-US" baseline="-25000" dirty="0"/>
              <a:t>2</a:t>
            </a:r>
            <a:r>
              <a:rPr lang="en-GB" altLang="en-US" b="1" dirty="0"/>
              <a:t>g </a:t>
            </a:r>
            <a:r>
              <a:rPr lang="en-GB" altLang="en-US" dirty="0"/>
              <a:t>+ </a:t>
            </a:r>
            <a:r>
              <a:rPr lang="en-GB" altLang="en-US" b="1" dirty="0"/>
              <a:t>Zu</a:t>
            </a:r>
            <a:r>
              <a:rPr lang="en-GB" altLang="en-US" dirty="0"/>
              <a:t> + </a:t>
            </a:r>
            <a:r>
              <a:rPr lang="en-GB" altLang="en-US" b="1" dirty="0"/>
              <a:t>e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	vector of observations (</a:t>
            </a:r>
            <a:r>
              <a:rPr lang="en-GB" altLang="en-US" i="1" dirty="0"/>
              <a:t>n</a:t>
            </a:r>
            <a:r>
              <a:rPr lang="en-GB" altLang="en-US" dirty="0"/>
              <a:t> x1)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m</a:t>
            </a:r>
            <a:r>
              <a:rPr lang="en-GB" altLang="en-US" dirty="0"/>
              <a:t>	</a:t>
            </a:r>
            <a:r>
              <a:rPr lang="en-GB" altLang="en-US" i="1" dirty="0"/>
              <a:t>m</a:t>
            </a:r>
            <a:r>
              <a:rPr lang="en-GB" altLang="en-US" dirty="0"/>
              <a:t> is mean effect, fixed (1 d.f.)</a:t>
            </a:r>
          </a:p>
          <a:p>
            <a:pPr lvl="2" eaLnBrk="1" hangingPunct="1"/>
            <a:r>
              <a:rPr lang="en-GB" altLang="en-US" dirty="0"/>
              <a:t> 	design vector </a:t>
            </a:r>
            <a:r>
              <a:rPr lang="en-GB" altLang="en-US" b="1" dirty="0"/>
              <a:t>1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x1) vector of 1’s</a:t>
            </a:r>
          </a:p>
          <a:p>
            <a:pPr lvl="1" eaLnBrk="1" hangingPunct="1"/>
            <a:r>
              <a:rPr lang="en-GB" altLang="en-US" b="1" dirty="0"/>
              <a:t>b</a:t>
            </a:r>
            <a:r>
              <a:rPr lang="en-GB" altLang="en-US" dirty="0"/>
              <a:t>	nuisance effects, fixed with design </a:t>
            </a:r>
            <a:r>
              <a:rPr lang="en-GB" altLang="en-US" b="1" dirty="0"/>
              <a:t>X</a:t>
            </a:r>
            <a:r>
              <a:rPr lang="en-GB" altLang="en-US" baseline="-25000" dirty="0"/>
              <a:t>1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g</a:t>
            </a:r>
            <a:r>
              <a:rPr lang="en-GB" altLang="en-US" dirty="0"/>
              <a:t>	QTL locus, fixed (2 d.f.) with design </a:t>
            </a:r>
            <a:r>
              <a:rPr lang="en-GB" altLang="en-US" b="1" dirty="0"/>
              <a:t>X</a:t>
            </a:r>
            <a:r>
              <a:rPr lang="en-GB" altLang="en-US" baseline="-25000" dirty="0"/>
              <a:t>2 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u 	</a:t>
            </a:r>
            <a:r>
              <a:rPr lang="en-GB" altLang="en-US" dirty="0"/>
              <a:t>(</a:t>
            </a:r>
            <a:r>
              <a:rPr lang="en-GB" altLang="en-US" i="1" dirty="0"/>
              <a:t>p </a:t>
            </a:r>
            <a:r>
              <a:rPr lang="en-GB" altLang="en-US" dirty="0"/>
              <a:t>x1) vector of polygenic breeding values</a:t>
            </a:r>
          </a:p>
          <a:p>
            <a:pPr lvl="2" eaLnBrk="1" hangingPunct="1"/>
            <a:r>
              <a:rPr lang="en-GB" altLang="en-US" dirty="0"/>
              <a:t> 	design matrix </a:t>
            </a:r>
            <a:r>
              <a:rPr lang="en-GB" altLang="en-US" b="1" dirty="0"/>
              <a:t>Z</a:t>
            </a:r>
            <a:r>
              <a:rPr lang="en-GB" altLang="en-US" dirty="0"/>
              <a:t>, </a:t>
            </a:r>
            <a:r>
              <a:rPr lang="en-GB" altLang="en-US" b="1" dirty="0"/>
              <a:t>u</a:t>
            </a:r>
            <a:r>
              <a:rPr lang="en-GB" altLang="en-US" dirty="0"/>
              <a:t> random MVN(0,</a:t>
            </a:r>
            <a:r>
              <a:rPr lang="el-GR" altLang="en-US" dirty="0"/>
              <a:t>σ</a:t>
            </a:r>
            <a:r>
              <a:rPr lang="en-GB" altLang="en-US" baseline="-25000" dirty="0"/>
              <a:t>A</a:t>
            </a:r>
            <a:r>
              <a:rPr lang="en-GB" altLang="en-US" baseline="30000" dirty="0"/>
              <a:t>2</a:t>
            </a:r>
            <a:r>
              <a:rPr lang="en-GB" altLang="en-US" b="1" dirty="0"/>
              <a:t>A</a:t>
            </a:r>
            <a:r>
              <a:rPr lang="en-GB" altLang="en-US" dirty="0"/>
              <a:t>)               </a:t>
            </a:r>
          </a:p>
          <a:p>
            <a:pPr lvl="1" eaLnBrk="1" hangingPunct="1"/>
            <a:r>
              <a:rPr lang="en-GB" altLang="en-US" b="1" dirty="0"/>
              <a:t>e	</a:t>
            </a:r>
            <a:r>
              <a:rPr lang="en-GB" altLang="en-US" dirty="0"/>
              <a:t>(</a:t>
            </a:r>
            <a:r>
              <a:rPr lang="en-GB" altLang="en-US" i="1" dirty="0"/>
              <a:t>n</a:t>
            </a:r>
            <a:r>
              <a:rPr lang="en-GB" altLang="en-US" dirty="0"/>
              <a:t> x1) vector of residual effects, </a:t>
            </a:r>
          </a:p>
          <a:p>
            <a:pPr lvl="2" eaLnBrk="1" hangingPunct="1"/>
            <a:r>
              <a:rPr lang="en-GB" altLang="en-US" b="1" dirty="0"/>
              <a:t> 	e </a:t>
            </a:r>
            <a:r>
              <a:rPr lang="en-GB" altLang="en-US" dirty="0"/>
              <a:t>assumed random MVN(0,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4494B09-7B46-4A17-8BCA-8A1CFF822F6B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843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6451600" y="26670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6" name="Equation" r:id="rId3" imgW="914400" imgH="203040" progId="Equation.DSMT4">
                  <p:embed/>
                </p:oleObj>
              </mc:Choice>
              <mc:Fallback>
                <p:oleObj name="Equation" r:id="rId3" imgW="9144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26670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71624" y="4292601"/>
            <a:ext cx="11448752" cy="936625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Polygenic Model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 </a:t>
            </a:r>
            <a:r>
              <a:rPr lang="en-GB" altLang="en-US" b="1" dirty="0"/>
              <a:t>y </a:t>
            </a:r>
            <a:r>
              <a:rPr lang="en-GB" altLang="en-US" dirty="0"/>
              <a:t>= </a:t>
            </a:r>
            <a:r>
              <a:rPr lang="en-GB" altLang="en-US" b="1" dirty="0"/>
              <a:t>1</a:t>
            </a:r>
            <a:r>
              <a:rPr lang="en-GB" altLang="en-US" i="1" dirty="0"/>
              <a:t>m </a:t>
            </a:r>
            <a:r>
              <a:rPr lang="en-GB" altLang="en-US" dirty="0"/>
              <a:t>+</a:t>
            </a:r>
            <a:r>
              <a:rPr lang="en-GB" altLang="en-US" i="1" dirty="0"/>
              <a:t> </a:t>
            </a:r>
            <a:r>
              <a:rPr lang="en-GB" altLang="en-US" b="1" dirty="0"/>
              <a:t>X</a:t>
            </a:r>
            <a:r>
              <a:rPr lang="en-GB" altLang="en-US" baseline="-25000" dirty="0"/>
              <a:t>1</a:t>
            </a:r>
            <a:r>
              <a:rPr lang="en-GB" altLang="en-US" b="1" dirty="0"/>
              <a:t>b </a:t>
            </a:r>
            <a:r>
              <a:rPr lang="en-GB" altLang="en-US" dirty="0"/>
              <a:t>+ </a:t>
            </a:r>
            <a:r>
              <a:rPr lang="en-GB" altLang="en-US" b="1" dirty="0"/>
              <a:t>X</a:t>
            </a:r>
            <a:r>
              <a:rPr lang="en-GB" altLang="en-US" baseline="-25000" dirty="0"/>
              <a:t>2</a:t>
            </a:r>
            <a:r>
              <a:rPr lang="en-GB" altLang="en-US" b="1" dirty="0"/>
              <a:t>g </a:t>
            </a:r>
            <a:r>
              <a:rPr lang="en-GB" altLang="en-US" dirty="0"/>
              <a:t>+ </a:t>
            </a:r>
            <a:r>
              <a:rPr lang="en-GB" altLang="en-US" b="1" dirty="0"/>
              <a:t>Zu</a:t>
            </a:r>
            <a:r>
              <a:rPr lang="en-GB" altLang="en-US" dirty="0"/>
              <a:t> + </a:t>
            </a:r>
            <a:r>
              <a:rPr lang="en-GB" altLang="en-US" b="1" dirty="0"/>
              <a:t>e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	vector of observations (</a:t>
            </a:r>
            <a:r>
              <a:rPr lang="en-GB" altLang="en-US" i="1" dirty="0"/>
              <a:t>n</a:t>
            </a:r>
            <a:r>
              <a:rPr lang="en-GB" altLang="en-US" dirty="0"/>
              <a:t> x1)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m</a:t>
            </a:r>
            <a:r>
              <a:rPr lang="en-GB" altLang="en-US" dirty="0"/>
              <a:t>	</a:t>
            </a:r>
            <a:r>
              <a:rPr lang="en-GB" altLang="en-US" i="1" dirty="0"/>
              <a:t>m</a:t>
            </a:r>
            <a:r>
              <a:rPr lang="en-GB" altLang="en-US" dirty="0"/>
              <a:t> is mean effect, fixed (1 d.f.)</a:t>
            </a:r>
          </a:p>
          <a:p>
            <a:pPr lvl="2" eaLnBrk="1" hangingPunct="1"/>
            <a:r>
              <a:rPr lang="en-GB" altLang="en-US" dirty="0"/>
              <a:t> 	design vector </a:t>
            </a:r>
            <a:r>
              <a:rPr lang="en-GB" altLang="en-US" b="1" dirty="0"/>
              <a:t>1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x1) vector of 1’s</a:t>
            </a:r>
          </a:p>
          <a:p>
            <a:pPr lvl="1" eaLnBrk="1" hangingPunct="1"/>
            <a:r>
              <a:rPr lang="en-GB" altLang="en-US" b="1" dirty="0"/>
              <a:t>b</a:t>
            </a:r>
            <a:r>
              <a:rPr lang="en-GB" altLang="en-US" dirty="0"/>
              <a:t>	nuisance effects, fixed with design </a:t>
            </a:r>
            <a:r>
              <a:rPr lang="en-GB" altLang="en-US" b="1" dirty="0"/>
              <a:t>X</a:t>
            </a:r>
            <a:r>
              <a:rPr lang="en-GB" altLang="en-US" baseline="-25000" dirty="0"/>
              <a:t>1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g</a:t>
            </a:r>
            <a:r>
              <a:rPr lang="en-GB" altLang="en-US" dirty="0"/>
              <a:t>	QTL locus, fixed (2 d.f.) with design </a:t>
            </a:r>
            <a:r>
              <a:rPr lang="en-GB" altLang="en-US" b="1" dirty="0"/>
              <a:t>X</a:t>
            </a:r>
            <a:r>
              <a:rPr lang="en-GB" altLang="en-US" baseline="-25000" dirty="0"/>
              <a:t>2 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u 	</a:t>
            </a:r>
            <a:r>
              <a:rPr lang="en-GB" altLang="en-US" dirty="0"/>
              <a:t>(</a:t>
            </a:r>
            <a:r>
              <a:rPr lang="en-GB" altLang="en-US" i="1" dirty="0"/>
              <a:t>p </a:t>
            </a:r>
            <a:r>
              <a:rPr lang="en-GB" altLang="en-US" dirty="0"/>
              <a:t>x1) vector of polygenic breeding values</a:t>
            </a:r>
          </a:p>
          <a:p>
            <a:pPr lvl="2" eaLnBrk="1" hangingPunct="1"/>
            <a:r>
              <a:rPr lang="en-GB" altLang="en-US" dirty="0"/>
              <a:t> 	design matrix </a:t>
            </a:r>
            <a:r>
              <a:rPr lang="en-GB" altLang="en-US" b="1" dirty="0"/>
              <a:t>Z</a:t>
            </a:r>
            <a:r>
              <a:rPr lang="en-GB" altLang="en-US" dirty="0"/>
              <a:t>, </a:t>
            </a:r>
            <a:r>
              <a:rPr lang="en-GB" altLang="en-US" b="1" dirty="0"/>
              <a:t>u</a:t>
            </a:r>
            <a:r>
              <a:rPr lang="en-GB" altLang="en-US" dirty="0"/>
              <a:t> random MVN(0,</a:t>
            </a:r>
            <a:r>
              <a:rPr lang="el-GR" altLang="en-US" dirty="0"/>
              <a:t>σ</a:t>
            </a:r>
            <a:r>
              <a:rPr lang="en-GB" altLang="en-US" baseline="-25000" dirty="0"/>
              <a:t>A</a:t>
            </a:r>
            <a:r>
              <a:rPr lang="en-GB" altLang="en-US" baseline="30000" dirty="0"/>
              <a:t>2</a:t>
            </a:r>
            <a:r>
              <a:rPr lang="en-GB" altLang="en-US" b="1" dirty="0"/>
              <a:t>A</a:t>
            </a:r>
            <a:r>
              <a:rPr lang="en-GB" altLang="en-US" dirty="0"/>
              <a:t>)               </a:t>
            </a:r>
          </a:p>
          <a:p>
            <a:pPr lvl="1" eaLnBrk="1" hangingPunct="1"/>
            <a:r>
              <a:rPr lang="en-GB" altLang="en-US" b="1" dirty="0"/>
              <a:t>e	</a:t>
            </a:r>
            <a:r>
              <a:rPr lang="en-GB" altLang="en-US" dirty="0"/>
              <a:t>(</a:t>
            </a:r>
            <a:r>
              <a:rPr lang="en-GB" altLang="en-US" i="1" dirty="0"/>
              <a:t>n</a:t>
            </a:r>
            <a:r>
              <a:rPr lang="en-GB" altLang="en-US" dirty="0"/>
              <a:t> x1) vector of residual effects, </a:t>
            </a:r>
          </a:p>
          <a:p>
            <a:pPr lvl="2" eaLnBrk="1" hangingPunct="1"/>
            <a:r>
              <a:rPr lang="en-GB" altLang="en-US" b="1" dirty="0"/>
              <a:t> 	e </a:t>
            </a:r>
            <a:r>
              <a:rPr lang="en-GB" altLang="en-US" dirty="0"/>
              <a:t>assumed random MVN(0,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</p:txBody>
      </p:sp>
      <p:sp>
        <p:nvSpPr>
          <p:cNvPr id="1946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B224905-AD1C-4BB6-9C77-E585AF890358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946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6451600" y="26670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Equation" r:id="rId3" imgW="914400" imgH="203040" progId="Equation.DSMT4">
                  <p:embed/>
                </p:oleObj>
              </mc:Choice>
              <mc:Fallback>
                <p:oleObj name="Equation" r:id="rId3" imgW="9144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26670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Box 8"/>
          <p:cNvSpPr txBox="1">
            <a:spLocks noChangeArrowheads="1"/>
          </p:cNvSpPr>
          <p:nvPr/>
        </p:nvSpPr>
        <p:spPr bwMode="auto">
          <a:xfrm rot="320751">
            <a:off x="7104112" y="3879139"/>
            <a:ext cx="3634730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p … number in pedigree</a:t>
            </a:r>
            <a:r>
              <a:rPr lang="en-GB" altLang="en-US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0DDC351-A2CE-477A-B92E-BBBA7C6F27B7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048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Case 1: No Effect of Locus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Ignoring polygenic effects gives too many significant effects </a:t>
            </a:r>
          </a:p>
          <a:p>
            <a:pPr lvl="1" eaLnBrk="1" hangingPunct="1"/>
            <a:r>
              <a:rPr lang="en-GB" altLang="en-US" dirty="0"/>
              <a:t>↑ Type I error</a:t>
            </a:r>
          </a:p>
          <a:p>
            <a:pPr lvl="1" eaLnBrk="1" hangingPunct="1"/>
            <a:r>
              <a:rPr lang="en-GB" altLang="en-US" dirty="0"/>
              <a:t>problems increase with selection</a:t>
            </a:r>
          </a:p>
          <a:p>
            <a:pPr lvl="1" eaLnBrk="1" hangingPunct="1"/>
            <a:r>
              <a:rPr lang="en-GB" altLang="en-US" dirty="0"/>
              <a:t>due to poor estimate of 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dirty="0"/>
              <a:t> through not accounting for relationships when </a:t>
            </a:r>
            <a:r>
              <a:rPr lang="el-GR" altLang="en-US" dirty="0"/>
              <a:t>σ</a:t>
            </a:r>
            <a:r>
              <a:rPr lang="en-GB" altLang="en-US" baseline="-25000" dirty="0"/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&gt;0</a:t>
            </a:r>
          </a:p>
          <a:p>
            <a:pPr eaLnBrk="1" hangingPunct="1"/>
            <a:r>
              <a:rPr lang="en-GB" altLang="en-US" dirty="0"/>
              <a:t>Model with polygenic term shows no increase in Type I error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</p:txBody>
      </p:sp>
      <p:sp>
        <p:nvSpPr>
          <p:cNvPr id="2150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3CC84BF-4C9A-40CF-B29C-230FA8C80A30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150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Case 2: Locus With Effect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Without polygenes, with selection</a:t>
            </a:r>
          </a:p>
          <a:p>
            <a:pPr lvl="1" eaLnBrk="1" hangingPunct="1"/>
            <a:r>
              <a:rPr lang="en-GB" altLang="en-US" i="1" dirty="0"/>
              <a:t>a</a:t>
            </a:r>
            <a:r>
              <a:rPr lang="en-GB" altLang="en-US" dirty="0"/>
              <a:t> biased upward across generation analyses</a:t>
            </a:r>
          </a:p>
          <a:p>
            <a:pPr lvl="2" eaLnBrk="1" hangingPunct="1"/>
            <a:r>
              <a:rPr lang="en-GB" altLang="en-US" dirty="0"/>
              <a:t>all selection response being explained by QTL!</a:t>
            </a:r>
          </a:p>
          <a:p>
            <a:pPr lvl="1" eaLnBrk="1" hangingPunct="1"/>
            <a:r>
              <a:rPr lang="en-GB" altLang="en-US" i="1" dirty="0"/>
              <a:t>a </a:t>
            </a:r>
            <a:r>
              <a:rPr lang="en-GB" altLang="en-US" dirty="0"/>
              <a:t>biased downward within generation analyses</a:t>
            </a:r>
          </a:p>
          <a:p>
            <a:pPr lvl="2" eaLnBrk="1" hangingPunct="1"/>
            <a:r>
              <a:rPr lang="en-GB" altLang="en-US" dirty="0"/>
              <a:t>due to negative linkage disequilibrium</a:t>
            </a:r>
          </a:p>
          <a:p>
            <a:pPr lvl="2" eaLnBrk="1" hangingPunct="1"/>
            <a:r>
              <a:rPr lang="en-GB" altLang="en-US" dirty="0"/>
              <a:t>individuals with poor QTL alleles tend to have good polygenes and vice versa </a:t>
            </a:r>
          </a:p>
          <a:p>
            <a:pPr lvl="1" eaLnBrk="1" hangingPunct="1"/>
            <a:r>
              <a:rPr lang="en-GB" altLang="en-US" i="1" dirty="0"/>
              <a:t>d</a:t>
            </a:r>
            <a:r>
              <a:rPr lang="en-GB" altLang="en-US" dirty="0"/>
              <a:t> has bias, but less</a:t>
            </a:r>
          </a:p>
          <a:p>
            <a:pPr eaLnBrk="1" hangingPunct="1"/>
            <a:r>
              <a:rPr lang="en-GB" altLang="en-US" dirty="0"/>
              <a:t>Model with polygenic term is unbiased</a:t>
            </a:r>
          </a:p>
        </p:txBody>
      </p:sp>
      <p:sp>
        <p:nvSpPr>
          <p:cNvPr id="2253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C399038-72D4-4D9B-9A1D-6A9E2896D649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253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2: Locus with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Without polygenes, without selection</a:t>
            </a:r>
          </a:p>
          <a:p>
            <a:pPr lvl="1"/>
            <a:r>
              <a:rPr lang="en-GB" altLang="en-US" dirty="0"/>
              <a:t>potential disequilibrium causing bias</a:t>
            </a:r>
          </a:p>
          <a:p>
            <a:pPr lvl="1"/>
            <a:r>
              <a:rPr lang="en-GB" altLang="en-US" dirty="0"/>
              <a:t>s.e. is underestimated</a:t>
            </a:r>
          </a:p>
          <a:p>
            <a:pPr lvl="2"/>
            <a:r>
              <a:rPr lang="en-GB" altLang="en-US" dirty="0"/>
              <a:t>due to poor estimate of 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dirty="0"/>
              <a:t> through not accounting for relationships when </a:t>
            </a:r>
            <a:r>
              <a:rPr lang="el-GR" altLang="en-US" dirty="0"/>
              <a:t>σ</a:t>
            </a:r>
            <a:r>
              <a:rPr lang="en-GB" altLang="en-US" baseline="-25000" dirty="0"/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&gt;0</a:t>
            </a:r>
          </a:p>
          <a:p>
            <a:r>
              <a:rPr lang="en-GB" altLang="en-US" dirty="0"/>
              <a:t>Model with polygenic term removes problems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B98ACB-B92D-4EBF-8C9C-8A5F9984FF98}" type="datetime4">
              <a:rPr lang="en-GB" smtClean="0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6</a:t>
            </a:r>
          </a:p>
        </p:txBody>
      </p:sp>
    </p:spTree>
    <p:extLst>
      <p:ext uri="{BB962C8B-B14F-4D97-AF65-F5344CB8AC3E}">
        <p14:creationId xmlns:p14="http://schemas.microsoft.com/office/powerpoint/2010/main" val="590078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Models must account for polygenic variation in complex traits</a:t>
            </a:r>
          </a:p>
          <a:p>
            <a:pPr lvl="1" eaLnBrk="1" hangingPunct="1">
              <a:defRPr/>
            </a:pPr>
            <a:r>
              <a:rPr lang="en-GB" dirty="0"/>
              <a:t>control Type I error</a:t>
            </a:r>
          </a:p>
          <a:p>
            <a:pPr lvl="1" eaLnBrk="1" hangingPunct="1">
              <a:defRPr/>
            </a:pPr>
            <a:r>
              <a:rPr lang="en-GB" dirty="0"/>
              <a:t>avoid bias in estimates, particularly </a:t>
            </a:r>
            <a:r>
              <a:rPr lang="en-GB" i="1" dirty="0"/>
              <a:t>a</a:t>
            </a:r>
            <a:endParaRPr lang="en-GB" dirty="0"/>
          </a:p>
          <a:p>
            <a:pPr eaLnBrk="1" hangingPunct="1">
              <a:defRPr/>
            </a:pPr>
            <a:r>
              <a:rPr lang="en-GB" dirty="0"/>
              <a:t>Bias without polygenic term increase with</a:t>
            </a:r>
          </a:p>
          <a:p>
            <a:pPr lvl="1" eaLnBrk="1" hangingPunct="1">
              <a:defRPr/>
            </a:pPr>
            <a:r>
              <a:rPr lang="en-GB" dirty="0"/>
              <a:t>higher selection intensity</a:t>
            </a:r>
          </a:p>
          <a:p>
            <a:pPr lvl="1" eaLnBrk="1" hangingPunct="1">
              <a:defRPr/>
            </a:pPr>
            <a:r>
              <a:rPr lang="en-GB" dirty="0"/>
              <a:t>number of generations</a:t>
            </a:r>
          </a:p>
          <a:p>
            <a:pPr lvl="1" eaLnBrk="1" hangingPunct="1">
              <a:defRPr/>
            </a:pPr>
            <a:r>
              <a:rPr lang="en-GB" dirty="0"/>
              <a:t>i.e. total selection differential applied</a:t>
            </a:r>
          </a:p>
          <a:p>
            <a:pPr marL="457200" lvl="1" indent="0" algn="r" eaLnBrk="1" hangingPunct="1">
              <a:buNone/>
              <a:defRPr/>
            </a:pPr>
            <a:endParaRPr lang="en-GB" sz="2400" dirty="0"/>
          </a:p>
          <a:p>
            <a:pPr marL="0" indent="0" algn="r" eaLnBrk="1" hangingPunct="1">
              <a:buNone/>
              <a:defRPr/>
            </a:pPr>
            <a:r>
              <a:rPr lang="en-GB" sz="2000" i="1" dirty="0"/>
              <a:t>Reference Kennedy, Quinton &amp; Van </a:t>
            </a:r>
            <a:r>
              <a:rPr lang="en-GB" sz="2000" i="1" dirty="0" err="1"/>
              <a:t>Arendonk</a:t>
            </a:r>
            <a:r>
              <a:rPr lang="en-GB" sz="2000" i="1" dirty="0"/>
              <a:t>, 1992</a:t>
            </a:r>
          </a:p>
          <a:p>
            <a:pPr marL="457200" lvl="1" indent="0" eaLnBrk="1" hangingPunct="1">
              <a:buNone/>
              <a:defRPr/>
            </a:pPr>
            <a:endParaRPr lang="en-GB" dirty="0"/>
          </a:p>
        </p:txBody>
      </p:sp>
      <p:sp>
        <p:nvSpPr>
          <p:cNvPr id="235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33B420D-ECAA-4E45-89D5-3530D151B79E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35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231A3B-9DBE-4DCC-B7B6-FB8C8BA90D62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457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Fitting Model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Use REML because polygenic </a:t>
            </a:r>
            <a:r>
              <a:rPr lang="el-GR" altLang="en-US" dirty="0"/>
              <a:t>σ</a:t>
            </a:r>
            <a:r>
              <a:rPr lang="en-GB" altLang="en-US" baseline="-25000" dirty="0"/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unknown</a:t>
            </a:r>
          </a:p>
          <a:p>
            <a:pPr eaLnBrk="1" hangingPunct="1"/>
            <a:r>
              <a:rPr lang="en-GB" altLang="en-US" dirty="0"/>
              <a:t>Use Wald-tests (or t-tests for 1 </a:t>
            </a:r>
            <a:r>
              <a:rPr lang="en-GB" altLang="en-US" dirty="0" err="1"/>
              <a:t>d.f</a:t>
            </a:r>
            <a:r>
              <a:rPr lang="en-GB" altLang="en-US" dirty="0"/>
              <a:t>).</a:t>
            </a:r>
          </a:p>
          <a:p>
            <a:pPr lvl="2" eaLnBrk="1" hangingPunct="1"/>
            <a:r>
              <a:rPr lang="en-GB" altLang="en-US" dirty="0"/>
              <a:t>t-test is ‘estimate’/‘estimated s.e.’ for Normal </a:t>
            </a:r>
          </a:p>
          <a:p>
            <a:pPr lvl="2" eaLnBrk="1" hangingPunct="1"/>
            <a:r>
              <a:rPr lang="en-GB" altLang="en-US" dirty="0"/>
              <a:t>Wald tests generalise this and use 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r>
              <a:rPr lang="en-GB" altLang="en-US" dirty="0"/>
              <a:t>always approximate, but asymptotically OK</a:t>
            </a:r>
          </a:p>
          <a:p>
            <a:pPr lvl="1" eaLnBrk="1" hangingPunct="1"/>
            <a:r>
              <a:rPr lang="en-GB" altLang="en-US" dirty="0"/>
              <a:t>ASReml does it for you!</a:t>
            </a:r>
          </a:p>
          <a:p>
            <a:pPr eaLnBrk="1" hangingPunct="1"/>
            <a:r>
              <a:rPr lang="en-GB" altLang="en-US" dirty="0"/>
              <a:t>Use ‘</a:t>
            </a:r>
            <a:r>
              <a:rPr lang="en-GB" altLang="en-US" dirty="0" err="1"/>
              <a:t>qgm_fixed_linear</a:t>
            </a:r>
            <a:r>
              <a:rPr lang="en-GB" altLang="en-US" dirty="0"/>
              <a:t>()’ to estimate contrasts</a:t>
            </a:r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CE3F4E0-5952-4E9B-B102-E88F474F8478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560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2560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253798"/>
              </p:ext>
            </p:extLst>
          </p:nvPr>
        </p:nvGraphicFramePr>
        <p:xfrm>
          <a:off x="3255841" y="3212976"/>
          <a:ext cx="1819518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0" name="Formula" r:id="rId3" imgW="622440" imgH="196920" progId="Equation.Ribbit">
                  <p:embed/>
                </p:oleObj>
              </mc:Choice>
              <mc:Fallback>
                <p:oleObj name="Formula" r:id="rId3" imgW="622440" imgH="196920" progId="Equation.Ribbit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841" y="3212976"/>
                        <a:ext cx="1819518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6"/>
          <p:cNvGraphicFramePr>
            <a:graphicFrameLocks noChangeAspect="1"/>
          </p:cNvGraphicFramePr>
          <p:nvPr/>
        </p:nvGraphicFramePr>
        <p:xfrm>
          <a:off x="6007100" y="2219325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1" name="Equation" r:id="rId5" imgW="177480" imgH="291960" progId="Equation.DSMT4">
                  <p:embed/>
                </p:oleObj>
              </mc:Choice>
              <mc:Fallback>
                <p:oleObj name="Equation" r:id="rId5" imgW="177480" imgH="291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2219325"/>
                        <a:ext cx="177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Genetic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For an A/T polymorphism</a:t>
            </a:r>
          </a:p>
          <a:p>
            <a:pPr eaLnBrk="1" hangingPunct="1">
              <a:defRPr/>
            </a:pPr>
            <a:r>
              <a:rPr lang="en-GB" dirty="0"/>
              <a:t>Fitting 2 d.f. for QTL</a:t>
            </a:r>
          </a:p>
          <a:p>
            <a:pPr lvl="1" eaLnBrk="1" hangingPunct="1">
              <a:defRPr/>
            </a:pPr>
            <a:r>
              <a:rPr lang="en-GB" dirty="0"/>
              <a:t> test </a:t>
            </a:r>
            <a:r>
              <a:rPr lang="en-GB" b="1" dirty="0"/>
              <a:t>H</a:t>
            </a:r>
            <a:r>
              <a:rPr lang="en-GB" b="1" baseline="-25000" dirty="0"/>
              <a:t>0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 = </a:t>
            </a:r>
            <a:r>
              <a:rPr lang="en-GB" dirty="0" err="1"/>
              <a:t>g</a:t>
            </a:r>
            <a:r>
              <a:rPr lang="en-GB" baseline="-25000" dirty="0" err="1"/>
              <a:t>AT</a:t>
            </a:r>
            <a:r>
              <a:rPr lang="en-GB" dirty="0"/>
              <a:t> = 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r>
              <a:rPr lang="en-GB" dirty="0"/>
              <a:t>  vs  </a:t>
            </a:r>
            <a:r>
              <a:rPr lang="en-GB" b="1" dirty="0"/>
              <a:t>H</a:t>
            </a:r>
            <a:r>
              <a:rPr lang="en-GB" b="1" baseline="-25000" dirty="0"/>
              <a:t>1</a:t>
            </a:r>
            <a:r>
              <a:rPr lang="en-GB" b="1" dirty="0"/>
              <a:t>:</a:t>
            </a:r>
            <a:r>
              <a:rPr lang="en-GB" dirty="0"/>
              <a:t> not H</a:t>
            </a:r>
            <a:r>
              <a:rPr lang="en-GB" baseline="-25000" dirty="0"/>
              <a:t>0</a:t>
            </a:r>
          </a:p>
          <a:p>
            <a:pPr lvl="1" eaLnBrk="1" hangingPunct="1">
              <a:defRPr/>
            </a:pPr>
            <a:r>
              <a:rPr lang="en-GB" dirty="0"/>
              <a:t> Wald test of genotype means</a:t>
            </a:r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266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985AD8C-AD07-46BD-B8ED-A5FCE38AA393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662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Genetic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Estimate contrasts</a:t>
            </a:r>
          </a:p>
          <a:p>
            <a:pPr lvl="1" eaLnBrk="1" hangingPunct="1">
              <a:defRPr/>
            </a:pPr>
            <a:r>
              <a:rPr lang="en-GB" i="1" dirty="0"/>
              <a:t>a</a:t>
            </a:r>
            <a:r>
              <a:rPr lang="en-GB" dirty="0"/>
              <a:t> = ½ (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r>
              <a:rPr lang="en-GB" dirty="0"/>
              <a:t> –</a:t>
            </a:r>
            <a:r>
              <a:rPr lang="en-GB" baseline="-25000" dirty="0"/>
              <a:t> 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)  </a:t>
            </a:r>
          </a:p>
          <a:p>
            <a:pPr lvl="2" eaLnBrk="1" hangingPunct="1">
              <a:defRPr/>
            </a:pPr>
            <a:r>
              <a:rPr lang="en-GB" dirty="0"/>
              <a:t>contrast (-0.5, 0.0,  0.5) of 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AT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276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1E6D869-51D8-41CB-A41A-36FC860CE8DA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765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368" y="1773238"/>
            <a:ext cx="11377264" cy="10795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E7FF3411-5667-45FE-A2F2-28EE47FEE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4232" y="2391271"/>
            <a:ext cx="3600400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‘additive effect’ of T allele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Genetic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Estimate contrasts</a:t>
            </a:r>
          </a:p>
          <a:p>
            <a:pPr lvl="1" eaLnBrk="1" hangingPunct="1">
              <a:defRPr/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= ½ (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–</a:t>
            </a:r>
            <a:r>
              <a:rPr lang="en-GB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)  </a:t>
            </a:r>
          </a:p>
          <a:p>
            <a:pPr lvl="2" eaLnBrk="1" hangingPunct="1"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contrast (-0.5, 0.0,  0.5) of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endParaRPr lang="en-GB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1" hangingPunct="1">
              <a:defRPr/>
            </a:pPr>
            <a:r>
              <a:rPr lang="en-GB" i="1" dirty="0"/>
              <a:t>d </a:t>
            </a:r>
            <a:r>
              <a:rPr lang="en-GB" dirty="0"/>
              <a:t>=</a:t>
            </a:r>
            <a:r>
              <a:rPr lang="en-GB" i="1" dirty="0"/>
              <a:t> </a:t>
            </a:r>
            <a:r>
              <a:rPr lang="en-GB" dirty="0" err="1"/>
              <a:t>g</a:t>
            </a:r>
            <a:r>
              <a:rPr lang="en-GB" baseline="-25000" dirty="0" err="1"/>
              <a:t>AT</a:t>
            </a:r>
            <a:r>
              <a:rPr lang="en-GB" dirty="0"/>
              <a:t> – ½ (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 + 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r>
              <a:rPr lang="en-GB" dirty="0"/>
              <a:t>)</a:t>
            </a:r>
          </a:p>
          <a:p>
            <a:pPr lvl="2" eaLnBrk="1" hangingPunct="1">
              <a:defRPr/>
            </a:pPr>
            <a:r>
              <a:rPr lang="en-GB" dirty="0"/>
              <a:t>contrast (-0.5, 1.0, -0.5) </a:t>
            </a:r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C711ED9-6231-4A06-8DEF-2F17FF920B3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B4385E-71D1-4F5B-9EAB-E8334E6C72EC}"/>
              </a:ext>
            </a:extLst>
          </p:cNvPr>
          <p:cNvSpPr/>
          <p:nvPr/>
        </p:nvSpPr>
        <p:spPr>
          <a:xfrm>
            <a:off x="407368" y="2708920"/>
            <a:ext cx="11377264" cy="10795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397C5BE-CD21-46C7-8B39-77456C491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4545" y="3327375"/>
            <a:ext cx="3240087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‘dominance deviation’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Genetic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Estimate </a:t>
            </a:r>
          </a:p>
          <a:p>
            <a:pPr lvl="1" eaLnBrk="1" hangingPunct="1">
              <a:defRPr/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= ½ (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–</a:t>
            </a:r>
            <a:r>
              <a:rPr lang="en-GB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)  </a:t>
            </a:r>
          </a:p>
          <a:p>
            <a:pPr lvl="2" eaLnBrk="1" hangingPunct="1"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contrast (-0.5, 0.0,  0.5) of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endParaRPr lang="en-GB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1" hangingPunct="1">
              <a:defRPr/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d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=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– ½ (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+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lvl="2" eaLnBrk="1" hangingPunct="1"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contrast (-0.5, 1.0, -0.5) </a:t>
            </a:r>
          </a:p>
          <a:p>
            <a:pPr lvl="1" eaLnBrk="1" hangingPunct="1">
              <a:defRPr/>
            </a:pPr>
            <a:r>
              <a:rPr lang="el-GR" i="1" dirty="0"/>
              <a:t>α</a:t>
            </a:r>
            <a:r>
              <a:rPr lang="en-GB" i="1" baseline="-25000" dirty="0"/>
              <a:t>T</a:t>
            </a:r>
            <a:r>
              <a:rPr lang="en-GB" i="1" dirty="0"/>
              <a:t> = a + (</a:t>
            </a:r>
            <a:r>
              <a:rPr lang="en-GB" i="1" dirty="0" err="1"/>
              <a:t>p</a:t>
            </a:r>
            <a:r>
              <a:rPr lang="en-GB" i="1" baseline="-25000" dirty="0" err="1"/>
              <a:t>A</a:t>
            </a:r>
            <a:r>
              <a:rPr lang="en-GB" i="1" baseline="-25000" dirty="0"/>
              <a:t> </a:t>
            </a:r>
            <a:r>
              <a:rPr lang="en-GB" i="1" dirty="0"/>
              <a:t>– </a:t>
            </a:r>
            <a:r>
              <a:rPr lang="en-GB" i="1" dirty="0" err="1"/>
              <a:t>p</a:t>
            </a:r>
            <a:r>
              <a:rPr lang="en-GB" i="1" baseline="-25000" dirty="0" err="1"/>
              <a:t>T</a:t>
            </a:r>
            <a:r>
              <a:rPr lang="en-GB" i="1" dirty="0"/>
              <a:t>)d  </a:t>
            </a:r>
            <a:r>
              <a:rPr lang="en-GB" dirty="0"/>
              <a:t>for frequency 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i="1" dirty="0"/>
              <a:t> </a:t>
            </a:r>
            <a:r>
              <a:rPr lang="en-GB" dirty="0"/>
              <a:t>and 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/>
              <a:t>=</a:t>
            </a:r>
            <a:r>
              <a:rPr lang="en-GB" dirty="0"/>
              <a:t>1-</a:t>
            </a:r>
            <a:r>
              <a:rPr lang="en-GB" i="1" dirty="0"/>
              <a:t>p</a:t>
            </a:r>
            <a:r>
              <a:rPr lang="en-GB" baseline="-25000" dirty="0"/>
              <a:t>T</a:t>
            </a:r>
            <a:r>
              <a:rPr lang="en-GB" i="1" dirty="0"/>
              <a:t> </a:t>
            </a:r>
          </a:p>
          <a:p>
            <a:pPr lvl="2" eaLnBrk="1" hangingPunct="1">
              <a:defRPr/>
            </a:pPr>
            <a:r>
              <a:rPr lang="en-GB" dirty="0"/>
              <a:t>contrast (-</a:t>
            </a:r>
            <a:r>
              <a:rPr lang="en-GB" i="1" dirty="0" err="1"/>
              <a:t>p</a:t>
            </a:r>
            <a:r>
              <a:rPr lang="en-GB" i="1" baseline="-25000" dirty="0" err="1"/>
              <a:t>A</a:t>
            </a:r>
            <a:r>
              <a:rPr lang="en-GB" dirty="0"/>
              <a:t>, </a:t>
            </a:r>
            <a:r>
              <a:rPr lang="en-GB" i="1" dirty="0"/>
              <a:t>(</a:t>
            </a:r>
            <a:r>
              <a:rPr lang="en-GB" i="1" dirty="0" err="1"/>
              <a:t>p</a:t>
            </a:r>
            <a:r>
              <a:rPr lang="en-GB" i="1" baseline="-25000" dirty="0" err="1"/>
              <a:t>A</a:t>
            </a:r>
            <a:r>
              <a:rPr lang="en-GB" i="1" dirty="0"/>
              <a:t>- </a:t>
            </a:r>
            <a:r>
              <a:rPr lang="en-GB" i="1" dirty="0" err="1"/>
              <a:t>p</a:t>
            </a:r>
            <a:r>
              <a:rPr lang="en-GB" i="1" baseline="-25000" dirty="0" err="1"/>
              <a:t>T</a:t>
            </a:r>
            <a:r>
              <a:rPr lang="en-GB" i="1" dirty="0"/>
              <a:t>), </a:t>
            </a:r>
            <a:r>
              <a:rPr lang="en-GB" i="1" dirty="0" err="1"/>
              <a:t>p</a:t>
            </a:r>
            <a:r>
              <a:rPr lang="en-GB" i="1" baseline="-25000" dirty="0" err="1"/>
              <a:t>T</a:t>
            </a:r>
            <a:r>
              <a:rPr lang="en-GB" dirty="0"/>
              <a:t>)</a:t>
            </a:r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3174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8BDB47D-6DBC-4127-9C72-A874D608143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3174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5F4E9-8D9C-46FA-9D7F-99AF3D373C10}"/>
              </a:ext>
            </a:extLst>
          </p:cNvPr>
          <p:cNvSpPr/>
          <p:nvPr/>
        </p:nvSpPr>
        <p:spPr>
          <a:xfrm>
            <a:off x="407368" y="3645024"/>
            <a:ext cx="11377264" cy="10795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E446B05-9BEC-4FCE-89CE-E0BD1391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000" y="4248000"/>
            <a:ext cx="4752528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‘effect of allelic substitution’ by 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Genetic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Estimate </a:t>
            </a:r>
          </a:p>
          <a:p>
            <a:pPr lvl="1" eaLnBrk="1" hangingPunct="1">
              <a:defRPr/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= ½ (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–</a:t>
            </a:r>
            <a:r>
              <a:rPr lang="en-GB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)  </a:t>
            </a:r>
          </a:p>
          <a:p>
            <a:pPr lvl="2" eaLnBrk="1" hangingPunct="1"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contrast (-0.5, 0.0,  0.5) of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endParaRPr lang="en-GB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1" hangingPunct="1">
              <a:defRPr/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d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=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– ½ (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+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g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lvl="2" eaLnBrk="1" hangingPunct="1"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contrast (-0.5, 1.0, -0.5) </a:t>
            </a:r>
          </a:p>
          <a:p>
            <a:pPr lvl="1" eaLnBrk="1" hangingPunct="1">
              <a:defRPr/>
            </a:pPr>
            <a:r>
              <a:rPr lang="el-GR" i="1" dirty="0">
                <a:solidFill>
                  <a:schemeClr val="accent3">
                    <a:lumMod val="50000"/>
                  </a:schemeClr>
                </a:solidFill>
              </a:rPr>
              <a:t>α</a:t>
            </a:r>
            <a:r>
              <a:rPr lang="en-GB" i="1" baseline="-25000" dirty="0">
                <a:solidFill>
                  <a:schemeClr val="accent3">
                    <a:lumMod val="50000"/>
                  </a:schemeClr>
                </a:solidFill>
              </a:rPr>
              <a:t>T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 = a + (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i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GB" i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– 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i="1" baseline="-25000" dirty="0" err="1">
                <a:solidFill>
                  <a:schemeClr val="accent3">
                    <a:lumMod val="50000"/>
                  </a:schemeClr>
                </a:solidFill>
              </a:rPr>
              <a:t>T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)d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  for frequency 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T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and 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=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1-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baseline="-25000" dirty="0">
                <a:solidFill>
                  <a:schemeClr val="accent3">
                    <a:lumMod val="50000"/>
                  </a:schemeClr>
                </a:solidFill>
              </a:rPr>
              <a:t>T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</a:p>
          <a:p>
            <a:pPr lvl="2" eaLnBrk="1" hangingPunct="1"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contrast (-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i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i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- 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i="1" baseline="-25000" dirty="0" err="1">
                <a:solidFill>
                  <a:schemeClr val="accent3">
                    <a:lumMod val="50000"/>
                  </a:schemeClr>
                </a:solidFill>
              </a:rPr>
              <a:t>T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), </a:t>
            </a:r>
            <a:r>
              <a:rPr lang="en-GB" i="1" dirty="0" err="1">
                <a:solidFill>
                  <a:schemeClr val="accent3">
                    <a:lumMod val="50000"/>
                  </a:schemeClr>
                </a:solidFill>
              </a:rPr>
              <a:t>p</a:t>
            </a:r>
            <a:r>
              <a:rPr lang="en-GB" i="1" baseline="-25000" dirty="0" err="1">
                <a:solidFill>
                  <a:schemeClr val="accent3">
                    <a:lumMod val="50000"/>
                  </a:schemeClr>
                </a:solidFill>
              </a:rPr>
              <a:t>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GB" i="1" dirty="0" err="1"/>
              <a:t>u</a:t>
            </a:r>
            <a:r>
              <a:rPr lang="en-GB" i="1" baseline="-25000" dirty="0" err="1"/>
              <a:t>T</a:t>
            </a:r>
            <a:r>
              <a:rPr lang="en-GB" dirty="0"/>
              <a:t> = (1-</a:t>
            </a:r>
            <a:r>
              <a:rPr lang="en-GB" i="1" dirty="0"/>
              <a:t>p</a:t>
            </a:r>
            <a:r>
              <a:rPr lang="en-GB" baseline="-25000" dirty="0"/>
              <a:t>T</a:t>
            </a:r>
            <a:r>
              <a:rPr lang="en-GB" dirty="0"/>
              <a:t>)</a:t>
            </a:r>
            <a:r>
              <a:rPr lang="el-GR" i="1" dirty="0"/>
              <a:t>α</a:t>
            </a:r>
            <a:r>
              <a:rPr lang="en-GB" i="1" baseline="-25000" dirty="0"/>
              <a:t>T</a:t>
            </a:r>
            <a:r>
              <a:rPr lang="en-GB" dirty="0"/>
              <a:t>,</a:t>
            </a:r>
            <a:r>
              <a:rPr lang="en-GB" i="1" dirty="0"/>
              <a:t> </a:t>
            </a:r>
            <a:r>
              <a:rPr lang="en-GB" dirty="0"/>
              <a:t>contrast (</a:t>
            </a:r>
            <a:r>
              <a:rPr lang="en-GB" i="1" dirty="0"/>
              <a:t>–p</a:t>
            </a:r>
            <a:r>
              <a:rPr lang="en-GB" baseline="-25000" dirty="0"/>
              <a:t>A</a:t>
            </a:r>
            <a:r>
              <a:rPr lang="en-GB" baseline="30000" dirty="0"/>
              <a:t>2</a:t>
            </a:r>
            <a:r>
              <a:rPr lang="en-GB" dirty="0"/>
              <a:t>,</a:t>
            </a:r>
            <a:r>
              <a:rPr lang="en-GB" i="1" dirty="0"/>
              <a:t> 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dirty="0"/>
              <a:t>(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/>
              <a:t>–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),</a:t>
            </a:r>
            <a:r>
              <a:rPr lang="en-GB" i="1" dirty="0"/>
              <a:t> 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)</a:t>
            </a:r>
          </a:p>
          <a:p>
            <a:pPr lvl="1" eaLnBrk="1" hangingPunct="1">
              <a:defRPr/>
            </a:pPr>
            <a:r>
              <a:rPr lang="en-GB" i="1" dirty="0" err="1"/>
              <a:t>u</a:t>
            </a:r>
            <a:r>
              <a:rPr lang="en-GB" i="1" baseline="-25000" dirty="0" err="1"/>
              <a:t>A</a:t>
            </a:r>
            <a:r>
              <a:rPr lang="en-GB" i="1" dirty="0"/>
              <a:t> </a:t>
            </a:r>
            <a:r>
              <a:rPr lang="en-GB" dirty="0"/>
              <a:t>= -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l-GR" i="1" dirty="0"/>
              <a:t>α</a:t>
            </a:r>
            <a:r>
              <a:rPr lang="en-GB" i="1" baseline="-25000" dirty="0"/>
              <a:t>T</a:t>
            </a:r>
            <a:r>
              <a:rPr lang="en-GB" dirty="0"/>
              <a:t>, contrast (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,</a:t>
            </a:r>
            <a:r>
              <a:rPr lang="en-GB" i="1" dirty="0"/>
              <a:t> –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(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/>
              <a:t>–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),</a:t>
            </a:r>
            <a:r>
              <a:rPr lang="en-GB" i="1" dirty="0"/>
              <a:t> –p</a:t>
            </a:r>
            <a:r>
              <a:rPr lang="en-GB" baseline="-25000" dirty="0"/>
              <a:t>T</a:t>
            </a:r>
            <a:r>
              <a:rPr lang="en-GB" baseline="30000" dirty="0"/>
              <a:t>2</a:t>
            </a:r>
            <a:r>
              <a:rPr lang="en-GB" dirty="0"/>
              <a:t>)</a:t>
            </a:r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3379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CBC9C21-B2C3-4AE5-B886-336747A5D049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3379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0C5B2D-02E3-4A9A-AA9C-422D3FDC495F}"/>
              </a:ext>
            </a:extLst>
          </p:cNvPr>
          <p:cNvSpPr/>
          <p:nvPr/>
        </p:nvSpPr>
        <p:spPr>
          <a:xfrm>
            <a:off x="407368" y="4653136"/>
            <a:ext cx="11377264" cy="10795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AD4533F-BFD2-4599-84E2-AF0B38F6A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216" y="5271591"/>
            <a:ext cx="3758232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‘average effects’ of T &amp; 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Genetic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Estimate </a:t>
            </a:r>
          </a:p>
          <a:p>
            <a:pPr lvl="1" eaLnBrk="1" hangingPunct="1">
              <a:defRPr/>
            </a:pPr>
            <a:r>
              <a:rPr lang="en-GB" i="1" dirty="0"/>
              <a:t>a</a:t>
            </a:r>
            <a:r>
              <a:rPr lang="en-GB" dirty="0"/>
              <a:t> = ½ (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r>
              <a:rPr lang="en-GB" dirty="0"/>
              <a:t> –</a:t>
            </a:r>
            <a:r>
              <a:rPr lang="en-GB" baseline="-25000" dirty="0"/>
              <a:t> 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)  </a:t>
            </a:r>
          </a:p>
          <a:p>
            <a:pPr lvl="2" eaLnBrk="1" hangingPunct="1">
              <a:defRPr/>
            </a:pPr>
            <a:r>
              <a:rPr lang="en-GB" dirty="0"/>
              <a:t>contrast (-0.5, 0.0, 0.5) of 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AT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r>
              <a:rPr lang="en-GB" dirty="0"/>
              <a:t> </a:t>
            </a:r>
          </a:p>
          <a:p>
            <a:pPr lvl="1" eaLnBrk="1" hangingPunct="1">
              <a:defRPr/>
            </a:pPr>
            <a:r>
              <a:rPr lang="en-GB" i="1" dirty="0"/>
              <a:t>d </a:t>
            </a:r>
            <a:r>
              <a:rPr lang="en-GB" dirty="0"/>
              <a:t>=</a:t>
            </a:r>
            <a:r>
              <a:rPr lang="en-GB" i="1" dirty="0"/>
              <a:t> </a:t>
            </a:r>
            <a:r>
              <a:rPr lang="en-GB" dirty="0" err="1"/>
              <a:t>g</a:t>
            </a:r>
            <a:r>
              <a:rPr lang="en-GB" baseline="-25000" dirty="0" err="1"/>
              <a:t>AT</a:t>
            </a:r>
            <a:r>
              <a:rPr lang="en-GB" dirty="0"/>
              <a:t> – ½ (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 + 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r>
              <a:rPr lang="en-GB" dirty="0"/>
              <a:t>)</a:t>
            </a:r>
          </a:p>
          <a:p>
            <a:pPr lvl="2" eaLnBrk="1" hangingPunct="1">
              <a:defRPr/>
            </a:pPr>
            <a:r>
              <a:rPr lang="en-GB" dirty="0"/>
              <a:t>contrast (-0.5, 1.0, -0.5) </a:t>
            </a:r>
          </a:p>
          <a:p>
            <a:pPr lvl="1" eaLnBrk="1" hangingPunct="1">
              <a:defRPr/>
            </a:pPr>
            <a:r>
              <a:rPr lang="el-GR" i="1" dirty="0"/>
              <a:t>α</a:t>
            </a:r>
            <a:r>
              <a:rPr lang="en-GB" i="1" baseline="-25000" dirty="0"/>
              <a:t>T</a:t>
            </a:r>
            <a:r>
              <a:rPr lang="en-GB" i="1" dirty="0"/>
              <a:t> = a + (</a:t>
            </a:r>
            <a:r>
              <a:rPr lang="en-GB" i="1" dirty="0" err="1"/>
              <a:t>p</a:t>
            </a:r>
            <a:r>
              <a:rPr lang="en-GB" i="1" baseline="-25000" dirty="0" err="1"/>
              <a:t>A</a:t>
            </a:r>
            <a:r>
              <a:rPr lang="en-GB" i="1" baseline="-25000" dirty="0"/>
              <a:t> </a:t>
            </a:r>
            <a:r>
              <a:rPr lang="en-GB" i="1" dirty="0"/>
              <a:t>– </a:t>
            </a:r>
            <a:r>
              <a:rPr lang="en-GB" i="1" dirty="0" err="1"/>
              <a:t>p</a:t>
            </a:r>
            <a:r>
              <a:rPr lang="en-GB" i="1" baseline="-25000" dirty="0" err="1"/>
              <a:t>T</a:t>
            </a:r>
            <a:r>
              <a:rPr lang="en-GB" i="1" dirty="0"/>
              <a:t>)d  </a:t>
            </a:r>
            <a:r>
              <a:rPr lang="en-GB" dirty="0"/>
              <a:t>for frequency 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i="1" dirty="0"/>
              <a:t> </a:t>
            </a:r>
            <a:r>
              <a:rPr lang="en-GB" dirty="0"/>
              <a:t>and 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/>
              <a:t>=</a:t>
            </a:r>
            <a:r>
              <a:rPr lang="en-GB" dirty="0"/>
              <a:t>1-</a:t>
            </a:r>
            <a:r>
              <a:rPr lang="en-GB" i="1" dirty="0"/>
              <a:t>p</a:t>
            </a:r>
            <a:r>
              <a:rPr lang="en-GB" baseline="-25000" dirty="0"/>
              <a:t>T</a:t>
            </a:r>
            <a:r>
              <a:rPr lang="en-GB" i="1" dirty="0"/>
              <a:t> </a:t>
            </a:r>
          </a:p>
          <a:p>
            <a:pPr lvl="2" eaLnBrk="1" hangingPunct="1">
              <a:defRPr/>
            </a:pPr>
            <a:r>
              <a:rPr lang="en-GB" dirty="0"/>
              <a:t>contrast (-</a:t>
            </a:r>
            <a:r>
              <a:rPr lang="en-GB" i="1" dirty="0" err="1"/>
              <a:t>p</a:t>
            </a:r>
            <a:r>
              <a:rPr lang="en-GB" i="1" baseline="-25000" dirty="0" err="1"/>
              <a:t>A</a:t>
            </a:r>
            <a:r>
              <a:rPr lang="en-GB" dirty="0"/>
              <a:t>, </a:t>
            </a:r>
            <a:r>
              <a:rPr lang="en-GB" i="1" dirty="0"/>
              <a:t>(</a:t>
            </a:r>
            <a:r>
              <a:rPr lang="en-GB" i="1" dirty="0" err="1"/>
              <a:t>p</a:t>
            </a:r>
            <a:r>
              <a:rPr lang="en-GB" i="1" baseline="-25000" dirty="0" err="1"/>
              <a:t>A</a:t>
            </a:r>
            <a:r>
              <a:rPr lang="en-GB" i="1" dirty="0"/>
              <a:t>- </a:t>
            </a:r>
            <a:r>
              <a:rPr lang="en-GB" i="1" dirty="0" err="1"/>
              <a:t>p</a:t>
            </a:r>
            <a:r>
              <a:rPr lang="en-GB" i="1" baseline="-25000" dirty="0" err="1"/>
              <a:t>T</a:t>
            </a:r>
            <a:r>
              <a:rPr lang="en-GB" i="1" dirty="0"/>
              <a:t>), </a:t>
            </a:r>
            <a:r>
              <a:rPr lang="en-GB" i="1" dirty="0" err="1"/>
              <a:t>p</a:t>
            </a:r>
            <a:r>
              <a:rPr lang="en-GB" i="1" baseline="-25000" dirty="0" err="1"/>
              <a:t>T</a:t>
            </a:r>
            <a:r>
              <a:rPr lang="en-GB" dirty="0"/>
              <a:t>)</a:t>
            </a:r>
          </a:p>
          <a:p>
            <a:pPr lvl="1" eaLnBrk="1" hangingPunct="1">
              <a:defRPr/>
            </a:pPr>
            <a:r>
              <a:rPr lang="en-GB" i="1" dirty="0" err="1"/>
              <a:t>u</a:t>
            </a:r>
            <a:r>
              <a:rPr lang="en-GB" i="1" baseline="-25000" dirty="0" err="1"/>
              <a:t>T</a:t>
            </a:r>
            <a:r>
              <a:rPr lang="en-GB" dirty="0"/>
              <a:t> = (1-</a:t>
            </a:r>
            <a:r>
              <a:rPr lang="en-GB" i="1" dirty="0"/>
              <a:t>p</a:t>
            </a:r>
            <a:r>
              <a:rPr lang="en-GB" baseline="-25000" dirty="0"/>
              <a:t>T</a:t>
            </a:r>
            <a:r>
              <a:rPr lang="en-GB" dirty="0"/>
              <a:t>)</a:t>
            </a:r>
            <a:r>
              <a:rPr lang="el-GR" i="1" dirty="0"/>
              <a:t>α</a:t>
            </a:r>
            <a:r>
              <a:rPr lang="en-GB" i="1" baseline="-25000" dirty="0"/>
              <a:t>T</a:t>
            </a:r>
            <a:r>
              <a:rPr lang="en-GB" dirty="0"/>
              <a:t>,</a:t>
            </a:r>
            <a:r>
              <a:rPr lang="en-GB" i="1" dirty="0"/>
              <a:t> </a:t>
            </a:r>
            <a:r>
              <a:rPr lang="en-GB" dirty="0"/>
              <a:t>contrast (</a:t>
            </a:r>
            <a:r>
              <a:rPr lang="en-GB" i="1" dirty="0"/>
              <a:t>–p</a:t>
            </a:r>
            <a:r>
              <a:rPr lang="en-GB" baseline="-25000" dirty="0"/>
              <a:t>A</a:t>
            </a:r>
            <a:r>
              <a:rPr lang="en-GB" baseline="30000" dirty="0"/>
              <a:t>2</a:t>
            </a:r>
            <a:r>
              <a:rPr lang="en-GB" dirty="0"/>
              <a:t>,</a:t>
            </a:r>
            <a:r>
              <a:rPr lang="en-GB" i="1" dirty="0"/>
              <a:t> 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dirty="0"/>
              <a:t>(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/>
              <a:t>–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),</a:t>
            </a:r>
            <a:r>
              <a:rPr lang="en-GB" i="1" dirty="0"/>
              <a:t> 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)</a:t>
            </a:r>
          </a:p>
          <a:p>
            <a:pPr lvl="1" eaLnBrk="1" hangingPunct="1">
              <a:defRPr/>
            </a:pPr>
            <a:r>
              <a:rPr lang="en-GB" i="1" dirty="0" err="1"/>
              <a:t>u</a:t>
            </a:r>
            <a:r>
              <a:rPr lang="en-GB" i="1" baseline="-25000" dirty="0" err="1"/>
              <a:t>A</a:t>
            </a:r>
            <a:r>
              <a:rPr lang="en-GB" i="1" dirty="0"/>
              <a:t> </a:t>
            </a:r>
            <a:r>
              <a:rPr lang="en-GB" dirty="0"/>
              <a:t>= -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l-GR" i="1" dirty="0"/>
              <a:t>α</a:t>
            </a:r>
            <a:r>
              <a:rPr lang="en-GB" i="1" baseline="-25000" dirty="0"/>
              <a:t>T</a:t>
            </a:r>
            <a:r>
              <a:rPr lang="en-GB" dirty="0"/>
              <a:t>, contrast (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,</a:t>
            </a:r>
            <a:r>
              <a:rPr lang="en-GB" i="1" dirty="0"/>
              <a:t> –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(</a:t>
            </a:r>
            <a:r>
              <a:rPr lang="en-GB" i="1" dirty="0" err="1"/>
              <a:t>p</a:t>
            </a:r>
            <a:r>
              <a:rPr lang="en-GB" baseline="-25000" dirty="0" err="1"/>
              <a:t>A</a:t>
            </a:r>
            <a:r>
              <a:rPr lang="en-GB" i="1" dirty="0"/>
              <a:t>–</a:t>
            </a:r>
            <a:r>
              <a:rPr lang="en-GB" i="1" dirty="0" err="1"/>
              <a:t>p</a:t>
            </a:r>
            <a:r>
              <a:rPr lang="en-GB" baseline="-25000" dirty="0" err="1"/>
              <a:t>T</a:t>
            </a:r>
            <a:r>
              <a:rPr lang="en-GB" dirty="0"/>
              <a:t>),</a:t>
            </a:r>
            <a:r>
              <a:rPr lang="en-GB" i="1" dirty="0"/>
              <a:t> –p</a:t>
            </a:r>
            <a:r>
              <a:rPr lang="en-GB" baseline="-25000" dirty="0"/>
              <a:t>T</a:t>
            </a:r>
            <a:r>
              <a:rPr lang="en-GB" baseline="30000" dirty="0"/>
              <a:t>2</a:t>
            </a:r>
            <a:r>
              <a:rPr lang="en-GB" dirty="0"/>
              <a:t>)</a:t>
            </a:r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26C04C2-F468-48E7-A141-065DD655DF3B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022F9C67-C40B-416C-9E70-479504528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4232" y="2391271"/>
            <a:ext cx="3600400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‘additive effect’ of T allele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0EAFFCD0-1DA0-4593-8D30-4D0DF697D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4545" y="3327375"/>
            <a:ext cx="3240087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‘dominance deviation’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7706BD6B-BD88-4698-AF80-69A14F568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000" y="4248000"/>
            <a:ext cx="4752528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‘effect of allelic substitution’ by T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AD453B42-E87F-4271-94A1-E9ED4C013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216" y="5271591"/>
            <a:ext cx="3758232" cy="461665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/>
              <a:t>‘average effects’ of T &amp; 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Standard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Need (co)variance matrix </a:t>
            </a:r>
            <a:r>
              <a:rPr lang="en-GB" b="1" dirty="0"/>
              <a:t>V </a:t>
            </a:r>
            <a:r>
              <a:rPr lang="en-GB" dirty="0"/>
              <a:t>of estimates  </a:t>
            </a:r>
            <a:r>
              <a:rPr lang="en-GB" b="1" dirty="0" err="1"/>
              <a:t>g</a:t>
            </a:r>
            <a:r>
              <a:rPr lang="en-GB" baseline="30000" dirty="0" err="1"/>
              <a:t>T</a:t>
            </a:r>
            <a:r>
              <a:rPr lang="en-GB" dirty="0"/>
              <a:t> = (</a:t>
            </a:r>
            <a:r>
              <a:rPr lang="en-GB" dirty="0" err="1"/>
              <a:t>g</a:t>
            </a:r>
            <a:r>
              <a:rPr lang="en-GB" baseline="-25000" dirty="0" err="1"/>
              <a:t>AA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AT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TT</a:t>
            </a:r>
            <a:r>
              <a:rPr lang="en-GB" dirty="0"/>
              <a:t>)</a:t>
            </a:r>
          </a:p>
          <a:p>
            <a:pPr eaLnBrk="1" hangingPunct="1">
              <a:defRPr/>
            </a:pPr>
            <a:r>
              <a:rPr lang="en-GB" dirty="0"/>
              <a:t>Then </a:t>
            </a:r>
            <a:r>
              <a:rPr lang="en-GB" i="1" dirty="0"/>
              <a:t>e.g.</a:t>
            </a:r>
            <a:r>
              <a:rPr lang="en-GB" dirty="0"/>
              <a:t> additive effect</a:t>
            </a:r>
          </a:p>
          <a:p>
            <a:pPr lvl="1" eaLnBrk="1" hangingPunct="1">
              <a:defRPr/>
            </a:pPr>
            <a:r>
              <a:rPr lang="en-GB" i="1" dirty="0"/>
              <a:t>a</a:t>
            </a:r>
            <a:r>
              <a:rPr lang="en-GB" dirty="0"/>
              <a:t> = </a:t>
            </a:r>
            <a:r>
              <a:rPr lang="en-GB" b="1" dirty="0" err="1"/>
              <a:t>c</a:t>
            </a:r>
            <a:r>
              <a:rPr lang="en-GB" baseline="30000" dirty="0" err="1"/>
              <a:t>T</a:t>
            </a:r>
            <a:r>
              <a:rPr lang="en-GB" b="1" dirty="0" err="1"/>
              <a:t>g</a:t>
            </a:r>
            <a:r>
              <a:rPr lang="en-GB" dirty="0"/>
              <a:t>  where </a:t>
            </a:r>
            <a:r>
              <a:rPr lang="en-GB" b="1" dirty="0" err="1"/>
              <a:t>c</a:t>
            </a:r>
            <a:r>
              <a:rPr lang="en-GB" baseline="30000" dirty="0" err="1"/>
              <a:t>T</a:t>
            </a:r>
            <a:r>
              <a:rPr lang="en-GB" dirty="0"/>
              <a:t> = ( -0.5, 0.0,  0.5)</a:t>
            </a:r>
          </a:p>
          <a:p>
            <a:pPr lvl="1" eaLnBrk="1" hangingPunct="1">
              <a:defRPr/>
            </a:pPr>
            <a:r>
              <a:rPr lang="en-GB" i="1" dirty="0" err="1"/>
              <a:t>var</a:t>
            </a:r>
            <a:r>
              <a:rPr lang="en-GB" dirty="0"/>
              <a:t>(</a:t>
            </a:r>
            <a:r>
              <a:rPr lang="en-GB" b="1" dirty="0" err="1"/>
              <a:t>c</a:t>
            </a:r>
            <a:r>
              <a:rPr lang="en-GB" baseline="30000" dirty="0" err="1"/>
              <a:t>T</a:t>
            </a:r>
            <a:r>
              <a:rPr lang="en-GB" b="1" dirty="0" err="1"/>
              <a:t>g</a:t>
            </a:r>
            <a:r>
              <a:rPr lang="en-GB" dirty="0"/>
              <a:t>) = </a:t>
            </a:r>
            <a:r>
              <a:rPr lang="en-GB" b="1" dirty="0" err="1"/>
              <a:t>c</a:t>
            </a:r>
            <a:r>
              <a:rPr lang="en-GB" baseline="30000" dirty="0" err="1"/>
              <a:t>T</a:t>
            </a:r>
            <a:r>
              <a:rPr lang="en-GB" baseline="30000" dirty="0"/>
              <a:t> </a:t>
            </a:r>
            <a:r>
              <a:rPr lang="en-GB" b="1" dirty="0"/>
              <a:t>V c</a:t>
            </a:r>
            <a:r>
              <a:rPr lang="en-GB" dirty="0"/>
              <a:t> and </a:t>
            </a:r>
            <a:r>
              <a:rPr lang="en-GB" dirty="0" err="1"/>
              <a:t>s.e.</a:t>
            </a:r>
            <a:r>
              <a:rPr lang="en-GB" dirty="0"/>
              <a:t> = </a:t>
            </a:r>
          </a:p>
          <a:p>
            <a:pPr lvl="2" eaLnBrk="1" hangingPunct="1">
              <a:defRPr/>
            </a:pPr>
            <a:r>
              <a:rPr lang="en-GB" dirty="0"/>
              <a:t>see Merry Matrices</a:t>
            </a:r>
          </a:p>
          <a:p>
            <a:pPr eaLnBrk="1" hangingPunct="1">
              <a:defRPr/>
            </a:pPr>
            <a:r>
              <a:rPr lang="en-GB" dirty="0"/>
              <a:t>All done by ‘</a:t>
            </a:r>
            <a:r>
              <a:rPr lang="en-GB" dirty="0" err="1"/>
              <a:t>qgm_fixed_linear</a:t>
            </a:r>
            <a:r>
              <a:rPr lang="en-GB" dirty="0"/>
              <a:t>()’!</a:t>
            </a:r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b="1" dirty="0"/>
          </a:p>
          <a:p>
            <a:pPr eaLnBrk="1" hangingPunct="1">
              <a:defRPr/>
            </a:pPr>
            <a:endParaRPr lang="en-GB" dirty="0"/>
          </a:p>
        </p:txBody>
      </p:sp>
      <p:sp>
        <p:nvSpPr>
          <p:cNvPr id="3789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78A33-F5F0-43EA-8D2D-563D3F027F43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3789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378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467677"/>
              </p:ext>
            </p:extLst>
          </p:nvPr>
        </p:nvGraphicFramePr>
        <p:xfrm>
          <a:off x="5528047" y="2924944"/>
          <a:ext cx="12160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1" name="Formula" r:id="rId3" imgW="613440" imgH="237600" progId="Equation.Ribbit">
                  <p:embed/>
                </p:oleObj>
              </mc:Choice>
              <mc:Fallback>
                <p:oleObj name="Formula" r:id="rId3" imgW="613440" imgH="237600" progId="Equation.Ribbit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8047" y="2924944"/>
                        <a:ext cx="12160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Model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Model </a:t>
            </a:r>
            <a:r>
              <a:rPr lang="en-GB" altLang="en-US" b="1"/>
              <a:t>y </a:t>
            </a:r>
            <a:r>
              <a:rPr lang="en-GB" altLang="en-US"/>
              <a:t>= </a:t>
            </a:r>
            <a:r>
              <a:rPr lang="en-GB" altLang="en-US" b="1"/>
              <a:t>1</a:t>
            </a:r>
            <a:r>
              <a:rPr lang="en-GB" altLang="en-US" i="1"/>
              <a:t>m </a:t>
            </a:r>
            <a:r>
              <a:rPr lang="en-GB" altLang="en-US"/>
              <a:t>+</a:t>
            </a:r>
            <a:r>
              <a:rPr lang="en-GB" altLang="en-US" i="1"/>
              <a:t> </a:t>
            </a:r>
            <a:r>
              <a:rPr lang="en-GB" altLang="en-US" b="1"/>
              <a:t>X</a:t>
            </a:r>
            <a:r>
              <a:rPr lang="en-GB" altLang="en-US" baseline="-25000"/>
              <a:t>1</a:t>
            </a:r>
            <a:r>
              <a:rPr lang="en-GB" altLang="en-US" b="1"/>
              <a:t>b </a:t>
            </a:r>
            <a:r>
              <a:rPr lang="en-GB" altLang="en-US"/>
              <a:t>+ </a:t>
            </a:r>
            <a:r>
              <a:rPr lang="en-GB" altLang="en-US" b="1"/>
              <a:t>X</a:t>
            </a:r>
            <a:r>
              <a:rPr lang="en-GB" altLang="en-US" baseline="-25000"/>
              <a:t>2</a:t>
            </a:r>
            <a:r>
              <a:rPr lang="en-GB" altLang="en-US" b="1"/>
              <a:t>g </a:t>
            </a:r>
            <a:r>
              <a:rPr lang="en-GB" altLang="en-US"/>
              <a:t>+ </a:t>
            </a:r>
            <a:r>
              <a:rPr lang="en-GB" altLang="en-US" b="1"/>
              <a:t>Zu</a:t>
            </a:r>
            <a:r>
              <a:rPr lang="en-GB" altLang="en-US"/>
              <a:t> + </a:t>
            </a:r>
            <a:r>
              <a:rPr lang="en-GB" altLang="en-US" b="1"/>
              <a:t>e</a:t>
            </a:r>
          </a:p>
          <a:p>
            <a:pPr lvl="1" eaLnBrk="1" hangingPunct="1"/>
            <a:r>
              <a:rPr lang="en-GB" altLang="en-US" b="1"/>
              <a:t>y</a:t>
            </a:r>
            <a:r>
              <a:rPr lang="en-GB" altLang="en-US"/>
              <a:t> 	vector of observations (</a:t>
            </a:r>
            <a:r>
              <a:rPr lang="en-GB" altLang="en-US" i="1"/>
              <a:t>n</a:t>
            </a:r>
            <a:r>
              <a:rPr lang="en-GB" altLang="en-US"/>
              <a:t> x 1)</a:t>
            </a:r>
          </a:p>
          <a:p>
            <a:pPr lvl="1" eaLnBrk="1" hangingPunct="1"/>
            <a:r>
              <a:rPr lang="en-GB" altLang="en-US" b="1"/>
              <a:t>1</a:t>
            </a:r>
            <a:r>
              <a:rPr lang="en-GB" altLang="en-US" i="1"/>
              <a:t>m</a:t>
            </a:r>
            <a:r>
              <a:rPr lang="en-GB" altLang="en-US"/>
              <a:t>	</a:t>
            </a:r>
            <a:r>
              <a:rPr lang="en-GB" altLang="en-US" i="1"/>
              <a:t>m</a:t>
            </a:r>
            <a:r>
              <a:rPr lang="en-GB" altLang="en-US"/>
              <a:t> is mean effect, fixed (1 d.f.)</a:t>
            </a:r>
          </a:p>
          <a:p>
            <a:pPr lvl="3" eaLnBrk="1" hangingPunct="1"/>
            <a:r>
              <a:rPr lang="en-GB" altLang="en-US"/>
              <a:t>	design vector </a:t>
            </a:r>
            <a:r>
              <a:rPr lang="en-GB" altLang="en-US" b="1"/>
              <a:t>1 </a:t>
            </a:r>
            <a:r>
              <a:rPr lang="en-GB" altLang="en-US"/>
              <a:t>is (</a:t>
            </a:r>
            <a:r>
              <a:rPr lang="en-GB" altLang="en-US" i="1"/>
              <a:t>n</a:t>
            </a:r>
            <a:r>
              <a:rPr lang="en-GB" altLang="en-US"/>
              <a:t> x 1) vector of 1’s</a:t>
            </a:r>
          </a:p>
          <a:p>
            <a:pPr lvl="1" eaLnBrk="1" hangingPunct="1"/>
            <a:r>
              <a:rPr lang="en-GB" altLang="en-US" b="1"/>
              <a:t>b</a:t>
            </a:r>
            <a:r>
              <a:rPr lang="en-GB" altLang="en-US"/>
              <a:t>	nuisance effects, fixed with design </a:t>
            </a:r>
            <a:r>
              <a:rPr lang="en-GB" altLang="en-US" b="1"/>
              <a:t>X</a:t>
            </a:r>
            <a:r>
              <a:rPr lang="en-GB" altLang="en-US" baseline="-25000"/>
              <a:t>1</a:t>
            </a:r>
            <a:endParaRPr lang="en-GB" altLang="en-US"/>
          </a:p>
          <a:p>
            <a:pPr lvl="1" eaLnBrk="1" hangingPunct="1"/>
            <a:r>
              <a:rPr lang="en-GB" altLang="en-US" b="1"/>
              <a:t>g</a:t>
            </a:r>
            <a:r>
              <a:rPr lang="en-GB" altLang="en-US"/>
              <a:t>	QTL locus, fixed (2 d.f.) with design </a:t>
            </a:r>
            <a:r>
              <a:rPr lang="en-GB" altLang="en-US" b="1"/>
              <a:t>X</a:t>
            </a:r>
            <a:r>
              <a:rPr lang="en-GB" altLang="en-US" baseline="-25000"/>
              <a:t>2 </a:t>
            </a:r>
            <a:endParaRPr lang="en-GB" altLang="en-US"/>
          </a:p>
          <a:p>
            <a:pPr lvl="1" eaLnBrk="1" hangingPunct="1"/>
            <a:r>
              <a:rPr lang="en-GB" altLang="en-US" b="1"/>
              <a:t>u 	</a:t>
            </a:r>
            <a:r>
              <a:rPr lang="en-GB" altLang="en-US"/>
              <a:t>(</a:t>
            </a:r>
            <a:r>
              <a:rPr lang="en-GB" altLang="en-US" i="1"/>
              <a:t>p</a:t>
            </a:r>
            <a:r>
              <a:rPr lang="en-GB" altLang="en-US"/>
              <a:t> x 1) vector of polygenic breeding values </a:t>
            </a:r>
          </a:p>
          <a:p>
            <a:pPr lvl="3" eaLnBrk="1" hangingPunct="1"/>
            <a:r>
              <a:rPr lang="en-GB" altLang="en-US"/>
              <a:t>	design matrix </a:t>
            </a:r>
            <a:r>
              <a:rPr lang="en-GB" altLang="en-US" b="1"/>
              <a:t>Z</a:t>
            </a:r>
            <a:r>
              <a:rPr lang="en-GB" altLang="en-US"/>
              <a:t>, </a:t>
            </a:r>
            <a:r>
              <a:rPr lang="en-GB" altLang="en-US" b="1"/>
              <a:t>u</a:t>
            </a:r>
            <a:r>
              <a:rPr lang="en-GB" altLang="en-US"/>
              <a:t> assumed random MVN(0,</a:t>
            </a:r>
            <a:r>
              <a:rPr lang="el-GR" altLang="en-US"/>
              <a:t>σ</a:t>
            </a:r>
            <a:r>
              <a:rPr lang="en-GB" altLang="en-US" baseline="-25000"/>
              <a:t>A</a:t>
            </a:r>
            <a:r>
              <a:rPr lang="en-GB" altLang="en-US" baseline="30000"/>
              <a:t>2</a:t>
            </a:r>
            <a:r>
              <a:rPr lang="en-GB" altLang="en-US" b="1"/>
              <a:t>A</a:t>
            </a:r>
            <a:r>
              <a:rPr lang="en-GB" altLang="en-US"/>
              <a:t>)               </a:t>
            </a:r>
          </a:p>
          <a:p>
            <a:pPr lvl="1" eaLnBrk="1" hangingPunct="1"/>
            <a:r>
              <a:rPr lang="en-GB" altLang="en-US" b="1"/>
              <a:t>e	</a:t>
            </a:r>
            <a:r>
              <a:rPr lang="en-GB" altLang="en-US"/>
              <a:t>(</a:t>
            </a:r>
            <a:r>
              <a:rPr lang="en-GB" altLang="en-US" i="1"/>
              <a:t>n</a:t>
            </a:r>
            <a:r>
              <a:rPr lang="en-GB" altLang="en-US"/>
              <a:t> x 1) vector of residual effects</a:t>
            </a:r>
          </a:p>
          <a:p>
            <a:pPr lvl="3" eaLnBrk="1" hangingPunct="1"/>
            <a:r>
              <a:rPr lang="en-GB" altLang="en-US"/>
              <a:t> 	</a:t>
            </a:r>
            <a:r>
              <a:rPr lang="en-GB" altLang="en-US" b="1"/>
              <a:t>e </a:t>
            </a:r>
            <a:r>
              <a:rPr lang="en-GB" altLang="en-US"/>
              <a:t>assumed random MVN(0,</a:t>
            </a:r>
            <a:r>
              <a:rPr lang="el-GR" altLang="en-US"/>
              <a:t>σ</a:t>
            </a:r>
            <a:r>
              <a:rPr lang="en-GB" altLang="en-US" baseline="-25000"/>
              <a:t>E</a:t>
            </a:r>
            <a:r>
              <a:rPr lang="en-GB" altLang="en-US" baseline="30000"/>
              <a:t>2</a:t>
            </a:r>
            <a:r>
              <a:rPr lang="en-GB" altLang="en-US" b="1"/>
              <a:t>I</a:t>
            </a:r>
            <a:r>
              <a:rPr lang="en-GB" altLang="en-US"/>
              <a:t>)</a:t>
            </a:r>
          </a:p>
        </p:txBody>
      </p:sp>
      <p:sp>
        <p:nvSpPr>
          <p:cNvPr id="3994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7A08873-CB33-4CB5-AFBA-DF5BC013F5AB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6451600" y="26670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9" name="Equation" r:id="rId3" imgW="914400" imgH="203040" progId="Equation.DSMT4">
                  <p:embed/>
                </p:oleObj>
              </mc:Choice>
              <mc:Fallback>
                <p:oleObj name="Equation" r:id="rId3" imgW="9144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26670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Box 7"/>
          <p:cNvSpPr txBox="1">
            <a:spLocks noChangeArrowheads="1"/>
          </p:cNvSpPr>
          <p:nvPr/>
        </p:nvSpPr>
        <p:spPr bwMode="auto">
          <a:xfrm rot="21256744">
            <a:off x="5676901" y="2574926"/>
            <a:ext cx="4176713" cy="461963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What is the breeding value?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Breeding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Additive genetic merit (breeding value) for </a:t>
            </a:r>
            <a:r>
              <a:rPr lang="en-GB" i="1" dirty="0" err="1"/>
              <a:t>i</a:t>
            </a:r>
            <a:r>
              <a:rPr lang="en-GB" dirty="0"/>
              <a:t> with population frequencies </a:t>
            </a:r>
            <a:r>
              <a:rPr lang="en-GB" dirty="0" err="1"/>
              <a:t>p</a:t>
            </a:r>
            <a:r>
              <a:rPr lang="en-GB" baseline="-25000" dirty="0" err="1"/>
              <a:t>A</a:t>
            </a:r>
            <a:r>
              <a:rPr lang="en-GB" dirty="0"/>
              <a:t> &amp; </a:t>
            </a:r>
            <a:r>
              <a:rPr lang="en-GB" dirty="0" err="1"/>
              <a:t>p</a:t>
            </a:r>
            <a:r>
              <a:rPr lang="en-GB" baseline="-25000" dirty="0" err="1"/>
              <a:t>T</a:t>
            </a:r>
            <a:endParaRPr lang="en-GB" dirty="0"/>
          </a:p>
          <a:p>
            <a:pPr lvl="1" eaLnBrk="1" hangingPunct="1">
              <a:defRPr/>
            </a:pPr>
            <a:r>
              <a:rPr lang="en-GB" dirty="0"/>
              <a:t>with genotype AA is 	</a:t>
            </a:r>
            <a:r>
              <a:rPr lang="en-GB" dirty="0" err="1"/>
              <a:t>u</a:t>
            </a:r>
            <a:r>
              <a:rPr lang="en-GB" baseline="-25000" dirty="0" err="1"/>
              <a:t>i</a:t>
            </a:r>
            <a:r>
              <a:rPr lang="en-GB" dirty="0"/>
              <a:t> + 2u</a:t>
            </a:r>
            <a:r>
              <a:rPr lang="en-GB" baseline="-25000" dirty="0"/>
              <a:t>A</a:t>
            </a:r>
            <a:endParaRPr lang="en-GB" dirty="0"/>
          </a:p>
          <a:p>
            <a:pPr lvl="1" eaLnBrk="1" hangingPunct="1">
              <a:defRPr/>
            </a:pPr>
            <a:r>
              <a:rPr lang="en-GB" dirty="0"/>
              <a:t>with genotype AT is 	</a:t>
            </a:r>
            <a:r>
              <a:rPr lang="en-GB" dirty="0" err="1"/>
              <a:t>u</a:t>
            </a:r>
            <a:r>
              <a:rPr lang="en-GB" baseline="-25000" dirty="0" err="1"/>
              <a:t>i</a:t>
            </a:r>
            <a:r>
              <a:rPr lang="en-GB" dirty="0"/>
              <a:t> + </a:t>
            </a:r>
            <a:r>
              <a:rPr lang="en-GB" dirty="0" err="1"/>
              <a:t>u</a:t>
            </a:r>
            <a:r>
              <a:rPr lang="en-GB" baseline="-25000" dirty="0" err="1"/>
              <a:t>A</a:t>
            </a:r>
            <a:r>
              <a:rPr lang="en-GB" dirty="0" err="1"/>
              <a:t>+u</a:t>
            </a:r>
            <a:r>
              <a:rPr lang="en-GB" baseline="-25000" dirty="0" err="1"/>
              <a:t>T</a:t>
            </a:r>
            <a:endParaRPr lang="en-GB" baseline="-25000" dirty="0"/>
          </a:p>
          <a:p>
            <a:pPr lvl="1" eaLnBrk="1" hangingPunct="1">
              <a:defRPr/>
            </a:pPr>
            <a:r>
              <a:rPr lang="en-GB" dirty="0"/>
              <a:t>with genotype TT is 	</a:t>
            </a:r>
            <a:r>
              <a:rPr lang="en-GB" dirty="0" err="1"/>
              <a:t>u</a:t>
            </a:r>
            <a:r>
              <a:rPr lang="en-GB" baseline="-25000" dirty="0" err="1"/>
              <a:t>i</a:t>
            </a:r>
            <a:r>
              <a:rPr lang="en-GB" dirty="0"/>
              <a:t> + 2u</a:t>
            </a:r>
            <a:r>
              <a:rPr lang="en-GB" baseline="-25000" dirty="0"/>
              <a:t>T</a:t>
            </a:r>
            <a:endParaRPr lang="en-GB" dirty="0"/>
          </a:p>
          <a:p>
            <a:pPr marL="457200" lvl="1" indent="0" eaLnBrk="1" hangingPunct="1">
              <a:buNone/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409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50EBE98-F1B5-401B-8E59-44A06A3F348C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4096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Single Locus Genotype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Treated QTL as fixed</a:t>
            </a:r>
          </a:p>
          <a:p>
            <a:pPr lvl="1" eaLnBrk="1" hangingPunct="1"/>
            <a:r>
              <a:rPr lang="en-GB" altLang="en-US"/>
              <a:t>estimate </a:t>
            </a:r>
            <a:r>
              <a:rPr lang="en-GB" altLang="en-US" i="1"/>
              <a:t>a</a:t>
            </a:r>
            <a:r>
              <a:rPr lang="en-GB" altLang="en-US"/>
              <a:t>, </a:t>
            </a:r>
            <a:r>
              <a:rPr lang="en-GB" altLang="en-US" i="1"/>
              <a:t>d</a:t>
            </a:r>
            <a:r>
              <a:rPr lang="en-GB" altLang="en-US"/>
              <a:t>, allelic substitutions</a:t>
            </a:r>
          </a:p>
          <a:p>
            <a:pPr eaLnBrk="1" hangingPunct="1"/>
            <a:r>
              <a:rPr lang="en-GB" altLang="en-US"/>
              <a:t>If use ‘least squares’ fixed model</a:t>
            </a:r>
          </a:p>
          <a:p>
            <a:pPr lvl="1" eaLnBrk="1" hangingPunct="1"/>
            <a:r>
              <a:rPr lang="en-GB" altLang="en-US"/>
              <a:t>increased Type I error</a:t>
            </a:r>
          </a:p>
          <a:p>
            <a:pPr lvl="1" eaLnBrk="1" hangingPunct="1"/>
            <a:r>
              <a:rPr lang="en-GB" altLang="en-US"/>
              <a:t>bias with selection, particularly </a:t>
            </a:r>
            <a:r>
              <a:rPr lang="en-GB" altLang="en-US" i="1"/>
              <a:t>a</a:t>
            </a:r>
            <a:r>
              <a:rPr lang="en-GB" altLang="en-US"/>
              <a:t> is overestimated</a:t>
            </a:r>
          </a:p>
          <a:p>
            <a:pPr eaLnBrk="1" hangingPunct="1"/>
            <a:r>
              <a:rPr lang="en-GB" altLang="en-US"/>
              <a:t>With linear mixed model</a:t>
            </a:r>
          </a:p>
          <a:p>
            <a:pPr lvl="1" eaLnBrk="1" hangingPunct="1"/>
            <a:r>
              <a:rPr lang="en-GB" altLang="en-US"/>
              <a:t>fit ‘polygenic’ variance, with </a:t>
            </a:r>
            <a:r>
              <a:rPr lang="el-GR" altLang="en-US"/>
              <a:t>σ</a:t>
            </a:r>
            <a:r>
              <a:rPr lang="en-GB" altLang="en-US" baseline="-25000"/>
              <a:t>A</a:t>
            </a:r>
            <a:r>
              <a:rPr lang="en-GB" altLang="en-US" baseline="30000"/>
              <a:t>2</a:t>
            </a:r>
            <a:r>
              <a:rPr lang="en-GB" altLang="en-US" b="1"/>
              <a:t>A</a:t>
            </a:r>
          </a:p>
          <a:p>
            <a:pPr lvl="1" eaLnBrk="1" hangingPunct="1"/>
            <a:r>
              <a:rPr lang="en-GB" altLang="en-US"/>
              <a:t>bias removed, Type I error controlled</a:t>
            </a:r>
          </a:p>
          <a:p>
            <a:pPr lvl="1" eaLnBrk="1" hangingPunct="1"/>
            <a:r>
              <a:rPr lang="en-GB" altLang="en-US"/>
              <a:t>may need MCMC if missing genotypes</a:t>
            </a:r>
          </a:p>
        </p:txBody>
      </p:sp>
      <p:sp>
        <p:nvSpPr>
          <p:cNvPr id="419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47331DA-0BBF-4C28-86B2-FF6FFE6B15D1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419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Application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Gene Assisted Selection</a:t>
            </a:r>
          </a:p>
          <a:p>
            <a:pPr lvl="1" eaLnBrk="1" hangingPunct="1"/>
            <a:r>
              <a:rPr lang="en-GB" altLang="en-US" dirty="0"/>
              <a:t>e.g. double muscling locus, IPN in salmon breeding</a:t>
            </a:r>
          </a:p>
          <a:p>
            <a:pPr lvl="1" eaLnBrk="1" hangingPunct="1"/>
            <a:r>
              <a:rPr lang="en-GB" altLang="en-US" dirty="0"/>
              <a:t>use BLUP to estimate polygenic EBV, and locus effects</a:t>
            </a:r>
          </a:p>
          <a:p>
            <a:pPr eaLnBrk="1" hangingPunct="1"/>
            <a:r>
              <a:rPr lang="en-GB" dirty="0"/>
              <a:t>Risk prediction in medicine</a:t>
            </a:r>
            <a:endParaRPr lang="en-GB" altLang="en-US" dirty="0"/>
          </a:p>
          <a:p>
            <a:pPr eaLnBrk="1" hangingPunct="1"/>
            <a:r>
              <a:rPr lang="en-GB" altLang="en-US" dirty="0"/>
              <a:t>OK, </a:t>
            </a:r>
            <a:r>
              <a:rPr lang="en-GB" altLang="en-US" u="sng" dirty="0"/>
              <a:t>providing</a:t>
            </a:r>
            <a:r>
              <a:rPr lang="en-GB" altLang="en-US" dirty="0"/>
              <a:t> </a:t>
            </a:r>
          </a:p>
          <a:p>
            <a:pPr lvl="2" eaLnBrk="1" hangingPunct="1"/>
            <a:r>
              <a:rPr lang="en-GB" altLang="en-US" dirty="0"/>
              <a:t>it is actually causative and not a linked locus</a:t>
            </a:r>
          </a:p>
          <a:p>
            <a:pPr lvl="3" eaLnBrk="1" hangingPunct="1"/>
            <a:r>
              <a:rPr lang="en-GB" altLang="en-US" dirty="0"/>
              <a:t>otherwise LD will break down!</a:t>
            </a:r>
          </a:p>
          <a:p>
            <a:pPr lvl="2" eaLnBrk="1" hangingPunct="1"/>
            <a:r>
              <a:rPr lang="en-GB" altLang="en-US" dirty="0"/>
              <a:t>gene effects are very accurately estimated</a:t>
            </a:r>
          </a:p>
          <a:p>
            <a:pPr lvl="3" eaLnBrk="1" hangingPunct="1"/>
            <a:r>
              <a:rPr lang="en-GB" altLang="en-US" dirty="0"/>
              <a:t>otherwise lose accuracy and lose gain</a:t>
            </a:r>
          </a:p>
        </p:txBody>
      </p:sp>
      <p:sp>
        <p:nvSpPr>
          <p:cNvPr id="4301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AB6D93E-2A49-43BE-90F6-C8FCC94663D6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4301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D58A295-B41A-4D75-805D-70A85F78C6CE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4505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DFFE2CC-A977-46EF-B23A-536701789F05}" type="datetime4">
              <a:rPr lang="en-GB" altLang="en-US">
                <a:solidFill>
                  <a:srgbClr val="000000"/>
                </a:solidFill>
              </a:rPr>
              <a:pPr/>
              <a:t>29 January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4608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6</a:t>
            </a: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6 ...</a:t>
            </a:r>
            <a:br>
              <a:rPr lang="en-GB" altLang="en-US"/>
            </a:br>
            <a:r>
              <a:rPr lang="en-GB" altLang="en-US"/>
              <a:t>Single Locus Models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2: using markers to track IBD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Back to Genetic Variance 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How much variance is explained by QTL?</a:t>
            </a:r>
          </a:p>
          <a:p>
            <a:pPr eaLnBrk="1" hangingPunct="1"/>
            <a:r>
              <a:rPr lang="en-GB" altLang="en-US" dirty="0"/>
              <a:t>In principle, 2</a:t>
            </a:r>
            <a:r>
              <a:rPr lang="en-GB" altLang="en-US" i="1" dirty="0"/>
              <a:t>pq</a:t>
            </a:r>
            <a:r>
              <a:rPr lang="el-GR" altLang="en-US" i="1" dirty="0"/>
              <a:t>α</a:t>
            </a:r>
            <a:r>
              <a:rPr lang="en-GB" altLang="en-US" i="1" baseline="-25000" dirty="0"/>
              <a:t>T</a:t>
            </a:r>
            <a:r>
              <a:rPr lang="en-GB" altLang="en-US" baseline="30000" dirty="0"/>
              <a:t>2</a:t>
            </a:r>
            <a:r>
              <a:rPr lang="en-GB" altLang="en-US" dirty="0"/>
              <a:t>, however </a:t>
            </a:r>
            <a:r>
              <a:rPr lang="el-GR" altLang="en-US" i="1" dirty="0"/>
              <a:t>α</a:t>
            </a:r>
            <a:r>
              <a:rPr lang="en-GB" altLang="en-US" i="1" baseline="-25000" dirty="0"/>
              <a:t>T</a:t>
            </a:r>
            <a:r>
              <a:rPr lang="en-GB" altLang="en-US" baseline="30000" dirty="0"/>
              <a:t>2</a:t>
            </a:r>
            <a:r>
              <a:rPr lang="en-GB" altLang="en-US" dirty="0"/>
              <a:t> is not estimated in analysis</a:t>
            </a:r>
          </a:p>
          <a:p>
            <a:pPr lvl="1" eaLnBrk="1" hangingPunct="1"/>
            <a:r>
              <a:rPr lang="en-GB" altLang="en-US" dirty="0"/>
              <a:t> … only </a:t>
            </a:r>
            <a:r>
              <a:rPr lang="el-GR" altLang="en-US" i="1" dirty="0"/>
              <a:t>α</a:t>
            </a:r>
            <a:r>
              <a:rPr lang="en-GB" altLang="en-US" i="1" baseline="-25000" dirty="0"/>
              <a:t>T</a:t>
            </a:r>
            <a:r>
              <a:rPr lang="en-GB" altLang="en-US" dirty="0"/>
              <a:t> is estimated</a:t>
            </a:r>
          </a:p>
          <a:p>
            <a:pPr lvl="1" eaLnBrk="1" hangingPunct="1"/>
            <a:r>
              <a:rPr lang="en-GB" altLang="en-US" dirty="0"/>
              <a:t>and</a:t>
            </a:r>
          </a:p>
          <a:p>
            <a:pPr eaLnBrk="1" hangingPunct="1"/>
            <a:r>
              <a:rPr lang="en-GB" altLang="en-US" dirty="0"/>
              <a:t>Strict square      will overestimate variance</a:t>
            </a:r>
          </a:p>
          <a:p>
            <a:pPr lvl="1" eaLnBrk="1" hangingPunct="1"/>
            <a:r>
              <a:rPr lang="en-GB" altLang="en-US" dirty="0"/>
              <a:t>by an amount depending on estimation error</a:t>
            </a:r>
          </a:p>
          <a:p>
            <a:pPr lvl="1" eaLnBrk="1" hangingPunct="1"/>
            <a:r>
              <a:rPr lang="en-GB" altLang="en-US" dirty="0"/>
              <a:t>more said in LAGA</a:t>
            </a:r>
          </a:p>
        </p:txBody>
      </p:sp>
      <p:sp>
        <p:nvSpPr>
          <p:cNvPr id="4813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21CFF81-6471-4556-9467-BD0F85477229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4813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48134" name="Rectangle 5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81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018482"/>
              </p:ext>
            </p:extLst>
          </p:nvPr>
        </p:nvGraphicFramePr>
        <p:xfrm>
          <a:off x="1847528" y="2882901"/>
          <a:ext cx="61563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3" name="Equation" r:id="rId3" imgW="2806560" imgH="215640" progId="Equation.DSMT4">
                  <p:embed/>
                </p:oleObj>
              </mc:Choice>
              <mc:Fallback>
                <p:oleObj name="Equation" r:id="rId3" imgW="2806560" imgH="215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882901"/>
                        <a:ext cx="61563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897738"/>
              </p:ext>
            </p:extLst>
          </p:nvPr>
        </p:nvGraphicFramePr>
        <p:xfrm>
          <a:off x="3071664" y="3399656"/>
          <a:ext cx="5349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4" name="Equation" r:id="rId5" imgW="203040" imgH="203040" progId="Equation.DSMT4">
                  <p:embed/>
                </p:oleObj>
              </mc:Choice>
              <mc:Fallback>
                <p:oleObj name="Equation" r:id="rId5" imgW="20304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3399656"/>
                        <a:ext cx="5349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Issues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How much variance does locus explain?</a:t>
            </a:r>
          </a:p>
          <a:p>
            <a:pPr eaLnBrk="1" hangingPunct="1"/>
            <a:r>
              <a:rPr lang="en-GB" altLang="en-US"/>
              <a:t>What happens if the QTL is not causative but linked?</a:t>
            </a:r>
          </a:p>
          <a:p>
            <a:pPr eaLnBrk="1" hangingPunct="1"/>
            <a:endParaRPr lang="en-GB" altLang="en-US"/>
          </a:p>
        </p:txBody>
      </p:sp>
      <p:sp>
        <p:nvSpPr>
          <p:cNvPr id="491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88BFD19-938C-408C-ABB4-279E4101E712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491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Revision on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b="1" dirty="0"/>
              <a:t>A</a:t>
            </a:r>
            <a:r>
              <a:rPr lang="en-GB" dirty="0"/>
              <a:t> is the numerator relationship matrix between 2 individuals defined by</a:t>
            </a:r>
          </a:p>
          <a:p>
            <a:pPr marL="0" indent="0" eaLnBrk="1" hangingPunct="1">
              <a:buNone/>
              <a:defRPr/>
            </a:pPr>
            <a:r>
              <a:rPr lang="en-GB" dirty="0"/>
              <a:t>	</a:t>
            </a:r>
            <a:r>
              <a:rPr lang="en-GB" dirty="0" err="1"/>
              <a:t>cov</a:t>
            </a:r>
            <a:r>
              <a:rPr lang="en-GB" dirty="0"/>
              <a:t>( </a:t>
            </a:r>
            <a:r>
              <a:rPr lang="en-GB" dirty="0" err="1"/>
              <a:t>g</a:t>
            </a:r>
            <a:r>
              <a:rPr lang="en-GB" baseline="-25000" dirty="0" err="1"/>
              <a:t>u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v</a:t>
            </a:r>
            <a:r>
              <a:rPr lang="en-GB" baseline="-25000" dirty="0"/>
              <a:t> </a:t>
            </a:r>
            <a:r>
              <a:rPr lang="en-GB" dirty="0"/>
              <a:t>) = </a:t>
            </a:r>
            <a:r>
              <a:rPr lang="en-GB" dirty="0" err="1"/>
              <a:t>a</a:t>
            </a:r>
            <a:r>
              <a:rPr lang="en-GB" baseline="-25000" dirty="0" err="1"/>
              <a:t>uv</a:t>
            </a:r>
            <a:r>
              <a:rPr lang="en-GB" baseline="-25000" dirty="0"/>
              <a:t> </a:t>
            </a:r>
            <a:r>
              <a:rPr lang="el-GR" dirty="0"/>
              <a:t>σ</a:t>
            </a:r>
            <a:r>
              <a:rPr lang="en-GB" baseline="-25000" dirty="0"/>
              <a:t>A</a:t>
            </a:r>
            <a:r>
              <a:rPr lang="en-GB" baseline="30000" dirty="0"/>
              <a:t>2</a:t>
            </a:r>
            <a:endParaRPr lang="en-GB" dirty="0"/>
          </a:p>
          <a:p>
            <a:pPr marL="857250" lvl="1" indent="-457200" eaLnBrk="1" hangingPunct="1">
              <a:defRPr/>
            </a:pPr>
            <a:r>
              <a:rPr lang="en-GB" dirty="0" err="1"/>
              <a:t>g</a:t>
            </a:r>
            <a:r>
              <a:rPr lang="en-GB" baseline="-25000" dirty="0" err="1"/>
              <a:t>u</a:t>
            </a:r>
            <a:r>
              <a:rPr lang="en-GB" dirty="0"/>
              <a:t>, </a:t>
            </a:r>
            <a:r>
              <a:rPr lang="en-GB" dirty="0" err="1"/>
              <a:t>g</a:t>
            </a:r>
            <a:r>
              <a:rPr lang="en-GB" baseline="-25000" dirty="0" err="1"/>
              <a:t>v</a:t>
            </a:r>
            <a:r>
              <a:rPr lang="en-GB" dirty="0"/>
              <a:t> are breeding values</a:t>
            </a:r>
          </a:p>
          <a:p>
            <a:pPr marL="857250" lvl="1" indent="-457200" eaLnBrk="1" hangingPunct="1">
              <a:defRPr/>
            </a:pPr>
            <a:r>
              <a:rPr lang="en-GB" dirty="0"/>
              <a:t>where </a:t>
            </a:r>
            <a:r>
              <a:rPr lang="el-GR" dirty="0"/>
              <a:t>σ</a:t>
            </a:r>
            <a:r>
              <a:rPr lang="en-GB" baseline="-25000" dirty="0"/>
              <a:t>A</a:t>
            </a:r>
            <a:r>
              <a:rPr lang="en-GB" baseline="30000" dirty="0"/>
              <a:t>2</a:t>
            </a:r>
            <a:r>
              <a:rPr lang="en-GB" dirty="0"/>
              <a:t> is variance in base population</a:t>
            </a:r>
          </a:p>
          <a:p>
            <a:pPr marL="857250" lvl="1" indent="-457200" eaLnBrk="1" hangingPunct="1">
              <a:defRPr/>
            </a:pPr>
            <a:r>
              <a:rPr lang="en-GB" dirty="0"/>
              <a:t>shown to be twice coefficient of kinship, 2</a:t>
            </a:r>
            <a:r>
              <a:rPr lang="el-GR" dirty="0"/>
              <a:t>φ</a:t>
            </a:r>
            <a:r>
              <a:rPr lang="en-GB" baseline="-25000" dirty="0" err="1"/>
              <a:t>uv</a:t>
            </a:r>
            <a:endParaRPr lang="en-GB" baseline="-25000" dirty="0"/>
          </a:p>
          <a:p>
            <a:pPr marL="857250" lvl="1" indent="-457200" eaLnBrk="1" hangingPunct="1">
              <a:defRPr/>
            </a:pPr>
            <a:r>
              <a:rPr lang="en-GB" dirty="0"/>
              <a:t>dimensions </a:t>
            </a:r>
            <a:r>
              <a:rPr lang="en-GB" i="1" dirty="0"/>
              <a:t>n</a:t>
            </a:r>
            <a:r>
              <a:rPr lang="en-GB" dirty="0"/>
              <a:t> x </a:t>
            </a:r>
            <a:r>
              <a:rPr lang="en-GB" i="1" dirty="0"/>
              <a:t>n</a:t>
            </a:r>
            <a:r>
              <a:rPr lang="en-GB" dirty="0"/>
              <a:t> where </a:t>
            </a:r>
            <a:r>
              <a:rPr lang="en-GB" i="1" dirty="0"/>
              <a:t>n</a:t>
            </a:r>
            <a:r>
              <a:rPr lang="en-GB" dirty="0"/>
              <a:t> is # individuals </a:t>
            </a:r>
          </a:p>
        </p:txBody>
      </p:sp>
      <p:sp>
        <p:nvSpPr>
          <p:cNvPr id="5018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CC3723D-D424-4E58-A64C-EB8A9C2AB94D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018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31BA2E7-8933-4D4F-9B38-54B56FC9F1D7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120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pSp>
        <p:nvGrpSpPr>
          <p:cNvPr id="51204" name="Group 68"/>
          <p:cNvGrpSpPr>
            <a:grpSpLocks/>
          </p:cNvGrpSpPr>
          <p:nvPr/>
        </p:nvGrpSpPr>
        <p:grpSpPr bwMode="auto">
          <a:xfrm>
            <a:off x="2208214" y="692151"/>
            <a:ext cx="6480175" cy="4321175"/>
            <a:chOff x="683568" y="692696"/>
            <a:chExt cx="6480720" cy="4320480"/>
          </a:xfrm>
        </p:grpSpPr>
        <p:sp>
          <p:nvSpPr>
            <p:cNvPr id="6" name="Rectangle 5"/>
            <p:cNvSpPr/>
            <p:nvPr/>
          </p:nvSpPr>
          <p:spPr>
            <a:xfrm>
              <a:off x="1691715" y="692696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699863" y="692696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35355" y="692696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3502" y="692696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3568" y="2492631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91715" y="2492631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435355" y="2492631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3502" y="2492631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99863" y="2492631"/>
              <a:ext cx="720786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08009" y="2492631"/>
              <a:ext cx="719198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76173" y="4292567"/>
              <a:ext cx="719198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284321" y="4292567"/>
              <a:ext cx="719197" cy="72060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dirty="0">
                  <a:solidFill>
                    <a:schemeClr val="tx1"/>
                  </a:solidFill>
                </a:rPr>
                <a:t>12</a:t>
              </a:r>
            </a:p>
          </p:txBody>
        </p:sp>
        <p:cxnSp>
          <p:nvCxnSpPr>
            <p:cNvPr id="21" name="Straight Arrow Connector 20"/>
            <p:cNvCxnSpPr>
              <a:stCxn id="6" idx="2"/>
              <a:endCxn id="10" idx="0"/>
            </p:cNvCxnSpPr>
            <p:nvPr/>
          </p:nvCxnSpPr>
          <p:spPr>
            <a:xfrm flipH="1">
              <a:off x="1043960" y="1413305"/>
              <a:ext cx="1008148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2"/>
              <a:endCxn id="10" idx="0"/>
            </p:cNvCxnSpPr>
            <p:nvPr/>
          </p:nvCxnSpPr>
          <p:spPr>
            <a:xfrm flipH="1">
              <a:off x="1043960" y="1413305"/>
              <a:ext cx="2016295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2"/>
              <a:endCxn id="11" idx="0"/>
            </p:cNvCxnSpPr>
            <p:nvPr/>
          </p:nvCxnSpPr>
          <p:spPr>
            <a:xfrm>
              <a:off x="2052108" y="1413305"/>
              <a:ext cx="0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7" idx="2"/>
              <a:endCxn id="11" idx="0"/>
            </p:cNvCxnSpPr>
            <p:nvPr/>
          </p:nvCxnSpPr>
          <p:spPr>
            <a:xfrm flipH="1">
              <a:off x="2052108" y="1413305"/>
              <a:ext cx="1008147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6" idx="2"/>
              <a:endCxn id="14" idx="0"/>
            </p:cNvCxnSpPr>
            <p:nvPr/>
          </p:nvCxnSpPr>
          <p:spPr>
            <a:xfrm>
              <a:off x="2052108" y="1413305"/>
              <a:ext cx="1008147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7" idx="2"/>
              <a:endCxn id="14" idx="0"/>
            </p:cNvCxnSpPr>
            <p:nvPr/>
          </p:nvCxnSpPr>
          <p:spPr>
            <a:xfrm>
              <a:off x="3060255" y="1413305"/>
              <a:ext cx="0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6" idx="2"/>
              <a:endCxn id="15" idx="0"/>
            </p:cNvCxnSpPr>
            <p:nvPr/>
          </p:nvCxnSpPr>
          <p:spPr>
            <a:xfrm>
              <a:off x="2052108" y="1413305"/>
              <a:ext cx="2016295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2"/>
              <a:endCxn id="15" idx="0"/>
            </p:cNvCxnSpPr>
            <p:nvPr/>
          </p:nvCxnSpPr>
          <p:spPr>
            <a:xfrm>
              <a:off x="3060255" y="1413305"/>
              <a:ext cx="1008148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8" idx="2"/>
              <a:endCxn id="12" idx="0"/>
            </p:cNvCxnSpPr>
            <p:nvPr/>
          </p:nvCxnSpPr>
          <p:spPr>
            <a:xfrm>
              <a:off x="5795748" y="1413305"/>
              <a:ext cx="0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4" idx="2"/>
              <a:endCxn id="17" idx="0"/>
            </p:cNvCxnSpPr>
            <p:nvPr/>
          </p:nvCxnSpPr>
          <p:spPr>
            <a:xfrm>
              <a:off x="3060255" y="3213241"/>
              <a:ext cx="1584458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8" idx="2"/>
              <a:endCxn id="13" idx="0"/>
            </p:cNvCxnSpPr>
            <p:nvPr/>
          </p:nvCxnSpPr>
          <p:spPr>
            <a:xfrm>
              <a:off x="5795748" y="1413305"/>
              <a:ext cx="1008147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9" idx="2"/>
              <a:endCxn id="13" idx="0"/>
            </p:cNvCxnSpPr>
            <p:nvPr/>
          </p:nvCxnSpPr>
          <p:spPr>
            <a:xfrm>
              <a:off x="6803895" y="1413305"/>
              <a:ext cx="0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9" idx="2"/>
              <a:endCxn id="12" idx="0"/>
            </p:cNvCxnSpPr>
            <p:nvPr/>
          </p:nvCxnSpPr>
          <p:spPr>
            <a:xfrm flipH="1">
              <a:off x="5795748" y="1413305"/>
              <a:ext cx="1008147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13" idx="2"/>
              <a:endCxn id="17" idx="0"/>
            </p:cNvCxnSpPr>
            <p:nvPr/>
          </p:nvCxnSpPr>
          <p:spPr>
            <a:xfrm flipH="1">
              <a:off x="4644713" y="3213241"/>
              <a:ext cx="2159182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12" idx="2"/>
              <a:endCxn id="16" idx="0"/>
            </p:cNvCxnSpPr>
            <p:nvPr/>
          </p:nvCxnSpPr>
          <p:spPr>
            <a:xfrm flipH="1">
              <a:off x="3636566" y="3213241"/>
              <a:ext cx="2159182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11" idx="2"/>
              <a:endCxn id="16" idx="0"/>
            </p:cNvCxnSpPr>
            <p:nvPr/>
          </p:nvCxnSpPr>
          <p:spPr>
            <a:xfrm>
              <a:off x="2052108" y="3213241"/>
              <a:ext cx="1584458" cy="1079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A-matrix</a:t>
            </a:r>
          </a:p>
        </p:txBody>
      </p:sp>
      <p:sp>
        <p:nvSpPr>
          <p:cNvPr id="52425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E4B7941-A999-45F5-9782-D5364C11C17B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24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869294-AFC8-48A1-A123-80C27B32C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510335"/>
              </p:ext>
            </p:extLst>
          </p:nvPr>
        </p:nvGraphicFramePr>
        <p:xfrm>
          <a:off x="767186" y="1125539"/>
          <a:ext cx="6984998" cy="40322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10173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3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A-matrix at (say) 12 cM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662179"/>
              </p:ext>
            </p:extLst>
          </p:nvPr>
        </p:nvGraphicFramePr>
        <p:xfrm>
          <a:off x="767186" y="1125539"/>
          <a:ext cx="6984998" cy="40322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10173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3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1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0.500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1.000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3449" name="TextBox 14"/>
          <p:cNvSpPr txBox="1">
            <a:spLocks noChangeArrowheads="1"/>
          </p:cNvSpPr>
          <p:nvPr/>
        </p:nvSpPr>
        <p:spPr bwMode="auto">
          <a:xfrm>
            <a:off x="7896201" y="1628800"/>
            <a:ext cx="410445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/>
              <a:t>A </a:t>
            </a:r>
            <a:r>
              <a:rPr lang="en-GB" altLang="en-US" sz="2400" dirty="0"/>
              <a:t>is based on IBD, applies to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GB" altLang="en-US" sz="2400" dirty="0"/>
              <a:t>a single locus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GB" altLang="en-US" sz="2400" dirty="0"/>
              <a:t>every locus</a:t>
            </a:r>
          </a:p>
          <a:p>
            <a:pPr marL="457200" lvl="1" indent="0" eaLnBrk="1" hangingPunct="1"/>
            <a:r>
              <a:rPr lang="en-GB" altLang="en-US" sz="2400" dirty="0"/>
              <a:t>if neutral &amp; selection free</a:t>
            </a:r>
          </a:p>
        </p:txBody>
      </p:sp>
      <p:sp>
        <p:nvSpPr>
          <p:cNvPr id="53450" name="Date Placeholder 1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8483BCA-EFE1-464B-A3F1-EF609B028D19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3451" name="Footer Placeholder 1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Lecture 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Box 523"/>
          <p:cNvSpPr txBox="1">
            <a:spLocks noChangeArrowheads="1"/>
          </p:cNvSpPr>
          <p:nvPr/>
        </p:nvSpPr>
        <p:spPr bwMode="auto">
          <a:xfrm>
            <a:off x="2035175" y="4860925"/>
            <a:ext cx="8121650" cy="1016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>
                <a:solidFill>
                  <a:srgbClr val="000000"/>
                </a:solidFill>
              </a:rPr>
              <a:t>Assume locus of interest at (say) 12 cM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0000"/>
                </a:solidFill>
              </a:rPr>
              <a:t>flanking markers can be fully phased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0000"/>
                </a:solidFill>
              </a:rPr>
              <a:t>markers are sufficiently close to ignore double recombinations</a:t>
            </a:r>
          </a:p>
        </p:txBody>
      </p:sp>
      <p:cxnSp>
        <p:nvCxnSpPr>
          <p:cNvPr id="467" name="Straight Arrow Connector 466"/>
          <p:cNvCxnSpPr>
            <a:stCxn id="312" idx="2"/>
            <a:endCxn id="649" idx="0"/>
          </p:cNvCxnSpPr>
          <p:nvPr/>
        </p:nvCxnSpPr>
        <p:spPr>
          <a:xfrm flipH="1">
            <a:off x="2316163" y="944564"/>
            <a:ext cx="12303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/>
          <p:cNvCxnSpPr>
            <a:stCxn id="312" idx="2"/>
            <a:endCxn id="422" idx="0"/>
          </p:cNvCxnSpPr>
          <p:nvPr/>
        </p:nvCxnSpPr>
        <p:spPr>
          <a:xfrm>
            <a:off x="3546475" y="944564"/>
            <a:ext cx="2032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/>
          <p:cNvCxnSpPr>
            <a:stCxn id="312" idx="2"/>
            <a:endCxn id="680" idx="0"/>
          </p:cNvCxnSpPr>
          <p:nvPr/>
        </p:nvCxnSpPr>
        <p:spPr>
          <a:xfrm>
            <a:off x="3546475" y="944564"/>
            <a:ext cx="16017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/>
          <p:cNvCxnSpPr>
            <a:stCxn id="312" idx="2"/>
            <a:endCxn id="695" idx="0"/>
          </p:cNvCxnSpPr>
          <p:nvPr/>
        </p:nvCxnSpPr>
        <p:spPr>
          <a:xfrm>
            <a:off x="3546475" y="944564"/>
            <a:ext cx="301783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/>
          <p:cNvCxnSpPr>
            <a:stCxn id="377" idx="2"/>
            <a:endCxn id="649" idx="0"/>
          </p:cNvCxnSpPr>
          <p:nvPr/>
        </p:nvCxnSpPr>
        <p:spPr>
          <a:xfrm flipH="1">
            <a:off x="2316164" y="944564"/>
            <a:ext cx="26638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/>
          <p:cNvCxnSpPr>
            <a:stCxn id="377" idx="2"/>
            <a:endCxn id="666" idx="0"/>
          </p:cNvCxnSpPr>
          <p:nvPr/>
        </p:nvCxnSpPr>
        <p:spPr>
          <a:xfrm flipH="1">
            <a:off x="3732214" y="944564"/>
            <a:ext cx="12477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/>
          <p:cNvCxnSpPr>
            <a:stCxn id="377" idx="2"/>
            <a:endCxn id="680" idx="0"/>
          </p:cNvCxnSpPr>
          <p:nvPr/>
        </p:nvCxnSpPr>
        <p:spPr>
          <a:xfrm>
            <a:off x="4979989" y="944564"/>
            <a:ext cx="1682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/>
          <p:cNvCxnSpPr>
            <a:stCxn id="377" idx="2"/>
            <a:endCxn id="695" idx="0"/>
          </p:cNvCxnSpPr>
          <p:nvPr/>
        </p:nvCxnSpPr>
        <p:spPr>
          <a:xfrm>
            <a:off x="4979989" y="944564"/>
            <a:ext cx="15843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/>
          <p:cNvCxnSpPr>
            <a:stCxn id="390" idx="2"/>
            <a:endCxn id="770" idx="0"/>
          </p:cNvCxnSpPr>
          <p:nvPr/>
        </p:nvCxnSpPr>
        <p:spPr>
          <a:xfrm>
            <a:off x="8140700" y="944564"/>
            <a:ext cx="14478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496"/>
          <p:cNvCxnSpPr>
            <a:stCxn id="406" idx="2"/>
            <a:endCxn id="533" idx="0"/>
          </p:cNvCxnSpPr>
          <p:nvPr/>
        </p:nvCxnSpPr>
        <p:spPr>
          <a:xfrm flipH="1">
            <a:off x="9582150" y="944564"/>
            <a:ext cx="635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/>
          <p:cNvCxnSpPr>
            <a:stCxn id="390" idx="2"/>
            <a:endCxn id="517" idx="0"/>
          </p:cNvCxnSpPr>
          <p:nvPr/>
        </p:nvCxnSpPr>
        <p:spPr>
          <a:xfrm>
            <a:off x="8140700" y="944564"/>
            <a:ext cx="15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/>
          <p:cNvCxnSpPr>
            <a:stCxn id="406" idx="2"/>
            <a:endCxn id="517" idx="0"/>
          </p:cNvCxnSpPr>
          <p:nvPr/>
        </p:nvCxnSpPr>
        <p:spPr>
          <a:xfrm flipH="1">
            <a:off x="8142288" y="944564"/>
            <a:ext cx="14462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/>
          <p:cNvCxnSpPr>
            <a:stCxn id="671" idx="2"/>
            <a:endCxn id="54300" idx="2"/>
          </p:cNvCxnSpPr>
          <p:nvPr/>
        </p:nvCxnSpPr>
        <p:spPr>
          <a:xfrm>
            <a:off x="3732213" y="2503488"/>
            <a:ext cx="1569919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/>
          <p:cNvCxnSpPr>
            <a:stCxn id="685" idx="2"/>
            <a:endCxn id="799" idx="0"/>
          </p:cNvCxnSpPr>
          <p:nvPr/>
        </p:nvCxnSpPr>
        <p:spPr>
          <a:xfrm>
            <a:off x="5148263" y="2503488"/>
            <a:ext cx="1566862" cy="1357312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/>
          <p:cNvCxnSpPr>
            <a:endCxn id="799" idx="0"/>
          </p:cNvCxnSpPr>
          <p:nvPr/>
        </p:nvCxnSpPr>
        <p:spPr>
          <a:xfrm flipH="1">
            <a:off x="6715126" y="2503488"/>
            <a:ext cx="2874963" cy="1357312"/>
          </a:xfrm>
          <a:prstGeom prst="straightConnector1">
            <a:avLst/>
          </a:prstGeom>
          <a:ln w="952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/>
          <p:cNvCxnSpPr>
            <a:stCxn id="762" idx="2"/>
            <a:endCxn id="54300" idx="2"/>
          </p:cNvCxnSpPr>
          <p:nvPr/>
        </p:nvCxnSpPr>
        <p:spPr>
          <a:xfrm flipH="1">
            <a:off x="5302132" y="2503488"/>
            <a:ext cx="2846506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91" name="TextBox 509"/>
          <p:cNvSpPr txBox="1">
            <a:spLocks noChangeArrowheads="1"/>
          </p:cNvSpPr>
          <p:nvPr/>
        </p:nvSpPr>
        <p:spPr bwMode="auto">
          <a:xfrm>
            <a:off x="3417889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4292" name="TextBox 511"/>
          <p:cNvSpPr txBox="1">
            <a:spLocks noChangeArrowheads="1"/>
          </p:cNvSpPr>
          <p:nvPr/>
        </p:nvSpPr>
        <p:spPr bwMode="auto">
          <a:xfrm>
            <a:off x="80041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4293" name="TextBox 512"/>
          <p:cNvSpPr txBox="1">
            <a:spLocks noChangeArrowheads="1"/>
          </p:cNvSpPr>
          <p:nvPr/>
        </p:nvSpPr>
        <p:spPr bwMode="auto">
          <a:xfrm>
            <a:off x="94519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4294" name="TextBox 513"/>
          <p:cNvSpPr txBox="1">
            <a:spLocks noChangeArrowheads="1"/>
          </p:cNvSpPr>
          <p:nvPr/>
        </p:nvSpPr>
        <p:spPr bwMode="auto">
          <a:xfrm>
            <a:off x="22129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4295" name="TextBox 514"/>
          <p:cNvSpPr txBox="1">
            <a:spLocks noChangeArrowheads="1"/>
          </p:cNvSpPr>
          <p:nvPr/>
        </p:nvSpPr>
        <p:spPr bwMode="auto">
          <a:xfrm>
            <a:off x="36226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4296" name="TextBox 515"/>
          <p:cNvSpPr txBox="1">
            <a:spLocks noChangeArrowheads="1"/>
          </p:cNvSpPr>
          <p:nvPr/>
        </p:nvSpPr>
        <p:spPr bwMode="auto">
          <a:xfrm>
            <a:off x="50323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54297" name="TextBox 517"/>
          <p:cNvSpPr txBox="1">
            <a:spLocks noChangeArrowheads="1"/>
          </p:cNvSpPr>
          <p:nvPr/>
        </p:nvSpPr>
        <p:spPr bwMode="auto">
          <a:xfrm>
            <a:off x="6443664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54298" name="TextBox 518"/>
          <p:cNvSpPr txBox="1">
            <a:spLocks noChangeArrowheads="1"/>
          </p:cNvSpPr>
          <p:nvPr/>
        </p:nvSpPr>
        <p:spPr bwMode="auto">
          <a:xfrm>
            <a:off x="8026401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54299" name="TextBox 519"/>
          <p:cNvSpPr txBox="1">
            <a:spLocks noChangeArrowheads="1"/>
          </p:cNvSpPr>
          <p:nvPr/>
        </p:nvSpPr>
        <p:spPr bwMode="auto">
          <a:xfrm>
            <a:off x="9336088" y="18446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4300" name="TextBox 520"/>
          <p:cNvSpPr txBox="1">
            <a:spLocks noChangeArrowheads="1"/>
          </p:cNvSpPr>
          <p:nvPr/>
        </p:nvSpPr>
        <p:spPr bwMode="auto">
          <a:xfrm>
            <a:off x="5087938" y="3516314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4301" name="TextBox 521"/>
          <p:cNvSpPr txBox="1">
            <a:spLocks noChangeArrowheads="1"/>
          </p:cNvSpPr>
          <p:nvPr/>
        </p:nvSpPr>
        <p:spPr bwMode="auto">
          <a:xfrm>
            <a:off x="6477000" y="3505200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54302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9EF7A2E-7D62-48A1-9240-D8EB04CF2EC7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430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pSp>
        <p:nvGrpSpPr>
          <p:cNvPr id="54304" name="Group 271"/>
          <p:cNvGrpSpPr>
            <a:grpSpLocks/>
          </p:cNvGrpSpPr>
          <p:nvPr/>
        </p:nvGrpSpPr>
        <p:grpSpPr bwMode="auto">
          <a:xfrm>
            <a:off x="3302000" y="646113"/>
            <a:ext cx="495300" cy="298450"/>
            <a:chOff x="1778423" y="646539"/>
            <a:chExt cx="496363" cy="298173"/>
          </a:xfrm>
        </p:grpSpPr>
        <p:grpSp>
          <p:nvGrpSpPr>
            <p:cNvPr id="54439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297" name="Rectangle 296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99" name="Straight Connector 298"/>
              <p:cNvCxnSpPr>
                <a:stCxn id="297" idx="3"/>
                <a:endCxn id="312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>
                <a:stCxn id="312" idx="3"/>
                <a:endCxn id="298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Rectangle 311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440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336" name="Rectangle 335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38" name="Straight Connector 337"/>
              <p:cNvCxnSpPr>
                <a:stCxn id="336" idx="3"/>
                <a:endCxn id="340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>
                <a:stCxn id="340" idx="3"/>
                <a:endCxn id="337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Rectangle 339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4305" name="Group 280"/>
          <p:cNvGrpSpPr>
            <a:grpSpLocks/>
          </p:cNvGrpSpPr>
          <p:nvPr/>
        </p:nvGrpSpPr>
        <p:grpSpPr bwMode="auto">
          <a:xfrm>
            <a:off x="4735514" y="646113"/>
            <a:ext cx="496887" cy="298450"/>
            <a:chOff x="2492571" y="626400"/>
            <a:chExt cx="496363" cy="299041"/>
          </a:xfrm>
        </p:grpSpPr>
        <p:grpSp>
          <p:nvGrpSpPr>
            <p:cNvPr id="54427" name="Group 276"/>
            <p:cNvGrpSpPr>
              <a:grpSpLocks/>
            </p:cNvGrpSpPr>
            <p:nvPr/>
          </p:nvGrpSpPr>
          <p:grpSpPr bwMode="auto">
            <a:xfrm>
              <a:off x="2492571" y="626400"/>
              <a:ext cx="496363" cy="108000"/>
              <a:chOff x="4435677" y="602215"/>
              <a:chExt cx="496363" cy="108000"/>
            </a:xfrm>
          </p:grpSpPr>
          <p:sp>
            <p:nvSpPr>
              <p:cNvPr id="378" name="Rectangle 377"/>
              <p:cNvSpPr/>
              <p:nvPr/>
            </p:nvSpPr>
            <p:spPr>
              <a:xfrm>
                <a:off x="4435677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4817861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0" name="Straight Connector 379"/>
              <p:cNvCxnSpPr>
                <a:stCxn id="378" idx="3"/>
                <a:endCxn id="382" idx="1"/>
              </p:cNvCxnSpPr>
              <p:nvPr/>
            </p:nvCxnSpPr>
            <p:spPr>
              <a:xfrm>
                <a:off x="4549856" y="656297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>
                <a:stCxn id="382" idx="3"/>
                <a:endCxn id="379" idx="1"/>
              </p:cNvCxnSpPr>
              <p:nvPr/>
            </p:nvCxnSpPr>
            <p:spPr>
              <a:xfrm>
                <a:off x="4738569" y="656297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Rectangle 381"/>
              <p:cNvSpPr/>
              <p:nvPr/>
            </p:nvSpPr>
            <p:spPr>
              <a:xfrm>
                <a:off x="4622804" y="602215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428" name="Group 277"/>
            <p:cNvGrpSpPr>
              <a:grpSpLocks/>
            </p:cNvGrpSpPr>
            <p:nvPr/>
          </p:nvGrpSpPr>
          <p:grpSpPr bwMode="auto">
            <a:xfrm>
              <a:off x="2492571" y="817441"/>
              <a:ext cx="496363" cy="108000"/>
              <a:chOff x="4435677" y="856701"/>
              <a:chExt cx="496363" cy="108000"/>
            </a:xfrm>
          </p:grpSpPr>
          <p:sp>
            <p:nvSpPr>
              <p:cNvPr id="362" name="Rectangle 361"/>
              <p:cNvSpPr/>
              <p:nvPr/>
            </p:nvSpPr>
            <p:spPr>
              <a:xfrm>
                <a:off x="4435677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4817861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75" name="Straight Connector 374"/>
              <p:cNvCxnSpPr>
                <a:stCxn id="362" idx="3"/>
                <a:endCxn id="377" idx="1"/>
              </p:cNvCxnSpPr>
              <p:nvPr/>
            </p:nvCxnSpPr>
            <p:spPr>
              <a:xfrm>
                <a:off x="4549856" y="910619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>
                <a:stCxn id="377" idx="3"/>
                <a:endCxn id="374" idx="1"/>
              </p:cNvCxnSpPr>
              <p:nvPr/>
            </p:nvCxnSpPr>
            <p:spPr>
              <a:xfrm>
                <a:off x="4738569" y="910619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/>
              <p:cNvSpPr/>
              <p:nvPr/>
            </p:nvSpPr>
            <p:spPr>
              <a:xfrm>
                <a:off x="4622804" y="856538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4306" name="Group 634"/>
          <p:cNvGrpSpPr>
            <a:grpSpLocks/>
          </p:cNvGrpSpPr>
          <p:nvPr/>
        </p:nvGrpSpPr>
        <p:grpSpPr bwMode="auto">
          <a:xfrm>
            <a:off x="7896225" y="646113"/>
            <a:ext cx="496888" cy="298450"/>
            <a:chOff x="4461016" y="615183"/>
            <a:chExt cx="496363" cy="299041"/>
          </a:xfrm>
        </p:grpSpPr>
        <p:grpSp>
          <p:nvGrpSpPr>
            <p:cNvPr id="54415" name="Group 633"/>
            <p:cNvGrpSpPr>
              <a:grpSpLocks/>
            </p:cNvGrpSpPr>
            <p:nvPr/>
          </p:nvGrpSpPr>
          <p:grpSpPr bwMode="auto">
            <a:xfrm>
              <a:off x="4461016" y="615183"/>
              <a:ext cx="496363" cy="108000"/>
              <a:chOff x="4461016" y="615183"/>
              <a:chExt cx="496363" cy="108000"/>
            </a:xfrm>
          </p:grpSpPr>
          <p:sp>
            <p:nvSpPr>
              <p:cNvPr id="391" name="Rectangle 390"/>
              <p:cNvSpPr/>
              <p:nvPr/>
            </p:nvSpPr>
            <p:spPr>
              <a:xfrm>
                <a:off x="4461016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Rectangle 394"/>
              <p:cNvSpPr/>
              <p:nvPr/>
            </p:nvSpPr>
            <p:spPr>
              <a:xfrm>
                <a:off x="4843200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96" name="Straight Connector 395"/>
              <p:cNvCxnSpPr>
                <a:stCxn id="391" idx="3"/>
                <a:endCxn id="398" idx="1"/>
              </p:cNvCxnSpPr>
              <p:nvPr/>
            </p:nvCxnSpPr>
            <p:spPr>
              <a:xfrm>
                <a:off x="4575195" y="669265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/>
              <p:cNvCxnSpPr>
                <a:stCxn id="398" idx="3"/>
                <a:endCxn id="395" idx="1"/>
              </p:cNvCxnSpPr>
              <p:nvPr/>
            </p:nvCxnSpPr>
            <p:spPr>
              <a:xfrm>
                <a:off x="4763909" y="669265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Rectangle 397"/>
              <p:cNvSpPr/>
              <p:nvPr/>
            </p:nvSpPr>
            <p:spPr>
              <a:xfrm>
                <a:off x="4648143" y="615183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416" name="Group 632"/>
            <p:cNvGrpSpPr>
              <a:grpSpLocks/>
            </p:cNvGrpSpPr>
            <p:nvPr/>
          </p:nvGrpSpPr>
          <p:grpSpPr bwMode="auto">
            <a:xfrm>
              <a:off x="4461016" y="806224"/>
              <a:ext cx="496363" cy="108000"/>
              <a:chOff x="4461016" y="806224"/>
              <a:chExt cx="496363" cy="108000"/>
            </a:xfrm>
          </p:grpSpPr>
          <p:sp>
            <p:nvSpPr>
              <p:cNvPr id="386" name="Rectangle 385"/>
              <p:cNvSpPr/>
              <p:nvPr/>
            </p:nvSpPr>
            <p:spPr>
              <a:xfrm>
                <a:off x="4461016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Rectangle 386"/>
              <p:cNvSpPr/>
              <p:nvPr/>
            </p:nvSpPr>
            <p:spPr>
              <a:xfrm>
                <a:off x="4843200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8" name="Straight Connector 387"/>
              <p:cNvCxnSpPr>
                <a:stCxn id="386" idx="3"/>
                <a:endCxn id="390" idx="1"/>
              </p:cNvCxnSpPr>
              <p:nvPr/>
            </p:nvCxnSpPr>
            <p:spPr>
              <a:xfrm>
                <a:off x="4575195" y="860142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/>
              <p:cNvCxnSpPr>
                <a:stCxn id="390" idx="3"/>
                <a:endCxn id="387" idx="1"/>
              </p:cNvCxnSpPr>
              <p:nvPr/>
            </p:nvCxnSpPr>
            <p:spPr>
              <a:xfrm>
                <a:off x="4763909" y="860142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/>
              <p:cNvSpPr/>
              <p:nvPr/>
            </p:nvSpPr>
            <p:spPr>
              <a:xfrm>
                <a:off x="4648143" y="806061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4307" name="Group 630"/>
          <p:cNvGrpSpPr>
            <a:grpSpLocks/>
          </p:cNvGrpSpPr>
          <p:nvPr/>
        </p:nvGrpSpPr>
        <p:grpSpPr bwMode="auto">
          <a:xfrm>
            <a:off x="9344025" y="646113"/>
            <a:ext cx="496888" cy="298450"/>
            <a:chOff x="5392726" y="627663"/>
            <a:chExt cx="496363" cy="299041"/>
          </a:xfrm>
        </p:grpSpPr>
        <p:sp>
          <p:nvSpPr>
            <p:cNvPr id="407" name="Rectangle 406"/>
            <p:cNvSpPr/>
            <p:nvPr/>
          </p:nvSpPr>
          <p:spPr>
            <a:xfrm>
              <a:off x="5392726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5774910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9" name="Straight Connector 408"/>
            <p:cNvCxnSpPr>
              <a:stCxn id="407" idx="3"/>
              <a:endCxn id="411" idx="1"/>
            </p:cNvCxnSpPr>
            <p:nvPr/>
          </p:nvCxnSpPr>
          <p:spPr>
            <a:xfrm>
              <a:off x="5506905" y="681745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>
              <a:stCxn id="411" idx="3"/>
              <a:endCxn id="408" idx="1"/>
            </p:cNvCxnSpPr>
            <p:nvPr/>
          </p:nvCxnSpPr>
          <p:spPr>
            <a:xfrm>
              <a:off x="5695619" y="681745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ectangle 410"/>
            <p:cNvSpPr/>
            <p:nvPr/>
          </p:nvSpPr>
          <p:spPr>
            <a:xfrm>
              <a:off x="5579853" y="627663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392726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74910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4" name="Straight Connector 403"/>
            <p:cNvCxnSpPr>
              <a:stCxn id="402" idx="3"/>
              <a:endCxn id="406" idx="1"/>
            </p:cNvCxnSpPr>
            <p:nvPr/>
          </p:nvCxnSpPr>
          <p:spPr>
            <a:xfrm>
              <a:off x="5506905" y="872622"/>
              <a:ext cx="72948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>
              <a:stCxn id="406" idx="3"/>
              <a:endCxn id="403" idx="1"/>
            </p:cNvCxnSpPr>
            <p:nvPr/>
          </p:nvCxnSpPr>
          <p:spPr>
            <a:xfrm>
              <a:off x="5695619" y="872622"/>
              <a:ext cx="79291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Rectangle 405"/>
            <p:cNvSpPr/>
            <p:nvPr/>
          </p:nvSpPr>
          <p:spPr>
            <a:xfrm>
              <a:off x="5579853" y="818540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54308" name="TextBox 636"/>
          <p:cNvSpPr txBox="1">
            <a:spLocks noChangeArrowheads="1"/>
          </p:cNvSpPr>
          <p:nvPr/>
        </p:nvSpPr>
        <p:spPr bwMode="auto">
          <a:xfrm>
            <a:off x="4857751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54309" name="Group 657"/>
          <p:cNvGrpSpPr>
            <a:grpSpLocks/>
          </p:cNvGrpSpPr>
          <p:nvPr/>
        </p:nvGrpSpPr>
        <p:grpSpPr bwMode="auto">
          <a:xfrm>
            <a:off x="2071688" y="2205038"/>
            <a:ext cx="495300" cy="298450"/>
            <a:chOff x="547245" y="2204864"/>
            <a:chExt cx="496363" cy="298173"/>
          </a:xfrm>
        </p:grpSpPr>
        <p:grpSp>
          <p:nvGrpSpPr>
            <p:cNvPr id="54393" name="Group 656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50" name="Rectangle 649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51" name="Rectangle 650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2" name="Straight Connector 651"/>
              <p:cNvCxnSpPr>
                <a:stCxn id="650" idx="3"/>
                <a:endCxn id="654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>
                <a:stCxn id="654" idx="3"/>
                <a:endCxn id="651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4" name="Rectangle 653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394" name="Group 643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45" name="Rectangle 644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46" name="Rectangle 645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47" name="Straight Connector 646"/>
              <p:cNvCxnSpPr>
                <a:stCxn id="645" idx="3"/>
                <a:endCxn id="649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>
                <a:stCxn id="649" idx="3"/>
                <a:endCxn id="646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9" name="Rectangle 648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4310" name="Group 658"/>
          <p:cNvGrpSpPr>
            <a:grpSpLocks/>
          </p:cNvGrpSpPr>
          <p:nvPr/>
        </p:nvGrpSpPr>
        <p:grpSpPr bwMode="auto">
          <a:xfrm>
            <a:off x="3487738" y="2205038"/>
            <a:ext cx="495300" cy="298450"/>
            <a:chOff x="547245" y="2204864"/>
            <a:chExt cx="496363" cy="298173"/>
          </a:xfrm>
        </p:grpSpPr>
        <p:grpSp>
          <p:nvGrpSpPr>
            <p:cNvPr id="54381" name="Group 659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67" name="Rectangle 666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8" name="Rectangle 667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9" name="Straight Connector 668"/>
              <p:cNvCxnSpPr>
                <a:stCxn id="667" idx="3"/>
                <a:endCxn id="671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Straight Connector 669"/>
              <p:cNvCxnSpPr>
                <a:stCxn id="671" idx="3"/>
                <a:endCxn id="668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1" name="Rectangle 670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382" name="Group 660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62" name="Rectangle 661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3" name="Rectangle 662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4" name="Straight Connector 663"/>
              <p:cNvCxnSpPr>
                <a:stCxn id="662" idx="3"/>
                <a:endCxn id="666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Straight Connector 664"/>
              <p:cNvCxnSpPr>
                <a:stCxn id="666" idx="3"/>
                <a:endCxn id="663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6" name="Rectangle 665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4311" name="Group 685"/>
          <p:cNvGrpSpPr>
            <a:grpSpLocks/>
          </p:cNvGrpSpPr>
          <p:nvPr/>
        </p:nvGrpSpPr>
        <p:grpSpPr bwMode="auto">
          <a:xfrm>
            <a:off x="4903789" y="2205038"/>
            <a:ext cx="496887" cy="298450"/>
            <a:chOff x="3347864" y="2204864"/>
            <a:chExt cx="496363" cy="298173"/>
          </a:xfrm>
        </p:grpSpPr>
        <p:grpSp>
          <p:nvGrpSpPr>
            <p:cNvPr id="54370" name="Group 673"/>
            <p:cNvGrpSpPr>
              <a:grpSpLocks/>
            </p:cNvGrpSpPr>
            <p:nvPr/>
          </p:nvGrpSpPr>
          <p:grpSpPr bwMode="auto">
            <a:xfrm>
              <a:off x="3347864" y="2395037"/>
              <a:ext cx="496363" cy="108000"/>
              <a:chOff x="547245" y="2395037"/>
              <a:chExt cx="496363" cy="108000"/>
            </a:xfrm>
          </p:grpSpPr>
          <p:sp>
            <p:nvSpPr>
              <p:cNvPr id="681" name="Rectangle 680"/>
              <p:cNvSpPr/>
              <p:nvPr/>
            </p:nvSpPr>
            <p:spPr>
              <a:xfrm>
                <a:off x="547245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82" name="Rectangle 681"/>
              <p:cNvSpPr/>
              <p:nvPr/>
            </p:nvSpPr>
            <p:spPr>
              <a:xfrm>
                <a:off x="929429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83" name="Straight Connector 682"/>
              <p:cNvCxnSpPr>
                <a:stCxn id="681" idx="3"/>
                <a:endCxn id="685" idx="1"/>
              </p:cNvCxnSpPr>
              <p:nvPr/>
            </p:nvCxnSpPr>
            <p:spPr>
              <a:xfrm>
                <a:off x="661424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Straight Connector 683"/>
              <p:cNvCxnSpPr>
                <a:stCxn id="685" idx="3"/>
                <a:endCxn id="682" idx="1"/>
              </p:cNvCxnSpPr>
              <p:nvPr/>
            </p:nvCxnSpPr>
            <p:spPr>
              <a:xfrm>
                <a:off x="850137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5" name="Rectangle 684"/>
              <p:cNvSpPr/>
              <p:nvPr/>
            </p:nvSpPr>
            <p:spPr>
              <a:xfrm>
                <a:off x="734372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76" name="Rectangle 675"/>
            <p:cNvSpPr/>
            <p:nvPr/>
          </p:nvSpPr>
          <p:spPr>
            <a:xfrm>
              <a:off x="3347864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677" name="Rectangle 676"/>
            <p:cNvSpPr/>
            <p:nvPr/>
          </p:nvSpPr>
          <p:spPr>
            <a:xfrm>
              <a:off x="3730048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678" name="Straight Connector 677"/>
            <p:cNvCxnSpPr>
              <a:stCxn id="676" idx="3"/>
              <a:endCxn id="680" idx="1"/>
            </p:cNvCxnSpPr>
            <p:nvPr/>
          </p:nvCxnSpPr>
          <p:spPr>
            <a:xfrm>
              <a:off x="3462043" y="2258789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/>
            <p:cNvCxnSpPr>
              <a:stCxn id="680" idx="3"/>
              <a:endCxn id="677" idx="1"/>
            </p:cNvCxnSpPr>
            <p:nvPr/>
          </p:nvCxnSpPr>
          <p:spPr>
            <a:xfrm>
              <a:off x="3650756" y="2258789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0" name="Rectangle 679"/>
            <p:cNvSpPr/>
            <p:nvPr/>
          </p:nvSpPr>
          <p:spPr>
            <a:xfrm>
              <a:off x="3534991" y="2204864"/>
              <a:ext cx="11576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4312" name="Group 705"/>
          <p:cNvGrpSpPr>
            <a:grpSpLocks/>
          </p:cNvGrpSpPr>
          <p:nvPr/>
        </p:nvGrpSpPr>
        <p:grpSpPr bwMode="auto">
          <a:xfrm>
            <a:off x="6319839" y="2205038"/>
            <a:ext cx="496887" cy="298450"/>
            <a:chOff x="4003628" y="2204864"/>
            <a:chExt cx="496364" cy="298173"/>
          </a:xfrm>
        </p:grpSpPr>
        <p:grpSp>
          <p:nvGrpSpPr>
            <p:cNvPr id="54358" name="Group 703"/>
            <p:cNvGrpSpPr>
              <a:grpSpLocks/>
            </p:cNvGrpSpPr>
            <p:nvPr/>
          </p:nvGrpSpPr>
          <p:grpSpPr bwMode="auto">
            <a:xfrm>
              <a:off x="4003628" y="2394908"/>
              <a:ext cx="496364" cy="108129"/>
              <a:chOff x="4003628" y="2394908"/>
              <a:chExt cx="496364" cy="108129"/>
            </a:xfrm>
          </p:grpSpPr>
          <p:sp>
            <p:nvSpPr>
              <p:cNvPr id="696" name="Rectangle 695"/>
              <p:cNvSpPr/>
              <p:nvPr/>
            </p:nvSpPr>
            <p:spPr>
              <a:xfrm>
                <a:off x="4003628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7" name="Rectangle 696"/>
              <p:cNvSpPr/>
              <p:nvPr/>
            </p:nvSpPr>
            <p:spPr>
              <a:xfrm>
                <a:off x="4385812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8" name="Straight Connector 697"/>
              <p:cNvCxnSpPr>
                <a:stCxn id="696" idx="3"/>
                <a:endCxn id="700" idx="1"/>
              </p:cNvCxnSpPr>
              <p:nvPr/>
            </p:nvCxnSpPr>
            <p:spPr>
              <a:xfrm>
                <a:off x="4117808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Straight Connector 698"/>
              <p:cNvCxnSpPr>
                <a:stCxn id="700" idx="3"/>
                <a:endCxn id="697" idx="1"/>
              </p:cNvCxnSpPr>
              <p:nvPr/>
            </p:nvCxnSpPr>
            <p:spPr>
              <a:xfrm>
                <a:off x="4306521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Rectangle 699"/>
              <p:cNvSpPr/>
              <p:nvPr/>
            </p:nvSpPr>
            <p:spPr>
              <a:xfrm>
                <a:off x="4190756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359" name="Group 704"/>
            <p:cNvGrpSpPr>
              <a:grpSpLocks/>
            </p:cNvGrpSpPr>
            <p:nvPr/>
          </p:nvGrpSpPr>
          <p:grpSpPr bwMode="auto">
            <a:xfrm>
              <a:off x="4003629" y="2204864"/>
              <a:ext cx="496363" cy="108000"/>
              <a:chOff x="4003629" y="2204864"/>
              <a:chExt cx="496363" cy="108000"/>
            </a:xfrm>
          </p:grpSpPr>
          <p:sp>
            <p:nvSpPr>
              <p:cNvPr id="691" name="Rectangle 690"/>
              <p:cNvSpPr/>
              <p:nvPr/>
            </p:nvSpPr>
            <p:spPr>
              <a:xfrm>
                <a:off x="4003628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2" name="Rectangle 691"/>
              <p:cNvSpPr/>
              <p:nvPr/>
            </p:nvSpPr>
            <p:spPr>
              <a:xfrm>
                <a:off x="4385812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3" name="Straight Connector 692"/>
              <p:cNvCxnSpPr>
                <a:stCxn id="691" idx="3"/>
                <a:endCxn id="695" idx="1"/>
              </p:cNvCxnSpPr>
              <p:nvPr/>
            </p:nvCxnSpPr>
            <p:spPr>
              <a:xfrm>
                <a:off x="4117808" y="2258789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/>
              <p:cNvCxnSpPr>
                <a:stCxn id="695" idx="3"/>
                <a:endCxn id="692" idx="1"/>
              </p:cNvCxnSpPr>
              <p:nvPr/>
            </p:nvCxnSpPr>
            <p:spPr>
              <a:xfrm>
                <a:off x="4306521" y="2258789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5" name="Rectangle 694"/>
              <p:cNvSpPr/>
              <p:nvPr/>
            </p:nvSpPr>
            <p:spPr>
              <a:xfrm>
                <a:off x="4190756" y="2204864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58" name="Rectangle 757"/>
          <p:cNvSpPr/>
          <p:nvPr/>
        </p:nvSpPr>
        <p:spPr>
          <a:xfrm>
            <a:off x="7904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9" name="Rectangle 758"/>
          <p:cNvSpPr/>
          <p:nvPr/>
        </p:nvSpPr>
        <p:spPr>
          <a:xfrm>
            <a:off x="8285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60" name="Straight Connector 759"/>
          <p:cNvCxnSpPr>
            <a:stCxn id="758" idx="3"/>
            <a:endCxn id="762" idx="1"/>
          </p:cNvCxnSpPr>
          <p:nvPr/>
        </p:nvCxnSpPr>
        <p:spPr>
          <a:xfrm>
            <a:off x="8018464" y="2449513"/>
            <a:ext cx="7302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/>
          <p:cNvCxnSpPr>
            <a:stCxn id="762" idx="3"/>
            <a:endCxn id="759" idx="1"/>
          </p:cNvCxnSpPr>
          <p:nvPr/>
        </p:nvCxnSpPr>
        <p:spPr>
          <a:xfrm>
            <a:off x="8205789" y="2449513"/>
            <a:ext cx="7937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2" name="Rectangle 761"/>
          <p:cNvSpPr/>
          <p:nvPr/>
        </p:nvSpPr>
        <p:spPr>
          <a:xfrm>
            <a:off x="8091488" y="23955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3" name="Rectangle 752"/>
          <p:cNvSpPr/>
          <p:nvPr/>
        </p:nvSpPr>
        <p:spPr>
          <a:xfrm>
            <a:off x="7904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4" name="Rectangle 753"/>
          <p:cNvSpPr/>
          <p:nvPr/>
        </p:nvSpPr>
        <p:spPr>
          <a:xfrm>
            <a:off x="8285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55" name="Straight Connector 754"/>
          <p:cNvCxnSpPr>
            <a:stCxn id="753" idx="3"/>
            <a:endCxn id="757" idx="1"/>
          </p:cNvCxnSpPr>
          <p:nvPr/>
        </p:nvCxnSpPr>
        <p:spPr>
          <a:xfrm>
            <a:off x="8018464" y="2259013"/>
            <a:ext cx="7302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/>
          <p:cNvCxnSpPr>
            <a:stCxn id="757" idx="3"/>
            <a:endCxn id="754" idx="1"/>
          </p:cNvCxnSpPr>
          <p:nvPr/>
        </p:nvCxnSpPr>
        <p:spPr>
          <a:xfrm>
            <a:off x="8205789" y="2259013"/>
            <a:ext cx="7937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Rectangle 756"/>
          <p:cNvSpPr/>
          <p:nvPr/>
        </p:nvSpPr>
        <p:spPr>
          <a:xfrm>
            <a:off x="8091488" y="22050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54323" name="Group 786"/>
          <p:cNvGrpSpPr>
            <a:grpSpLocks/>
          </p:cNvGrpSpPr>
          <p:nvPr/>
        </p:nvGrpSpPr>
        <p:grpSpPr bwMode="auto">
          <a:xfrm>
            <a:off x="9344026" y="2205039"/>
            <a:ext cx="849313" cy="784225"/>
            <a:chOff x="7820052" y="2204864"/>
            <a:chExt cx="849731" cy="784280"/>
          </a:xfrm>
        </p:grpSpPr>
        <p:sp>
          <p:nvSpPr>
            <p:cNvPr id="2" name="Lightning Bolt 1"/>
            <p:cNvSpPr>
              <a:spLocks noChangeAspect="1"/>
            </p:cNvSpPr>
            <p:nvPr/>
          </p:nvSpPr>
          <p:spPr>
            <a:xfrm flipH="1" flipV="1">
              <a:off x="8212358" y="2531912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7820052" y="2395377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8201240" y="2395377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73" name="Straight Connector 772"/>
            <p:cNvCxnSpPr>
              <a:stCxn id="771" idx="3"/>
              <a:endCxn id="775" idx="1"/>
            </p:cNvCxnSpPr>
            <p:nvPr/>
          </p:nvCxnSpPr>
          <p:spPr>
            <a:xfrm>
              <a:off x="7934408" y="2449356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773"/>
            <p:cNvCxnSpPr>
              <a:stCxn id="775" idx="3"/>
              <a:endCxn id="772" idx="1"/>
            </p:cNvCxnSpPr>
            <p:nvPr/>
          </p:nvCxnSpPr>
          <p:spPr>
            <a:xfrm>
              <a:off x="8121825" y="2449356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5" name="Rectangle 774"/>
            <p:cNvSpPr/>
            <p:nvPr/>
          </p:nvSpPr>
          <p:spPr>
            <a:xfrm>
              <a:off x="8007469" y="2395377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7820052" y="2204864"/>
              <a:ext cx="114356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7" name="Rectangle 766"/>
            <p:cNvSpPr/>
            <p:nvPr/>
          </p:nvSpPr>
          <p:spPr>
            <a:xfrm>
              <a:off x="8201240" y="2204864"/>
              <a:ext cx="115945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68" name="Straight Connector 767"/>
            <p:cNvCxnSpPr>
              <a:stCxn id="766" idx="3"/>
              <a:endCxn id="770" idx="1"/>
            </p:cNvCxnSpPr>
            <p:nvPr/>
          </p:nvCxnSpPr>
          <p:spPr>
            <a:xfrm>
              <a:off x="7934408" y="2258843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/>
            <p:cNvCxnSpPr>
              <a:stCxn id="770" idx="3"/>
              <a:endCxn id="767" idx="1"/>
            </p:cNvCxnSpPr>
            <p:nvPr/>
          </p:nvCxnSpPr>
          <p:spPr>
            <a:xfrm>
              <a:off x="8121825" y="2258843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0" name="Rectangle 769"/>
            <p:cNvSpPr/>
            <p:nvPr/>
          </p:nvSpPr>
          <p:spPr>
            <a:xfrm>
              <a:off x="8007469" y="2204864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4324" name="Group 825"/>
          <p:cNvGrpSpPr>
            <a:grpSpLocks/>
          </p:cNvGrpSpPr>
          <p:nvPr/>
        </p:nvGrpSpPr>
        <p:grpSpPr bwMode="auto">
          <a:xfrm>
            <a:off x="6470651" y="3860801"/>
            <a:ext cx="849313" cy="784225"/>
            <a:chOff x="4860032" y="3861048"/>
            <a:chExt cx="849731" cy="784280"/>
          </a:xfrm>
        </p:grpSpPr>
        <p:sp>
          <p:nvSpPr>
            <p:cNvPr id="789" name="Lightning Bolt 788"/>
            <p:cNvSpPr>
              <a:spLocks noChangeAspect="1"/>
            </p:cNvSpPr>
            <p:nvPr/>
          </p:nvSpPr>
          <p:spPr>
            <a:xfrm flipH="1" flipV="1">
              <a:off x="5252338" y="4188096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0" name="Rectangle 789"/>
            <p:cNvSpPr/>
            <p:nvPr/>
          </p:nvSpPr>
          <p:spPr>
            <a:xfrm>
              <a:off x="4860032" y="4051561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5241220" y="4051561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2" name="Straight Connector 791"/>
            <p:cNvCxnSpPr>
              <a:stCxn id="790" idx="3"/>
              <a:endCxn id="794" idx="1"/>
            </p:cNvCxnSpPr>
            <p:nvPr/>
          </p:nvCxnSpPr>
          <p:spPr>
            <a:xfrm>
              <a:off x="4974388" y="4105540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/>
            <p:cNvCxnSpPr>
              <a:stCxn id="794" idx="3"/>
              <a:endCxn id="791" idx="1"/>
            </p:cNvCxnSpPr>
            <p:nvPr/>
          </p:nvCxnSpPr>
          <p:spPr>
            <a:xfrm>
              <a:off x="5161805" y="4105540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4" name="Rectangle 793"/>
            <p:cNvSpPr/>
            <p:nvPr/>
          </p:nvSpPr>
          <p:spPr>
            <a:xfrm>
              <a:off x="5047449" y="4051561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4860032" y="3861048"/>
              <a:ext cx="114356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6" name="Rectangle 795"/>
            <p:cNvSpPr/>
            <p:nvPr/>
          </p:nvSpPr>
          <p:spPr>
            <a:xfrm>
              <a:off x="5241220" y="3861048"/>
              <a:ext cx="115945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7" name="Straight Connector 796"/>
            <p:cNvCxnSpPr>
              <a:stCxn id="795" idx="3"/>
              <a:endCxn id="799" idx="1"/>
            </p:cNvCxnSpPr>
            <p:nvPr/>
          </p:nvCxnSpPr>
          <p:spPr>
            <a:xfrm>
              <a:off x="4974388" y="3915027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/>
            <p:cNvCxnSpPr>
              <a:stCxn id="799" idx="3"/>
              <a:endCxn id="796" idx="1"/>
            </p:cNvCxnSpPr>
            <p:nvPr/>
          </p:nvCxnSpPr>
          <p:spPr>
            <a:xfrm>
              <a:off x="5161805" y="3915027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9" name="Rectangle 798"/>
            <p:cNvSpPr/>
            <p:nvPr/>
          </p:nvSpPr>
          <p:spPr>
            <a:xfrm>
              <a:off x="5047449" y="3861048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4325" name="Group 828"/>
          <p:cNvGrpSpPr>
            <a:grpSpLocks/>
          </p:cNvGrpSpPr>
          <p:nvPr/>
        </p:nvGrpSpPr>
        <p:grpSpPr bwMode="auto">
          <a:xfrm>
            <a:off x="5038725" y="3860800"/>
            <a:ext cx="495300" cy="298450"/>
            <a:chOff x="3499573" y="3850907"/>
            <a:chExt cx="496363" cy="298173"/>
          </a:xfrm>
        </p:grpSpPr>
        <p:sp>
          <p:nvSpPr>
            <p:cNvPr id="808" name="Rectangle 807"/>
            <p:cNvSpPr/>
            <p:nvPr/>
          </p:nvSpPr>
          <p:spPr>
            <a:xfrm>
              <a:off x="3499573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3881391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10" name="Straight Connector 809"/>
            <p:cNvCxnSpPr>
              <a:stCxn id="808" idx="3"/>
              <a:endCxn id="812" idx="1"/>
            </p:cNvCxnSpPr>
            <p:nvPr/>
          </p:nvCxnSpPr>
          <p:spPr>
            <a:xfrm>
              <a:off x="3614118" y="4095155"/>
              <a:ext cx="73182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/>
            <p:cNvCxnSpPr>
              <a:stCxn id="812" idx="3"/>
              <a:endCxn id="809" idx="1"/>
            </p:cNvCxnSpPr>
            <p:nvPr/>
          </p:nvCxnSpPr>
          <p:spPr>
            <a:xfrm>
              <a:off x="3801845" y="4095155"/>
              <a:ext cx="7954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2" name="Rectangle 811"/>
            <p:cNvSpPr/>
            <p:nvPr/>
          </p:nvSpPr>
          <p:spPr>
            <a:xfrm>
              <a:off x="3687300" y="4041230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3499573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3881391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05" name="Straight Connector 804"/>
            <p:cNvCxnSpPr>
              <a:stCxn id="803" idx="3"/>
              <a:endCxn id="807" idx="1"/>
            </p:cNvCxnSpPr>
            <p:nvPr/>
          </p:nvCxnSpPr>
          <p:spPr>
            <a:xfrm>
              <a:off x="3614118" y="3904832"/>
              <a:ext cx="73182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/>
            <p:cNvCxnSpPr>
              <a:stCxn id="807" idx="3"/>
              <a:endCxn id="804" idx="1"/>
            </p:cNvCxnSpPr>
            <p:nvPr/>
          </p:nvCxnSpPr>
          <p:spPr>
            <a:xfrm>
              <a:off x="3801845" y="3904832"/>
              <a:ext cx="7954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7" name="Rectangle 806"/>
            <p:cNvSpPr/>
            <p:nvPr/>
          </p:nvSpPr>
          <p:spPr>
            <a:xfrm>
              <a:off x="3687300" y="3850907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</a:t>
            </a:r>
            <a:r>
              <a:rPr lang="en-GB" altLang="en-US" b="0" baseline="-25000"/>
              <a:t>Q</a:t>
            </a:r>
            <a:r>
              <a:rPr lang="en-GB" altLang="en-US"/>
              <a:t>: Locus Specific</a:t>
            </a:r>
            <a:r>
              <a:rPr lang="en-GB" altLang="en-US" b="0"/>
              <a:t> </a:t>
            </a:r>
            <a:r>
              <a:rPr lang="en-GB" altLang="en-US"/>
              <a:t>A</a:t>
            </a:r>
            <a:endParaRPr lang="en-GB" altLang="en-US" b="0"/>
          </a:p>
        </p:txBody>
      </p:sp>
      <p:sp>
        <p:nvSpPr>
          <p:cNvPr id="5529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Let Q be the ungenotyped locus at 12 </a:t>
            </a:r>
            <a:r>
              <a:rPr lang="en-GB" altLang="en-US" dirty="0" err="1"/>
              <a:t>cM</a:t>
            </a:r>
            <a:endParaRPr lang="en-GB" altLang="en-US" dirty="0"/>
          </a:p>
          <a:p>
            <a:pPr eaLnBrk="1" hangingPunct="1"/>
            <a:r>
              <a:rPr lang="en-GB" altLang="en-US" dirty="0"/>
              <a:t>Can we calculate </a:t>
            </a:r>
            <a:r>
              <a:rPr lang="en-GB" altLang="en-US" b="1" dirty="0"/>
              <a:t>A</a:t>
            </a:r>
            <a:r>
              <a:rPr lang="en-GB" altLang="en-US" baseline="-25000" dirty="0"/>
              <a:t>Q</a:t>
            </a:r>
            <a:r>
              <a:rPr lang="en-GB" altLang="en-US" dirty="0"/>
              <a:t>?</a:t>
            </a:r>
          </a:p>
          <a:p>
            <a:pPr lvl="1" eaLnBrk="1" hangingPunct="1"/>
            <a:r>
              <a:rPr lang="en-GB" altLang="en-US" dirty="0"/>
              <a:t>use markers to trace inheritance back to base</a:t>
            </a:r>
          </a:p>
          <a:p>
            <a:pPr lvl="1" eaLnBrk="1" hangingPunct="1"/>
            <a:r>
              <a:rPr lang="en-GB" altLang="en-US" dirty="0"/>
              <a:t>calculate probabilities of IBD</a:t>
            </a:r>
          </a:p>
          <a:p>
            <a:pPr lvl="1" eaLnBrk="1" hangingPunct="1"/>
            <a:r>
              <a:rPr lang="en-GB" altLang="en-US" dirty="0"/>
              <a:t>i.e. </a:t>
            </a:r>
            <a:r>
              <a:rPr lang="el-GR" altLang="en-US" dirty="0"/>
              <a:t>φ</a:t>
            </a:r>
            <a:r>
              <a:rPr lang="en-GB" altLang="en-US" baseline="-25000" dirty="0" err="1"/>
              <a:t>uv</a:t>
            </a:r>
            <a:r>
              <a:rPr lang="en-GB" altLang="en-US" dirty="0"/>
              <a:t> … kinship between u and v at 12 </a:t>
            </a:r>
            <a:r>
              <a:rPr lang="en-GB" altLang="en-US" dirty="0" err="1"/>
              <a:t>cM</a:t>
            </a:r>
            <a:endParaRPr lang="en-GB" altLang="en-US" dirty="0"/>
          </a:p>
          <a:p>
            <a:pPr lvl="1" eaLnBrk="1" hangingPunct="1"/>
            <a:r>
              <a:rPr lang="en-GB" altLang="en-US" dirty="0"/>
              <a:t>so </a:t>
            </a:r>
            <a:r>
              <a:rPr lang="en-GB" altLang="en-US" dirty="0" err="1"/>
              <a:t>a</a:t>
            </a:r>
            <a:r>
              <a:rPr lang="en-GB" altLang="en-US" baseline="-25000" dirty="0" err="1"/>
              <a:t>uv</a:t>
            </a:r>
            <a:r>
              <a:rPr lang="en-GB" altLang="en-US" dirty="0"/>
              <a:t> = 2</a:t>
            </a:r>
            <a:r>
              <a:rPr lang="el-GR" altLang="en-US" dirty="0"/>
              <a:t>φ</a:t>
            </a:r>
            <a:r>
              <a:rPr lang="en-GB" altLang="en-US" baseline="-25000" dirty="0" err="1"/>
              <a:t>uv</a:t>
            </a:r>
            <a:r>
              <a:rPr lang="en-GB" altLang="en-US" dirty="0"/>
              <a:t> at 12 </a:t>
            </a:r>
            <a:r>
              <a:rPr lang="en-GB" altLang="en-US" dirty="0" err="1"/>
              <a:t>cM</a:t>
            </a:r>
            <a:endParaRPr lang="en-GB" altLang="en-US" dirty="0"/>
          </a:p>
        </p:txBody>
      </p:sp>
      <p:sp>
        <p:nvSpPr>
          <p:cNvPr id="5530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3CA8B86-6C15-4870-8A14-19C2AAC9634D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5301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Straight Arrow Connector 466"/>
          <p:cNvCxnSpPr>
            <a:stCxn id="312" idx="2"/>
            <a:endCxn id="649" idx="0"/>
          </p:cNvCxnSpPr>
          <p:nvPr/>
        </p:nvCxnSpPr>
        <p:spPr>
          <a:xfrm flipH="1">
            <a:off x="2316163" y="944564"/>
            <a:ext cx="12303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/>
          <p:cNvCxnSpPr>
            <a:stCxn id="312" idx="2"/>
            <a:endCxn id="422" idx="0"/>
          </p:cNvCxnSpPr>
          <p:nvPr/>
        </p:nvCxnSpPr>
        <p:spPr>
          <a:xfrm>
            <a:off x="3546475" y="944564"/>
            <a:ext cx="2032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/>
          <p:cNvCxnSpPr>
            <a:stCxn id="312" idx="2"/>
            <a:endCxn id="680" idx="0"/>
          </p:cNvCxnSpPr>
          <p:nvPr/>
        </p:nvCxnSpPr>
        <p:spPr>
          <a:xfrm>
            <a:off x="3546475" y="944564"/>
            <a:ext cx="16017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/>
          <p:cNvCxnSpPr>
            <a:stCxn id="312" idx="2"/>
            <a:endCxn id="695" idx="0"/>
          </p:cNvCxnSpPr>
          <p:nvPr/>
        </p:nvCxnSpPr>
        <p:spPr>
          <a:xfrm>
            <a:off x="3546475" y="944564"/>
            <a:ext cx="301783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/>
          <p:cNvCxnSpPr>
            <a:stCxn id="377" idx="2"/>
            <a:endCxn id="649" idx="0"/>
          </p:cNvCxnSpPr>
          <p:nvPr/>
        </p:nvCxnSpPr>
        <p:spPr>
          <a:xfrm flipH="1">
            <a:off x="2316164" y="944564"/>
            <a:ext cx="26638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/>
          <p:cNvCxnSpPr>
            <a:stCxn id="377" idx="2"/>
            <a:endCxn id="666" idx="0"/>
          </p:cNvCxnSpPr>
          <p:nvPr/>
        </p:nvCxnSpPr>
        <p:spPr>
          <a:xfrm flipH="1">
            <a:off x="3732214" y="944564"/>
            <a:ext cx="12477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/>
          <p:cNvCxnSpPr>
            <a:stCxn id="377" idx="2"/>
            <a:endCxn id="680" idx="0"/>
          </p:cNvCxnSpPr>
          <p:nvPr/>
        </p:nvCxnSpPr>
        <p:spPr>
          <a:xfrm>
            <a:off x="4979989" y="944564"/>
            <a:ext cx="1682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/>
          <p:cNvCxnSpPr>
            <a:stCxn id="377" idx="2"/>
            <a:endCxn id="695" idx="0"/>
          </p:cNvCxnSpPr>
          <p:nvPr/>
        </p:nvCxnSpPr>
        <p:spPr>
          <a:xfrm>
            <a:off x="4979989" y="944564"/>
            <a:ext cx="15843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/>
          <p:cNvCxnSpPr>
            <a:stCxn id="390" idx="2"/>
            <a:endCxn id="770" idx="0"/>
          </p:cNvCxnSpPr>
          <p:nvPr/>
        </p:nvCxnSpPr>
        <p:spPr>
          <a:xfrm>
            <a:off x="8140700" y="944564"/>
            <a:ext cx="14478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496"/>
          <p:cNvCxnSpPr>
            <a:stCxn id="406" idx="2"/>
            <a:endCxn id="533" idx="0"/>
          </p:cNvCxnSpPr>
          <p:nvPr/>
        </p:nvCxnSpPr>
        <p:spPr>
          <a:xfrm flipH="1">
            <a:off x="9582150" y="944564"/>
            <a:ext cx="635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/>
          <p:cNvCxnSpPr>
            <a:stCxn id="390" idx="2"/>
            <a:endCxn id="517" idx="0"/>
          </p:cNvCxnSpPr>
          <p:nvPr/>
        </p:nvCxnSpPr>
        <p:spPr>
          <a:xfrm>
            <a:off x="8140700" y="944564"/>
            <a:ext cx="15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/>
          <p:cNvCxnSpPr>
            <a:stCxn id="406" idx="2"/>
            <a:endCxn id="517" idx="0"/>
          </p:cNvCxnSpPr>
          <p:nvPr/>
        </p:nvCxnSpPr>
        <p:spPr>
          <a:xfrm flipH="1">
            <a:off x="8142288" y="944564"/>
            <a:ext cx="14462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/>
          <p:cNvCxnSpPr>
            <a:stCxn id="671" idx="2"/>
            <a:endCxn id="56347" idx="2"/>
          </p:cNvCxnSpPr>
          <p:nvPr/>
        </p:nvCxnSpPr>
        <p:spPr>
          <a:xfrm>
            <a:off x="3732213" y="2503488"/>
            <a:ext cx="1569919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/>
          <p:cNvCxnSpPr>
            <a:stCxn id="685" idx="2"/>
            <a:endCxn id="799" idx="0"/>
          </p:cNvCxnSpPr>
          <p:nvPr/>
        </p:nvCxnSpPr>
        <p:spPr>
          <a:xfrm>
            <a:off x="5148263" y="2503488"/>
            <a:ext cx="1566862" cy="1357312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/>
          <p:cNvCxnSpPr>
            <a:endCxn id="799" idx="0"/>
          </p:cNvCxnSpPr>
          <p:nvPr/>
        </p:nvCxnSpPr>
        <p:spPr>
          <a:xfrm flipH="1">
            <a:off x="6715126" y="2503488"/>
            <a:ext cx="2874963" cy="1357312"/>
          </a:xfrm>
          <a:prstGeom prst="straightConnector1">
            <a:avLst/>
          </a:prstGeom>
          <a:ln w="952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/>
          <p:cNvCxnSpPr>
            <a:stCxn id="762" idx="2"/>
            <a:endCxn id="56347" idx="2"/>
          </p:cNvCxnSpPr>
          <p:nvPr/>
        </p:nvCxnSpPr>
        <p:spPr>
          <a:xfrm flipH="1">
            <a:off x="5302132" y="2503488"/>
            <a:ext cx="2846506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38" name="TextBox 509"/>
          <p:cNvSpPr txBox="1">
            <a:spLocks noChangeArrowheads="1"/>
          </p:cNvSpPr>
          <p:nvPr/>
        </p:nvSpPr>
        <p:spPr bwMode="auto">
          <a:xfrm>
            <a:off x="3417889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6339" name="TextBox 511"/>
          <p:cNvSpPr txBox="1">
            <a:spLocks noChangeArrowheads="1"/>
          </p:cNvSpPr>
          <p:nvPr/>
        </p:nvSpPr>
        <p:spPr bwMode="auto">
          <a:xfrm>
            <a:off x="80041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6340" name="TextBox 512"/>
          <p:cNvSpPr txBox="1">
            <a:spLocks noChangeArrowheads="1"/>
          </p:cNvSpPr>
          <p:nvPr/>
        </p:nvSpPr>
        <p:spPr bwMode="auto">
          <a:xfrm>
            <a:off x="94519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6341" name="TextBox 513"/>
          <p:cNvSpPr txBox="1">
            <a:spLocks noChangeArrowheads="1"/>
          </p:cNvSpPr>
          <p:nvPr/>
        </p:nvSpPr>
        <p:spPr bwMode="auto">
          <a:xfrm>
            <a:off x="22129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6342" name="TextBox 514"/>
          <p:cNvSpPr txBox="1">
            <a:spLocks noChangeArrowheads="1"/>
          </p:cNvSpPr>
          <p:nvPr/>
        </p:nvSpPr>
        <p:spPr bwMode="auto">
          <a:xfrm>
            <a:off x="36226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6343" name="TextBox 515"/>
          <p:cNvSpPr txBox="1">
            <a:spLocks noChangeArrowheads="1"/>
          </p:cNvSpPr>
          <p:nvPr/>
        </p:nvSpPr>
        <p:spPr bwMode="auto">
          <a:xfrm>
            <a:off x="50323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56344" name="TextBox 517"/>
          <p:cNvSpPr txBox="1">
            <a:spLocks noChangeArrowheads="1"/>
          </p:cNvSpPr>
          <p:nvPr/>
        </p:nvSpPr>
        <p:spPr bwMode="auto">
          <a:xfrm>
            <a:off x="6443664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56345" name="TextBox 518"/>
          <p:cNvSpPr txBox="1">
            <a:spLocks noChangeArrowheads="1"/>
          </p:cNvSpPr>
          <p:nvPr/>
        </p:nvSpPr>
        <p:spPr bwMode="auto">
          <a:xfrm>
            <a:off x="8026401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56346" name="TextBox 519"/>
          <p:cNvSpPr txBox="1">
            <a:spLocks noChangeArrowheads="1"/>
          </p:cNvSpPr>
          <p:nvPr/>
        </p:nvSpPr>
        <p:spPr bwMode="auto">
          <a:xfrm>
            <a:off x="9336088" y="18446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6347" name="TextBox 520"/>
          <p:cNvSpPr txBox="1">
            <a:spLocks noChangeArrowheads="1"/>
          </p:cNvSpPr>
          <p:nvPr/>
        </p:nvSpPr>
        <p:spPr bwMode="auto">
          <a:xfrm>
            <a:off x="5087938" y="3516314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6348" name="TextBox 521"/>
          <p:cNvSpPr txBox="1">
            <a:spLocks noChangeArrowheads="1"/>
          </p:cNvSpPr>
          <p:nvPr/>
        </p:nvSpPr>
        <p:spPr bwMode="auto">
          <a:xfrm>
            <a:off x="6477000" y="3505200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56349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6F60FAB-D92D-495D-8BBB-DD42A184CEB7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635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pSp>
        <p:nvGrpSpPr>
          <p:cNvPr id="56351" name="Group 271"/>
          <p:cNvGrpSpPr>
            <a:grpSpLocks/>
          </p:cNvGrpSpPr>
          <p:nvPr/>
        </p:nvGrpSpPr>
        <p:grpSpPr bwMode="auto">
          <a:xfrm>
            <a:off x="3302000" y="646113"/>
            <a:ext cx="495300" cy="298450"/>
            <a:chOff x="1778423" y="646539"/>
            <a:chExt cx="496363" cy="298173"/>
          </a:xfrm>
        </p:grpSpPr>
        <p:grpSp>
          <p:nvGrpSpPr>
            <p:cNvPr id="56685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297" name="Rectangle 296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99" name="Straight Connector 298"/>
              <p:cNvCxnSpPr>
                <a:stCxn id="297" idx="3"/>
                <a:endCxn id="312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>
                <a:stCxn id="312" idx="3"/>
                <a:endCxn id="298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Rectangle 311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686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336" name="Rectangle 335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38" name="Straight Connector 337"/>
              <p:cNvCxnSpPr>
                <a:stCxn id="336" idx="3"/>
                <a:endCxn id="340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>
                <a:stCxn id="340" idx="3"/>
                <a:endCxn id="337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Rectangle 339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6352" name="Group 280"/>
          <p:cNvGrpSpPr>
            <a:grpSpLocks/>
          </p:cNvGrpSpPr>
          <p:nvPr/>
        </p:nvGrpSpPr>
        <p:grpSpPr bwMode="auto">
          <a:xfrm>
            <a:off x="4735514" y="646113"/>
            <a:ext cx="496887" cy="298450"/>
            <a:chOff x="2492571" y="626400"/>
            <a:chExt cx="496363" cy="299041"/>
          </a:xfrm>
        </p:grpSpPr>
        <p:grpSp>
          <p:nvGrpSpPr>
            <p:cNvPr id="56673" name="Group 276"/>
            <p:cNvGrpSpPr>
              <a:grpSpLocks/>
            </p:cNvGrpSpPr>
            <p:nvPr/>
          </p:nvGrpSpPr>
          <p:grpSpPr bwMode="auto">
            <a:xfrm>
              <a:off x="2492571" y="626400"/>
              <a:ext cx="496363" cy="108000"/>
              <a:chOff x="4435677" y="602215"/>
              <a:chExt cx="496363" cy="108000"/>
            </a:xfrm>
          </p:grpSpPr>
          <p:sp>
            <p:nvSpPr>
              <p:cNvPr id="378" name="Rectangle 377"/>
              <p:cNvSpPr/>
              <p:nvPr/>
            </p:nvSpPr>
            <p:spPr>
              <a:xfrm>
                <a:off x="4435677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4817861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0" name="Straight Connector 379"/>
              <p:cNvCxnSpPr>
                <a:stCxn id="378" idx="3"/>
                <a:endCxn id="382" idx="1"/>
              </p:cNvCxnSpPr>
              <p:nvPr/>
            </p:nvCxnSpPr>
            <p:spPr>
              <a:xfrm>
                <a:off x="4549856" y="656297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>
                <a:stCxn id="382" idx="3"/>
                <a:endCxn id="379" idx="1"/>
              </p:cNvCxnSpPr>
              <p:nvPr/>
            </p:nvCxnSpPr>
            <p:spPr>
              <a:xfrm>
                <a:off x="4738569" y="656297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Rectangle 381"/>
              <p:cNvSpPr/>
              <p:nvPr/>
            </p:nvSpPr>
            <p:spPr>
              <a:xfrm>
                <a:off x="4622804" y="602215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674" name="Group 277"/>
            <p:cNvGrpSpPr>
              <a:grpSpLocks/>
            </p:cNvGrpSpPr>
            <p:nvPr/>
          </p:nvGrpSpPr>
          <p:grpSpPr bwMode="auto">
            <a:xfrm>
              <a:off x="2492571" y="817441"/>
              <a:ext cx="496363" cy="108000"/>
              <a:chOff x="4435677" y="856701"/>
              <a:chExt cx="496363" cy="108000"/>
            </a:xfrm>
          </p:grpSpPr>
          <p:sp>
            <p:nvSpPr>
              <p:cNvPr id="362" name="Rectangle 361"/>
              <p:cNvSpPr/>
              <p:nvPr/>
            </p:nvSpPr>
            <p:spPr>
              <a:xfrm>
                <a:off x="4435677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4817861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75" name="Straight Connector 374"/>
              <p:cNvCxnSpPr>
                <a:stCxn id="362" idx="3"/>
                <a:endCxn id="377" idx="1"/>
              </p:cNvCxnSpPr>
              <p:nvPr/>
            </p:nvCxnSpPr>
            <p:spPr>
              <a:xfrm>
                <a:off x="4549856" y="910619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>
                <a:stCxn id="377" idx="3"/>
                <a:endCxn id="374" idx="1"/>
              </p:cNvCxnSpPr>
              <p:nvPr/>
            </p:nvCxnSpPr>
            <p:spPr>
              <a:xfrm>
                <a:off x="4738569" y="910619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/>
              <p:cNvSpPr/>
              <p:nvPr/>
            </p:nvSpPr>
            <p:spPr>
              <a:xfrm>
                <a:off x="4622804" y="856538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6353" name="Group 634"/>
          <p:cNvGrpSpPr>
            <a:grpSpLocks/>
          </p:cNvGrpSpPr>
          <p:nvPr/>
        </p:nvGrpSpPr>
        <p:grpSpPr bwMode="auto">
          <a:xfrm>
            <a:off x="7896225" y="646113"/>
            <a:ext cx="496888" cy="298450"/>
            <a:chOff x="4461016" y="615183"/>
            <a:chExt cx="496363" cy="299041"/>
          </a:xfrm>
        </p:grpSpPr>
        <p:grpSp>
          <p:nvGrpSpPr>
            <p:cNvPr id="56661" name="Group 633"/>
            <p:cNvGrpSpPr>
              <a:grpSpLocks/>
            </p:cNvGrpSpPr>
            <p:nvPr/>
          </p:nvGrpSpPr>
          <p:grpSpPr bwMode="auto">
            <a:xfrm>
              <a:off x="4461016" y="615183"/>
              <a:ext cx="496363" cy="108000"/>
              <a:chOff x="4461016" y="615183"/>
              <a:chExt cx="496363" cy="108000"/>
            </a:xfrm>
          </p:grpSpPr>
          <p:sp>
            <p:nvSpPr>
              <p:cNvPr id="391" name="Rectangle 390"/>
              <p:cNvSpPr/>
              <p:nvPr/>
            </p:nvSpPr>
            <p:spPr>
              <a:xfrm>
                <a:off x="4461016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Rectangle 394"/>
              <p:cNvSpPr/>
              <p:nvPr/>
            </p:nvSpPr>
            <p:spPr>
              <a:xfrm>
                <a:off x="4843200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96" name="Straight Connector 395"/>
              <p:cNvCxnSpPr>
                <a:stCxn id="391" idx="3"/>
                <a:endCxn id="398" idx="1"/>
              </p:cNvCxnSpPr>
              <p:nvPr/>
            </p:nvCxnSpPr>
            <p:spPr>
              <a:xfrm>
                <a:off x="4575195" y="669265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/>
              <p:cNvCxnSpPr>
                <a:stCxn id="398" idx="3"/>
                <a:endCxn id="395" idx="1"/>
              </p:cNvCxnSpPr>
              <p:nvPr/>
            </p:nvCxnSpPr>
            <p:spPr>
              <a:xfrm>
                <a:off x="4763909" y="669265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Rectangle 397"/>
              <p:cNvSpPr/>
              <p:nvPr/>
            </p:nvSpPr>
            <p:spPr>
              <a:xfrm>
                <a:off x="4648143" y="615183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662" name="Group 632"/>
            <p:cNvGrpSpPr>
              <a:grpSpLocks/>
            </p:cNvGrpSpPr>
            <p:nvPr/>
          </p:nvGrpSpPr>
          <p:grpSpPr bwMode="auto">
            <a:xfrm>
              <a:off x="4461016" y="806224"/>
              <a:ext cx="496363" cy="108000"/>
              <a:chOff x="4461016" y="806224"/>
              <a:chExt cx="496363" cy="108000"/>
            </a:xfrm>
          </p:grpSpPr>
          <p:sp>
            <p:nvSpPr>
              <p:cNvPr id="386" name="Rectangle 385"/>
              <p:cNvSpPr/>
              <p:nvPr/>
            </p:nvSpPr>
            <p:spPr>
              <a:xfrm>
                <a:off x="4461016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Rectangle 386"/>
              <p:cNvSpPr/>
              <p:nvPr/>
            </p:nvSpPr>
            <p:spPr>
              <a:xfrm>
                <a:off x="4843200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8" name="Straight Connector 387"/>
              <p:cNvCxnSpPr>
                <a:stCxn id="386" idx="3"/>
                <a:endCxn id="390" idx="1"/>
              </p:cNvCxnSpPr>
              <p:nvPr/>
            </p:nvCxnSpPr>
            <p:spPr>
              <a:xfrm>
                <a:off x="4575195" y="860142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/>
              <p:cNvCxnSpPr>
                <a:stCxn id="390" idx="3"/>
                <a:endCxn id="387" idx="1"/>
              </p:cNvCxnSpPr>
              <p:nvPr/>
            </p:nvCxnSpPr>
            <p:spPr>
              <a:xfrm>
                <a:off x="4763909" y="860142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/>
              <p:cNvSpPr/>
              <p:nvPr/>
            </p:nvSpPr>
            <p:spPr>
              <a:xfrm>
                <a:off x="4648143" y="806061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6354" name="Group 630"/>
          <p:cNvGrpSpPr>
            <a:grpSpLocks/>
          </p:cNvGrpSpPr>
          <p:nvPr/>
        </p:nvGrpSpPr>
        <p:grpSpPr bwMode="auto">
          <a:xfrm>
            <a:off x="9344025" y="646113"/>
            <a:ext cx="496888" cy="298450"/>
            <a:chOff x="5392726" y="627663"/>
            <a:chExt cx="496363" cy="299041"/>
          </a:xfrm>
        </p:grpSpPr>
        <p:sp>
          <p:nvSpPr>
            <p:cNvPr id="407" name="Rectangle 406"/>
            <p:cNvSpPr/>
            <p:nvPr/>
          </p:nvSpPr>
          <p:spPr>
            <a:xfrm>
              <a:off x="5392726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5774910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9" name="Straight Connector 408"/>
            <p:cNvCxnSpPr>
              <a:stCxn id="407" idx="3"/>
              <a:endCxn id="411" idx="1"/>
            </p:cNvCxnSpPr>
            <p:nvPr/>
          </p:nvCxnSpPr>
          <p:spPr>
            <a:xfrm>
              <a:off x="5506905" y="681745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>
              <a:stCxn id="411" idx="3"/>
              <a:endCxn id="408" idx="1"/>
            </p:cNvCxnSpPr>
            <p:nvPr/>
          </p:nvCxnSpPr>
          <p:spPr>
            <a:xfrm>
              <a:off x="5695619" y="681745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ectangle 410"/>
            <p:cNvSpPr/>
            <p:nvPr/>
          </p:nvSpPr>
          <p:spPr>
            <a:xfrm>
              <a:off x="5579853" y="627663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392726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74910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4" name="Straight Connector 403"/>
            <p:cNvCxnSpPr>
              <a:stCxn id="402" idx="3"/>
              <a:endCxn id="406" idx="1"/>
            </p:cNvCxnSpPr>
            <p:nvPr/>
          </p:nvCxnSpPr>
          <p:spPr>
            <a:xfrm>
              <a:off x="5506905" y="872622"/>
              <a:ext cx="72948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>
              <a:stCxn id="406" idx="3"/>
              <a:endCxn id="403" idx="1"/>
            </p:cNvCxnSpPr>
            <p:nvPr/>
          </p:nvCxnSpPr>
          <p:spPr>
            <a:xfrm>
              <a:off x="5695619" y="872622"/>
              <a:ext cx="79291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Rectangle 405"/>
            <p:cNvSpPr/>
            <p:nvPr/>
          </p:nvSpPr>
          <p:spPr>
            <a:xfrm>
              <a:off x="5579853" y="818540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56355" name="TextBox 636"/>
          <p:cNvSpPr txBox="1">
            <a:spLocks noChangeArrowheads="1"/>
          </p:cNvSpPr>
          <p:nvPr/>
        </p:nvSpPr>
        <p:spPr bwMode="auto">
          <a:xfrm>
            <a:off x="4857751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56356" name="Group 657"/>
          <p:cNvGrpSpPr>
            <a:grpSpLocks/>
          </p:cNvGrpSpPr>
          <p:nvPr/>
        </p:nvGrpSpPr>
        <p:grpSpPr bwMode="auto">
          <a:xfrm>
            <a:off x="2071688" y="2205038"/>
            <a:ext cx="495300" cy="298450"/>
            <a:chOff x="547245" y="2204864"/>
            <a:chExt cx="496363" cy="298173"/>
          </a:xfrm>
        </p:grpSpPr>
        <p:grpSp>
          <p:nvGrpSpPr>
            <p:cNvPr id="56639" name="Group 656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50" name="Rectangle 649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51" name="Rectangle 650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2" name="Straight Connector 651"/>
              <p:cNvCxnSpPr>
                <a:stCxn id="650" idx="3"/>
                <a:endCxn id="654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>
                <a:stCxn id="654" idx="3"/>
                <a:endCxn id="651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4" name="Rectangle 653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640" name="Group 643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45" name="Rectangle 644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46" name="Rectangle 645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47" name="Straight Connector 646"/>
              <p:cNvCxnSpPr>
                <a:stCxn id="645" idx="3"/>
                <a:endCxn id="649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>
                <a:stCxn id="649" idx="3"/>
                <a:endCxn id="646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9" name="Rectangle 648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6357" name="Group 658"/>
          <p:cNvGrpSpPr>
            <a:grpSpLocks/>
          </p:cNvGrpSpPr>
          <p:nvPr/>
        </p:nvGrpSpPr>
        <p:grpSpPr bwMode="auto">
          <a:xfrm>
            <a:off x="3487738" y="2205038"/>
            <a:ext cx="495300" cy="298450"/>
            <a:chOff x="547245" y="2204864"/>
            <a:chExt cx="496363" cy="298173"/>
          </a:xfrm>
        </p:grpSpPr>
        <p:grpSp>
          <p:nvGrpSpPr>
            <p:cNvPr id="56627" name="Group 659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67" name="Rectangle 666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8" name="Rectangle 667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9" name="Straight Connector 668"/>
              <p:cNvCxnSpPr>
                <a:stCxn id="667" idx="3"/>
                <a:endCxn id="671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Straight Connector 669"/>
              <p:cNvCxnSpPr>
                <a:stCxn id="671" idx="3"/>
                <a:endCxn id="668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1" name="Rectangle 670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628" name="Group 660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62" name="Rectangle 661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3" name="Rectangle 662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4" name="Straight Connector 663"/>
              <p:cNvCxnSpPr>
                <a:stCxn id="662" idx="3"/>
                <a:endCxn id="666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Straight Connector 664"/>
              <p:cNvCxnSpPr>
                <a:stCxn id="666" idx="3"/>
                <a:endCxn id="663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6" name="Rectangle 665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6358" name="Group 685"/>
          <p:cNvGrpSpPr>
            <a:grpSpLocks/>
          </p:cNvGrpSpPr>
          <p:nvPr/>
        </p:nvGrpSpPr>
        <p:grpSpPr bwMode="auto">
          <a:xfrm>
            <a:off x="4903789" y="2205038"/>
            <a:ext cx="496887" cy="298450"/>
            <a:chOff x="3347864" y="2204864"/>
            <a:chExt cx="496363" cy="298173"/>
          </a:xfrm>
        </p:grpSpPr>
        <p:grpSp>
          <p:nvGrpSpPr>
            <p:cNvPr id="56616" name="Group 673"/>
            <p:cNvGrpSpPr>
              <a:grpSpLocks/>
            </p:cNvGrpSpPr>
            <p:nvPr/>
          </p:nvGrpSpPr>
          <p:grpSpPr bwMode="auto">
            <a:xfrm>
              <a:off x="3347864" y="2395037"/>
              <a:ext cx="496363" cy="108000"/>
              <a:chOff x="547245" y="2395037"/>
              <a:chExt cx="496363" cy="108000"/>
            </a:xfrm>
          </p:grpSpPr>
          <p:sp>
            <p:nvSpPr>
              <p:cNvPr id="681" name="Rectangle 680"/>
              <p:cNvSpPr/>
              <p:nvPr/>
            </p:nvSpPr>
            <p:spPr>
              <a:xfrm>
                <a:off x="547245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82" name="Rectangle 681"/>
              <p:cNvSpPr/>
              <p:nvPr/>
            </p:nvSpPr>
            <p:spPr>
              <a:xfrm>
                <a:off x="929429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83" name="Straight Connector 682"/>
              <p:cNvCxnSpPr>
                <a:stCxn id="681" idx="3"/>
                <a:endCxn id="685" idx="1"/>
              </p:cNvCxnSpPr>
              <p:nvPr/>
            </p:nvCxnSpPr>
            <p:spPr>
              <a:xfrm>
                <a:off x="661424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Straight Connector 683"/>
              <p:cNvCxnSpPr>
                <a:stCxn id="685" idx="3"/>
                <a:endCxn id="682" idx="1"/>
              </p:cNvCxnSpPr>
              <p:nvPr/>
            </p:nvCxnSpPr>
            <p:spPr>
              <a:xfrm>
                <a:off x="850137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5" name="Rectangle 684"/>
              <p:cNvSpPr/>
              <p:nvPr/>
            </p:nvSpPr>
            <p:spPr>
              <a:xfrm>
                <a:off x="734372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76" name="Rectangle 675"/>
            <p:cNvSpPr/>
            <p:nvPr/>
          </p:nvSpPr>
          <p:spPr>
            <a:xfrm>
              <a:off x="3347864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677" name="Rectangle 676"/>
            <p:cNvSpPr/>
            <p:nvPr/>
          </p:nvSpPr>
          <p:spPr>
            <a:xfrm>
              <a:off x="3730048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678" name="Straight Connector 677"/>
            <p:cNvCxnSpPr>
              <a:stCxn id="676" idx="3"/>
              <a:endCxn id="680" idx="1"/>
            </p:cNvCxnSpPr>
            <p:nvPr/>
          </p:nvCxnSpPr>
          <p:spPr>
            <a:xfrm>
              <a:off x="3462043" y="2258789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/>
            <p:cNvCxnSpPr>
              <a:stCxn id="680" idx="3"/>
              <a:endCxn id="677" idx="1"/>
            </p:cNvCxnSpPr>
            <p:nvPr/>
          </p:nvCxnSpPr>
          <p:spPr>
            <a:xfrm>
              <a:off x="3650756" y="2258789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0" name="Rectangle 679"/>
            <p:cNvSpPr/>
            <p:nvPr/>
          </p:nvSpPr>
          <p:spPr>
            <a:xfrm>
              <a:off x="3534991" y="2204864"/>
              <a:ext cx="11576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6359" name="Group 705"/>
          <p:cNvGrpSpPr>
            <a:grpSpLocks/>
          </p:cNvGrpSpPr>
          <p:nvPr/>
        </p:nvGrpSpPr>
        <p:grpSpPr bwMode="auto">
          <a:xfrm>
            <a:off x="6319839" y="2205038"/>
            <a:ext cx="496887" cy="298450"/>
            <a:chOff x="4003628" y="2204864"/>
            <a:chExt cx="496364" cy="298173"/>
          </a:xfrm>
        </p:grpSpPr>
        <p:grpSp>
          <p:nvGrpSpPr>
            <p:cNvPr id="56604" name="Group 703"/>
            <p:cNvGrpSpPr>
              <a:grpSpLocks/>
            </p:cNvGrpSpPr>
            <p:nvPr/>
          </p:nvGrpSpPr>
          <p:grpSpPr bwMode="auto">
            <a:xfrm>
              <a:off x="4003628" y="2394908"/>
              <a:ext cx="496364" cy="108129"/>
              <a:chOff x="4003628" y="2394908"/>
              <a:chExt cx="496364" cy="108129"/>
            </a:xfrm>
          </p:grpSpPr>
          <p:sp>
            <p:nvSpPr>
              <p:cNvPr id="696" name="Rectangle 695"/>
              <p:cNvSpPr/>
              <p:nvPr/>
            </p:nvSpPr>
            <p:spPr>
              <a:xfrm>
                <a:off x="4003628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7" name="Rectangle 696"/>
              <p:cNvSpPr/>
              <p:nvPr/>
            </p:nvSpPr>
            <p:spPr>
              <a:xfrm>
                <a:off x="4385812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8" name="Straight Connector 697"/>
              <p:cNvCxnSpPr>
                <a:stCxn id="696" idx="3"/>
                <a:endCxn id="700" idx="1"/>
              </p:cNvCxnSpPr>
              <p:nvPr/>
            </p:nvCxnSpPr>
            <p:spPr>
              <a:xfrm>
                <a:off x="4117808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Straight Connector 698"/>
              <p:cNvCxnSpPr>
                <a:stCxn id="700" idx="3"/>
                <a:endCxn id="697" idx="1"/>
              </p:cNvCxnSpPr>
              <p:nvPr/>
            </p:nvCxnSpPr>
            <p:spPr>
              <a:xfrm>
                <a:off x="4306521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Rectangle 699"/>
              <p:cNvSpPr/>
              <p:nvPr/>
            </p:nvSpPr>
            <p:spPr>
              <a:xfrm>
                <a:off x="4190756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605" name="Group 704"/>
            <p:cNvGrpSpPr>
              <a:grpSpLocks/>
            </p:cNvGrpSpPr>
            <p:nvPr/>
          </p:nvGrpSpPr>
          <p:grpSpPr bwMode="auto">
            <a:xfrm>
              <a:off x="4003629" y="2204864"/>
              <a:ext cx="496363" cy="108000"/>
              <a:chOff x="4003629" y="2204864"/>
              <a:chExt cx="496363" cy="108000"/>
            </a:xfrm>
          </p:grpSpPr>
          <p:sp>
            <p:nvSpPr>
              <p:cNvPr id="691" name="Rectangle 690"/>
              <p:cNvSpPr/>
              <p:nvPr/>
            </p:nvSpPr>
            <p:spPr>
              <a:xfrm>
                <a:off x="4003628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2" name="Rectangle 691"/>
              <p:cNvSpPr/>
              <p:nvPr/>
            </p:nvSpPr>
            <p:spPr>
              <a:xfrm>
                <a:off x="4385812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3" name="Straight Connector 692"/>
              <p:cNvCxnSpPr>
                <a:stCxn id="691" idx="3"/>
                <a:endCxn id="695" idx="1"/>
              </p:cNvCxnSpPr>
              <p:nvPr/>
            </p:nvCxnSpPr>
            <p:spPr>
              <a:xfrm>
                <a:off x="4117808" y="2258789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/>
              <p:cNvCxnSpPr>
                <a:stCxn id="695" idx="3"/>
                <a:endCxn id="692" idx="1"/>
              </p:cNvCxnSpPr>
              <p:nvPr/>
            </p:nvCxnSpPr>
            <p:spPr>
              <a:xfrm>
                <a:off x="4306521" y="2258789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5" name="Rectangle 694"/>
              <p:cNvSpPr/>
              <p:nvPr/>
            </p:nvSpPr>
            <p:spPr>
              <a:xfrm>
                <a:off x="4190756" y="2204864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58" name="Rectangle 757"/>
          <p:cNvSpPr/>
          <p:nvPr/>
        </p:nvSpPr>
        <p:spPr>
          <a:xfrm>
            <a:off x="7904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9" name="Rectangle 758"/>
          <p:cNvSpPr/>
          <p:nvPr/>
        </p:nvSpPr>
        <p:spPr>
          <a:xfrm>
            <a:off x="8285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60" name="Straight Connector 759"/>
          <p:cNvCxnSpPr>
            <a:stCxn id="758" idx="3"/>
            <a:endCxn id="762" idx="1"/>
          </p:cNvCxnSpPr>
          <p:nvPr/>
        </p:nvCxnSpPr>
        <p:spPr>
          <a:xfrm>
            <a:off x="8018464" y="2449513"/>
            <a:ext cx="7302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/>
          <p:cNvCxnSpPr>
            <a:stCxn id="762" idx="3"/>
            <a:endCxn id="759" idx="1"/>
          </p:cNvCxnSpPr>
          <p:nvPr/>
        </p:nvCxnSpPr>
        <p:spPr>
          <a:xfrm>
            <a:off x="8205789" y="2449513"/>
            <a:ext cx="7937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2" name="Rectangle 761"/>
          <p:cNvSpPr/>
          <p:nvPr/>
        </p:nvSpPr>
        <p:spPr>
          <a:xfrm>
            <a:off x="8091488" y="23955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3" name="Rectangle 752"/>
          <p:cNvSpPr/>
          <p:nvPr/>
        </p:nvSpPr>
        <p:spPr>
          <a:xfrm>
            <a:off x="7904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4" name="Rectangle 753"/>
          <p:cNvSpPr/>
          <p:nvPr/>
        </p:nvSpPr>
        <p:spPr>
          <a:xfrm>
            <a:off x="8285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55" name="Straight Connector 754"/>
          <p:cNvCxnSpPr>
            <a:stCxn id="753" idx="3"/>
            <a:endCxn id="757" idx="1"/>
          </p:cNvCxnSpPr>
          <p:nvPr/>
        </p:nvCxnSpPr>
        <p:spPr>
          <a:xfrm>
            <a:off x="8018464" y="2259013"/>
            <a:ext cx="7302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/>
          <p:cNvCxnSpPr>
            <a:stCxn id="757" idx="3"/>
            <a:endCxn id="754" idx="1"/>
          </p:cNvCxnSpPr>
          <p:nvPr/>
        </p:nvCxnSpPr>
        <p:spPr>
          <a:xfrm>
            <a:off x="8205789" y="2259013"/>
            <a:ext cx="7937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Rectangle 756"/>
          <p:cNvSpPr/>
          <p:nvPr/>
        </p:nvSpPr>
        <p:spPr>
          <a:xfrm>
            <a:off x="8091488" y="22050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56370" name="Group 786"/>
          <p:cNvGrpSpPr>
            <a:grpSpLocks/>
          </p:cNvGrpSpPr>
          <p:nvPr/>
        </p:nvGrpSpPr>
        <p:grpSpPr bwMode="auto">
          <a:xfrm>
            <a:off x="9344026" y="2205039"/>
            <a:ext cx="849313" cy="784225"/>
            <a:chOff x="7820052" y="2204864"/>
            <a:chExt cx="849731" cy="784280"/>
          </a:xfrm>
        </p:grpSpPr>
        <p:sp>
          <p:nvSpPr>
            <p:cNvPr id="2" name="Lightning Bolt 1"/>
            <p:cNvSpPr>
              <a:spLocks noChangeAspect="1"/>
            </p:cNvSpPr>
            <p:nvPr/>
          </p:nvSpPr>
          <p:spPr>
            <a:xfrm flipH="1" flipV="1">
              <a:off x="8212358" y="2531912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7820052" y="2395377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8201240" y="2395377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73" name="Straight Connector 772"/>
            <p:cNvCxnSpPr>
              <a:stCxn id="771" idx="3"/>
              <a:endCxn id="775" idx="1"/>
            </p:cNvCxnSpPr>
            <p:nvPr/>
          </p:nvCxnSpPr>
          <p:spPr>
            <a:xfrm>
              <a:off x="7934408" y="2449356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773"/>
            <p:cNvCxnSpPr>
              <a:stCxn id="775" idx="3"/>
              <a:endCxn id="772" idx="1"/>
            </p:cNvCxnSpPr>
            <p:nvPr/>
          </p:nvCxnSpPr>
          <p:spPr>
            <a:xfrm>
              <a:off x="8121825" y="2449356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5" name="Rectangle 774"/>
            <p:cNvSpPr/>
            <p:nvPr/>
          </p:nvSpPr>
          <p:spPr>
            <a:xfrm>
              <a:off x="8007469" y="2395377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7820052" y="2204864"/>
              <a:ext cx="114356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7" name="Rectangle 766"/>
            <p:cNvSpPr/>
            <p:nvPr/>
          </p:nvSpPr>
          <p:spPr>
            <a:xfrm>
              <a:off x="8201240" y="2204864"/>
              <a:ext cx="115945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68" name="Straight Connector 767"/>
            <p:cNvCxnSpPr>
              <a:stCxn id="766" idx="3"/>
              <a:endCxn id="770" idx="1"/>
            </p:cNvCxnSpPr>
            <p:nvPr/>
          </p:nvCxnSpPr>
          <p:spPr>
            <a:xfrm>
              <a:off x="7934408" y="2258843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/>
            <p:cNvCxnSpPr>
              <a:stCxn id="770" idx="3"/>
              <a:endCxn id="767" idx="1"/>
            </p:cNvCxnSpPr>
            <p:nvPr/>
          </p:nvCxnSpPr>
          <p:spPr>
            <a:xfrm>
              <a:off x="8121825" y="2258843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0" name="Rectangle 769"/>
            <p:cNvSpPr/>
            <p:nvPr/>
          </p:nvSpPr>
          <p:spPr>
            <a:xfrm>
              <a:off x="8007469" y="2204864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6371" name="Group 825"/>
          <p:cNvGrpSpPr>
            <a:grpSpLocks/>
          </p:cNvGrpSpPr>
          <p:nvPr/>
        </p:nvGrpSpPr>
        <p:grpSpPr bwMode="auto">
          <a:xfrm>
            <a:off x="6470651" y="3860801"/>
            <a:ext cx="849313" cy="784225"/>
            <a:chOff x="4860032" y="3861048"/>
            <a:chExt cx="849731" cy="784280"/>
          </a:xfrm>
        </p:grpSpPr>
        <p:sp>
          <p:nvSpPr>
            <p:cNvPr id="789" name="Lightning Bolt 788"/>
            <p:cNvSpPr>
              <a:spLocks noChangeAspect="1"/>
            </p:cNvSpPr>
            <p:nvPr/>
          </p:nvSpPr>
          <p:spPr>
            <a:xfrm flipH="1" flipV="1">
              <a:off x="5252338" y="4188096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0" name="Rectangle 789"/>
            <p:cNvSpPr/>
            <p:nvPr/>
          </p:nvSpPr>
          <p:spPr>
            <a:xfrm>
              <a:off x="4860032" y="4051561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5241220" y="4051561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2" name="Straight Connector 791"/>
            <p:cNvCxnSpPr>
              <a:stCxn id="790" idx="3"/>
              <a:endCxn id="794" idx="1"/>
            </p:cNvCxnSpPr>
            <p:nvPr/>
          </p:nvCxnSpPr>
          <p:spPr>
            <a:xfrm>
              <a:off x="4974388" y="4105540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/>
            <p:cNvCxnSpPr>
              <a:stCxn id="794" idx="3"/>
              <a:endCxn id="791" idx="1"/>
            </p:cNvCxnSpPr>
            <p:nvPr/>
          </p:nvCxnSpPr>
          <p:spPr>
            <a:xfrm>
              <a:off x="5161805" y="4105540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4" name="Rectangle 793"/>
            <p:cNvSpPr/>
            <p:nvPr/>
          </p:nvSpPr>
          <p:spPr>
            <a:xfrm>
              <a:off x="5047449" y="4051561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4860032" y="3861048"/>
              <a:ext cx="114356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6" name="Rectangle 795"/>
            <p:cNvSpPr/>
            <p:nvPr/>
          </p:nvSpPr>
          <p:spPr>
            <a:xfrm>
              <a:off x="5241220" y="3861048"/>
              <a:ext cx="115945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7" name="Straight Connector 796"/>
            <p:cNvCxnSpPr>
              <a:stCxn id="795" idx="3"/>
              <a:endCxn id="799" idx="1"/>
            </p:cNvCxnSpPr>
            <p:nvPr/>
          </p:nvCxnSpPr>
          <p:spPr>
            <a:xfrm>
              <a:off x="4974388" y="3915027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/>
            <p:cNvCxnSpPr>
              <a:stCxn id="799" idx="3"/>
              <a:endCxn id="796" idx="1"/>
            </p:cNvCxnSpPr>
            <p:nvPr/>
          </p:nvCxnSpPr>
          <p:spPr>
            <a:xfrm>
              <a:off x="5161805" y="3915027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9" name="Rectangle 798"/>
            <p:cNvSpPr/>
            <p:nvPr/>
          </p:nvSpPr>
          <p:spPr>
            <a:xfrm>
              <a:off x="5047449" y="3861048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6372" name="Group 828"/>
          <p:cNvGrpSpPr>
            <a:grpSpLocks/>
          </p:cNvGrpSpPr>
          <p:nvPr/>
        </p:nvGrpSpPr>
        <p:grpSpPr bwMode="auto">
          <a:xfrm>
            <a:off x="5038725" y="3860800"/>
            <a:ext cx="495300" cy="298450"/>
            <a:chOff x="3499573" y="3850907"/>
            <a:chExt cx="496363" cy="298173"/>
          </a:xfrm>
        </p:grpSpPr>
        <p:sp>
          <p:nvSpPr>
            <p:cNvPr id="808" name="Rectangle 807"/>
            <p:cNvSpPr/>
            <p:nvPr/>
          </p:nvSpPr>
          <p:spPr>
            <a:xfrm>
              <a:off x="3499573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3881391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10" name="Straight Connector 809"/>
            <p:cNvCxnSpPr>
              <a:stCxn id="808" idx="3"/>
              <a:endCxn id="812" idx="1"/>
            </p:cNvCxnSpPr>
            <p:nvPr/>
          </p:nvCxnSpPr>
          <p:spPr>
            <a:xfrm>
              <a:off x="3614118" y="4095155"/>
              <a:ext cx="73182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/>
            <p:cNvCxnSpPr>
              <a:stCxn id="812" idx="3"/>
              <a:endCxn id="809" idx="1"/>
            </p:cNvCxnSpPr>
            <p:nvPr/>
          </p:nvCxnSpPr>
          <p:spPr>
            <a:xfrm>
              <a:off x="3801845" y="4095155"/>
              <a:ext cx="7954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2" name="Rectangle 811"/>
            <p:cNvSpPr/>
            <p:nvPr/>
          </p:nvSpPr>
          <p:spPr>
            <a:xfrm>
              <a:off x="3687300" y="4041230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3499573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3881391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05" name="Straight Connector 804"/>
            <p:cNvCxnSpPr>
              <a:stCxn id="803" idx="3"/>
              <a:endCxn id="807" idx="1"/>
            </p:cNvCxnSpPr>
            <p:nvPr/>
          </p:nvCxnSpPr>
          <p:spPr>
            <a:xfrm>
              <a:off x="3614118" y="3904832"/>
              <a:ext cx="73182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/>
            <p:cNvCxnSpPr>
              <a:stCxn id="807" idx="3"/>
              <a:endCxn id="804" idx="1"/>
            </p:cNvCxnSpPr>
            <p:nvPr/>
          </p:nvCxnSpPr>
          <p:spPr>
            <a:xfrm>
              <a:off x="3801845" y="3904832"/>
              <a:ext cx="7954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7" name="Rectangle 806"/>
            <p:cNvSpPr/>
            <p:nvPr/>
          </p:nvSpPr>
          <p:spPr>
            <a:xfrm>
              <a:off x="3687300" y="3850907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79" name="Table 178"/>
          <p:cNvGraphicFramePr>
            <a:graphicFrameLocks noGrp="1"/>
          </p:cNvGraphicFramePr>
          <p:nvPr/>
        </p:nvGraphicFramePr>
        <p:xfrm>
          <a:off x="1905001" y="4267200"/>
          <a:ext cx="5029201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5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0.996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0.004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0.004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0.873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0.498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0.002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0.497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6571" name="TextBox 179"/>
          <p:cNvSpPr txBox="1">
            <a:spLocks noChangeArrowheads="1"/>
          </p:cNvSpPr>
          <p:nvPr/>
        </p:nvSpPr>
        <p:spPr bwMode="auto">
          <a:xfrm>
            <a:off x="7543801" y="5297489"/>
            <a:ext cx="3571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dirty="0" err="1"/>
              <a:t>a</a:t>
            </a:r>
            <a:r>
              <a:rPr lang="en-GB" altLang="en-US" sz="2400" baseline="-25000" dirty="0" err="1"/>
              <a:t>Q</a:t>
            </a:r>
            <a:r>
              <a:rPr lang="en-GB" altLang="en-US" sz="2400" dirty="0"/>
              <a:t> between founders = 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</a:t>
            </a:r>
            <a:r>
              <a:rPr lang="en-GB" altLang="en-US" b="0" baseline="-25000"/>
              <a:t>Q</a:t>
            </a:r>
            <a:r>
              <a:rPr lang="en-GB" altLang="en-US"/>
              <a:t>: Locus Specific</a:t>
            </a:r>
            <a:r>
              <a:rPr lang="en-GB" altLang="en-US" b="0"/>
              <a:t> </a:t>
            </a:r>
            <a:r>
              <a:rPr lang="en-GB" altLang="en-US"/>
              <a:t>A</a:t>
            </a:r>
            <a:endParaRPr lang="en-GB" altLang="en-US" b="0"/>
          </a:p>
        </p:txBody>
      </p:sp>
      <p:sp>
        <p:nvSpPr>
          <p:cNvPr id="5734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If two individuals have no common ancestor</a:t>
            </a:r>
          </a:p>
          <a:p>
            <a:pPr lvl="1" eaLnBrk="1" hangingPunct="1"/>
            <a:r>
              <a:rPr lang="en-GB" altLang="en-US"/>
              <a:t>a</a:t>
            </a:r>
            <a:r>
              <a:rPr lang="en-GB" altLang="en-US" baseline="-25000"/>
              <a:t>uv</a:t>
            </a:r>
            <a:r>
              <a:rPr lang="en-GB" altLang="en-US"/>
              <a:t> = 0, at all positions</a:t>
            </a:r>
          </a:p>
          <a:p>
            <a:pPr lvl="1" eaLnBrk="1" hangingPunct="1"/>
            <a:r>
              <a:rPr lang="en-GB" altLang="en-US"/>
              <a:t>so if a</a:t>
            </a:r>
            <a:r>
              <a:rPr lang="en-GB" altLang="en-US" baseline="-25000"/>
              <a:t>uv</a:t>
            </a:r>
            <a:r>
              <a:rPr lang="en-GB" altLang="en-US"/>
              <a:t> = 0 in Wright’s </a:t>
            </a:r>
            <a:r>
              <a:rPr lang="en-GB" altLang="en-US" b="1"/>
              <a:t>A</a:t>
            </a:r>
            <a:r>
              <a:rPr lang="en-GB" altLang="en-US"/>
              <a:t>, then also in </a:t>
            </a:r>
            <a:r>
              <a:rPr lang="en-GB" altLang="en-US" b="1"/>
              <a:t>A</a:t>
            </a:r>
            <a:r>
              <a:rPr lang="en-GB" altLang="en-US" baseline="-25000"/>
              <a:t>Q</a:t>
            </a:r>
            <a:endParaRPr lang="en-GB" altLang="en-US"/>
          </a:p>
        </p:txBody>
      </p:sp>
      <p:sp>
        <p:nvSpPr>
          <p:cNvPr id="5734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A0A127F-CE20-40B8-878F-D5B26DEA5AA0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734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</a:t>
            </a:r>
            <a:r>
              <a:rPr lang="en-GB" altLang="en-US" b="0" baseline="-25000"/>
              <a:t>Q</a:t>
            </a:r>
            <a:r>
              <a:rPr lang="en-GB" altLang="en-US"/>
              <a:t>: Locus Specific</a:t>
            </a:r>
            <a:r>
              <a:rPr lang="en-GB" altLang="en-US" b="0"/>
              <a:t> </a:t>
            </a:r>
            <a:r>
              <a:rPr lang="en-GB" altLang="en-US"/>
              <a:t>A</a:t>
            </a:r>
            <a:endParaRPr lang="en-GB" altLang="en-US" b="0"/>
          </a:p>
        </p:txBody>
      </p:sp>
      <p:sp>
        <p:nvSpPr>
          <p:cNvPr id="5837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Parent offspring with parent in base</a:t>
            </a:r>
          </a:p>
          <a:p>
            <a:pPr lvl="1" eaLnBrk="1" hangingPunct="1"/>
            <a:r>
              <a:rPr lang="el-GR" altLang="en-US" dirty="0"/>
              <a:t>φ</a:t>
            </a:r>
            <a:r>
              <a:rPr lang="en-GB" altLang="en-US" baseline="-25000" dirty="0" err="1"/>
              <a:t>uv</a:t>
            </a:r>
            <a:r>
              <a:rPr lang="en-GB" altLang="en-US" baseline="-25000" dirty="0"/>
              <a:t> </a:t>
            </a:r>
            <a:r>
              <a:rPr lang="en-GB" altLang="en-US" dirty="0"/>
              <a:t> = 0.25, </a:t>
            </a:r>
            <a:r>
              <a:rPr lang="en-GB" altLang="en-US" dirty="0" err="1"/>
              <a:t>a</a:t>
            </a:r>
            <a:r>
              <a:rPr lang="en-GB" altLang="en-US" baseline="-25000" dirty="0" err="1"/>
              <a:t>uv</a:t>
            </a:r>
            <a:r>
              <a:rPr lang="en-GB" altLang="en-US" dirty="0"/>
              <a:t> = 2</a:t>
            </a:r>
            <a:r>
              <a:rPr lang="el-GR" altLang="en-US" dirty="0"/>
              <a:t>φ</a:t>
            </a:r>
            <a:r>
              <a:rPr lang="en-GB" altLang="en-US" baseline="-25000" dirty="0" err="1"/>
              <a:t>uv</a:t>
            </a:r>
            <a:r>
              <a:rPr lang="en-GB" altLang="en-US" dirty="0"/>
              <a:t> = 0.5</a:t>
            </a:r>
          </a:p>
          <a:p>
            <a:pPr lvl="1" eaLnBrk="1" hangingPunct="1"/>
            <a:r>
              <a:rPr lang="en-GB" altLang="en-US" dirty="0"/>
              <a:t>For example 1 &amp; 5 …</a:t>
            </a:r>
          </a:p>
          <a:p>
            <a:pPr lvl="1" eaLnBrk="1" hangingPunct="1"/>
            <a:endParaRPr lang="en-GB" altLang="en-US" dirty="0"/>
          </a:p>
          <a:p>
            <a:pPr lvl="2" eaLnBrk="1" hangingPunct="1"/>
            <a:r>
              <a:rPr lang="en-GB" altLang="en-US" dirty="0"/>
              <a:t>need to sample 1’s gamete from 5: 	P = </a:t>
            </a:r>
            <a:r>
              <a:rPr lang="en-GB" altLang="en-US" dirty="0">
                <a:solidFill>
                  <a:srgbClr val="FF0000"/>
                </a:solidFill>
              </a:rPr>
              <a:t>0.50</a:t>
            </a:r>
          </a:p>
          <a:p>
            <a:pPr lvl="2" eaLnBrk="1" hangingPunct="1"/>
            <a:r>
              <a:rPr lang="en-GB" altLang="en-US" dirty="0"/>
              <a:t>need same at 12 </a:t>
            </a:r>
            <a:r>
              <a:rPr lang="en-GB" altLang="en-US" dirty="0" err="1"/>
              <a:t>cM</a:t>
            </a:r>
            <a:r>
              <a:rPr lang="en-GB" altLang="en-US" dirty="0"/>
              <a:t> from 1: 		P = </a:t>
            </a:r>
            <a:r>
              <a:rPr lang="en-GB" altLang="en-US" dirty="0">
                <a:solidFill>
                  <a:srgbClr val="FF0000"/>
                </a:solidFill>
              </a:rPr>
              <a:t>0.50</a:t>
            </a:r>
          </a:p>
          <a:p>
            <a:pPr lvl="2" eaLnBrk="1" hangingPunct="1"/>
            <a:r>
              <a:rPr lang="el-GR" altLang="en-US" dirty="0"/>
              <a:t>φ</a:t>
            </a:r>
            <a:r>
              <a:rPr lang="en-GB" altLang="en-US" baseline="-25000" dirty="0" err="1"/>
              <a:t>uv</a:t>
            </a:r>
            <a:r>
              <a:rPr lang="en-GB" altLang="en-US" baseline="-25000" dirty="0"/>
              <a:t> </a:t>
            </a:r>
            <a:r>
              <a:rPr lang="en-GB" altLang="en-US" dirty="0"/>
              <a:t> = </a:t>
            </a:r>
            <a:r>
              <a:rPr lang="en-GB" altLang="en-US" dirty="0">
                <a:solidFill>
                  <a:srgbClr val="FF0000"/>
                </a:solidFill>
              </a:rPr>
              <a:t>0.5</a:t>
            </a:r>
            <a:r>
              <a:rPr lang="en-GB" altLang="en-US" dirty="0"/>
              <a:t> x </a:t>
            </a:r>
            <a:r>
              <a:rPr lang="en-GB" altLang="en-US" dirty="0">
                <a:solidFill>
                  <a:srgbClr val="FF0000"/>
                </a:solidFill>
              </a:rPr>
              <a:t>0.5</a:t>
            </a:r>
            <a:r>
              <a:rPr lang="en-GB" altLang="en-US" dirty="0"/>
              <a:t> = </a:t>
            </a:r>
            <a:r>
              <a:rPr lang="en-GB" altLang="en-US" dirty="0">
                <a:solidFill>
                  <a:srgbClr val="FF0000"/>
                </a:solidFill>
              </a:rPr>
              <a:t>0.25</a:t>
            </a:r>
          </a:p>
          <a:p>
            <a:pPr lvl="2" eaLnBrk="1" hangingPunct="1"/>
            <a:r>
              <a:rPr lang="en-GB" altLang="en-US" dirty="0" err="1"/>
              <a:t>a</a:t>
            </a:r>
            <a:r>
              <a:rPr lang="en-GB" altLang="en-US" baseline="-25000" dirty="0" err="1"/>
              <a:t>uv</a:t>
            </a:r>
            <a:r>
              <a:rPr lang="en-GB" altLang="en-US" dirty="0"/>
              <a:t>  = 2</a:t>
            </a:r>
            <a:r>
              <a:rPr lang="el-GR" altLang="en-US" dirty="0"/>
              <a:t>φ</a:t>
            </a:r>
            <a:r>
              <a:rPr lang="en-GB" altLang="en-US" baseline="-25000" dirty="0" err="1"/>
              <a:t>uv</a:t>
            </a:r>
            <a:r>
              <a:rPr lang="en-GB" altLang="en-US" dirty="0"/>
              <a:t> = </a:t>
            </a:r>
            <a:r>
              <a:rPr lang="en-GB" altLang="en-US" dirty="0">
                <a:solidFill>
                  <a:schemeClr val="tx1"/>
                </a:solidFill>
              </a:rPr>
              <a:t>0.5</a:t>
            </a:r>
          </a:p>
          <a:p>
            <a:pPr lvl="1" eaLnBrk="1" hangingPunct="1"/>
            <a:r>
              <a:rPr lang="en-GB" altLang="en-US" dirty="0"/>
              <a:t>in this case markers don’t change </a:t>
            </a:r>
            <a:r>
              <a:rPr lang="en-GB" altLang="en-US" dirty="0" err="1"/>
              <a:t>a</a:t>
            </a:r>
            <a:r>
              <a:rPr lang="en-GB" altLang="en-US" baseline="-25000" dirty="0" err="1"/>
              <a:t>uv</a:t>
            </a:r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5837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3730412-C90F-4C3A-9E5E-91C5BD724666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837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6" name="TextBox 509"/>
          <p:cNvSpPr txBox="1">
            <a:spLocks noChangeArrowheads="1"/>
          </p:cNvSpPr>
          <p:nvPr/>
        </p:nvSpPr>
        <p:spPr bwMode="auto">
          <a:xfrm>
            <a:off x="7752184" y="1916832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7" name="Group 271"/>
          <p:cNvGrpSpPr>
            <a:grpSpLocks noChangeAspect="1"/>
          </p:cNvGrpSpPr>
          <p:nvPr/>
        </p:nvGrpSpPr>
        <p:grpSpPr bwMode="auto">
          <a:xfrm>
            <a:off x="7543800" y="2444584"/>
            <a:ext cx="766165" cy="461665"/>
            <a:chOff x="1778423" y="646539"/>
            <a:chExt cx="496363" cy="298173"/>
          </a:xfrm>
        </p:grpSpPr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7" name="Straight Connector 16"/>
              <p:cNvCxnSpPr>
                <a:stCxn id="15" idx="3"/>
                <a:endCxn id="19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>
                <a:stCxn id="19" idx="3"/>
                <a:endCxn id="16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2" name="Straight Connector 11"/>
              <p:cNvCxnSpPr>
                <a:stCxn id="10" idx="3"/>
                <a:endCxn id="14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>
                <a:stCxn id="14" idx="3"/>
                <a:endCxn id="11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0" name="TextBox 513"/>
          <p:cNvSpPr txBox="1">
            <a:spLocks noChangeArrowheads="1"/>
          </p:cNvSpPr>
          <p:nvPr/>
        </p:nvSpPr>
        <p:spPr bwMode="auto">
          <a:xfrm>
            <a:off x="8832304" y="1916832"/>
            <a:ext cx="2470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5</a:t>
            </a:r>
          </a:p>
        </p:txBody>
      </p:sp>
      <p:grpSp>
        <p:nvGrpSpPr>
          <p:cNvPr id="21" name="Group 657"/>
          <p:cNvGrpSpPr>
            <a:grpSpLocks noChangeAspect="1"/>
          </p:cNvGrpSpPr>
          <p:nvPr/>
        </p:nvGrpSpPr>
        <p:grpSpPr bwMode="auto">
          <a:xfrm>
            <a:off x="8625036" y="2444583"/>
            <a:ext cx="764732" cy="460800"/>
            <a:chOff x="547245" y="2204864"/>
            <a:chExt cx="496363" cy="298173"/>
          </a:xfrm>
        </p:grpSpPr>
        <p:grpSp>
          <p:nvGrpSpPr>
            <p:cNvPr id="22" name="Group 656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1" name="Straight Connector 30"/>
              <p:cNvCxnSpPr>
                <a:stCxn id="29" idx="3"/>
                <a:endCxn id="33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>
                <a:stCxn id="33" idx="3"/>
                <a:endCxn id="30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3" name="Group 643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6" name="Straight Connector 25"/>
              <p:cNvCxnSpPr>
                <a:stCxn id="24" idx="3"/>
                <a:endCxn id="28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28" idx="3"/>
                <a:endCxn id="25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/>
          <p:cNvSpPr/>
          <p:nvPr/>
        </p:nvSpPr>
        <p:spPr>
          <a:xfrm>
            <a:off x="2782889" y="117044"/>
            <a:ext cx="7489825" cy="1271587"/>
          </a:xfrm>
          <a:prstGeom prst="rect">
            <a:avLst/>
          </a:prstGeom>
          <a:solidFill>
            <a:srgbClr val="FFFF66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cxnSp>
        <p:nvCxnSpPr>
          <p:cNvPr id="467" name="Straight Arrow Connector 466"/>
          <p:cNvCxnSpPr>
            <a:stCxn id="312" idx="2"/>
            <a:endCxn id="649" idx="0"/>
          </p:cNvCxnSpPr>
          <p:nvPr/>
        </p:nvCxnSpPr>
        <p:spPr>
          <a:xfrm flipH="1">
            <a:off x="2316163" y="926090"/>
            <a:ext cx="1230312" cy="127894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/>
          <p:cNvCxnSpPr>
            <a:stCxn id="312" idx="2"/>
            <a:endCxn id="422" idx="0"/>
          </p:cNvCxnSpPr>
          <p:nvPr/>
        </p:nvCxnSpPr>
        <p:spPr>
          <a:xfrm>
            <a:off x="3546475" y="926090"/>
            <a:ext cx="203200" cy="127894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/>
          <p:cNvCxnSpPr>
            <a:stCxn id="312" idx="2"/>
            <a:endCxn id="680" idx="0"/>
          </p:cNvCxnSpPr>
          <p:nvPr/>
        </p:nvCxnSpPr>
        <p:spPr>
          <a:xfrm>
            <a:off x="3546475" y="926090"/>
            <a:ext cx="1602582" cy="127894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/>
          <p:cNvCxnSpPr>
            <a:stCxn id="312" idx="2"/>
            <a:endCxn id="695" idx="0"/>
          </p:cNvCxnSpPr>
          <p:nvPr/>
        </p:nvCxnSpPr>
        <p:spPr>
          <a:xfrm>
            <a:off x="3546475" y="926090"/>
            <a:ext cx="3018632" cy="127894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/>
          <p:cNvCxnSpPr>
            <a:stCxn id="377" idx="2"/>
            <a:endCxn id="649" idx="0"/>
          </p:cNvCxnSpPr>
          <p:nvPr/>
        </p:nvCxnSpPr>
        <p:spPr>
          <a:xfrm flipH="1">
            <a:off x="2316164" y="944564"/>
            <a:ext cx="26638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/>
          <p:cNvCxnSpPr>
            <a:stCxn id="377" idx="2"/>
            <a:endCxn id="666" idx="0"/>
          </p:cNvCxnSpPr>
          <p:nvPr/>
        </p:nvCxnSpPr>
        <p:spPr>
          <a:xfrm flipH="1">
            <a:off x="3732214" y="944564"/>
            <a:ext cx="12477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/>
          <p:cNvCxnSpPr>
            <a:stCxn id="377" idx="2"/>
            <a:endCxn id="680" idx="0"/>
          </p:cNvCxnSpPr>
          <p:nvPr/>
        </p:nvCxnSpPr>
        <p:spPr>
          <a:xfrm>
            <a:off x="4979989" y="944564"/>
            <a:ext cx="1682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/>
          <p:cNvCxnSpPr>
            <a:stCxn id="377" idx="2"/>
            <a:endCxn id="695" idx="0"/>
          </p:cNvCxnSpPr>
          <p:nvPr/>
        </p:nvCxnSpPr>
        <p:spPr>
          <a:xfrm>
            <a:off x="4979989" y="944564"/>
            <a:ext cx="15843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/>
          <p:cNvCxnSpPr>
            <a:stCxn id="390" idx="2"/>
            <a:endCxn id="770" idx="0"/>
          </p:cNvCxnSpPr>
          <p:nvPr/>
        </p:nvCxnSpPr>
        <p:spPr>
          <a:xfrm>
            <a:off x="8140700" y="944564"/>
            <a:ext cx="14478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496"/>
          <p:cNvCxnSpPr>
            <a:stCxn id="406" idx="2"/>
            <a:endCxn id="533" idx="0"/>
          </p:cNvCxnSpPr>
          <p:nvPr/>
        </p:nvCxnSpPr>
        <p:spPr>
          <a:xfrm flipH="1">
            <a:off x="9582150" y="944564"/>
            <a:ext cx="635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/>
          <p:cNvCxnSpPr>
            <a:stCxn id="390" idx="2"/>
            <a:endCxn id="517" idx="0"/>
          </p:cNvCxnSpPr>
          <p:nvPr/>
        </p:nvCxnSpPr>
        <p:spPr>
          <a:xfrm>
            <a:off x="8140700" y="944564"/>
            <a:ext cx="15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/>
          <p:cNvCxnSpPr>
            <a:stCxn id="406" idx="2"/>
            <a:endCxn id="517" idx="0"/>
          </p:cNvCxnSpPr>
          <p:nvPr/>
        </p:nvCxnSpPr>
        <p:spPr>
          <a:xfrm flipH="1">
            <a:off x="8142288" y="944564"/>
            <a:ext cx="14462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/>
          <p:cNvCxnSpPr>
            <a:stCxn id="671" idx="2"/>
            <a:endCxn id="59420" idx="2"/>
          </p:cNvCxnSpPr>
          <p:nvPr/>
        </p:nvCxnSpPr>
        <p:spPr>
          <a:xfrm>
            <a:off x="3732213" y="2503488"/>
            <a:ext cx="1569919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/>
          <p:cNvCxnSpPr>
            <a:stCxn id="685" idx="2"/>
            <a:endCxn id="799" idx="0"/>
          </p:cNvCxnSpPr>
          <p:nvPr/>
        </p:nvCxnSpPr>
        <p:spPr>
          <a:xfrm>
            <a:off x="5148263" y="2503488"/>
            <a:ext cx="1566862" cy="1357312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/>
          <p:cNvCxnSpPr>
            <a:endCxn id="799" idx="0"/>
          </p:cNvCxnSpPr>
          <p:nvPr/>
        </p:nvCxnSpPr>
        <p:spPr>
          <a:xfrm flipH="1">
            <a:off x="6715126" y="2503488"/>
            <a:ext cx="2874963" cy="1357312"/>
          </a:xfrm>
          <a:prstGeom prst="straightConnector1">
            <a:avLst/>
          </a:prstGeom>
          <a:ln w="952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/>
          <p:cNvCxnSpPr>
            <a:stCxn id="762" idx="2"/>
            <a:endCxn id="59420" idx="2"/>
          </p:cNvCxnSpPr>
          <p:nvPr/>
        </p:nvCxnSpPr>
        <p:spPr>
          <a:xfrm flipH="1">
            <a:off x="5302132" y="2503488"/>
            <a:ext cx="2846506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11" name="TextBox 509"/>
          <p:cNvSpPr txBox="1">
            <a:spLocks noChangeArrowheads="1"/>
          </p:cNvSpPr>
          <p:nvPr/>
        </p:nvSpPr>
        <p:spPr bwMode="auto">
          <a:xfrm>
            <a:off x="3417889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9412" name="TextBox 511"/>
          <p:cNvSpPr txBox="1">
            <a:spLocks noChangeArrowheads="1"/>
          </p:cNvSpPr>
          <p:nvPr/>
        </p:nvSpPr>
        <p:spPr bwMode="auto">
          <a:xfrm>
            <a:off x="80041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9413" name="TextBox 512"/>
          <p:cNvSpPr txBox="1">
            <a:spLocks noChangeArrowheads="1"/>
          </p:cNvSpPr>
          <p:nvPr/>
        </p:nvSpPr>
        <p:spPr bwMode="auto">
          <a:xfrm>
            <a:off x="94519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9414" name="TextBox 513"/>
          <p:cNvSpPr txBox="1">
            <a:spLocks noChangeArrowheads="1"/>
          </p:cNvSpPr>
          <p:nvPr/>
        </p:nvSpPr>
        <p:spPr bwMode="auto">
          <a:xfrm>
            <a:off x="22129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9415" name="TextBox 514"/>
          <p:cNvSpPr txBox="1">
            <a:spLocks noChangeArrowheads="1"/>
          </p:cNvSpPr>
          <p:nvPr/>
        </p:nvSpPr>
        <p:spPr bwMode="auto">
          <a:xfrm>
            <a:off x="36226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9416" name="TextBox 515"/>
          <p:cNvSpPr txBox="1">
            <a:spLocks noChangeArrowheads="1"/>
          </p:cNvSpPr>
          <p:nvPr/>
        </p:nvSpPr>
        <p:spPr bwMode="auto">
          <a:xfrm>
            <a:off x="50323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59417" name="TextBox 517"/>
          <p:cNvSpPr txBox="1">
            <a:spLocks noChangeArrowheads="1"/>
          </p:cNvSpPr>
          <p:nvPr/>
        </p:nvSpPr>
        <p:spPr bwMode="auto">
          <a:xfrm>
            <a:off x="6443664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59418" name="TextBox 518"/>
          <p:cNvSpPr txBox="1">
            <a:spLocks noChangeArrowheads="1"/>
          </p:cNvSpPr>
          <p:nvPr/>
        </p:nvSpPr>
        <p:spPr bwMode="auto">
          <a:xfrm>
            <a:off x="8026401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59419" name="TextBox 519"/>
          <p:cNvSpPr txBox="1">
            <a:spLocks noChangeArrowheads="1"/>
          </p:cNvSpPr>
          <p:nvPr/>
        </p:nvSpPr>
        <p:spPr bwMode="auto">
          <a:xfrm>
            <a:off x="9336088" y="18446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9420" name="TextBox 520"/>
          <p:cNvSpPr txBox="1">
            <a:spLocks noChangeArrowheads="1"/>
          </p:cNvSpPr>
          <p:nvPr/>
        </p:nvSpPr>
        <p:spPr bwMode="auto">
          <a:xfrm>
            <a:off x="5087938" y="3516314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9421" name="TextBox 521"/>
          <p:cNvSpPr txBox="1">
            <a:spLocks noChangeArrowheads="1"/>
          </p:cNvSpPr>
          <p:nvPr/>
        </p:nvSpPr>
        <p:spPr bwMode="auto">
          <a:xfrm>
            <a:off x="6477000" y="3505200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59422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13DE3E-7AF2-4865-AAAC-E9311348F598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5942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pSp>
        <p:nvGrpSpPr>
          <p:cNvPr id="59424" name="Group 271"/>
          <p:cNvGrpSpPr>
            <a:grpSpLocks/>
          </p:cNvGrpSpPr>
          <p:nvPr/>
        </p:nvGrpSpPr>
        <p:grpSpPr bwMode="auto">
          <a:xfrm>
            <a:off x="3302000" y="627640"/>
            <a:ext cx="495300" cy="298450"/>
            <a:chOff x="1778423" y="646539"/>
            <a:chExt cx="496363" cy="298173"/>
          </a:xfrm>
        </p:grpSpPr>
        <p:grpSp>
          <p:nvGrpSpPr>
            <p:cNvPr id="59758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297" name="Rectangle 296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99" name="Straight Connector 298"/>
              <p:cNvCxnSpPr>
                <a:stCxn id="297" idx="3"/>
                <a:endCxn id="312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>
                <a:stCxn id="312" idx="3"/>
                <a:endCxn id="298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Rectangle 311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9759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336" name="Rectangle 335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38" name="Straight Connector 337"/>
              <p:cNvCxnSpPr>
                <a:stCxn id="336" idx="3"/>
                <a:endCxn id="340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>
                <a:stCxn id="340" idx="3"/>
                <a:endCxn id="337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Rectangle 339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9425" name="Group 280"/>
          <p:cNvGrpSpPr>
            <a:grpSpLocks/>
          </p:cNvGrpSpPr>
          <p:nvPr/>
        </p:nvGrpSpPr>
        <p:grpSpPr bwMode="auto">
          <a:xfrm>
            <a:off x="4735514" y="646113"/>
            <a:ext cx="496887" cy="298450"/>
            <a:chOff x="2492571" y="626400"/>
            <a:chExt cx="496363" cy="299041"/>
          </a:xfrm>
        </p:grpSpPr>
        <p:grpSp>
          <p:nvGrpSpPr>
            <p:cNvPr id="59746" name="Group 276"/>
            <p:cNvGrpSpPr>
              <a:grpSpLocks/>
            </p:cNvGrpSpPr>
            <p:nvPr/>
          </p:nvGrpSpPr>
          <p:grpSpPr bwMode="auto">
            <a:xfrm>
              <a:off x="2492571" y="626400"/>
              <a:ext cx="496363" cy="108000"/>
              <a:chOff x="4435677" y="602215"/>
              <a:chExt cx="496363" cy="108000"/>
            </a:xfrm>
          </p:grpSpPr>
          <p:sp>
            <p:nvSpPr>
              <p:cNvPr id="378" name="Rectangle 377"/>
              <p:cNvSpPr/>
              <p:nvPr/>
            </p:nvSpPr>
            <p:spPr>
              <a:xfrm>
                <a:off x="4435677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4817861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0" name="Straight Connector 379"/>
              <p:cNvCxnSpPr>
                <a:stCxn id="378" idx="3"/>
                <a:endCxn id="382" idx="1"/>
              </p:cNvCxnSpPr>
              <p:nvPr/>
            </p:nvCxnSpPr>
            <p:spPr>
              <a:xfrm>
                <a:off x="4549856" y="656297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>
                <a:stCxn id="382" idx="3"/>
                <a:endCxn id="379" idx="1"/>
              </p:cNvCxnSpPr>
              <p:nvPr/>
            </p:nvCxnSpPr>
            <p:spPr>
              <a:xfrm>
                <a:off x="4738569" y="656297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Rectangle 381"/>
              <p:cNvSpPr/>
              <p:nvPr/>
            </p:nvSpPr>
            <p:spPr>
              <a:xfrm>
                <a:off x="4622804" y="602215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9747" name="Group 277"/>
            <p:cNvGrpSpPr>
              <a:grpSpLocks/>
            </p:cNvGrpSpPr>
            <p:nvPr/>
          </p:nvGrpSpPr>
          <p:grpSpPr bwMode="auto">
            <a:xfrm>
              <a:off x="2492571" y="817441"/>
              <a:ext cx="496363" cy="108000"/>
              <a:chOff x="4435677" y="856701"/>
              <a:chExt cx="496363" cy="108000"/>
            </a:xfrm>
          </p:grpSpPr>
          <p:sp>
            <p:nvSpPr>
              <p:cNvPr id="362" name="Rectangle 361"/>
              <p:cNvSpPr/>
              <p:nvPr/>
            </p:nvSpPr>
            <p:spPr>
              <a:xfrm>
                <a:off x="4435677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4817861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75" name="Straight Connector 374"/>
              <p:cNvCxnSpPr>
                <a:stCxn id="362" idx="3"/>
                <a:endCxn id="377" idx="1"/>
              </p:cNvCxnSpPr>
              <p:nvPr/>
            </p:nvCxnSpPr>
            <p:spPr>
              <a:xfrm>
                <a:off x="4549856" y="910619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>
                <a:stCxn id="377" idx="3"/>
                <a:endCxn id="374" idx="1"/>
              </p:cNvCxnSpPr>
              <p:nvPr/>
            </p:nvCxnSpPr>
            <p:spPr>
              <a:xfrm>
                <a:off x="4738569" y="910619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/>
              <p:cNvSpPr/>
              <p:nvPr/>
            </p:nvSpPr>
            <p:spPr>
              <a:xfrm>
                <a:off x="4622804" y="856538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9426" name="Group 634"/>
          <p:cNvGrpSpPr>
            <a:grpSpLocks/>
          </p:cNvGrpSpPr>
          <p:nvPr/>
        </p:nvGrpSpPr>
        <p:grpSpPr bwMode="auto">
          <a:xfrm>
            <a:off x="7896225" y="646113"/>
            <a:ext cx="496888" cy="298450"/>
            <a:chOff x="4461016" y="615183"/>
            <a:chExt cx="496363" cy="299041"/>
          </a:xfrm>
        </p:grpSpPr>
        <p:grpSp>
          <p:nvGrpSpPr>
            <p:cNvPr id="59734" name="Group 633"/>
            <p:cNvGrpSpPr>
              <a:grpSpLocks/>
            </p:cNvGrpSpPr>
            <p:nvPr/>
          </p:nvGrpSpPr>
          <p:grpSpPr bwMode="auto">
            <a:xfrm>
              <a:off x="4461016" y="615183"/>
              <a:ext cx="496363" cy="108000"/>
              <a:chOff x="4461016" y="615183"/>
              <a:chExt cx="496363" cy="108000"/>
            </a:xfrm>
          </p:grpSpPr>
          <p:sp>
            <p:nvSpPr>
              <p:cNvPr id="391" name="Rectangle 390"/>
              <p:cNvSpPr/>
              <p:nvPr/>
            </p:nvSpPr>
            <p:spPr>
              <a:xfrm>
                <a:off x="4461016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Rectangle 394"/>
              <p:cNvSpPr/>
              <p:nvPr/>
            </p:nvSpPr>
            <p:spPr>
              <a:xfrm>
                <a:off x="4843200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96" name="Straight Connector 395"/>
              <p:cNvCxnSpPr>
                <a:stCxn id="391" idx="3"/>
                <a:endCxn id="398" idx="1"/>
              </p:cNvCxnSpPr>
              <p:nvPr/>
            </p:nvCxnSpPr>
            <p:spPr>
              <a:xfrm>
                <a:off x="4575195" y="669265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/>
              <p:cNvCxnSpPr>
                <a:stCxn id="398" idx="3"/>
                <a:endCxn id="395" idx="1"/>
              </p:cNvCxnSpPr>
              <p:nvPr/>
            </p:nvCxnSpPr>
            <p:spPr>
              <a:xfrm>
                <a:off x="4763909" y="669265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Rectangle 397"/>
              <p:cNvSpPr/>
              <p:nvPr/>
            </p:nvSpPr>
            <p:spPr>
              <a:xfrm>
                <a:off x="4648143" y="615183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9735" name="Group 632"/>
            <p:cNvGrpSpPr>
              <a:grpSpLocks/>
            </p:cNvGrpSpPr>
            <p:nvPr/>
          </p:nvGrpSpPr>
          <p:grpSpPr bwMode="auto">
            <a:xfrm>
              <a:off x="4461016" y="806224"/>
              <a:ext cx="496363" cy="108000"/>
              <a:chOff x="4461016" y="806224"/>
              <a:chExt cx="496363" cy="108000"/>
            </a:xfrm>
          </p:grpSpPr>
          <p:sp>
            <p:nvSpPr>
              <p:cNvPr id="386" name="Rectangle 385"/>
              <p:cNvSpPr/>
              <p:nvPr/>
            </p:nvSpPr>
            <p:spPr>
              <a:xfrm>
                <a:off x="4461016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Rectangle 386"/>
              <p:cNvSpPr/>
              <p:nvPr/>
            </p:nvSpPr>
            <p:spPr>
              <a:xfrm>
                <a:off x="4843200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8" name="Straight Connector 387"/>
              <p:cNvCxnSpPr>
                <a:stCxn id="386" idx="3"/>
                <a:endCxn id="390" idx="1"/>
              </p:cNvCxnSpPr>
              <p:nvPr/>
            </p:nvCxnSpPr>
            <p:spPr>
              <a:xfrm>
                <a:off x="4575195" y="860142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/>
              <p:cNvCxnSpPr>
                <a:stCxn id="390" idx="3"/>
                <a:endCxn id="387" idx="1"/>
              </p:cNvCxnSpPr>
              <p:nvPr/>
            </p:nvCxnSpPr>
            <p:spPr>
              <a:xfrm>
                <a:off x="4763909" y="860142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/>
              <p:cNvSpPr/>
              <p:nvPr/>
            </p:nvSpPr>
            <p:spPr>
              <a:xfrm>
                <a:off x="4648143" y="806061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9427" name="Group 630"/>
          <p:cNvGrpSpPr>
            <a:grpSpLocks/>
          </p:cNvGrpSpPr>
          <p:nvPr/>
        </p:nvGrpSpPr>
        <p:grpSpPr bwMode="auto">
          <a:xfrm>
            <a:off x="9344025" y="646113"/>
            <a:ext cx="496888" cy="298450"/>
            <a:chOff x="5392726" y="627663"/>
            <a:chExt cx="496363" cy="299041"/>
          </a:xfrm>
        </p:grpSpPr>
        <p:sp>
          <p:nvSpPr>
            <p:cNvPr id="407" name="Rectangle 406"/>
            <p:cNvSpPr/>
            <p:nvPr/>
          </p:nvSpPr>
          <p:spPr>
            <a:xfrm>
              <a:off x="5392726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5774910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9" name="Straight Connector 408"/>
            <p:cNvCxnSpPr>
              <a:stCxn id="407" idx="3"/>
              <a:endCxn id="411" idx="1"/>
            </p:cNvCxnSpPr>
            <p:nvPr/>
          </p:nvCxnSpPr>
          <p:spPr>
            <a:xfrm>
              <a:off x="5506905" y="681745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>
              <a:stCxn id="411" idx="3"/>
              <a:endCxn id="408" idx="1"/>
            </p:cNvCxnSpPr>
            <p:nvPr/>
          </p:nvCxnSpPr>
          <p:spPr>
            <a:xfrm>
              <a:off x="5695619" y="681745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ectangle 410"/>
            <p:cNvSpPr/>
            <p:nvPr/>
          </p:nvSpPr>
          <p:spPr>
            <a:xfrm>
              <a:off x="5579853" y="627663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392726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74910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4" name="Straight Connector 403"/>
            <p:cNvCxnSpPr>
              <a:stCxn id="402" idx="3"/>
              <a:endCxn id="406" idx="1"/>
            </p:cNvCxnSpPr>
            <p:nvPr/>
          </p:nvCxnSpPr>
          <p:spPr>
            <a:xfrm>
              <a:off x="5506905" y="872622"/>
              <a:ext cx="72948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>
              <a:stCxn id="406" idx="3"/>
              <a:endCxn id="403" idx="1"/>
            </p:cNvCxnSpPr>
            <p:nvPr/>
          </p:nvCxnSpPr>
          <p:spPr>
            <a:xfrm>
              <a:off x="5695619" y="872622"/>
              <a:ext cx="79291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Rectangle 405"/>
            <p:cNvSpPr/>
            <p:nvPr/>
          </p:nvSpPr>
          <p:spPr>
            <a:xfrm>
              <a:off x="5579853" y="818540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59428" name="TextBox 636"/>
          <p:cNvSpPr txBox="1">
            <a:spLocks noChangeArrowheads="1"/>
          </p:cNvSpPr>
          <p:nvPr/>
        </p:nvSpPr>
        <p:spPr bwMode="auto">
          <a:xfrm>
            <a:off x="4857751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59429" name="Group 657"/>
          <p:cNvGrpSpPr>
            <a:grpSpLocks/>
          </p:cNvGrpSpPr>
          <p:nvPr/>
        </p:nvGrpSpPr>
        <p:grpSpPr bwMode="auto">
          <a:xfrm>
            <a:off x="2071688" y="2205038"/>
            <a:ext cx="495300" cy="298450"/>
            <a:chOff x="547245" y="2204864"/>
            <a:chExt cx="496363" cy="298173"/>
          </a:xfrm>
        </p:grpSpPr>
        <p:grpSp>
          <p:nvGrpSpPr>
            <p:cNvPr id="59712" name="Group 656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50" name="Rectangle 649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51" name="Rectangle 650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2" name="Straight Connector 651"/>
              <p:cNvCxnSpPr>
                <a:stCxn id="650" idx="3"/>
                <a:endCxn id="654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>
                <a:stCxn id="654" idx="3"/>
                <a:endCxn id="651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4" name="Rectangle 653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9713" name="Group 643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45" name="Rectangle 644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46" name="Rectangle 645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47" name="Straight Connector 646"/>
              <p:cNvCxnSpPr>
                <a:stCxn id="645" idx="3"/>
                <a:endCxn id="649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>
                <a:stCxn id="649" idx="3"/>
                <a:endCxn id="646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9" name="Rectangle 648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9430" name="Group 658"/>
          <p:cNvGrpSpPr>
            <a:grpSpLocks/>
          </p:cNvGrpSpPr>
          <p:nvPr/>
        </p:nvGrpSpPr>
        <p:grpSpPr bwMode="auto">
          <a:xfrm>
            <a:off x="3487738" y="2205038"/>
            <a:ext cx="495300" cy="298450"/>
            <a:chOff x="547245" y="2204864"/>
            <a:chExt cx="496363" cy="298173"/>
          </a:xfrm>
        </p:grpSpPr>
        <p:grpSp>
          <p:nvGrpSpPr>
            <p:cNvPr id="59700" name="Group 659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67" name="Rectangle 666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8" name="Rectangle 667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9" name="Straight Connector 668"/>
              <p:cNvCxnSpPr>
                <a:stCxn id="667" idx="3"/>
                <a:endCxn id="671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Straight Connector 669"/>
              <p:cNvCxnSpPr>
                <a:stCxn id="671" idx="3"/>
                <a:endCxn id="668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1" name="Rectangle 670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9701" name="Group 660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62" name="Rectangle 661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3" name="Rectangle 662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4" name="Straight Connector 663"/>
              <p:cNvCxnSpPr>
                <a:stCxn id="662" idx="3"/>
                <a:endCxn id="666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Straight Connector 664"/>
              <p:cNvCxnSpPr>
                <a:stCxn id="666" idx="3"/>
                <a:endCxn id="663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6" name="Rectangle 665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9431" name="Group 685"/>
          <p:cNvGrpSpPr>
            <a:grpSpLocks/>
          </p:cNvGrpSpPr>
          <p:nvPr/>
        </p:nvGrpSpPr>
        <p:grpSpPr bwMode="auto">
          <a:xfrm>
            <a:off x="4903789" y="2205038"/>
            <a:ext cx="496887" cy="298450"/>
            <a:chOff x="3347864" y="2204864"/>
            <a:chExt cx="496363" cy="298173"/>
          </a:xfrm>
        </p:grpSpPr>
        <p:grpSp>
          <p:nvGrpSpPr>
            <p:cNvPr id="59689" name="Group 673"/>
            <p:cNvGrpSpPr>
              <a:grpSpLocks/>
            </p:cNvGrpSpPr>
            <p:nvPr/>
          </p:nvGrpSpPr>
          <p:grpSpPr bwMode="auto">
            <a:xfrm>
              <a:off x="3347864" y="2395037"/>
              <a:ext cx="496363" cy="108000"/>
              <a:chOff x="547245" y="2395037"/>
              <a:chExt cx="496363" cy="108000"/>
            </a:xfrm>
          </p:grpSpPr>
          <p:sp>
            <p:nvSpPr>
              <p:cNvPr id="681" name="Rectangle 680"/>
              <p:cNvSpPr/>
              <p:nvPr/>
            </p:nvSpPr>
            <p:spPr>
              <a:xfrm>
                <a:off x="547245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82" name="Rectangle 681"/>
              <p:cNvSpPr/>
              <p:nvPr/>
            </p:nvSpPr>
            <p:spPr>
              <a:xfrm>
                <a:off x="929429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83" name="Straight Connector 682"/>
              <p:cNvCxnSpPr>
                <a:stCxn id="681" idx="3"/>
                <a:endCxn id="685" idx="1"/>
              </p:cNvCxnSpPr>
              <p:nvPr/>
            </p:nvCxnSpPr>
            <p:spPr>
              <a:xfrm>
                <a:off x="661424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Straight Connector 683"/>
              <p:cNvCxnSpPr>
                <a:stCxn id="685" idx="3"/>
                <a:endCxn id="682" idx="1"/>
              </p:cNvCxnSpPr>
              <p:nvPr/>
            </p:nvCxnSpPr>
            <p:spPr>
              <a:xfrm>
                <a:off x="850137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5" name="Rectangle 684"/>
              <p:cNvSpPr/>
              <p:nvPr/>
            </p:nvSpPr>
            <p:spPr>
              <a:xfrm>
                <a:off x="734372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76" name="Rectangle 675"/>
            <p:cNvSpPr/>
            <p:nvPr/>
          </p:nvSpPr>
          <p:spPr>
            <a:xfrm>
              <a:off x="3347864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677" name="Rectangle 676"/>
            <p:cNvSpPr/>
            <p:nvPr/>
          </p:nvSpPr>
          <p:spPr>
            <a:xfrm>
              <a:off x="3730048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678" name="Straight Connector 677"/>
            <p:cNvCxnSpPr>
              <a:stCxn id="676" idx="3"/>
              <a:endCxn id="680" idx="1"/>
            </p:cNvCxnSpPr>
            <p:nvPr/>
          </p:nvCxnSpPr>
          <p:spPr>
            <a:xfrm>
              <a:off x="3462043" y="2258789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/>
            <p:cNvCxnSpPr>
              <a:stCxn id="680" idx="3"/>
              <a:endCxn id="677" idx="1"/>
            </p:cNvCxnSpPr>
            <p:nvPr/>
          </p:nvCxnSpPr>
          <p:spPr>
            <a:xfrm>
              <a:off x="3650756" y="2258789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0" name="Rectangle 679"/>
            <p:cNvSpPr/>
            <p:nvPr/>
          </p:nvSpPr>
          <p:spPr>
            <a:xfrm>
              <a:off x="3534991" y="2204864"/>
              <a:ext cx="11576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9432" name="Group 705"/>
          <p:cNvGrpSpPr>
            <a:grpSpLocks/>
          </p:cNvGrpSpPr>
          <p:nvPr/>
        </p:nvGrpSpPr>
        <p:grpSpPr bwMode="auto">
          <a:xfrm>
            <a:off x="6319839" y="2205038"/>
            <a:ext cx="496887" cy="298450"/>
            <a:chOff x="4003628" y="2204864"/>
            <a:chExt cx="496364" cy="298173"/>
          </a:xfrm>
        </p:grpSpPr>
        <p:grpSp>
          <p:nvGrpSpPr>
            <p:cNvPr id="59677" name="Group 703"/>
            <p:cNvGrpSpPr>
              <a:grpSpLocks/>
            </p:cNvGrpSpPr>
            <p:nvPr/>
          </p:nvGrpSpPr>
          <p:grpSpPr bwMode="auto">
            <a:xfrm>
              <a:off x="4003628" y="2394908"/>
              <a:ext cx="496364" cy="108129"/>
              <a:chOff x="4003628" y="2394908"/>
              <a:chExt cx="496364" cy="108129"/>
            </a:xfrm>
          </p:grpSpPr>
          <p:sp>
            <p:nvSpPr>
              <p:cNvPr id="696" name="Rectangle 695"/>
              <p:cNvSpPr/>
              <p:nvPr/>
            </p:nvSpPr>
            <p:spPr>
              <a:xfrm>
                <a:off x="4003628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7" name="Rectangle 696"/>
              <p:cNvSpPr/>
              <p:nvPr/>
            </p:nvSpPr>
            <p:spPr>
              <a:xfrm>
                <a:off x="4385812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8" name="Straight Connector 697"/>
              <p:cNvCxnSpPr>
                <a:stCxn id="696" idx="3"/>
                <a:endCxn id="700" idx="1"/>
              </p:cNvCxnSpPr>
              <p:nvPr/>
            </p:nvCxnSpPr>
            <p:spPr>
              <a:xfrm>
                <a:off x="4117808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Straight Connector 698"/>
              <p:cNvCxnSpPr>
                <a:stCxn id="700" idx="3"/>
                <a:endCxn id="697" idx="1"/>
              </p:cNvCxnSpPr>
              <p:nvPr/>
            </p:nvCxnSpPr>
            <p:spPr>
              <a:xfrm>
                <a:off x="4306521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Rectangle 699"/>
              <p:cNvSpPr/>
              <p:nvPr/>
            </p:nvSpPr>
            <p:spPr>
              <a:xfrm>
                <a:off x="4190756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9678" name="Group 704"/>
            <p:cNvGrpSpPr>
              <a:grpSpLocks/>
            </p:cNvGrpSpPr>
            <p:nvPr/>
          </p:nvGrpSpPr>
          <p:grpSpPr bwMode="auto">
            <a:xfrm>
              <a:off x="4003629" y="2204864"/>
              <a:ext cx="496363" cy="108000"/>
              <a:chOff x="4003629" y="2204864"/>
              <a:chExt cx="496363" cy="108000"/>
            </a:xfrm>
          </p:grpSpPr>
          <p:sp>
            <p:nvSpPr>
              <p:cNvPr id="691" name="Rectangle 690"/>
              <p:cNvSpPr/>
              <p:nvPr/>
            </p:nvSpPr>
            <p:spPr>
              <a:xfrm>
                <a:off x="4003628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2" name="Rectangle 691"/>
              <p:cNvSpPr/>
              <p:nvPr/>
            </p:nvSpPr>
            <p:spPr>
              <a:xfrm>
                <a:off x="4385812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3" name="Straight Connector 692"/>
              <p:cNvCxnSpPr>
                <a:stCxn id="691" idx="3"/>
                <a:endCxn id="695" idx="1"/>
              </p:cNvCxnSpPr>
              <p:nvPr/>
            </p:nvCxnSpPr>
            <p:spPr>
              <a:xfrm>
                <a:off x="4117808" y="2258789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/>
              <p:cNvCxnSpPr>
                <a:stCxn id="695" idx="3"/>
                <a:endCxn id="692" idx="1"/>
              </p:cNvCxnSpPr>
              <p:nvPr/>
            </p:nvCxnSpPr>
            <p:spPr>
              <a:xfrm>
                <a:off x="4306521" y="2258789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5" name="Rectangle 694"/>
              <p:cNvSpPr/>
              <p:nvPr/>
            </p:nvSpPr>
            <p:spPr>
              <a:xfrm>
                <a:off x="4190756" y="2204864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9433" name="Group 4"/>
          <p:cNvGrpSpPr>
            <a:grpSpLocks/>
          </p:cNvGrpSpPr>
          <p:nvPr/>
        </p:nvGrpSpPr>
        <p:grpSpPr bwMode="auto">
          <a:xfrm>
            <a:off x="7904163" y="2205038"/>
            <a:ext cx="495300" cy="298450"/>
            <a:chOff x="6379892" y="2204864"/>
            <a:chExt cx="496364" cy="298173"/>
          </a:xfrm>
        </p:grpSpPr>
        <p:sp>
          <p:nvSpPr>
            <p:cNvPr id="758" name="Rectangle 757"/>
            <p:cNvSpPr/>
            <p:nvPr/>
          </p:nvSpPr>
          <p:spPr>
            <a:xfrm>
              <a:off x="6379892" y="2395187"/>
              <a:ext cx="114546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761710" y="2395187"/>
              <a:ext cx="114546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60" name="Straight Connector 759"/>
            <p:cNvCxnSpPr>
              <a:stCxn id="758" idx="3"/>
              <a:endCxn id="762" idx="1"/>
            </p:cNvCxnSpPr>
            <p:nvPr/>
          </p:nvCxnSpPr>
          <p:spPr>
            <a:xfrm>
              <a:off x="6494438" y="2449112"/>
              <a:ext cx="73182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760"/>
            <p:cNvCxnSpPr>
              <a:stCxn id="762" idx="3"/>
              <a:endCxn id="759" idx="1"/>
            </p:cNvCxnSpPr>
            <p:nvPr/>
          </p:nvCxnSpPr>
          <p:spPr>
            <a:xfrm>
              <a:off x="6682165" y="2449112"/>
              <a:ext cx="79546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2" name="Rectangle 761"/>
            <p:cNvSpPr/>
            <p:nvPr/>
          </p:nvSpPr>
          <p:spPr>
            <a:xfrm>
              <a:off x="6567619" y="2395187"/>
              <a:ext cx="114546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6379892" y="2204864"/>
              <a:ext cx="114546" cy="10785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6761710" y="2204864"/>
              <a:ext cx="114546" cy="10785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55" name="Straight Connector 754"/>
            <p:cNvCxnSpPr>
              <a:stCxn id="753" idx="3"/>
              <a:endCxn id="757" idx="1"/>
            </p:cNvCxnSpPr>
            <p:nvPr/>
          </p:nvCxnSpPr>
          <p:spPr>
            <a:xfrm>
              <a:off x="6494438" y="2258789"/>
              <a:ext cx="73182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755"/>
            <p:cNvCxnSpPr>
              <a:stCxn id="757" idx="3"/>
              <a:endCxn id="754" idx="1"/>
            </p:cNvCxnSpPr>
            <p:nvPr/>
          </p:nvCxnSpPr>
          <p:spPr>
            <a:xfrm>
              <a:off x="6682165" y="2258789"/>
              <a:ext cx="79546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7" name="Rectangle 756"/>
            <p:cNvSpPr/>
            <p:nvPr/>
          </p:nvSpPr>
          <p:spPr>
            <a:xfrm>
              <a:off x="6567619" y="2204864"/>
              <a:ext cx="114546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9434" name="Group 786"/>
          <p:cNvGrpSpPr>
            <a:grpSpLocks/>
          </p:cNvGrpSpPr>
          <p:nvPr/>
        </p:nvGrpSpPr>
        <p:grpSpPr bwMode="auto">
          <a:xfrm>
            <a:off x="9344026" y="2205039"/>
            <a:ext cx="849313" cy="784225"/>
            <a:chOff x="7820052" y="2204864"/>
            <a:chExt cx="849731" cy="784280"/>
          </a:xfrm>
        </p:grpSpPr>
        <p:sp>
          <p:nvSpPr>
            <p:cNvPr id="2" name="Lightning Bolt 1"/>
            <p:cNvSpPr>
              <a:spLocks noChangeAspect="1"/>
            </p:cNvSpPr>
            <p:nvPr/>
          </p:nvSpPr>
          <p:spPr>
            <a:xfrm flipH="1" flipV="1">
              <a:off x="8212358" y="2531912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7820052" y="2395377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8201240" y="2395377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73" name="Straight Connector 772"/>
            <p:cNvCxnSpPr>
              <a:stCxn id="771" idx="3"/>
              <a:endCxn id="775" idx="1"/>
            </p:cNvCxnSpPr>
            <p:nvPr/>
          </p:nvCxnSpPr>
          <p:spPr>
            <a:xfrm>
              <a:off x="7934408" y="2449356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773"/>
            <p:cNvCxnSpPr>
              <a:stCxn id="775" idx="3"/>
              <a:endCxn id="772" idx="1"/>
            </p:cNvCxnSpPr>
            <p:nvPr/>
          </p:nvCxnSpPr>
          <p:spPr>
            <a:xfrm>
              <a:off x="8121825" y="2449356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5" name="Rectangle 774"/>
            <p:cNvSpPr/>
            <p:nvPr/>
          </p:nvSpPr>
          <p:spPr>
            <a:xfrm>
              <a:off x="8007469" y="2395377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7820052" y="2204864"/>
              <a:ext cx="114356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7" name="Rectangle 766"/>
            <p:cNvSpPr/>
            <p:nvPr/>
          </p:nvSpPr>
          <p:spPr>
            <a:xfrm>
              <a:off x="8201240" y="2204864"/>
              <a:ext cx="115945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68" name="Straight Connector 767"/>
            <p:cNvCxnSpPr>
              <a:stCxn id="766" idx="3"/>
              <a:endCxn id="770" idx="1"/>
            </p:cNvCxnSpPr>
            <p:nvPr/>
          </p:nvCxnSpPr>
          <p:spPr>
            <a:xfrm>
              <a:off x="7934408" y="2258843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/>
            <p:cNvCxnSpPr>
              <a:stCxn id="770" idx="3"/>
              <a:endCxn id="767" idx="1"/>
            </p:cNvCxnSpPr>
            <p:nvPr/>
          </p:nvCxnSpPr>
          <p:spPr>
            <a:xfrm>
              <a:off x="8121825" y="2258843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0" name="Rectangle 769"/>
            <p:cNvSpPr/>
            <p:nvPr/>
          </p:nvSpPr>
          <p:spPr>
            <a:xfrm>
              <a:off x="8007469" y="2204864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9435" name="Group 825"/>
          <p:cNvGrpSpPr>
            <a:grpSpLocks/>
          </p:cNvGrpSpPr>
          <p:nvPr/>
        </p:nvGrpSpPr>
        <p:grpSpPr bwMode="auto">
          <a:xfrm>
            <a:off x="6470651" y="3860801"/>
            <a:ext cx="849313" cy="784225"/>
            <a:chOff x="4860032" y="3861048"/>
            <a:chExt cx="849731" cy="784280"/>
          </a:xfrm>
        </p:grpSpPr>
        <p:sp>
          <p:nvSpPr>
            <p:cNvPr id="789" name="Lightning Bolt 788"/>
            <p:cNvSpPr>
              <a:spLocks noChangeAspect="1"/>
            </p:cNvSpPr>
            <p:nvPr/>
          </p:nvSpPr>
          <p:spPr>
            <a:xfrm flipH="1" flipV="1">
              <a:off x="5252338" y="4188096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0" name="Rectangle 789"/>
            <p:cNvSpPr/>
            <p:nvPr/>
          </p:nvSpPr>
          <p:spPr>
            <a:xfrm>
              <a:off x="4860032" y="4051561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5241220" y="4051561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2" name="Straight Connector 791"/>
            <p:cNvCxnSpPr>
              <a:stCxn id="790" idx="3"/>
              <a:endCxn id="794" idx="1"/>
            </p:cNvCxnSpPr>
            <p:nvPr/>
          </p:nvCxnSpPr>
          <p:spPr>
            <a:xfrm>
              <a:off x="4974388" y="4105540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/>
            <p:cNvCxnSpPr>
              <a:stCxn id="794" idx="3"/>
              <a:endCxn id="791" idx="1"/>
            </p:cNvCxnSpPr>
            <p:nvPr/>
          </p:nvCxnSpPr>
          <p:spPr>
            <a:xfrm>
              <a:off x="5161805" y="4105540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4" name="Rectangle 793"/>
            <p:cNvSpPr/>
            <p:nvPr/>
          </p:nvSpPr>
          <p:spPr>
            <a:xfrm>
              <a:off x="5047449" y="4051561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4860032" y="3861048"/>
              <a:ext cx="114356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6" name="Rectangle 795"/>
            <p:cNvSpPr/>
            <p:nvPr/>
          </p:nvSpPr>
          <p:spPr>
            <a:xfrm>
              <a:off x="5241220" y="3861048"/>
              <a:ext cx="115945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7" name="Straight Connector 796"/>
            <p:cNvCxnSpPr>
              <a:stCxn id="795" idx="3"/>
              <a:endCxn id="799" idx="1"/>
            </p:cNvCxnSpPr>
            <p:nvPr/>
          </p:nvCxnSpPr>
          <p:spPr>
            <a:xfrm>
              <a:off x="4974388" y="3915027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/>
            <p:cNvCxnSpPr>
              <a:stCxn id="799" idx="3"/>
              <a:endCxn id="796" idx="1"/>
            </p:cNvCxnSpPr>
            <p:nvPr/>
          </p:nvCxnSpPr>
          <p:spPr>
            <a:xfrm>
              <a:off x="5161805" y="3915027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9" name="Rectangle 798"/>
            <p:cNvSpPr/>
            <p:nvPr/>
          </p:nvSpPr>
          <p:spPr>
            <a:xfrm>
              <a:off x="5047449" y="3861048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59436" name="Group 828"/>
          <p:cNvGrpSpPr>
            <a:grpSpLocks/>
          </p:cNvGrpSpPr>
          <p:nvPr/>
        </p:nvGrpSpPr>
        <p:grpSpPr bwMode="auto">
          <a:xfrm>
            <a:off x="5038725" y="3860800"/>
            <a:ext cx="495300" cy="298450"/>
            <a:chOff x="3499573" y="3850907"/>
            <a:chExt cx="496363" cy="298173"/>
          </a:xfrm>
        </p:grpSpPr>
        <p:sp>
          <p:nvSpPr>
            <p:cNvPr id="808" name="Rectangle 807"/>
            <p:cNvSpPr/>
            <p:nvPr/>
          </p:nvSpPr>
          <p:spPr>
            <a:xfrm>
              <a:off x="3499573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3881391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10" name="Straight Connector 809"/>
            <p:cNvCxnSpPr>
              <a:stCxn id="808" idx="3"/>
              <a:endCxn id="812" idx="1"/>
            </p:cNvCxnSpPr>
            <p:nvPr/>
          </p:nvCxnSpPr>
          <p:spPr>
            <a:xfrm>
              <a:off x="3614118" y="4095155"/>
              <a:ext cx="73182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/>
            <p:cNvCxnSpPr>
              <a:stCxn id="812" idx="3"/>
              <a:endCxn id="809" idx="1"/>
            </p:cNvCxnSpPr>
            <p:nvPr/>
          </p:nvCxnSpPr>
          <p:spPr>
            <a:xfrm>
              <a:off x="3801845" y="4095155"/>
              <a:ext cx="7954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2" name="Rectangle 811"/>
            <p:cNvSpPr/>
            <p:nvPr/>
          </p:nvSpPr>
          <p:spPr>
            <a:xfrm>
              <a:off x="3687300" y="4041230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3499573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3881391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05" name="Straight Connector 804"/>
            <p:cNvCxnSpPr>
              <a:stCxn id="803" idx="3"/>
              <a:endCxn id="807" idx="1"/>
            </p:cNvCxnSpPr>
            <p:nvPr/>
          </p:nvCxnSpPr>
          <p:spPr>
            <a:xfrm>
              <a:off x="3614118" y="3904832"/>
              <a:ext cx="73182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/>
            <p:cNvCxnSpPr>
              <a:stCxn id="807" idx="3"/>
              <a:endCxn id="804" idx="1"/>
            </p:cNvCxnSpPr>
            <p:nvPr/>
          </p:nvCxnSpPr>
          <p:spPr>
            <a:xfrm>
              <a:off x="3801845" y="3904832"/>
              <a:ext cx="7954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7" name="Rectangle 806"/>
            <p:cNvSpPr/>
            <p:nvPr/>
          </p:nvSpPr>
          <p:spPr>
            <a:xfrm>
              <a:off x="3687300" y="3850907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1905001" y="4267200"/>
          <a:ext cx="5029201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5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0.996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0.004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0.004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0.873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0.498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0.002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0.497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83" name="TextBox 509"/>
          <p:cNvSpPr txBox="1">
            <a:spLocks noChangeArrowheads="1"/>
          </p:cNvSpPr>
          <p:nvPr/>
        </p:nvSpPr>
        <p:spPr bwMode="auto">
          <a:xfrm>
            <a:off x="3421857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184" name="Group 271"/>
          <p:cNvGrpSpPr>
            <a:grpSpLocks/>
          </p:cNvGrpSpPr>
          <p:nvPr/>
        </p:nvGrpSpPr>
        <p:grpSpPr bwMode="auto">
          <a:xfrm>
            <a:off x="3305968" y="627640"/>
            <a:ext cx="495300" cy="298450"/>
            <a:chOff x="1778423" y="646539"/>
            <a:chExt cx="496363" cy="298173"/>
          </a:xfrm>
        </p:grpSpPr>
        <p:grpSp>
          <p:nvGrpSpPr>
            <p:cNvPr id="185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94" name="Straight Connector 193"/>
              <p:cNvCxnSpPr>
                <a:stCxn id="192" idx="3"/>
                <a:endCxn id="196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/>
              <p:cNvCxnSpPr>
                <a:stCxn id="196" idx="3"/>
                <a:endCxn id="193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Rectangle 195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86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187" name="Rectangle 186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89" name="Straight Connector 188"/>
              <p:cNvCxnSpPr>
                <a:stCxn id="187" idx="3"/>
                <a:endCxn id="191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>
                <a:stCxn id="191" idx="3"/>
                <a:endCxn id="188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Rectangle 190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</a:t>
            </a:r>
            <a:r>
              <a:rPr lang="en-GB" altLang="en-US" b="0" baseline="-25000"/>
              <a:t>Q</a:t>
            </a:r>
            <a:r>
              <a:rPr lang="en-GB" altLang="en-US"/>
              <a:t>: Locus Specific</a:t>
            </a:r>
            <a:r>
              <a:rPr lang="en-GB" altLang="en-US" b="0"/>
              <a:t> </a:t>
            </a:r>
            <a:r>
              <a:rPr lang="en-GB" altLang="en-US"/>
              <a:t>A</a:t>
            </a:r>
            <a:endParaRPr lang="en-GB" altLang="en-US" b="0"/>
          </a:p>
        </p:txBody>
      </p:sp>
      <p:sp>
        <p:nvSpPr>
          <p:cNvPr id="6041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l-GR" altLang="en-US" dirty="0"/>
              <a:t>φ</a:t>
            </a:r>
            <a:r>
              <a:rPr lang="en-GB" altLang="en-US" baseline="-25000" dirty="0"/>
              <a:t>5,6</a:t>
            </a:r>
            <a:r>
              <a:rPr lang="en-GB" altLang="en-US" dirty="0"/>
              <a:t> = 0.50, 	a</a:t>
            </a:r>
            <a:r>
              <a:rPr lang="en-GB" altLang="en-US" baseline="-25000" dirty="0"/>
              <a:t>5,6</a:t>
            </a:r>
            <a:r>
              <a:rPr lang="en-GB" altLang="en-US" dirty="0"/>
              <a:t> = 1.0</a:t>
            </a:r>
          </a:p>
          <a:p>
            <a:pPr lvl="1" eaLnBrk="1" hangingPunct="1"/>
            <a:r>
              <a:rPr lang="en-GB" altLang="en-US" dirty="0"/>
              <a:t> can ignore double recombination</a:t>
            </a:r>
          </a:p>
          <a:p>
            <a:pPr eaLnBrk="1" hangingPunct="1"/>
            <a:r>
              <a:rPr lang="el-GR" altLang="en-US" dirty="0"/>
              <a:t>φ</a:t>
            </a:r>
            <a:r>
              <a:rPr lang="en-GB" altLang="en-US" baseline="-25000" dirty="0"/>
              <a:t>5,7</a:t>
            </a:r>
            <a:r>
              <a:rPr lang="en-GB" altLang="en-US" dirty="0"/>
              <a:t> = 0.25, 	a</a:t>
            </a:r>
            <a:r>
              <a:rPr lang="en-GB" altLang="en-US" baseline="-25000" dirty="0"/>
              <a:t>5,7</a:t>
            </a:r>
            <a:r>
              <a:rPr lang="en-GB" altLang="en-US" dirty="0"/>
              <a:t> = 0.5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r>
              <a:rPr lang="el-GR" altLang="en-US" dirty="0"/>
              <a:t>φ</a:t>
            </a:r>
            <a:r>
              <a:rPr lang="en-GB" altLang="en-US" baseline="-25000" dirty="0"/>
              <a:t>5,8</a:t>
            </a:r>
            <a:r>
              <a:rPr lang="en-GB" altLang="en-US" dirty="0"/>
              <a:t> = 0.00, 	a</a:t>
            </a:r>
            <a:r>
              <a:rPr lang="en-GB" altLang="en-US" baseline="-25000" dirty="0"/>
              <a:t>5,8</a:t>
            </a:r>
            <a:r>
              <a:rPr lang="en-GB" altLang="en-US" dirty="0"/>
              <a:t> = 0.0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…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6042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EB650BC-3F43-430A-AC91-62E0BF57FFD0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0421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60476" name="TextBox 5"/>
          <p:cNvSpPr txBox="1">
            <a:spLocks noChangeArrowheads="1"/>
          </p:cNvSpPr>
          <p:nvPr/>
        </p:nvSpPr>
        <p:spPr bwMode="auto">
          <a:xfrm>
            <a:off x="8494128" y="1187450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60477" name="TextBox 6"/>
          <p:cNvSpPr txBox="1">
            <a:spLocks noChangeArrowheads="1"/>
          </p:cNvSpPr>
          <p:nvPr/>
        </p:nvSpPr>
        <p:spPr bwMode="auto">
          <a:xfrm>
            <a:off x="9684648" y="1187450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60449" name="TextBox 59"/>
          <p:cNvSpPr txBox="1">
            <a:spLocks noChangeArrowheads="1"/>
          </p:cNvSpPr>
          <p:nvPr/>
        </p:nvSpPr>
        <p:spPr bwMode="auto">
          <a:xfrm>
            <a:off x="8494128" y="2276872"/>
            <a:ext cx="304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60450" name="TextBox 60"/>
          <p:cNvSpPr txBox="1">
            <a:spLocks noChangeArrowheads="1"/>
          </p:cNvSpPr>
          <p:nvPr/>
        </p:nvSpPr>
        <p:spPr bwMode="auto">
          <a:xfrm>
            <a:off x="9684648" y="2276872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7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6DDA2-BB18-470E-9BEB-C594D453AE36}"/>
              </a:ext>
            </a:extLst>
          </p:cNvPr>
          <p:cNvGrpSpPr/>
          <p:nvPr/>
        </p:nvGrpSpPr>
        <p:grpSpPr>
          <a:xfrm>
            <a:off x="8321809" y="2697299"/>
            <a:ext cx="700827" cy="460800"/>
            <a:chOff x="8288338" y="2697299"/>
            <a:chExt cx="700827" cy="460800"/>
          </a:xfrm>
        </p:grpSpPr>
        <p:grpSp>
          <p:nvGrpSpPr>
            <p:cNvPr id="60464" name="Group 62"/>
            <p:cNvGrpSpPr>
              <a:grpSpLocks/>
            </p:cNvGrpSpPr>
            <p:nvPr/>
          </p:nvGrpSpPr>
          <p:grpSpPr bwMode="auto">
            <a:xfrm>
              <a:off x="8288338" y="2991195"/>
              <a:ext cx="700827" cy="166904"/>
              <a:chOff x="547245" y="2395037"/>
              <a:chExt cx="496363" cy="108000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547245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928478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72" name="Straight Connector 71"/>
              <p:cNvCxnSpPr>
                <a:stCxn id="70" idx="3"/>
                <a:endCxn id="74" idx="1"/>
              </p:cNvCxnSpPr>
              <p:nvPr/>
            </p:nvCxnSpPr>
            <p:spPr>
              <a:xfrm>
                <a:off x="661615" y="2448981"/>
                <a:ext cx="73070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stCxn id="74" idx="3"/>
                <a:endCxn id="71" idx="1"/>
              </p:cNvCxnSpPr>
              <p:nvPr/>
            </p:nvCxnSpPr>
            <p:spPr>
              <a:xfrm>
                <a:off x="849055" y="2448981"/>
                <a:ext cx="79424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Rectangle 73"/>
              <p:cNvSpPr/>
              <p:nvPr/>
            </p:nvSpPr>
            <p:spPr>
              <a:xfrm>
                <a:off x="734685" y="2394925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0465" name="Group 63"/>
            <p:cNvGrpSpPr>
              <a:grpSpLocks/>
            </p:cNvGrpSpPr>
            <p:nvPr/>
          </p:nvGrpSpPr>
          <p:grpSpPr bwMode="auto">
            <a:xfrm>
              <a:off x="8288338" y="2697299"/>
              <a:ext cx="700827" cy="166904"/>
              <a:chOff x="1778423" y="610523"/>
              <a:chExt cx="496363" cy="108000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1778423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2159656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7" name="Straight Connector 66"/>
              <p:cNvCxnSpPr>
                <a:stCxn id="65" idx="3"/>
                <a:endCxn id="69" idx="1"/>
              </p:cNvCxnSpPr>
              <p:nvPr/>
            </p:nvCxnSpPr>
            <p:spPr>
              <a:xfrm>
                <a:off x="1892793" y="663853"/>
                <a:ext cx="73070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>
                <a:stCxn id="69" idx="3"/>
                <a:endCxn id="66" idx="1"/>
              </p:cNvCxnSpPr>
              <p:nvPr/>
            </p:nvCxnSpPr>
            <p:spPr>
              <a:xfrm>
                <a:off x="2080233" y="663853"/>
                <a:ext cx="79424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/>
              <p:cNvSpPr/>
              <p:nvPr/>
            </p:nvSpPr>
            <p:spPr>
              <a:xfrm>
                <a:off x="1965863" y="609797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0452" name="Group 74"/>
          <p:cNvGrpSpPr>
            <a:grpSpLocks noChangeAspect="1"/>
          </p:cNvGrpSpPr>
          <p:nvPr/>
        </p:nvGrpSpPr>
        <p:grpSpPr bwMode="auto">
          <a:xfrm>
            <a:off x="9512329" y="2697299"/>
            <a:ext cx="700827" cy="460800"/>
            <a:chOff x="3347864" y="2204864"/>
            <a:chExt cx="496363" cy="298173"/>
          </a:xfrm>
        </p:grpSpPr>
        <p:grpSp>
          <p:nvGrpSpPr>
            <p:cNvPr id="60453" name="Group 75"/>
            <p:cNvGrpSpPr>
              <a:grpSpLocks/>
            </p:cNvGrpSpPr>
            <p:nvPr/>
          </p:nvGrpSpPr>
          <p:grpSpPr bwMode="auto">
            <a:xfrm>
              <a:off x="3347864" y="2395037"/>
              <a:ext cx="496363" cy="108000"/>
              <a:chOff x="547245" y="2395037"/>
              <a:chExt cx="496363" cy="108000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548004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929238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84" name="Straight Connector 83"/>
              <p:cNvCxnSpPr>
                <a:stCxn id="82" idx="3"/>
                <a:endCxn id="86" idx="1"/>
              </p:cNvCxnSpPr>
              <p:nvPr/>
            </p:nvCxnSpPr>
            <p:spPr>
              <a:xfrm>
                <a:off x="662375" y="2448981"/>
                <a:ext cx="73070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>
                <a:stCxn id="86" idx="3"/>
                <a:endCxn id="83" idx="1"/>
              </p:cNvCxnSpPr>
              <p:nvPr/>
            </p:nvCxnSpPr>
            <p:spPr>
              <a:xfrm>
                <a:off x="849814" y="2448981"/>
                <a:ext cx="79424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Rectangle 85"/>
              <p:cNvSpPr/>
              <p:nvPr/>
            </p:nvSpPr>
            <p:spPr>
              <a:xfrm>
                <a:off x="735444" y="2394925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77" name="Rectangle 76"/>
            <p:cNvSpPr/>
            <p:nvPr/>
          </p:nvSpPr>
          <p:spPr>
            <a:xfrm>
              <a:off x="3348623" y="2204138"/>
              <a:ext cx="114370" cy="10811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3729857" y="2204138"/>
              <a:ext cx="114370" cy="10811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" name="Straight Connector 78"/>
            <p:cNvCxnSpPr>
              <a:stCxn id="77" idx="3"/>
              <a:endCxn id="81" idx="1"/>
            </p:cNvCxnSpPr>
            <p:nvPr/>
          </p:nvCxnSpPr>
          <p:spPr>
            <a:xfrm>
              <a:off x="3462994" y="2258194"/>
              <a:ext cx="73070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81" idx="3"/>
              <a:endCxn id="78" idx="1"/>
            </p:cNvCxnSpPr>
            <p:nvPr/>
          </p:nvCxnSpPr>
          <p:spPr>
            <a:xfrm>
              <a:off x="3650433" y="2258194"/>
              <a:ext cx="7942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/>
            <p:cNvSpPr/>
            <p:nvPr/>
          </p:nvSpPr>
          <p:spPr>
            <a:xfrm>
              <a:off x="3536063" y="2204138"/>
              <a:ext cx="114370" cy="1081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60425" name="TextBox 88"/>
          <p:cNvSpPr txBox="1">
            <a:spLocks noChangeArrowheads="1"/>
          </p:cNvSpPr>
          <p:nvPr/>
        </p:nvSpPr>
        <p:spPr bwMode="auto">
          <a:xfrm>
            <a:off x="8494128" y="3356992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60426" name="TextBox 89"/>
          <p:cNvSpPr txBox="1">
            <a:spLocks noChangeArrowheads="1"/>
          </p:cNvSpPr>
          <p:nvPr/>
        </p:nvSpPr>
        <p:spPr bwMode="auto">
          <a:xfrm>
            <a:off x="9684648" y="3356992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8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714BD8-A849-4D61-BF5F-46459E47672F}"/>
              </a:ext>
            </a:extLst>
          </p:cNvPr>
          <p:cNvGrpSpPr>
            <a:grpSpLocks noChangeAspect="1"/>
          </p:cNvGrpSpPr>
          <p:nvPr/>
        </p:nvGrpSpPr>
        <p:grpSpPr>
          <a:xfrm>
            <a:off x="8288338" y="3778975"/>
            <a:ext cx="767769" cy="460800"/>
            <a:chOff x="8288338" y="3778976"/>
            <a:chExt cx="496059" cy="297725"/>
          </a:xfrm>
        </p:grpSpPr>
        <p:grpSp>
          <p:nvGrpSpPr>
            <p:cNvPr id="60427" name="Group 103"/>
            <p:cNvGrpSpPr>
              <a:grpSpLocks/>
            </p:cNvGrpSpPr>
            <p:nvPr/>
          </p:nvGrpSpPr>
          <p:grpSpPr bwMode="auto">
            <a:xfrm>
              <a:off x="8288338" y="3968863"/>
              <a:ext cx="496059" cy="107838"/>
              <a:chOff x="547245" y="2395037"/>
              <a:chExt cx="496363" cy="108000"/>
            </a:xfrm>
          </p:grpSpPr>
          <p:sp>
            <p:nvSpPr>
              <p:cNvPr id="111" name="Rectangle 110"/>
              <p:cNvSpPr/>
              <p:nvPr/>
            </p:nvSpPr>
            <p:spPr>
              <a:xfrm>
                <a:off x="547245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928478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13" name="Straight Connector 112"/>
              <p:cNvCxnSpPr>
                <a:stCxn id="111" idx="3"/>
                <a:endCxn id="115" idx="1"/>
              </p:cNvCxnSpPr>
              <p:nvPr/>
            </p:nvCxnSpPr>
            <p:spPr>
              <a:xfrm>
                <a:off x="661615" y="2448981"/>
                <a:ext cx="73070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>
                <a:stCxn id="115" idx="3"/>
                <a:endCxn id="112" idx="1"/>
              </p:cNvCxnSpPr>
              <p:nvPr/>
            </p:nvCxnSpPr>
            <p:spPr>
              <a:xfrm>
                <a:off x="849055" y="2448981"/>
                <a:ext cx="79424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Rectangle 114"/>
              <p:cNvSpPr/>
              <p:nvPr/>
            </p:nvSpPr>
            <p:spPr>
              <a:xfrm>
                <a:off x="734685" y="2394925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0428" name="Group 104"/>
            <p:cNvGrpSpPr>
              <a:grpSpLocks/>
            </p:cNvGrpSpPr>
            <p:nvPr/>
          </p:nvGrpSpPr>
          <p:grpSpPr bwMode="auto">
            <a:xfrm>
              <a:off x="8288338" y="3778976"/>
              <a:ext cx="496059" cy="107838"/>
              <a:chOff x="1778423" y="610523"/>
              <a:chExt cx="496363" cy="108000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1778423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2159656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08" name="Straight Connector 107"/>
              <p:cNvCxnSpPr>
                <a:stCxn id="106" idx="3"/>
                <a:endCxn id="110" idx="1"/>
              </p:cNvCxnSpPr>
              <p:nvPr/>
            </p:nvCxnSpPr>
            <p:spPr>
              <a:xfrm>
                <a:off x="1892793" y="663853"/>
                <a:ext cx="73070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>
                <a:stCxn id="110" idx="3"/>
                <a:endCxn id="107" idx="1"/>
              </p:cNvCxnSpPr>
              <p:nvPr/>
            </p:nvCxnSpPr>
            <p:spPr>
              <a:xfrm>
                <a:off x="2080233" y="663853"/>
                <a:ext cx="79424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Rectangle 109"/>
              <p:cNvSpPr/>
              <p:nvPr/>
            </p:nvSpPr>
            <p:spPr>
              <a:xfrm>
                <a:off x="1965863" y="609797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DB621D8-CC74-4B17-AC88-A4AAE037D984}"/>
              </a:ext>
            </a:extLst>
          </p:cNvPr>
          <p:cNvGrpSpPr>
            <a:grpSpLocks noChangeAspect="1"/>
          </p:cNvGrpSpPr>
          <p:nvPr/>
        </p:nvGrpSpPr>
        <p:grpSpPr>
          <a:xfrm>
            <a:off x="9480376" y="3778251"/>
            <a:ext cx="764732" cy="460800"/>
            <a:chOff x="9704388" y="3778251"/>
            <a:chExt cx="495300" cy="298450"/>
          </a:xfrm>
        </p:grpSpPr>
        <p:sp>
          <p:nvSpPr>
            <p:cNvPr id="99" name="Rectangle 98"/>
            <p:cNvSpPr/>
            <p:nvPr/>
          </p:nvSpPr>
          <p:spPr bwMode="auto">
            <a:xfrm>
              <a:off x="9704388" y="3968751"/>
              <a:ext cx="114300" cy="10795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endParaRPr>
            </a:p>
          </p:txBody>
        </p:sp>
        <p:sp>
          <p:nvSpPr>
            <p:cNvPr id="100" name="Rectangle 99"/>
            <p:cNvSpPr/>
            <p:nvPr/>
          </p:nvSpPr>
          <p:spPr bwMode="auto">
            <a:xfrm>
              <a:off x="10085388" y="3968751"/>
              <a:ext cx="114300" cy="10795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endParaRPr>
            </a:p>
          </p:txBody>
        </p:sp>
        <p:cxnSp>
          <p:nvCxnSpPr>
            <p:cNvPr id="101" name="Straight Connector 100"/>
            <p:cNvCxnSpPr>
              <a:stCxn id="99" idx="3"/>
              <a:endCxn id="103" idx="1"/>
            </p:cNvCxnSpPr>
            <p:nvPr/>
          </p:nvCxnSpPr>
          <p:spPr bwMode="auto">
            <a:xfrm>
              <a:off x="9818688" y="4022726"/>
              <a:ext cx="7302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03" idx="3"/>
              <a:endCxn id="100" idx="1"/>
            </p:cNvCxnSpPr>
            <p:nvPr/>
          </p:nvCxnSpPr>
          <p:spPr bwMode="auto">
            <a:xfrm>
              <a:off x="10006013" y="4022726"/>
              <a:ext cx="7937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tangle 102"/>
            <p:cNvSpPr/>
            <p:nvPr/>
          </p:nvSpPr>
          <p:spPr bwMode="auto">
            <a:xfrm>
              <a:off x="9891713" y="3968751"/>
              <a:ext cx="114300" cy="1079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endParaRPr>
            </a:p>
          </p:txBody>
        </p:sp>
        <p:sp>
          <p:nvSpPr>
            <p:cNvPr id="94" name="Rectangle 93"/>
            <p:cNvSpPr/>
            <p:nvPr/>
          </p:nvSpPr>
          <p:spPr bwMode="auto">
            <a:xfrm>
              <a:off x="9704388" y="3778251"/>
              <a:ext cx="114300" cy="1079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10085388" y="3778251"/>
              <a:ext cx="114300" cy="1079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96" name="Straight Connector 95"/>
            <p:cNvCxnSpPr>
              <a:stCxn id="94" idx="3"/>
              <a:endCxn id="98" idx="1"/>
            </p:cNvCxnSpPr>
            <p:nvPr/>
          </p:nvCxnSpPr>
          <p:spPr bwMode="auto">
            <a:xfrm>
              <a:off x="9818688" y="3832226"/>
              <a:ext cx="7302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98" idx="3"/>
              <a:endCxn id="95" idx="1"/>
            </p:cNvCxnSpPr>
            <p:nvPr/>
          </p:nvCxnSpPr>
          <p:spPr bwMode="auto">
            <a:xfrm>
              <a:off x="10006013" y="3832226"/>
              <a:ext cx="7937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 bwMode="auto">
            <a:xfrm>
              <a:off x="9891713" y="3778251"/>
              <a:ext cx="114300" cy="1079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B015851-886D-44F0-AE7B-918C01F60FDC}"/>
              </a:ext>
            </a:extLst>
          </p:cNvPr>
          <p:cNvGrpSpPr/>
          <p:nvPr/>
        </p:nvGrpSpPr>
        <p:grpSpPr>
          <a:xfrm>
            <a:off x="8321809" y="1630119"/>
            <a:ext cx="700827" cy="460800"/>
            <a:chOff x="8288338" y="2697299"/>
            <a:chExt cx="700827" cy="460800"/>
          </a:xfrm>
        </p:grpSpPr>
        <p:grpSp>
          <p:nvGrpSpPr>
            <p:cNvPr id="93" name="Group 62">
              <a:extLst>
                <a:ext uri="{FF2B5EF4-FFF2-40B4-BE49-F238E27FC236}">
                  <a16:creationId xmlns:a16="http://schemas.microsoft.com/office/drawing/2014/main" id="{22233C89-4F21-4E18-8F47-C54E33917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8338" y="2991195"/>
              <a:ext cx="700827" cy="166904"/>
              <a:chOff x="547245" y="2395037"/>
              <a:chExt cx="496363" cy="108000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AAC1B3F-8EE1-472E-94C3-8117C4F263F2}"/>
                  </a:ext>
                </a:extLst>
              </p:cNvPr>
              <p:cNvSpPr/>
              <p:nvPr/>
            </p:nvSpPr>
            <p:spPr>
              <a:xfrm>
                <a:off x="547245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0B999BA8-C010-4AB9-BD29-F6743641E95C}"/>
                  </a:ext>
                </a:extLst>
              </p:cNvPr>
              <p:cNvSpPr/>
              <p:nvPr/>
            </p:nvSpPr>
            <p:spPr>
              <a:xfrm>
                <a:off x="928478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EC5D5763-1F6A-4062-BE8B-6CEB04014196}"/>
                  </a:ext>
                </a:extLst>
              </p:cNvPr>
              <p:cNvCxnSpPr>
                <a:stCxn id="120" idx="3"/>
                <a:endCxn id="124" idx="1"/>
              </p:cNvCxnSpPr>
              <p:nvPr/>
            </p:nvCxnSpPr>
            <p:spPr>
              <a:xfrm>
                <a:off x="661615" y="2448981"/>
                <a:ext cx="73070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2B3DEC2E-4C88-4CC1-A416-A3B39E83C81E}"/>
                  </a:ext>
                </a:extLst>
              </p:cNvPr>
              <p:cNvCxnSpPr>
                <a:stCxn id="124" idx="3"/>
                <a:endCxn id="121" idx="1"/>
              </p:cNvCxnSpPr>
              <p:nvPr/>
            </p:nvCxnSpPr>
            <p:spPr>
              <a:xfrm>
                <a:off x="849055" y="2448981"/>
                <a:ext cx="79424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A8D4E6A-A9EE-46B3-874D-B21319534989}"/>
                  </a:ext>
                </a:extLst>
              </p:cNvPr>
              <p:cNvSpPr/>
              <p:nvPr/>
            </p:nvSpPr>
            <p:spPr>
              <a:xfrm>
                <a:off x="734685" y="2394925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04" name="Group 63">
              <a:extLst>
                <a:ext uri="{FF2B5EF4-FFF2-40B4-BE49-F238E27FC236}">
                  <a16:creationId xmlns:a16="http://schemas.microsoft.com/office/drawing/2014/main" id="{4FE28E85-08E6-4919-94BE-CA4A3B035B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8338" y="2697299"/>
              <a:ext cx="700827" cy="166904"/>
              <a:chOff x="1778423" y="610523"/>
              <a:chExt cx="496363" cy="1080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A40531A-AEA0-4AB0-A379-CD633FC8D5AE}"/>
                  </a:ext>
                </a:extLst>
              </p:cNvPr>
              <p:cNvSpPr/>
              <p:nvPr/>
            </p:nvSpPr>
            <p:spPr>
              <a:xfrm>
                <a:off x="1778423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54B0F6D-E1E5-4E82-B465-FCDA0F45A94D}"/>
                  </a:ext>
                </a:extLst>
              </p:cNvPr>
              <p:cNvSpPr/>
              <p:nvPr/>
            </p:nvSpPr>
            <p:spPr>
              <a:xfrm>
                <a:off x="2159656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A2384CF-8B8F-4965-A421-23EC5FF825B1}"/>
                  </a:ext>
                </a:extLst>
              </p:cNvPr>
              <p:cNvCxnSpPr>
                <a:stCxn id="105" idx="3"/>
                <a:endCxn id="119" idx="1"/>
              </p:cNvCxnSpPr>
              <p:nvPr/>
            </p:nvCxnSpPr>
            <p:spPr>
              <a:xfrm>
                <a:off x="1892793" y="663853"/>
                <a:ext cx="73070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1C2D0F9-D231-4593-A7F6-C2A0BEE09CB1}"/>
                  </a:ext>
                </a:extLst>
              </p:cNvPr>
              <p:cNvCxnSpPr>
                <a:stCxn id="119" idx="3"/>
                <a:endCxn id="116" idx="1"/>
              </p:cNvCxnSpPr>
              <p:nvPr/>
            </p:nvCxnSpPr>
            <p:spPr>
              <a:xfrm>
                <a:off x="2080233" y="663853"/>
                <a:ext cx="79424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ACFBA7A5-D8C0-45DD-A97C-568728DA80D8}"/>
                  </a:ext>
                </a:extLst>
              </p:cNvPr>
              <p:cNvSpPr/>
              <p:nvPr/>
            </p:nvSpPr>
            <p:spPr>
              <a:xfrm>
                <a:off x="1965863" y="609797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C166670-91DD-403A-84B7-89D674A4F884}"/>
              </a:ext>
            </a:extLst>
          </p:cNvPr>
          <p:cNvGrpSpPr/>
          <p:nvPr/>
        </p:nvGrpSpPr>
        <p:grpSpPr>
          <a:xfrm>
            <a:off x="9512329" y="1653132"/>
            <a:ext cx="700827" cy="460800"/>
            <a:chOff x="8288338" y="2697299"/>
            <a:chExt cx="700827" cy="460800"/>
          </a:xfrm>
        </p:grpSpPr>
        <p:grpSp>
          <p:nvGrpSpPr>
            <p:cNvPr id="126" name="Group 62">
              <a:extLst>
                <a:ext uri="{FF2B5EF4-FFF2-40B4-BE49-F238E27FC236}">
                  <a16:creationId xmlns:a16="http://schemas.microsoft.com/office/drawing/2014/main" id="{17327500-4CC1-4D49-BFB1-AB955722D0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8338" y="2991195"/>
              <a:ext cx="700827" cy="166904"/>
              <a:chOff x="547245" y="2395037"/>
              <a:chExt cx="496363" cy="108000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249EB040-8C82-40DC-B0A5-41CE61928579}"/>
                  </a:ext>
                </a:extLst>
              </p:cNvPr>
              <p:cNvSpPr/>
              <p:nvPr/>
            </p:nvSpPr>
            <p:spPr>
              <a:xfrm>
                <a:off x="547245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0FC4D82E-5429-49C2-8207-B816C67415B1}"/>
                  </a:ext>
                </a:extLst>
              </p:cNvPr>
              <p:cNvSpPr/>
              <p:nvPr/>
            </p:nvSpPr>
            <p:spPr>
              <a:xfrm>
                <a:off x="928478" y="2394925"/>
                <a:ext cx="114370" cy="108112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0129CCF1-D6ED-4014-AAC8-579E1D30EDFF}"/>
                  </a:ext>
                </a:extLst>
              </p:cNvPr>
              <p:cNvCxnSpPr>
                <a:stCxn id="133" idx="3"/>
                <a:endCxn id="137" idx="1"/>
              </p:cNvCxnSpPr>
              <p:nvPr/>
            </p:nvCxnSpPr>
            <p:spPr>
              <a:xfrm>
                <a:off x="661615" y="2448981"/>
                <a:ext cx="73070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F44A9ABF-5A2F-4642-8A41-098DD12172C2}"/>
                  </a:ext>
                </a:extLst>
              </p:cNvPr>
              <p:cNvCxnSpPr>
                <a:stCxn id="137" idx="3"/>
                <a:endCxn id="134" idx="1"/>
              </p:cNvCxnSpPr>
              <p:nvPr/>
            </p:nvCxnSpPr>
            <p:spPr>
              <a:xfrm>
                <a:off x="849055" y="2448981"/>
                <a:ext cx="79424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55CEB6E-56D9-4C57-A324-DDDDE082DA73}"/>
                  </a:ext>
                </a:extLst>
              </p:cNvPr>
              <p:cNvSpPr/>
              <p:nvPr/>
            </p:nvSpPr>
            <p:spPr>
              <a:xfrm>
                <a:off x="734685" y="2394925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27" name="Group 63">
              <a:extLst>
                <a:ext uri="{FF2B5EF4-FFF2-40B4-BE49-F238E27FC236}">
                  <a16:creationId xmlns:a16="http://schemas.microsoft.com/office/drawing/2014/main" id="{0EB74FF0-140C-4A96-B95B-A00DADA099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8338" y="2697299"/>
              <a:ext cx="700827" cy="166904"/>
              <a:chOff x="1778423" y="610523"/>
              <a:chExt cx="496363" cy="108000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EB2C23D5-D056-4535-B5A2-C2FBC55FC9B3}"/>
                  </a:ext>
                </a:extLst>
              </p:cNvPr>
              <p:cNvSpPr/>
              <p:nvPr/>
            </p:nvSpPr>
            <p:spPr>
              <a:xfrm>
                <a:off x="1778423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2EB52378-4C0F-4ADF-9476-D7B2AF330BF1}"/>
                  </a:ext>
                </a:extLst>
              </p:cNvPr>
              <p:cNvSpPr/>
              <p:nvPr/>
            </p:nvSpPr>
            <p:spPr>
              <a:xfrm>
                <a:off x="2159656" y="609797"/>
                <a:ext cx="114370" cy="108112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8238266A-9219-4AB1-8F39-279872103259}"/>
                  </a:ext>
                </a:extLst>
              </p:cNvPr>
              <p:cNvCxnSpPr>
                <a:stCxn id="128" idx="3"/>
                <a:endCxn id="132" idx="1"/>
              </p:cNvCxnSpPr>
              <p:nvPr/>
            </p:nvCxnSpPr>
            <p:spPr>
              <a:xfrm>
                <a:off x="1892793" y="663853"/>
                <a:ext cx="73070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594D341D-0812-462A-9399-DDC971257631}"/>
                  </a:ext>
                </a:extLst>
              </p:cNvPr>
              <p:cNvCxnSpPr>
                <a:stCxn id="132" idx="3"/>
                <a:endCxn id="129" idx="1"/>
              </p:cNvCxnSpPr>
              <p:nvPr/>
            </p:nvCxnSpPr>
            <p:spPr>
              <a:xfrm>
                <a:off x="2080233" y="663853"/>
                <a:ext cx="79424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9128E7E4-4E2C-4E89-9AE8-3471B20A2036}"/>
                  </a:ext>
                </a:extLst>
              </p:cNvPr>
              <p:cNvSpPr/>
              <p:nvPr/>
            </p:nvSpPr>
            <p:spPr>
              <a:xfrm>
                <a:off x="1965863" y="609797"/>
                <a:ext cx="114370" cy="1081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41475" y="1624013"/>
            <a:ext cx="5448300" cy="1270000"/>
          </a:xfrm>
          <a:prstGeom prst="rect">
            <a:avLst/>
          </a:prstGeom>
          <a:solidFill>
            <a:srgbClr val="FFFF66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cxnSp>
        <p:nvCxnSpPr>
          <p:cNvPr id="467" name="Straight Arrow Connector 466"/>
          <p:cNvCxnSpPr>
            <a:stCxn id="312" idx="2"/>
            <a:endCxn id="649" idx="0"/>
          </p:cNvCxnSpPr>
          <p:nvPr/>
        </p:nvCxnSpPr>
        <p:spPr>
          <a:xfrm flipH="1">
            <a:off x="2316163" y="944564"/>
            <a:ext cx="12303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/>
          <p:cNvCxnSpPr>
            <a:stCxn id="312" idx="2"/>
            <a:endCxn id="422" idx="0"/>
          </p:cNvCxnSpPr>
          <p:nvPr/>
        </p:nvCxnSpPr>
        <p:spPr>
          <a:xfrm>
            <a:off x="3546475" y="944564"/>
            <a:ext cx="2032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/>
          <p:cNvCxnSpPr>
            <a:stCxn id="312" idx="2"/>
            <a:endCxn id="680" idx="0"/>
          </p:cNvCxnSpPr>
          <p:nvPr/>
        </p:nvCxnSpPr>
        <p:spPr>
          <a:xfrm>
            <a:off x="3546475" y="944564"/>
            <a:ext cx="16017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/>
          <p:cNvCxnSpPr>
            <a:stCxn id="312" idx="2"/>
            <a:endCxn id="695" idx="0"/>
          </p:cNvCxnSpPr>
          <p:nvPr/>
        </p:nvCxnSpPr>
        <p:spPr>
          <a:xfrm>
            <a:off x="3546475" y="944564"/>
            <a:ext cx="301783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/>
          <p:cNvCxnSpPr>
            <a:stCxn id="377" idx="2"/>
            <a:endCxn id="649" idx="0"/>
          </p:cNvCxnSpPr>
          <p:nvPr/>
        </p:nvCxnSpPr>
        <p:spPr>
          <a:xfrm flipH="1">
            <a:off x="2316164" y="944564"/>
            <a:ext cx="26638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/>
          <p:cNvCxnSpPr>
            <a:stCxn id="377" idx="2"/>
            <a:endCxn id="666" idx="0"/>
          </p:cNvCxnSpPr>
          <p:nvPr/>
        </p:nvCxnSpPr>
        <p:spPr>
          <a:xfrm flipH="1">
            <a:off x="3732214" y="944564"/>
            <a:ext cx="12477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/>
          <p:cNvCxnSpPr>
            <a:stCxn id="377" idx="2"/>
            <a:endCxn id="680" idx="0"/>
          </p:cNvCxnSpPr>
          <p:nvPr/>
        </p:nvCxnSpPr>
        <p:spPr>
          <a:xfrm>
            <a:off x="4979989" y="944564"/>
            <a:ext cx="1682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/>
          <p:cNvCxnSpPr>
            <a:stCxn id="377" idx="2"/>
            <a:endCxn id="695" idx="0"/>
          </p:cNvCxnSpPr>
          <p:nvPr/>
        </p:nvCxnSpPr>
        <p:spPr>
          <a:xfrm>
            <a:off x="4979989" y="944564"/>
            <a:ext cx="15843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/>
          <p:cNvCxnSpPr>
            <a:stCxn id="390" idx="2"/>
            <a:endCxn id="770" idx="0"/>
          </p:cNvCxnSpPr>
          <p:nvPr/>
        </p:nvCxnSpPr>
        <p:spPr>
          <a:xfrm>
            <a:off x="8140700" y="944564"/>
            <a:ext cx="14478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496"/>
          <p:cNvCxnSpPr>
            <a:stCxn id="406" idx="2"/>
            <a:endCxn id="533" idx="0"/>
          </p:cNvCxnSpPr>
          <p:nvPr/>
        </p:nvCxnSpPr>
        <p:spPr>
          <a:xfrm flipH="1">
            <a:off x="9582150" y="944564"/>
            <a:ext cx="635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/>
          <p:cNvCxnSpPr>
            <a:stCxn id="390" idx="2"/>
            <a:endCxn id="517" idx="0"/>
          </p:cNvCxnSpPr>
          <p:nvPr/>
        </p:nvCxnSpPr>
        <p:spPr>
          <a:xfrm>
            <a:off x="8140700" y="944564"/>
            <a:ext cx="15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/>
          <p:cNvCxnSpPr>
            <a:stCxn id="406" idx="2"/>
            <a:endCxn id="517" idx="0"/>
          </p:cNvCxnSpPr>
          <p:nvPr/>
        </p:nvCxnSpPr>
        <p:spPr>
          <a:xfrm flipH="1">
            <a:off x="8142288" y="944564"/>
            <a:ext cx="14462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/>
          <p:cNvCxnSpPr>
            <a:stCxn id="671" idx="2"/>
            <a:endCxn id="61468" idx="2"/>
          </p:cNvCxnSpPr>
          <p:nvPr/>
        </p:nvCxnSpPr>
        <p:spPr>
          <a:xfrm>
            <a:off x="3732213" y="2503488"/>
            <a:ext cx="1569919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/>
          <p:cNvCxnSpPr>
            <a:stCxn id="685" idx="2"/>
            <a:endCxn id="799" idx="0"/>
          </p:cNvCxnSpPr>
          <p:nvPr/>
        </p:nvCxnSpPr>
        <p:spPr>
          <a:xfrm>
            <a:off x="5148263" y="2503488"/>
            <a:ext cx="1566862" cy="1357312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/>
          <p:cNvCxnSpPr>
            <a:endCxn id="799" idx="0"/>
          </p:cNvCxnSpPr>
          <p:nvPr/>
        </p:nvCxnSpPr>
        <p:spPr>
          <a:xfrm flipH="1">
            <a:off x="6715126" y="2503488"/>
            <a:ext cx="2874963" cy="1357312"/>
          </a:xfrm>
          <a:prstGeom prst="straightConnector1">
            <a:avLst/>
          </a:prstGeom>
          <a:ln w="952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/>
          <p:cNvCxnSpPr>
            <a:stCxn id="762" idx="2"/>
            <a:endCxn id="61468" idx="2"/>
          </p:cNvCxnSpPr>
          <p:nvPr/>
        </p:nvCxnSpPr>
        <p:spPr>
          <a:xfrm flipH="1">
            <a:off x="5302132" y="2503488"/>
            <a:ext cx="2846506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59" name="TextBox 509"/>
          <p:cNvSpPr txBox="1">
            <a:spLocks noChangeArrowheads="1"/>
          </p:cNvSpPr>
          <p:nvPr/>
        </p:nvSpPr>
        <p:spPr bwMode="auto">
          <a:xfrm>
            <a:off x="3417889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1460" name="TextBox 511"/>
          <p:cNvSpPr txBox="1">
            <a:spLocks noChangeArrowheads="1"/>
          </p:cNvSpPr>
          <p:nvPr/>
        </p:nvSpPr>
        <p:spPr bwMode="auto">
          <a:xfrm>
            <a:off x="80041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61461" name="TextBox 512"/>
          <p:cNvSpPr txBox="1">
            <a:spLocks noChangeArrowheads="1"/>
          </p:cNvSpPr>
          <p:nvPr/>
        </p:nvSpPr>
        <p:spPr bwMode="auto">
          <a:xfrm>
            <a:off x="94519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61462" name="TextBox 513"/>
          <p:cNvSpPr txBox="1">
            <a:spLocks noChangeArrowheads="1"/>
          </p:cNvSpPr>
          <p:nvPr/>
        </p:nvSpPr>
        <p:spPr bwMode="auto">
          <a:xfrm>
            <a:off x="22129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61463" name="TextBox 514"/>
          <p:cNvSpPr txBox="1">
            <a:spLocks noChangeArrowheads="1"/>
          </p:cNvSpPr>
          <p:nvPr/>
        </p:nvSpPr>
        <p:spPr bwMode="auto">
          <a:xfrm>
            <a:off x="36226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61464" name="TextBox 515"/>
          <p:cNvSpPr txBox="1">
            <a:spLocks noChangeArrowheads="1"/>
          </p:cNvSpPr>
          <p:nvPr/>
        </p:nvSpPr>
        <p:spPr bwMode="auto">
          <a:xfrm>
            <a:off x="50323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61465" name="TextBox 517"/>
          <p:cNvSpPr txBox="1">
            <a:spLocks noChangeArrowheads="1"/>
          </p:cNvSpPr>
          <p:nvPr/>
        </p:nvSpPr>
        <p:spPr bwMode="auto">
          <a:xfrm>
            <a:off x="6443664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61466" name="TextBox 518"/>
          <p:cNvSpPr txBox="1">
            <a:spLocks noChangeArrowheads="1"/>
          </p:cNvSpPr>
          <p:nvPr/>
        </p:nvSpPr>
        <p:spPr bwMode="auto">
          <a:xfrm>
            <a:off x="8026401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61467" name="TextBox 519"/>
          <p:cNvSpPr txBox="1">
            <a:spLocks noChangeArrowheads="1"/>
          </p:cNvSpPr>
          <p:nvPr/>
        </p:nvSpPr>
        <p:spPr bwMode="auto">
          <a:xfrm>
            <a:off x="9336088" y="18446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61468" name="TextBox 520"/>
          <p:cNvSpPr txBox="1">
            <a:spLocks noChangeArrowheads="1"/>
          </p:cNvSpPr>
          <p:nvPr/>
        </p:nvSpPr>
        <p:spPr bwMode="auto">
          <a:xfrm>
            <a:off x="5087938" y="3516314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61469" name="TextBox 521"/>
          <p:cNvSpPr txBox="1">
            <a:spLocks noChangeArrowheads="1"/>
          </p:cNvSpPr>
          <p:nvPr/>
        </p:nvSpPr>
        <p:spPr bwMode="auto">
          <a:xfrm>
            <a:off x="6477000" y="3505200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61470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841DBA1-4176-449F-AF99-334BF744D8FF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147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pSp>
        <p:nvGrpSpPr>
          <p:cNvPr id="61472" name="Group 271"/>
          <p:cNvGrpSpPr>
            <a:grpSpLocks/>
          </p:cNvGrpSpPr>
          <p:nvPr/>
        </p:nvGrpSpPr>
        <p:grpSpPr bwMode="auto">
          <a:xfrm>
            <a:off x="3302000" y="646113"/>
            <a:ext cx="495300" cy="298450"/>
            <a:chOff x="1778423" y="646539"/>
            <a:chExt cx="496363" cy="298173"/>
          </a:xfrm>
        </p:grpSpPr>
        <p:grpSp>
          <p:nvGrpSpPr>
            <p:cNvPr id="61805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297" name="Rectangle 296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99" name="Straight Connector 298"/>
              <p:cNvCxnSpPr>
                <a:stCxn id="297" idx="3"/>
                <a:endCxn id="312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>
                <a:stCxn id="312" idx="3"/>
                <a:endCxn id="298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Rectangle 311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1806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336" name="Rectangle 335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38" name="Straight Connector 337"/>
              <p:cNvCxnSpPr>
                <a:stCxn id="336" idx="3"/>
                <a:endCxn id="340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>
                <a:stCxn id="340" idx="3"/>
                <a:endCxn id="337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Rectangle 339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1473" name="Group 280"/>
          <p:cNvGrpSpPr>
            <a:grpSpLocks/>
          </p:cNvGrpSpPr>
          <p:nvPr/>
        </p:nvGrpSpPr>
        <p:grpSpPr bwMode="auto">
          <a:xfrm>
            <a:off x="4735514" y="646113"/>
            <a:ext cx="496887" cy="298450"/>
            <a:chOff x="2492571" y="626400"/>
            <a:chExt cx="496363" cy="299041"/>
          </a:xfrm>
        </p:grpSpPr>
        <p:grpSp>
          <p:nvGrpSpPr>
            <p:cNvPr id="61793" name="Group 276"/>
            <p:cNvGrpSpPr>
              <a:grpSpLocks/>
            </p:cNvGrpSpPr>
            <p:nvPr/>
          </p:nvGrpSpPr>
          <p:grpSpPr bwMode="auto">
            <a:xfrm>
              <a:off x="2492571" y="626400"/>
              <a:ext cx="496363" cy="108000"/>
              <a:chOff x="4435677" y="602215"/>
              <a:chExt cx="496363" cy="108000"/>
            </a:xfrm>
          </p:grpSpPr>
          <p:sp>
            <p:nvSpPr>
              <p:cNvPr id="378" name="Rectangle 377"/>
              <p:cNvSpPr/>
              <p:nvPr/>
            </p:nvSpPr>
            <p:spPr>
              <a:xfrm>
                <a:off x="4435677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4817861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0" name="Straight Connector 379"/>
              <p:cNvCxnSpPr>
                <a:stCxn id="378" idx="3"/>
                <a:endCxn id="382" idx="1"/>
              </p:cNvCxnSpPr>
              <p:nvPr/>
            </p:nvCxnSpPr>
            <p:spPr>
              <a:xfrm>
                <a:off x="4549856" y="656297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>
                <a:stCxn id="382" idx="3"/>
                <a:endCxn id="379" idx="1"/>
              </p:cNvCxnSpPr>
              <p:nvPr/>
            </p:nvCxnSpPr>
            <p:spPr>
              <a:xfrm>
                <a:off x="4738569" y="656297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Rectangle 381"/>
              <p:cNvSpPr/>
              <p:nvPr/>
            </p:nvSpPr>
            <p:spPr>
              <a:xfrm>
                <a:off x="4622804" y="602215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1794" name="Group 277"/>
            <p:cNvGrpSpPr>
              <a:grpSpLocks/>
            </p:cNvGrpSpPr>
            <p:nvPr/>
          </p:nvGrpSpPr>
          <p:grpSpPr bwMode="auto">
            <a:xfrm>
              <a:off x="2492571" y="817441"/>
              <a:ext cx="496363" cy="108000"/>
              <a:chOff x="4435677" y="856701"/>
              <a:chExt cx="496363" cy="108000"/>
            </a:xfrm>
          </p:grpSpPr>
          <p:sp>
            <p:nvSpPr>
              <p:cNvPr id="362" name="Rectangle 361"/>
              <p:cNvSpPr/>
              <p:nvPr/>
            </p:nvSpPr>
            <p:spPr>
              <a:xfrm>
                <a:off x="4435677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4817861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75" name="Straight Connector 374"/>
              <p:cNvCxnSpPr>
                <a:stCxn id="362" idx="3"/>
                <a:endCxn id="377" idx="1"/>
              </p:cNvCxnSpPr>
              <p:nvPr/>
            </p:nvCxnSpPr>
            <p:spPr>
              <a:xfrm>
                <a:off x="4549856" y="910619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>
                <a:stCxn id="377" idx="3"/>
                <a:endCxn id="374" idx="1"/>
              </p:cNvCxnSpPr>
              <p:nvPr/>
            </p:nvCxnSpPr>
            <p:spPr>
              <a:xfrm>
                <a:off x="4738569" y="910619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/>
              <p:cNvSpPr/>
              <p:nvPr/>
            </p:nvSpPr>
            <p:spPr>
              <a:xfrm>
                <a:off x="4622804" y="856538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1474" name="Group 634"/>
          <p:cNvGrpSpPr>
            <a:grpSpLocks/>
          </p:cNvGrpSpPr>
          <p:nvPr/>
        </p:nvGrpSpPr>
        <p:grpSpPr bwMode="auto">
          <a:xfrm>
            <a:off x="7896225" y="646113"/>
            <a:ext cx="496888" cy="298450"/>
            <a:chOff x="4461016" y="615183"/>
            <a:chExt cx="496363" cy="299041"/>
          </a:xfrm>
        </p:grpSpPr>
        <p:grpSp>
          <p:nvGrpSpPr>
            <p:cNvPr id="61781" name="Group 633"/>
            <p:cNvGrpSpPr>
              <a:grpSpLocks/>
            </p:cNvGrpSpPr>
            <p:nvPr/>
          </p:nvGrpSpPr>
          <p:grpSpPr bwMode="auto">
            <a:xfrm>
              <a:off x="4461016" y="615183"/>
              <a:ext cx="496363" cy="108000"/>
              <a:chOff x="4461016" y="615183"/>
              <a:chExt cx="496363" cy="108000"/>
            </a:xfrm>
          </p:grpSpPr>
          <p:sp>
            <p:nvSpPr>
              <p:cNvPr id="391" name="Rectangle 390"/>
              <p:cNvSpPr/>
              <p:nvPr/>
            </p:nvSpPr>
            <p:spPr>
              <a:xfrm>
                <a:off x="4461016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Rectangle 394"/>
              <p:cNvSpPr/>
              <p:nvPr/>
            </p:nvSpPr>
            <p:spPr>
              <a:xfrm>
                <a:off x="4843200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96" name="Straight Connector 395"/>
              <p:cNvCxnSpPr>
                <a:stCxn id="391" idx="3"/>
                <a:endCxn id="398" idx="1"/>
              </p:cNvCxnSpPr>
              <p:nvPr/>
            </p:nvCxnSpPr>
            <p:spPr>
              <a:xfrm>
                <a:off x="4575195" y="669265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/>
              <p:cNvCxnSpPr>
                <a:stCxn id="398" idx="3"/>
                <a:endCxn id="395" idx="1"/>
              </p:cNvCxnSpPr>
              <p:nvPr/>
            </p:nvCxnSpPr>
            <p:spPr>
              <a:xfrm>
                <a:off x="4763909" y="669265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Rectangle 397"/>
              <p:cNvSpPr/>
              <p:nvPr/>
            </p:nvSpPr>
            <p:spPr>
              <a:xfrm>
                <a:off x="4648143" y="615183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1782" name="Group 632"/>
            <p:cNvGrpSpPr>
              <a:grpSpLocks/>
            </p:cNvGrpSpPr>
            <p:nvPr/>
          </p:nvGrpSpPr>
          <p:grpSpPr bwMode="auto">
            <a:xfrm>
              <a:off x="4461016" y="806224"/>
              <a:ext cx="496363" cy="108000"/>
              <a:chOff x="4461016" y="806224"/>
              <a:chExt cx="496363" cy="108000"/>
            </a:xfrm>
          </p:grpSpPr>
          <p:sp>
            <p:nvSpPr>
              <p:cNvPr id="386" name="Rectangle 385"/>
              <p:cNvSpPr/>
              <p:nvPr/>
            </p:nvSpPr>
            <p:spPr>
              <a:xfrm>
                <a:off x="4461016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Rectangle 386"/>
              <p:cNvSpPr/>
              <p:nvPr/>
            </p:nvSpPr>
            <p:spPr>
              <a:xfrm>
                <a:off x="4843200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8" name="Straight Connector 387"/>
              <p:cNvCxnSpPr>
                <a:stCxn id="386" idx="3"/>
                <a:endCxn id="390" idx="1"/>
              </p:cNvCxnSpPr>
              <p:nvPr/>
            </p:nvCxnSpPr>
            <p:spPr>
              <a:xfrm>
                <a:off x="4575195" y="860142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/>
              <p:cNvCxnSpPr>
                <a:stCxn id="390" idx="3"/>
                <a:endCxn id="387" idx="1"/>
              </p:cNvCxnSpPr>
              <p:nvPr/>
            </p:nvCxnSpPr>
            <p:spPr>
              <a:xfrm>
                <a:off x="4763909" y="860142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/>
              <p:cNvSpPr/>
              <p:nvPr/>
            </p:nvSpPr>
            <p:spPr>
              <a:xfrm>
                <a:off x="4648143" y="806061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1475" name="Group 630"/>
          <p:cNvGrpSpPr>
            <a:grpSpLocks/>
          </p:cNvGrpSpPr>
          <p:nvPr/>
        </p:nvGrpSpPr>
        <p:grpSpPr bwMode="auto">
          <a:xfrm>
            <a:off x="9344025" y="646113"/>
            <a:ext cx="496888" cy="298450"/>
            <a:chOff x="5392726" y="627663"/>
            <a:chExt cx="496363" cy="299041"/>
          </a:xfrm>
        </p:grpSpPr>
        <p:sp>
          <p:nvSpPr>
            <p:cNvPr id="407" name="Rectangle 406"/>
            <p:cNvSpPr/>
            <p:nvPr/>
          </p:nvSpPr>
          <p:spPr>
            <a:xfrm>
              <a:off x="5392726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5774910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9" name="Straight Connector 408"/>
            <p:cNvCxnSpPr>
              <a:stCxn id="407" idx="3"/>
              <a:endCxn id="411" idx="1"/>
            </p:cNvCxnSpPr>
            <p:nvPr/>
          </p:nvCxnSpPr>
          <p:spPr>
            <a:xfrm>
              <a:off x="5506905" y="681745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>
              <a:stCxn id="411" idx="3"/>
              <a:endCxn id="408" idx="1"/>
            </p:cNvCxnSpPr>
            <p:nvPr/>
          </p:nvCxnSpPr>
          <p:spPr>
            <a:xfrm>
              <a:off x="5695619" y="681745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ectangle 410"/>
            <p:cNvSpPr/>
            <p:nvPr/>
          </p:nvSpPr>
          <p:spPr>
            <a:xfrm>
              <a:off x="5579853" y="627663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392726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74910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4" name="Straight Connector 403"/>
            <p:cNvCxnSpPr>
              <a:stCxn id="402" idx="3"/>
              <a:endCxn id="406" idx="1"/>
            </p:cNvCxnSpPr>
            <p:nvPr/>
          </p:nvCxnSpPr>
          <p:spPr>
            <a:xfrm>
              <a:off x="5506905" y="872622"/>
              <a:ext cx="72948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>
              <a:stCxn id="406" idx="3"/>
              <a:endCxn id="403" idx="1"/>
            </p:cNvCxnSpPr>
            <p:nvPr/>
          </p:nvCxnSpPr>
          <p:spPr>
            <a:xfrm>
              <a:off x="5695619" y="872622"/>
              <a:ext cx="79291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Rectangle 405"/>
            <p:cNvSpPr/>
            <p:nvPr/>
          </p:nvSpPr>
          <p:spPr>
            <a:xfrm>
              <a:off x="5579853" y="818540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61476" name="TextBox 636"/>
          <p:cNvSpPr txBox="1">
            <a:spLocks noChangeArrowheads="1"/>
          </p:cNvSpPr>
          <p:nvPr/>
        </p:nvSpPr>
        <p:spPr bwMode="auto">
          <a:xfrm>
            <a:off x="4857751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61477" name="Group 657"/>
          <p:cNvGrpSpPr>
            <a:grpSpLocks/>
          </p:cNvGrpSpPr>
          <p:nvPr/>
        </p:nvGrpSpPr>
        <p:grpSpPr bwMode="auto">
          <a:xfrm>
            <a:off x="2071688" y="2205038"/>
            <a:ext cx="495300" cy="298450"/>
            <a:chOff x="547245" y="2204864"/>
            <a:chExt cx="496363" cy="298173"/>
          </a:xfrm>
        </p:grpSpPr>
        <p:grpSp>
          <p:nvGrpSpPr>
            <p:cNvPr id="61759" name="Group 656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50" name="Rectangle 649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51" name="Rectangle 650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2" name="Straight Connector 651"/>
              <p:cNvCxnSpPr>
                <a:stCxn id="650" idx="3"/>
                <a:endCxn id="654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>
                <a:stCxn id="654" idx="3"/>
                <a:endCxn id="651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4" name="Rectangle 653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1760" name="Group 643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45" name="Rectangle 644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46" name="Rectangle 645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47" name="Straight Connector 646"/>
              <p:cNvCxnSpPr>
                <a:stCxn id="645" idx="3"/>
                <a:endCxn id="649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>
                <a:stCxn id="649" idx="3"/>
                <a:endCxn id="646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9" name="Rectangle 648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1478" name="Group 658"/>
          <p:cNvGrpSpPr>
            <a:grpSpLocks/>
          </p:cNvGrpSpPr>
          <p:nvPr/>
        </p:nvGrpSpPr>
        <p:grpSpPr bwMode="auto">
          <a:xfrm>
            <a:off x="3487738" y="2205038"/>
            <a:ext cx="495300" cy="298450"/>
            <a:chOff x="547245" y="2204864"/>
            <a:chExt cx="496363" cy="298173"/>
          </a:xfrm>
        </p:grpSpPr>
        <p:grpSp>
          <p:nvGrpSpPr>
            <p:cNvPr id="61747" name="Group 659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67" name="Rectangle 666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8" name="Rectangle 667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9" name="Straight Connector 668"/>
              <p:cNvCxnSpPr>
                <a:stCxn id="667" idx="3"/>
                <a:endCxn id="671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Straight Connector 669"/>
              <p:cNvCxnSpPr>
                <a:stCxn id="671" idx="3"/>
                <a:endCxn id="668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1" name="Rectangle 670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1748" name="Group 660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62" name="Rectangle 661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3" name="Rectangle 662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4" name="Straight Connector 663"/>
              <p:cNvCxnSpPr>
                <a:stCxn id="662" idx="3"/>
                <a:endCxn id="666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Straight Connector 664"/>
              <p:cNvCxnSpPr>
                <a:stCxn id="666" idx="3"/>
                <a:endCxn id="663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6" name="Rectangle 665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1479" name="Group 685"/>
          <p:cNvGrpSpPr>
            <a:grpSpLocks/>
          </p:cNvGrpSpPr>
          <p:nvPr/>
        </p:nvGrpSpPr>
        <p:grpSpPr bwMode="auto">
          <a:xfrm>
            <a:off x="4903789" y="2205038"/>
            <a:ext cx="496887" cy="298450"/>
            <a:chOff x="3347864" y="2204864"/>
            <a:chExt cx="496363" cy="298173"/>
          </a:xfrm>
        </p:grpSpPr>
        <p:grpSp>
          <p:nvGrpSpPr>
            <p:cNvPr id="61736" name="Group 673"/>
            <p:cNvGrpSpPr>
              <a:grpSpLocks/>
            </p:cNvGrpSpPr>
            <p:nvPr/>
          </p:nvGrpSpPr>
          <p:grpSpPr bwMode="auto">
            <a:xfrm>
              <a:off x="3347864" y="2395037"/>
              <a:ext cx="496363" cy="108000"/>
              <a:chOff x="547245" y="2395037"/>
              <a:chExt cx="496363" cy="108000"/>
            </a:xfrm>
          </p:grpSpPr>
          <p:sp>
            <p:nvSpPr>
              <p:cNvPr id="681" name="Rectangle 680"/>
              <p:cNvSpPr/>
              <p:nvPr/>
            </p:nvSpPr>
            <p:spPr>
              <a:xfrm>
                <a:off x="547245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82" name="Rectangle 681"/>
              <p:cNvSpPr/>
              <p:nvPr/>
            </p:nvSpPr>
            <p:spPr>
              <a:xfrm>
                <a:off x="929429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83" name="Straight Connector 682"/>
              <p:cNvCxnSpPr>
                <a:stCxn id="681" idx="3"/>
                <a:endCxn id="685" idx="1"/>
              </p:cNvCxnSpPr>
              <p:nvPr/>
            </p:nvCxnSpPr>
            <p:spPr>
              <a:xfrm>
                <a:off x="661424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Straight Connector 683"/>
              <p:cNvCxnSpPr>
                <a:stCxn id="685" idx="3"/>
                <a:endCxn id="682" idx="1"/>
              </p:cNvCxnSpPr>
              <p:nvPr/>
            </p:nvCxnSpPr>
            <p:spPr>
              <a:xfrm>
                <a:off x="850137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5" name="Rectangle 684"/>
              <p:cNvSpPr/>
              <p:nvPr/>
            </p:nvSpPr>
            <p:spPr>
              <a:xfrm>
                <a:off x="734372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76" name="Rectangle 675"/>
            <p:cNvSpPr/>
            <p:nvPr/>
          </p:nvSpPr>
          <p:spPr>
            <a:xfrm>
              <a:off x="3347864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677" name="Rectangle 676"/>
            <p:cNvSpPr/>
            <p:nvPr/>
          </p:nvSpPr>
          <p:spPr>
            <a:xfrm>
              <a:off x="3730048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678" name="Straight Connector 677"/>
            <p:cNvCxnSpPr>
              <a:stCxn id="676" idx="3"/>
              <a:endCxn id="680" idx="1"/>
            </p:cNvCxnSpPr>
            <p:nvPr/>
          </p:nvCxnSpPr>
          <p:spPr>
            <a:xfrm>
              <a:off x="3462043" y="2258789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/>
            <p:cNvCxnSpPr>
              <a:stCxn id="680" idx="3"/>
              <a:endCxn id="677" idx="1"/>
            </p:cNvCxnSpPr>
            <p:nvPr/>
          </p:nvCxnSpPr>
          <p:spPr>
            <a:xfrm>
              <a:off x="3650756" y="2258789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0" name="Rectangle 679"/>
            <p:cNvSpPr/>
            <p:nvPr/>
          </p:nvSpPr>
          <p:spPr>
            <a:xfrm>
              <a:off x="3534991" y="2204864"/>
              <a:ext cx="11576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1480" name="Group 705"/>
          <p:cNvGrpSpPr>
            <a:grpSpLocks/>
          </p:cNvGrpSpPr>
          <p:nvPr/>
        </p:nvGrpSpPr>
        <p:grpSpPr bwMode="auto">
          <a:xfrm>
            <a:off x="6319839" y="2205038"/>
            <a:ext cx="496887" cy="298450"/>
            <a:chOff x="4003628" y="2204864"/>
            <a:chExt cx="496364" cy="298173"/>
          </a:xfrm>
        </p:grpSpPr>
        <p:grpSp>
          <p:nvGrpSpPr>
            <p:cNvPr id="61724" name="Group 703"/>
            <p:cNvGrpSpPr>
              <a:grpSpLocks/>
            </p:cNvGrpSpPr>
            <p:nvPr/>
          </p:nvGrpSpPr>
          <p:grpSpPr bwMode="auto">
            <a:xfrm>
              <a:off x="4003628" y="2394908"/>
              <a:ext cx="496364" cy="108129"/>
              <a:chOff x="4003628" y="2394908"/>
              <a:chExt cx="496364" cy="108129"/>
            </a:xfrm>
          </p:grpSpPr>
          <p:sp>
            <p:nvSpPr>
              <p:cNvPr id="696" name="Rectangle 695"/>
              <p:cNvSpPr/>
              <p:nvPr/>
            </p:nvSpPr>
            <p:spPr>
              <a:xfrm>
                <a:off x="4003628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7" name="Rectangle 696"/>
              <p:cNvSpPr/>
              <p:nvPr/>
            </p:nvSpPr>
            <p:spPr>
              <a:xfrm>
                <a:off x="4385812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8" name="Straight Connector 697"/>
              <p:cNvCxnSpPr>
                <a:stCxn id="696" idx="3"/>
                <a:endCxn id="700" idx="1"/>
              </p:cNvCxnSpPr>
              <p:nvPr/>
            </p:nvCxnSpPr>
            <p:spPr>
              <a:xfrm>
                <a:off x="4117808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Straight Connector 698"/>
              <p:cNvCxnSpPr>
                <a:stCxn id="700" idx="3"/>
                <a:endCxn id="697" idx="1"/>
              </p:cNvCxnSpPr>
              <p:nvPr/>
            </p:nvCxnSpPr>
            <p:spPr>
              <a:xfrm>
                <a:off x="4306521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Rectangle 699"/>
              <p:cNvSpPr/>
              <p:nvPr/>
            </p:nvSpPr>
            <p:spPr>
              <a:xfrm>
                <a:off x="4190756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1725" name="Group 704"/>
            <p:cNvGrpSpPr>
              <a:grpSpLocks/>
            </p:cNvGrpSpPr>
            <p:nvPr/>
          </p:nvGrpSpPr>
          <p:grpSpPr bwMode="auto">
            <a:xfrm>
              <a:off x="4003629" y="2204864"/>
              <a:ext cx="496363" cy="108000"/>
              <a:chOff x="4003629" y="2204864"/>
              <a:chExt cx="496363" cy="108000"/>
            </a:xfrm>
          </p:grpSpPr>
          <p:sp>
            <p:nvSpPr>
              <p:cNvPr id="691" name="Rectangle 690"/>
              <p:cNvSpPr/>
              <p:nvPr/>
            </p:nvSpPr>
            <p:spPr>
              <a:xfrm>
                <a:off x="4003628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2" name="Rectangle 691"/>
              <p:cNvSpPr/>
              <p:nvPr/>
            </p:nvSpPr>
            <p:spPr>
              <a:xfrm>
                <a:off x="4385812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3" name="Straight Connector 692"/>
              <p:cNvCxnSpPr>
                <a:stCxn id="691" idx="3"/>
                <a:endCxn id="695" idx="1"/>
              </p:cNvCxnSpPr>
              <p:nvPr/>
            </p:nvCxnSpPr>
            <p:spPr>
              <a:xfrm>
                <a:off x="4117808" y="2258789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/>
              <p:cNvCxnSpPr>
                <a:stCxn id="695" idx="3"/>
                <a:endCxn id="692" idx="1"/>
              </p:cNvCxnSpPr>
              <p:nvPr/>
            </p:nvCxnSpPr>
            <p:spPr>
              <a:xfrm>
                <a:off x="4306521" y="2258789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5" name="Rectangle 694"/>
              <p:cNvSpPr/>
              <p:nvPr/>
            </p:nvSpPr>
            <p:spPr>
              <a:xfrm>
                <a:off x="4190756" y="2204864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58" name="Rectangle 757"/>
          <p:cNvSpPr/>
          <p:nvPr/>
        </p:nvSpPr>
        <p:spPr>
          <a:xfrm>
            <a:off x="7904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9" name="Rectangle 758"/>
          <p:cNvSpPr/>
          <p:nvPr/>
        </p:nvSpPr>
        <p:spPr>
          <a:xfrm>
            <a:off x="8285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60" name="Straight Connector 759"/>
          <p:cNvCxnSpPr>
            <a:stCxn id="758" idx="3"/>
            <a:endCxn id="762" idx="1"/>
          </p:cNvCxnSpPr>
          <p:nvPr/>
        </p:nvCxnSpPr>
        <p:spPr>
          <a:xfrm>
            <a:off x="8018464" y="2449513"/>
            <a:ext cx="7302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/>
          <p:cNvCxnSpPr>
            <a:stCxn id="762" idx="3"/>
            <a:endCxn id="759" idx="1"/>
          </p:cNvCxnSpPr>
          <p:nvPr/>
        </p:nvCxnSpPr>
        <p:spPr>
          <a:xfrm>
            <a:off x="8205789" y="2449513"/>
            <a:ext cx="7937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2" name="Rectangle 761"/>
          <p:cNvSpPr/>
          <p:nvPr/>
        </p:nvSpPr>
        <p:spPr>
          <a:xfrm>
            <a:off x="8091488" y="23955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3" name="Rectangle 752"/>
          <p:cNvSpPr/>
          <p:nvPr/>
        </p:nvSpPr>
        <p:spPr>
          <a:xfrm>
            <a:off x="7904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4" name="Rectangle 753"/>
          <p:cNvSpPr/>
          <p:nvPr/>
        </p:nvSpPr>
        <p:spPr>
          <a:xfrm>
            <a:off x="8285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55" name="Straight Connector 754"/>
          <p:cNvCxnSpPr>
            <a:stCxn id="753" idx="3"/>
            <a:endCxn id="757" idx="1"/>
          </p:cNvCxnSpPr>
          <p:nvPr/>
        </p:nvCxnSpPr>
        <p:spPr>
          <a:xfrm>
            <a:off x="8018464" y="2259013"/>
            <a:ext cx="7302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/>
          <p:cNvCxnSpPr>
            <a:stCxn id="757" idx="3"/>
            <a:endCxn id="754" idx="1"/>
          </p:cNvCxnSpPr>
          <p:nvPr/>
        </p:nvCxnSpPr>
        <p:spPr>
          <a:xfrm>
            <a:off x="8205789" y="2259013"/>
            <a:ext cx="7937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Rectangle 756"/>
          <p:cNvSpPr/>
          <p:nvPr/>
        </p:nvSpPr>
        <p:spPr>
          <a:xfrm>
            <a:off x="8091488" y="22050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61491" name="Group 786"/>
          <p:cNvGrpSpPr>
            <a:grpSpLocks/>
          </p:cNvGrpSpPr>
          <p:nvPr/>
        </p:nvGrpSpPr>
        <p:grpSpPr bwMode="auto">
          <a:xfrm>
            <a:off x="9344026" y="2205039"/>
            <a:ext cx="849313" cy="784225"/>
            <a:chOff x="7820052" y="2204864"/>
            <a:chExt cx="849731" cy="784280"/>
          </a:xfrm>
        </p:grpSpPr>
        <p:sp>
          <p:nvSpPr>
            <p:cNvPr id="2" name="Lightning Bolt 1"/>
            <p:cNvSpPr>
              <a:spLocks noChangeAspect="1"/>
            </p:cNvSpPr>
            <p:nvPr/>
          </p:nvSpPr>
          <p:spPr>
            <a:xfrm flipH="1" flipV="1">
              <a:off x="8212358" y="2531912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7820052" y="2395377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8201240" y="2395377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73" name="Straight Connector 772"/>
            <p:cNvCxnSpPr>
              <a:stCxn id="771" idx="3"/>
              <a:endCxn id="775" idx="1"/>
            </p:cNvCxnSpPr>
            <p:nvPr/>
          </p:nvCxnSpPr>
          <p:spPr>
            <a:xfrm>
              <a:off x="7934408" y="2449356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773"/>
            <p:cNvCxnSpPr>
              <a:stCxn id="775" idx="3"/>
              <a:endCxn id="772" idx="1"/>
            </p:cNvCxnSpPr>
            <p:nvPr/>
          </p:nvCxnSpPr>
          <p:spPr>
            <a:xfrm>
              <a:off x="8121825" y="2449356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5" name="Rectangle 774"/>
            <p:cNvSpPr/>
            <p:nvPr/>
          </p:nvSpPr>
          <p:spPr>
            <a:xfrm>
              <a:off x="8007469" y="2395377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7820052" y="2204864"/>
              <a:ext cx="114356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7" name="Rectangle 766"/>
            <p:cNvSpPr/>
            <p:nvPr/>
          </p:nvSpPr>
          <p:spPr>
            <a:xfrm>
              <a:off x="8201240" y="2204864"/>
              <a:ext cx="115945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68" name="Straight Connector 767"/>
            <p:cNvCxnSpPr>
              <a:stCxn id="766" idx="3"/>
              <a:endCxn id="770" idx="1"/>
            </p:cNvCxnSpPr>
            <p:nvPr/>
          </p:nvCxnSpPr>
          <p:spPr>
            <a:xfrm>
              <a:off x="7934408" y="2258843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/>
            <p:cNvCxnSpPr>
              <a:stCxn id="770" idx="3"/>
              <a:endCxn id="767" idx="1"/>
            </p:cNvCxnSpPr>
            <p:nvPr/>
          </p:nvCxnSpPr>
          <p:spPr>
            <a:xfrm>
              <a:off x="8121825" y="2258843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0" name="Rectangle 769"/>
            <p:cNvSpPr/>
            <p:nvPr/>
          </p:nvSpPr>
          <p:spPr>
            <a:xfrm>
              <a:off x="8007469" y="2204864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1492" name="Group 825"/>
          <p:cNvGrpSpPr>
            <a:grpSpLocks/>
          </p:cNvGrpSpPr>
          <p:nvPr/>
        </p:nvGrpSpPr>
        <p:grpSpPr bwMode="auto">
          <a:xfrm>
            <a:off x="6470651" y="3860801"/>
            <a:ext cx="849313" cy="784225"/>
            <a:chOff x="4860032" y="3861048"/>
            <a:chExt cx="849731" cy="784280"/>
          </a:xfrm>
        </p:grpSpPr>
        <p:sp>
          <p:nvSpPr>
            <p:cNvPr id="789" name="Lightning Bolt 788"/>
            <p:cNvSpPr>
              <a:spLocks noChangeAspect="1"/>
            </p:cNvSpPr>
            <p:nvPr/>
          </p:nvSpPr>
          <p:spPr>
            <a:xfrm flipH="1" flipV="1">
              <a:off x="5252338" y="4188096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0" name="Rectangle 789"/>
            <p:cNvSpPr/>
            <p:nvPr/>
          </p:nvSpPr>
          <p:spPr>
            <a:xfrm>
              <a:off x="4860032" y="4051561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5241220" y="4051561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2" name="Straight Connector 791"/>
            <p:cNvCxnSpPr>
              <a:stCxn id="790" idx="3"/>
              <a:endCxn id="794" idx="1"/>
            </p:cNvCxnSpPr>
            <p:nvPr/>
          </p:nvCxnSpPr>
          <p:spPr>
            <a:xfrm>
              <a:off x="4974388" y="4105540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/>
            <p:cNvCxnSpPr>
              <a:stCxn id="794" idx="3"/>
              <a:endCxn id="791" idx="1"/>
            </p:cNvCxnSpPr>
            <p:nvPr/>
          </p:nvCxnSpPr>
          <p:spPr>
            <a:xfrm>
              <a:off x="5161805" y="4105540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4" name="Rectangle 793"/>
            <p:cNvSpPr/>
            <p:nvPr/>
          </p:nvSpPr>
          <p:spPr>
            <a:xfrm>
              <a:off x="5047449" y="4051561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4860032" y="3861048"/>
              <a:ext cx="114356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6" name="Rectangle 795"/>
            <p:cNvSpPr/>
            <p:nvPr/>
          </p:nvSpPr>
          <p:spPr>
            <a:xfrm>
              <a:off x="5241220" y="3861048"/>
              <a:ext cx="115945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7" name="Straight Connector 796"/>
            <p:cNvCxnSpPr>
              <a:stCxn id="795" idx="3"/>
              <a:endCxn id="799" idx="1"/>
            </p:cNvCxnSpPr>
            <p:nvPr/>
          </p:nvCxnSpPr>
          <p:spPr>
            <a:xfrm>
              <a:off x="4974388" y="3915027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/>
            <p:cNvCxnSpPr>
              <a:stCxn id="799" idx="3"/>
              <a:endCxn id="796" idx="1"/>
            </p:cNvCxnSpPr>
            <p:nvPr/>
          </p:nvCxnSpPr>
          <p:spPr>
            <a:xfrm>
              <a:off x="5161805" y="3915027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9" name="Rectangle 798"/>
            <p:cNvSpPr/>
            <p:nvPr/>
          </p:nvSpPr>
          <p:spPr>
            <a:xfrm>
              <a:off x="5047449" y="3861048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1493" name="Group 828"/>
          <p:cNvGrpSpPr>
            <a:grpSpLocks/>
          </p:cNvGrpSpPr>
          <p:nvPr/>
        </p:nvGrpSpPr>
        <p:grpSpPr bwMode="auto">
          <a:xfrm>
            <a:off x="5038725" y="3860800"/>
            <a:ext cx="495300" cy="298450"/>
            <a:chOff x="3499573" y="3850907"/>
            <a:chExt cx="496363" cy="298173"/>
          </a:xfrm>
        </p:grpSpPr>
        <p:sp>
          <p:nvSpPr>
            <p:cNvPr id="808" name="Rectangle 807"/>
            <p:cNvSpPr/>
            <p:nvPr/>
          </p:nvSpPr>
          <p:spPr>
            <a:xfrm>
              <a:off x="3499573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3881391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10" name="Straight Connector 809"/>
            <p:cNvCxnSpPr>
              <a:stCxn id="808" idx="3"/>
              <a:endCxn id="812" idx="1"/>
            </p:cNvCxnSpPr>
            <p:nvPr/>
          </p:nvCxnSpPr>
          <p:spPr>
            <a:xfrm>
              <a:off x="3614118" y="4095155"/>
              <a:ext cx="73182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/>
            <p:cNvCxnSpPr>
              <a:stCxn id="812" idx="3"/>
              <a:endCxn id="809" idx="1"/>
            </p:cNvCxnSpPr>
            <p:nvPr/>
          </p:nvCxnSpPr>
          <p:spPr>
            <a:xfrm>
              <a:off x="3801845" y="4095155"/>
              <a:ext cx="7954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2" name="Rectangle 811"/>
            <p:cNvSpPr/>
            <p:nvPr/>
          </p:nvSpPr>
          <p:spPr>
            <a:xfrm>
              <a:off x="3687300" y="4041230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3499573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3881391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05" name="Straight Connector 804"/>
            <p:cNvCxnSpPr>
              <a:stCxn id="803" idx="3"/>
              <a:endCxn id="807" idx="1"/>
            </p:cNvCxnSpPr>
            <p:nvPr/>
          </p:nvCxnSpPr>
          <p:spPr>
            <a:xfrm>
              <a:off x="3614118" y="3904832"/>
              <a:ext cx="73182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/>
            <p:cNvCxnSpPr>
              <a:stCxn id="807" idx="3"/>
              <a:endCxn id="804" idx="1"/>
            </p:cNvCxnSpPr>
            <p:nvPr/>
          </p:nvCxnSpPr>
          <p:spPr>
            <a:xfrm>
              <a:off x="3801845" y="3904832"/>
              <a:ext cx="7954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7" name="Rectangle 806"/>
            <p:cNvSpPr/>
            <p:nvPr/>
          </p:nvSpPr>
          <p:spPr>
            <a:xfrm>
              <a:off x="3687300" y="3850907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79" name="Table 178"/>
          <p:cNvGraphicFramePr>
            <a:graphicFrameLocks noGrp="1"/>
          </p:cNvGraphicFramePr>
          <p:nvPr/>
        </p:nvGraphicFramePr>
        <p:xfrm>
          <a:off x="1905001" y="4267200"/>
          <a:ext cx="5029201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5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0.873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0.498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0.002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0.497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</a:t>
            </a:r>
            <a:r>
              <a:rPr lang="en-GB" altLang="en-US" b="0" baseline="-25000"/>
              <a:t>Q</a:t>
            </a:r>
            <a:r>
              <a:rPr lang="en-GB" altLang="en-US"/>
              <a:t>: Locus Specific</a:t>
            </a:r>
            <a:r>
              <a:rPr lang="en-GB" altLang="en-US" b="0"/>
              <a:t> </a:t>
            </a:r>
            <a:r>
              <a:rPr lang="en-GB" altLang="en-US"/>
              <a:t>A</a:t>
            </a:r>
            <a:endParaRPr lang="en-GB" altLang="en-US" b="0"/>
          </a:p>
        </p:txBody>
      </p:sp>
      <p:sp>
        <p:nvSpPr>
          <p:cNvPr id="6246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l-GR" altLang="en-US" dirty="0"/>
              <a:t>φ</a:t>
            </a:r>
            <a:r>
              <a:rPr lang="en-GB" altLang="en-US" baseline="-25000" dirty="0"/>
              <a:t>9,10</a:t>
            </a:r>
            <a:r>
              <a:rPr lang="en-GB" altLang="en-US" dirty="0"/>
              <a:t> = 0.375, a</a:t>
            </a:r>
            <a:r>
              <a:rPr lang="en-GB" altLang="en-US" baseline="-25000" dirty="0"/>
              <a:t>9,10</a:t>
            </a:r>
            <a:r>
              <a:rPr lang="en-GB" altLang="en-US" dirty="0"/>
              <a:t> = 0.75</a:t>
            </a:r>
          </a:p>
          <a:p>
            <a:pPr lvl="1" eaLnBrk="1" hangingPunct="1"/>
            <a:r>
              <a:rPr lang="en-GB" altLang="en-US" dirty="0"/>
              <a:t>IBD occurs if:</a:t>
            </a:r>
          </a:p>
          <a:p>
            <a:pPr lvl="2" eaLnBrk="1" hangingPunct="1"/>
            <a:r>
              <a:rPr lang="en-GB" altLang="en-US" dirty="0"/>
              <a:t>sample      from 9 &amp; 10		</a:t>
            </a:r>
          </a:p>
          <a:p>
            <a:pPr lvl="3" eaLnBrk="1" hangingPunct="1"/>
            <a:r>
              <a:rPr lang="en-GB" altLang="en-US" dirty="0"/>
              <a:t>Probability … 0.5 x 0.5 = 0.25</a:t>
            </a:r>
          </a:p>
          <a:p>
            <a:pPr lvl="2" eaLnBrk="1" hangingPunct="1"/>
            <a:r>
              <a:rPr lang="en-GB" altLang="en-US" dirty="0"/>
              <a:t>sample    from 9 &amp; recombined gamete from 10 &amp; target linked to</a:t>
            </a:r>
          </a:p>
          <a:p>
            <a:pPr lvl="3" eaLnBrk="1" hangingPunct="1"/>
            <a:r>
              <a:rPr lang="en-GB" altLang="en-US" dirty="0"/>
              <a:t>assume with recombination that target remains linked to     is ½  </a:t>
            </a:r>
          </a:p>
          <a:p>
            <a:pPr lvl="3" eaLnBrk="1" hangingPunct="1"/>
            <a:r>
              <a:rPr lang="en-GB" altLang="en-US" dirty="0"/>
              <a:t>Probability … 0.5 x 0.5 x 0.5 = 0.125 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6246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62AF209-B65F-4313-A66B-E0984D2073FD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246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62470" name="TextBox 87"/>
          <p:cNvSpPr txBox="1">
            <a:spLocks noChangeArrowheads="1"/>
          </p:cNvSpPr>
          <p:nvPr/>
        </p:nvSpPr>
        <p:spPr bwMode="auto">
          <a:xfrm>
            <a:off x="8256240" y="1204913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62485" name="TextBox 90"/>
          <p:cNvSpPr txBox="1">
            <a:spLocks noChangeArrowheads="1"/>
          </p:cNvSpPr>
          <p:nvPr/>
        </p:nvSpPr>
        <p:spPr bwMode="auto">
          <a:xfrm>
            <a:off x="9408368" y="1204914"/>
            <a:ext cx="5277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dirty="0">
                <a:solidFill>
                  <a:srgbClr val="000000"/>
                </a:solidFill>
              </a:rPr>
              <a:t>10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167019-5E00-414F-BFEC-BE2EF850CB1A}"/>
              </a:ext>
            </a:extLst>
          </p:cNvPr>
          <p:cNvGrpSpPr/>
          <p:nvPr/>
        </p:nvGrpSpPr>
        <p:grpSpPr>
          <a:xfrm>
            <a:off x="8054975" y="1628800"/>
            <a:ext cx="2567985" cy="1188001"/>
            <a:chOff x="8054975" y="1628800"/>
            <a:chExt cx="2567985" cy="11880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AFF6F7-E9D0-44E0-BACB-3A05475324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54975" y="1628803"/>
              <a:ext cx="768820" cy="460800"/>
              <a:chOff x="8054975" y="1565275"/>
              <a:chExt cx="495300" cy="296863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8054975" y="1754188"/>
                <a:ext cx="114300" cy="107950"/>
              </a:xfrm>
              <a:prstGeom prst="rect">
                <a:avLst/>
              </a:prstGeom>
              <a:solidFill>
                <a:srgbClr val="A6A6A6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8435975" y="1754188"/>
                <a:ext cx="114300" cy="107950"/>
              </a:xfrm>
              <a:prstGeom prst="rect">
                <a:avLst/>
              </a:prstGeom>
              <a:solidFill>
                <a:srgbClr val="A6A6A6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17" name="Straight Connector 116"/>
              <p:cNvCxnSpPr>
                <a:stCxn id="93" idx="3"/>
                <a:endCxn id="120" idx="1"/>
              </p:cNvCxnSpPr>
              <p:nvPr/>
            </p:nvCxnSpPr>
            <p:spPr>
              <a:xfrm>
                <a:off x="8169276" y="1808163"/>
                <a:ext cx="7302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>
                <a:stCxn id="120" idx="3"/>
                <a:endCxn id="116" idx="1"/>
              </p:cNvCxnSpPr>
              <p:nvPr/>
            </p:nvCxnSpPr>
            <p:spPr>
              <a:xfrm>
                <a:off x="8356601" y="1808163"/>
                <a:ext cx="7937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ectangle 119"/>
              <p:cNvSpPr/>
              <p:nvPr/>
            </p:nvSpPr>
            <p:spPr>
              <a:xfrm>
                <a:off x="8242300" y="1754188"/>
                <a:ext cx="114300" cy="1079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8054975" y="1565275"/>
                <a:ext cx="114300" cy="107950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8435975" y="1565275"/>
                <a:ext cx="114300" cy="107950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23" name="Straight Connector 122"/>
              <p:cNvCxnSpPr>
                <a:stCxn id="121" idx="3"/>
                <a:endCxn id="125" idx="1"/>
              </p:cNvCxnSpPr>
              <p:nvPr/>
            </p:nvCxnSpPr>
            <p:spPr>
              <a:xfrm>
                <a:off x="8169276" y="1619250"/>
                <a:ext cx="7302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>
                <a:stCxn id="125" idx="3"/>
                <a:endCxn id="122" idx="1"/>
              </p:cNvCxnSpPr>
              <p:nvPr/>
            </p:nvCxnSpPr>
            <p:spPr>
              <a:xfrm>
                <a:off x="8356601" y="1619250"/>
                <a:ext cx="7937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8242300" y="1565275"/>
                <a:ext cx="114300" cy="1079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7" name="Lightning Bolt 126"/>
            <p:cNvSpPr>
              <a:spLocks noChangeAspect="1"/>
            </p:cNvSpPr>
            <p:nvPr/>
          </p:nvSpPr>
          <p:spPr bwMode="auto">
            <a:xfrm flipH="1" flipV="1">
              <a:off x="9930360" y="2124202"/>
              <a:ext cx="692600" cy="692599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C187CC5-A248-45DD-A406-B02242B37CF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336359" y="1628800"/>
              <a:ext cx="764734" cy="460800"/>
              <a:chOff x="9494838" y="1565276"/>
              <a:chExt cx="495300" cy="298450"/>
            </a:xfrm>
          </p:grpSpPr>
          <p:sp>
            <p:nvSpPr>
              <p:cNvPr id="128" name="Rectangle 127"/>
              <p:cNvSpPr/>
              <p:nvPr/>
            </p:nvSpPr>
            <p:spPr bwMode="auto">
              <a:xfrm>
                <a:off x="9494838" y="1755776"/>
                <a:ext cx="114300" cy="107950"/>
              </a:xfrm>
              <a:prstGeom prst="rect">
                <a:avLst/>
              </a:prstGeom>
              <a:solidFill>
                <a:srgbClr val="A6A6A6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29" name="Rectangle 128"/>
              <p:cNvSpPr/>
              <p:nvPr/>
            </p:nvSpPr>
            <p:spPr bwMode="auto">
              <a:xfrm>
                <a:off x="9875838" y="1755776"/>
                <a:ext cx="114300" cy="107950"/>
              </a:xfrm>
              <a:prstGeom prst="rect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30" name="Straight Connector 129"/>
              <p:cNvCxnSpPr>
                <a:stCxn id="128" idx="3"/>
                <a:endCxn id="132" idx="1"/>
              </p:cNvCxnSpPr>
              <p:nvPr/>
            </p:nvCxnSpPr>
            <p:spPr bwMode="auto">
              <a:xfrm>
                <a:off x="9609138" y="1809751"/>
                <a:ext cx="7302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>
                <a:stCxn id="132" idx="3"/>
                <a:endCxn id="129" idx="1"/>
              </p:cNvCxnSpPr>
              <p:nvPr/>
            </p:nvCxnSpPr>
            <p:spPr bwMode="auto">
              <a:xfrm>
                <a:off x="9796463" y="1809751"/>
                <a:ext cx="7937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Rectangle 131"/>
              <p:cNvSpPr/>
              <p:nvPr/>
            </p:nvSpPr>
            <p:spPr bwMode="auto">
              <a:xfrm>
                <a:off x="9682163" y="1755776"/>
                <a:ext cx="114300" cy="1079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33" name="Rectangle 132"/>
              <p:cNvSpPr/>
              <p:nvPr/>
            </p:nvSpPr>
            <p:spPr bwMode="auto">
              <a:xfrm>
                <a:off x="9494838" y="1565276"/>
                <a:ext cx="114300" cy="107950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134" name="Rectangle 133"/>
              <p:cNvSpPr/>
              <p:nvPr/>
            </p:nvSpPr>
            <p:spPr bwMode="auto">
              <a:xfrm>
                <a:off x="9875838" y="1565276"/>
                <a:ext cx="114300" cy="107950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35" name="Straight Connector 134"/>
              <p:cNvCxnSpPr>
                <a:stCxn id="133" idx="3"/>
                <a:endCxn id="137" idx="1"/>
              </p:cNvCxnSpPr>
              <p:nvPr/>
            </p:nvCxnSpPr>
            <p:spPr bwMode="auto">
              <a:xfrm>
                <a:off x="9609138" y="1619251"/>
                <a:ext cx="7302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>
                <a:stCxn id="137" idx="3"/>
                <a:endCxn id="134" idx="1"/>
              </p:cNvCxnSpPr>
              <p:nvPr/>
            </p:nvCxnSpPr>
            <p:spPr bwMode="auto">
              <a:xfrm>
                <a:off x="9796463" y="1619251"/>
                <a:ext cx="7937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 bwMode="auto">
              <a:xfrm>
                <a:off x="9682163" y="1565276"/>
                <a:ext cx="114300" cy="1079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38" name="Rectangle 137"/>
          <p:cNvSpPr/>
          <p:nvPr/>
        </p:nvSpPr>
        <p:spPr>
          <a:xfrm>
            <a:off x="2639616" y="2420888"/>
            <a:ext cx="180000" cy="180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2531624" y="3321008"/>
            <a:ext cx="180000" cy="18000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0272464" y="3321008"/>
            <a:ext cx="180000" cy="18000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10686E-E479-4AB6-BBC6-515DAA144F74}"/>
              </a:ext>
            </a:extLst>
          </p:cNvPr>
          <p:cNvSpPr/>
          <p:nvPr/>
        </p:nvSpPr>
        <p:spPr>
          <a:xfrm>
            <a:off x="9624392" y="3753056"/>
            <a:ext cx="180000" cy="18000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485064" y="1624013"/>
            <a:ext cx="2859087" cy="1270000"/>
          </a:xfrm>
          <a:prstGeom prst="rect">
            <a:avLst/>
          </a:prstGeom>
          <a:solidFill>
            <a:srgbClr val="FFFF66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cxnSp>
        <p:nvCxnSpPr>
          <p:cNvPr id="467" name="Straight Arrow Connector 466"/>
          <p:cNvCxnSpPr>
            <a:stCxn id="312" idx="2"/>
            <a:endCxn id="649" idx="0"/>
          </p:cNvCxnSpPr>
          <p:nvPr/>
        </p:nvCxnSpPr>
        <p:spPr>
          <a:xfrm flipH="1">
            <a:off x="2316163" y="944564"/>
            <a:ext cx="12303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/>
          <p:cNvCxnSpPr>
            <a:stCxn id="312" idx="2"/>
            <a:endCxn id="422" idx="0"/>
          </p:cNvCxnSpPr>
          <p:nvPr/>
        </p:nvCxnSpPr>
        <p:spPr>
          <a:xfrm>
            <a:off x="3546475" y="944564"/>
            <a:ext cx="2032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/>
          <p:cNvCxnSpPr>
            <a:stCxn id="312" idx="2"/>
            <a:endCxn id="680" idx="0"/>
          </p:cNvCxnSpPr>
          <p:nvPr/>
        </p:nvCxnSpPr>
        <p:spPr>
          <a:xfrm>
            <a:off x="3546475" y="944564"/>
            <a:ext cx="16017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/>
          <p:cNvCxnSpPr>
            <a:stCxn id="312" idx="2"/>
            <a:endCxn id="695" idx="0"/>
          </p:cNvCxnSpPr>
          <p:nvPr/>
        </p:nvCxnSpPr>
        <p:spPr>
          <a:xfrm>
            <a:off x="3546475" y="944564"/>
            <a:ext cx="301783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/>
          <p:cNvCxnSpPr>
            <a:stCxn id="377" idx="2"/>
            <a:endCxn id="649" idx="0"/>
          </p:cNvCxnSpPr>
          <p:nvPr/>
        </p:nvCxnSpPr>
        <p:spPr>
          <a:xfrm flipH="1">
            <a:off x="2316164" y="944564"/>
            <a:ext cx="26638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/>
          <p:cNvCxnSpPr>
            <a:stCxn id="377" idx="2"/>
            <a:endCxn id="666" idx="0"/>
          </p:cNvCxnSpPr>
          <p:nvPr/>
        </p:nvCxnSpPr>
        <p:spPr>
          <a:xfrm flipH="1">
            <a:off x="3732214" y="944564"/>
            <a:ext cx="12477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/>
          <p:cNvCxnSpPr>
            <a:stCxn id="377" idx="2"/>
            <a:endCxn id="680" idx="0"/>
          </p:cNvCxnSpPr>
          <p:nvPr/>
        </p:nvCxnSpPr>
        <p:spPr>
          <a:xfrm>
            <a:off x="4979989" y="944564"/>
            <a:ext cx="1682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/>
          <p:cNvCxnSpPr>
            <a:stCxn id="377" idx="2"/>
            <a:endCxn id="695" idx="0"/>
          </p:cNvCxnSpPr>
          <p:nvPr/>
        </p:nvCxnSpPr>
        <p:spPr>
          <a:xfrm>
            <a:off x="4979989" y="944564"/>
            <a:ext cx="15843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/>
          <p:cNvCxnSpPr>
            <a:stCxn id="390" idx="2"/>
            <a:endCxn id="770" idx="0"/>
          </p:cNvCxnSpPr>
          <p:nvPr/>
        </p:nvCxnSpPr>
        <p:spPr>
          <a:xfrm>
            <a:off x="8140700" y="944564"/>
            <a:ext cx="14478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496"/>
          <p:cNvCxnSpPr>
            <a:stCxn id="406" idx="2"/>
            <a:endCxn id="533" idx="0"/>
          </p:cNvCxnSpPr>
          <p:nvPr/>
        </p:nvCxnSpPr>
        <p:spPr>
          <a:xfrm flipH="1">
            <a:off x="9582150" y="944564"/>
            <a:ext cx="635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/>
          <p:cNvCxnSpPr>
            <a:stCxn id="390" idx="2"/>
            <a:endCxn id="517" idx="0"/>
          </p:cNvCxnSpPr>
          <p:nvPr/>
        </p:nvCxnSpPr>
        <p:spPr>
          <a:xfrm>
            <a:off x="8140700" y="944564"/>
            <a:ext cx="15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/>
          <p:cNvCxnSpPr>
            <a:stCxn id="406" idx="2"/>
            <a:endCxn id="517" idx="0"/>
          </p:cNvCxnSpPr>
          <p:nvPr/>
        </p:nvCxnSpPr>
        <p:spPr>
          <a:xfrm flipH="1">
            <a:off x="8142288" y="944564"/>
            <a:ext cx="14462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/>
          <p:cNvCxnSpPr>
            <a:stCxn id="671" idx="2"/>
            <a:endCxn id="63516" idx="2"/>
          </p:cNvCxnSpPr>
          <p:nvPr/>
        </p:nvCxnSpPr>
        <p:spPr>
          <a:xfrm>
            <a:off x="3732213" y="2503488"/>
            <a:ext cx="1569919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/>
          <p:cNvCxnSpPr>
            <a:stCxn id="685" idx="2"/>
            <a:endCxn id="799" idx="0"/>
          </p:cNvCxnSpPr>
          <p:nvPr/>
        </p:nvCxnSpPr>
        <p:spPr>
          <a:xfrm>
            <a:off x="5148263" y="2503488"/>
            <a:ext cx="1566862" cy="1357312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/>
          <p:cNvCxnSpPr>
            <a:endCxn id="799" idx="0"/>
          </p:cNvCxnSpPr>
          <p:nvPr/>
        </p:nvCxnSpPr>
        <p:spPr>
          <a:xfrm flipH="1">
            <a:off x="6715126" y="2503488"/>
            <a:ext cx="2874963" cy="1357312"/>
          </a:xfrm>
          <a:prstGeom prst="straightConnector1">
            <a:avLst/>
          </a:prstGeom>
          <a:ln w="952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/>
          <p:cNvCxnSpPr>
            <a:stCxn id="762" idx="2"/>
            <a:endCxn id="63516" idx="2"/>
          </p:cNvCxnSpPr>
          <p:nvPr/>
        </p:nvCxnSpPr>
        <p:spPr>
          <a:xfrm flipH="1">
            <a:off x="5302132" y="2503488"/>
            <a:ext cx="2846506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07" name="TextBox 509"/>
          <p:cNvSpPr txBox="1">
            <a:spLocks noChangeArrowheads="1"/>
          </p:cNvSpPr>
          <p:nvPr/>
        </p:nvSpPr>
        <p:spPr bwMode="auto">
          <a:xfrm>
            <a:off x="3417889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3508" name="TextBox 511"/>
          <p:cNvSpPr txBox="1">
            <a:spLocks noChangeArrowheads="1"/>
          </p:cNvSpPr>
          <p:nvPr/>
        </p:nvSpPr>
        <p:spPr bwMode="auto">
          <a:xfrm>
            <a:off x="80041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63509" name="TextBox 512"/>
          <p:cNvSpPr txBox="1">
            <a:spLocks noChangeArrowheads="1"/>
          </p:cNvSpPr>
          <p:nvPr/>
        </p:nvSpPr>
        <p:spPr bwMode="auto">
          <a:xfrm>
            <a:off x="94519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63510" name="TextBox 513"/>
          <p:cNvSpPr txBox="1">
            <a:spLocks noChangeArrowheads="1"/>
          </p:cNvSpPr>
          <p:nvPr/>
        </p:nvSpPr>
        <p:spPr bwMode="auto">
          <a:xfrm>
            <a:off x="22129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63511" name="TextBox 514"/>
          <p:cNvSpPr txBox="1">
            <a:spLocks noChangeArrowheads="1"/>
          </p:cNvSpPr>
          <p:nvPr/>
        </p:nvSpPr>
        <p:spPr bwMode="auto">
          <a:xfrm>
            <a:off x="36226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63512" name="TextBox 515"/>
          <p:cNvSpPr txBox="1">
            <a:spLocks noChangeArrowheads="1"/>
          </p:cNvSpPr>
          <p:nvPr/>
        </p:nvSpPr>
        <p:spPr bwMode="auto">
          <a:xfrm>
            <a:off x="50323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63513" name="TextBox 517"/>
          <p:cNvSpPr txBox="1">
            <a:spLocks noChangeArrowheads="1"/>
          </p:cNvSpPr>
          <p:nvPr/>
        </p:nvSpPr>
        <p:spPr bwMode="auto">
          <a:xfrm>
            <a:off x="6443664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63514" name="TextBox 518"/>
          <p:cNvSpPr txBox="1">
            <a:spLocks noChangeArrowheads="1"/>
          </p:cNvSpPr>
          <p:nvPr/>
        </p:nvSpPr>
        <p:spPr bwMode="auto">
          <a:xfrm>
            <a:off x="8026401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63515" name="TextBox 519"/>
          <p:cNvSpPr txBox="1">
            <a:spLocks noChangeArrowheads="1"/>
          </p:cNvSpPr>
          <p:nvPr/>
        </p:nvSpPr>
        <p:spPr bwMode="auto">
          <a:xfrm>
            <a:off x="9336088" y="18446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63516" name="TextBox 520"/>
          <p:cNvSpPr txBox="1">
            <a:spLocks noChangeArrowheads="1"/>
          </p:cNvSpPr>
          <p:nvPr/>
        </p:nvSpPr>
        <p:spPr bwMode="auto">
          <a:xfrm>
            <a:off x="5087938" y="3516314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63517" name="TextBox 521"/>
          <p:cNvSpPr txBox="1">
            <a:spLocks noChangeArrowheads="1"/>
          </p:cNvSpPr>
          <p:nvPr/>
        </p:nvSpPr>
        <p:spPr bwMode="auto">
          <a:xfrm>
            <a:off x="6477000" y="3505200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63518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2C51906-3B09-421C-BD0F-F74B09FD0DC2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3519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pSp>
        <p:nvGrpSpPr>
          <p:cNvPr id="63520" name="Group 271"/>
          <p:cNvGrpSpPr>
            <a:grpSpLocks/>
          </p:cNvGrpSpPr>
          <p:nvPr/>
        </p:nvGrpSpPr>
        <p:grpSpPr bwMode="auto">
          <a:xfrm>
            <a:off x="3302000" y="646113"/>
            <a:ext cx="495300" cy="298450"/>
            <a:chOff x="1778423" y="646539"/>
            <a:chExt cx="496363" cy="298173"/>
          </a:xfrm>
        </p:grpSpPr>
        <p:grpSp>
          <p:nvGrpSpPr>
            <p:cNvPr id="63853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297" name="Rectangle 296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99" name="Straight Connector 298"/>
              <p:cNvCxnSpPr>
                <a:stCxn id="297" idx="3"/>
                <a:endCxn id="312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>
                <a:stCxn id="312" idx="3"/>
                <a:endCxn id="298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Rectangle 311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3854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336" name="Rectangle 335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38" name="Straight Connector 337"/>
              <p:cNvCxnSpPr>
                <a:stCxn id="336" idx="3"/>
                <a:endCxn id="340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>
                <a:stCxn id="340" idx="3"/>
                <a:endCxn id="337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Rectangle 339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3521" name="Group 280"/>
          <p:cNvGrpSpPr>
            <a:grpSpLocks/>
          </p:cNvGrpSpPr>
          <p:nvPr/>
        </p:nvGrpSpPr>
        <p:grpSpPr bwMode="auto">
          <a:xfrm>
            <a:off x="4735514" y="646113"/>
            <a:ext cx="496887" cy="298450"/>
            <a:chOff x="2492571" y="626400"/>
            <a:chExt cx="496363" cy="299041"/>
          </a:xfrm>
        </p:grpSpPr>
        <p:grpSp>
          <p:nvGrpSpPr>
            <p:cNvPr id="63841" name="Group 276"/>
            <p:cNvGrpSpPr>
              <a:grpSpLocks/>
            </p:cNvGrpSpPr>
            <p:nvPr/>
          </p:nvGrpSpPr>
          <p:grpSpPr bwMode="auto">
            <a:xfrm>
              <a:off x="2492571" y="626400"/>
              <a:ext cx="496363" cy="108000"/>
              <a:chOff x="4435677" y="602215"/>
              <a:chExt cx="496363" cy="108000"/>
            </a:xfrm>
          </p:grpSpPr>
          <p:sp>
            <p:nvSpPr>
              <p:cNvPr id="378" name="Rectangle 377"/>
              <p:cNvSpPr/>
              <p:nvPr/>
            </p:nvSpPr>
            <p:spPr>
              <a:xfrm>
                <a:off x="4435677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4817861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0" name="Straight Connector 379"/>
              <p:cNvCxnSpPr>
                <a:stCxn id="378" idx="3"/>
                <a:endCxn id="382" idx="1"/>
              </p:cNvCxnSpPr>
              <p:nvPr/>
            </p:nvCxnSpPr>
            <p:spPr>
              <a:xfrm>
                <a:off x="4549856" y="656297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>
                <a:stCxn id="382" idx="3"/>
                <a:endCxn id="379" idx="1"/>
              </p:cNvCxnSpPr>
              <p:nvPr/>
            </p:nvCxnSpPr>
            <p:spPr>
              <a:xfrm>
                <a:off x="4738569" y="656297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Rectangle 381"/>
              <p:cNvSpPr/>
              <p:nvPr/>
            </p:nvSpPr>
            <p:spPr>
              <a:xfrm>
                <a:off x="4622804" y="602215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3842" name="Group 277"/>
            <p:cNvGrpSpPr>
              <a:grpSpLocks/>
            </p:cNvGrpSpPr>
            <p:nvPr/>
          </p:nvGrpSpPr>
          <p:grpSpPr bwMode="auto">
            <a:xfrm>
              <a:off x="2492571" y="817441"/>
              <a:ext cx="496363" cy="108000"/>
              <a:chOff x="4435677" y="856701"/>
              <a:chExt cx="496363" cy="108000"/>
            </a:xfrm>
          </p:grpSpPr>
          <p:sp>
            <p:nvSpPr>
              <p:cNvPr id="362" name="Rectangle 361"/>
              <p:cNvSpPr/>
              <p:nvPr/>
            </p:nvSpPr>
            <p:spPr>
              <a:xfrm>
                <a:off x="4435677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4817861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75" name="Straight Connector 374"/>
              <p:cNvCxnSpPr>
                <a:stCxn id="362" idx="3"/>
                <a:endCxn id="377" idx="1"/>
              </p:cNvCxnSpPr>
              <p:nvPr/>
            </p:nvCxnSpPr>
            <p:spPr>
              <a:xfrm>
                <a:off x="4549856" y="910619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>
                <a:stCxn id="377" idx="3"/>
                <a:endCxn id="374" idx="1"/>
              </p:cNvCxnSpPr>
              <p:nvPr/>
            </p:nvCxnSpPr>
            <p:spPr>
              <a:xfrm>
                <a:off x="4738569" y="910619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/>
              <p:cNvSpPr/>
              <p:nvPr/>
            </p:nvSpPr>
            <p:spPr>
              <a:xfrm>
                <a:off x="4622804" y="856538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3522" name="Group 634"/>
          <p:cNvGrpSpPr>
            <a:grpSpLocks/>
          </p:cNvGrpSpPr>
          <p:nvPr/>
        </p:nvGrpSpPr>
        <p:grpSpPr bwMode="auto">
          <a:xfrm>
            <a:off x="7896225" y="646113"/>
            <a:ext cx="496888" cy="298450"/>
            <a:chOff x="4461016" y="615183"/>
            <a:chExt cx="496363" cy="299041"/>
          </a:xfrm>
        </p:grpSpPr>
        <p:grpSp>
          <p:nvGrpSpPr>
            <p:cNvPr id="63829" name="Group 633"/>
            <p:cNvGrpSpPr>
              <a:grpSpLocks/>
            </p:cNvGrpSpPr>
            <p:nvPr/>
          </p:nvGrpSpPr>
          <p:grpSpPr bwMode="auto">
            <a:xfrm>
              <a:off x="4461016" y="615183"/>
              <a:ext cx="496363" cy="108000"/>
              <a:chOff x="4461016" y="615183"/>
              <a:chExt cx="496363" cy="108000"/>
            </a:xfrm>
          </p:grpSpPr>
          <p:sp>
            <p:nvSpPr>
              <p:cNvPr id="391" name="Rectangle 390"/>
              <p:cNvSpPr/>
              <p:nvPr/>
            </p:nvSpPr>
            <p:spPr>
              <a:xfrm>
                <a:off x="4461016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Rectangle 394"/>
              <p:cNvSpPr/>
              <p:nvPr/>
            </p:nvSpPr>
            <p:spPr>
              <a:xfrm>
                <a:off x="4843200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96" name="Straight Connector 395"/>
              <p:cNvCxnSpPr>
                <a:stCxn id="391" idx="3"/>
                <a:endCxn id="398" idx="1"/>
              </p:cNvCxnSpPr>
              <p:nvPr/>
            </p:nvCxnSpPr>
            <p:spPr>
              <a:xfrm>
                <a:off x="4575195" y="669265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/>
              <p:cNvCxnSpPr>
                <a:stCxn id="398" idx="3"/>
                <a:endCxn id="395" idx="1"/>
              </p:cNvCxnSpPr>
              <p:nvPr/>
            </p:nvCxnSpPr>
            <p:spPr>
              <a:xfrm>
                <a:off x="4763909" y="669265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Rectangle 397"/>
              <p:cNvSpPr/>
              <p:nvPr/>
            </p:nvSpPr>
            <p:spPr>
              <a:xfrm>
                <a:off x="4648143" y="615183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3830" name="Group 632"/>
            <p:cNvGrpSpPr>
              <a:grpSpLocks/>
            </p:cNvGrpSpPr>
            <p:nvPr/>
          </p:nvGrpSpPr>
          <p:grpSpPr bwMode="auto">
            <a:xfrm>
              <a:off x="4461016" y="806224"/>
              <a:ext cx="496363" cy="108000"/>
              <a:chOff x="4461016" y="806224"/>
              <a:chExt cx="496363" cy="108000"/>
            </a:xfrm>
          </p:grpSpPr>
          <p:sp>
            <p:nvSpPr>
              <p:cNvPr id="386" name="Rectangle 385"/>
              <p:cNvSpPr/>
              <p:nvPr/>
            </p:nvSpPr>
            <p:spPr>
              <a:xfrm>
                <a:off x="4461016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Rectangle 386"/>
              <p:cNvSpPr/>
              <p:nvPr/>
            </p:nvSpPr>
            <p:spPr>
              <a:xfrm>
                <a:off x="4843200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8" name="Straight Connector 387"/>
              <p:cNvCxnSpPr>
                <a:stCxn id="386" idx="3"/>
                <a:endCxn id="390" idx="1"/>
              </p:cNvCxnSpPr>
              <p:nvPr/>
            </p:nvCxnSpPr>
            <p:spPr>
              <a:xfrm>
                <a:off x="4575195" y="860142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/>
              <p:cNvCxnSpPr>
                <a:stCxn id="390" idx="3"/>
                <a:endCxn id="387" idx="1"/>
              </p:cNvCxnSpPr>
              <p:nvPr/>
            </p:nvCxnSpPr>
            <p:spPr>
              <a:xfrm>
                <a:off x="4763909" y="860142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/>
              <p:cNvSpPr/>
              <p:nvPr/>
            </p:nvSpPr>
            <p:spPr>
              <a:xfrm>
                <a:off x="4648143" y="806061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3523" name="Group 630"/>
          <p:cNvGrpSpPr>
            <a:grpSpLocks/>
          </p:cNvGrpSpPr>
          <p:nvPr/>
        </p:nvGrpSpPr>
        <p:grpSpPr bwMode="auto">
          <a:xfrm>
            <a:off x="9344025" y="646113"/>
            <a:ext cx="496888" cy="298450"/>
            <a:chOff x="5392726" y="627663"/>
            <a:chExt cx="496363" cy="299041"/>
          </a:xfrm>
        </p:grpSpPr>
        <p:sp>
          <p:nvSpPr>
            <p:cNvPr id="407" name="Rectangle 406"/>
            <p:cNvSpPr/>
            <p:nvPr/>
          </p:nvSpPr>
          <p:spPr>
            <a:xfrm>
              <a:off x="5392726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5774910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9" name="Straight Connector 408"/>
            <p:cNvCxnSpPr>
              <a:stCxn id="407" idx="3"/>
              <a:endCxn id="411" idx="1"/>
            </p:cNvCxnSpPr>
            <p:nvPr/>
          </p:nvCxnSpPr>
          <p:spPr>
            <a:xfrm>
              <a:off x="5506905" y="681745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>
              <a:stCxn id="411" idx="3"/>
              <a:endCxn id="408" idx="1"/>
            </p:cNvCxnSpPr>
            <p:nvPr/>
          </p:nvCxnSpPr>
          <p:spPr>
            <a:xfrm>
              <a:off x="5695619" y="681745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ectangle 410"/>
            <p:cNvSpPr/>
            <p:nvPr/>
          </p:nvSpPr>
          <p:spPr>
            <a:xfrm>
              <a:off x="5579853" y="627663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392726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74910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4" name="Straight Connector 403"/>
            <p:cNvCxnSpPr>
              <a:stCxn id="402" idx="3"/>
              <a:endCxn id="406" idx="1"/>
            </p:cNvCxnSpPr>
            <p:nvPr/>
          </p:nvCxnSpPr>
          <p:spPr>
            <a:xfrm>
              <a:off x="5506905" y="872622"/>
              <a:ext cx="72948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>
              <a:stCxn id="406" idx="3"/>
              <a:endCxn id="403" idx="1"/>
            </p:cNvCxnSpPr>
            <p:nvPr/>
          </p:nvCxnSpPr>
          <p:spPr>
            <a:xfrm>
              <a:off x="5695619" y="872622"/>
              <a:ext cx="79291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Rectangle 405"/>
            <p:cNvSpPr/>
            <p:nvPr/>
          </p:nvSpPr>
          <p:spPr>
            <a:xfrm>
              <a:off x="5579853" y="818540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63524" name="TextBox 636"/>
          <p:cNvSpPr txBox="1">
            <a:spLocks noChangeArrowheads="1"/>
          </p:cNvSpPr>
          <p:nvPr/>
        </p:nvSpPr>
        <p:spPr bwMode="auto">
          <a:xfrm>
            <a:off x="4857751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63525" name="Group 657"/>
          <p:cNvGrpSpPr>
            <a:grpSpLocks/>
          </p:cNvGrpSpPr>
          <p:nvPr/>
        </p:nvGrpSpPr>
        <p:grpSpPr bwMode="auto">
          <a:xfrm>
            <a:off x="2071688" y="2205038"/>
            <a:ext cx="495300" cy="298450"/>
            <a:chOff x="547245" y="2204864"/>
            <a:chExt cx="496363" cy="298173"/>
          </a:xfrm>
        </p:grpSpPr>
        <p:grpSp>
          <p:nvGrpSpPr>
            <p:cNvPr id="63807" name="Group 656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50" name="Rectangle 649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51" name="Rectangle 650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2" name="Straight Connector 651"/>
              <p:cNvCxnSpPr>
                <a:stCxn id="650" idx="3"/>
                <a:endCxn id="654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>
                <a:stCxn id="654" idx="3"/>
                <a:endCxn id="651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4" name="Rectangle 653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3808" name="Group 643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45" name="Rectangle 644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46" name="Rectangle 645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47" name="Straight Connector 646"/>
              <p:cNvCxnSpPr>
                <a:stCxn id="645" idx="3"/>
                <a:endCxn id="649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>
                <a:stCxn id="649" idx="3"/>
                <a:endCxn id="646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9" name="Rectangle 648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3526" name="Group 658"/>
          <p:cNvGrpSpPr>
            <a:grpSpLocks/>
          </p:cNvGrpSpPr>
          <p:nvPr/>
        </p:nvGrpSpPr>
        <p:grpSpPr bwMode="auto">
          <a:xfrm>
            <a:off x="3487738" y="2205038"/>
            <a:ext cx="495300" cy="298450"/>
            <a:chOff x="547245" y="2204864"/>
            <a:chExt cx="496363" cy="298173"/>
          </a:xfrm>
        </p:grpSpPr>
        <p:grpSp>
          <p:nvGrpSpPr>
            <p:cNvPr id="63795" name="Group 659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67" name="Rectangle 666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8" name="Rectangle 667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9" name="Straight Connector 668"/>
              <p:cNvCxnSpPr>
                <a:stCxn id="667" idx="3"/>
                <a:endCxn id="671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Straight Connector 669"/>
              <p:cNvCxnSpPr>
                <a:stCxn id="671" idx="3"/>
                <a:endCxn id="668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1" name="Rectangle 670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3796" name="Group 660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62" name="Rectangle 661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3" name="Rectangle 662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4" name="Straight Connector 663"/>
              <p:cNvCxnSpPr>
                <a:stCxn id="662" idx="3"/>
                <a:endCxn id="666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Straight Connector 664"/>
              <p:cNvCxnSpPr>
                <a:stCxn id="666" idx="3"/>
                <a:endCxn id="663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6" name="Rectangle 665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3527" name="Group 685"/>
          <p:cNvGrpSpPr>
            <a:grpSpLocks/>
          </p:cNvGrpSpPr>
          <p:nvPr/>
        </p:nvGrpSpPr>
        <p:grpSpPr bwMode="auto">
          <a:xfrm>
            <a:off x="4903789" y="2205038"/>
            <a:ext cx="496887" cy="298450"/>
            <a:chOff x="3347864" y="2204864"/>
            <a:chExt cx="496363" cy="298173"/>
          </a:xfrm>
        </p:grpSpPr>
        <p:grpSp>
          <p:nvGrpSpPr>
            <p:cNvPr id="63784" name="Group 673"/>
            <p:cNvGrpSpPr>
              <a:grpSpLocks/>
            </p:cNvGrpSpPr>
            <p:nvPr/>
          </p:nvGrpSpPr>
          <p:grpSpPr bwMode="auto">
            <a:xfrm>
              <a:off x="3347864" y="2395037"/>
              <a:ext cx="496363" cy="108000"/>
              <a:chOff x="547245" y="2395037"/>
              <a:chExt cx="496363" cy="108000"/>
            </a:xfrm>
          </p:grpSpPr>
          <p:sp>
            <p:nvSpPr>
              <p:cNvPr id="681" name="Rectangle 680"/>
              <p:cNvSpPr/>
              <p:nvPr/>
            </p:nvSpPr>
            <p:spPr>
              <a:xfrm>
                <a:off x="547245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82" name="Rectangle 681"/>
              <p:cNvSpPr/>
              <p:nvPr/>
            </p:nvSpPr>
            <p:spPr>
              <a:xfrm>
                <a:off x="929429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83" name="Straight Connector 682"/>
              <p:cNvCxnSpPr>
                <a:stCxn id="681" idx="3"/>
                <a:endCxn id="685" idx="1"/>
              </p:cNvCxnSpPr>
              <p:nvPr/>
            </p:nvCxnSpPr>
            <p:spPr>
              <a:xfrm>
                <a:off x="661424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Straight Connector 683"/>
              <p:cNvCxnSpPr>
                <a:stCxn id="685" idx="3"/>
                <a:endCxn id="682" idx="1"/>
              </p:cNvCxnSpPr>
              <p:nvPr/>
            </p:nvCxnSpPr>
            <p:spPr>
              <a:xfrm>
                <a:off x="850137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5" name="Rectangle 684"/>
              <p:cNvSpPr/>
              <p:nvPr/>
            </p:nvSpPr>
            <p:spPr>
              <a:xfrm>
                <a:off x="734372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76" name="Rectangle 675"/>
            <p:cNvSpPr/>
            <p:nvPr/>
          </p:nvSpPr>
          <p:spPr>
            <a:xfrm>
              <a:off x="3347864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677" name="Rectangle 676"/>
            <p:cNvSpPr/>
            <p:nvPr/>
          </p:nvSpPr>
          <p:spPr>
            <a:xfrm>
              <a:off x="3730048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678" name="Straight Connector 677"/>
            <p:cNvCxnSpPr>
              <a:stCxn id="676" idx="3"/>
              <a:endCxn id="680" idx="1"/>
            </p:cNvCxnSpPr>
            <p:nvPr/>
          </p:nvCxnSpPr>
          <p:spPr>
            <a:xfrm>
              <a:off x="3462043" y="2258789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/>
            <p:cNvCxnSpPr>
              <a:stCxn id="680" idx="3"/>
              <a:endCxn id="677" idx="1"/>
            </p:cNvCxnSpPr>
            <p:nvPr/>
          </p:nvCxnSpPr>
          <p:spPr>
            <a:xfrm>
              <a:off x="3650756" y="2258789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0" name="Rectangle 679"/>
            <p:cNvSpPr/>
            <p:nvPr/>
          </p:nvSpPr>
          <p:spPr>
            <a:xfrm>
              <a:off x="3534991" y="2204864"/>
              <a:ext cx="11576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3528" name="Group 705"/>
          <p:cNvGrpSpPr>
            <a:grpSpLocks/>
          </p:cNvGrpSpPr>
          <p:nvPr/>
        </p:nvGrpSpPr>
        <p:grpSpPr bwMode="auto">
          <a:xfrm>
            <a:off x="6319839" y="2205038"/>
            <a:ext cx="496887" cy="298450"/>
            <a:chOff x="4003628" y="2204864"/>
            <a:chExt cx="496364" cy="298173"/>
          </a:xfrm>
        </p:grpSpPr>
        <p:grpSp>
          <p:nvGrpSpPr>
            <p:cNvPr id="63772" name="Group 703"/>
            <p:cNvGrpSpPr>
              <a:grpSpLocks/>
            </p:cNvGrpSpPr>
            <p:nvPr/>
          </p:nvGrpSpPr>
          <p:grpSpPr bwMode="auto">
            <a:xfrm>
              <a:off x="4003628" y="2394908"/>
              <a:ext cx="496364" cy="108129"/>
              <a:chOff x="4003628" y="2394908"/>
              <a:chExt cx="496364" cy="108129"/>
            </a:xfrm>
          </p:grpSpPr>
          <p:sp>
            <p:nvSpPr>
              <p:cNvPr id="696" name="Rectangle 695"/>
              <p:cNvSpPr/>
              <p:nvPr/>
            </p:nvSpPr>
            <p:spPr>
              <a:xfrm>
                <a:off x="4003628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7" name="Rectangle 696"/>
              <p:cNvSpPr/>
              <p:nvPr/>
            </p:nvSpPr>
            <p:spPr>
              <a:xfrm>
                <a:off x="4385812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8" name="Straight Connector 697"/>
              <p:cNvCxnSpPr>
                <a:stCxn id="696" idx="3"/>
                <a:endCxn id="700" idx="1"/>
              </p:cNvCxnSpPr>
              <p:nvPr/>
            </p:nvCxnSpPr>
            <p:spPr>
              <a:xfrm>
                <a:off x="4117808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Straight Connector 698"/>
              <p:cNvCxnSpPr>
                <a:stCxn id="700" idx="3"/>
                <a:endCxn id="697" idx="1"/>
              </p:cNvCxnSpPr>
              <p:nvPr/>
            </p:nvCxnSpPr>
            <p:spPr>
              <a:xfrm>
                <a:off x="4306521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Rectangle 699"/>
              <p:cNvSpPr/>
              <p:nvPr/>
            </p:nvSpPr>
            <p:spPr>
              <a:xfrm>
                <a:off x="4190756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3773" name="Group 704"/>
            <p:cNvGrpSpPr>
              <a:grpSpLocks/>
            </p:cNvGrpSpPr>
            <p:nvPr/>
          </p:nvGrpSpPr>
          <p:grpSpPr bwMode="auto">
            <a:xfrm>
              <a:off x="4003629" y="2204864"/>
              <a:ext cx="496363" cy="108000"/>
              <a:chOff x="4003629" y="2204864"/>
              <a:chExt cx="496363" cy="108000"/>
            </a:xfrm>
          </p:grpSpPr>
          <p:sp>
            <p:nvSpPr>
              <p:cNvPr id="691" name="Rectangle 690"/>
              <p:cNvSpPr/>
              <p:nvPr/>
            </p:nvSpPr>
            <p:spPr>
              <a:xfrm>
                <a:off x="4003628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2" name="Rectangle 691"/>
              <p:cNvSpPr/>
              <p:nvPr/>
            </p:nvSpPr>
            <p:spPr>
              <a:xfrm>
                <a:off x="4385812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3" name="Straight Connector 692"/>
              <p:cNvCxnSpPr>
                <a:stCxn id="691" idx="3"/>
                <a:endCxn id="695" idx="1"/>
              </p:cNvCxnSpPr>
              <p:nvPr/>
            </p:nvCxnSpPr>
            <p:spPr>
              <a:xfrm>
                <a:off x="4117808" y="2258789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/>
              <p:cNvCxnSpPr>
                <a:stCxn id="695" idx="3"/>
                <a:endCxn id="692" idx="1"/>
              </p:cNvCxnSpPr>
              <p:nvPr/>
            </p:nvCxnSpPr>
            <p:spPr>
              <a:xfrm>
                <a:off x="4306521" y="2258789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5" name="Rectangle 694"/>
              <p:cNvSpPr/>
              <p:nvPr/>
            </p:nvSpPr>
            <p:spPr>
              <a:xfrm>
                <a:off x="4190756" y="2204864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58" name="Rectangle 757"/>
          <p:cNvSpPr/>
          <p:nvPr/>
        </p:nvSpPr>
        <p:spPr>
          <a:xfrm>
            <a:off x="7904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9" name="Rectangle 758"/>
          <p:cNvSpPr/>
          <p:nvPr/>
        </p:nvSpPr>
        <p:spPr>
          <a:xfrm>
            <a:off x="8285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60" name="Straight Connector 759"/>
          <p:cNvCxnSpPr>
            <a:stCxn id="758" idx="3"/>
            <a:endCxn id="762" idx="1"/>
          </p:cNvCxnSpPr>
          <p:nvPr/>
        </p:nvCxnSpPr>
        <p:spPr>
          <a:xfrm>
            <a:off x="8018464" y="2449513"/>
            <a:ext cx="7302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/>
          <p:cNvCxnSpPr>
            <a:stCxn id="762" idx="3"/>
            <a:endCxn id="759" idx="1"/>
          </p:cNvCxnSpPr>
          <p:nvPr/>
        </p:nvCxnSpPr>
        <p:spPr>
          <a:xfrm>
            <a:off x="8205789" y="2449513"/>
            <a:ext cx="7937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2" name="Rectangle 761"/>
          <p:cNvSpPr/>
          <p:nvPr/>
        </p:nvSpPr>
        <p:spPr>
          <a:xfrm>
            <a:off x="8091488" y="23955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3" name="Rectangle 752"/>
          <p:cNvSpPr/>
          <p:nvPr/>
        </p:nvSpPr>
        <p:spPr>
          <a:xfrm>
            <a:off x="7904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4" name="Rectangle 753"/>
          <p:cNvSpPr/>
          <p:nvPr/>
        </p:nvSpPr>
        <p:spPr>
          <a:xfrm>
            <a:off x="8285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55" name="Straight Connector 754"/>
          <p:cNvCxnSpPr>
            <a:stCxn id="753" idx="3"/>
            <a:endCxn id="757" idx="1"/>
          </p:cNvCxnSpPr>
          <p:nvPr/>
        </p:nvCxnSpPr>
        <p:spPr>
          <a:xfrm>
            <a:off x="8018464" y="2259013"/>
            <a:ext cx="7302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/>
          <p:cNvCxnSpPr>
            <a:stCxn id="757" idx="3"/>
            <a:endCxn id="754" idx="1"/>
          </p:cNvCxnSpPr>
          <p:nvPr/>
        </p:nvCxnSpPr>
        <p:spPr>
          <a:xfrm>
            <a:off x="8205789" y="2259013"/>
            <a:ext cx="7937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Rectangle 756"/>
          <p:cNvSpPr/>
          <p:nvPr/>
        </p:nvSpPr>
        <p:spPr>
          <a:xfrm>
            <a:off x="8091488" y="22050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63539" name="Group 786"/>
          <p:cNvGrpSpPr>
            <a:grpSpLocks/>
          </p:cNvGrpSpPr>
          <p:nvPr/>
        </p:nvGrpSpPr>
        <p:grpSpPr bwMode="auto">
          <a:xfrm>
            <a:off x="9344026" y="2205039"/>
            <a:ext cx="849313" cy="784225"/>
            <a:chOff x="7820052" y="2204864"/>
            <a:chExt cx="849731" cy="784280"/>
          </a:xfrm>
        </p:grpSpPr>
        <p:sp>
          <p:nvSpPr>
            <p:cNvPr id="2" name="Lightning Bolt 1"/>
            <p:cNvSpPr>
              <a:spLocks noChangeAspect="1"/>
            </p:cNvSpPr>
            <p:nvPr/>
          </p:nvSpPr>
          <p:spPr>
            <a:xfrm flipH="1" flipV="1">
              <a:off x="8212358" y="2531912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7820052" y="2395377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8201240" y="2395377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73" name="Straight Connector 772"/>
            <p:cNvCxnSpPr>
              <a:stCxn id="771" idx="3"/>
              <a:endCxn id="775" idx="1"/>
            </p:cNvCxnSpPr>
            <p:nvPr/>
          </p:nvCxnSpPr>
          <p:spPr>
            <a:xfrm>
              <a:off x="7934408" y="2449356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773"/>
            <p:cNvCxnSpPr>
              <a:stCxn id="775" idx="3"/>
              <a:endCxn id="772" idx="1"/>
            </p:cNvCxnSpPr>
            <p:nvPr/>
          </p:nvCxnSpPr>
          <p:spPr>
            <a:xfrm>
              <a:off x="8121825" y="2449356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5" name="Rectangle 774"/>
            <p:cNvSpPr/>
            <p:nvPr/>
          </p:nvSpPr>
          <p:spPr>
            <a:xfrm>
              <a:off x="8007469" y="2395377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7820052" y="2204864"/>
              <a:ext cx="114356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7" name="Rectangle 766"/>
            <p:cNvSpPr/>
            <p:nvPr/>
          </p:nvSpPr>
          <p:spPr>
            <a:xfrm>
              <a:off x="8201240" y="2204864"/>
              <a:ext cx="115945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68" name="Straight Connector 767"/>
            <p:cNvCxnSpPr>
              <a:stCxn id="766" idx="3"/>
              <a:endCxn id="770" idx="1"/>
            </p:cNvCxnSpPr>
            <p:nvPr/>
          </p:nvCxnSpPr>
          <p:spPr>
            <a:xfrm>
              <a:off x="7934408" y="2258843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/>
            <p:cNvCxnSpPr>
              <a:stCxn id="770" idx="3"/>
              <a:endCxn id="767" idx="1"/>
            </p:cNvCxnSpPr>
            <p:nvPr/>
          </p:nvCxnSpPr>
          <p:spPr>
            <a:xfrm>
              <a:off x="8121825" y="2258843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0" name="Rectangle 769"/>
            <p:cNvSpPr/>
            <p:nvPr/>
          </p:nvSpPr>
          <p:spPr>
            <a:xfrm>
              <a:off x="8007469" y="2204864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3540" name="Group 825"/>
          <p:cNvGrpSpPr>
            <a:grpSpLocks/>
          </p:cNvGrpSpPr>
          <p:nvPr/>
        </p:nvGrpSpPr>
        <p:grpSpPr bwMode="auto">
          <a:xfrm>
            <a:off x="6470651" y="3860801"/>
            <a:ext cx="849313" cy="784225"/>
            <a:chOff x="4860032" y="3861048"/>
            <a:chExt cx="849731" cy="784280"/>
          </a:xfrm>
        </p:grpSpPr>
        <p:sp>
          <p:nvSpPr>
            <p:cNvPr id="789" name="Lightning Bolt 788"/>
            <p:cNvSpPr>
              <a:spLocks noChangeAspect="1"/>
            </p:cNvSpPr>
            <p:nvPr/>
          </p:nvSpPr>
          <p:spPr>
            <a:xfrm flipH="1" flipV="1">
              <a:off x="5252338" y="4188096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0" name="Rectangle 789"/>
            <p:cNvSpPr/>
            <p:nvPr/>
          </p:nvSpPr>
          <p:spPr>
            <a:xfrm>
              <a:off x="4860032" y="4051561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5241220" y="4051561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2" name="Straight Connector 791"/>
            <p:cNvCxnSpPr>
              <a:stCxn id="790" idx="3"/>
              <a:endCxn id="794" idx="1"/>
            </p:cNvCxnSpPr>
            <p:nvPr/>
          </p:nvCxnSpPr>
          <p:spPr>
            <a:xfrm>
              <a:off x="4974388" y="4105540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/>
            <p:cNvCxnSpPr>
              <a:stCxn id="794" idx="3"/>
              <a:endCxn id="791" idx="1"/>
            </p:cNvCxnSpPr>
            <p:nvPr/>
          </p:nvCxnSpPr>
          <p:spPr>
            <a:xfrm>
              <a:off x="5161805" y="4105540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4" name="Rectangle 793"/>
            <p:cNvSpPr/>
            <p:nvPr/>
          </p:nvSpPr>
          <p:spPr>
            <a:xfrm>
              <a:off x="5047449" y="4051561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4860032" y="3861048"/>
              <a:ext cx="114356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6" name="Rectangle 795"/>
            <p:cNvSpPr/>
            <p:nvPr/>
          </p:nvSpPr>
          <p:spPr>
            <a:xfrm>
              <a:off x="5241220" y="3861048"/>
              <a:ext cx="115945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7" name="Straight Connector 796"/>
            <p:cNvCxnSpPr>
              <a:stCxn id="795" idx="3"/>
              <a:endCxn id="799" idx="1"/>
            </p:cNvCxnSpPr>
            <p:nvPr/>
          </p:nvCxnSpPr>
          <p:spPr>
            <a:xfrm>
              <a:off x="4974388" y="3915027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/>
            <p:cNvCxnSpPr>
              <a:stCxn id="799" idx="3"/>
              <a:endCxn id="796" idx="1"/>
            </p:cNvCxnSpPr>
            <p:nvPr/>
          </p:nvCxnSpPr>
          <p:spPr>
            <a:xfrm>
              <a:off x="5161805" y="3915027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9" name="Rectangle 798"/>
            <p:cNvSpPr/>
            <p:nvPr/>
          </p:nvSpPr>
          <p:spPr>
            <a:xfrm>
              <a:off x="5047449" y="3861048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3541" name="Group 828"/>
          <p:cNvGrpSpPr>
            <a:grpSpLocks/>
          </p:cNvGrpSpPr>
          <p:nvPr/>
        </p:nvGrpSpPr>
        <p:grpSpPr bwMode="auto">
          <a:xfrm>
            <a:off x="5038725" y="3860800"/>
            <a:ext cx="495300" cy="298450"/>
            <a:chOff x="3499573" y="3850907"/>
            <a:chExt cx="496363" cy="298173"/>
          </a:xfrm>
        </p:grpSpPr>
        <p:sp>
          <p:nvSpPr>
            <p:cNvPr id="808" name="Rectangle 807"/>
            <p:cNvSpPr/>
            <p:nvPr/>
          </p:nvSpPr>
          <p:spPr>
            <a:xfrm>
              <a:off x="3499573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3881391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10" name="Straight Connector 809"/>
            <p:cNvCxnSpPr>
              <a:stCxn id="808" idx="3"/>
              <a:endCxn id="812" idx="1"/>
            </p:cNvCxnSpPr>
            <p:nvPr/>
          </p:nvCxnSpPr>
          <p:spPr>
            <a:xfrm>
              <a:off x="3614118" y="4095155"/>
              <a:ext cx="73182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/>
            <p:cNvCxnSpPr>
              <a:stCxn id="812" idx="3"/>
              <a:endCxn id="809" idx="1"/>
            </p:cNvCxnSpPr>
            <p:nvPr/>
          </p:nvCxnSpPr>
          <p:spPr>
            <a:xfrm>
              <a:off x="3801845" y="4095155"/>
              <a:ext cx="7954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2" name="Rectangle 811"/>
            <p:cNvSpPr/>
            <p:nvPr/>
          </p:nvSpPr>
          <p:spPr>
            <a:xfrm>
              <a:off x="3687300" y="4041230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3499573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3881391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05" name="Straight Connector 804"/>
            <p:cNvCxnSpPr>
              <a:stCxn id="803" idx="3"/>
              <a:endCxn id="807" idx="1"/>
            </p:cNvCxnSpPr>
            <p:nvPr/>
          </p:nvCxnSpPr>
          <p:spPr>
            <a:xfrm>
              <a:off x="3614118" y="3904832"/>
              <a:ext cx="73182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/>
            <p:cNvCxnSpPr>
              <a:stCxn id="807" idx="3"/>
              <a:endCxn id="804" idx="1"/>
            </p:cNvCxnSpPr>
            <p:nvPr/>
          </p:nvCxnSpPr>
          <p:spPr>
            <a:xfrm>
              <a:off x="3801845" y="3904832"/>
              <a:ext cx="7954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7" name="Rectangle 806"/>
            <p:cNvSpPr/>
            <p:nvPr/>
          </p:nvSpPr>
          <p:spPr>
            <a:xfrm>
              <a:off x="3687300" y="3850907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80" name="Table 179"/>
          <p:cNvGraphicFramePr>
            <a:graphicFrameLocks noGrp="1"/>
          </p:cNvGraphicFramePr>
          <p:nvPr/>
        </p:nvGraphicFramePr>
        <p:xfrm>
          <a:off x="1905001" y="4267200"/>
          <a:ext cx="5029201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5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0.75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0.498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0.002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0.001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0.499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0.003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0.497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0.375</a:t>
                      </a:r>
                      <a:endParaRPr lang="en-GB" sz="11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</a:t>
            </a:r>
            <a:r>
              <a:rPr lang="en-GB" altLang="en-US" b="0" baseline="-25000"/>
              <a:t>Q</a:t>
            </a:r>
            <a:r>
              <a:rPr lang="en-GB" altLang="en-US"/>
              <a:t>: Locus Specific</a:t>
            </a:r>
            <a:r>
              <a:rPr lang="en-GB" altLang="en-US" b="0"/>
              <a:t> </a:t>
            </a:r>
            <a:r>
              <a:rPr lang="en-GB" altLang="en-US"/>
              <a:t>A</a:t>
            </a:r>
            <a:endParaRPr lang="en-GB" altLang="en-US" b="0"/>
          </a:p>
        </p:txBody>
      </p:sp>
      <p:sp>
        <p:nvSpPr>
          <p:cNvPr id="6451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l-GR" altLang="en-US"/>
              <a:t>φ</a:t>
            </a:r>
            <a:r>
              <a:rPr lang="en-GB" altLang="en-US" baseline="-25000"/>
              <a:t>11,12</a:t>
            </a:r>
            <a:r>
              <a:rPr lang="en-GB" altLang="en-US"/>
              <a:t> = 0.125, a</a:t>
            </a:r>
            <a:r>
              <a:rPr lang="en-GB" altLang="en-US" baseline="-25000"/>
              <a:t>11,12</a:t>
            </a:r>
            <a:r>
              <a:rPr lang="en-GB" altLang="en-US"/>
              <a:t> = 0.25</a:t>
            </a:r>
          </a:p>
          <a:p>
            <a:pPr lvl="1" eaLnBrk="1" hangingPunct="1"/>
            <a:r>
              <a:rPr lang="en-GB" altLang="en-US"/>
              <a:t>no further recombination </a:t>
            </a:r>
          </a:p>
          <a:p>
            <a:pPr lvl="1" eaLnBrk="1" hangingPunct="1"/>
            <a:r>
              <a:rPr lang="en-GB" altLang="en-US"/>
              <a:t>IBD occurs if </a:t>
            </a:r>
          </a:p>
          <a:p>
            <a:pPr lvl="2" eaLnBrk="1" hangingPunct="1"/>
            <a:r>
              <a:rPr lang="en-GB" altLang="en-US"/>
              <a:t>sample     from 11 &amp; recombined gamete from 12 &amp; target linked to  		</a:t>
            </a:r>
          </a:p>
          <a:p>
            <a:pPr lvl="3" eaLnBrk="1" hangingPunct="1"/>
            <a:r>
              <a:rPr lang="en-GB" altLang="en-US"/>
              <a:t>Probability … 0.5 x 0.5  x 0.5 = 0.125</a:t>
            </a:r>
          </a:p>
          <a:p>
            <a:pPr eaLnBrk="1" hangingPunct="1"/>
            <a:r>
              <a:rPr lang="en-GB" altLang="en-US"/>
              <a:t>Similarly for 9 &amp; 12, 10 &amp; 11</a:t>
            </a:r>
          </a:p>
        </p:txBody>
      </p:sp>
      <p:sp>
        <p:nvSpPr>
          <p:cNvPr id="6451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1575A5B-A4FC-46A4-B7CB-423F1FE7F0B1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451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87938" y="3357563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4079875" y="2997200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64520" name="Group 6"/>
          <p:cNvGrpSpPr>
            <a:grpSpLocks/>
          </p:cNvGrpSpPr>
          <p:nvPr/>
        </p:nvGrpSpPr>
        <p:grpSpPr bwMode="auto">
          <a:xfrm>
            <a:off x="7989889" y="1281114"/>
            <a:ext cx="2282825" cy="1139825"/>
            <a:chOff x="5602170" y="1628800"/>
            <a:chExt cx="2282198" cy="1140128"/>
          </a:xfrm>
        </p:grpSpPr>
        <p:sp>
          <p:nvSpPr>
            <p:cNvPr id="64521" name="TextBox 57"/>
            <p:cNvSpPr txBox="1">
              <a:spLocks noChangeArrowheads="1"/>
            </p:cNvSpPr>
            <p:nvPr/>
          </p:nvSpPr>
          <p:spPr bwMode="auto">
            <a:xfrm>
              <a:off x="5652120" y="1640468"/>
              <a:ext cx="428269" cy="36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b="1">
                  <a:solidFill>
                    <a:srgbClr val="000000"/>
                  </a:solidFill>
                </a:rPr>
                <a:t>11</a:t>
              </a:r>
            </a:p>
          </p:txBody>
        </p:sp>
        <p:sp>
          <p:nvSpPr>
            <p:cNvPr id="64522" name="TextBox 58"/>
            <p:cNvSpPr txBox="1">
              <a:spLocks noChangeArrowheads="1"/>
            </p:cNvSpPr>
            <p:nvPr/>
          </p:nvSpPr>
          <p:spPr bwMode="auto">
            <a:xfrm>
              <a:off x="7041232" y="1628800"/>
              <a:ext cx="441025" cy="36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b="1">
                  <a:solidFill>
                    <a:srgbClr val="000000"/>
                  </a:solidFill>
                </a:rPr>
                <a:t>12</a:t>
              </a:r>
            </a:p>
          </p:txBody>
        </p:sp>
        <p:grpSp>
          <p:nvGrpSpPr>
            <p:cNvPr id="64523" name="Group 59"/>
            <p:cNvGrpSpPr>
              <a:grpSpLocks/>
            </p:cNvGrpSpPr>
            <p:nvPr/>
          </p:nvGrpSpPr>
          <p:grpSpPr bwMode="auto">
            <a:xfrm>
              <a:off x="7034637" y="1984648"/>
              <a:ext cx="849731" cy="784280"/>
              <a:chOff x="4860032" y="3861048"/>
              <a:chExt cx="849731" cy="784280"/>
            </a:xfrm>
          </p:grpSpPr>
          <p:sp>
            <p:nvSpPr>
              <p:cNvPr id="61" name="Lightning Bolt 60"/>
              <p:cNvSpPr>
                <a:spLocks noChangeAspect="1"/>
              </p:cNvSpPr>
              <p:nvPr/>
            </p:nvSpPr>
            <p:spPr>
              <a:xfrm flipH="1" flipV="1">
                <a:off x="5252688" y="4188007"/>
                <a:ext cx="457075" cy="457321"/>
              </a:xfrm>
              <a:prstGeom prst="lightningBol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4860683" y="4051445"/>
                <a:ext cx="114269" cy="107979"/>
              </a:xfrm>
              <a:prstGeom prst="rect">
                <a:avLst/>
              </a:prstGeom>
              <a:solidFill>
                <a:srgbClr val="A6A6A6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5241578" y="4051445"/>
                <a:ext cx="115856" cy="107979"/>
              </a:xfrm>
              <a:prstGeom prst="rect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4" name="Straight Connector 63"/>
              <p:cNvCxnSpPr>
                <a:stCxn id="62" idx="3"/>
                <a:endCxn id="66" idx="1"/>
              </p:cNvCxnSpPr>
              <p:nvPr/>
            </p:nvCxnSpPr>
            <p:spPr>
              <a:xfrm>
                <a:off x="4974951" y="4105435"/>
                <a:ext cx="7300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>
                <a:stCxn id="66" idx="3"/>
                <a:endCxn id="63" idx="1"/>
              </p:cNvCxnSpPr>
              <p:nvPr/>
            </p:nvCxnSpPr>
            <p:spPr>
              <a:xfrm>
                <a:off x="5162225" y="4105435"/>
                <a:ext cx="79353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Rectangle 65"/>
              <p:cNvSpPr/>
              <p:nvPr/>
            </p:nvSpPr>
            <p:spPr>
              <a:xfrm>
                <a:off x="5047956" y="4051445"/>
                <a:ext cx="114269" cy="10797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4860683" y="3860895"/>
                <a:ext cx="114269" cy="107979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5241578" y="3860895"/>
                <a:ext cx="115856" cy="107979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" name="Straight Connector 68"/>
              <p:cNvCxnSpPr>
                <a:stCxn id="67" idx="3"/>
                <a:endCxn id="71" idx="1"/>
              </p:cNvCxnSpPr>
              <p:nvPr/>
            </p:nvCxnSpPr>
            <p:spPr>
              <a:xfrm>
                <a:off x="4974951" y="3914884"/>
                <a:ext cx="7300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>
                <a:stCxn id="71" idx="3"/>
                <a:endCxn id="68" idx="1"/>
              </p:cNvCxnSpPr>
              <p:nvPr/>
            </p:nvCxnSpPr>
            <p:spPr>
              <a:xfrm>
                <a:off x="5162225" y="3914884"/>
                <a:ext cx="79353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Rectangle 70"/>
              <p:cNvSpPr/>
              <p:nvPr/>
            </p:nvSpPr>
            <p:spPr>
              <a:xfrm>
                <a:off x="5047956" y="3860895"/>
                <a:ext cx="114269" cy="10797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4524" name="Group 71"/>
            <p:cNvGrpSpPr>
              <a:grpSpLocks/>
            </p:cNvGrpSpPr>
            <p:nvPr/>
          </p:nvGrpSpPr>
          <p:grpSpPr bwMode="auto">
            <a:xfrm>
              <a:off x="5602170" y="1984648"/>
              <a:ext cx="496363" cy="298173"/>
              <a:chOff x="3499573" y="3850907"/>
              <a:chExt cx="496363" cy="298173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3499573" y="4041304"/>
                <a:ext cx="114269" cy="107979"/>
              </a:xfrm>
              <a:prstGeom prst="rect">
                <a:avLst/>
              </a:prstGeom>
              <a:solidFill>
                <a:srgbClr val="A6A6A6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3882055" y="4041304"/>
                <a:ext cx="114269" cy="107979"/>
              </a:xfrm>
              <a:prstGeom prst="rect">
                <a:avLst/>
              </a:prstGeom>
              <a:solidFill>
                <a:srgbClr val="A6A6A6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75" name="Straight Connector 74"/>
              <p:cNvCxnSpPr>
                <a:stCxn id="73" idx="3"/>
                <a:endCxn id="77" idx="1"/>
              </p:cNvCxnSpPr>
              <p:nvPr/>
            </p:nvCxnSpPr>
            <p:spPr>
              <a:xfrm>
                <a:off x="3613842" y="4095294"/>
                <a:ext cx="7300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>
                <a:stCxn id="77" idx="3"/>
                <a:endCxn id="74" idx="1"/>
              </p:cNvCxnSpPr>
              <p:nvPr/>
            </p:nvCxnSpPr>
            <p:spPr>
              <a:xfrm>
                <a:off x="3802702" y="4095294"/>
                <a:ext cx="79353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Rectangle 76"/>
              <p:cNvSpPr/>
              <p:nvPr/>
            </p:nvSpPr>
            <p:spPr>
              <a:xfrm>
                <a:off x="3686847" y="4041304"/>
                <a:ext cx="115855" cy="10797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3499573" y="3850754"/>
                <a:ext cx="114269" cy="107979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3882055" y="3850754"/>
                <a:ext cx="114269" cy="107979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80" name="Straight Connector 79"/>
              <p:cNvCxnSpPr>
                <a:stCxn id="78" idx="3"/>
                <a:endCxn id="82" idx="1"/>
              </p:cNvCxnSpPr>
              <p:nvPr/>
            </p:nvCxnSpPr>
            <p:spPr>
              <a:xfrm>
                <a:off x="3613842" y="3904743"/>
                <a:ext cx="7300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>
                <a:stCxn id="82" idx="3"/>
                <a:endCxn id="79" idx="1"/>
              </p:cNvCxnSpPr>
              <p:nvPr/>
            </p:nvCxnSpPr>
            <p:spPr>
              <a:xfrm>
                <a:off x="3802702" y="3904743"/>
                <a:ext cx="79353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ectangle 81"/>
              <p:cNvSpPr/>
              <p:nvPr/>
            </p:nvSpPr>
            <p:spPr>
              <a:xfrm>
                <a:off x="3686847" y="3850754"/>
                <a:ext cx="115855" cy="10797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Straight Arrow Connector 466"/>
          <p:cNvCxnSpPr>
            <a:stCxn id="312" idx="2"/>
            <a:endCxn id="649" idx="0"/>
          </p:cNvCxnSpPr>
          <p:nvPr/>
        </p:nvCxnSpPr>
        <p:spPr>
          <a:xfrm flipH="1">
            <a:off x="2316163" y="944564"/>
            <a:ext cx="12303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/>
          <p:cNvCxnSpPr>
            <a:stCxn id="312" idx="2"/>
            <a:endCxn id="422" idx="0"/>
          </p:cNvCxnSpPr>
          <p:nvPr/>
        </p:nvCxnSpPr>
        <p:spPr>
          <a:xfrm>
            <a:off x="3546475" y="944564"/>
            <a:ext cx="2032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/>
          <p:cNvCxnSpPr>
            <a:stCxn id="312" idx="2"/>
            <a:endCxn id="680" idx="0"/>
          </p:cNvCxnSpPr>
          <p:nvPr/>
        </p:nvCxnSpPr>
        <p:spPr>
          <a:xfrm>
            <a:off x="3546475" y="944564"/>
            <a:ext cx="16017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/>
          <p:cNvCxnSpPr>
            <a:stCxn id="312" idx="2"/>
            <a:endCxn id="695" idx="0"/>
          </p:cNvCxnSpPr>
          <p:nvPr/>
        </p:nvCxnSpPr>
        <p:spPr>
          <a:xfrm>
            <a:off x="3546475" y="944564"/>
            <a:ext cx="301783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/>
          <p:cNvCxnSpPr>
            <a:stCxn id="377" idx="2"/>
            <a:endCxn id="649" idx="0"/>
          </p:cNvCxnSpPr>
          <p:nvPr/>
        </p:nvCxnSpPr>
        <p:spPr>
          <a:xfrm flipH="1">
            <a:off x="2316164" y="944564"/>
            <a:ext cx="26638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/>
          <p:cNvCxnSpPr>
            <a:stCxn id="377" idx="2"/>
            <a:endCxn id="666" idx="0"/>
          </p:cNvCxnSpPr>
          <p:nvPr/>
        </p:nvCxnSpPr>
        <p:spPr>
          <a:xfrm flipH="1">
            <a:off x="3732214" y="944564"/>
            <a:ext cx="12477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/>
          <p:cNvCxnSpPr>
            <a:stCxn id="377" idx="2"/>
            <a:endCxn id="680" idx="0"/>
          </p:cNvCxnSpPr>
          <p:nvPr/>
        </p:nvCxnSpPr>
        <p:spPr>
          <a:xfrm>
            <a:off x="4979989" y="944564"/>
            <a:ext cx="16827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/>
          <p:cNvCxnSpPr>
            <a:stCxn id="377" idx="2"/>
            <a:endCxn id="695" idx="0"/>
          </p:cNvCxnSpPr>
          <p:nvPr/>
        </p:nvCxnSpPr>
        <p:spPr>
          <a:xfrm>
            <a:off x="4979989" y="944564"/>
            <a:ext cx="1584325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/>
          <p:cNvCxnSpPr>
            <a:stCxn id="390" idx="2"/>
            <a:endCxn id="770" idx="0"/>
          </p:cNvCxnSpPr>
          <p:nvPr/>
        </p:nvCxnSpPr>
        <p:spPr>
          <a:xfrm>
            <a:off x="8140700" y="944564"/>
            <a:ext cx="144780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496"/>
          <p:cNvCxnSpPr>
            <a:stCxn id="406" idx="2"/>
            <a:endCxn id="533" idx="0"/>
          </p:cNvCxnSpPr>
          <p:nvPr/>
        </p:nvCxnSpPr>
        <p:spPr>
          <a:xfrm flipH="1">
            <a:off x="9582150" y="944564"/>
            <a:ext cx="6350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/>
          <p:cNvCxnSpPr>
            <a:stCxn id="390" idx="2"/>
            <a:endCxn id="517" idx="0"/>
          </p:cNvCxnSpPr>
          <p:nvPr/>
        </p:nvCxnSpPr>
        <p:spPr>
          <a:xfrm>
            <a:off x="8140700" y="944564"/>
            <a:ext cx="1588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/>
          <p:cNvCxnSpPr>
            <a:stCxn id="406" idx="2"/>
            <a:endCxn id="517" idx="0"/>
          </p:cNvCxnSpPr>
          <p:nvPr/>
        </p:nvCxnSpPr>
        <p:spPr>
          <a:xfrm flipH="1">
            <a:off x="8142288" y="944564"/>
            <a:ext cx="1446212" cy="126047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/>
          <p:cNvCxnSpPr>
            <a:stCxn id="671" idx="2"/>
            <a:endCxn id="65563" idx="2"/>
          </p:cNvCxnSpPr>
          <p:nvPr/>
        </p:nvCxnSpPr>
        <p:spPr>
          <a:xfrm>
            <a:off x="3732213" y="2503488"/>
            <a:ext cx="1569919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/>
          <p:cNvCxnSpPr>
            <a:stCxn id="685" idx="2"/>
            <a:endCxn id="799" idx="0"/>
          </p:cNvCxnSpPr>
          <p:nvPr/>
        </p:nvCxnSpPr>
        <p:spPr>
          <a:xfrm>
            <a:off x="5148263" y="2503488"/>
            <a:ext cx="1566862" cy="1357312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/>
          <p:cNvCxnSpPr>
            <a:endCxn id="799" idx="0"/>
          </p:cNvCxnSpPr>
          <p:nvPr/>
        </p:nvCxnSpPr>
        <p:spPr>
          <a:xfrm flipH="1">
            <a:off x="6715126" y="2503488"/>
            <a:ext cx="2874963" cy="1357312"/>
          </a:xfrm>
          <a:prstGeom prst="straightConnector1">
            <a:avLst/>
          </a:prstGeom>
          <a:ln w="952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/>
          <p:cNvCxnSpPr>
            <a:stCxn id="762" idx="2"/>
            <a:endCxn id="65563" idx="2"/>
          </p:cNvCxnSpPr>
          <p:nvPr/>
        </p:nvCxnSpPr>
        <p:spPr>
          <a:xfrm flipH="1">
            <a:off x="5302132" y="2503488"/>
            <a:ext cx="2846506" cy="138215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54" name="TextBox 509"/>
          <p:cNvSpPr txBox="1">
            <a:spLocks noChangeArrowheads="1"/>
          </p:cNvSpPr>
          <p:nvPr/>
        </p:nvSpPr>
        <p:spPr bwMode="auto">
          <a:xfrm>
            <a:off x="3417889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5555" name="TextBox 511"/>
          <p:cNvSpPr txBox="1">
            <a:spLocks noChangeArrowheads="1"/>
          </p:cNvSpPr>
          <p:nvPr/>
        </p:nvSpPr>
        <p:spPr bwMode="auto">
          <a:xfrm>
            <a:off x="80041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65556" name="TextBox 512"/>
          <p:cNvSpPr txBox="1">
            <a:spLocks noChangeArrowheads="1"/>
          </p:cNvSpPr>
          <p:nvPr/>
        </p:nvSpPr>
        <p:spPr bwMode="auto">
          <a:xfrm>
            <a:off x="9451976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65557" name="TextBox 513"/>
          <p:cNvSpPr txBox="1">
            <a:spLocks noChangeArrowheads="1"/>
          </p:cNvSpPr>
          <p:nvPr/>
        </p:nvSpPr>
        <p:spPr bwMode="auto">
          <a:xfrm>
            <a:off x="22129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65558" name="TextBox 514"/>
          <p:cNvSpPr txBox="1">
            <a:spLocks noChangeArrowheads="1"/>
          </p:cNvSpPr>
          <p:nvPr/>
        </p:nvSpPr>
        <p:spPr bwMode="auto">
          <a:xfrm>
            <a:off x="36226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65559" name="TextBox 515"/>
          <p:cNvSpPr txBox="1">
            <a:spLocks noChangeArrowheads="1"/>
          </p:cNvSpPr>
          <p:nvPr/>
        </p:nvSpPr>
        <p:spPr bwMode="auto">
          <a:xfrm>
            <a:off x="5032376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65560" name="TextBox 517"/>
          <p:cNvSpPr txBox="1">
            <a:spLocks noChangeArrowheads="1"/>
          </p:cNvSpPr>
          <p:nvPr/>
        </p:nvSpPr>
        <p:spPr bwMode="auto">
          <a:xfrm>
            <a:off x="6443664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65561" name="TextBox 518"/>
          <p:cNvSpPr txBox="1">
            <a:spLocks noChangeArrowheads="1"/>
          </p:cNvSpPr>
          <p:nvPr/>
        </p:nvSpPr>
        <p:spPr bwMode="auto">
          <a:xfrm>
            <a:off x="8026401" y="18446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65562" name="TextBox 519"/>
          <p:cNvSpPr txBox="1">
            <a:spLocks noChangeArrowheads="1"/>
          </p:cNvSpPr>
          <p:nvPr/>
        </p:nvSpPr>
        <p:spPr bwMode="auto">
          <a:xfrm>
            <a:off x="9336088" y="18446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65563" name="TextBox 520"/>
          <p:cNvSpPr txBox="1">
            <a:spLocks noChangeArrowheads="1"/>
          </p:cNvSpPr>
          <p:nvPr/>
        </p:nvSpPr>
        <p:spPr bwMode="auto">
          <a:xfrm>
            <a:off x="5087938" y="3516314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65564" name="TextBox 521"/>
          <p:cNvSpPr txBox="1">
            <a:spLocks noChangeArrowheads="1"/>
          </p:cNvSpPr>
          <p:nvPr/>
        </p:nvSpPr>
        <p:spPr bwMode="auto">
          <a:xfrm>
            <a:off x="6477000" y="3505200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65565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131EDB6-E8D0-4EC5-9A02-C043AD67D596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556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pSp>
        <p:nvGrpSpPr>
          <p:cNvPr id="65567" name="Group 271"/>
          <p:cNvGrpSpPr>
            <a:grpSpLocks/>
          </p:cNvGrpSpPr>
          <p:nvPr/>
        </p:nvGrpSpPr>
        <p:grpSpPr bwMode="auto">
          <a:xfrm>
            <a:off x="3302000" y="646113"/>
            <a:ext cx="495300" cy="298450"/>
            <a:chOff x="1778423" y="646539"/>
            <a:chExt cx="496363" cy="298173"/>
          </a:xfrm>
        </p:grpSpPr>
        <p:grpSp>
          <p:nvGrpSpPr>
            <p:cNvPr id="65900" name="Group 25"/>
            <p:cNvGrpSpPr>
              <a:grpSpLocks/>
            </p:cNvGrpSpPr>
            <p:nvPr/>
          </p:nvGrpSpPr>
          <p:grpSpPr bwMode="auto">
            <a:xfrm>
              <a:off x="1778423" y="836712"/>
              <a:ext cx="496363" cy="108000"/>
              <a:chOff x="1843389" y="836712"/>
              <a:chExt cx="496363" cy="108000"/>
            </a:xfrm>
          </p:grpSpPr>
          <p:sp>
            <p:nvSpPr>
              <p:cNvPr id="297" name="Rectangle 296"/>
              <p:cNvSpPr/>
              <p:nvPr/>
            </p:nvSpPr>
            <p:spPr>
              <a:xfrm>
                <a:off x="1843389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2225207" y="836862"/>
                <a:ext cx="114545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99" name="Straight Connector 298"/>
              <p:cNvCxnSpPr>
                <a:stCxn id="297" idx="3"/>
                <a:endCxn id="312" idx="1"/>
              </p:cNvCxnSpPr>
              <p:nvPr/>
            </p:nvCxnSpPr>
            <p:spPr>
              <a:xfrm>
                <a:off x="1957934" y="890787"/>
                <a:ext cx="73182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>
                <a:stCxn id="312" idx="3"/>
                <a:endCxn id="298" idx="1"/>
              </p:cNvCxnSpPr>
              <p:nvPr/>
            </p:nvCxnSpPr>
            <p:spPr>
              <a:xfrm>
                <a:off x="2145661" y="890787"/>
                <a:ext cx="79545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Rectangle 311"/>
              <p:cNvSpPr/>
              <p:nvPr/>
            </p:nvSpPr>
            <p:spPr>
              <a:xfrm>
                <a:off x="2031116" y="836862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5901" name="Group 270"/>
            <p:cNvGrpSpPr>
              <a:grpSpLocks/>
            </p:cNvGrpSpPr>
            <p:nvPr/>
          </p:nvGrpSpPr>
          <p:grpSpPr bwMode="auto">
            <a:xfrm>
              <a:off x="1778423" y="646539"/>
              <a:ext cx="496363" cy="108000"/>
              <a:chOff x="1778423" y="610523"/>
              <a:chExt cx="496363" cy="108000"/>
            </a:xfrm>
          </p:grpSpPr>
          <p:sp>
            <p:nvSpPr>
              <p:cNvPr id="336" name="Rectangle 335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38" name="Straight Connector 337"/>
              <p:cNvCxnSpPr>
                <a:stCxn id="336" idx="3"/>
                <a:endCxn id="340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>
                <a:stCxn id="340" idx="3"/>
                <a:endCxn id="337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Rectangle 339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5568" name="Group 280"/>
          <p:cNvGrpSpPr>
            <a:grpSpLocks/>
          </p:cNvGrpSpPr>
          <p:nvPr/>
        </p:nvGrpSpPr>
        <p:grpSpPr bwMode="auto">
          <a:xfrm>
            <a:off x="4735514" y="646113"/>
            <a:ext cx="496887" cy="298450"/>
            <a:chOff x="2492571" y="626400"/>
            <a:chExt cx="496363" cy="299041"/>
          </a:xfrm>
        </p:grpSpPr>
        <p:grpSp>
          <p:nvGrpSpPr>
            <p:cNvPr id="65888" name="Group 276"/>
            <p:cNvGrpSpPr>
              <a:grpSpLocks/>
            </p:cNvGrpSpPr>
            <p:nvPr/>
          </p:nvGrpSpPr>
          <p:grpSpPr bwMode="auto">
            <a:xfrm>
              <a:off x="2492571" y="626400"/>
              <a:ext cx="496363" cy="108000"/>
              <a:chOff x="4435677" y="602215"/>
              <a:chExt cx="496363" cy="108000"/>
            </a:xfrm>
          </p:grpSpPr>
          <p:sp>
            <p:nvSpPr>
              <p:cNvPr id="378" name="Rectangle 377"/>
              <p:cNvSpPr/>
              <p:nvPr/>
            </p:nvSpPr>
            <p:spPr>
              <a:xfrm>
                <a:off x="4435677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4817861" y="602215"/>
                <a:ext cx="114179" cy="10816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0" name="Straight Connector 379"/>
              <p:cNvCxnSpPr>
                <a:stCxn id="378" idx="3"/>
                <a:endCxn id="382" idx="1"/>
              </p:cNvCxnSpPr>
              <p:nvPr/>
            </p:nvCxnSpPr>
            <p:spPr>
              <a:xfrm>
                <a:off x="4549856" y="656297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>
                <a:stCxn id="382" idx="3"/>
                <a:endCxn id="379" idx="1"/>
              </p:cNvCxnSpPr>
              <p:nvPr/>
            </p:nvCxnSpPr>
            <p:spPr>
              <a:xfrm>
                <a:off x="4738569" y="656297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Rectangle 381"/>
              <p:cNvSpPr/>
              <p:nvPr/>
            </p:nvSpPr>
            <p:spPr>
              <a:xfrm>
                <a:off x="4622804" y="602215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5889" name="Group 277"/>
            <p:cNvGrpSpPr>
              <a:grpSpLocks/>
            </p:cNvGrpSpPr>
            <p:nvPr/>
          </p:nvGrpSpPr>
          <p:grpSpPr bwMode="auto">
            <a:xfrm>
              <a:off x="2492571" y="817441"/>
              <a:ext cx="496363" cy="108000"/>
              <a:chOff x="4435677" y="856701"/>
              <a:chExt cx="496363" cy="108000"/>
            </a:xfrm>
          </p:grpSpPr>
          <p:sp>
            <p:nvSpPr>
              <p:cNvPr id="362" name="Rectangle 361"/>
              <p:cNvSpPr/>
              <p:nvPr/>
            </p:nvSpPr>
            <p:spPr>
              <a:xfrm>
                <a:off x="4435677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4817861" y="856538"/>
                <a:ext cx="114179" cy="108163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75" name="Straight Connector 374"/>
              <p:cNvCxnSpPr>
                <a:stCxn id="362" idx="3"/>
                <a:endCxn id="377" idx="1"/>
              </p:cNvCxnSpPr>
              <p:nvPr/>
            </p:nvCxnSpPr>
            <p:spPr>
              <a:xfrm>
                <a:off x="4549856" y="910619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>
                <a:stCxn id="377" idx="3"/>
                <a:endCxn id="374" idx="1"/>
              </p:cNvCxnSpPr>
              <p:nvPr/>
            </p:nvCxnSpPr>
            <p:spPr>
              <a:xfrm>
                <a:off x="4738569" y="910619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/>
              <p:cNvSpPr/>
              <p:nvPr/>
            </p:nvSpPr>
            <p:spPr>
              <a:xfrm>
                <a:off x="4622804" y="856538"/>
                <a:ext cx="115765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5569" name="Group 634"/>
          <p:cNvGrpSpPr>
            <a:grpSpLocks/>
          </p:cNvGrpSpPr>
          <p:nvPr/>
        </p:nvGrpSpPr>
        <p:grpSpPr bwMode="auto">
          <a:xfrm>
            <a:off x="7896225" y="646113"/>
            <a:ext cx="496888" cy="298450"/>
            <a:chOff x="4461016" y="615183"/>
            <a:chExt cx="496363" cy="299041"/>
          </a:xfrm>
        </p:grpSpPr>
        <p:grpSp>
          <p:nvGrpSpPr>
            <p:cNvPr id="65876" name="Group 633"/>
            <p:cNvGrpSpPr>
              <a:grpSpLocks/>
            </p:cNvGrpSpPr>
            <p:nvPr/>
          </p:nvGrpSpPr>
          <p:grpSpPr bwMode="auto">
            <a:xfrm>
              <a:off x="4461016" y="615183"/>
              <a:ext cx="496363" cy="108000"/>
              <a:chOff x="4461016" y="615183"/>
              <a:chExt cx="496363" cy="108000"/>
            </a:xfrm>
          </p:grpSpPr>
          <p:sp>
            <p:nvSpPr>
              <p:cNvPr id="391" name="Rectangle 390"/>
              <p:cNvSpPr/>
              <p:nvPr/>
            </p:nvSpPr>
            <p:spPr>
              <a:xfrm>
                <a:off x="4461016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Rectangle 394"/>
              <p:cNvSpPr/>
              <p:nvPr/>
            </p:nvSpPr>
            <p:spPr>
              <a:xfrm>
                <a:off x="4843200" y="615183"/>
                <a:ext cx="114179" cy="108163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96" name="Straight Connector 395"/>
              <p:cNvCxnSpPr>
                <a:stCxn id="391" idx="3"/>
                <a:endCxn id="398" idx="1"/>
              </p:cNvCxnSpPr>
              <p:nvPr/>
            </p:nvCxnSpPr>
            <p:spPr>
              <a:xfrm>
                <a:off x="4575195" y="669265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/>
              <p:cNvCxnSpPr>
                <a:stCxn id="398" idx="3"/>
                <a:endCxn id="395" idx="1"/>
              </p:cNvCxnSpPr>
              <p:nvPr/>
            </p:nvCxnSpPr>
            <p:spPr>
              <a:xfrm>
                <a:off x="4763909" y="669265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Rectangle 397"/>
              <p:cNvSpPr/>
              <p:nvPr/>
            </p:nvSpPr>
            <p:spPr>
              <a:xfrm>
                <a:off x="4648143" y="615183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5877" name="Group 632"/>
            <p:cNvGrpSpPr>
              <a:grpSpLocks/>
            </p:cNvGrpSpPr>
            <p:nvPr/>
          </p:nvGrpSpPr>
          <p:grpSpPr bwMode="auto">
            <a:xfrm>
              <a:off x="4461016" y="806224"/>
              <a:ext cx="496363" cy="108000"/>
              <a:chOff x="4461016" y="806224"/>
              <a:chExt cx="496363" cy="108000"/>
            </a:xfrm>
          </p:grpSpPr>
          <p:sp>
            <p:nvSpPr>
              <p:cNvPr id="386" name="Rectangle 385"/>
              <p:cNvSpPr/>
              <p:nvPr/>
            </p:nvSpPr>
            <p:spPr>
              <a:xfrm>
                <a:off x="4461016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Rectangle 386"/>
              <p:cNvSpPr/>
              <p:nvPr/>
            </p:nvSpPr>
            <p:spPr>
              <a:xfrm>
                <a:off x="4843200" y="806061"/>
                <a:ext cx="114179" cy="108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8" name="Straight Connector 387"/>
              <p:cNvCxnSpPr>
                <a:stCxn id="386" idx="3"/>
                <a:endCxn id="390" idx="1"/>
              </p:cNvCxnSpPr>
              <p:nvPr/>
            </p:nvCxnSpPr>
            <p:spPr>
              <a:xfrm>
                <a:off x="4575195" y="860142"/>
                <a:ext cx="72948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/>
              <p:cNvCxnSpPr>
                <a:stCxn id="390" idx="3"/>
                <a:endCxn id="387" idx="1"/>
              </p:cNvCxnSpPr>
              <p:nvPr/>
            </p:nvCxnSpPr>
            <p:spPr>
              <a:xfrm>
                <a:off x="4763909" y="860142"/>
                <a:ext cx="79291" cy="0"/>
              </a:xfrm>
              <a:prstGeom prst="line">
                <a:avLst/>
              </a:prstGeom>
              <a:solidFill>
                <a:srgbClr val="92D050"/>
              </a:solidFill>
              <a:ln w="127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/>
              <p:cNvSpPr/>
              <p:nvPr/>
            </p:nvSpPr>
            <p:spPr>
              <a:xfrm>
                <a:off x="4648143" y="806061"/>
                <a:ext cx="115766" cy="1081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5570" name="Group 630"/>
          <p:cNvGrpSpPr>
            <a:grpSpLocks/>
          </p:cNvGrpSpPr>
          <p:nvPr/>
        </p:nvGrpSpPr>
        <p:grpSpPr bwMode="auto">
          <a:xfrm>
            <a:off x="9344025" y="646113"/>
            <a:ext cx="496888" cy="298450"/>
            <a:chOff x="5392726" y="627663"/>
            <a:chExt cx="496363" cy="299041"/>
          </a:xfrm>
        </p:grpSpPr>
        <p:sp>
          <p:nvSpPr>
            <p:cNvPr id="407" name="Rectangle 406"/>
            <p:cNvSpPr/>
            <p:nvPr/>
          </p:nvSpPr>
          <p:spPr>
            <a:xfrm>
              <a:off x="5392726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5774910" y="627663"/>
              <a:ext cx="114179" cy="108164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9" name="Straight Connector 408"/>
            <p:cNvCxnSpPr>
              <a:stCxn id="407" idx="3"/>
              <a:endCxn id="411" idx="1"/>
            </p:cNvCxnSpPr>
            <p:nvPr/>
          </p:nvCxnSpPr>
          <p:spPr>
            <a:xfrm>
              <a:off x="5506905" y="681745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>
              <a:stCxn id="411" idx="3"/>
              <a:endCxn id="408" idx="1"/>
            </p:cNvCxnSpPr>
            <p:nvPr/>
          </p:nvCxnSpPr>
          <p:spPr>
            <a:xfrm>
              <a:off x="5695619" y="681745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ectangle 410"/>
            <p:cNvSpPr/>
            <p:nvPr/>
          </p:nvSpPr>
          <p:spPr>
            <a:xfrm>
              <a:off x="5579853" y="627663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392726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74910" y="818540"/>
              <a:ext cx="114179" cy="10816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404" name="Straight Connector 403"/>
            <p:cNvCxnSpPr>
              <a:stCxn id="402" idx="3"/>
              <a:endCxn id="406" idx="1"/>
            </p:cNvCxnSpPr>
            <p:nvPr/>
          </p:nvCxnSpPr>
          <p:spPr>
            <a:xfrm>
              <a:off x="5506905" y="872622"/>
              <a:ext cx="72948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>
              <a:stCxn id="406" idx="3"/>
              <a:endCxn id="403" idx="1"/>
            </p:cNvCxnSpPr>
            <p:nvPr/>
          </p:nvCxnSpPr>
          <p:spPr>
            <a:xfrm>
              <a:off x="5695619" y="872622"/>
              <a:ext cx="79291" cy="0"/>
            </a:xfrm>
            <a:prstGeom prst="line">
              <a:avLst/>
            </a:prstGeom>
            <a:solidFill>
              <a:srgbClr val="92D05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Rectangle 405"/>
            <p:cNvSpPr/>
            <p:nvPr/>
          </p:nvSpPr>
          <p:spPr>
            <a:xfrm>
              <a:off x="5579853" y="818540"/>
              <a:ext cx="115766" cy="108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65571" name="TextBox 636"/>
          <p:cNvSpPr txBox="1">
            <a:spLocks noChangeArrowheads="1"/>
          </p:cNvSpPr>
          <p:nvPr/>
        </p:nvSpPr>
        <p:spPr bwMode="auto">
          <a:xfrm>
            <a:off x="4857751" y="31591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65572" name="Group 657"/>
          <p:cNvGrpSpPr>
            <a:grpSpLocks/>
          </p:cNvGrpSpPr>
          <p:nvPr/>
        </p:nvGrpSpPr>
        <p:grpSpPr bwMode="auto">
          <a:xfrm>
            <a:off x="2071688" y="2205038"/>
            <a:ext cx="495300" cy="298450"/>
            <a:chOff x="547245" y="2204864"/>
            <a:chExt cx="496363" cy="298173"/>
          </a:xfrm>
        </p:grpSpPr>
        <p:grpSp>
          <p:nvGrpSpPr>
            <p:cNvPr id="65854" name="Group 656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50" name="Rectangle 649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51" name="Rectangle 650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2" name="Straight Connector 651"/>
              <p:cNvCxnSpPr>
                <a:stCxn id="650" idx="3"/>
                <a:endCxn id="654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>
                <a:stCxn id="654" idx="3"/>
                <a:endCxn id="651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4" name="Rectangle 653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5855" name="Group 643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45" name="Rectangle 644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46" name="Rectangle 645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47" name="Straight Connector 646"/>
              <p:cNvCxnSpPr>
                <a:stCxn id="645" idx="3"/>
                <a:endCxn id="649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>
                <a:stCxn id="649" idx="3"/>
                <a:endCxn id="646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9" name="Rectangle 648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5573" name="Group 658"/>
          <p:cNvGrpSpPr>
            <a:grpSpLocks/>
          </p:cNvGrpSpPr>
          <p:nvPr/>
        </p:nvGrpSpPr>
        <p:grpSpPr bwMode="auto">
          <a:xfrm>
            <a:off x="3487738" y="2205038"/>
            <a:ext cx="495300" cy="298450"/>
            <a:chOff x="547245" y="2204864"/>
            <a:chExt cx="496363" cy="298173"/>
          </a:xfrm>
        </p:grpSpPr>
        <p:grpSp>
          <p:nvGrpSpPr>
            <p:cNvPr id="65842" name="Group 659"/>
            <p:cNvGrpSpPr>
              <a:grpSpLocks/>
            </p:cNvGrpSpPr>
            <p:nvPr/>
          </p:nvGrpSpPr>
          <p:grpSpPr bwMode="auto">
            <a:xfrm>
              <a:off x="547245" y="2395037"/>
              <a:ext cx="496363" cy="108000"/>
              <a:chOff x="547245" y="2395037"/>
              <a:chExt cx="496363" cy="108000"/>
            </a:xfrm>
          </p:grpSpPr>
          <p:sp>
            <p:nvSpPr>
              <p:cNvPr id="667" name="Rectangle 666"/>
              <p:cNvSpPr/>
              <p:nvPr/>
            </p:nvSpPr>
            <p:spPr>
              <a:xfrm>
                <a:off x="547245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8" name="Rectangle 667"/>
              <p:cNvSpPr/>
              <p:nvPr/>
            </p:nvSpPr>
            <p:spPr>
              <a:xfrm>
                <a:off x="929063" y="2395187"/>
                <a:ext cx="114545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9" name="Straight Connector 668"/>
              <p:cNvCxnSpPr>
                <a:stCxn id="667" idx="3"/>
                <a:endCxn id="671" idx="1"/>
              </p:cNvCxnSpPr>
              <p:nvPr/>
            </p:nvCxnSpPr>
            <p:spPr>
              <a:xfrm>
                <a:off x="661790" y="2449112"/>
                <a:ext cx="73182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Straight Connector 669"/>
              <p:cNvCxnSpPr>
                <a:stCxn id="671" idx="3"/>
                <a:endCxn id="668" idx="1"/>
              </p:cNvCxnSpPr>
              <p:nvPr/>
            </p:nvCxnSpPr>
            <p:spPr>
              <a:xfrm>
                <a:off x="849517" y="2449112"/>
                <a:ext cx="79545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1" name="Rectangle 670"/>
              <p:cNvSpPr/>
              <p:nvPr/>
            </p:nvSpPr>
            <p:spPr>
              <a:xfrm>
                <a:off x="734972" y="2395187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5843" name="Group 660"/>
            <p:cNvGrpSpPr>
              <a:grpSpLocks/>
            </p:cNvGrpSpPr>
            <p:nvPr/>
          </p:nvGrpSpPr>
          <p:grpSpPr bwMode="auto">
            <a:xfrm>
              <a:off x="547245" y="2204864"/>
              <a:ext cx="496363" cy="108000"/>
              <a:chOff x="1778423" y="610523"/>
              <a:chExt cx="496363" cy="108000"/>
            </a:xfrm>
          </p:grpSpPr>
          <p:sp>
            <p:nvSpPr>
              <p:cNvPr id="662" name="Rectangle 661"/>
              <p:cNvSpPr/>
              <p:nvPr/>
            </p:nvSpPr>
            <p:spPr>
              <a:xfrm>
                <a:off x="1778423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63" name="Rectangle 662"/>
              <p:cNvSpPr/>
              <p:nvPr/>
            </p:nvSpPr>
            <p:spPr>
              <a:xfrm>
                <a:off x="2160241" y="610523"/>
                <a:ext cx="114545" cy="10785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64" name="Straight Connector 663"/>
              <p:cNvCxnSpPr>
                <a:stCxn id="662" idx="3"/>
                <a:endCxn id="666" idx="1"/>
              </p:cNvCxnSpPr>
              <p:nvPr/>
            </p:nvCxnSpPr>
            <p:spPr>
              <a:xfrm>
                <a:off x="1892968" y="664448"/>
                <a:ext cx="73182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Straight Connector 664"/>
              <p:cNvCxnSpPr>
                <a:stCxn id="666" idx="3"/>
                <a:endCxn id="663" idx="1"/>
              </p:cNvCxnSpPr>
              <p:nvPr/>
            </p:nvCxnSpPr>
            <p:spPr>
              <a:xfrm>
                <a:off x="2080695" y="664448"/>
                <a:ext cx="79545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6" name="Rectangle 665"/>
              <p:cNvSpPr/>
              <p:nvPr/>
            </p:nvSpPr>
            <p:spPr>
              <a:xfrm>
                <a:off x="1966150" y="610523"/>
                <a:ext cx="11454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5574" name="Group 685"/>
          <p:cNvGrpSpPr>
            <a:grpSpLocks/>
          </p:cNvGrpSpPr>
          <p:nvPr/>
        </p:nvGrpSpPr>
        <p:grpSpPr bwMode="auto">
          <a:xfrm>
            <a:off x="4903789" y="2205038"/>
            <a:ext cx="496887" cy="298450"/>
            <a:chOff x="3347864" y="2204864"/>
            <a:chExt cx="496363" cy="298173"/>
          </a:xfrm>
        </p:grpSpPr>
        <p:grpSp>
          <p:nvGrpSpPr>
            <p:cNvPr id="65831" name="Group 673"/>
            <p:cNvGrpSpPr>
              <a:grpSpLocks/>
            </p:cNvGrpSpPr>
            <p:nvPr/>
          </p:nvGrpSpPr>
          <p:grpSpPr bwMode="auto">
            <a:xfrm>
              <a:off x="3347864" y="2395037"/>
              <a:ext cx="496363" cy="108000"/>
              <a:chOff x="547245" y="2395037"/>
              <a:chExt cx="496363" cy="108000"/>
            </a:xfrm>
          </p:grpSpPr>
          <p:sp>
            <p:nvSpPr>
              <p:cNvPr id="681" name="Rectangle 680"/>
              <p:cNvSpPr/>
              <p:nvPr/>
            </p:nvSpPr>
            <p:spPr>
              <a:xfrm>
                <a:off x="547245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82" name="Rectangle 681"/>
              <p:cNvSpPr/>
              <p:nvPr/>
            </p:nvSpPr>
            <p:spPr>
              <a:xfrm>
                <a:off x="929429" y="2395187"/>
                <a:ext cx="114179" cy="10785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83" name="Straight Connector 682"/>
              <p:cNvCxnSpPr>
                <a:stCxn id="681" idx="3"/>
                <a:endCxn id="685" idx="1"/>
              </p:cNvCxnSpPr>
              <p:nvPr/>
            </p:nvCxnSpPr>
            <p:spPr>
              <a:xfrm>
                <a:off x="661424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Straight Connector 683"/>
              <p:cNvCxnSpPr>
                <a:stCxn id="685" idx="3"/>
                <a:endCxn id="682" idx="1"/>
              </p:cNvCxnSpPr>
              <p:nvPr/>
            </p:nvCxnSpPr>
            <p:spPr>
              <a:xfrm>
                <a:off x="850137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5" name="Rectangle 684"/>
              <p:cNvSpPr/>
              <p:nvPr/>
            </p:nvSpPr>
            <p:spPr>
              <a:xfrm>
                <a:off x="734372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76" name="Rectangle 675"/>
            <p:cNvSpPr/>
            <p:nvPr/>
          </p:nvSpPr>
          <p:spPr>
            <a:xfrm>
              <a:off x="3347864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677" name="Rectangle 676"/>
            <p:cNvSpPr/>
            <p:nvPr/>
          </p:nvSpPr>
          <p:spPr>
            <a:xfrm>
              <a:off x="3730048" y="2204864"/>
              <a:ext cx="114179" cy="10785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678" name="Straight Connector 677"/>
            <p:cNvCxnSpPr>
              <a:stCxn id="676" idx="3"/>
              <a:endCxn id="680" idx="1"/>
            </p:cNvCxnSpPr>
            <p:nvPr/>
          </p:nvCxnSpPr>
          <p:spPr>
            <a:xfrm>
              <a:off x="3462043" y="2258789"/>
              <a:ext cx="72948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/>
            <p:cNvCxnSpPr>
              <a:stCxn id="680" idx="3"/>
              <a:endCxn id="677" idx="1"/>
            </p:cNvCxnSpPr>
            <p:nvPr/>
          </p:nvCxnSpPr>
          <p:spPr>
            <a:xfrm>
              <a:off x="3650756" y="2258789"/>
              <a:ext cx="7929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0" name="Rectangle 679"/>
            <p:cNvSpPr/>
            <p:nvPr/>
          </p:nvSpPr>
          <p:spPr>
            <a:xfrm>
              <a:off x="3534991" y="2204864"/>
              <a:ext cx="11576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5575" name="Group 705"/>
          <p:cNvGrpSpPr>
            <a:grpSpLocks/>
          </p:cNvGrpSpPr>
          <p:nvPr/>
        </p:nvGrpSpPr>
        <p:grpSpPr bwMode="auto">
          <a:xfrm>
            <a:off x="6319839" y="2205038"/>
            <a:ext cx="496887" cy="298450"/>
            <a:chOff x="4003628" y="2204864"/>
            <a:chExt cx="496364" cy="298173"/>
          </a:xfrm>
        </p:grpSpPr>
        <p:grpSp>
          <p:nvGrpSpPr>
            <p:cNvPr id="65819" name="Group 703"/>
            <p:cNvGrpSpPr>
              <a:grpSpLocks/>
            </p:cNvGrpSpPr>
            <p:nvPr/>
          </p:nvGrpSpPr>
          <p:grpSpPr bwMode="auto">
            <a:xfrm>
              <a:off x="4003628" y="2394908"/>
              <a:ext cx="496364" cy="108129"/>
              <a:chOff x="4003628" y="2394908"/>
              <a:chExt cx="496364" cy="108129"/>
            </a:xfrm>
          </p:grpSpPr>
          <p:sp>
            <p:nvSpPr>
              <p:cNvPr id="696" name="Rectangle 695"/>
              <p:cNvSpPr/>
              <p:nvPr/>
            </p:nvSpPr>
            <p:spPr>
              <a:xfrm>
                <a:off x="4003628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7" name="Rectangle 696"/>
              <p:cNvSpPr/>
              <p:nvPr/>
            </p:nvSpPr>
            <p:spPr>
              <a:xfrm>
                <a:off x="4385812" y="2395187"/>
                <a:ext cx="114180" cy="107850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8" name="Straight Connector 697"/>
              <p:cNvCxnSpPr>
                <a:stCxn id="696" idx="3"/>
                <a:endCxn id="700" idx="1"/>
              </p:cNvCxnSpPr>
              <p:nvPr/>
            </p:nvCxnSpPr>
            <p:spPr>
              <a:xfrm>
                <a:off x="4117808" y="2449112"/>
                <a:ext cx="72948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Straight Connector 698"/>
              <p:cNvCxnSpPr>
                <a:stCxn id="700" idx="3"/>
                <a:endCxn id="697" idx="1"/>
              </p:cNvCxnSpPr>
              <p:nvPr/>
            </p:nvCxnSpPr>
            <p:spPr>
              <a:xfrm>
                <a:off x="4306521" y="2449112"/>
                <a:ext cx="79291" cy="0"/>
              </a:xfrm>
              <a:prstGeom prst="line">
                <a:avLst/>
              </a:prstGeom>
              <a:solidFill>
                <a:srgbClr val="FF0000"/>
              </a:solidFill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Rectangle 699"/>
              <p:cNvSpPr/>
              <p:nvPr/>
            </p:nvSpPr>
            <p:spPr>
              <a:xfrm>
                <a:off x="4190756" y="2395187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5820" name="Group 704"/>
            <p:cNvGrpSpPr>
              <a:grpSpLocks/>
            </p:cNvGrpSpPr>
            <p:nvPr/>
          </p:nvGrpSpPr>
          <p:grpSpPr bwMode="auto">
            <a:xfrm>
              <a:off x="4003629" y="2204864"/>
              <a:ext cx="496363" cy="108000"/>
              <a:chOff x="4003629" y="2204864"/>
              <a:chExt cx="496363" cy="108000"/>
            </a:xfrm>
          </p:grpSpPr>
          <p:sp>
            <p:nvSpPr>
              <p:cNvPr id="691" name="Rectangle 690"/>
              <p:cNvSpPr/>
              <p:nvPr/>
            </p:nvSpPr>
            <p:spPr>
              <a:xfrm>
                <a:off x="4003628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692" name="Rectangle 691"/>
              <p:cNvSpPr/>
              <p:nvPr/>
            </p:nvSpPr>
            <p:spPr>
              <a:xfrm>
                <a:off x="4385812" y="2204864"/>
                <a:ext cx="114180" cy="107850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93" name="Straight Connector 692"/>
              <p:cNvCxnSpPr>
                <a:stCxn id="691" idx="3"/>
                <a:endCxn id="695" idx="1"/>
              </p:cNvCxnSpPr>
              <p:nvPr/>
            </p:nvCxnSpPr>
            <p:spPr>
              <a:xfrm>
                <a:off x="4117808" y="2258789"/>
                <a:ext cx="72948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/>
              <p:cNvCxnSpPr>
                <a:stCxn id="695" idx="3"/>
                <a:endCxn id="692" idx="1"/>
              </p:cNvCxnSpPr>
              <p:nvPr/>
            </p:nvCxnSpPr>
            <p:spPr>
              <a:xfrm>
                <a:off x="4306521" y="2258789"/>
                <a:ext cx="79291" cy="0"/>
              </a:xfrm>
              <a:prstGeom prst="line">
                <a:avLst/>
              </a:prstGeom>
              <a:solidFill>
                <a:srgbClr val="FFC000"/>
              </a:solidFill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5" name="Rectangle 694"/>
              <p:cNvSpPr/>
              <p:nvPr/>
            </p:nvSpPr>
            <p:spPr>
              <a:xfrm>
                <a:off x="4190756" y="2204864"/>
                <a:ext cx="115765" cy="1078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58" name="Rectangle 757"/>
          <p:cNvSpPr/>
          <p:nvPr/>
        </p:nvSpPr>
        <p:spPr>
          <a:xfrm>
            <a:off x="7904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9" name="Rectangle 758"/>
          <p:cNvSpPr/>
          <p:nvPr/>
        </p:nvSpPr>
        <p:spPr>
          <a:xfrm>
            <a:off x="8285163" y="2395538"/>
            <a:ext cx="114300" cy="10795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60" name="Straight Connector 759"/>
          <p:cNvCxnSpPr>
            <a:stCxn id="758" idx="3"/>
            <a:endCxn id="762" idx="1"/>
          </p:cNvCxnSpPr>
          <p:nvPr/>
        </p:nvCxnSpPr>
        <p:spPr>
          <a:xfrm>
            <a:off x="8018464" y="2449513"/>
            <a:ext cx="7302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/>
          <p:cNvCxnSpPr>
            <a:stCxn id="762" idx="3"/>
            <a:endCxn id="759" idx="1"/>
          </p:cNvCxnSpPr>
          <p:nvPr/>
        </p:nvCxnSpPr>
        <p:spPr>
          <a:xfrm>
            <a:off x="8205789" y="2449513"/>
            <a:ext cx="79375" cy="0"/>
          </a:xfrm>
          <a:prstGeom prst="line">
            <a:avLst/>
          </a:prstGeom>
          <a:solidFill>
            <a:srgbClr val="FF0000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2" name="Rectangle 761"/>
          <p:cNvSpPr/>
          <p:nvPr/>
        </p:nvSpPr>
        <p:spPr>
          <a:xfrm>
            <a:off x="8091488" y="23955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3" name="Rectangle 752"/>
          <p:cNvSpPr/>
          <p:nvPr/>
        </p:nvSpPr>
        <p:spPr>
          <a:xfrm>
            <a:off x="7904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54" name="Rectangle 753"/>
          <p:cNvSpPr/>
          <p:nvPr/>
        </p:nvSpPr>
        <p:spPr>
          <a:xfrm>
            <a:off x="8285163" y="2205038"/>
            <a:ext cx="114300" cy="10795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755" name="Straight Connector 754"/>
          <p:cNvCxnSpPr>
            <a:stCxn id="753" idx="3"/>
            <a:endCxn id="757" idx="1"/>
          </p:cNvCxnSpPr>
          <p:nvPr/>
        </p:nvCxnSpPr>
        <p:spPr>
          <a:xfrm>
            <a:off x="8018464" y="2259013"/>
            <a:ext cx="7302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/>
          <p:cNvCxnSpPr>
            <a:stCxn id="757" idx="3"/>
            <a:endCxn id="754" idx="1"/>
          </p:cNvCxnSpPr>
          <p:nvPr/>
        </p:nvCxnSpPr>
        <p:spPr>
          <a:xfrm>
            <a:off x="8205789" y="2259013"/>
            <a:ext cx="79375" cy="0"/>
          </a:xfrm>
          <a:prstGeom prst="line">
            <a:avLst/>
          </a:prstGeom>
          <a:solidFill>
            <a:srgbClr val="FFC00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Rectangle 756"/>
          <p:cNvSpPr/>
          <p:nvPr/>
        </p:nvSpPr>
        <p:spPr>
          <a:xfrm>
            <a:off x="8091488" y="2205038"/>
            <a:ext cx="114300" cy="107950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65586" name="Group 786"/>
          <p:cNvGrpSpPr>
            <a:grpSpLocks/>
          </p:cNvGrpSpPr>
          <p:nvPr/>
        </p:nvGrpSpPr>
        <p:grpSpPr bwMode="auto">
          <a:xfrm>
            <a:off x="9344026" y="2205039"/>
            <a:ext cx="849313" cy="784225"/>
            <a:chOff x="7820052" y="2204864"/>
            <a:chExt cx="849731" cy="784280"/>
          </a:xfrm>
        </p:grpSpPr>
        <p:sp>
          <p:nvSpPr>
            <p:cNvPr id="2" name="Lightning Bolt 1"/>
            <p:cNvSpPr>
              <a:spLocks noChangeAspect="1"/>
            </p:cNvSpPr>
            <p:nvPr/>
          </p:nvSpPr>
          <p:spPr>
            <a:xfrm flipH="1" flipV="1">
              <a:off x="8212358" y="2531912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7820052" y="2395377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8201240" y="2395377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73" name="Straight Connector 772"/>
            <p:cNvCxnSpPr>
              <a:stCxn id="771" idx="3"/>
              <a:endCxn id="775" idx="1"/>
            </p:cNvCxnSpPr>
            <p:nvPr/>
          </p:nvCxnSpPr>
          <p:spPr>
            <a:xfrm>
              <a:off x="7934408" y="2449356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773"/>
            <p:cNvCxnSpPr>
              <a:stCxn id="775" idx="3"/>
              <a:endCxn id="772" idx="1"/>
            </p:cNvCxnSpPr>
            <p:nvPr/>
          </p:nvCxnSpPr>
          <p:spPr>
            <a:xfrm>
              <a:off x="8121825" y="2449356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5" name="Rectangle 774"/>
            <p:cNvSpPr/>
            <p:nvPr/>
          </p:nvSpPr>
          <p:spPr>
            <a:xfrm>
              <a:off x="8007469" y="2395377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7820052" y="2204864"/>
              <a:ext cx="114356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67" name="Rectangle 766"/>
            <p:cNvSpPr/>
            <p:nvPr/>
          </p:nvSpPr>
          <p:spPr>
            <a:xfrm>
              <a:off x="8201240" y="2204864"/>
              <a:ext cx="115945" cy="107958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68" name="Straight Connector 767"/>
            <p:cNvCxnSpPr>
              <a:stCxn id="766" idx="3"/>
              <a:endCxn id="770" idx="1"/>
            </p:cNvCxnSpPr>
            <p:nvPr/>
          </p:nvCxnSpPr>
          <p:spPr>
            <a:xfrm>
              <a:off x="7934408" y="2258843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/>
            <p:cNvCxnSpPr>
              <a:stCxn id="770" idx="3"/>
              <a:endCxn id="767" idx="1"/>
            </p:cNvCxnSpPr>
            <p:nvPr/>
          </p:nvCxnSpPr>
          <p:spPr>
            <a:xfrm>
              <a:off x="8121825" y="2258843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0" name="Rectangle 769"/>
            <p:cNvSpPr/>
            <p:nvPr/>
          </p:nvSpPr>
          <p:spPr>
            <a:xfrm>
              <a:off x="8007469" y="2204864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5587" name="Group 825"/>
          <p:cNvGrpSpPr>
            <a:grpSpLocks/>
          </p:cNvGrpSpPr>
          <p:nvPr/>
        </p:nvGrpSpPr>
        <p:grpSpPr bwMode="auto">
          <a:xfrm>
            <a:off x="6470651" y="3860801"/>
            <a:ext cx="849313" cy="784225"/>
            <a:chOff x="4860032" y="3861048"/>
            <a:chExt cx="849731" cy="784280"/>
          </a:xfrm>
        </p:grpSpPr>
        <p:sp>
          <p:nvSpPr>
            <p:cNvPr id="789" name="Lightning Bolt 788"/>
            <p:cNvSpPr>
              <a:spLocks noChangeAspect="1"/>
            </p:cNvSpPr>
            <p:nvPr/>
          </p:nvSpPr>
          <p:spPr>
            <a:xfrm flipH="1" flipV="1">
              <a:off x="5252338" y="4188096"/>
              <a:ext cx="457425" cy="457232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0" name="Rectangle 789"/>
            <p:cNvSpPr/>
            <p:nvPr/>
          </p:nvSpPr>
          <p:spPr>
            <a:xfrm>
              <a:off x="4860032" y="4051561"/>
              <a:ext cx="114356" cy="107958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5241220" y="4051561"/>
              <a:ext cx="115945" cy="107958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2" name="Straight Connector 791"/>
            <p:cNvCxnSpPr>
              <a:stCxn id="790" idx="3"/>
              <a:endCxn id="794" idx="1"/>
            </p:cNvCxnSpPr>
            <p:nvPr/>
          </p:nvCxnSpPr>
          <p:spPr>
            <a:xfrm>
              <a:off x="4974388" y="4105540"/>
              <a:ext cx="73061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/>
            <p:cNvCxnSpPr>
              <a:stCxn id="794" idx="3"/>
              <a:endCxn id="791" idx="1"/>
            </p:cNvCxnSpPr>
            <p:nvPr/>
          </p:nvCxnSpPr>
          <p:spPr>
            <a:xfrm>
              <a:off x="5161805" y="4105540"/>
              <a:ext cx="79414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4" name="Rectangle 793"/>
            <p:cNvSpPr/>
            <p:nvPr/>
          </p:nvSpPr>
          <p:spPr>
            <a:xfrm>
              <a:off x="5047449" y="4051561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4860032" y="3861048"/>
              <a:ext cx="114356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796" name="Rectangle 795"/>
            <p:cNvSpPr/>
            <p:nvPr/>
          </p:nvSpPr>
          <p:spPr>
            <a:xfrm>
              <a:off x="5241220" y="3861048"/>
              <a:ext cx="115945" cy="107958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797" name="Straight Connector 796"/>
            <p:cNvCxnSpPr>
              <a:stCxn id="795" idx="3"/>
              <a:endCxn id="799" idx="1"/>
            </p:cNvCxnSpPr>
            <p:nvPr/>
          </p:nvCxnSpPr>
          <p:spPr>
            <a:xfrm>
              <a:off x="4974388" y="3915027"/>
              <a:ext cx="73061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/>
            <p:cNvCxnSpPr>
              <a:stCxn id="799" idx="3"/>
              <a:endCxn id="796" idx="1"/>
            </p:cNvCxnSpPr>
            <p:nvPr/>
          </p:nvCxnSpPr>
          <p:spPr>
            <a:xfrm>
              <a:off x="5161805" y="3915027"/>
              <a:ext cx="79414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9" name="Rectangle 798"/>
            <p:cNvSpPr/>
            <p:nvPr/>
          </p:nvSpPr>
          <p:spPr>
            <a:xfrm>
              <a:off x="5047449" y="3861048"/>
              <a:ext cx="114356" cy="1079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65588" name="Group 828"/>
          <p:cNvGrpSpPr>
            <a:grpSpLocks/>
          </p:cNvGrpSpPr>
          <p:nvPr/>
        </p:nvGrpSpPr>
        <p:grpSpPr bwMode="auto">
          <a:xfrm>
            <a:off x="5038725" y="3860800"/>
            <a:ext cx="495300" cy="298450"/>
            <a:chOff x="3499573" y="3850907"/>
            <a:chExt cx="496363" cy="298173"/>
          </a:xfrm>
        </p:grpSpPr>
        <p:sp>
          <p:nvSpPr>
            <p:cNvPr id="808" name="Rectangle 807"/>
            <p:cNvSpPr/>
            <p:nvPr/>
          </p:nvSpPr>
          <p:spPr>
            <a:xfrm>
              <a:off x="3499573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3881391" y="4041230"/>
              <a:ext cx="114545" cy="107850"/>
            </a:xfrm>
            <a:prstGeom prst="rect">
              <a:avLst/>
            </a:prstGeom>
            <a:solidFill>
              <a:srgbClr val="A6A6A6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10" name="Straight Connector 809"/>
            <p:cNvCxnSpPr>
              <a:stCxn id="808" idx="3"/>
              <a:endCxn id="812" idx="1"/>
            </p:cNvCxnSpPr>
            <p:nvPr/>
          </p:nvCxnSpPr>
          <p:spPr>
            <a:xfrm>
              <a:off x="3614118" y="4095155"/>
              <a:ext cx="73182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/>
            <p:cNvCxnSpPr>
              <a:stCxn id="812" idx="3"/>
              <a:endCxn id="809" idx="1"/>
            </p:cNvCxnSpPr>
            <p:nvPr/>
          </p:nvCxnSpPr>
          <p:spPr>
            <a:xfrm>
              <a:off x="3801845" y="4095155"/>
              <a:ext cx="79545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2" name="Rectangle 811"/>
            <p:cNvSpPr/>
            <p:nvPr/>
          </p:nvSpPr>
          <p:spPr>
            <a:xfrm>
              <a:off x="3687300" y="4041230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3499573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3881391" y="3850907"/>
              <a:ext cx="114545" cy="107850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  <p:cxnSp>
          <p:nvCxnSpPr>
            <p:cNvPr id="805" name="Straight Connector 804"/>
            <p:cNvCxnSpPr>
              <a:stCxn id="803" idx="3"/>
              <a:endCxn id="807" idx="1"/>
            </p:cNvCxnSpPr>
            <p:nvPr/>
          </p:nvCxnSpPr>
          <p:spPr>
            <a:xfrm>
              <a:off x="3614118" y="3904832"/>
              <a:ext cx="73182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/>
            <p:cNvCxnSpPr>
              <a:stCxn id="807" idx="3"/>
              <a:endCxn id="804" idx="1"/>
            </p:cNvCxnSpPr>
            <p:nvPr/>
          </p:nvCxnSpPr>
          <p:spPr>
            <a:xfrm>
              <a:off x="3801845" y="3904832"/>
              <a:ext cx="79545" cy="0"/>
            </a:xfrm>
            <a:prstGeom prst="line">
              <a:avLst/>
            </a:prstGeom>
            <a:solidFill>
              <a:srgbClr val="FFC00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7" name="Rectangle 806"/>
            <p:cNvSpPr/>
            <p:nvPr/>
          </p:nvSpPr>
          <p:spPr>
            <a:xfrm>
              <a:off x="3687300" y="3850907"/>
              <a:ext cx="114545" cy="1078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1905001" y="4267200"/>
          <a:ext cx="5029201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5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86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0.75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0.25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.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0.25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0.50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0.25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1.000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Conclusion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Can calculate a relationship matrix for a given position, </a:t>
            </a:r>
            <a:r>
              <a:rPr lang="en-GB" altLang="en-US" b="1" dirty="0"/>
              <a:t>A</a:t>
            </a:r>
            <a:r>
              <a:rPr lang="en-GB" altLang="en-US" baseline="-25000" dirty="0"/>
              <a:t>Q</a:t>
            </a:r>
            <a:r>
              <a:rPr lang="en-GB" altLang="en-US" dirty="0"/>
              <a:t> </a:t>
            </a:r>
          </a:p>
          <a:p>
            <a:pPr lvl="1" eaLnBrk="1" hangingPunct="1"/>
            <a:r>
              <a:rPr lang="en-GB" altLang="en-US" dirty="0"/>
              <a:t>conditional on markers </a:t>
            </a:r>
          </a:p>
          <a:p>
            <a:pPr lvl="1" eaLnBrk="1" hangingPunct="1"/>
            <a:r>
              <a:rPr lang="en-GB" altLang="en-US" dirty="0"/>
              <a:t>tracking gametes through the pedigree</a:t>
            </a:r>
          </a:p>
          <a:p>
            <a:pPr lvl="1" eaLnBrk="1" hangingPunct="1"/>
            <a:r>
              <a:rPr lang="en-GB" altLang="en-US" u="sng"/>
              <a:t>based on IBD</a:t>
            </a:r>
            <a:endParaRPr lang="en-GB" altLang="en-US" u="sng" dirty="0"/>
          </a:p>
        </p:txBody>
      </p:sp>
      <p:sp>
        <p:nvSpPr>
          <p:cNvPr id="665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6A0E310-2230-4E55-A246-714589031F27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656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60EB02E-8E73-498D-AA8E-AD244FA11FCC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6758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CD09E12-5EAC-4EDD-B6C2-154C76FE8349}" type="datetime4">
              <a:rPr lang="en-GB" altLang="en-US">
                <a:solidFill>
                  <a:srgbClr val="000000"/>
                </a:solidFill>
              </a:rPr>
              <a:pPr/>
              <a:t>29 January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6861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6</a:t>
            </a:r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6 ...</a:t>
            </a:r>
            <a:br>
              <a:rPr lang="en-GB" altLang="en-US"/>
            </a:br>
            <a:r>
              <a:rPr lang="en-GB" altLang="en-US"/>
              <a:t>Single Locus Models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3: estimating variances using a locus specific </a:t>
            </a:r>
            <a:r>
              <a:rPr lang="en-US" altLang="en-US" b="1"/>
              <a:t>A</a:t>
            </a:r>
            <a:r>
              <a:rPr lang="en-US" altLang="en-US" baseline="-25000"/>
              <a:t>Q</a:t>
            </a:r>
            <a:endParaRPr lang="en-US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Using A</a:t>
            </a:r>
            <a:r>
              <a:rPr lang="en-GB" altLang="en-US" b="0" baseline="-25000"/>
              <a:t>Q</a:t>
            </a:r>
            <a:endParaRPr lang="en-GB" altLang="en-US"/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Can use </a:t>
            </a:r>
            <a:r>
              <a:rPr lang="en-GB" altLang="en-US" b="1"/>
              <a:t>A</a:t>
            </a:r>
            <a:r>
              <a:rPr lang="en-GB" altLang="en-US" baseline="-25000"/>
              <a:t>Q</a:t>
            </a:r>
            <a:r>
              <a:rPr lang="en-GB" altLang="en-US"/>
              <a:t> in linear mixed model to calculate the effect of the locus Q</a:t>
            </a:r>
          </a:p>
          <a:p>
            <a:pPr eaLnBrk="1" hangingPunct="1"/>
            <a:r>
              <a:rPr lang="en-GB" altLang="en-US"/>
              <a:t>However must include polygenic </a:t>
            </a:r>
            <a:r>
              <a:rPr lang="en-GB" altLang="en-US" b="1"/>
              <a:t>A</a:t>
            </a:r>
            <a:r>
              <a:rPr lang="en-GB" altLang="en-US"/>
              <a:t> to capture other variation</a:t>
            </a:r>
          </a:p>
        </p:txBody>
      </p:sp>
      <p:sp>
        <p:nvSpPr>
          <p:cNvPr id="7066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525C2D7-9D69-42AE-82E7-36B0CE02FA31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066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MAS (or MA-BLUP) Model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/>
              <a:t>Model</a:t>
            </a:r>
            <a:r>
              <a:rPr lang="en-GB" altLang="en-US" b="1" dirty="0"/>
              <a:t> y </a:t>
            </a:r>
            <a:r>
              <a:rPr lang="en-GB" altLang="en-US" dirty="0"/>
              <a:t>= </a:t>
            </a:r>
            <a:r>
              <a:rPr lang="en-GB" altLang="en-US" b="1" dirty="0"/>
              <a:t>1</a:t>
            </a:r>
            <a:r>
              <a:rPr lang="en-GB" altLang="en-US" i="1" dirty="0"/>
              <a:t>m </a:t>
            </a:r>
            <a:r>
              <a:rPr lang="en-GB" altLang="en-US" dirty="0"/>
              <a:t>+</a:t>
            </a:r>
            <a:r>
              <a:rPr lang="en-GB" altLang="en-US" i="1" dirty="0"/>
              <a:t> </a:t>
            </a:r>
            <a:r>
              <a:rPr lang="en-GB" altLang="en-US" b="1" dirty="0"/>
              <a:t>X</a:t>
            </a:r>
            <a:r>
              <a:rPr lang="en-GB" altLang="en-US" baseline="-25000" dirty="0"/>
              <a:t>1</a:t>
            </a:r>
            <a:r>
              <a:rPr lang="en-GB" altLang="en-US" b="1" dirty="0"/>
              <a:t>b </a:t>
            </a:r>
            <a:r>
              <a:rPr lang="en-GB" altLang="en-US" dirty="0"/>
              <a:t>+ </a:t>
            </a:r>
            <a:r>
              <a:rPr lang="en-GB" altLang="en-US" b="1" dirty="0"/>
              <a:t>W</a:t>
            </a:r>
            <a:r>
              <a:rPr lang="en-GB" altLang="en-US" b="1" baseline="-25000" dirty="0"/>
              <a:t>1</a:t>
            </a:r>
            <a:r>
              <a:rPr lang="en-GB" altLang="en-US" b="1" dirty="0"/>
              <a:t>g + W</a:t>
            </a:r>
            <a:r>
              <a:rPr lang="en-GB" altLang="en-US" baseline="-25000" dirty="0"/>
              <a:t>2</a:t>
            </a:r>
            <a:r>
              <a:rPr lang="en-GB" altLang="en-US" b="1" dirty="0"/>
              <a:t>g</a:t>
            </a:r>
            <a:r>
              <a:rPr lang="en-GB" altLang="en-US" baseline="-25000" dirty="0"/>
              <a:t>Q</a:t>
            </a:r>
            <a:r>
              <a:rPr lang="en-GB" altLang="en-US" b="1" dirty="0"/>
              <a:t> </a:t>
            </a:r>
            <a:r>
              <a:rPr lang="en-GB" altLang="en-US" dirty="0"/>
              <a:t>+ </a:t>
            </a:r>
            <a:r>
              <a:rPr lang="en-GB" altLang="en-US" b="1" dirty="0"/>
              <a:t>Zu</a:t>
            </a:r>
            <a:r>
              <a:rPr lang="en-GB" altLang="en-US" dirty="0"/>
              <a:t> + </a:t>
            </a:r>
            <a:r>
              <a:rPr lang="en-GB" altLang="en-US" b="1" dirty="0"/>
              <a:t>e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	(</a:t>
            </a:r>
            <a:r>
              <a:rPr lang="en-GB" altLang="en-US" i="1" dirty="0"/>
              <a:t>n</a:t>
            </a:r>
            <a:r>
              <a:rPr lang="en-GB" altLang="en-US" dirty="0"/>
              <a:t>x1) vector of observations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m</a:t>
            </a:r>
            <a:r>
              <a:rPr lang="en-GB" altLang="en-US" dirty="0"/>
              <a:t> 	mean effect </a:t>
            </a:r>
            <a:r>
              <a:rPr lang="en-GB" altLang="en-US" i="1" dirty="0"/>
              <a:t>m</a:t>
            </a:r>
            <a:r>
              <a:rPr lang="en-GB" altLang="en-US" dirty="0"/>
              <a:t>, fixed (1 d.f.) with design </a:t>
            </a:r>
            <a:r>
              <a:rPr lang="en-GB" altLang="en-US" b="1" dirty="0"/>
              <a:t>1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b</a:t>
            </a:r>
            <a:r>
              <a:rPr lang="en-GB" altLang="en-US" dirty="0"/>
              <a:t>	nuisance effects, fixed with design </a:t>
            </a:r>
            <a:r>
              <a:rPr lang="en-GB" altLang="en-US" b="1" dirty="0"/>
              <a:t>X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g</a:t>
            </a:r>
            <a:r>
              <a:rPr lang="en-GB" altLang="en-US" dirty="0"/>
              <a:t>	(</a:t>
            </a:r>
            <a:r>
              <a:rPr lang="en-GB" altLang="en-US" i="1" dirty="0"/>
              <a:t>p</a:t>
            </a:r>
            <a:r>
              <a:rPr lang="en-GB" altLang="en-US" dirty="0"/>
              <a:t>x1) vector of BV, random with design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endParaRPr lang="en-GB" altLang="en-US" dirty="0"/>
          </a:p>
          <a:p>
            <a:pPr lvl="2" eaLnBrk="1" hangingPunct="1"/>
            <a:r>
              <a:rPr lang="en-GB" altLang="en-US" dirty="0"/>
              <a:t>	</a:t>
            </a:r>
            <a:r>
              <a:rPr lang="en-GB" altLang="en-US" b="1" dirty="0"/>
              <a:t>g</a:t>
            </a:r>
            <a:r>
              <a:rPr lang="en-GB" altLang="en-US" baseline="-25000" dirty="0"/>
              <a:t> </a:t>
            </a:r>
            <a:r>
              <a:rPr lang="en-GB" altLang="en-US" dirty="0"/>
              <a:t>assumed MVN(0,</a:t>
            </a:r>
            <a:r>
              <a:rPr lang="el-GR" altLang="en-US" dirty="0"/>
              <a:t>σ</a:t>
            </a:r>
            <a:r>
              <a:rPr lang="en-GB" altLang="en-US" baseline="-25000" dirty="0"/>
              <a:t>A</a:t>
            </a:r>
            <a:r>
              <a:rPr lang="en-GB" altLang="en-US" baseline="30000" dirty="0"/>
              <a:t>2</a:t>
            </a:r>
            <a:r>
              <a:rPr lang="en-GB" altLang="en-US" b="1" dirty="0"/>
              <a:t>A</a:t>
            </a:r>
            <a:r>
              <a:rPr lang="en-GB" altLang="en-US" dirty="0"/>
              <a:t>)</a:t>
            </a:r>
          </a:p>
          <a:p>
            <a:pPr lvl="1" eaLnBrk="1" hangingPunct="1"/>
            <a:r>
              <a:rPr lang="en-GB" altLang="en-US" b="1" dirty="0" err="1"/>
              <a:t>g</a:t>
            </a:r>
            <a:r>
              <a:rPr lang="en-GB" altLang="en-US" baseline="-25000" dirty="0" err="1"/>
              <a:t>Q</a:t>
            </a:r>
            <a:r>
              <a:rPr lang="en-GB" altLang="en-US" baseline="-25000" dirty="0"/>
              <a:t> </a:t>
            </a:r>
            <a:r>
              <a:rPr lang="en-GB" altLang="en-US" b="1" dirty="0"/>
              <a:t>	</a:t>
            </a:r>
            <a:r>
              <a:rPr lang="en-GB" altLang="en-US" dirty="0"/>
              <a:t>(</a:t>
            </a:r>
            <a:r>
              <a:rPr lang="en-GB" altLang="en-US" i="1" dirty="0"/>
              <a:t>p</a:t>
            </a:r>
            <a:r>
              <a:rPr lang="en-GB" altLang="en-US" dirty="0"/>
              <a:t>x1) vector of Q-BV, random with design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</a:p>
          <a:p>
            <a:pPr lvl="2" eaLnBrk="1" hangingPunct="1"/>
            <a:r>
              <a:rPr lang="en-GB" altLang="en-US" b="1" dirty="0"/>
              <a:t>	</a:t>
            </a:r>
            <a:r>
              <a:rPr lang="en-GB" altLang="en-US" b="1" dirty="0" err="1"/>
              <a:t>g</a:t>
            </a:r>
            <a:r>
              <a:rPr lang="en-GB" altLang="en-US" baseline="-25000" dirty="0" err="1"/>
              <a:t>Q</a:t>
            </a:r>
            <a:r>
              <a:rPr lang="en-GB" altLang="en-US" dirty="0"/>
              <a:t> assumed MVN(0, </a:t>
            </a:r>
            <a:r>
              <a:rPr lang="el-GR" altLang="en-US" dirty="0"/>
              <a:t>σ</a:t>
            </a:r>
            <a:r>
              <a:rPr lang="en-GB" altLang="en-US" baseline="-25000" dirty="0"/>
              <a:t>Q</a:t>
            </a:r>
            <a:r>
              <a:rPr lang="en-GB" altLang="en-US" baseline="30000" dirty="0"/>
              <a:t>2</a:t>
            </a:r>
            <a:r>
              <a:rPr lang="en-GB" altLang="en-US" b="1" dirty="0"/>
              <a:t>A</a:t>
            </a:r>
            <a:r>
              <a:rPr lang="en-GB" altLang="en-US" baseline="-25000" dirty="0"/>
              <a:t>Q</a:t>
            </a:r>
            <a:r>
              <a:rPr lang="en-GB" altLang="en-US" dirty="0"/>
              <a:t>)</a:t>
            </a:r>
          </a:p>
          <a:p>
            <a:pPr lvl="1" eaLnBrk="1" hangingPunct="1"/>
            <a:r>
              <a:rPr lang="en-GB" altLang="en-US" b="1" dirty="0"/>
              <a:t>e	</a:t>
            </a:r>
            <a:r>
              <a:rPr lang="en-GB" altLang="en-US" dirty="0"/>
              <a:t>(</a:t>
            </a:r>
            <a:r>
              <a:rPr lang="en-GB" altLang="en-US" i="1" dirty="0"/>
              <a:t>n</a:t>
            </a:r>
            <a:r>
              <a:rPr lang="en-GB" altLang="en-US" dirty="0"/>
              <a:t>x1) residual effects, random</a:t>
            </a:r>
          </a:p>
          <a:p>
            <a:pPr lvl="2" eaLnBrk="1" hangingPunct="1"/>
            <a:r>
              <a:rPr lang="en-GB" altLang="en-US" dirty="0"/>
              <a:t> 	</a:t>
            </a:r>
            <a:r>
              <a:rPr lang="en-GB" altLang="en-US" b="1" dirty="0"/>
              <a:t>e</a:t>
            </a:r>
            <a:r>
              <a:rPr lang="en-GB" altLang="en-US" dirty="0"/>
              <a:t> assumed MVN(0,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</p:txBody>
      </p:sp>
      <p:sp>
        <p:nvSpPr>
          <p:cNvPr id="7168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2C3B45A-BA7A-479C-979D-BCF1253EC92D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168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360" y="4293096"/>
            <a:ext cx="11521280" cy="100811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Fitting MAS (or MA-BLUP) Model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Fitting MAS Model will estimate </a:t>
            </a:r>
            <a:r>
              <a:rPr lang="el-GR" altLang="en-US"/>
              <a:t>σ</a:t>
            </a:r>
            <a:r>
              <a:rPr lang="en-GB" altLang="en-US" baseline="-25000"/>
              <a:t>Q</a:t>
            </a:r>
            <a:r>
              <a:rPr lang="en-GB" altLang="en-US" baseline="30000"/>
              <a:t>2</a:t>
            </a:r>
            <a:r>
              <a:rPr lang="en-GB" altLang="en-US"/>
              <a:t> and</a:t>
            </a:r>
          </a:p>
          <a:p>
            <a:pPr lvl="1" eaLnBrk="1" hangingPunct="1"/>
            <a:r>
              <a:rPr lang="en-GB" altLang="en-US"/>
              <a:t>EBV of u  is</a:t>
            </a:r>
            <a:endParaRPr lang="en-GB" altLang="en-US" sz="2400"/>
          </a:p>
          <a:p>
            <a:pPr lvl="1" eaLnBrk="1" hangingPunct="1"/>
            <a:r>
              <a:rPr lang="en-GB" altLang="en-US"/>
              <a:t>QTL variance is </a:t>
            </a:r>
            <a:r>
              <a:rPr lang="el-GR" altLang="en-US"/>
              <a:t>σ</a:t>
            </a:r>
            <a:r>
              <a:rPr lang="en-GB" altLang="en-US" baseline="-25000"/>
              <a:t>Q</a:t>
            </a:r>
            <a:r>
              <a:rPr lang="en-GB" altLang="en-US" baseline="30000"/>
              <a:t>2</a:t>
            </a:r>
            <a:endParaRPr lang="en-GB" altLang="en-US" sz="2400"/>
          </a:p>
          <a:p>
            <a:pPr lvl="1" eaLnBrk="1" hangingPunct="1"/>
            <a:r>
              <a:rPr lang="en-GB" altLang="en-US"/>
              <a:t>total genetic variance is </a:t>
            </a:r>
            <a:r>
              <a:rPr lang="el-GR" altLang="en-US"/>
              <a:t>σ</a:t>
            </a:r>
            <a:r>
              <a:rPr lang="en-GB" altLang="en-US" baseline="-25000"/>
              <a:t>A</a:t>
            </a:r>
            <a:r>
              <a:rPr lang="en-GB" altLang="en-US" baseline="30000"/>
              <a:t>2</a:t>
            </a:r>
            <a:r>
              <a:rPr lang="en-GB" altLang="en-US"/>
              <a:t> + </a:t>
            </a:r>
            <a:r>
              <a:rPr lang="el-GR" altLang="en-US"/>
              <a:t>σ</a:t>
            </a:r>
            <a:r>
              <a:rPr lang="en-GB" altLang="en-US" baseline="-25000"/>
              <a:t>Q</a:t>
            </a:r>
            <a:r>
              <a:rPr lang="en-GB" altLang="en-US" baseline="30000"/>
              <a:t>2</a:t>
            </a:r>
          </a:p>
          <a:p>
            <a:pPr lvl="1" eaLnBrk="1" hangingPunct="1"/>
            <a:r>
              <a:rPr lang="en-GB" altLang="en-US"/>
              <a:t>phenotypic variance </a:t>
            </a:r>
            <a:r>
              <a:rPr lang="el-GR" altLang="en-US"/>
              <a:t>σ</a:t>
            </a:r>
            <a:r>
              <a:rPr lang="en-GB" altLang="en-US" baseline="-25000"/>
              <a:t>P</a:t>
            </a:r>
            <a:r>
              <a:rPr lang="en-GB" altLang="en-US" baseline="30000"/>
              <a:t>2</a:t>
            </a:r>
            <a:r>
              <a:rPr lang="en-GB" altLang="en-US"/>
              <a:t> = </a:t>
            </a:r>
            <a:r>
              <a:rPr lang="el-GR" altLang="en-US"/>
              <a:t>σ</a:t>
            </a:r>
            <a:r>
              <a:rPr lang="en-GB" altLang="en-US" baseline="-25000"/>
              <a:t>A</a:t>
            </a:r>
            <a:r>
              <a:rPr lang="en-GB" altLang="en-US" baseline="30000"/>
              <a:t>2 </a:t>
            </a:r>
            <a:r>
              <a:rPr lang="en-GB" altLang="en-US"/>
              <a:t>+ </a:t>
            </a:r>
            <a:r>
              <a:rPr lang="el-GR" altLang="en-US"/>
              <a:t>σ</a:t>
            </a:r>
            <a:r>
              <a:rPr lang="en-GB" altLang="en-US" baseline="-25000"/>
              <a:t>Q</a:t>
            </a:r>
            <a:r>
              <a:rPr lang="en-GB" altLang="en-US" baseline="30000"/>
              <a:t>2 </a:t>
            </a:r>
            <a:r>
              <a:rPr lang="en-GB" altLang="en-US"/>
              <a:t>+ </a:t>
            </a:r>
            <a:r>
              <a:rPr lang="el-GR" altLang="en-US"/>
              <a:t>σ</a:t>
            </a:r>
            <a:r>
              <a:rPr lang="en-GB" altLang="en-US" baseline="-25000"/>
              <a:t>E</a:t>
            </a:r>
            <a:r>
              <a:rPr lang="en-GB" altLang="en-US" baseline="30000"/>
              <a:t>2</a:t>
            </a:r>
          </a:p>
          <a:p>
            <a:pPr lvl="1" eaLnBrk="1" hangingPunct="1"/>
            <a:r>
              <a:rPr lang="en-GB" altLang="en-US"/>
              <a:t>‘total’ 		h</a:t>
            </a:r>
            <a:r>
              <a:rPr lang="en-GB" altLang="en-US" baseline="30000"/>
              <a:t>2</a:t>
            </a:r>
            <a:r>
              <a:rPr lang="en-GB" altLang="en-US"/>
              <a:t> 	= (</a:t>
            </a:r>
            <a:r>
              <a:rPr lang="el-GR" altLang="en-US"/>
              <a:t>σ</a:t>
            </a:r>
            <a:r>
              <a:rPr lang="en-GB" altLang="en-US" baseline="-25000"/>
              <a:t>A</a:t>
            </a:r>
            <a:r>
              <a:rPr lang="en-GB" altLang="en-US" baseline="30000"/>
              <a:t>2 </a:t>
            </a:r>
            <a:r>
              <a:rPr lang="en-GB" altLang="en-US"/>
              <a:t>+ </a:t>
            </a:r>
            <a:r>
              <a:rPr lang="el-GR" altLang="en-US"/>
              <a:t>σ</a:t>
            </a:r>
            <a:r>
              <a:rPr lang="en-GB" altLang="en-US" baseline="-25000"/>
              <a:t>Q</a:t>
            </a:r>
            <a:r>
              <a:rPr lang="en-GB" altLang="en-US" baseline="30000"/>
              <a:t>2</a:t>
            </a:r>
            <a:r>
              <a:rPr lang="en-GB" altLang="en-US"/>
              <a:t>) /</a:t>
            </a:r>
            <a:r>
              <a:rPr lang="el-GR" altLang="en-US"/>
              <a:t>σ</a:t>
            </a:r>
            <a:r>
              <a:rPr lang="en-GB" altLang="en-US" baseline="-25000"/>
              <a:t>P</a:t>
            </a:r>
            <a:r>
              <a:rPr lang="en-GB" altLang="en-US" baseline="30000"/>
              <a:t>2</a:t>
            </a:r>
            <a:endParaRPr lang="en-GB" altLang="en-US"/>
          </a:p>
          <a:p>
            <a:pPr lvl="1" eaLnBrk="1" hangingPunct="1"/>
            <a:r>
              <a:rPr lang="en-GB" altLang="en-US"/>
              <a:t>‘polygenic’ 	h</a:t>
            </a:r>
            <a:r>
              <a:rPr lang="en-GB" altLang="en-US" baseline="-25000"/>
              <a:t>A</a:t>
            </a:r>
            <a:r>
              <a:rPr lang="en-GB" altLang="en-US" baseline="30000"/>
              <a:t>2 	</a:t>
            </a:r>
            <a:r>
              <a:rPr lang="en-GB" altLang="en-US"/>
              <a:t>= </a:t>
            </a:r>
            <a:r>
              <a:rPr lang="el-GR" altLang="en-US"/>
              <a:t>σ</a:t>
            </a:r>
            <a:r>
              <a:rPr lang="en-GB" altLang="en-US" baseline="-25000"/>
              <a:t>A</a:t>
            </a:r>
            <a:r>
              <a:rPr lang="en-GB" altLang="en-US" baseline="30000"/>
              <a:t>2	</a:t>
            </a:r>
            <a:r>
              <a:rPr lang="en-GB" altLang="en-US"/>
              <a:t>/</a:t>
            </a:r>
            <a:r>
              <a:rPr lang="el-GR" altLang="en-US"/>
              <a:t>σ</a:t>
            </a:r>
            <a:r>
              <a:rPr lang="en-GB" altLang="en-US" baseline="-25000"/>
              <a:t>P</a:t>
            </a:r>
            <a:r>
              <a:rPr lang="en-GB" altLang="en-US" baseline="30000"/>
              <a:t>2</a:t>
            </a:r>
            <a:endParaRPr lang="en-GB" altLang="en-US"/>
          </a:p>
          <a:p>
            <a:pPr lvl="1" eaLnBrk="1" hangingPunct="1"/>
            <a:r>
              <a:rPr lang="en-GB" altLang="en-US"/>
              <a:t>‘QTL’ 		h</a:t>
            </a:r>
            <a:r>
              <a:rPr lang="en-GB" altLang="en-US" baseline="-25000"/>
              <a:t>Q</a:t>
            </a:r>
            <a:r>
              <a:rPr lang="en-GB" altLang="en-US" baseline="30000"/>
              <a:t>2 	</a:t>
            </a:r>
            <a:r>
              <a:rPr lang="en-GB" altLang="en-US"/>
              <a:t>= </a:t>
            </a:r>
            <a:r>
              <a:rPr lang="el-GR" altLang="en-US"/>
              <a:t>σ</a:t>
            </a:r>
            <a:r>
              <a:rPr lang="en-GB" altLang="en-US" baseline="-25000"/>
              <a:t>Q</a:t>
            </a:r>
            <a:r>
              <a:rPr lang="en-GB" altLang="en-US" baseline="30000"/>
              <a:t>2</a:t>
            </a:r>
            <a:r>
              <a:rPr lang="en-GB" altLang="en-US"/>
              <a:t>/</a:t>
            </a:r>
            <a:r>
              <a:rPr lang="el-GR" altLang="en-US"/>
              <a:t>σ</a:t>
            </a:r>
            <a:r>
              <a:rPr lang="en-GB" altLang="en-US" baseline="-25000"/>
              <a:t>P</a:t>
            </a:r>
            <a:r>
              <a:rPr lang="en-GB" altLang="en-US" baseline="30000"/>
              <a:t>2</a:t>
            </a:r>
            <a:endParaRPr lang="en-GB" altLang="en-US"/>
          </a:p>
        </p:txBody>
      </p:sp>
      <p:sp>
        <p:nvSpPr>
          <p:cNvPr id="7270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A8A4D99-8129-42B8-8068-13FD8933A2B0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270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graphicFrame>
        <p:nvGraphicFramePr>
          <p:cNvPr id="727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290774"/>
              </p:ext>
            </p:extLst>
          </p:nvPr>
        </p:nvGraphicFramePr>
        <p:xfrm>
          <a:off x="7968208" y="1196975"/>
          <a:ext cx="53816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4" name="Equation" r:id="rId3" imgW="253890" imgH="279279" progId="Equation.DSMT4">
                  <p:embed/>
                </p:oleObj>
              </mc:Choice>
              <mc:Fallback>
                <p:oleObj name="Equation" r:id="rId3" imgW="253890" imgH="27927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8208" y="1196975"/>
                        <a:ext cx="53816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866887"/>
              </p:ext>
            </p:extLst>
          </p:nvPr>
        </p:nvGraphicFramePr>
        <p:xfrm>
          <a:off x="3215680" y="1747218"/>
          <a:ext cx="122396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5" name="Equation" r:id="rId5" imgW="545760" imgH="266400" progId="Equation.DSMT4">
                  <p:embed/>
                </p:oleObj>
              </mc:Choice>
              <mc:Fallback>
                <p:oleObj name="Equation" r:id="rId5" imgW="545760" imgH="26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1747218"/>
                        <a:ext cx="1223963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Linkage Analysis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This is linkage analysis (LA)</a:t>
            </a:r>
          </a:p>
          <a:p>
            <a:pPr lvl="1" eaLnBrk="1" hangingPunct="1"/>
            <a:r>
              <a:rPr lang="en-GB" altLang="en-US" dirty="0"/>
              <a:t>calculates IBD using markers</a:t>
            </a:r>
          </a:p>
          <a:p>
            <a:pPr lvl="1" eaLnBrk="1" hangingPunct="1"/>
            <a:r>
              <a:rPr lang="en-GB" altLang="en-US" dirty="0"/>
              <a:t>relies on having pedigree</a:t>
            </a:r>
          </a:p>
          <a:p>
            <a:pPr lvl="1" eaLnBrk="1" hangingPunct="1"/>
            <a:r>
              <a:rPr lang="en-GB" altLang="en-US" dirty="0"/>
              <a:t>uses markers to track inheritance down pedigrees</a:t>
            </a:r>
          </a:p>
          <a:p>
            <a:pPr lvl="2" eaLnBrk="1" hangingPunct="1"/>
            <a:r>
              <a:rPr lang="en-GB" altLang="en-US" dirty="0"/>
              <a:t>within families initially</a:t>
            </a:r>
          </a:p>
          <a:p>
            <a:pPr lvl="2" eaLnBrk="1" hangingPunct="1"/>
            <a:r>
              <a:rPr lang="en-GB" altLang="en-US" dirty="0"/>
              <a:t>then distributes updated information to descendants</a:t>
            </a:r>
          </a:p>
          <a:p>
            <a:pPr lvl="1" eaLnBrk="1" hangingPunct="1"/>
            <a:r>
              <a:rPr lang="en-GB" altLang="en-US" dirty="0"/>
              <a:t>‘pattern’ similar to </a:t>
            </a:r>
            <a:r>
              <a:rPr lang="en-GB" altLang="en-US" b="1" dirty="0"/>
              <a:t>A</a:t>
            </a:r>
          </a:p>
          <a:p>
            <a:pPr lvl="2" eaLnBrk="1" hangingPunct="1"/>
            <a:r>
              <a:rPr lang="en-GB" altLang="en-US" dirty="0"/>
              <a:t>has 0’s where Wright’s NRM is 0</a:t>
            </a:r>
          </a:p>
          <a:p>
            <a:pPr lvl="1" eaLnBrk="1" hangingPunct="1"/>
            <a:r>
              <a:rPr lang="en-GB" altLang="en-US" dirty="0"/>
              <a:t>doesn’t track population-wide IBS</a:t>
            </a:r>
          </a:p>
          <a:p>
            <a:pPr lvl="2" eaLnBrk="1" hangingPunct="1"/>
            <a:r>
              <a:rPr lang="en-GB" altLang="en-US" dirty="0"/>
              <a:t>does not make assumptions on IBS in base generation</a:t>
            </a:r>
          </a:p>
        </p:txBody>
      </p:sp>
      <p:sp>
        <p:nvSpPr>
          <p:cNvPr id="73732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58F0576-0356-48D4-956B-286000AF8FAD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373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08E41DC-D41D-46B2-B295-4B09E85A3448}" type="datetime4">
              <a:rPr lang="en-GB" altLang="en-US">
                <a:solidFill>
                  <a:srgbClr val="000000"/>
                </a:solidFill>
              </a:rPr>
              <a:pPr/>
              <a:t>29 January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7577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6</a:t>
            </a: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… Lecture 6 …</a:t>
            </a:r>
            <a:br>
              <a:rPr lang="en-GB" altLang="en-US"/>
            </a:br>
            <a:r>
              <a:rPr lang="en-GB" altLang="en-US"/>
              <a:t>Single Locus Models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4: concluding notes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Linkage Analysis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LA historically used for QTL mapping</a:t>
            </a:r>
          </a:p>
          <a:p>
            <a:pPr lvl="2" eaLnBrk="1" hangingPunct="1"/>
            <a:r>
              <a:rPr lang="en-GB" altLang="en-US"/>
              <a:t>now less common with introduction of GWAS </a:t>
            </a:r>
          </a:p>
          <a:p>
            <a:pPr eaLnBrk="1" hangingPunct="1"/>
            <a:r>
              <a:rPr lang="en-GB" altLang="en-US"/>
              <a:t>Models are ‘Marker Assisted BLUP’</a:t>
            </a:r>
          </a:p>
          <a:p>
            <a:pPr lvl="1" eaLnBrk="1" hangingPunct="1"/>
            <a:r>
              <a:rPr lang="en-GB" altLang="en-US"/>
              <a:t>foundation of Marker Assisted Selection or MAS</a:t>
            </a:r>
          </a:p>
          <a:p>
            <a:pPr lvl="2" eaLnBrk="1" hangingPunct="1"/>
            <a:r>
              <a:rPr lang="en-GB" altLang="en-US"/>
              <a:t>Fernando &amp; Grossman, Genetics Selection Evolution, 1989, 21: 467-477</a:t>
            </a:r>
          </a:p>
          <a:p>
            <a:pPr lvl="1" eaLnBrk="1" hangingPunct="1"/>
            <a:r>
              <a:rPr lang="en-GB" altLang="en-US"/>
              <a:t>contrast with GAS with known causative marker</a:t>
            </a:r>
          </a:p>
          <a:p>
            <a:pPr lvl="3" eaLnBrk="1" hangingPunct="1"/>
            <a:r>
              <a:rPr lang="en-GB" altLang="en-US"/>
              <a:t>and fitted as fixed</a:t>
            </a:r>
          </a:p>
        </p:txBody>
      </p:sp>
      <p:sp>
        <p:nvSpPr>
          <p:cNvPr id="778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67CD9B6-F063-4271-9A85-87A7C8015A3A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782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Linkage Analysis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LA historically used for QTL mapping</a:t>
            </a:r>
          </a:p>
          <a:p>
            <a:pPr lvl="2" eaLnBrk="1" hangingPunct="1"/>
            <a:r>
              <a:rPr lang="en-GB" altLang="en-US"/>
              <a:t>now less common with introduction of GWAS </a:t>
            </a:r>
          </a:p>
          <a:p>
            <a:pPr eaLnBrk="1" hangingPunct="1"/>
            <a:r>
              <a:rPr lang="en-GB" altLang="en-US"/>
              <a:t>Models are ‘Marker Assisted BLUP’</a:t>
            </a:r>
          </a:p>
          <a:p>
            <a:pPr lvl="1" eaLnBrk="1" hangingPunct="1"/>
            <a:r>
              <a:rPr lang="en-GB" altLang="en-US"/>
              <a:t>foundation of Marker Assisted Selection or MAS</a:t>
            </a:r>
          </a:p>
          <a:p>
            <a:pPr lvl="2" eaLnBrk="1" hangingPunct="1"/>
            <a:r>
              <a:rPr lang="en-GB" altLang="en-US"/>
              <a:t>Fernando &amp; Grossman, Genetics Selection Evolution, 1989, 21: 467-477</a:t>
            </a:r>
          </a:p>
          <a:p>
            <a:pPr lvl="1" eaLnBrk="1" hangingPunct="1"/>
            <a:r>
              <a:rPr lang="en-GB" altLang="en-US"/>
              <a:t>contrast with GAS with known causative marker</a:t>
            </a:r>
          </a:p>
          <a:p>
            <a:pPr lvl="3" eaLnBrk="1" hangingPunct="1"/>
            <a:r>
              <a:rPr lang="en-GB" altLang="en-US"/>
              <a:t>and fitted as fixed</a:t>
            </a:r>
          </a:p>
        </p:txBody>
      </p:sp>
      <p:sp>
        <p:nvSpPr>
          <p:cNvPr id="788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171E46A-1EA6-4DDD-AC09-882FDBA4CD52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885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  <p:sp>
        <p:nvSpPr>
          <p:cNvPr id="6" name="Rectangle 5"/>
          <p:cNvSpPr/>
          <p:nvPr/>
        </p:nvSpPr>
        <p:spPr>
          <a:xfrm rot="21400432">
            <a:off x="3084513" y="5000626"/>
            <a:ext cx="6191250" cy="576263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400" dirty="0">
                <a:solidFill>
                  <a:schemeClr val="tx1"/>
                </a:solidFill>
              </a:rPr>
              <a:t>Neither GAS nor MAS were very successful!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GAS &amp; 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GAS &amp; MAS have a ‘QTL perspective’</a:t>
            </a:r>
            <a:endParaRPr lang="en-GB" sz="2000" dirty="0"/>
          </a:p>
          <a:p>
            <a:pPr lvl="1" eaLnBrk="1" hangingPunct="1">
              <a:defRPr/>
            </a:pPr>
            <a:r>
              <a:rPr lang="en-GB" dirty="0"/>
              <a:t>assume can explain variation by finding a handful of QTLs</a:t>
            </a:r>
          </a:p>
          <a:p>
            <a:pPr lvl="1" eaLnBrk="1" hangingPunct="1">
              <a:defRPr/>
            </a:pPr>
            <a:r>
              <a:rPr lang="en-GB" dirty="0"/>
              <a:t>can neglect other genetic variance for prediction</a:t>
            </a:r>
          </a:p>
          <a:p>
            <a:pPr marL="457200" lvl="1" indent="0" eaLnBrk="1" hangingPunct="1">
              <a:buNone/>
              <a:defRPr/>
            </a:pPr>
            <a:endParaRPr lang="en-GB" dirty="0"/>
          </a:p>
        </p:txBody>
      </p:sp>
      <p:sp>
        <p:nvSpPr>
          <p:cNvPr id="7987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57E4D29-4360-4EA2-8EE6-A458B62CB9D8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7987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Widening the Perspective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With dense markers can calculate </a:t>
            </a:r>
            <a:r>
              <a:rPr lang="en-GB" altLang="en-US" b="1" dirty="0"/>
              <a:t>A</a:t>
            </a:r>
            <a:r>
              <a:rPr lang="en-GB" altLang="en-US" baseline="-25000" dirty="0"/>
              <a:t>Q</a:t>
            </a:r>
            <a:r>
              <a:rPr lang="en-GB" altLang="en-US" dirty="0"/>
              <a:t> for many positions across the genome!</a:t>
            </a:r>
          </a:p>
          <a:p>
            <a:pPr lvl="1" eaLnBrk="1" hangingPunct="1"/>
            <a:r>
              <a:rPr lang="en-GB" altLang="en-US" dirty="0"/>
              <a:t>will vary with the position of Q</a:t>
            </a:r>
          </a:p>
          <a:p>
            <a:pPr eaLnBrk="1" hangingPunct="1"/>
            <a:r>
              <a:rPr lang="en-GB" altLang="en-US" dirty="0"/>
              <a:t>Average </a:t>
            </a:r>
            <a:r>
              <a:rPr lang="en-GB" altLang="en-US" b="1" dirty="0"/>
              <a:t>A</a:t>
            </a:r>
            <a:r>
              <a:rPr lang="en-GB" altLang="en-US" baseline="-25000" dirty="0"/>
              <a:t>Q</a:t>
            </a:r>
            <a:r>
              <a:rPr lang="en-GB" altLang="en-US" dirty="0"/>
              <a:t> over whole genome </a:t>
            </a:r>
          </a:p>
          <a:p>
            <a:pPr lvl="1" eaLnBrk="1" hangingPunct="1"/>
            <a:r>
              <a:rPr lang="en-GB" altLang="en-US" dirty="0"/>
              <a:t>a whole-genome genomic relationship matrix!</a:t>
            </a:r>
          </a:p>
          <a:p>
            <a:pPr lvl="1" eaLnBrk="1" hangingPunct="1"/>
            <a:r>
              <a:rPr lang="en-GB" altLang="en-US" dirty="0"/>
              <a:t>say </a:t>
            </a:r>
            <a:r>
              <a:rPr lang="en-GB" altLang="en-US" b="1" dirty="0"/>
              <a:t>G</a:t>
            </a:r>
            <a:r>
              <a:rPr lang="en-GB" altLang="en-US" baseline="-25000" dirty="0"/>
              <a:t>FG</a:t>
            </a:r>
            <a:endParaRPr lang="en-GB" altLang="en-US" dirty="0"/>
          </a:p>
          <a:p>
            <a:pPr eaLnBrk="1" hangingPunct="1"/>
            <a:r>
              <a:rPr lang="en-GB" altLang="en-US" dirty="0"/>
              <a:t>Based on IBD!</a:t>
            </a:r>
          </a:p>
          <a:p>
            <a:pPr eaLnBrk="1" hangingPunct="1"/>
            <a:r>
              <a:rPr lang="en-GB" altLang="en-US" dirty="0"/>
              <a:t>Could use for evaluations in place of </a:t>
            </a:r>
            <a:r>
              <a:rPr lang="en-GB" altLang="en-US" b="1" dirty="0"/>
              <a:t>A</a:t>
            </a:r>
          </a:p>
          <a:p>
            <a:pPr marL="0" indent="0" eaLnBrk="1" hangingPunct="1">
              <a:buNone/>
            </a:pPr>
            <a:endParaRPr lang="en-GB" altLang="en-US" dirty="0"/>
          </a:p>
        </p:txBody>
      </p:sp>
      <p:sp>
        <p:nvSpPr>
          <p:cNvPr id="8090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A33FF5A-7FD2-4CC6-8A1C-CA067BB6F62E}" type="datetime4">
              <a:rPr lang="en-GB" altLang="en-US"/>
              <a:pPr/>
              <a:t>29 January 2025</a:t>
            </a:fld>
            <a:endParaRPr lang="en-GB" altLang="en-US" dirty="0"/>
          </a:p>
        </p:txBody>
      </p:sp>
      <p:sp>
        <p:nvSpPr>
          <p:cNvPr id="8090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7C94-A568-42C8-9852-ABF3AC73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3679A-E969-44DE-B298-D7858BF9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treating locus as fixed require polygenic variance</a:t>
            </a:r>
          </a:p>
          <a:p>
            <a:pPr lvl="1"/>
            <a:r>
              <a:rPr lang="en-GB" dirty="0"/>
              <a:t>avoid biases and poor inference</a:t>
            </a:r>
          </a:p>
          <a:p>
            <a:pPr lvl="1"/>
            <a:r>
              <a:rPr lang="en-GB" dirty="0"/>
              <a:t>GAS model</a:t>
            </a:r>
          </a:p>
          <a:p>
            <a:r>
              <a:rPr lang="en-GB" dirty="0"/>
              <a:t>Models treating single locus as random</a:t>
            </a:r>
          </a:p>
          <a:p>
            <a:pPr lvl="1"/>
            <a:r>
              <a:rPr lang="en-GB" dirty="0"/>
              <a:t>MAS or MA-BLUP models</a:t>
            </a:r>
          </a:p>
          <a:p>
            <a:pPr lvl="1"/>
            <a:r>
              <a:rPr lang="en-GB" dirty="0"/>
              <a:t>use </a:t>
            </a:r>
            <a:r>
              <a:rPr lang="en-GB" b="1" dirty="0"/>
              <a:t>A</a:t>
            </a:r>
            <a:r>
              <a:rPr lang="en-GB" baseline="-25000" dirty="0"/>
              <a:t>Q</a:t>
            </a:r>
            <a:r>
              <a:rPr lang="en-GB" dirty="0"/>
              <a:t>,</a:t>
            </a:r>
            <a:r>
              <a:rPr lang="en-GB" b="1" dirty="0"/>
              <a:t> </a:t>
            </a:r>
            <a:r>
              <a:rPr lang="en-GB" dirty="0"/>
              <a:t>an IBD matrix from markers</a:t>
            </a:r>
          </a:p>
        </p:txBody>
      </p:sp>
      <p:sp>
        <p:nvSpPr>
          <p:cNvPr id="81922" name="Date Placeholder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45F8587-C999-4BF4-9496-CC5F80E28069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8192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B2B4E-5A90-4216-98A2-7E303525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614D2A-334A-4023-A68F-3E7A5314108B}" type="datetime4">
              <a:rPr lang="en-GB" smtClean="0"/>
              <a:pPr>
                <a:defRPr/>
              </a:pPr>
              <a:t>29 January 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8B560-63B1-4A2E-8513-249BFD70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6</a:t>
            </a:r>
          </a:p>
        </p:txBody>
      </p:sp>
    </p:spTree>
    <p:extLst>
      <p:ext uri="{BB962C8B-B14F-4D97-AF65-F5344CB8AC3E}">
        <p14:creationId xmlns:p14="http://schemas.microsoft.com/office/powerpoint/2010/main" val="12163584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08E41DC-D41D-46B2-B295-4B09E85A3448}" type="datetime4">
              <a:rPr lang="en-GB" altLang="en-US">
                <a:solidFill>
                  <a:srgbClr val="000000"/>
                </a:solidFill>
              </a:rPr>
              <a:pPr/>
              <a:t>29 January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7577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6</a:t>
            </a: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… Lecture 6 …</a:t>
            </a:r>
            <a:br>
              <a:rPr lang="en-GB" altLang="en-US"/>
            </a:br>
            <a:r>
              <a:rPr lang="en-GB" altLang="en-US"/>
              <a:t>Single Locus Models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4: concluding notes</a:t>
            </a:r>
          </a:p>
        </p:txBody>
      </p:sp>
    </p:spTree>
    <p:extLst>
      <p:ext uri="{BB962C8B-B14F-4D97-AF65-F5344CB8AC3E}">
        <p14:creationId xmlns:p14="http://schemas.microsoft.com/office/powerpoint/2010/main" val="518465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Limitations of MA-BLUP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Difficult to extend to &gt; handful of loci</a:t>
            </a:r>
          </a:p>
          <a:p>
            <a:pPr lvl="1" eaLnBrk="1" hangingPunct="1"/>
            <a:r>
              <a:rPr lang="en-GB" altLang="en-US" dirty="0"/>
              <a:t>but could use </a:t>
            </a:r>
            <a:r>
              <a:rPr lang="en-GB" altLang="en-US" b="1" dirty="0"/>
              <a:t>G</a:t>
            </a:r>
            <a:r>
              <a:rPr lang="en-GB" altLang="en-US" baseline="-25000" dirty="0"/>
              <a:t>FG</a:t>
            </a:r>
            <a:endParaRPr lang="en-GB" altLang="en-US" dirty="0"/>
          </a:p>
          <a:p>
            <a:pPr eaLnBrk="1" hangingPunct="1"/>
            <a:r>
              <a:rPr lang="en-GB" altLang="en-US" dirty="0"/>
              <a:t>What if I don’t have pedigree?</a:t>
            </a:r>
          </a:p>
          <a:p>
            <a:pPr lvl="1" eaLnBrk="1" hangingPunct="1"/>
            <a:r>
              <a:rPr lang="en-GB" altLang="en-US" dirty="0"/>
              <a:t>e.g. typical medical or wildlife data</a:t>
            </a:r>
          </a:p>
          <a:p>
            <a:pPr eaLnBrk="1" hangingPunct="1"/>
            <a:r>
              <a:rPr lang="en-GB" altLang="en-US" dirty="0"/>
              <a:t>What if there are huge amounts of data?</a:t>
            </a:r>
          </a:p>
          <a:p>
            <a:pPr lvl="1" eaLnBrk="1" hangingPunct="1"/>
            <a:r>
              <a:rPr lang="en-GB" altLang="en-US" dirty="0"/>
              <a:t>SNP chips deliver 100,000’s markers</a:t>
            </a:r>
          </a:p>
          <a:p>
            <a:pPr lvl="1" eaLnBrk="1" hangingPunct="1"/>
            <a:r>
              <a:rPr lang="en-GB" altLang="en-US" dirty="0"/>
              <a:t>sequence delivers 100 millions variants</a:t>
            </a:r>
          </a:p>
          <a:p>
            <a:pPr lvl="2" eaLnBrk="1" hangingPunct="1"/>
            <a:r>
              <a:rPr lang="en-GB" altLang="en-US" dirty="0"/>
              <a:t>sequence has all variants in the data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102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4650F7-1EA6-45AA-BB43-A3BCCED5AE83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Opportunities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Can markers capture all variance?</a:t>
            </a:r>
          </a:p>
          <a:p>
            <a:pPr eaLnBrk="1" hangingPunct="1"/>
            <a:r>
              <a:rPr lang="en-GB" altLang="en-US"/>
              <a:t>With large numbers of markers genome wide</a:t>
            </a:r>
          </a:p>
          <a:p>
            <a:pPr lvl="1" eaLnBrk="1" hangingPunct="1"/>
            <a:r>
              <a:rPr lang="en-GB" altLang="en-US"/>
              <a:t>maybe every variant is in population-wide linkage disequilibrium with a number of markers</a:t>
            </a:r>
          </a:p>
          <a:p>
            <a:pPr lvl="1" eaLnBrk="1" hangingPunct="1"/>
            <a:r>
              <a:rPr lang="en-GB" altLang="en-US"/>
              <a:t>maybe genotype at a trait locus can be predicted from one or more marker loci</a:t>
            </a:r>
          </a:p>
          <a:p>
            <a:pPr eaLnBrk="1" hangingPunct="1"/>
            <a:r>
              <a:rPr lang="en-GB" altLang="en-US"/>
              <a:t>Assume this is the case for now!</a:t>
            </a:r>
          </a:p>
          <a:p>
            <a:pPr lvl="1" eaLnBrk="1" hangingPunct="1"/>
            <a:r>
              <a:rPr lang="en-GB" altLang="en-US"/>
              <a:t>i.e. the markers can capture all the genetic variance</a:t>
            </a:r>
          </a:p>
        </p:txBody>
      </p:sp>
      <p:sp>
        <p:nvSpPr>
          <p:cNvPr id="1126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F51CD59-7BEC-4169-B488-1BB6FA48AA72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126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703389" y="239713"/>
            <a:ext cx="8785225" cy="927100"/>
          </a:xfrm>
        </p:spPr>
        <p:txBody>
          <a:bodyPr/>
          <a:lstStyle/>
          <a:p>
            <a:pPr eaLnBrk="1" hangingPunct="1"/>
            <a:r>
              <a:rPr lang="en-GB" altLang="en-US"/>
              <a:t>Predicting Genotypes</a:t>
            </a:r>
          </a:p>
        </p:txBody>
      </p:sp>
      <p:sp>
        <p:nvSpPr>
          <p:cNvPr id="12291" name="Content Placeholder 64"/>
          <p:cNvSpPr>
            <a:spLocks noGrp="1"/>
          </p:cNvSpPr>
          <p:nvPr>
            <p:ph sz="half" idx="1"/>
          </p:nvPr>
        </p:nvSpPr>
        <p:spPr>
          <a:xfrm>
            <a:off x="243459" y="1196976"/>
            <a:ext cx="4618085" cy="4968875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Choose a target SNP locus</a:t>
            </a:r>
          </a:p>
          <a:p>
            <a:pPr lvl="1" indent="-342900" eaLnBrk="1" hangingPunct="1"/>
            <a:r>
              <a:rPr lang="en-GB" altLang="en-US" sz="2000" dirty="0"/>
              <a:t>pretend unknown QTL</a:t>
            </a:r>
          </a:p>
          <a:p>
            <a:pPr marL="0" indent="0" eaLnBrk="1" hangingPunct="1">
              <a:buNone/>
            </a:pPr>
            <a:endParaRPr lang="en-GB" altLang="en-US" sz="2400" dirty="0"/>
          </a:p>
          <a:p>
            <a:pPr eaLnBrk="1" hangingPunct="1"/>
            <a:r>
              <a:rPr lang="en-GB" altLang="en-US" sz="2400" dirty="0"/>
              <a:t>Use marker SNP within 500kb</a:t>
            </a:r>
          </a:p>
          <a:p>
            <a:pPr marL="0" indent="0" eaLnBrk="1" hangingPunct="1">
              <a:buNone/>
            </a:pPr>
            <a:endParaRPr lang="en-GB" altLang="en-US" sz="2400" dirty="0"/>
          </a:p>
          <a:p>
            <a:pPr eaLnBrk="1" hangingPunct="1"/>
            <a:r>
              <a:rPr lang="en-GB" altLang="en-US" sz="2400" dirty="0"/>
              <a:t>Code target &amp; markers 0,1,2</a:t>
            </a:r>
          </a:p>
        </p:txBody>
      </p:sp>
      <p:sp>
        <p:nvSpPr>
          <p:cNvPr id="12292" name="Content Placeholder 66"/>
          <p:cNvSpPr>
            <a:spLocks noGrp="1"/>
          </p:cNvSpPr>
          <p:nvPr>
            <p:ph sz="half" idx="2"/>
          </p:nvPr>
        </p:nvSpPr>
        <p:spPr>
          <a:xfrm>
            <a:off x="4944094" y="1196976"/>
            <a:ext cx="6840538" cy="4968875"/>
          </a:xfrm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122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E047911-CF5C-4B0F-B68D-35E4092B6DB0}" type="datetime4">
              <a:rPr lang="en-GB" altLang="en-US" smtClean="0"/>
              <a:pPr/>
              <a:t>29 January 2025</a:t>
            </a:fld>
            <a:endParaRPr lang="en-GB" altLang="en-US"/>
          </a:p>
        </p:txBody>
      </p:sp>
      <p:sp>
        <p:nvSpPr>
          <p:cNvPr id="122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FD2E48-5BB0-475C-8B22-7CE23EB4ECF1}"/>
              </a:ext>
            </a:extLst>
          </p:cNvPr>
          <p:cNvGrpSpPr/>
          <p:nvPr/>
        </p:nvGrpSpPr>
        <p:grpSpPr>
          <a:xfrm>
            <a:off x="5015880" y="1274763"/>
            <a:ext cx="6697663" cy="4813300"/>
            <a:chOff x="3724276" y="1279525"/>
            <a:chExt cx="6697663" cy="4813300"/>
          </a:xfrm>
        </p:grpSpPr>
        <p:sp>
          <p:nvSpPr>
            <p:cNvPr id="48" name="Rectangle 47"/>
            <p:cNvSpPr/>
            <p:nvPr/>
          </p:nvSpPr>
          <p:spPr bwMode="auto">
            <a:xfrm>
              <a:off x="3724276" y="1279525"/>
              <a:ext cx="6697663" cy="48133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grpSp>
          <p:nvGrpSpPr>
            <p:cNvPr id="12310" name="Group 7"/>
            <p:cNvGrpSpPr>
              <a:grpSpLocks/>
            </p:cNvGrpSpPr>
            <p:nvPr/>
          </p:nvGrpSpPr>
          <p:grpSpPr bwMode="auto">
            <a:xfrm>
              <a:off x="4234716" y="1333847"/>
              <a:ext cx="6115214" cy="4182971"/>
              <a:chOff x="2024055" y="1693892"/>
              <a:chExt cx="6115050" cy="4183380"/>
            </a:xfrm>
          </p:grpSpPr>
          <p:pic>
            <p:nvPicPr>
              <p:cNvPr id="12311" name="Picture 2" descr="C:\Users\jwoollia\Desktop\Capture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4055" y="1693892"/>
                <a:ext cx="6115050" cy="4183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Oval 5"/>
              <p:cNvSpPr/>
              <p:nvPr/>
            </p:nvSpPr>
            <p:spPr>
              <a:xfrm>
                <a:off x="2269258" y="1853899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2491502" y="1844373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2523252" y="1906291"/>
                <a:ext cx="144459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607387" y="1853899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2556589" y="2852533"/>
                <a:ext cx="144458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859793" y="2057119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093149" y="1926931"/>
                <a:ext cx="142871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245545" y="1926931"/>
                <a:ext cx="144458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388416" y="1968210"/>
                <a:ext cx="144458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3388416" y="2223822"/>
                <a:ext cx="144458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002762" y="1853899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4212306" y="2133326"/>
                <a:ext cx="144459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250405" y="1853899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7525330" y="1844373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7452307" y="1858661"/>
                <a:ext cx="144458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158431" y="1926931"/>
                <a:ext cx="142871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5010798" y="1906291"/>
                <a:ext cx="142871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7812660" y="1844373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7741225" y="1844373"/>
                <a:ext cx="144458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668202" y="1844373"/>
                <a:ext cx="144458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2593100" y="2003138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280371" y="2784265"/>
                <a:ext cx="144458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2485153" y="3789250"/>
                <a:ext cx="142871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523252" y="4063915"/>
                <a:ext cx="144459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491502" y="4797411"/>
                <a:ext cx="144459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3267770" y="5516619"/>
                <a:ext cx="144458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2815344" y="3068454"/>
                <a:ext cx="144459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3086799" y="2708057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3388416" y="2928741"/>
                <a:ext cx="144458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3388416" y="2347659"/>
                <a:ext cx="144458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4034511" y="3644774"/>
                <a:ext cx="144459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4155158" y="3139899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5158431" y="3651124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4986986" y="2609623"/>
                <a:ext cx="144459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7739637" y="3284375"/>
                <a:ext cx="144459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7452307" y="2857297"/>
                <a:ext cx="144458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7655502" y="2784265"/>
                <a:ext cx="144458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7655502" y="2041242"/>
                <a:ext cx="144458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2350" name="TextBox 6"/>
              <p:cNvSpPr txBox="1">
                <a:spLocks noChangeArrowheads="1"/>
              </p:cNvSpPr>
              <p:nvPr/>
            </p:nvSpPr>
            <p:spPr bwMode="auto">
              <a:xfrm>
                <a:off x="4249934" y="4870901"/>
                <a:ext cx="1834234" cy="64633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GB" altLang="en-US"/>
                  <a:t>Bovine 54k </a:t>
                </a:r>
              </a:p>
              <a:p>
                <a:pPr eaLnBrk="1" hangingPunct="1"/>
                <a:r>
                  <a:rPr lang="en-GB" altLang="en-US"/>
                  <a:t>Bovine 777k</a:t>
                </a:r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5725154" y="5013333"/>
                <a:ext cx="142871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5725154" y="5229254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F9A1FA4-2ADD-4724-8BE1-98B9C91CE208}"/>
              </a:ext>
            </a:extLst>
          </p:cNvPr>
          <p:cNvGrpSpPr/>
          <p:nvPr/>
        </p:nvGrpSpPr>
        <p:grpSpPr>
          <a:xfrm>
            <a:off x="5015084" y="1393825"/>
            <a:ext cx="6913564" cy="4627563"/>
            <a:chOff x="3724275" y="1393825"/>
            <a:chExt cx="6913564" cy="4627563"/>
          </a:xfrm>
        </p:grpSpPr>
        <p:sp>
          <p:nvSpPr>
            <p:cNvPr id="12296" name="TextBox 50"/>
            <p:cNvSpPr txBox="1">
              <a:spLocks noChangeArrowheads="1"/>
            </p:cNvSpPr>
            <p:nvPr/>
          </p:nvSpPr>
          <p:spPr bwMode="auto">
            <a:xfrm>
              <a:off x="5424487" y="5436964"/>
              <a:ext cx="6715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0.1</a:t>
              </a:r>
            </a:p>
          </p:txBody>
        </p:sp>
        <p:sp>
          <p:nvSpPr>
            <p:cNvPr id="12297" name="TextBox 53"/>
            <p:cNvSpPr txBox="1">
              <a:spLocks noChangeArrowheads="1"/>
            </p:cNvSpPr>
            <p:nvPr/>
          </p:nvSpPr>
          <p:spPr bwMode="auto">
            <a:xfrm>
              <a:off x="6576616" y="5436964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0.2</a:t>
              </a:r>
            </a:p>
          </p:txBody>
        </p:sp>
        <p:sp>
          <p:nvSpPr>
            <p:cNvPr id="12298" name="TextBox 54"/>
            <p:cNvSpPr txBox="1">
              <a:spLocks noChangeArrowheads="1"/>
            </p:cNvSpPr>
            <p:nvPr/>
          </p:nvSpPr>
          <p:spPr bwMode="auto">
            <a:xfrm>
              <a:off x="7800751" y="5436964"/>
              <a:ext cx="6715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0.3</a:t>
              </a:r>
            </a:p>
          </p:txBody>
        </p:sp>
        <p:sp>
          <p:nvSpPr>
            <p:cNvPr id="12299" name="TextBox 55"/>
            <p:cNvSpPr txBox="1">
              <a:spLocks noChangeArrowheads="1"/>
            </p:cNvSpPr>
            <p:nvPr/>
          </p:nvSpPr>
          <p:spPr bwMode="auto">
            <a:xfrm>
              <a:off x="8952880" y="5436964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0.4</a:t>
              </a:r>
            </a:p>
          </p:txBody>
        </p:sp>
        <p:sp>
          <p:nvSpPr>
            <p:cNvPr id="12300" name="TextBox 56"/>
            <p:cNvSpPr txBox="1">
              <a:spLocks noChangeArrowheads="1"/>
            </p:cNvSpPr>
            <p:nvPr/>
          </p:nvSpPr>
          <p:spPr bwMode="auto">
            <a:xfrm>
              <a:off x="4084638" y="5436964"/>
              <a:ext cx="6731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0.0</a:t>
              </a:r>
            </a:p>
          </p:txBody>
        </p:sp>
        <p:sp>
          <p:nvSpPr>
            <p:cNvPr id="12301" name="TextBox 57"/>
            <p:cNvSpPr txBox="1">
              <a:spLocks noChangeArrowheads="1"/>
            </p:cNvSpPr>
            <p:nvPr/>
          </p:nvSpPr>
          <p:spPr bwMode="auto">
            <a:xfrm>
              <a:off x="9966326" y="5436964"/>
              <a:ext cx="6715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0.5</a:t>
              </a:r>
            </a:p>
          </p:txBody>
        </p:sp>
        <p:sp>
          <p:nvSpPr>
            <p:cNvPr id="12302" name="TextBox 58"/>
            <p:cNvSpPr txBox="1">
              <a:spLocks noChangeArrowheads="1"/>
            </p:cNvSpPr>
            <p:nvPr/>
          </p:nvSpPr>
          <p:spPr bwMode="auto">
            <a:xfrm>
              <a:off x="3868738" y="4356100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0.2</a:t>
              </a:r>
            </a:p>
          </p:txBody>
        </p:sp>
        <p:sp>
          <p:nvSpPr>
            <p:cNvPr id="12303" name="TextBox 59"/>
            <p:cNvSpPr txBox="1">
              <a:spLocks noChangeArrowheads="1"/>
            </p:cNvSpPr>
            <p:nvPr/>
          </p:nvSpPr>
          <p:spPr bwMode="auto">
            <a:xfrm>
              <a:off x="3868738" y="3614739"/>
              <a:ext cx="67151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0.4</a:t>
              </a:r>
            </a:p>
          </p:txBody>
        </p:sp>
        <p:sp>
          <p:nvSpPr>
            <p:cNvPr id="12304" name="TextBox 60"/>
            <p:cNvSpPr txBox="1">
              <a:spLocks noChangeArrowheads="1"/>
            </p:cNvSpPr>
            <p:nvPr/>
          </p:nvSpPr>
          <p:spPr bwMode="auto">
            <a:xfrm>
              <a:off x="3868738" y="2874964"/>
              <a:ext cx="67151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0.6</a:t>
              </a:r>
            </a:p>
          </p:txBody>
        </p:sp>
        <p:sp>
          <p:nvSpPr>
            <p:cNvPr id="12305" name="TextBox 61"/>
            <p:cNvSpPr txBox="1">
              <a:spLocks noChangeArrowheads="1"/>
            </p:cNvSpPr>
            <p:nvPr/>
          </p:nvSpPr>
          <p:spPr bwMode="auto">
            <a:xfrm>
              <a:off x="3868738" y="2135188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0.8</a:t>
              </a:r>
            </a:p>
          </p:txBody>
        </p:sp>
        <p:sp>
          <p:nvSpPr>
            <p:cNvPr id="12306" name="TextBox 62"/>
            <p:cNvSpPr txBox="1">
              <a:spLocks noChangeArrowheads="1"/>
            </p:cNvSpPr>
            <p:nvPr/>
          </p:nvSpPr>
          <p:spPr bwMode="auto">
            <a:xfrm>
              <a:off x="3868738" y="1393825"/>
              <a:ext cx="6715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1.0</a:t>
              </a:r>
            </a:p>
          </p:txBody>
        </p:sp>
        <p:sp>
          <p:nvSpPr>
            <p:cNvPr id="12307" name="TextBox 52"/>
            <p:cNvSpPr txBox="1">
              <a:spLocks noChangeArrowheads="1"/>
            </p:cNvSpPr>
            <p:nvPr/>
          </p:nvSpPr>
          <p:spPr bwMode="auto">
            <a:xfrm>
              <a:off x="7037389" y="5651500"/>
              <a:ext cx="15128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MAF</a:t>
              </a:r>
            </a:p>
          </p:txBody>
        </p:sp>
        <p:sp>
          <p:nvSpPr>
            <p:cNvPr id="12308" name="TextBox 65"/>
            <p:cNvSpPr txBox="1">
              <a:spLocks noChangeArrowheads="1"/>
            </p:cNvSpPr>
            <p:nvPr/>
          </p:nvSpPr>
          <p:spPr bwMode="auto">
            <a:xfrm>
              <a:off x="3724275" y="3275014"/>
              <a:ext cx="151288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r</a:t>
              </a:r>
              <a:r>
                <a:rPr lang="en-GB" altLang="en-US" baseline="30000"/>
                <a:t>2</a:t>
              </a:r>
              <a:endParaRPr lang="en-GB" altLang="en-US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Can predict additive effects of a QTL locus from additive effects of marker loci </a:t>
            </a:r>
          </a:p>
          <a:p>
            <a:pPr lvl="1" eaLnBrk="1" hangingPunct="1">
              <a:defRPr/>
            </a:pPr>
            <a:r>
              <a:rPr lang="en-GB" dirty="0"/>
              <a:t>use multiple markers not a single locus</a:t>
            </a:r>
          </a:p>
          <a:p>
            <a:pPr lvl="1" eaLnBrk="1" hangingPunct="1">
              <a:defRPr/>
            </a:pPr>
            <a:r>
              <a:rPr lang="en-GB" dirty="0"/>
              <a:t>HD better prediction (particularly for low MAF?)</a:t>
            </a:r>
          </a:p>
          <a:p>
            <a:pPr eaLnBrk="1" hangingPunct="1">
              <a:defRPr/>
            </a:pPr>
            <a:r>
              <a:rPr lang="en-GB" dirty="0"/>
              <a:t>So with enough markers, all variants can be (nearly) explained by regressions on markers</a:t>
            </a:r>
          </a:p>
          <a:p>
            <a:pPr eaLnBrk="1" hangingPunct="1">
              <a:defRPr/>
            </a:pPr>
            <a:r>
              <a:rPr lang="en-GB" dirty="0"/>
              <a:t>Can dispense with ‘polygenic variance’</a:t>
            </a:r>
          </a:p>
          <a:p>
            <a:pPr lvl="1" eaLnBrk="1" hangingPunct="1">
              <a:defRPr/>
            </a:pPr>
            <a:r>
              <a:rPr lang="en-GB" dirty="0"/>
              <a:t>will not require pedigree!</a:t>
            </a:r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E149C76-BC58-4CB5-80AF-A885C7A3EF76}" type="datetime4">
              <a:rPr lang="en-GB" altLang="en-US"/>
              <a:pPr/>
              <a:t>29 January 2025</a:t>
            </a:fld>
            <a:endParaRPr lang="en-GB" altLang="en-US"/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13421</TotalTime>
  <Words>4294</Words>
  <Application>Microsoft Office PowerPoint</Application>
  <PresentationFormat>Widescreen</PresentationFormat>
  <Paragraphs>1421</Paragraphs>
  <Slides>72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Times New Roman</vt:lpstr>
      <vt:lpstr>1_Default Design</vt:lpstr>
      <vt:lpstr>Equation</vt:lpstr>
      <vt:lpstr>Formula</vt:lpstr>
      <vt:lpstr>... Lecture 6 ... Single Locus Models</vt:lpstr>
      <vt:lpstr>... Lecture 6 ... Single Locus Models</vt:lpstr>
      <vt:lpstr>Genetic Variation in Models</vt:lpstr>
      <vt:lpstr>Myostatin Gene</vt:lpstr>
      <vt:lpstr>Myostatin Gene</vt:lpstr>
      <vt:lpstr>Myostatin Gene</vt:lpstr>
      <vt:lpstr>Myostatin Gene</vt:lpstr>
      <vt:lpstr>Myostatin Gene</vt:lpstr>
      <vt:lpstr>Test Effects </vt:lpstr>
      <vt:lpstr>Least Squares Model</vt:lpstr>
      <vt:lpstr>Least Squares Model</vt:lpstr>
      <vt:lpstr>Complex Traits</vt:lpstr>
      <vt:lpstr>Polygenic Variance </vt:lpstr>
      <vt:lpstr>Polygenic Model</vt:lpstr>
      <vt:lpstr>Polygenic Model</vt:lpstr>
      <vt:lpstr>PowerPoint Presentation</vt:lpstr>
      <vt:lpstr>Case 1: No Effect of Locus</vt:lpstr>
      <vt:lpstr>Case 2: Locus With Effect</vt:lpstr>
      <vt:lpstr>Case 2: Locus with Effect</vt:lpstr>
      <vt:lpstr>Conclusion</vt:lpstr>
      <vt:lpstr>PowerPoint Presentation</vt:lpstr>
      <vt:lpstr>Fitting Model</vt:lpstr>
      <vt:lpstr>Genetic Interpretation</vt:lpstr>
      <vt:lpstr>Genetic Interpretation</vt:lpstr>
      <vt:lpstr>Genetic Interpretation</vt:lpstr>
      <vt:lpstr>Genetic Interpretation</vt:lpstr>
      <vt:lpstr>Genetic Interpretation</vt:lpstr>
      <vt:lpstr>Genetic Interpretation</vt:lpstr>
      <vt:lpstr>Standard Errors</vt:lpstr>
      <vt:lpstr>Model</vt:lpstr>
      <vt:lpstr>Breeding Value</vt:lpstr>
      <vt:lpstr>Single Locus Genotype</vt:lpstr>
      <vt:lpstr>Application</vt:lpstr>
      <vt:lpstr>PowerPoint Presentation</vt:lpstr>
      <vt:lpstr>... Lecture 6 ... Single Locus Models</vt:lpstr>
      <vt:lpstr>Back to Genetic Variance </vt:lpstr>
      <vt:lpstr>Issues</vt:lpstr>
      <vt:lpstr>Revision on A</vt:lpstr>
      <vt:lpstr>PowerPoint Presentation</vt:lpstr>
      <vt:lpstr>A-matrix</vt:lpstr>
      <vt:lpstr>A-matrix at (say) 12 cM</vt:lpstr>
      <vt:lpstr>PowerPoint Presentation</vt:lpstr>
      <vt:lpstr>AQ: Locus Specific A</vt:lpstr>
      <vt:lpstr>PowerPoint Presentation</vt:lpstr>
      <vt:lpstr>AQ: Locus Specific A</vt:lpstr>
      <vt:lpstr>AQ: Locus Specific A</vt:lpstr>
      <vt:lpstr>PowerPoint Presentation</vt:lpstr>
      <vt:lpstr>AQ: Locus Specific A</vt:lpstr>
      <vt:lpstr>PowerPoint Presentation</vt:lpstr>
      <vt:lpstr>AQ: Locus Specific A</vt:lpstr>
      <vt:lpstr>PowerPoint Presentation</vt:lpstr>
      <vt:lpstr>AQ: Locus Specific A</vt:lpstr>
      <vt:lpstr>PowerPoint Presentation</vt:lpstr>
      <vt:lpstr>Conclusion</vt:lpstr>
      <vt:lpstr>PowerPoint Presentation</vt:lpstr>
      <vt:lpstr>... Lecture 6 ... Single Locus Models</vt:lpstr>
      <vt:lpstr>Using AQ</vt:lpstr>
      <vt:lpstr>MAS (or MA-BLUP) Model</vt:lpstr>
      <vt:lpstr>Fitting MAS (or MA-BLUP) Model</vt:lpstr>
      <vt:lpstr>Linkage Analysis</vt:lpstr>
      <vt:lpstr>… Lecture 6 … Single Locus Models</vt:lpstr>
      <vt:lpstr>Linkage Analysis</vt:lpstr>
      <vt:lpstr>Linkage Analysis</vt:lpstr>
      <vt:lpstr>GAS &amp; MAS</vt:lpstr>
      <vt:lpstr>Widening the Perspective</vt:lpstr>
      <vt:lpstr>Summary</vt:lpstr>
      <vt:lpstr>PowerPoint Presentation</vt:lpstr>
      <vt:lpstr>… Lecture 6 … Single Locus Models</vt:lpstr>
      <vt:lpstr>Limitations of MA-BLUP</vt:lpstr>
      <vt:lpstr>Opportunities</vt:lpstr>
      <vt:lpstr>Predicting Genotypes</vt:lpstr>
      <vt:lpstr>Opportunities</vt:lpstr>
    </vt:vector>
  </TitlesOfParts>
  <Company>Roslin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Population Size: Calculation and Use</dc:title>
  <dc:creator>woollja</dc:creator>
  <cp:lastModifiedBy>John Woolliams</cp:lastModifiedBy>
  <cp:revision>360</cp:revision>
  <dcterms:created xsi:type="dcterms:W3CDTF">2007-10-16T08:44:29Z</dcterms:created>
  <dcterms:modified xsi:type="dcterms:W3CDTF">2025-01-29T19:45:47Z</dcterms:modified>
</cp:coreProperties>
</file>