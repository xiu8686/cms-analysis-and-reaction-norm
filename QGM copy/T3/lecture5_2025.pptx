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0"/>
  </p:notesMasterIdLst>
  <p:sldIdLst>
    <p:sldId id="263" r:id="rId2"/>
    <p:sldId id="350" r:id="rId3"/>
    <p:sldId id="282" r:id="rId4"/>
    <p:sldId id="331" r:id="rId5"/>
    <p:sldId id="332" r:id="rId6"/>
    <p:sldId id="285" r:id="rId7"/>
    <p:sldId id="301" r:id="rId8"/>
    <p:sldId id="337" r:id="rId9"/>
    <p:sldId id="286" r:id="rId10"/>
    <p:sldId id="288" r:id="rId11"/>
    <p:sldId id="289" r:id="rId12"/>
    <p:sldId id="291" r:id="rId13"/>
    <p:sldId id="327" r:id="rId14"/>
    <p:sldId id="287" r:id="rId15"/>
    <p:sldId id="318" r:id="rId16"/>
    <p:sldId id="319" r:id="rId17"/>
    <p:sldId id="320" r:id="rId18"/>
    <p:sldId id="359" r:id="rId19"/>
    <p:sldId id="293" r:id="rId20"/>
    <p:sldId id="294" r:id="rId21"/>
    <p:sldId id="295" r:id="rId22"/>
    <p:sldId id="349" r:id="rId23"/>
    <p:sldId id="356" r:id="rId24"/>
    <p:sldId id="296" r:id="rId25"/>
    <p:sldId id="321" r:id="rId26"/>
    <p:sldId id="333" r:id="rId27"/>
    <p:sldId id="297" r:id="rId28"/>
    <p:sldId id="309" r:id="rId29"/>
    <p:sldId id="298" r:id="rId30"/>
    <p:sldId id="345" r:id="rId31"/>
    <p:sldId id="346" r:id="rId32"/>
    <p:sldId id="299" r:id="rId33"/>
    <p:sldId id="302" r:id="rId34"/>
    <p:sldId id="360" r:id="rId35"/>
    <p:sldId id="361" r:id="rId36"/>
    <p:sldId id="362" r:id="rId37"/>
    <p:sldId id="338" r:id="rId38"/>
    <p:sldId id="351" r:id="rId39"/>
    <p:sldId id="334" r:id="rId40"/>
    <p:sldId id="348" r:id="rId41"/>
    <p:sldId id="339" r:id="rId42"/>
    <p:sldId id="304" r:id="rId43"/>
    <p:sldId id="305" r:id="rId44"/>
    <p:sldId id="308" r:id="rId45"/>
    <p:sldId id="355" r:id="rId46"/>
    <p:sldId id="323" r:id="rId47"/>
    <p:sldId id="343" r:id="rId48"/>
    <p:sldId id="274" r:id="rId49"/>
    <p:sldId id="367" r:id="rId50"/>
    <p:sldId id="368" r:id="rId51"/>
    <p:sldId id="273" r:id="rId52"/>
    <p:sldId id="329" r:id="rId53"/>
    <p:sldId id="342" r:id="rId54"/>
    <p:sldId id="275" r:id="rId55"/>
    <p:sldId id="311" r:id="rId56"/>
    <p:sldId id="310" r:id="rId57"/>
    <p:sldId id="324" r:id="rId58"/>
    <p:sldId id="363" r:id="rId59"/>
    <p:sldId id="364" r:id="rId60"/>
    <p:sldId id="365" r:id="rId61"/>
    <p:sldId id="366" r:id="rId62"/>
    <p:sldId id="341" r:id="rId63"/>
    <p:sldId id="316" r:id="rId64"/>
    <p:sldId id="347" r:id="rId65"/>
    <p:sldId id="330" r:id="rId66"/>
    <p:sldId id="340" r:id="rId67"/>
    <p:sldId id="352" r:id="rId68"/>
    <p:sldId id="268" r:id="rId69"/>
    <p:sldId id="326" r:id="rId70"/>
    <p:sldId id="278" r:id="rId71"/>
    <p:sldId id="272" r:id="rId72"/>
    <p:sldId id="280" r:id="rId73"/>
    <p:sldId id="281" r:id="rId74"/>
    <p:sldId id="357" r:id="rId75"/>
    <p:sldId id="344" r:id="rId76"/>
    <p:sldId id="277" r:id="rId77"/>
    <p:sldId id="279" r:id="rId78"/>
    <p:sldId id="353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E3"/>
    <a:srgbClr val="FFFFCC"/>
    <a:srgbClr val="CBECDE"/>
    <a:srgbClr val="ADB5B1"/>
    <a:srgbClr val="E7F6EF"/>
    <a:srgbClr val="0000FE"/>
    <a:srgbClr val="FC0101"/>
    <a:srgbClr val="EBEBEB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>
      <p:cViewPr varScale="1">
        <p:scale>
          <a:sx n="60" d="100"/>
          <a:sy n="60" d="100"/>
        </p:scale>
        <p:origin x="76" y="5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04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3FF00-5267-49D0-B969-8BD6B507C635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EC102-F788-4A4C-83BD-16F44971DE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59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EC102-F788-4A4C-83BD-16F44971DE86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83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336029-3C15-4737-BF1D-2C4EA1611C5A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5966F-3723-497E-90BA-6AC8459AF35C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883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 sz="2400"/>
            </a:lvl4pPr>
            <a:lvl5pPr>
              <a:buClr>
                <a:srgbClr val="C00000"/>
              </a:buCl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F9DBB6-18DA-4B50-BB9A-57FFA9909E8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C62B4-D659-4986-A106-F54448397AD7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9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761CAE-D0AD-46AA-B098-905853BD1F18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B3725C-B60D-4C41-915A-469CFE5A31BE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82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1196976"/>
            <a:ext cx="5755216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96976"/>
            <a:ext cx="575521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DF9834-0EEC-411F-8ECD-939235EC7B0E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9E4A5-1AE5-41FB-A351-8DA8656252AA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32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C6E6C0-3BA4-4124-8E51-55DA6F97DC32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992BF-F812-4ACC-A2E5-7A0CB50EA49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49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B2481-09D8-402F-9D95-936229AF4F5E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DAEF-49BF-4E64-B9FA-4176E9A7F449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07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31F6EC-AF87-4E17-8809-0079AC6B1E6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6E065-78C5-4121-A03E-B493A710BB1A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856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22C667-3934-4121-B313-AE7481D5BBE8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E3B90-6D42-48B6-B178-560C9C4A7255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54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BE7603-FF82-4342-BB4A-100BBC23470A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8779-24BE-4776-9404-2FBB564F2A80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E3D0A3-A4BD-4AD9-B19A-EC7EDE4063C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E84ED-5D94-4D2D-9963-4BD5C1E2F9C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832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269876"/>
            <a:ext cx="2927351" cy="5895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269876"/>
            <a:ext cx="8583083" cy="58959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02542-D35C-4F99-BA60-DD8FBB4941D2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57723-A289-4712-B113-901C1B817E8C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8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DDDDDD">
                <a:gamma/>
                <a:tint val="73725"/>
                <a:invGamma/>
              </a:srgbClr>
            </a:gs>
            <a:gs pos="50000">
              <a:srgbClr val="DDDDDD"/>
            </a:gs>
            <a:gs pos="100000">
              <a:srgbClr val="DDDDDD">
                <a:gamma/>
                <a:tint val="73725"/>
                <a:invGamma/>
              </a:srgb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269875"/>
            <a:ext cx="1171363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1196976"/>
            <a:ext cx="11713633" cy="4968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87FAA30-FBF1-463E-95EA-C3BC6AFE218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578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73AFDA5-DB8F-4C0A-984C-83722AC373E2}" type="slidenum">
              <a:rPr lang="en-GB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78567" name="Text Box 7"/>
          <p:cNvSpPr txBox="1">
            <a:spLocks noChangeArrowheads="1"/>
          </p:cNvSpPr>
          <p:nvPr userDrawn="1"/>
        </p:nvSpPr>
        <p:spPr bwMode="auto">
          <a:xfrm>
            <a:off x="143934" y="212725"/>
            <a:ext cx="662516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1600" b="1">
              <a:solidFill>
                <a:srgbClr val="FFFFFF"/>
              </a:solidFill>
            </a:endParaRPr>
          </a:p>
        </p:txBody>
      </p:sp>
      <p:pic>
        <p:nvPicPr>
          <p:cNvPr id="578569" name="Picture 9" descr="roslin new logo Blk"/>
          <p:cNvPicPr>
            <a:picLocks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81" y="6336000"/>
            <a:ext cx="1055767" cy="29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0" name="Picture 5" descr="R(D)SVSlogofade3.psd"/>
          <p:cNvPicPr>
            <a:picLocks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211889"/>
            <a:ext cx="1537929" cy="5222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1" name="Picture 11"/>
          <p:cNvPicPr>
            <a:picLocks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219825"/>
            <a:ext cx="524901" cy="5222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983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C0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800">
          <a:solidFill>
            <a:srgbClr val="4D4D4D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… Lecture 5 …</a:t>
            </a:r>
            <a:br>
              <a:rPr lang="en-GB" dirty="0"/>
            </a:br>
            <a:r>
              <a:rPr lang="en-GB" dirty="0"/>
              <a:t>Shrinkage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2649-E89A-493A-B39B-DEBBF19A122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398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… Lecture 5 …</a:t>
            </a:r>
            <a:br>
              <a:rPr lang="en-GB" dirty="0"/>
            </a:br>
            <a:r>
              <a:rPr lang="en-GB" dirty="0"/>
              <a:t>Shrinkage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Part 1: uncovering the truth behind random effects!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2649-E89A-493A-B39B-DEBBF19A122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4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or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 fixed effect?</a:t>
            </a:r>
          </a:p>
          <a:p>
            <a:r>
              <a:rPr lang="en-GB" dirty="0"/>
              <a:t>What is a random effect?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48A6-5FD4-44B6-87B7-B46FF864AD5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66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or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a fixed effect?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a random effect?</a:t>
            </a:r>
          </a:p>
          <a:p>
            <a:r>
              <a:rPr lang="en-GB" dirty="0"/>
              <a:t>Why does it matter?</a:t>
            </a:r>
          </a:p>
          <a:p>
            <a:r>
              <a:rPr lang="en-GB" dirty="0"/>
              <a:t>What is the difference?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B264-1173-4529-857D-B36BE12947F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55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Randomly drawn from a distribution with a finite variance</a:t>
            </a:r>
          </a:p>
          <a:p>
            <a:pPr lvl="1"/>
            <a:r>
              <a:rPr lang="en-GB" dirty="0"/>
              <a:t>typically </a:t>
            </a:r>
            <a:r>
              <a:rPr lang="en-GB" u="sng" dirty="0"/>
              <a:t>M</a:t>
            </a:r>
            <a:r>
              <a:rPr lang="en-GB" dirty="0"/>
              <a:t>ulti-</a:t>
            </a:r>
            <a:r>
              <a:rPr lang="en-GB" u="sng" dirty="0"/>
              <a:t>V</a:t>
            </a:r>
            <a:r>
              <a:rPr lang="en-GB" dirty="0"/>
              <a:t>ariate </a:t>
            </a:r>
            <a:r>
              <a:rPr lang="en-GB" u="sng" dirty="0"/>
              <a:t>N</a:t>
            </a:r>
            <a:r>
              <a:rPr lang="en-GB" dirty="0"/>
              <a:t>ormal … MVN</a:t>
            </a:r>
          </a:p>
          <a:p>
            <a:pPr lvl="1"/>
            <a:r>
              <a:rPr lang="en-GB" dirty="0"/>
              <a:t>but doesn’t have to be!</a:t>
            </a:r>
          </a:p>
          <a:p>
            <a:pPr lvl="1"/>
            <a:r>
              <a:rPr lang="en-GB" dirty="0"/>
              <a:t>a form of prior knowledge that can be used</a:t>
            </a:r>
          </a:p>
          <a:p>
            <a:pPr lvl="1"/>
            <a:r>
              <a:rPr lang="en-GB" dirty="0"/>
              <a:t>e.g. in BLUP, REML</a:t>
            </a:r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400CE-7502-4A47-A5E7-BC308C11E77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414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Randomly drawn form a distribution with a finite variance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typically MVN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but doesn’t have to be!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 form of prior knowledge that can be used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e.g. BLUP, REML</a:t>
            </a:r>
          </a:p>
          <a:p>
            <a:r>
              <a:rPr lang="en-GB" dirty="0"/>
              <a:t>Fixed effects</a:t>
            </a:r>
          </a:p>
          <a:p>
            <a:pPr lvl="1"/>
            <a:r>
              <a:rPr lang="en-GB" dirty="0"/>
              <a:t>not Random!</a:t>
            </a:r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042B-4A05-4392-B215-5BFDD834D775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898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Fixed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Systematic, repeatable across experiments</a:t>
            </a:r>
          </a:p>
          <a:p>
            <a:pPr lvl="1"/>
            <a:r>
              <a:rPr lang="en-GB" dirty="0"/>
              <a:t>e.g. sex, drug, birth type</a:t>
            </a:r>
          </a:p>
          <a:p>
            <a:pPr lvl="1"/>
            <a:r>
              <a:rPr lang="en-GB" dirty="0"/>
              <a:t>effects of temperature, or light </a:t>
            </a:r>
          </a:p>
          <a:p>
            <a:pPr lvl="1"/>
            <a:r>
              <a:rPr lang="en-GB" dirty="0"/>
              <a:t>top two sires and bottom two sires</a:t>
            </a:r>
          </a:p>
          <a:p>
            <a:pPr lvl="1"/>
            <a:r>
              <a:rPr lang="en-GB" dirty="0"/>
              <a:t>“almost all levels of factor contained in the data”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FCCB8-F8CA-4E31-9A01-618F79071A0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285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E665-C62F-4FDA-A9C5-B3167744BC7A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55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Imagines some sire families</a:t>
            </a:r>
          </a:p>
          <a:p>
            <a:pPr lvl="1"/>
            <a:r>
              <a:rPr lang="en-GB" dirty="0"/>
              <a:t>each with n offspring … e.g. n=5 here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1B0F-AEDF-4831-828A-51758C8B3D8A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391179" y="250128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088160" y="250128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7997216" y="2506472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6694198" y="2501280"/>
            <a:ext cx="504056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3287688" y="407707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705866" y="364832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72144" y="368141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744888" y="453427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924888" y="4001297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3107688" y="453427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089604" y="435548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648200" y="425707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3744888" y="453427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51864" y="4001297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4871864" y="373208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940336" y="383381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557796" y="450788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8116392" y="440947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520056" y="4153697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8263480" y="3648322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140136" y="437512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757596" y="5049200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6316192" y="495078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19856" y="4695011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6539856" y="4425800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4565375" y="3284964"/>
            <a:ext cx="1296144" cy="19442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 rot="1310043">
            <a:off x="2876053" y="3337533"/>
            <a:ext cx="1296144" cy="19442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 rot="327589">
            <a:off x="6163176" y="3646389"/>
            <a:ext cx="1296144" cy="19442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 rot="20471045">
            <a:off x="7977340" y="3227712"/>
            <a:ext cx="1296144" cy="19442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Arrow Connector 37"/>
          <p:cNvCxnSpPr>
            <a:stCxn id="7" idx="3"/>
            <a:endCxn id="34" idx="0"/>
          </p:cNvCxnSpPr>
          <p:nvPr/>
        </p:nvCxnSpPr>
        <p:spPr>
          <a:xfrm flipH="1">
            <a:off x="3885671" y="2931519"/>
            <a:ext cx="276306" cy="475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3"/>
            <a:endCxn id="33" idx="0"/>
          </p:cNvCxnSpPr>
          <p:nvPr/>
        </p:nvCxnSpPr>
        <p:spPr>
          <a:xfrm flipH="1">
            <a:off x="5213448" y="2931520"/>
            <a:ext cx="251549" cy="353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9" idx="4"/>
            <a:endCxn id="35" idx="0"/>
          </p:cNvCxnSpPr>
          <p:nvPr/>
        </p:nvCxnSpPr>
        <p:spPr>
          <a:xfrm flipH="1">
            <a:off x="6903742" y="3005337"/>
            <a:ext cx="42484" cy="645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8" idx="4"/>
            <a:endCxn id="36" idx="0"/>
          </p:cNvCxnSpPr>
          <p:nvPr/>
        </p:nvCxnSpPr>
        <p:spPr>
          <a:xfrm>
            <a:off x="8249245" y="3010528"/>
            <a:ext cx="62635" cy="269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169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Record offspring, variance </a:t>
            </a:r>
            <a:r>
              <a:rPr lang="en-GB" dirty="0" err="1"/>
              <a:t>Ve</a:t>
            </a:r>
            <a:r>
              <a:rPr lang="en-GB" dirty="0"/>
              <a:t> within families</a:t>
            </a:r>
          </a:p>
          <a:p>
            <a:pPr lvl="1"/>
            <a:r>
              <a:rPr lang="en-GB" dirty="0"/>
              <a:t>fit ‘sire’ as fixed effect to get the ‘LS’ means</a:t>
            </a:r>
          </a:p>
          <a:p>
            <a:pPr lvl="2"/>
            <a:r>
              <a:rPr lang="en-GB" dirty="0"/>
              <a:t>LS – is Least Squares … outcomes of fixed effect models</a:t>
            </a:r>
          </a:p>
          <a:p>
            <a:pPr lvl="1"/>
            <a:r>
              <a:rPr lang="en-GB" dirty="0"/>
              <a:t>variance of each sire mean estimate = </a:t>
            </a:r>
            <a:r>
              <a:rPr lang="en-GB" dirty="0" err="1"/>
              <a:t>Ve</a:t>
            </a:r>
            <a:r>
              <a:rPr lang="en-GB" dirty="0"/>
              <a:t>/n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64F-DAFD-421B-B170-72DC84AEB928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5951984" y="3933057"/>
            <a:ext cx="4401620" cy="2174995"/>
            <a:chOff x="2432173" y="3018726"/>
            <a:chExt cx="6397431" cy="3089325"/>
          </a:xfrm>
        </p:grpSpPr>
        <p:sp>
          <p:nvSpPr>
            <p:cNvPr id="6" name="Oval 5"/>
            <p:cNvSpPr/>
            <p:nvPr/>
          </p:nvSpPr>
          <p:spPr>
            <a:xfrm>
              <a:off x="4947299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/>
            <p:cNvSpPr/>
            <p:nvPr/>
          </p:nvSpPr>
          <p:spPr>
            <a:xfrm>
              <a:off x="3644280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/>
            <p:cNvSpPr/>
            <p:nvPr/>
          </p:nvSpPr>
          <p:spPr>
            <a:xfrm>
              <a:off x="7553336" y="302391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/>
            <p:cNvSpPr/>
            <p:nvPr/>
          </p:nvSpPr>
          <p:spPr>
            <a:xfrm>
              <a:off x="6250318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/>
            <p:cNvSpPr/>
            <p:nvPr/>
          </p:nvSpPr>
          <p:spPr>
            <a:xfrm>
              <a:off x="2843808" y="45945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261986" y="416576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5028264" y="419885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3010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481008" y="45187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6638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4645724" y="48729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204320" y="47745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3010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607984" y="45187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4427984" y="42495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8496456" y="435125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8113916" y="50253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7672512" y="49269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8076176" y="46711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7819600" y="416576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6696256" y="489257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6313716" y="556664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5872312" y="54682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6275976" y="5212457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6095976" y="494324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121495" y="3802410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/>
            <p:cNvSpPr/>
            <p:nvPr/>
          </p:nvSpPr>
          <p:spPr>
            <a:xfrm rot="1310043">
              <a:off x="2432173" y="3854979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/>
            <p:cNvSpPr/>
            <p:nvPr/>
          </p:nvSpPr>
          <p:spPr>
            <a:xfrm rot="327589">
              <a:off x="5719296" y="4163835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/>
            <p:cNvSpPr/>
            <p:nvPr/>
          </p:nvSpPr>
          <p:spPr>
            <a:xfrm rot="20471045">
              <a:off x="7533460" y="3745158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" name="Straight Arrow Connector 37"/>
            <p:cNvCxnSpPr>
              <a:stCxn id="7" idx="3"/>
              <a:endCxn id="34" idx="0"/>
            </p:cNvCxnSpPr>
            <p:nvPr/>
          </p:nvCxnSpPr>
          <p:spPr>
            <a:xfrm flipH="1">
              <a:off x="3441791" y="3448965"/>
              <a:ext cx="276306" cy="475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6" idx="3"/>
              <a:endCxn id="33" idx="0"/>
            </p:cNvCxnSpPr>
            <p:nvPr/>
          </p:nvCxnSpPr>
          <p:spPr>
            <a:xfrm flipH="1">
              <a:off x="4769567" y="3448965"/>
              <a:ext cx="251549" cy="353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  <a:endCxn id="35" idx="0"/>
            </p:cNvCxnSpPr>
            <p:nvPr/>
          </p:nvCxnSpPr>
          <p:spPr>
            <a:xfrm flipH="1">
              <a:off x="6459862" y="3522782"/>
              <a:ext cx="42484" cy="645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8" idx="4"/>
              <a:endCxn id="36" idx="0"/>
            </p:cNvCxnSpPr>
            <p:nvPr/>
          </p:nvCxnSpPr>
          <p:spPr>
            <a:xfrm>
              <a:off x="7805364" y="3527974"/>
              <a:ext cx="62635" cy="269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9809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Record offspring, variance </a:t>
            </a:r>
            <a:r>
              <a:rPr lang="en-GB" dirty="0" err="1"/>
              <a:t>Ve</a:t>
            </a:r>
            <a:r>
              <a:rPr lang="en-GB" dirty="0"/>
              <a:t> within families</a:t>
            </a:r>
          </a:p>
          <a:p>
            <a:pPr lvl="1"/>
            <a:r>
              <a:rPr lang="en-GB" dirty="0"/>
              <a:t>variance of each sire mean estimate = </a:t>
            </a:r>
            <a:r>
              <a:rPr lang="en-GB" dirty="0" err="1"/>
              <a:t>Ve</a:t>
            </a:r>
            <a:r>
              <a:rPr lang="en-GB" dirty="0"/>
              <a:t>/n</a:t>
            </a:r>
          </a:p>
          <a:p>
            <a:pPr lvl="1"/>
            <a:r>
              <a:rPr lang="en-GB" dirty="0"/>
              <a:t>now assume sires random, with variance Vs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54E-134A-4614-B8F7-A76B63C4729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 rot="16200000">
            <a:off x="8058229" y="2161874"/>
            <a:ext cx="315192" cy="296430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1" name="Group 40"/>
          <p:cNvGrpSpPr/>
          <p:nvPr/>
        </p:nvGrpSpPr>
        <p:grpSpPr>
          <a:xfrm>
            <a:off x="5951984" y="3933057"/>
            <a:ext cx="4401620" cy="2174995"/>
            <a:chOff x="2432173" y="3018726"/>
            <a:chExt cx="6397431" cy="3089325"/>
          </a:xfrm>
        </p:grpSpPr>
        <p:sp>
          <p:nvSpPr>
            <p:cNvPr id="42" name="Oval 41"/>
            <p:cNvSpPr/>
            <p:nvPr/>
          </p:nvSpPr>
          <p:spPr>
            <a:xfrm>
              <a:off x="4947299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/>
            <p:cNvSpPr/>
            <p:nvPr/>
          </p:nvSpPr>
          <p:spPr>
            <a:xfrm>
              <a:off x="3644280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Oval 44"/>
            <p:cNvSpPr/>
            <p:nvPr/>
          </p:nvSpPr>
          <p:spPr>
            <a:xfrm>
              <a:off x="7553336" y="302391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/>
            <p:cNvSpPr/>
            <p:nvPr/>
          </p:nvSpPr>
          <p:spPr>
            <a:xfrm>
              <a:off x="6250318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/>
            <p:cNvSpPr/>
            <p:nvPr/>
          </p:nvSpPr>
          <p:spPr>
            <a:xfrm>
              <a:off x="2843808" y="45945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3261986" y="416576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028264" y="419885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33010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3481008" y="45187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26638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4645724" y="48729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4204320" y="47745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33010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607984" y="45187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4427984" y="42495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8496456" y="435125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8113916" y="50253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7672512" y="49269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8076176" y="46711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7819600" y="416576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6696256" y="489257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6313716" y="556664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5872312" y="54682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6275976" y="5212457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6095976" y="494324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4121495" y="3802410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/>
            <p:cNvSpPr/>
            <p:nvPr/>
          </p:nvSpPr>
          <p:spPr>
            <a:xfrm rot="1310043">
              <a:off x="2432173" y="3854979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/>
            <p:cNvSpPr/>
            <p:nvPr/>
          </p:nvSpPr>
          <p:spPr>
            <a:xfrm rot="327589">
              <a:off x="5719296" y="4163835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/>
            <p:cNvSpPr/>
            <p:nvPr/>
          </p:nvSpPr>
          <p:spPr>
            <a:xfrm rot="20471045">
              <a:off x="7533460" y="3745158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3" name="Straight Arrow Connector 72"/>
            <p:cNvCxnSpPr>
              <a:stCxn id="43" idx="3"/>
              <a:endCxn id="70" idx="0"/>
            </p:cNvCxnSpPr>
            <p:nvPr/>
          </p:nvCxnSpPr>
          <p:spPr>
            <a:xfrm flipH="1">
              <a:off x="3441791" y="3448965"/>
              <a:ext cx="276306" cy="475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stCxn id="42" idx="3"/>
              <a:endCxn id="69" idx="0"/>
            </p:cNvCxnSpPr>
            <p:nvPr/>
          </p:nvCxnSpPr>
          <p:spPr>
            <a:xfrm flipH="1">
              <a:off x="4769567" y="3448965"/>
              <a:ext cx="251549" cy="353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46" idx="4"/>
              <a:endCxn id="71" idx="0"/>
            </p:cNvCxnSpPr>
            <p:nvPr/>
          </p:nvCxnSpPr>
          <p:spPr>
            <a:xfrm flipH="1">
              <a:off x="6459862" y="3522782"/>
              <a:ext cx="42484" cy="645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45" idx="4"/>
              <a:endCxn id="72" idx="0"/>
            </p:cNvCxnSpPr>
            <p:nvPr/>
          </p:nvCxnSpPr>
          <p:spPr>
            <a:xfrm>
              <a:off x="7805364" y="3527974"/>
              <a:ext cx="62635" cy="269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7896200" y="2970099"/>
            <a:ext cx="850244" cy="381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89957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Record offspring, variance </a:t>
            </a:r>
            <a:r>
              <a:rPr lang="en-GB" dirty="0" err="1"/>
              <a:t>Ve</a:t>
            </a:r>
            <a:r>
              <a:rPr lang="en-GB" dirty="0"/>
              <a:t> within families</a:t>
            </a:r>
          </a:p>
          <a:p>
            <a:pPr lvl="1"/>
            <a:r>
              <a:rPr lang="en-GB" dirty="0"/>
              <a:t>variance of each sire mean estimate = </a:t>
            </a:r>
            <a:r>
              <a:rPr lang="en-GB" dirty="0" err="1"/>
              <a:t>Ve</a:t>
            </a:r>
            <a:r>
              <a:rPr lang="en-GB" dirty="0"/>
              <a:t>/n</a:t>
            </a:r>
          </a:p>
          <a:p>
            <a:pPr lvl="1"/>
            <a:r>
              <a:rPr lang="en-GB" dirty="0"/>
              <a:t>now assume sires random, with variance Vs</a:t>
            </a:r>
          </a:p>
          <a:p>
            <a:pPr lvl="1"/>
            <a:r>
              <a:rPr lang="en-GB" dirty="0"/>
              <a:t>total variance of sire mean estimates = Vs + </a:t>
            </a:r>
            <a:r>
              <a:rPr lang="en-GB" dirty="0" err="1"/>
              <a:t>Ve</a:t>
            </a:r>
            <a:r>
              <a:rPr lang="en-GB" dirty="0"/>
              <a:t>/n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9A7D-4835-40A4-8691-72AB5976BCFE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 rot="16200000">
            <a:off x="8058229" y="2161874"/>
            <a:ext cx="315192" cy="296430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/>
          <p:cNvSpPr/>
          <p:nvPr/>
        </p:nvSpPr>
        <p:spPr>
          <a:xfrm>
            <a:off x="7682465" y="3933057"/>
            <a:ext cx="346805" cy="3548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/>
          <p:cNvSpPr/>
          <p:nvPr/>
        </p:nvSpPr>
        <p:spPr>
          <a:xfrm>
            <a:off x="6785950" y="3933057"/>
            <a:ext cx="346805" cy="3548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/>
          <p:cNvSpPr/>
          <p:nvPr/>
        </p:nvSpPr>
        <p:spPr>
          <a:xfrm>
            <a:off x="9475495" y="3936712"/>
            <a:ext cx="346805" cy="3548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8578981" y="3933057"/>
            <a:ext cx="346805" cy="3548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/>
          <p:cNvSpPr/>
          <p:nvPr/>
        </p:nvSpPr>
        <p:spPr>
          <a:xfrm>
            <a:off x="6235202" y="5042470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6522921" y="4740614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7738172" y="4763911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6549769" y="5364355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6673614" y="4989121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6111357" y="5364355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7474973" y="5238483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7171274" y="5169196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6549769" y="5364355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7449007" y="4989121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7325161" y="4799587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124389" y="4871206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9861191" y="5345778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9557492" y="5276491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9835224" y="5096417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9658693" y="4740614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8885799" y="5252310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8622600" y="5726883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8318901" y="5657596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596634" y="5477521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8472789" y="5287987"/>
            <a:ext cx="123845" cy="12672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7114288" y="4484798"/>
            <a:ext cx="891785" cy="13687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 69"/>
          <p:cNvSpPr/>
          <p:nvPr/>
        </p:nvSpPr>
        <p:spPr>
          <a:xfrm rot="1310043">
            <a:off x="5951985" y="4521809"/>
            <a:ext cx="891785" cy="13687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 rot="327589">
            <a:off x="8213622" y="4739255"/>
            <a:ext cx="891785" cy="13687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Oval 71"/>
          <p:cNvSpPr/>
          <p:nvPr/>
        </p:nvSpPr>
        <p:spPr>
          <a:xfrm rot="20471045">
            <a:off x="9461820" y="4444491"/>
            <a:ext cx="891785" cy="13687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Straight Arrow Connector 72"/>
          <p:cNvCxnSpPr>
            <a:stCxn id="43" idx="3"/>
            <a:endCxn id="70" idx="0"/>
          </p:cNvCxnSpPr>
          <p:nvPr/>
        </p:nvCxnSpPr>
        <p:spPr>
          <a:xfrm flipH="1">
            <a:off x="6646632" y="4235960"/>
            <a:ext cx="190107" cy="33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42" idx="3"/>
            <a:endCxn id="69" idx="0"/>
          </p:cNvCxnSpPr>
          <p:nvPr/>
        </p:nvCxnSpPr>
        <p:spPr>
          <a:xfrm flipH="1">
            <a:off x="7560181" y="4235960"/>
            <a:ext cx="173073" cy="24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46" idx="4"/>
            <a:endCxn id="71" idx="0"/>
          </p:cNvCxnSpPr>
          <p:nvPr/>
        </p:nvCxnSpPr>
        <p:spPr>
          <a:xfrm flipH="1">
            <a:off x="8723152" y="4287930"/>
            <a:ext cx="29230" cy="454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45" idx="4"/>
            <a:endCxn id="72" idx="0"/>
          </p:cNvCxnSpPr>
          <p:nvPr/>
        </p:nvCxnSpPr>
        <p:spPr>
          <a:xfrm>
            <a:off x="9648898" y="4291585"/>
            <a:ext cx="43095" cy="189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64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Record offspring, variance </a:t>
            </a:r>
            <a:r>
              <a:rPr lang="en-GB" dirty="0" err="1"/>
              <a:t>Ve</a:t>
            </a:r>
            <a:r>
              <a:rPr lang="en-GB" dirty="0"/>
              <a:t> within families</a:t>
            </a:r>
          </a:p>
          <a:p>
            <a:pPr lvl="1"/>
            <a:r>
              <a:rPr lang="en-GB" dirty="0"/>
              <a:t>variance of each sire family mean = </a:t>
            </a:r>
            <a:r>
              <a:rPr lang="en-GB" dirty="0" err="1"/>
              <a:t>Ve</a:t>
            </a:r>
            <a:r>
              <a:rPr lang="en-GB" dirty="0"/>
              <a:t>/n</a:t>
            </a:r>
          </a:p>
          <a:p>
            <a:pPr lvl="1"/>
            <a:r>
              <a:rPr lang="en-GB" dirty="0"/>
              <a:t>now assume sires random, with variance Vs</a:t>
            </a:r>
          </a:p>
          <a:p>
            <a:pPr lvl="1"/>
            <a:r>
              <a:rPr lang="en-GB" dirty="0"/>
              <a:t>total variance of sire mean estimates = Vs + </a:t>
            </a:r>
            <a:r>
              <a:rPr lang="en-GB" dirty="0" err="1"/>
              <a:t>Ve</a:t>
            </a:r>
            <a:r>
              <a:rPr lang="en-GB" dirty="0"/>
              <a:t>/n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A991D-921B-4ACC-A9A4-6DCAE15EB1EB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 rot="16200000">
            <a:off x="8058229" y="2161874"/>
            <a:ext cx="315192" cy="296430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1" name="Group 40"/>
          <p:cNvGrpSpPr/>
          <p:nvPr/>
        </p:nvGrpSpPr>
        <p:grpSpPr>
          <a:xfrm>
            <a:off x="5951984" y="3933057"/>
            <a:ext cx="4401620" cy="2174995"/>
            <a:chOff x="2432173" y="3018726"/>
            <a:chExt cx="6397431" cy="3089325"/>
          </a:xfrm>
        </p:grpSpPr>
        <p:sp>
          <p:nvSpPr>
            <p:cNvPr id="42" name="Oval 41"/>
            <p:cNvSpPr/>
            <p:nvPr/>
          </p:nvSpPr>
          <p:spPr>
            <a:xfrm>
              <a:off x="4947299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/>
            <p:cNvSpPr/>
            <p:nvPr/>
          </p:nvSpPr>
          <p:spPr>
            <a:xfrm>
              <a:off x="3644280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Oval 44"/>
            <p:cNvSpPr/>
            <p:nvPr/>
          </p:nvSpPr>
          <p:spPr>
            <a:xfrm>
              <a:off x="7553336" y="302391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/>
            <p:cNvSpPr/>
            <p:nvPr/>
          </p:nvSpPr>
          <p:spPr>
            <a:xfrm>
              <a:off x="6250318" y="301872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/>
            <p:cNvSpPr/>
            <p:nvPr/>
          </p:nvSpPr>
          <p:spPr>
            <a:xfrm>
              <a:off x="2843808" y="45945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3261986" y="416576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028264" y="419885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33010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3481008" y="45187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26638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4645724" y="48729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4204320" y="47745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3301008" y="50517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607984" y="45187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4427984" y="42495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8496456" y="435125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8113916" y="50253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7672512" y="492691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8076176" y="467114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7819600" y="416576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6696256" y="489257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6313716" y="556664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5872312" y="5468232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6275976" y="5212457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6095976" y="494324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4121495" y="3802410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/>
            <p:cNvSpPr/>
            <p:nvPr/>
          </p:nvSpPr>
          <p:spPr>
            <a:xfrm rot="1310043">
              <a:off x="2432173" y="3854979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/>
            <p:cNvSpPr/>
            <p:nvPr/>
          </p:nvSpPr>
          <p:spPr>
            <a:xfrm rot="327589">
              <a:off x="5719296" y="4163835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/>
            <p:cNvSpPr/>
            <p:nvPr/>
          </p:nvSpPr>
          <p:spPr>
            <a:xfrm rot="20471045">
              <a:off x="7533460" y="3745158"/>
              <a:ext cx="1296144" cy="194421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3" name="Straight Arrow Connector 72"/>
            <p:cNvCxnSpPr>
              <a:stCxn id="43" idx="3"/>
              <a:endCxn id="70" idx="0"/>
            </p:cNvCxnSpPr>
            <p:nvPr/>
          </p:nvCxnSpPr>
          <p:spPr>
            <a:xfrm flipH="1">
              <a:off x="3441791" y="3448965"/>
              <a:ext cx="276306" cy="475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stCxn id="42" idx="3"/>
              <a:endCxn id="69" idx="0"/>
            </p:cNvCxnSpPr>
            <p:nvPr/>
          </p:nvCxnSpPr>
          <p:spPr>
            <a:xfrm flipH="1">
              <a:off x="4769567" y="3448965"/>
              <a:ext cx="251549" cy="3534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46" idx="4"/>
              <a:endCxn id="71" idx="0"/>
            </p:cNvCxnSpPr>
            <p:nvPr/>
          </p:nvCxnSpPr>
          <p:spPr>
            <a:xfrm flipH="1">
              <a:off x="6459862" y="3522782"/>
              <a:ext cx="42484" cy="645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45" idx="4"/>
              <a:endCxn id="72" idx="0"/>
            </p:cNvCxnSpPr>
            <p:nvPr/>
          </p:nvCxnSpPr>
          <p:spPr>
            <a:xfrm>
              <a:off x="7805364" y="3527974"/>
              <a:ext cx="62635" cy="269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 rot="21315797">
            <a:off x="2209800" y="3486430"/>
            <a:ext cx="7749268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Total Variance = Variance ‘within’ + Variance ‘between</a:t>
            </a:r>
            <a:r>
              <a:rPr lang="en-GB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768227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are overestimating the scale of the variation by the sire family means!</a:t>
            </a:r>
          </a:p>
          <a:p>
            <a:pPr lvl="1"/>
            <a:r>
              <a:rPr lang="en-GB" dirty="0"/>
              <a:t>cannot be unbiased</a:t>
            </a:r>
          </a:p>
          <a:p>
            <a:pPr lvl="1"/>
            <a:r>
              <a:rPr lang="en-GB" dirty="0"/>
              <a:t>top overestimated, bottom underestimated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D5C56-FC2E-4FF0-95D6-C3F4B4F9C73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000" y="3790801"/>
            <a:ext cx="6048672" cy="2375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248128" y="3573323"/>
            <a:ext cx="237626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True values with 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7194" y="4576635"/>
            <a:ext cx="2880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LS values  with </a:t>
            </a:r>
            <a:r>
              <a:rPr lang="en-GB" dirty="0" err="1"/>
              <a:t>Vs+Ve</a:t>
            </a:r>
            <a:r>
              <a:rPr lang="en-GB" dirty="0"/>
              <a:t>/n</a:t>
            </a:r>
          </a:p>
        </p:txBody>
      </p:sp>
    </p:spTree>
    <p:extLst>
      <p:ext uri="{BB962C8B-B14F-4D97-AF65-F5344CB8AC3E}">
        <p14:creationId xmlns:p14="http://schemas.microsoft.com/office/powerpoint/2010/main" val="2813704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if we select …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8431-45C5-41A4-A084-CEB7C0805E37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41559" y="2956961"/>
            <a:ext cx="41400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LS values with </a:t>
            </a:r>
            <a:r>
              <a:rPr lang="en-GB" sz="2400" dirty="0" err="1"/>
              <a:t>Vs+Ve</a:t>
            </a:r>
            <a:r>
              <a:rPr lang="en-GB" sz="2400" dirty="0"/>
              <a:t>/</a:t>
            </a:r>
            <a:r>
              <a:rPr lang="en-GB" sz="2400" dirty="0" err="1"/>
              <a:t>n</a:t>
            </a:r>
            <a:r>
              <a:rPr lang="en-GB" sz="2400" baseline="-25000" dirty="0" err="1"/>
              <a:t>large</a:t>
            </a:r>
            <a:endParaRPr lang="en-GB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3018000" y="3790800"/>
            <a:ext cx="6222558" cy="2186240"/>
            <a:chOff x="1494000" y="3501008"/>
            <a:chExt cx="6222558" cy="2186240"/>
          </a:xfrm>
        </p:grpSpPr>
        <p:grpSp>
          <p:nvGrpSpPr>
            <p:cNvPr id="9" name="Group 8"/>
            <p:cNvGrpSpPr/>
            <p:nvPr/>
          </p:nvGrpSpPr>
          <p:grpSpPr>
            <a:xfrm>
              <a:off x="1494000" y="4306712"/>
              <a:ext cx="6222558" cy="1380536"/>
              <a:chOff x="3856038" y="3727450"/>
              <a:chExt cx="4138613" cy="2352677"/>
            </a:xfrm>
          </p:grpSpPr>
          <p:sp>
            <p:nvSpPr>
              <p:cNvPr id="10" name="Line 382"/>
              <p:cNvSpPr>
                <a:spLocks noChangeShapeType="1"/>
              </p:cNvSpPr>
              <p:nvPr/>
            </p:nvSpPr>
            <p:spPr bwMode="auto">
              <a:xfrm flipV="1">
                <a:off x="5164139" y="4938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Line 380"/>
              <p:cNvSpPr>
                <a:spLocks noChangeShapeType="1"/>
              </p:cNvSpPr>
              <p:nvPr/>
            </p:nvSpPr>
            <p:spPr bwMode="auto">
              <a:xfrm flipV="1">
                <a:off x="5135563" y="50053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Line 381"/>
              <p:cNvSpPr>
                <a:spLocks noChangeShapeType="1"/>
              </p:cNvSpPr>
              <p:nvPr/>
            </p:nvSpPr>
            <p:spPr bwMode="auto">
              <a:xfrm flipV="1">
                <a:off x="5149850" y="4972051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Line 383"/>
              <p:cNvSpPr>
                <a:spLocks noChangeShapeType="1"/>
              </p:cNvSpPr>
              <p:nvPr/>
            </p:nvSpPr>
            <p:spPr bwMode="auto">
              <a:xfrm flipV="1">
                <a:off x="5180013" y="4903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Line 384"/>
              <p:cNvSpPr>
                <a:spLocks noChangeShapeType="1"/>
              </p:cNvSpPr>
              <p:nvPr/>
            </p:nvSpPr>
            <p:spPr bwMode="auto">
              <a:xfrm flipV="1">
                <a:off x="5194300" y="48688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Line 385"/>
              <p:cNvSpPr>
                <a:spLocks noChangeShapeType="1"/>
              </p:cNvSpPr>
              <p:nvPr/>
            </p:nvSpPr>
            <p:spPr bwMode="auto">
              <a:xfrm flipV="1">
                <a:off x="5208588" y="48355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Line 386"/>
              <p:cNvSpPr>
                <a:spLocks noChangeShapeType="1"/>
              </p:cNvSpPr>
              <p:nvPr/>
            </p:nvSpPr>
            <p:spPr bwMode="auto">
              <a:xfrm flipV="1">
                <a:off x="5222876" y="4802188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Line 387"/>
              <p:cNvSpPr>
                <a:spLocks noChangeShapeType="1"/>
              </p:cNvSpPr>
              <p:nvPr/>
            </p:nvSpPr>
            <p:spPr bwMode="auto">
              <a:xfrm flipV="1">
                <a:off x="5238750" y="4759327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Line 388"/>
              <p:cNvSpPr>
                <a:spLocks noChangeShapeType="1"/>
              </p:cNvSpPr>
              <p:nvPr/>
            </p:nvSpPr>
            <p:spPr bwMode="auto">
              <a:xfrm flipV="1">
                <a:off x="5253038" y="4725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Line 389"/>
              <p:cNvSpPr>
                <a:spLocks noChangeShapeType="1"/>
              </p:cNvSpPr>
              <p:nvPr/>
            </p:nvSpPr>
            <p:spPr bwMode="auto">
              <a:xfrm flipV="1">
                <a:off x="5267326" y="4691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Line 390"/>
              <p:cNvSpPr>
                <a:spLocks noChangeShapeType="1"/>
              </p:cNvSpPr>
              <p:nvPr/>
            </p:nvSpPr>
            <p:spPr bwMode="auto">
              <a:xfrm flipV="1">
                <a:off x="5283200" y="46577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Line 391"/>
              <p:cNvSpPr>
                <a:spLocks noChangeShapeType="1"/>
              </p:cNvSpPr>
              <p:nvPr/>
            </p:nvSpPr>
            <p:spPr bwMode="auto">
              <a:xfrm flipV="1">
                <a:off x="5297488" y="4614864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Line 475"/>
              <p:cNvSpPr>
                <a:spLocks noChangeShapeType="1"/>
              </p:cNvSpPr>
              <p:nvPr/>
            </p:nvSpPr>
            <p:spPr bwMode="auto">
              <a:xfrm>
                <a:off x="6530975" y="4759326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Line 474"/>
              <p:cNvSpPr>
                <a:spLocks noChangeShapeType="1"/>
              </p:cNvSpPr>
              <p:nvPr/>
            </p:nvSpPr>
            <p:spPr bwMode="auto">
              <a:xfrm>
                <a:off x="6516688" y="4725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Line 476"/>
              <p:cNvSpPr>
                <a:spLocks noChangeShapeType="1"/>
              </p:cNvSpPr>
              <p:nvPr/>
            </p:nvSpPr>
            <p:spPr bwMode="auto">
              <a:xfrm>
                <a:off x="6548439" y="4808535"/>
                <a:ext cx="11112" cy="26992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Line 407"/>
              <p:cNvSpPr>
                <a:spLocks noChangeShapeType="1"/>
              </p:cNvSpPr>
              <p:nvPr/>
            </p:nvSpPr>
            <p:spPr bwMode="auto">
              <a:xfrm flipV="1">
                <a:off x="5516563" y="4116388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408"/>
              <p:cNvSpPr>
                <a:spLocks/>
              </p:cNvSpPr>
              <p:nvPr/>
            </p:nvSpPr>
            <p:spPr bwMode="auto">
              <a:xfrm>
                <a:off x="5530851" y="4083050"/>
                <a:ext cx="15875" cy="33338"/>
              </a:xfrm>
              <a:custGeom>
                <a:avLst/>
                <a:gdLst>
                  <a:gd name="T0" fmla="*/ 0 w 10"/>
                  <a:gd name="T1" fmla="*/ 21 h 21"/>
                  <a:gd name="T2" fmla="*/ 5 w 10"/>
                  <a:gd name="T3" fmla="*/ 10 h 21"/>
                  <a:gd name="T4" fmla="*/ 10 w 10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21"/>
                    </a:moveTo>
                    <a:lnTo>
                      <a:pt x="5" y="10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Line 409"/>
              <p:cNvSpPr>
                <a:spLocks noChangeShapeType="1"/>
              </p:cNvSpPr>
              <p:nvPr/>
            </p:nvSpPr>
            <p:spPr bwMode="auto">
              <a:xfrm flipV="1">
                <a:off x="5546725" y="40576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Line 410"/>
              <p:cNvSpPr>
                <a:spLocks noChangeShapeType="1"/>
              </p:cNvSpPr>
              <p:nvPr/>
            </p:nvSpPr>
            <p:spPr bwMode="auto">
              <a:xfrm flipV="1">
                <a:off x="5561013" y="40322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411"/>
              <p:cNvSpPr>
                <a:spLocks/>
              </p:cNvSpPr>
              <p:nvPr/>
            </p:nvSpPr>
            <p:spPr bwMode="auto">
              <a:xfrm>
                <a:off x="5575301" y="4006850"/>
                <a:ext cx="22225" cy="25400"/>
              </a:xfrm>
              <a:custGeom>
                <a:avLst/>
                <a:gdLst>
                  <a:gd name="T0" fmla="*/ 0 w 14"/>
                  <a:gd name="T1" fmla="*/ 16 h 16"/>
                  <a:gd name="T2" fmla="*/ 5 w 14"/>
                  <a:gd name="T3" fmla="*/ 5 h 16"/>
                  <a:gd name="T4" fmla="*/ 14 w 14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16"/>
                    </a:moveTo>
                    <a:lnTo>
                      <a:pt x="5" y="5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Line 412"/>
              <p:cNvSpPr>
                <a:spLocks noChangeShapeType="1"/>
              </p:cNvSpPr>
              <p:nvPr/>
            </p:nvSpPr>
            <p:spPr bwMode="auto">
              <a:xfrm flipV="1">
                <a:off x="5597525" y="39798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Line 413"/>
              <p:cNvSpPr>
                <a:spLocks noChangeShapeType="1"/>
              </p:cNvSpPr>
              <p:nvPr/>
            </p:nvSpPr>
            <p:spPr bwMode="auto">
              <a:xfrm flipV="1">
                <a:off x="5611814" y="3956051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Line 414"/>
              <p:cNvSpPr>
                <a:spLocks noChangeShapeType="1"/>
              </p:cNvSpPr>
              <p:nvPr/>
            </p:nvSpPr>
            <p:spPr bwMode="auto">
              <a:xfrm flipV="1">
                <a:off x="5627688" y="393223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Line 415"/>
              <p:cNvSpPr>
                <a:spLocks noChangeShapeType="1"/>
              </p:cNvSpPr>
              <p:nvPr/>
            </p:nvSpPr>
            <p:spPr bwMode="auto">
              <a:xfrm flipV="1">
                <a:off x="5641975" y="3905250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Line 416"/>
              <p:cNvSpPr>
                <a:spLocks noChangeShapeType="1"/>
              </p:cNvSpPr>
              <p:nvPr/>
            </p:nvSpPr>
            <p:spPr bwMode="auto">
              <a:xfrm flipV="1">
                <a:off x="5656263" y="388937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417"/>
              <p:cNvSpPr>
                <a:spLocks/>
              </p:cNvSpPr>
              <p:nvPr/>
            </p:nvSpPr>
            <p:spPr bwMode="auto">
              <a:xfrm>
                <a:off x="5670551" y="3863975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5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5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Line 418"/>
              <p:cNvSpPr>
                <a:spLocks noChangeShapeType="1"/>
              </p:cNvSpPr>
              <p:nvPr/>
            </p:nvSpPr>
            <p:spPr bwMode="auto">
              <a:xfrm flipV="1">
                <a:off x="5686425" y="38465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Line 419"/>
              <p:cNvSpPr>
                <a:spLocks noChangeShapeType="1"/>
              </p:cNvSpPr>
              <p:nvPr/>
            </p:nvSpPr>
            <p:spPr bwMode="auto">
              <a:xfrm flipV="1">
                <a:off x="5700713" y="382905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Line 420"/>
              <p:cNvSpPr>
                <a:spLocks noChangeShapeType="1"/>
              </p:cNvSpPr>
              <p:nvPr/>
            </p:nvSpPr>
            <p:spPr bwMode="auto">
              <a:xfrm flipV="1">
                <a:off x="5715000" y="381158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" name="Line 421"/>
              <p:cNvSpPr>
                <a:spLocks noChangeShapeType="1"/>
              </p:cNvSpPr>
              <p:nvPr/>
            </p:nvSpPr>
            <p:spPr bwMode="auto">
              <a:xfrm flipV="1">
                <a:off x="5729289" y="3795714"/>
                <a:ext cx="15875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Line 422"/>
              <p:cNvSpPr>
                <a:spLocks noChangeShapeType="1"/>
              </p:cNvSpPr>
              <p:nvPr/>
            </p:nvSpPr>
            <p:spPr bwMode="auto">
              <a:xfrm flipV="1">
                <a:off x="5745163" y="37877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Line 423"/>
              <p:cNvSpPr>
                <a:spLocks noChangeShapeType="1"/>
              </p:cNvSpPr>
              <p:nvPr/>
            </p:nvSpPr>
            <p:spPr bwMode="auto">
              <a:xfrm flipV="1">
                <a:off x="5759450" y="37703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Line 424"/>
              <p:cNvSpPr>
                <a:spLocks noChangeShapeType="1"/>
              </p:cNvSpPr>
              <p:nvPr/>
            </p:nvSpPr>
            <p:spPr bwMode="auto">
              <a:xfrm flipV="1">
                <a:off x="5773739" y="376237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Line 425"/>
              <p:cNvSpPr>
                <a:spLocks noChangeShapeType="1"/>
              </p:cNvSpPr>
              <p:nvPr/>
            </p:nvSpPr>
            <p:spPr bwMode="auto">
              <a:xfrm flipV="1">
                <a:off x="5789613" y="3754438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Line 426"/>
              <p:cNvSpPr>
                <a:spLocks noChangeShapeType="1"/>
              </p:cNvSpPr>
              <p:nvPr/>
            </p:nvSpPr>
            <p:spPr bwMode="auto">
              <a:xfrm flipV="1">
                <a:off x="5803900" y="374491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" name="Line 427"/>
              <p:cNvSpPr>
                <a:spLocks noChangeShapeType="1"/>
              </p:cNvSpPr>
              <p:nvPr/>
            </p:nvSpPr>
            <p:spPr bwMode="auto">
              <a:xfrm flipV="1">
                <a:off x="5818188" y="37369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Line 428"/>
              <p:cNvSpPr>
                <a:spLocks noChangeShapeType="1"/>
              </p:cNvSpPr>
              <p:nvPr/>
            </p:nvSpPr>
            <p:spPr bwMode="auto">
              <a:xfrm>
                <a:off x="5832476" y="373697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29"/>
              <p:cNvSpPr>
                <a:spLocks/>
              </p:cNvSpPr>
              <p:nvPr/>
            </p:nvSpPr>
            <p:spPr bwMode="auto">
              <a:xfrm>
                <a:off x="5848350" y="3727451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Line 430"/>
              <p:cNvSpPr>
                <a:spLocks noChangeShapeType="1"/>
              </p:cNvSpPr>
              <p:nvPr/>
            </p:nvSpPr>
            <p:spPr bwMode="auto">
              <a:xfrm>
                <a:off x="5862638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Line 431"/>
              <p:cNvSpPr>
                <a:spLocks noChangeShapeType="1"/>
              </p:cNvSpPr>
              <p:nvPr/>
            </p:nvSpPr>
            <p:spPr bwMode="auto">
              <a:xfrm>
                <a:off x="5876925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Line 432"/>
              <p:cNvSpPr>
                <a:spLocks noChangeShapeType="1"/>
              </p:cNvSpPr>
              <p:nvPr/>
            </p:nvSpPr>
            <p:spPr bwMode="auto">
              <a:xfrm>
                <a:off x="5891214" y="372745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Line 433"/>
              <p:cNvSpPr>
                <a:spLocks noChangeShapeType="1"/>
              </p:cNvSpPr>
              <p:nvPr/>
            </p:nvSpPr>
            <p:spPr bwMode="auto">
              <a:xfrm>
                <a:off x="5907088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" name="Freeform 434"/>
              <p:cNvSpPr>
                <a:spLocks/>
              </p:cNvSpPr>
              <p:nvPr/>
            </p:nvSpPr>
            <p:spPr bwMode="auto">
              <a:xfrm>
                <a:off x="5921375" y="372745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Line 435"/>
              <p:cNvSpPr>
                <a:spLocks noChangeShapeType="1"/>
              </p:cNvSpPr>
              <p:nvPr/>
            </p:nvSpPr>
            <p:spPr bwMode="auto">
              <a:xfrm>
                <a:off x="5935664" y="373697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" name="Line 436"/>
              <p:cNvSpPr>
                <a:spLocks noChangeShapeType="1"/>
              </p:cNvSpPr>
              <p:nvPr/>
            </p:nvSpPr>
            <p:spPr bwMode="auto">
              <a:xfrm>
                <a:off x="5951538" y="37369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Line 437"/>
              <p:cNvSpPr>
                <a:spLocks noChangeShapeType="1"/>
              </p:cNvSpPr>
              <p:nvPr/>
            </p:nvSpPr>
            <p:spPr bwMode="auto">
              <a:xfrm>
                <a:off x="5965825" y="374491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Line 438"/>
              <p:cNvSpPr>
                <a:spLocks noChangeShapeType="1"/>
              </p:cNvSpPr>
              <p:nvPr/>
            </p:nvSpPr>
            <p:spPr bwMode="auto">
              <a:xfrm>
                <a:off x="5980113" y="3754438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" name="Line 439"/>
              <p:cNvSpPr>
                <a:spLocks noChangeShapeType="1"/>
              </p:cNvSpPr>
              <p:nvPr/>
            </p:nvSpPr>
            <p:spPr bwMode="auto">
              <a:xfrm>
                <a:off x="5994401" y="376237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Line 440"/>
              <p:cNvSpPr>
                <a:spLocks noChangeShapeType="1"/>
              </p:cNvSpPr>
              <p:nvPr/>
            </p:nvSpPr>
            <p:spPr bwMode="auto">
              <a:xfrm>
                <a:off x="6010275" y="37703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Line 441"/>
              <p:cNvSpPr>
                <a:spLocks noChangeShapeType="1"/>
              </p:cNvSpPr>
              <p:nvPr/>
            </p:nvSpPr>
            <p:spPr bwMode="auto">
              <a:xfrm>
                <a:off x="6024563" y="37877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Line 442"/>
              <p:cNvSpPr>
                <a:spLocks noChangeShapeType="1"/>
              </p:cNvSpPr>
              <p:nvPr/>
            </p:nvSpPr>
            <p:spPr bwMode="auto">
              <a:xfrm>
                <a:off x="6038850" y="379571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Line 443"/>
              <p:cNvSpPr>
                <a:spLocks noChangeShapeType="1"/>
              </p:cNvSpPr>
              <p:nvPr/>
            </p:nvSpPr>
            <p:spPr bwMode="auto">
              <a:xfrm>
                <a:off x="6053139" y="381158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Line 444"/>
              <p:cNvSpPr>
                <a:spLocks noChangeShapeType="1"/>
              </p:cNvSpPr>
              <p:nvPr/>
            </p:nvSpPr>
            <p:spPr bwMode="auto">
              <a:xfrm>
                <a:off x="6069013" y="382905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Line 445"/>
              <p:cNvSpPr>
                <a:spLocks noChangeShapeType="1"/>
              </p:cNvSpPr>
              <p:nvPr/>
            </p:nvSpPr>
            <p:spPr bwMode="auto">
              <a:xfrm>
                <a:off x="6083300" y="38465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" name="Freeform 446"/>
              <p:cNvSpPr>
                <a:spLocks/>
              </p:cNvSpPr>
              <p:nvPr/>
            </p:nvSpPr>
            <p:spPr bwMode="auto">
              <a:xfrm>
                <a:off x="6097589" y="3863975"/>
                <a:ext cx="15875" cy="25400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5 h 16"/>
                  <a:gd name="T4" fmla="*/ 10 w 10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5"/>
                    </a:lnTo>
                    <a:lnTo>
                      <a:pt x="10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" name="Line 447"/>
              <p:cNvSpPr>
                <a:spLocks noChangeShapeType="1"/>
              </p:cNvSpPr>
              <p:nvPr/>
            </p:nvSpPr>
            <p:spPr bwMode="auto">
              <a:xfrm>
                <a:off x="6113463" y="388937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" name="Line 448"/>
              <p:cNvSpPr>
                <a:spLocks noChangeShapeType="1"/>
              </p:cNvSpPr>
              <p:nvPr/>
            </p:nvSpPr>
            <p:spPr bwMode="auto">
              <a:xfrm>
                <a:off x="6127750" y="3905250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" name="Line 449"/>
              <p:cNvSpPr>
                <a:spLocks noChangeShapeType="1"/>
              </p:cNvSpPr>
              <p:nvPr/>
            </p:nvSpPr>
            <p:spPr bwMode="auto">
              <a:xfrm>
                <a:off x="6142038" y="393223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" name="Line 450"/>
              <p:cNvSpPr>
                <a:spLocks noChangeShapeType="1"/>
              </p:cNvSpPr>
              <p:nvPr/>
            </p:nvSpPr>
            <p:spPr bwMode="auto">
              <a:xfrm>
                <a:off x="6156326" y="3956051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" name="Freeform 451"/>
              <p:cNvSpPr>
                <a:spLocks/>
              </p:cNvSpPr>
              <p:nvPr/>
            </p:nvSpPr>
            <p:spPr bwMode="auto">
              <a:xfrm>
                <a:off x="6172201" y="3979863"/>
                <a:ext cx="22225" cy="26988"/>
              </a:xfrm>
              <a:custGeom>
                <a:avLst/>
                <a:gdLst>
                  <a:gd name="T0" fmla="*/ 0 w 14"/>
                  <a:gd name="T1" fmla="*/ 0 h 17"/>
                  <a:gd name="T2" fmla="*/ 4 w 14"/>
                  <a:gd name="T3" fmla="*/ 6 h 17"/>
                  <a:gd name="T4" fmla="*/ 14 w 14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7">
                    <a:moveTo>
                      <a:pt x="0" y="0"/>
                    </a:moveTo>
                    <a:lnTo>
                      <a:pt x="4" y="6"/>
                    </a:lnTo>
                    <a:lnTo>
                      <a:pt x="14" y="17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" name="Line 452"/>
              <p:cNvSpPr>
                <a:spLocks noChangeShapeType="1"/>
              </p:cNvSpPr>
              <p:nvPr/>
            </p:nvSpPr>
            <p:spPr bwMode="auto">
              <a:xfrm>
                <a:off x="6194425" y="40068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Line 453"/>
              <p:cNvSpPr>
                <a:spLocks noChangeShapeType="1"/>
              </p:cNvSpPr>
              <p:nvPr/>
            </p:nvSpPr>
            <p:spPr bwMode="auto">
              <a:xfrm>
                <a:off x="6208713" y="40322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" name="Line 454"/>
              <p:cNvSpPr>
                <a:spLocks noChangeShapeType="1"/>
              </p:cNvSpPr>
              <p:nvPr/>
            </p:nvSpPr>
            <p:spPr bwMode="auto">
              <a:xfrm>
                <a:off x="6223000" y="40576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" name="Freeform 455"/>
              <p:cNvSpPr>
                <a:spLocks/>
              </p:cNvSpPr>
              <p:nvPr/>
            </p:nvSpPr>
            <p:spPr bwMode="auto">
              <a:xfrm>
                <a:off x="6237289" y="4083050"/>
                <a:ext cx="15875" cy="33338"/>
              </a:xfrm>
              <a:custGeom>
                <a:avLst/>
                <a:gdLst>
                  <a:gd name="T0" fmla="*/ 0 w 10"/>
                  <a:gd name="T1" fmla="*/ 0 h 21"/>
                  <a:gd name="T2" fmla="*/ 5 w 10"/>
                  <a:gd name="T3" fmla="*/ 10 h 21"/>
                  <a:gd name="T4" fmla="*/ 10 w 10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0"/>
                    </a:moveTo>
                    <a:lnTo>
                      <a:pt x="5" y="10"/>
                    </a:lnTo>
                    <a:lnTo>
                      <a:pt x="10" y="21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" name="Line 456"/>
              <p:cNvSpPr>
                <a:spLocks noChangeShapeType="1"/>
              </p:cNvSpPr>
              <p:nvPr/>
            </p:nvSpPr>
            <p:spPr bwMode="auto">
              <a:xfrm>
                <a:off x="6253163" y="4116388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" name="Line 457"/>
              <p:cNvSpPr>
                <a:spLocks noChangeShapeType="1"/>
              </p:cNvSpPr>
              <p:nvPr/>
            </p:nvSpPr>
            <p:spPr bwMode="auto">
              <a:xfrm>
                <a:off x="6267450" y="4141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" name="Line 458"/>
              <p:cNvSpPr>
                <a:spLocks noChangeShapeType="1"/>
              </p:cNvSpPr>
              <p:nvPr/>
            </p:nvSpPr>
            <p:spPr bwMode="auto">
              <a:xfrm>
                <a:off x="6281738" y="41767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" name="Line 459"/>
              <p:cNvSpPr>
                <a:spLocks noChangeShapeType="1"/>
              </p:cNvSpPr>
              <p:nvPr/>
            </p:nvSpPr>
            <p:spPr bwMode="auto">
              <a:xfrm>
                <a:off x="6296026" y="4210050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" name="Line 460"/>
              <p:cNvSpPr>
                <a:spLocks noChangeShapeType="1"/>
              </p:cNvSpPr>
              <p:nvPr/>
            </p:nvSpPr>
            <p:spPr bwMode="auto">
              <a:xfrm>
                <a:off x="6311900" y="4235450"/>
                <a:ext cx="12700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" name="Line 461"/>
              <p:cNvSpPr>
                <a:spLocks noChangeShapeType="1"/>
              </p:cNvSpPr>
              <p:nvPr/>
            </p:nvSpPr>
            <p:spPr bwMode="auto">
              <a:xfrm>
                <a:off x="6324600" y="4268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Line 462"/>
              <p:cNvSpPr>
                <a:spLocks noChangeShapeType="1"/>
              </p:cNvSpPr>
              <p:nvPr/>
            </p:nvSpPr>
            <p:spPr bwMode="auto">
              <a:xfrm>
                <a:off x="6338889" y="4303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Line 463"/>
              <p:cNvSpPr>
                <a:spLocks noChangeShapeType="1"/>
              </p:cNvSpPr>
              <p:nvPr/>
            </p:nvSpPr>
            <p:spPr bwMode="auto">
              <a:xfrm>
                <a:off x="6354763" y="4337051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" name="Line 464"/>
              <p:cNvSpPr>
                <a:spLocks noChangeShapeType="1"/>
              </p:cNvSpPr>
              <p:nvPr/>
            </p:nvSpPr>
            <p:spPr bwMode="auto">
              <a:xfrm>
                <a:off x="6369050" y="437197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Line 465"/>
              <p:cNvSpPr>
                <a:spLocks noChangeShapeType="1"/>
              </p:cNvSpPr>
              <p:nvPr/>
            </p:nvSpPr>
            <p:spPr bwMode="auto">
              <a:xfrm>
                <a:off x="6383338" y="4405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Line 466"/>
              <p:cNvSpPr>
                <a:spLocks noChangeShapeType="1"/>
              </p:cNvSpPr>
              <p:nvPr/>
            </p:nvSpPr>
            <p:spPr bwMode="auto">
              <a:xfrm>
                <a:off x="6397626" y="4438651"/>
                <a:ext cx="15875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" name="Line 467"/>
              <p:cNvSpPr>
                <a:spLocks noChangeShapeType="1"/>
              </p:cNvSpPr>
              <p:nvPr/>
            </p:nvSpPr>
            <p:spPr bwMode="auto">
              <a:xfrm>
                <a:off x="6413500" y="448151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Line 468"/>
              <p:cNvSpPr>
                <a:spLocks noChangeShapeType="1"/>
              </p:cNvSpPr>
              <p:nvPr/>
            </p:nvSpPr>
            <p:spPr bwMode="auto">
              <a:xfrm>
                <a:off x="6427788" y="4516438"/>
                <a:ext cx="14288" cy="317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Line 469"/>
              <p:cNvSpPr>
                <a:spLocks noChangeShapeType="1"/>
              </p:cNvSpPr>
              <p:nvPr/>
            </p:nvSpPr>
            <p:spPr bwMode="auto">
              <a:xfrm>
                <a:off x="6442075" y="45481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" name="Line 470"/>
              <p:cNvSpPr>
                <a:spLocks noChangeShapeType="1"/>
              </p:cNvSpPr>
              <p:nvPr/>
            </p:nvSpPr>
            <p:spPr bwMode="auto">
              <a:xfrm>
                <a:off x="6456364" y="4581525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" name="Line 471"/>
              <p:cNvSpPr>
                <a:spLocks noChangeShapeType="1"/>
              </p:cNvSpPr>
              <p:nvPr/>
            </p:nvSpPr>
            <p:spPr bwMode="auto">
              <a:xfrm>
                <a:off x="6472238" y="4614864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" name="Line 472"/>
              <p:cNvSpPr>
                <a:spLocks noChangeShapeType="1"/>
              </p:cNvSpPr>
              <p:nvPr/>
            </p:nvSpPr>
            <p:spPr bwMode="auto">
              <a:xfrm>
                <a:off x="6486522" y="465693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" name="Line 473"/>
              <p:cNvSpPr>
                <a:spLocks noChangeShapeType="1"/>
              </p:cNvSpPr>
              <p:nvPr/>
            </p:nvSpPr>
            <p:spPr bwMode="auto">
              <a:xfrm>
                <a:off x="6500814" y="4691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" name="Line 477"/>
              <p:cNvSpPr>
                <a:spLocks noChangeShapeType="1"/>
              </p:cNvSpPr>
              <p:nvPr/>
            </p:nvSpPr>
            <p:spPr bwMode="auto">
              <a:xfrm>
                <a:off x="6559551" y="4835525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" name="Line 478"/>
              <p:cNvSpPr>
                <a:spLocks noChangeShapeType="1"/>
              </p:cNvSpPr>
              <p:nvPr/>
            </p:nvSpPr>
            <p:spPr bwMode="auto">
              <a:xfrm>
                <a:off x="6575425" y="48688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" name="Line 479"/>
              <p:cNvSpPr>
                <a:spLocks noChangeShapeType="1"/>
              </p:cNvSpPr>
              <p:nvPr/>
            </p:nvSpPr>
            <p:spPr bwMode="auto">
              <a:xfrm>
                <a:off x="6589713" y="4903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" name="Line 480"/>
              <p:cNvSpPr>
                <a:spLocks noChangeShapeType="1"/>
              </p:cNvSpPr>
              <p:nvPr/>
            </p:nvSpPr>
            <p:spPr bwMode="auto">
              <a:xfrm>
                <a:off x="6604000" y="49387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6" name="Line 481"/>
              <p:cNvSpPr>
                <a:spLocks noChangeShapeType="1"/>
              </p:cNvSpPr>
              <p:nvPr/>
            </p:nvSpPr>
            <p:spPr bwMode="auto">
              <a:xfrm>
                <a:off x="6618289" y="4972050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7" name="Line 482"/>
              <p:cNvSpPr>
                <a:spLocks noChangeShapeType="1"/>
              </p:cNvSpPr>
              <p:nvPr/>
            </p:nvSpPr>
            <p:spPr bwMode="auto">
              <a:xfrm>
                <a:off x="6634163" y="50053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8" name="Line 483"/>
              <p:cNvSpPr>
                <a:spLocks noChangeShapeType="1"/>
              </p:cNvSpPr>
              <p:nvPr/>
            </p:nvSpPr>
            <p:spPr bwMode="auto">
              <a:xfrm>
                <a:off x="6648450" y="5040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9" name="Line 484"/>
              <p:cNvSpPr>
                <a:spLocks noChangeShapeType="1"/>
              </p:cNvSpPr>
              <p:nvPr/>
            </p:nvSpPr>
            <p:spPr bwMode="auto">
              <a:xfrm>
                <a:off x="6662739" y="5073650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0" name="Line 485"/>
              <p:cNvSpPr>
                <a:spLocks noChangeShapeType="1"/>
              </p:cNvSpPr>
              <p:nvPr/>
            </p:nvSpPr>
            <p:spPr bwMode="auto">
              <a:xfrm>
                <a:off x="6678613" y="5106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Line 486"/>
              <p:cNvSpPr>
                <a:spLocks noChangeShapeType="1"/>
              </p:cNvSpPr>
              <p:nvPr/>
            </p:nvSpPr>
            <p:spPr bwMode="auto">
              <a:xfrm>
                <a:off x="6692900" y="5140325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2" name="Line 487"/>
              <p:cNvSpPr>
                <a:spLocks noChangeShapeType="1"/>
              </p:cNvSpPr>
              <p:nvPr/>
            </p:nvSpPr>
            <p:spPr bwMode="auto">
              <a:xfrm>
                <a:off x="6707188" y="516572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3" name="Line 488"/>
              <p:cNvSpPr>
                <a:spLocks noChangeShapeType="1"/>
              </p:cNvSpPr>
              <p:nvPr/>
            </p:nvSpPr>
            <p:spPr bwMode="auto">
              <a:xfrm>
                <a:off x="6721476" y="5199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4" name="Line 489"/>
              <p:cNvSpPr>
                <a:spLocks noChangeShapeType="1"/>
              </p:cNvSpPr>
              <p:nvPr/>
            </p:nvSpPr>
            <p:spPr bwMode="auto">
              <a:xfrm>
                <a:off x="6737350" y="523398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5" name="Freeform 490"/>
              <p:cNvSpPr>
                <a:spLocks/>
              </p:cNvSpPr>
              <p:nvPr/>
            </p:nvSpPr>
            <p:spPr bwMode="auto">
              <a:xfrm>
                <a:off x="6751638" y="5257801"/>
                <a:ext cx="14288" cy="34925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lnTo>
                      <a:pt x="5" y="11"/>
                    </a:lnTo>
                    <a:lnTo>
                      <a:pt x="9" y="22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6" name="Freeform 491"/>
              <p:cNvSpPr>
                <a:spLocks/>
              </p:cNvSpPr>
              <p:nvPr/>
            </p:nvSpPr>
            <p:spPr bwMode="auto">
              <a:xfrm>
                <a:off x="6765926" y="5292725"/>
                <a:ext cx="22225" cy="25400"/>
              </a:xfrm>
              <a:custGeom>
                <a:avLst/>
                <a:gdLst>
                  <a:gd name="T0" fmla="*/ 0 w 14"/>
                  <a:gd name="T1" fmla="*/ 0 h 16"/>
                  <a:gd name="T2" fmla="*/ 5 w 14"/>
                  <a:gd name="T3" fmla="*/ 5 h 16"/>
                  <a:gd name="T4" fmla="*/ 14 w 14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5" y="5"/>
                    </a:lnTo>
                    <a:lnTo>
                      <a:pt x="14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7" name="Freeform 492"/>
              <p:cNvSpPr>
                <a:spLocks/>
              </p:cNvSpPr>
              <p:nvPr/>
            </p:nvSpPr>
            <p:spPr bwMode="auto">
              <a:xfrm>
                <a:off x="6788150" y="5318125"/>
                <a:ext cx="14288" cy="33338"/>
              </a:xfrm>
              <a:custGeom>
                <a:avLst/>
                <a:gdLst>
                  <a:gd name="T0" fmla="*/ 0 w 9"/>
                  <a:gd name="T1" fmla="*/ 0 h 21"/>
                  <a:gd name="T2" fmla="*/ 5 w 9"/>
                  <a:gd name="T3" fmla="*/ 10 h 21"/>
                  <a:gd name="T4" fmla="*/ 9 w 9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lnTo>
                      <a:pt x="5" y="10"/>
                    </a:lnTo>
                    <a:lnTo>
                      <a:pt x="9" y="21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8" name="Line 493"/>
              <p:cNvSpPr>
                <a:spLocks noChangeShapeType="1"/>
              </p:cNvSpPr>
              <p:nvPr/>
            </p:nvSpPr>
            <p:spPr bwMode="auto">
              <a:xfrm>
                <a:off x="6802439" y="5351463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9" name="Line 494"/>
              <p:cNvSpPr>
                <a:spLocks noChangeShapeType="1"/>
              </p:cNvSpPr>
              <p:nvPr/>
            </p:nvSpPr>
            <p:spPr bwMode="auto">
              <a:xfrm>
                <a:off x="6818313" y="5376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0" name="Line 495"/>
              <p:cNvSpPr>
                <a:spLocks noChangeShapeType="1"/>
              </p:cNvSpPr>
              <p:nvPr/>
            </p:nvSpPr>
            <p:spPr bwMode="auto">
              <a:xfrm>
                <a:off x="6832600" y="54022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1" name="Line 496"/>
              <p:cNvSpPr>
                <a:spLocks noChangeShapeType="1"/>
              </p:cNvSpPr>
              <p:nvPr/>
            </p:nvSpPr>
            <p:spPr bwMode="auto">
              <a:xfrm>
                <a:off x="6846888" y="54292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2" name="Line 497"/>
              <p:cNvSpPr>
                <a:spLocks noChangeShapeType="1"/>
              </p:cNvSpPr>
              <p:nvPr/>
            </p:nvSpPr>
            <p:spPr bwMode="auto">
              <a:xfrm>
                <a:off x="6861176" y="54530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3" name="Line 498"/>
              <p:cNvSpPr>
                <a:spLocks noChangeShapeType="1"/>
              </p:cNvSpPr>
              <p:nvPr/>
            </p:nvSpPr>
            <p:spPr bwMode="auto">
              <a:xfrm>
                <a:off x="6877050" y="54800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4" name="Line 499"/>
              <p:cNvSpPr>
                <a:spLocks noChangeShapeType="1"/>
              </p:cNvSpPr>
              <p:nvPr/>
            </p:nvSpPr>
            <p:spPr bwMode="auto">
              <a:xfrm>
                <a:off x="6891338" y="5503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5" name="Line 500"/>
              <p:cNvSpPr>
                <a:spLocks noChangeShapeType="1"/>
              </p:cNvSpPr>
              <p:nvPr/>
            </p:nvSpPr>
            <p:spPr bwMode="auto">
              <a:xfrm>
                <a:off x="6905626" y="55292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6" name="Line 501"/>
              <p:cNvSpPr>
                <a:spLocks noChangeShapeType="1"/>
              </p:cNvSpPr>
              <p:nvPr/>
            </p:nvSpPr>
            <p:spPr bwMode="auto">
              <a:xfrm>
                <a:off x="6921500" y="55562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7" name="Line 502"/>
              <p:cNvSpPr>
                <a:spLocks noChangeShapeType="1"/>
              </p:cNvSpPr>
              <p:nvPr/>
            </p:nvSpPr>
            <p:spPr bwMode="auto">
              <a:xfrm>
                <a:off x="6935788" y="558006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8" name="Freeform 503"/>
              <p:cNvSpPr>
                <a:spLocks/>
              </p:cNvSpPr>
              <p:nvPr/>
            </p:nvSpPr>
            <p:spPr bwMode="auto">
              <a:xfrm>
                <a:off x="6950075" y="5597525"/>
                <a:ext cx="14288" cy="25400"/>
              </a:xfrm>
              <a:custGeom>
                <a:avLst/>
                <a:gdLst>
                  <a:gd name="T0" fmla="*/ 0 w 9"/>
                  <a:gd name="T1" fmla="*/ 0 h 16"/>
                  <a:gd name="T2" fmla="*/ 5 w 9"/>
                  <a:gd name="T3" fmla="*/ 6 h 16"/>
                  <a:gd name="T4" fmla="*/ 9 w 9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0" y="0"/>
                    </a:moveTo>
                    <a:lnTo>
                      <a:pt x="5" y="6"/>
                    </a:lnTo>
                    <a:lnTo>
                      <a:pt x="9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9" name="Line 504"/>
              <p:cNvSpPr>
                <a:spLocks noChangeShapeType="1"/>
              </p:cNvSpPr>
              <p:nvPr/>
            </p:nvSpPr>
            <p:spPr bwMode="auto">
              <a:xfrm>
                <a:off x="6964364" y="5622926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0" name="Freeform 505"/>
              <p:cNvSpPr>
                <a:spLocks/>
              </p:cNvSpPr>
              <p:nvPr/>
            </p:nvSpPr>
            <p:spPr bwMode="auto">
              <a:xfrm>
                <a:off x="6980238" y="5640389"/>
                <a:ext cx="14288" cy="23813"/>
              </a:xfrm>
              <a:custGeom>
                <a:avLst/>
                <a:gdLst>
                  <a:gd name="T0" fmla="*/ 0 w 9"/>
                  <a:gd name="T1" fmla="*/ 0 h 15"/>
                  <a:gd name="T2" fmla="*/ 4 w 9"/>
                  <a:gd name="T3" fmla="*/ 4 h 15"/>
                  <a:gd name="T4" fmla="*/ 9 w 9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0"/>
                    </a:moveTo>
                    <a:lnTo>
                      <a:pt x="4" y="4"/>
                    </a:lnTo>
                    <a:lnTo>
                      <a:pt x="9" y="1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1" name="Line 506"/>
              <p:cNvSpPr>
                <a:spLocks noChangeShapeType="1"/>
              </p:cNvSpPr>
              <p:nvPr/>
            </p:nvSpPr>
            <p:spPr bwMode="auto">
              <a:xfrm>
                <a:off x="6994525" y="56642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2" name="Line 507"/>
              <p:cNvSpPr>
                <a:spLocks noChangeShapeType="1"/>
              </p:cNvSpPr>
              <p:nvPr/>
            </p:nvSpPr>
            <p:spPr bwMode="auto">
              <a:xfrm>
                <a:off x="7008813" y="56816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3" name="Line 508"/>
              <p:cNvSpPr>
                <a:spLocks noChangeShapeType="1"/>
              </p:cNvSpPr>
              <p:nvPr/>
            </p:nvSpPr>
            <p:spPr bwMode="auto">
              <a:xfrm>
                <a:off x="7023101" y="56975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4" name="Line 509"/>
              <p:cNvSpPr>
                <a:spLocks noChangeShapeType="1"/>
              </p:cNvSpPr>
              <p:nvPr/>
            </p:nvSpPr>
            <p:spPr bwMode="auto">
              <a:xfrm>
                <a:off x="7038975" y="57150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5" name="Line 510"/>
              <p:cNvSpPr>
                <a:spLocks noChangeShapeType="1"/>
              </p:cNvSpPr>
              <p:nvPr/>
            </p:nvSpPr>
            <p:spPr bwMode="auto">
              <a:xfrm>
                <a:off x="7053263" y="57324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6" name="Line 511"/>
              <p:cNvSpPr>
                <a:spLocks noChangeShapeType="1"/>
              </p:cNvSpPr>
              <p:nvPr/>
            </p:nvSpPr>
            <p:spPr bwMode="auto">
              <a:xfrm>
                <a:off x="7067551" y="57483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7" name="Line 512"/>
              <p:cNvSpPr>
                <a:spLocks noChangeShapeType="1"/>
              </p:cNvSpPr>
              <p:nvPr/>
            </p:nvSpPr>
            <p:spPr bwMode="auto">
              <a:xfrm>
                <a:off x="7083425" y="57658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8" name="Line 513"/>
              <p:cNvSpPr>
                <a:spLocks noChangeShapeType="1"/>
              </p:cNvSpPr>
              <p:nvPr/>
            </p:nvSpPr>
            <p:spPr bwMode="auto">
              <a:xfrm>
                <a:off x="7097713" y="57832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9" name="Line 514"/>
              <p:cNvSpPr>
                <a:spLocks noChangeShapeType="1"/>
              </p:cNvSpPr>
              <p:nvPr/>
            </p:nvSpPr>
            <p:spPr bwMode="auto">
              <a:xfrm>
                <a:off x="7112000" y="57991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0" name="Line 515"/>
              <p:cNvSpPr>
                <a:spLocks noChangeShapeType="1"/>
              </p:cNvSpPr>
              <p:nvPr/>
            </p:nvSpPr>
            <p:spPr bwMode="auto">
              <a:xfrm>
                <a:off x="7126289" y="5816601"/>
                <a:ext cx="15875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1" name="Line 516"/>
              <p:cNvSpPr>
                <a:spLocks noChangeShapeType="1"/>
              </p:cNvSpPr>
              <p:nvPr/>
            </p:nvSpPr>
            <p:spPr bwMode="auto">
              <a:xfrm>
                <a:off x="7142163" y="582612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2" name="Line 517"/>
              <p:cNvSpPr>
                <a:spLocks noChangeShapeType="1"/>
              </p:cNvSpPr>
              <p:nvPr/>
            </p:nvSpPr>
            <p:spPr bwMode="auto">
              <a:xfrm>
                <a:off x="7156450" y="5842001"/>
                <a:ext cx="12700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3" name="Line 518"/>
              <p:cNvSpPr>
                <a:spLocks noChangeShapeType="1"/>
              </p:cNvSpPr>
              <p:nvPr/>
            </p:nvSpPr>
            <p:spPr bwMode="auto">
              <a:xfrm>
                <a:off x="7169151" y="5851526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4" name="Line 519"/>
              <p:cNvSpPr>
                <a:spLocks noChangeShapeType="1"/>
              </p:cNvSpPr>
              <p:nvPr/>
            </p:nvSpPr>
            <p:spPr bwMode="auto">
              <a:xfrm>
                <a:off x="7185025" y="58689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5" name="Line 520"/>
              <p:cNvSpPr>
                <a:spLocks noChangeShapeType="1"/>
              </p:cNvSpPr>
              <p:nvPr/>
            </p:nvSpPr>
            <p:spPr bwMode="auto">
              <a:xfrm>
                <a:off x="7199313" y="58753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6" name="Line 521"/>
              <p:cNvSpPr>
                <a:spLocks noChangeShapeType="1"/>
              </p:cNvSpPr>
              <p:nvPr/>
            </p:nvSpPr>
            <p:spPr bwMode="auto">
              <a:xfrm>
                <a:off x="7213600" y="58928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7" name="Line 522"/>
              <p:cNvSpPr>
                <a:spLocks noChangeShapeType="1"/>
              </p:cNvSpPr>
              <p:nvPr/>
            </p:nvSpPr>
            <p:spPr bwMode="auto">
              <a:xfrm>
                <a:off x="7227889" y="590232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8" name="Line 523"/>
              <p:cNvSpPr>
                <a:spLocks noChangeShapeType="1"/>
              </p:cNvSpPr>
              <p:nvPr/>
            </p:nvSpPr>
            <p:spPr bwMode="auto">
              <a:xfrm>
                <a:off x="7243763" y="59102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9" name="Line 524"/>
              <p:cNvSpPr>
                <a:spLocks noChangeShapeType="1"/>
              </p:cNvSpPr>
              <p:nvPr/>
            </p:nvSpPr>
            <p:spPr bwMode="auto">
              <a:xfrm>
                <a:off x="7258050" y="59197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0" name="Line 525"/>
              <p:cNvSpPr>
                <a:spLocks noChangeShapeType="1"/>
              </p:cNvSpPr>
              <p:nvPr/>
            </p:nvSpPr>
            <p:spPr bwMode="auto">
              <a:xfrm>
                <a:off x="7272338" y="5926139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1" name="Line 526"/>
              <p:cNvSpPr>
                <a:spLocks noChangeShapeType="1"/>
              </p:cNvSpPr>
              <p:nvPr/>
            </p:nvSpPr>
            <p:spPr bwMode="auto">
              <a:xfrm>
                <a:off x="7286626" y="59356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2" name="Line 527"/>
              <p:cNvSpPr>
                <a:spLocks noChangeShapeType="1"/>
              </p:cNvSpPr>
              <p:nvPr/>
            </p:nvSpPr>
            <p:spPr bwMode="auto">
              <a:xfrm>
                <a:off x="7302500" y="59436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3" name="Line 528"/>
              <p:cNvSpPr>
                <a:spLocks noChangeShapeType="1"/>
              </p:cNvSpPr>
              <p:nvPr/>
            </p:nvSpPr>
            <p:spPr bwMode="auto">
              <a:xfrm>
                <a:off x="7316788" y="59531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4" name="Line 529"/>
              <p:cNvSpPr>
                <a:spLocks noChangeShapeType="1"/>
              </p:cNvSpPr>
              <p:nvPr/>
            </p:nvSpPr>
            <p:spPr bwMode="auto">
              <a:xfrm>
                <a:off x="7331076" y="59610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5" name="Line 530"/>
              <p:cNvSpPr>
                <a:spLocks noChangeShapeType="1"/>
              </p:cNvSpPr>
              <p:nvPr/>
            </p:nvSpPr>
            <p:spPr bwMode="auto">
              <a:xfrm>
                <a:off x="7346950" y="59690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6" name="Line 531"/>
              <p:cNvSpPr>
                <a:spLocks noChangeShapeType="1"/>
              </p:cNvSpPr>
              <p:nvPr/>
            </p:nvSpPr>
            <p:spPr bwMode="auto">
              <a:xfrm>
                <a:off x="7361238" y="59785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7" name="Freeform 532"/>
              <p:cNvSpPr>
                <a:spLocks/>
              </p:cNvSpPr>
              <p:nvPr/>
            </p:nvSpPr>
            <p:spPr bwMode="auto">
              <a:xfrm>
                <a:off x="7375526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8" name="Line 533"/>
              <p:cNvSpPr>
                <a:spLocks noChangeShapeType="1"/>
              </p:cNvSpPr>
              <p:nvPr/>
            </p:nvSpPr>
            <p:spPr bwMode="auto">
              <a:xfrm>
                <a:off x="7397750" y="59864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9" name="Line 534"/>
              <p:cNvSpPr>
                <a:spLocks noChangeShapeType="1"/>
              </p:cNvSpPr>
              <p:nvPr/>
            </p:nvSpPr>
            <p:spPr bwMode="auto">
              <a:xfrm>
                <a:off x="7412039" y="5995988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0" name="Line 535"/>
              <p:cNvSpPr>
                <a:spLocks noChangeShapeType="1"/>
              </p:cNvSpPr>
              <p:nvPr/>
            </p:nvSpPr>
            <p:spPr bwMode="auto">
              <a:xfrm>
                <a:off x="7427913" y="60039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1" name="Line 536"/>
              <p:cNvSpPr>
                <a:spLocks noChangeShapeType="1"/>
              </p:cNvSpPr>
              <p:nvPr/>
            </p:nvSpPr>
            <p:spPr bwMode="auto">
              <a:xfrm>
                <a:off x="7442200" y="60039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2" name="Line 537"/>
              <p:cNvSpPr>
                <a:spLocks noChangeShapeType="1"/>
              </p:cNvSpPr>
              <p:nvPr/>
            </p:nvSpPr>
            <p:spPr bwMode="auto">
              <a:xfrm>
                <a:off x="7456488" y="60118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3" name="Line 538"/>
              <p:cNvSpPr>
                <a:spLocks noChangeShapeType="1"/>
              </p:cNvSpPr>
              <p:nvPr/>
            </p:nvSpPr>
            <p:spPr bwMode="auto">
              <a:xfrm>
                <a:off x="7470776" y="60198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4" name="Freeform 539"/>
              <p:cNvSpPr>
                <a:spLocks/>
              </p:cNvSpPr>
              <p:nvPr/>
            </p:nvSpPr>
            <p:spPr bwMode="auto">
              <a:xfrm>
                <a:off x="7486650" y="60198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5" name="Line 540"/>
              <p:cNvSpPr>
                <a:spLocks noChangeShapeType="1"/>
              </p:cNvSpPr>
              <p:nvPr/>
            </p:nvSpPr>
            <p:spPr bwMode="auto">
              <a:xfrm>
                <a:off x="7500938" y="60293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6" name="Freeform 541"/>
              <p:cNvSpPr>
                <a:spLocks/>
              </p:cNvSpPr>
              <p:nvPr/>
            </p:nvSpPr>
            <p:spPr bwMode="auto">
              <a:xfrm>
                <a:off x="7515225" y="60293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5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5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7" name="Line 542"/>
              <p:cNvSpPr>
                <a:spLocks noChangeShapeType="1"/>
              </p:cNvSpPr>
              <p:nvPr/>
            </p:nvSpPr>
            <p:spPr bwMode="auto">
              <a:xfrm>
                <a:off x="7529514" y="60372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8" name="Line 543"/>
              <p:cNvSpPr>
                <a:spLocks noChangeShapeType="1"/>
              </p:cNvSpPr>
              <p:nvPr/>
            </p:nvSpPr>
            <p:spPr bwMode="auto">
              <a:xfrm>
                <a:off x="7545388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9" name="Freeform 544"/>
              <p:cNvSpPr>
                <a:spLocks/>
              </p:cNvSpPr>
              <p:nvPr/>
            </p:nvSpPr>
            <p:spPr bwMode="auto">
              <a:xfrm>
                <a:off x="7559675" y="6037264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0" name="Line 545"/>
              <p:cNvSpPr>
                <a:spLocks noChangeShapeType="1"/>
              </p:cNvSpPr>
              <p:nvPr/>
            </p:nvSpPr>
            <p:spPr bwMode="auto">
              <a:xfrm>
                <a:off x="7573964" y="6046788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1" name="Freeform 546"/>
              <p:cNvSpPr>
                <a:spLocks/>
              </p:cNvSpPr>
              <p:nvPr/>
            </p:nvSpPr>
            <p:spPr bwMode="auto">
              <a:xfrm>
                <a:off x="7589838" y="6046788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2" name="Line 547"/>
              <p:cNvSpPr>
                <a:spLocks noChangeShapeType="1"/>
              </p:cNvSpPr>
              <p:nvPr/>
            </p:nvSpPr>
            <p:spPr bwMode="auto">
              <a:xfrm>
                <a:off x="7604125" y="60547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3" name="Line 548"/>
              <p:cNvSpPr>
                <a:spLocks noChangeShapeType="1"/>
              </p:cNvSpPr>
              <p:nvPr/>
            </p:nvSpPr>
            <p:spPr bwMode="auto">
              <a:xfrm>
                <a:off x="7618413" y="60547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4" name="Line 549"/>
              <p:cNvSpPr>
                <a:spLocks noChangeShapeType="1"/>
              </p:cNvSpPr>
              <p:nvPr/>
            </p:nvSpPr>
            <p:spPr bwMode="auto">
              <a:xfrm>
                <a:off x="7632701" y="60547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5" name="Freeform 550"/>
              <p:cNvSpPr>
                <a:spLocks/>
              </p:cNvSpPr>
              <p:nvPr/>
            </p:nvSpPr>
            <p:spPr bwMode="auto">
              <a:xfrm>
                <a:off x="7648575" y="60547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6" name="Line 551"/>
              <p:cNvSpPr>
                <a:spLocks noChangeShapeType="1"/>
              </p:cNvSpPr>
              <p:nvPr/>
            </p:nvSpPr>
            <p:spPr bwMode="auto">
              <a:xfrm>
                <a:off x="7662863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7" name="Line 552"/>
              <p:cNvSpPr>
                <a:spLocks noChangeShapeType="1"/>
              </p:cNvSpPr>
              <p:nvPr/>
            </p:nvSpPr>
            <p:spPr bwMode="auto">
              <a:xfrm>
                <a:off x="7677150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8" name="Line 553"/>
              <p:cNvSpPr>
                <a:spLocks noChangeShapeType="1"/>
              </p:cNvSpPr>
              <p:nvPr/>
            </p:nvSpPr>
            <p:spPr bwMode="auto">
              <a:xfrm>
                <a:off x="7691439" y="60626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9" name="Freeform 554"/>
              <p:cNvSpPr>
                <a:spLocks/>
              </p:cNvSpPr>
              <p:nvPr/>
            </p:nvSpPr>
            <p:spPr bwMode="auto">
              <a:xfrm>
                <a:off x="7707313" y="6062663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0" name="Line 555"/>
              <p:cNvSpPr>
                <a:spLocks noChangeShapeType="1"/>
              </p:cNvSpPr>
              <p:nvPr/>
            </p:nvSpPr>
            <p:spPr bwMode="auto">
              <a:xfrm>
                <a:off x="7721600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1" name="Line 556"/>
              <p:cNvSpPr>
                <a:spLocks noChangeShapeType="1"/>
              </p:cNvSpPr>
              <p:nvPr/>
            </p:nvSpPr>
            <p:spPr bwMode="auto">
              <a:xfrm>
                <a:off x="7735889" y="60706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2" name="Line 557"/>
              <p:cNvSpPr>
                <a:spLocks noChangeShapeType="1"/>
              </p:cNvSpPr>
              <p:nvPr/>
            </p:nvSpPr>
            <p:spPr bwMode="auto">
              <a:xfrm>
                <a:off x="7751763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3" name="Line 558"/>
              <p:cNvSpPr>
                <a:spLocks noChangeShapeType="1"/>
              </p:cNvSpPr>
              <p:nvPr/>
            </p:nvSpPr>
            <p:spPr bwMode="auto">
              <a:xfrm>
                <a:off x="7766050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4" name="Line 559"/>
              <p:cNvSpPr>
                <a:spLocks noChangeShapeType="1"/>
              </p:cNvSpPr>
              <p:nvPr/>
            </p:nvSpPr>
            <p:spPr bwMode="auto">
              <a:xfrm>
                <a:off x="7780338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5" name="Line 560"/>
              <p:cNvSpPr>
                <a:spLocks noChangeShapeType="1"/>
              </p:cNvSpPr>
              <p:nvPr/>
            </p:nvSpPr>
            <p:spPr bwMode="auto">
              <a:xfrm>
                <a:off x="7794626" y="60706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6" name="Freeform 561"/>
              <p:cNvSpPr>
                <a:spLocks/>
              </p:cNvSpPr>
              <p:nvPr/>
            </p:nvSpPr>
            <p:spPr bwMode="auto">
              <a:xfrm>
                <a:off x="7810500" y="60706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7" name="Line 562"/>
              <p:cNvSpPr>
                <a:spLocks noChangeShapeType="1"/>
              </p:cNvSpPr>
              <p:nvPr/>
            </p:nvSpPr>
            <p:spPr bwMode="auto">
              <a:xfrm>
                <a:off x="782478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" name="Line 563"/>
              <p:cNvSpPr>
                <a:spLocks noChangeShapeType="1"/>
              </p:cNvSpPr>
              <p:nvPr/>
            </p:nvSpPr>
            <p:spPr bwMode="auto">
              <a:xfrm>
                <a:off x="783907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" name="Line 564"/>
              <p:cNvSpPr>
                <a:spLocks noChangeShapeType="1"/>
              </p:cNvSpPr>
              <p:nvPr/>
            </p:nvSpPr>
            <p:spPr bwMode="auto">
              <a:xfrm>
                <a:off x="7853364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" name="Line 565"/>
              <p:cNvSpPr>
                <a:spLocks noChangeShapeType="1"/>
              </p:cNvSpPr>
              <p:nvPr/>
            </p:nvSpPr>
            <p:spPr bwMode="auto">
              <a:xfrm>
                <a:off x="786923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" name="Line 566"/>
              <p:cNvSpPr>
                <a:spLocks noChangeShapeType="1"/>
              </p:cNvSpPr>
              <p:nvPr/>
            </p:nvSpPr>
            <p:spPr bwMode="auto">
              <a:xfrm>
                <a:off x="788352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" name="Line 567"/>
              <p:cNvSpPr>
                <a:spLocks noChangeShapeType="1"/>
              </p:cNvSpPr>
              <p:nvPr/>
            </p:nvSpPr>
            <p:spPr bwMode="auto">
              <a:xfrm>
                <a:off x="7897814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" name="Line 568"/>
              <p:cNvSpPr>
                <a:spLocks noChangeShapeType="1"/>
              </p:cNvSpPr>
              <p:nvPr/>
            </p:nvSpPr>
            <p:spPr bwMode="auto">
              <a:xfrm>
                <a:off x="791368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" name="Line 569"/>
              <p:cNvSpPr>
                <a:spLocks noChangeShapeType="1"/>
              </p:cNvSpPr>
              <p:nvPr/>
            </p:nvSpPr>
            <p:spPr bwMode="auto">
              <a:xfrm>
                <a:off x="792797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" name="Line 570"/>
              <p:cNvSpPr>
                <a:spLocks noChangeShapeType="1"/>
              </p:cNvSpPr>
              <p:nvPr/>
            </p:nvSpPr>
            <p:spPr bwMode="auto">
              <a:xfrm>
                <a:off x="7942263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" name="Line 571"/>
              <p:cNvSpPr>
                <a:spLocks noChangeShapeType="1"/>
              </p:cNvSpPr>
              <p:nvPr/>
            </p:nvSpPr>
            <p:spPr bwMode="auto">
              <a:xfrm>
                <a:off x="7956551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7" name="Freeform 572"/>
              <p:cNvSpPr>
                <a:spLocks/>
              </p:cNvSpPr>
              <p:nvPr/>
            </p:nvSpPr>
            <p:spPr bwMode="auto">
              <a:xfrm>
                <a:off x="7972426" y="6080125"/>
                <a:ext cx="22225" cy="0"/>
              </a:xfrm>
              <a:custGeom>
                <a:avLst/>
                <a:gdLst>
                  <a:gd name="T0" fmla="*/ 0 w 14"/>
                  <a:gd name="T1" fmla="*/ 4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4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8" name="Line 294"/>
              <p:cNvSpPr>
                <a:spLocks noChangeShapeType="1"/>
              </p:cNvSpPr>
              <p:nvPr/>
            </p:nvSpPr>
            <p:spPr bwMode="auto">
              <a:xfrm>
                <a:off x="385603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9" name="Line 295"/>
              <p:cNvSpPr>
                <a:spLocks noChangeShapeType="1"/>
              </p:cNvSpPr>
              <p:nvPr/>
            </p:nvSpPr>
            <p:spPr bwMode="auto">
              <a:xfrm>
                <a:off x="3870326" y="60801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0" name="Line 296"/>
              <p:cNvSpPr>
                <a:spLocks noChangeShapeType="1"/>
              </p:cNvSpPr>
              <p:nvPr/>
            </p:nvSpPr>
            <p:spPr bwMode="auto">
              <a:xfrm>
                <a:off x="3886200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1" name="Line 297"/>
              <p:cNvSpPr>
                <a:spLocks noChangeShapeType="1"/>
              </p:cNvSpPr>
              <p:nvPr/>
            </p:nvSpPr>
            <p:spPr bwMode="auto">
              <a:xfrm>
                <a:off x="390048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2" name="Line 298"/>
              <p:cNvSpPr>
                <a:spLocks noChangeShapeType="1"/>
              </p:cNvSpPr>
              <p:nvPr/>
            </p:nvSpPr>
            <p:spPr bwMode="auto">
              <a:xfrm>
                <a:off x="3914775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3" name="Line 299"/>
              <p:cNvSpPr>
                <a:spLocks noChangeShapeType="1"/>
              </p:cNvSpPr>
              <p:nvPr/>
            </p:nvSpPr>
            <p:spPr bwMode="auto">
              <a:xfrm>
                <a:off x="3929064" y="60801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4" name="Line 300"/>
              <p:cNvSpPr>
                <a:spLocks noChangeShapeType="1"/>
              </p:cNvSpPr>
              <p:nvPr/>
            </p:nvSpPr>
            <p:spPr bwMode="auto">
              <a:xfrm>
                <a:off x="394493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5" name="Freeform 301"/>
              <p:cNvSpPr>
                <a:spLocks/>
              </p:cNvSpPr>
              <p:nvPr/>
            </p:nvSpPr>
            <p:spPr bwMode="auto">
              <a:xfrm>
                <a:off x="3959225" y="60706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6" name="Line 302"/>
              <p:cNvSpPr>
                <a:spLocks noChangeShapeType="1"/>
              </p:cNvSpPr>
              <p:nvPr/>
            </p:nvSpPr>
            <p:spPr bwMode="auto">
              <a:xfrm>
                <a:off x="3973514" y="60706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7" name="Line 303"/>
              <p:cNvSpPr>
                <a:spLocks noChangeShapeType="1"/>
              </p:cNvSpPr>
              <p:nvPr/>
            </p:nvSpPr>
            <p:spPr bwMode="auto">
              <a:xfrm>
                <a:off x="3989388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8" name="Line 304"/>
              <p:cNvSpPr>
                <a:spLocks noChangeShapeType="1"/>
              </p:cNvSpPr>
              <p:nvPr/>
            </p:nvSpPr>
            <p:spPr bwMode="auto">
              <a:xfrm>
                <a:off x="4003675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9" name="Line 305"/>
              <p:cNvSpPr>
                <a:spLocks noChangeShapeType="1"/>
              </p:cNvSpPr>
              <p:nvPr/>
            </p:nvSpPr>
            <p:spPr bwMode="auto">
              <a:xfrm>
                <a:off x="4017963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0" name="Line 306"/>
              <p:cNvSpPr>
                <a:spLocks noChangeShapeType="1"/>
              </p:cNvSpPr>
              <p:nvPr/>
            </p:nvSpPr>
            <p:spPr bwMode="auto">
              <a:xfrm>
                <a:off x="4032251" y="60706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1" name="Line 307"/>
              <p:cNvSpPr>
                <a:spLocks noChangeShapeType="1"/>
              </p:cNvSpPr>
              <p:nvPr/>
            </p:nvSpPr>
            <p:spPr bwMode="auto">
              <a:xfrm>
                <a:off x="4048125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2" name="Freeform 308"/>
              <p:cNvSpPr>
                <a:spLocks/>
              </p:cNvSpPr>
              <p:nvPr/>
            </p:nvSpPr>
            <p:spPr bwMode="auto">
              <a:xfrm>
                <a:off x="4062413" y="6062663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3" name="Line 309"/>
              <p:cNvSpPr>
                <a:spLocks noChangeShapeType="1"/>
              </p:cNvSpPr>
              <p:nvPr/>
            </p:nvSpPr>
            <p:spPr bwMode="auto">
              <a:xfrm>
                <a:off x="4076700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4" name="Line 310"/>
              <p:cNvSpPr>
                <a:spLocks noChangeShapeType="1"/>
              </p:cNvSpPr>
              <p:nvPr/>
            </p:nvSpPr>
            <p:spPr bwMode="auto">
              <a:xfrm>
                <a:off x="4090989" y="60626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5" name="Line 311"/>
              <p:cNvSpPr>
                <a:spLocks noChangeShapeType="1"/>
              </p:cNvSpPr>
              <p:nvPr/>
            </p:nvSpPr>
            <p:spPr bwMode="auto">
              <a:xfrm>
                <a:off x="4106863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6" name="Freeform 312"/>
              <p:cNvSpPr>
                <a:spLocks/>
              </p:cNvSpPr>
              <p:nvPr/>
            </p:nvSpPr>
            <p:spPr bwMode="auto">
              <a:xfrm>
                <a:off x="4121150" y="6054726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7" name="Line 313"/>
              <p:cNvSpPr>
                <a:spLocks noChangeShapeType="1"/>
              </p:cNvSpPr>
              <p:nvPr/>
            </p:nvSpPr>
            <p:spPr bwMode="auto">
              <a:xfrm>
                <a:off x="4135439" y="60547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8" name="Line 314"/>
              <p:cNvSpPr>
                <a:spLocks noChangeShapeType="1"/>
              </p:cNvSpPr>
              <p:nvPr/>
            </p:nvSpPr>
            <p:spPr bwMode="auto">
              <a:xfrm>
                <a:off x="4151313" y="60547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9" name="Line 315"/>
              <p:cNvSpPr>
                <a:spLocks noChangeShapeType="1"/>
              </p:cNvSpPr>
              <p:nvPr/>
            </p:nvSpPr>
            <p:spPr bwMode="auto">
              <a:xfrm>
                <a:off x="4165600" y="60547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0" name="Freeform 316"/>
              <p:cNvSpPr>
                <a:spLocks/>
              </p:cNvSpPr>
              <p:nvPr/>
            </p:nvSpPr>
            <p:spPr bwMode="auto">
              <a:xfrm>
                <a:off x="4179888" y="6046788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1" name="Line 317"/>
              <p:cNvSpPr>
                <a:spLocks noChangeShapeType="1"/>
              </p:cNvSpPr>
              <p:nvPr/>
            </p:nvSpPr>
            <p:spPr bwMode="auto">
              <a:xfrm>
                <a:off x="4194176" y="6046788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2" name="Freeform 318"/>
              <p:cNvSpPr>
                <a:spLocks/>
              </p:cNvSpPr>
              <p:nvPr/>
            </p:nvSpPr>
            <p:spPr bwMode="auto">
              <a:xfrm>
                <a:off x="4210050" y="6037264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3" name="Line 319"/>
              <p:cNvSpPr>
                <a:spLocks noChangeShapeType="1"/>
              </p:cNvSpPr>
              <p:nvPr/>
            </p:nvSpPr>
            <p:spPr bwMode="auto">
              <a:xfrm>
                <a:off x="4224338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4" name="Line 320"/>
              <p:cNvSpPr>
                <a:spLocks noChangeShapeType="1"/>
              </p:cNvSpPr>
              <p:nvPr/>
            </p:nvSpPr>
            <p:spPr bwMode="auto">
              <a:xfrm>
                <a:off x="4238625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5" name="Freeform 321"/>
              <p:cNvSpPr>
                <a:spLocks/>
              </p:cNvSpPr>
              <p:nvPr/>
            </p:nvSpPr>
            <p:spPr bwMode="auto">
              <a:xfrm>
                <a:off x="4252914" y="6029326"/>
                <a:ext cx="15875" cy="7938"/>
              </a:xfrm>
              <a:custGeom>
                <a:avLst/>
                <a:gdLst>
                  <a:gd name="T0" fmla="*/ 0 w 10"/>
                  <a:gd name="T1" fmla="*/ 5 h 5"/>
                  <a:gd name="T2" fmla="*/ 5 w 10"/>
                  <a:gd name="T3" fmla="*/ 0 h 5"/>
                  <a:gd name="T4" fmla="*/ 10 w 10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5"/>
                    </a:moveTo>
                    <a:lnTo>
                      <a:pt x="5" y="0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6" name="Line 322"/>
              <p:cNvSpPr>
                <a:spLocks noChangeShapeType="1"/>
              </p:cNvSpPr>
              <p:nvPr/>
            </p:nvSpPr>
            <p:spPr bwMode="auto">
              <a:xfrm>
                <a:off x="4268788" y="60293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7" name="Freeform 323"/>
              <p:cNvSpPr>
                <a:spLocks/>
              </p:cNvSpPr>
              <p:nvPr/>
            </p:nvSpPr>
            <p:spPr bwMode="auto">
              <a:xfrm>
                <a:off x="4283075" y="60198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8" name="Line 324"/>
              <p:cNvSpPr>
                <a:spLocks noChangeShapeType="1"/>
              </p:cNvSpPr>
              <p:nvPr/>
            </p:nvSpPr>
            <p:spPr bwMode="auto">
              <a:xfrm>
                <a:off x="4297364" y="60198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9" name="Line 325"/>
              <p:cNvSpPr>
                <a:spLocks noChangeShapeType="1"/>
              </p:cNvSpPr>
              <p:nvPr/>
            </p:nvSpPr>
            <p:spPr bwMode="auto">
              <a:xfrm flipV="1">
                <a:off x="4313238" y="60118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0" name="Line 326"/>
              <p:cNvSpPr>
                <a:spLocks noChangeShapeType="1"/>
              </p:cNvSpPr>
              <p:nvPr/>
            </p:nvSpPr>
            <p:spPr bwMode="auto">
              <a:xfrm flipV="1">
                <a:off x="4327525" y="60039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1" name="Line 327"/>
              <p:cNvSpPr>
                <a:spLocks noChangeShapeType="1"/>
              </p:cNvSpPr>
              <p:nvPr/>
            </p:nvSpPr>
            <p:spPr bwMode="auto">
              <a:xfrm>
                <a:off x="4341813" y="60039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2" name="Line 328"/>
              <p:cNvSpPr>
                <a:spLocks noChangeShapeType="1"/>
              </p:cNvSpPr>
              <p:nvPr/>
            </p:nvSpPr>
            <p:spPr bwMode="auto">
              <a:xfrm flipV="1">
                <a:off x="4356101" y="5995988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3" name="Line 329"/>
              <p:cNvSpPr>
                <a:spLocks noChangeShapeType="1"/>
              </p:cNvSpPr>
              <p:nvPr/>
            </p:nvSpPr>
            <p:spPr bwMode="auto">
              <a:xfrm flipV="1">
                <a:off x="4371975" y="59864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4" name="Freeform 330"/>
              <p:cNvSpPr>
                <a:spLocks/>
              </p:cNvSpPr>
              <p:nvPr/>
            </p:nvSpPr>
            <p:spPr bwMode="auto">
              <a:xfrm>
                <a:off x="4386264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" name="Line 331"/>
              <p:cNvSpPr>
                <a:spLocks noChangeShapeType="1"/>
              </p:cNvSpPr>
              <p:nvPr/>
            </p:nvSpPr>
            <p:spPr bwMode="auto">
              <a:xfrm flipV="1">
                <a:off x="4408488" y="59785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6" name="Line 332"/>
              <p:cNvSpPr>
                <a:spLocks noChangeShapeType="1"/>
              </p:cNvSpPr>
              <p:nvPr/>
            </p:nvSpPr>
            <p:spPr bwMode="auto">
              <a:xfrm flipV="1">
                <a:off x="4422775" y="59690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7" name="Line 333"/>
              <p:cNvSpPr>
                <a:spLocks noChangeShapeType="1"/>
              </p:cNvSpPr>
              <p:nvPr/>
            </p:nvSpPr>
            <p:spPr bwMode="auto">
              <a:xfrm flipV="1">
                <a:off x="4437064" y="59610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8" name="Line 334"/>
              <p:cNvSpPr>
                <a:spLocks noChangeShapeType="1"/>
              </p:cNvSpPr>
              <p:nvPr/>
            </p:nvSpPr>
            <p:spPr bwMode="auto">
              <a:xfrm flipV="1">
                <a:off x="4452938" y="59531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9" name="Line 335"/>
              <p:cNvSpPr>
                <a:spLocks noChangeShapeType="1"/>
              </p:cNvSpPr>
              <p:nvPr/>
            </p:nvSpPr>
            <p:spPr bwMode="auto">
              <a:xfrm flipV="1">
                <a:off x="4467225" y="59436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0" name="Line 336"/>
              <p:cNvSpPr>
                <a:spLocks noChangeShapeType="1"/>
              </p:cNvSpPr>
              <p:nvPr/>
            </p:nvSpPr>
            <p:spPr bwMode="auto">
              <a:xfrm flipV="1">
                <a:off x="4481513" y="59356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1" name="Line 337"/>
              <p:cNvSpPr>
                <a:spLocks noChangeShapeType="1"/>
              </p:cNvSpPr>
              <p:nvPr/>
            </p:nvSpPr>
            <p:spPr bwMode="auto">
              <a:xfrm flipV="1">
                <a:off x="4495801" y="5926139"/>
                <a:ext cx="15875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2" name="Line 338"/>
              <p:cNvSpPr>
                <a:spLocks noChangeShapeType="1"/>
              </p:cNvSpPr>
              <p:nvPr/>
            </p:nvSpPr>
            <p:spPr bwMode="auto">
              <a:xfrm flipV="1">
                <a:off x="4511675" y="59197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3" name="Line 339"/>
              <p:cNvSpPr>
                <a:spLocks noChangeShapeType="1"/>
              </p:cNvSpPr>
              <p:nvPr/>
            </p:nvSpPr>
            <p:spPr bwMode="auto">
              <a:xfrm flipV="1">
                <a:off x="4525963" y="59102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4" name="Line 340"/>
              <p:cNvSpPr>
                <a:spLocks noChangeShapeType="1"/>
              </p:cNvSpPr>
              <p:nvPr/>
            </p:nvSpPr>
            <p:spPr bwMode="auto">
              <a:xfrm flipV="1">
                <a:off x="4540251" y="5902326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5" name="Line 341"/>
              <p:cNvSpPr>
                <a:spLocks noChangeShapeType="1"/>
              </p:cNvSpPr>
              <p:nvPr/>
            </p:nvSpPr>
            <p:spPr bwMode="auto">
              <a:xfrm flipV="1">
                <a:off x="4556125" y="58928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6" name="Line 342"/>
              <p:cNvSpPr>
                <a:spLocks noChangeShapeType="1"/>
              </p:cNvSpPr>
              <p:nvPr/>
            </p:nvSpPr>
            <p:spPr bwMode="auto">
              <a:xfrm flipV="1">
                <a:off x="4570413" y="58753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7" name="Line 343"/>
              <p:cNvSpPr>
                <a:spLocks noChangeShapeType="1"/>
              </p:cNvSpPr>
              <p:nvPr/>
            </p:nvSpPr>
            <p:spPr bwMode="auto">
              <a:xfrm flipV="1">
                <a:off x="4584700" y="58689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8" name="Line 344"/>
              <p:cNvSpPr>
                <a:spLocks noChangeShapeType="1"/>
              </p:cNvSpPr>
              <p:nvPr/>
            </p:nvSpPr>
            <p:spPr bwMode="auto">
              <a:xfrm flipV="1">
                <a:off x="4598989" y="5851527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9" name="Line 345"/>
              <p:cNvSpPr>
                <a:spLocks noChangeShapeType="1"/>
              </p:cNvSpPr>
              <p:nvPr/>
            </p:nvSpPr>
            <p:spPr bwMode="auto">
              <a:xfrm flipV="1">
                <a:off x="4614863" y="5842002"/>
                <a:ext cx="12700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0" name="Line 346"/>
              <p:cNvSpPr>
                <a:spLocks noChangeShapeType="1"/>
              </p:cNvSpPr>
              <p:nvPr/>
            </p:nvSpPr>
            <p:spPr bwMode="auto">
              <a:xfrm flipV="1">
                <a:off x="4627563" y="5826127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1" name="Line 347"/>
              <p:cNvSpPr>
                <a:spLocks noChangeShapeType="1"/>
              </p:cNvSpPr>
              <p:nvPr/>
            </p:nvSpPr>
            <p:spPr bwMode="auto">
              <a:xfrm flipV="1">
                <a:off x="4641850" y="58166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2" name="Line 348"/>
              <p:cNvSpPr>
                <a:spLocks noChangeShapeType="1"/>
              </p:cNvSpPr>
              <p:nvPr/>
            </p:nvSpPr>
            <p:spPr bwMode="auto">
              <a:xfrm flipV="1">
                <a:off x="4656139" y="57991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3" name="Line 349"/>
              <p:cNvSpPr>
                <a:spLocks noChangeShapeType="1"/>
              </p:cNvSpPr>
              <p:nvPr/>
            </p:nvSpPr>
            <p:spPr bwMode="auto">
              <a:xfrm flipV="1">
                <a:off x="4672013" y="57832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4" name="Line 350"/>
              <p:cNvSpPr>
                <a:spLocks noChangeShapeType="1"/>
              </p:cNvSpPr>
              <p:nvPr/>
            </p:nvSpPr>
            <p:spPr bwMode="auto">
              <a:xfrm flipV="1">
                <a:off x="4686300" y="57658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5" name="Line 351"/>
              <p:cNvSpPr>
                <a:spLocks noChangeShapeType="1"/>
              </p:cNvSpPr>
              <p:nvPr/>
            </p:nvSpPr>
            <p:spPr bwMode="auto">
              <a:xfrm flipV="1">
                <a:off x="4700589" y="57483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6" name="Line 352"/>
              <p:cNvSpPr>
                <a:spLocks noChangeShapeType="1"/>
              </p:cNvSpPr>
              <p:nvPr/>
            </p:nvSpPr>
            <p:spPr bwMode="auto">
              <a:xfrm flipV="1">
                <a:off x="4716463" y="57324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7" name="Line 353"/>
              <p:cNvSpPr>
                <a:spLocks noChangeShapeType="1"/>
              </p:cNvSpPr>
              <p:nvPr/>
            </p:nvSpPr>
            <p:spPr bwMode="auto">
              <a:xfrm flipV="1">
                <a:off x="4730750" y="57150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8" name="Line 354"/>
              <p:cNvSpPr>
                <a:spLocks noChangeShapeType="1"/>
              </p:cNvSpPr>
              <p:nvPr/>
            </p:nvSpPr>
            <p:spPr bwMode="auto">
              <a:xfrm flipV="1">
                <a:off x="4745038" y="56975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9" name="Line 355"/>
              <p:cNvSpPr>
                <a:spLocks noChangeShapeType="1"/>
              </p:cNvSpPr>
              <p:nvPr/>
            </p:nvSpPr>
            <p:spPr bwMode="auto">
              <a:xfrm flipV="1">
                <a:off x="4759326" y="5681664"/>
                <a:ext cx="15875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0" name="Line 356"/>
              <p:cNvSpPr>
                <a:spLocks noChangeShapeType="1"/>
              </p:cNvSpPr>
              <p:nvPr/>
            </p:nvSpPr>
            <p:spPr bwMode="auto">
              <a:xfrm flipV="1">
                <a:off x="4775200" y="56642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1" name="Freeform 357"/>
              <p:cNvSpPr>
                <a:spLocks/>
              </p:cNvSpPr>
              <p:nvPr/>
            </p:nvSpPr>
            <p:spPr bwMode="auto">
              <a:xfrm>
                <a:off x="4789488" y="5640389"/>
                <a:ext cx="14288" cy="23813"/>
              </a:xfrm>
              <a:custGeom>
                <a:avLst/>
                <a:gdLst>
                  <a:gd name="T0" fmla="*/ 0 w 9"/>
                  <a:gd name="T1" fmla="*/ 15 h 15"/>
                  <a:gd name="T2" fmla="*/ 5 w 9"/>
                  <a:gd name="T3" fmla="*/ 4 h 15"/>
                  <a:gd name="T4" fmla="*/ 9 w 9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15"/>
                    </a:moveTo>
                    <a:lnTo>
                      <a:pt x="5" y="4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2" name="Line 358"/>
              <p:cNvSpPr>
                <a:spLocks noChangeShapeType="1"/>
              </p:cNvSpPr>
              <p:nvPr/>
            </p:nvSpPr>
            <p:spPr bwMode="auto">
              <a:xfrm flipV="1">
                <a:off x="4803775" y="5622927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3" name="Freeform 359"/>
              <p:cNvSpPr>
                <a:spLocks/>
              </p:cNvSpPr>
              <p:nvPr/>
            </p:nvSpPr>
            <p:spPr bwMode="auto">
              <a:xfrm>
                <a:off x="4818064" y="5597526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6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6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4" name="Line 360"/>
              <p:cNvSpPr>
                <a:spLocks noChangeShapeType="1"/>
              </p:cNvSpPr>
              <p:nvPr/>
            </p:nvSpPr>
            <p:spPr bwMode="auto">
              <a:xfrm flipV="1">
                <a:off x="4833938" y="558006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5" name="Line 361"/>
              <p:cNvSpPr>
                <a:spLocks noChangeShapeType="1"/>
              </p:cNvSpPr>
              <p:nvPr/>
            </p:nvSpPr>
            <p:spPr bwMode="auto">
              <a:xfrm flipV="1">
                <a:off x="4848225" y="5556252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6" name="Line 362"/>
              <p:cNvSpPr>
                <a:spLocks noChangeShapeType="1"/>
              </p:cNvSpPr>
              <p:nvPr/>
            </p:nvSpPr>
            <p:spPr bwMode="auto">
              <a:xfrm flipV="1">
                <a:off x="4862514" y="55292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7" name="Line 363"/>
              <p:cNvSpPr>
                <a:spLocks noChangeShapeType="1"/>
              </p:cNvSpPr>
              <p:nvPr/>
            </p:nvSpPr>
            <p:spPr bwMode="auto">
              <a:xfrm flipV="1">
                <a:off x="4878388" y="5503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8" name="Line 364"/>
              <p:cNvSpPr>
                <a:spLocks noChangeShapeType="1"/>
              </p:cNvSpPr>
              <p:nvPr/>
            </p:nvSpPr>
            <p:spPr bwMode="auto">
              <a:xfrm flipV="1">
                <a:off x="4892675" y="5480052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9" name="Line 365"/>
              <p:cNvSpPr>
                <a:spLocks noChangeShapeType="1"/>
              </p:cNvSpPr>
              <p:nvPr/>
            </p:nvSpPr>
            <p:spPr bwMode="auto">
              <a:xfrm flipV="1">
                <a:off x="4906963" y="54530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0" name="Line 366"/>
              <p:cNvSpPr>
                <a:spLocks noChangeShapeType="1"/>
              </p:cNvSpPr>
              <p:nvPr/>
            </p:nvSpPr>
            <p:spPr bwMode="auto">
              <a:xfrm flipV="1">
                <a:off x="4921251" y="5429252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1" name="Line 367"/>
              <p:cNvSpPr>
                <a:spLocks noChangeShapeType="1"/>
              </p:cNvSpPr>
              <p:nvPr/>
            </p:nvSpPr>
            <p:spPr bwMode="auto">
              <a:xfrm flipV="1">
                <a:off x="4937125" y="54022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2" name="Line 368"/>
              <p:cNvSpPr>
                <a:spLocks noChangeShapeType="1"/>
              </p:cNvSpPr>
              <p:nvPr/>
            </p:nvSpPr>
            <p:spPr bwMode="auto">
              <a:xfrm flipV="1">
                <a:off x="4951413" y="5376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3" name="Line 369"/>
              <p:cNvSpPr>
                <a:spLocks noChangeShapeType="1"/>
              </p:cNvSpPr>
              <p:nvPr/>
            </p:nvSpPr>
            <p:spPr bwMode="auto">
              <a:xfrm flipV="1">
                <a:off x="4965700" y="53514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4" name="Freeform 370"/>
              <p:cNvSpPr>
                <a:spLocks/>
              </p:cNvSpPr>
              <p:nvPr/>
            </p:nvSpPr>
            <p:spPr bwMode="auto">
              <a:xfrm>
                <a:off x="4979989" y="5318126"/>
                <a:ext cx="22225" cy="33338"/>
              </a:xfrm>
              <a:custGeom>
                <a:avLst/>
                <a:gdLst>
                  <a:gd name="T0" fmla="*/ 0 w 14"/>
                  <a:gd name="T1" fmla="*/ 21 h 21"/>
                  <a:gd name="T2" fmla="*/ 5 w 14"/>
                  <a:gd name="T3" fmla="*/ 10 h 21"/>
                  <a:gd name="T4" fmla="*/ 14 w 14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lnTo>
                      <a:pt x="5" y="1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5" name="Line 371"/>
              <p:cNvSpPr>
                <a:spLocks noChangeShapeType="1"/>
              </p:cNvSpPr>
              <p:nvPr/>
            </p:nvSpPr>
            <p:spPr bwMode="auto">
              <a:xfrm flipV="1">
                <a:off x="5002214" y="5292726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6" name="Freeform 372"/>
              <p:cNvSpPr>
                <a:spLocks/>
              </p:cNvSpPr>
              <p:nvPr/>
            </p:nvSpPr>
            <p:spPr bwMode="auto">
              <a:xfrm>
                <a:off x="5018088" y="5257802"/>
                <a:ext cx="14288" cy="34925"/>
              </a:xfrm>
              <a:custGeom>
                <a:avLst/>
                <a:gdLst>
                  <a:gd name="T0" fmla="*/ 0 w 9"/>
                  <a:gd name="T1" fmla="*/ 22 h 22"/>
                  <a:gd name="T2" fmla="*/ 4 w 9"/>
                  <a:gd name="T3" fmla="*/ 11 h 22"/>
                  <a:gd name="T4" fmla="*/ 9 w 9"/>
                  <a:gd name="T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22"/>
                    </a:moveTo>
                    <a:lnTo>
                      <a:pt x="4" y="11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7" name="Line 373"/>
              <p:cNvSpPr>
                <a:spLocks noChangeShapeType="1"/>
              </p:cNvSpPr>
              <p:nvPr/>
            </p:nvSpPr>
            <p:spPr bwMode="auto">
              <a:xfrm flipV="1">
                <a:off x="5032375" y="523398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8" name="Line 374"/>
              <p:cNvSpPr>
                <a:spLocks noChangeShapeType="1"/>
              </p:cNvSpPr>
              <p:nvPr/>
            </p:nvSpPr>
            <p:spPr bwMode="auto">
              <a:xfrm flipV="1">
                <a:off x="5046663" y="51990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9" name="Line 375"/>
              <p:cNvSpPr>
                <a:spLocks noChangeShapeType="1"/>
              </p:cNvSpPr>
              <p:nvPr/>
            </p:nvSpPr>
            <p:spPr bwMode="auto">
              <a:xfrm flipV="1">
                <a:off x="5060951" y="5165726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0" name="Line 376"/>
              <p:cNvSpPr>
                <a:spLocks noChangeShapeType="1"/>
              </p:cNvSpPr>
              <p:nvPr/>
            </p:nvSpPr>
            <p:spPr bwMode="auto">
              <a:xfrm flipV="1">
                <a:off x="5076825" y="5140326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1" name="Line 377"/>
              <p:cNvSpPr>
                <a:spLocks noChangeShapeType="1"/>
              </p:cNvSpPr>
              <p:nvPr/>
            </p:nvSpPr>
            <p:spPr bwMode="auto">
              <a:xfrm flipV="1">
                <a:off x="5091113" y="5106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2" name="Line 378"/>
              <p:cNvSpPr>
                <a:spLocks noChangeShapeType="1"/>
              </p:cNvSpPr>
              <p:nvPr/>
            </p:nvSpPr>
            <p:spPr bwMode="auto">
              <a:xfrm flipV="1">
                <a:off x="5105401" y="5073651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3" name="Line 379"/>
              <p:cNvSpPr>
                <a:spLocks noChangeShapeType="1"/>
              </p:cNvSpPr>
              <p:nvPr/>
            </p:nvSpPr>
            <p:spPr bwMode="auto">
              <a:xfrm flipV="1">
                <a:off x="5121275" y="5040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4" name="Line 392"/>
              <p:cNvSpPr>
                <a:spLocks noChangeShapeType="1"/>
              </p:cNvSpPr>
              <p:nvPr/>
            </p:nvSpPr>
            <p:spPr bwMode="auto">
              <a:xfrm flipV="1">
                <a:off x="5311775" y="45815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5" name="Line 393"/>
              <p:cNvSpPr>
                <a:spLocks noChangeShapeType="1"/>
              </p:cNvSpPr>
              <p:nvPr/>
            </p:nvSpPr>
            <p:spPr bwMode="auto">
              <a:xfrm flipV="1">
                <a:off x="5326064" y="4548188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6" name="Line 394"/>
              <p:cNvSpPr>
                <a:spLocks noChangeShapeType="1"/>
              </p:cNvSpPr>
              <p:nvPr/>
            </p:nvSpPr>
            <p:spPr bwMode="auto">
              <a:xfrm flipV="1">
                <a:off x="5341938" y="4516438"/>
                <a:ext cx="14288" cy="317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7" name="Line 395"/>
              <p:cNvSpPr>
                <a:spLocks noChangeShapeType="1"/>
              </p:cNvSpPr>
              <p:nvPr/>
            </p:nvSpPr>
            <p:spPr bwMode="auto">
              <a:xfrm flipV="1">
                <a:off x="5356225" y="448151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8" name="Line 396"/>
              <p:cNvSpPr>
                <a:spLocks noChangeShapeType="1"/>
              </p:cNvSpPr>
              <p:nvPr/>
            </p:nvSpPr>
            <p:spPr bwMode="auto">
              <a:xfrm flipV="1">
                <a:off x="5370513" y="4438652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9" name="Line 397"/>
              <p:cNvSpPr>
                <a:spLocks noChangeShapeType="1"/>
              </p:cNvSpPr>
              <p:nvPr/>
            </p:nvSpPr>
            <p:spPr bwMode="auto">
              <a:xfrm flipV="1">
                <a:off x="5384801" y="44053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0" name="Line 398"/>
              <p:cNvSpPr>
                <a:spLocks noChangeShapeType="1"/>
              </p:cNvSpPr>
              <p:nvPr/>
            </p:nvSpPr>
            <p:spPr bwMode="auto">
              <a:xfrm flipV="1">
                <a:off x="5400675" y="437197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1" name="Line 399"/>
              <p:cNvSpPr>
                <a:spLocks noChangeShapeType="1"/>
              </p:cNvSpPr>
              <p:nvPr/>
            </p:nvSpPr>
            <p:spPr bwMode="auto">
              <a:xfrm flipV="1">
                <a:off x="5414963" y="4337052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2" name="Line 400"/>
              <p:cNvSpPr>
                <a:spLocks noChangeShapeType="1"/>
              </p:cNvSpPr>
              <p:nvPr/>
            </p:nvSpPr>
            <p:spPr bwMode="auto">
              <a:xfrm flipV="1">
                <a:off x="5429251" y="4303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3" name="Line 401"/>
              <p:cNvSpPr>
                <a:spLocks noChangeShapeType="1"/>
              </p:cNvSpPr>
              <p:nvPr/>
            </p:nvSpPr>
            <p:spPr bwMode="auto">
              <a:xfrm flipV="1">
                <a:off x="5445125" y="4268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4" name="Line 402"/>
              <p:cNvSpPr>
                <a:spLocks noChangeShapeType="1"/>
              </p:cNvSpPr>
              <p:nvPr/>
            </p:nvSpPr>
            <p:spPr bwMode="auto">
              <a:xfrm flipV="1">
                <a:off x="5459413" y="4235451"/>
                <a:ext cx="12700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5" name="Line 403"/>
              <p:cNvSpPr>
                <a:spLocks noChangeShapeType="1"/>
              </p:cNvSpPr>
              <p:nvPr/>
            </p:nvSpPr>
            <p:spPr bwMode="auto">
              <a:xfrm flipV="1">
                <a:off x="5472113" y="4210051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6" name="Line 404"/>
              <p:cNvSpPr>
                <a:spLocks noChangeShapeType="1"/>
              </p:cNvSpPr>
              <p:nvPr/>
            </p:nvSpPr>
            <p:spPr bwMode="auto">
              <a:xfrm flipV="1">
                <a:off x="5486401" y="4176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7" name="Line 405"/>
              <p:cNvSpPr>
                <a:spLocks noChangeShapeType="1"/>
              </p:cNvSpPr>
              <p:nvPr/>
            </p:nvSpPr>
            <p:spPr bwMode="auto">
              <a:xfrm flipV="1">
                <a:off x="5502275" y="4141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8" name="Line 476"/>
              <p:cNvSpPr>
                <a:spLocks noChangeShapeType="1"/>
              </p:cNvSpPr>
              <p:nvPr/>
            </p:nvSpPr>
            <p:spPr bwMode="auto">
              <a:xfrm>
                <a:off x="6539707" y="4790282"/>
                <a:ext cx="9524" cy="2064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538264" y="3501008"/>
              <a:ext cx="4134030" cy="2186240"/>
              <a:chOff x="3856038" y="3727450"/>
              <a:chExt cx="4138613" cy="2352677"/>
            </a:xfrm>
            <a:solidFill>
              <a:srgbClr val="33CC33"/>
            </a:solidFill>
          </p:grpSpPr>
          <p:sp>
            <p:nvSpPr>
              <p:cNvPr id="291" name="Line 382"/>
              <p:cNvSpPr>
                <a:spLocks noChangeShapeType="1"/>
              </p:cNvSpPr>
              <p:nvPr/>
            </p:nvSpPr>
            <p:spPr bwMode="auto">
              <a:xfrm flipV="1">
                <a:off x="5164139" y="4938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2" name="Line 380"/>
              <p:cNvSpPr>
                <a:spLocks noChangeShapeType="1"/>
              </p:cNvSpPr>
              <p:nvPr/>
            </p:nvSpPr>
            <p:spPr bwMode="auto">
              <a:xfrm flipV="1">
                <a:off x="5135563" y="50053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3" name="Line 381"/>
              <p:cNvSpPr>
                <a:spLocks noChangeShapeType="1"/>
              </p:cNvSpPr>
              <p:nvPr/>
            </p:nvSpPr>
            <p:spPr bwMode="auto">
              <a:xfrm flipV="1">
                <a:off x="5149850" y="4972051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4" name="Line 383"/>
              <p:cNvSpPr>
                <a:spLocks noChangeShapeType="1"/>
              </p:cNvSpPr>
              <p:nvPr/>
            </p:nvSpPr>
            <p:spPr bwMode="auto">
              <a:xfrm flipV="1">
                <a:off x="5180013" y="4903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5" name="Line 384"/>
              <p:cNvSpPr>
                <a:spLocks noChangeShapeType="1"/>
              </p:cNvSpPr>
              <p:nvPr/>
            </p:nvSpPr>
            <p:spPr bwMode="auto">
              <a:xfrm flipV="1">
                <a:off x="5194300" y="48688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6" name="Line 385"/>
              <p:cNvSpPr>
                <a:spLocks noChangeShapeType="1"/>
              </p:cNvSpPr>
              <p:nvPr/>
            </p:nvSpPr>
            <p:spPr bwMode="auto">
              <a:xfrm flipV="1">
                <a:off x="5208588" y="48355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7" name="Line 386"/>
              <p:cNvSpPr>
                <a:spLocks noChangeShapeType="1"/>
              </p:cNvSpPr>
              <p:nvPr/>
            </p:nvSpPr>
            <p:spPr bwMode="auto">
              <a:xfrm flipV="1">
                <a:off x="5222876" y="4802188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8" name="Line 387"/>
              <p:cNvSpPr>
                <a:spLocks noChangeShapeType="1"/>
              </p:cNvSpPr>
              <p:nvPr/>
            </p:nvSpPr>
            <p:spPr bwMode="auto">
              <a:xfrm flipV="1">
                <a:off x="5238750" y="4759327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9" name="Line 388"/>
              <p:cNvSpPr>
                <a:spLocks noChangeShapeType="1"/>
              </p:cNvSpPr>
              <p:nvPr/>
            </p:nvSpPr>
            <p:spPr bwMode="auto">
              <a:xfrm flipV="1">
                <a:off x="5253038" y="4725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0" name="Line 389"/>
              <p:cNvSpPr>
                <a:spLocks noChangeShapeType="1"/>
              </p:cNvSpPr>
              <p:nvPr/>
            </p:nvSpPr>
            <p:spPr bwMode="auto">
              <a:xfrm flipV="1">
                <a:off x="5267326" y="4691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" name="Line 390"/>
              <p:cNvSpPr>
                <a:spLocks noChangeShapeType="1"/>
              </p:cNvSpPr>
              <p:nvPr/>
            </p:nvSpPr>
            <p:spPr bwMode="auto">
              <a:xfrm flipV="1">
                <a:off x="5283200" y="46577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" name="Line 391"/>
              <p:cNvSpPr>
                <a:spLocks noChangeShapeType="1"/>
              </p:cNvSpPr>
              <p:nvPr/>
            </p:nvSpPr>
            <p:spPr bwMode="auto">
              <a:xfrm flipV="1">
                <a:off x="5297488" y="4614864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" name="Line 475"/>
              <p:cNvSpPr>
                <a:spLocks noChangeShapeType="1"/>
              </p:cNvSpPr>
              <p:nvPr/>
            </p:nvSpPr>
            <p:spPr bwMode="auto">
              <a:xfrm>
                <a:off x="6530975" y="4759326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" name="Line 474"/>
              <p:cNvSpPr>
                <a:spLocks noChangeShapeType="1"/>
              </p:cNvSpPr>
              <p:nvPr/>
            </p:nvSpPr>
            <p:spPr bwMode="auto">
              <a:xfrm>
                <a:off x="6516688" y="4725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" name="Line 476"/>
              <p:cNvSpPr>
                <a:spLocks noChangeShapeType="1"/>
              </p:cNvSpPr>
              <p:nvPr/>
            </p:nvSpPr>
            <p:spPr bwMode="auto">
              <a:xfrm>
                <a:off x="6548439" y="4808535"/>
                <a:ext cx="11112" cy="26992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" name="Line 407"/>
              <p:cNvSpPr>
                <a:spLocks noChangeShapeType="1"/>
              </p:cNvSpPr>
              <p:nvPr/>
            </p:nvSpPr>
            <p:spPr bwMode="auto">
              <a:xfrm flipV="1">
                <a:off x="5516563" y="4116388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" name="Freeform 408"/>
              <p:cNvSpPr>
                <a:spLocks/>
              </p:cNvSpPr>
              <p:nvPr/>
            </p:nvSpPr>
            <p:spPr bwMode="auto">
              <a:xfrm>
                <a:off x="5530851" y="4083050"/>
                <a:ext cx="15875" cy="33338"/>
              </a:xfrm>
              <a:custGeom>
                <a:avLst/>
                <a:gdLst>
                  <a:gd name="T0" fmla="*/ 0 w 10"/>
                  <a:gd name="T1" fmla="*/ 21 h 21"/>
                  <a:gd name="T2" fmla="*/ 5 w 10"/>
                  <a:gd name="T3" fmla="*/ 10 h 21"/>
                  <a:gd name="T4" fmla="*/ 10 w 10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21"/>
                    </a:moveTo>
                    <a:lnTo>
                      <a:pt x="5" y="10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" name="Line 409"/>
              <p:cNvSpPr>
                <a:spLocks noChangeShapeType="1"/>
              </p:cNvSpPr>
              <p:nvPr/>
            </p:nvSpPr>
            <p:spPr bwMode="auto">
              <a:xfrm flipV="1">
                <a:off x="5546725" y="40576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" name="Line 410"/>
              <p:cNvSpPr>
                <a:spLocks noChangeShapeType="1"/>
              </p:cNvSpPr>
              <p:nvPr/>
            </p:nvSpPr>
            <p:spPr bwMode="auto">
              <a:xfrm flipV="1">
                <a:off x="5561013" y="40322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" name="Freeform 411"/>
              <p:cNvSpPr>
                <a:spLocks/>
              </p:cNvSpPr>
              <p:nvPr/>
            </p:nvSpPr>
            <p:spPr bwMode="auto">
              <a:xfrm>
                <a:off x="5575301" y="4006850"/>
                <a:ext cx="22225" cy="25400"/>
              </a:xfrm>
              <a:custGeom>
                <a:avLst/>
                <a:gdLst>
                  <a:gd name="T0" fmla="*/ 0 w 14"/>
                  <a:gd name="T1" fmla="*/ 16 h 16"/>
                  <a:gd name="T2" fmla="*/ 5 w 14"/>
                  <a:gd name="T3" fmla="*/ 5 h 16"/>
                  <a:gd name="T4" fmla="*/ 14 w 14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16"/>
                    </a:moveTo>
                    <a:lnTo>
                      <a:pt x="5" y="5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" name="Line 412"/>
              <p:cNvSpPr>
                <a:spLocks noChangeShapeType="1"/>
              </p:cNvSpPr>
              <p:nvPr/>
            </p:nvSpPr>
            <p:spPr bwMode="auto">
              <a:xfrm flipV="1">
                <a:off x="5597525" y="39798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" name="Line 413"/>
              <p:cNvSpPr>
                <a:spLocks noChangeShapeType="1"/>
              </p:cNvSpPr>
              <p:nvPr/>
            </p:nvSpPr>
            <p:spPr bwMode="auto">
              <a:xfrm flipV="1">
                <a:off x="5611814" y="3956051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" name="Line 414"/>
              <p:cNvSpPr>
                <a:spLocks noChangeShapeType="1"/>
              </p:cNvSpPr>
              <p:nvPr/>
            </p:nvSpPr>
            <p:spPr bwMode="auto">
              <a:xfrm flipV="1">
                <a:off x="5627688" y="393223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" name="Line 415"/>
              <p:cNvSpPr>
                <a:spLocks noChangeShapeType="1"/>
              </p:cNvSpPr>
              <p:nvPr/>
            </p:nvSpPr>
            <p:spPr bwMode="auto">
              <a:xfrm flipV="1">
                <a:off x="5641975" y="3905250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" name="Line 416"/>
              <p:cNvSpPr>
                <a:spLocks noChangeShapeType="1"/>
              </p:cNvSpPr>
              <p:nvPr/>
            </p:nvSpPr>
            <p:spPr bwMode="auto">
              <a:xfrm flipV="1">
                <a:off x="5656263" y="388937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" name="Freeform 417"/>
              <p:cNvSpPr>
                <a:spLocks/>
              </p:cNvSpPr>
              <p:nvPr/>
            </p:nvSpPr>
            <p:spPr bwMode="auto">
              <a:xfrm>
                <a:off x="5670551" y="3863975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5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5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" name="Line 418"/>
              <p:cNvSpPr>
                <a:spLocks noChangeShapeType="1"/>
              </p:cNvSpPr>
              <p:nvPr/>
            </p:nvSpPr>
            <p:spPr bwMode="auto">
              <a:xfrm flipV="1">
                <a:off x="5686425" y="38465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" name="Line 419"/>
              <p:cNvSpPr>
                <a:spLocks noChangeShapeType="1"/>
              </p:cNvSpPr>
              <p:nvPr/>
            </p:nvSpPr>
            <p:spPr bwMode="auto">
              <a:xfrm flipV="1">
                <a:off x="5700713" y="382905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" name="Line 420"/>
              <p:cNvSpPr>
                <a:spLocks noChangeShapeType="1"/>
              </p:cNvSpPr>
              <p:nvPr/>
            </p:nvSpPr>
            <p:spPr bwMode="auto">
              <a:xfrm flipV="1">
                <a:off x="5715000" y="381158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" name="Line 421"/>
              <p:cNvSpPr>
                <a:spLocks noChangeShapeType="1"/>
              </p:cNvSpPr>
              <p:nvPr/>
            </p:nvSpPr>
            <p:spPr bwMode="auto">
              <a:xfrm flipV="1">
                <a:off x="5729289" y="3795714"/>
                <a:ext cx="15875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" name="Line 422"/>
              <p:cNvSpPr>
                <a:spLocks noChangeShapeType="1"/>
              </p:cNvSpPr>
              <p:nvPr/>
            </p:nvSpPr>
            <p:spPr bwMode="auto">
              <a:xfrm flipV="1">
                <a:off x="5745163" y="37877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" name="Line 423"/>
              <p:cNvSpPr>
                <a:spLocks noChangeShapeType="1"/>
              </p:cNvSpPr>
              <p:nvPr/>
            </p:nvSpPr>
            <p:spPr bwMode="auto">
              <a:xfrm flipV="1">
                <a:off x="5759450" y="37703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" name="Line 424"/>
              <p:cNvSpPr>
                <a:spLocks noChangeShapeType="1"/>
              </p:cNvSpPr>
              <p:nvPr/>
            </p:nvSpPr>
            <p:spPr bwMode="auto">
              <a:xfrm flipV="1">
                <a:off x="5773739" y="376237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" name="Line 425"/>
              <p:cNvSpPr>
                <a:spLocks noChangeShapeType="1"/>
              </p:cNvSpPr>
              <p:nvPr/>
            </p:nvSpPr>
            <p:spPr bwMode="auto">
              <a:xfrm flipV="1">
                <a:off x="5789613" y="3754438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" name="Line 426"/>
              <p:cNvSpPr>
                <a:spLocks noChangeShapeType="1"/>
              </p:cNvSpPr>
              <p:nvPr/>
            </p:nvSpPr>
            <p:spPr bwMode="auto">
              <a:xfrm flipV="1">
                <a:off x="5803900" y="374491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" name="Line 427"/>
              <p:cNvSpPr>
                <a:spLocks noChangeShapeType="1"/>
              </p:cNvSpPr>
              <p:nvPr/>
            </p:nvSpPr>
            <p:spPr bwMode="auto">
              <a:xfrm flipV="1">
                <a:off x="5818188" y="37369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" name="Line 428"/>
              <p:cNvSpPr>
                <a:spLocks noChangeShapeType="1"/>
              </p:cNvSpPr>
              <p:nvPr/>
            </p:nvSpPr>
            <p:spPr bwMode="auto">
              <a:xfrm>
                <a:off x="5832476" y="373697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" name="Freeform 429"/>
              <p:cNvSpPr>
                <a:spLocks/>
              </p:cNvSpPr>
              <p:nvPr/>
            </p:nvSpPr>
            <p:spPr bwMode="auto">
              <a:xfrm>
                <a:off x="5848350" y="3727451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" name="Line 430"/>
              <p:cNvSpPr>
                <a:spLocks noChangeShapeType="1"/>
              </p:cNvSpPr>
              <p:nvPr/>
            </p:nvSpPr>
            <p:spPr bwMode="auto">
              <a:xfrm>
                <a:off x="5862638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" name="Line 431"/>
              <p:cNvSpPr>
                <a:spLocks noChangeShapeType="1"/>
              </p:cNvSpPr>
              <p:nvPr/>
            </p:nvSpPr>
            <p:spPr bwMode="auto">
              <a:xfrm>
                <a:off x="5876925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" name="Line 432"/>
              <p:cNvSpPr>
                <a:spLocks noChangeShapeType="1"/>
              </p:cNvSpPr>
              <p:nvPr/>
            </p:nvSpPr>
            <p:spPr bwMode="auto">
              <a:xfrm>
                <a:off x="5891214" y="372745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" name="Line 433"/>
              <p:cNvSpPr>
                <a:spLocks noChangeShapeType="1"/>
              </p:cNvSpPr>
              <p:nvPr/>
            </p:nvSpPr>
            <p:spPr bwMode="auto">
              <a:xfrm>
                <a:off x="5907088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" name="Freeform 434"/>
              <p:cNvSpPr>
                <a:spLocks/>
              </p:cNvSpPr>
              <p:nvPr/>
            </p:nvSpPr>
            <p:spPr bwMode="auto">
              <a:xfrm>
                <a:off x="5921375" y="372745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" name="Line 435"/>
              <p:cNvSpPr>
                <a:spLocks noChangeShapeType="1"/>
              </p:cNvSpPr>
              <p:nvPr/>
            </p:nvSpPr>
            <p:spPr bwMode="auto">
              <a:xfrm>
                <a:off x="5935664" y="373697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" name="Line 436"/>
              <p:cNvSpPr>
                <a:spLocks noChangeShapeType="1"/>
              </p:cNvSpPr>
              <p:nvPr/>
            </p:nvSpPr>
            <p:spPr bwMode="auto">
              <a:xfrm>
                <a:off x="5951538" y="37369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" name="Line 437"/>
              <p:cNvSpPr>
                <a:spLocks noChangeShapeType="1"/>
              </p:cNvSpPr>
              <p:nvPr/>
            </p:nvSpPr>
            <p:spPr bwMode="auto">
              <a:xfrm>
                <a:off x="5965825" y="374491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" name="Line 438"/>
              <p:cNvSpPr>
                <a:spLocks noChangeShapeType="1"/>
              </p:cNvSpPr>
              <p:nvPr/>
            </p:nvSpPr>
            <p:spPr bwMode="auto">
              <a:xfrm>
                <a:off x="5980113" y="3754438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" name="Line 439"/>
              <p:cNvSpPr>
                <a:spLocks noChangeShapeType="1"/>
              </p:cNvSpPr>
              <p:nvPr/>
            </p:nvSpPr>
            <p:spPr bwMode="auto">
              <a:xfrm>
                <a:off x="5994401" y="376237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" name="Line 440"/>
              <p:cNvSpPr>
                <a:spLocks noChangeShapeType="1"/>
              </p:cNvSpPr>
              <p:nvPr/>
            </p:nvSpPr>
            <p:spPr bwMode="auto">
              <a:xfrm>
                <a:off x="6010275" y="37703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" name="Line 441"/>
              <p:cNvSpPr>
                <a:spLocks noChangeShapeType="1"/>
              </p:cNvSpPr>
              <p:nvPr/>
            </p:nvSpPr>
            <p:spPr bwMode="auto">
              <a:xfrm>
                <a:off x="6024563" y="37877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" name="Line 442"/>
              <p:cNvSpPr>
                <a:spLocks noChangeShapeType="1"/>
              </p:cNvSpPr>
              <p:nvPr/>
            </p:nvSpPr>
            <p:spPr bwMode="auto">
              <a:xfrm>
                <a:off x="6038850" y="379571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" name="Line 443"/>
              <p:cNvSpPr>
                <a:spLocks noChangeShapeType="1"/>
              </p:cNvSpPr>
              <p:nvPr/>
            </p:nvSpPr>
            <p:spPr bwMode="auto">
              <a:xfrm>
                <a:off x="6053139" y="381158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" name="Line 444"/>
              <p:cNvSpPr>
                <a:spLocks noChangeShapeType="1"/>
              </p:cNvSpPr>
              <p:nvPr/>
            </p:nvSpPr>
            <p:spPr bwMode="auto">
              <a:xfrm>
                <a:off x="6069013" y="382905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" name="Line 445"/>
              <p:cNvSpPr>
                <a:spLocks noChangeShapeType="1"/>
              </p:cNvSpPr>
              <p:nvPr/>
            </p:nvSpPr>
            <p:spPr bwMode="auto">
              <a:xfrm>
                <a:off x="6083300" y="38465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" name="Freeform 446"/>
              <p:cNvSpPr>
                <a:spLocks/>
              </p:cNvSpPr>
              <p:nvPr/>
            </p:nvSpPr>
            <p:spPr bwMode="auto">
              <a:xfrm>
                <a:off x="6097589" y="3863975"/>
                <a:ext cx="15875" cy="25400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5 h 16"/>
                  <a:gd name="T4" fmla="*/ 10 w 10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5"/>
                    </a:lnTo>
                    <a:lnTo>
                      <a:pt x="10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" name="Line 447"/>
              <p:cNvSpPr>
                <a:spLocks noChangeShapeType="1"/>
              </p:cNvSpPr>
              <p:nvPr/>
            </p:nvSpPr>
            <p:spPr bwMode="auto">
              <a:xfrm>
                <a:off x="6113463" y="388937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" name="Line 448"/>
              <p:cNvSpPr>
                <a:spLocks noChangeShapeType="1"/>
              </p:cNvSpPr>
              <p:nvPr/>
            </p:nvSpPr>
            <p:spPr bwMode="auto">
              <a:xfrm>
                <a:off x="6127750" y="3905250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" name="Line 449"/>
              <p:cNvSpPr>
                <a:spLocks noChangeShapeType="1"/>
              </p:cNvSpPr>
              <p:nvPr/>
            </p:nvSpPr>
            <p:spPr bwMode="auto">
              <a:xfrm>
                <a:off x="6142038" y="393223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" name="Line 450"/>
              <p:cNvSpPr>
                <a:spLocks noChangeShapeType="1"/>
              </p:cNvSpPr>
              <p:nvPr/>
            </p:nvSpPr>
            <p:spPr bwMode="auto">
              <a:xfrm>
                <a:off x="6156326" y="3956051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" name="Freeform 451"/>
              <p:cNvSpPr>
                <a:spLocks/>
              </p:cNvSpPr>
              <p:nvPr/>
            </p:nvSpPr>
            <p:spPr bwMode="auto">
              <a:xfrm>
                <a:off x="6172201" y="3979863"/>
                <a:ext cx="22225" cy="26988"/>
              </a:xfrm>
              <a:custGeom>
                <a:avLst/>
                <a:gdLst>
                  <a:gd name="T0" fmla="*/ 0 w 14"/>
                  <a:gd name="T1" fmla="*/ 0 h 17"/>
                  <a:gd name="T2" fmla="*/ 4 w 14"/>
                  <a:gd name="T3" fmla="*/ 6 h 17"/>
                  <a:gd name="T4" fmla="*/ 14 w 14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7">
                    <a:moveTo>
                      <a:pt x="0" y="0"/>
                    </a:moveTo>
                    <a:lnTo>
                      <a:pt x="4" y="6"/>
                    </a:lnTo>
                    <a:lnTo>
                      <a:pt x="14" y="17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" name="Line 452"/>
              <p:cNvSpPr>
                <a:spLocks noChangeShapeType="1"/>
              </p:cNvSpPr>
              <p:nvPr/>
            </p:nvSpPr>
            <p:spPr bwMode="auto">
              <a:xfrm>
                <a:off x="6194425" y="40068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" name="Line 453"/>
              <p:cNvSpPr>
                <a:spLocks noChangeShapeType="1"/>
              </p:cNvSpPr>
              <p:nvPr/>
            </p:nvSpPr>
            <p:spPr bwMode="auto">
              <a:xfrm>
                <a:off x="6208713" y="40322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3" name="Line 454"/>
              <p:cNvSpPr>
                <a:spLocks noChangeShapeType="1"/>
              </p:cNvSpPr>
              <p:nvPr/>
            </p:nvSpPr>
            <p:spPr bwMode="auto">
              <a:xfrm>
                <a:off x="6223000" y="40576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4" name="Freeform 455"/>
              <p:cNvSpPr>
                <a:spLocks/>
              </p:cNvSpPr>
              <p:nvPr/>
            </p:nvSpPr>
            <p:spPr bwMode="auto">
              <a:xfrm>
                <a:off x="6237289" y="4083050"/>
                <a:ext cx="15875" cy="33338"/>
              </a:xfrm>
              <a:custGeom>
                <a:avLst/>
                <a:gdLst>
                  <a:gd name="T0" fmla="*/ 0 w 10"/>
                  <a:gd name="T1" fmla="*/ 0 h 21"/>
                  <a:gd name="T2" fmla="*/ 5 w 10"/>
                  <a:gd name="T3" fmla="*/ 10 h 21"/>
                  <a:gd name="T4" fmla="*/ 10 w 10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0"/>
                    </a:moveTo>
                    <a:lnTo>
                      <a:pt x="5" y="10"/>
                    </a:lnTo>
                    <a:lnTo>
                      <a:pt x="10" y="21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" name="Line 456"/>
              <p:cNvSpPr>
                <a:spLocks noChangeShapeType="1"/>
              </p:cNvSpPr>
              <p:nvPr/>
            </p:nvSpPr>
            <p:spPr bwMode="auto">
              <a:xfrm>
                <a:off x="6253163" y="4116388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" name="Line 457"/>
              <p:cNvSpPr>
                <a:spLocks noChangeShapeType="1"/>
              </p:cNvSpPr>
              <p:nvPr/>
            </p:nvSpPr>
            <p:spPr bwMode="auto">
              <a:xfrm>
                <a:off x="6267450" y="4141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" name="Line 458"/>
              <p:cNvSpPr>
                <a:spLocks noChangeShapeType="1"/>
              </p:cNvSpPr>
              <p:nvPr/>
            </p:nvSpPr>
            <p:spPr bwMode="auto">
              <a:xfrm>
                <a:off x="6281738" y="41767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" name="Line 459"/>
              <p:cNvSpPr>
                <a:spLocks noChangeShapeType="1"/>
              </p:cNvSpPr>
              <p:nvPr/>
            </p:nvSpPr>
            <p:spPr bwMode="auto">
              <a:xfrm>
                <a:off x="6296026" y="4210050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" name="Line 460"/>
              <p:cNvSpPr>
                <a:spLocks noChangeShapeType="1"/>
              </p:cNvSpPr>
              <p:nvPr/>
            </p:nvSpPr>
            <p:spPr bwMode="auto">
              <a:xfrm>
                <a:off x="6311900" y="4235450"/>
                <a:ext cx="12700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" name="Line 461"/>
              <p:cNvSpPr>
                <a:spLocks noChangeShapeType="1"/>
              </p:cNvSpPr>
              <p:nvPr/>
            </p:nvSpPr>
            <p:spPr bwMode="auto">
              <a:xfrm>
                <a:off x="6324600" y="4268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" name="Line 462"/>
              <p:cNvSpPr>
                <a:spLocks noChangeShapeType="1"/>
              </p:cNvSpPr>
              <p:nvPr/>
            </p:nvSpPr>
            <p:spPr bwMode="auto">
              <a:xfrm>
                <a:off x="6338889" y="4303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" name="Line 463"/>
              <p:cNvSpPr>
                <a:spLocks noChangeShapeType="1"/>
              </p:cNvSpPr>
              <p:nvPr/>
            </p:nvSpPr>
            <p:spPr bwMode="auto">
              <a:xfrm>
                <a:off x="6354763" y="4337051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" name="Line 464"/>
              <p:cNvSpPr>
                <a:spLocks noChangeShapeType="1"/>
              </p:cNvSpPr>
              <p:nvPr/>
            </p:nvSpPr>
            <p:spPr bwMode="auto">
              <a:xfrm>
                <a:off x="6369050" y="437197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" name="Line 465"/>
              <p:cNvSpPr>
                <a:spLocks noChangeShapeType="1"/>
              </p:cNvSpPr>
              <p:nvPr/>
            </p:nvSpPr>
            <p:spPr bwMode="auto">
              <a:xfrm>
                <a:off x="6383338" y="4405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" name="Line 466"/>
              <p:cNvSpPr>
                <a:spLocks noChangeShapeType="1"/>
              </p:cNvSpPr>
              <p:nvPr/>
            </p:nvSpPr>
            <p:spPr bwMode="auto">
              <a:xfrm>
                <a:off x="6397626" y="4438651"/>
                <a:ext cx="15875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" name="Line 467"/>
              <p:cNvSpPr>
                <a:spLocks noChangeShapeType="1"/>
              </p:cNvSpPr>
              <p:nvPr/>
            </p:nvSpPr>
            <p:spPr bwMode="auto">
              <a:xfrm>
                <a:off x="6413500" y="448151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" name="Line 468"/>
              <p:cNvSpPr>
                <a:spLocks noChangeShapeType="1"/>
              </p:cNvSpPr>
              <p:nvPr/>
            </p:nvSpPr>
            <p:spPr bwMode="auto">
              <a:xfrm>
                <a:off x="6427788" y="4516438"/>
                <a:ext cx="14288" cy="317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" name="Line 469"/>
              <p:cNvSpPr>
                <a:spLocks noChangeShapeType="1"/>
              </p:cNvSpPr>
              <p:nvPr/>
            </p:nvSpPr>
            <p:spPr bwMode="auto">
              <a:xfrm>
                <a:off x="6442075" y="45481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" name="Line 470"/>
              <p:cNvSpPr>
                <a:spLocks noChangeShapeType="1"/>
              </p:cNvSpPr>
              <p:nvPr/>
            </p:nvSpPr>
            <p:spPr bwMode="auto">
              <a:xfrm>
                <a:off x="6456364" y="4581525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" name="Line 471"/>
              <p:cNvSpPr>
                <a:spLocks noChangeShapeType="1"/>
              </p:cNvSpPr>
              <p:nvPr/>
            </p:nvSpPr>
            <p:spPr bwMode="auto">
              <a:xfrm>
                <a:off x="6472238" y="4614864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" name="Line 472"/>
              <p:cNvSpPr>
                <a:spLocks noChangeShapeType="1"/>
              </p:cNvSpPr>
              <p:nvPr/>
            </p:nvSpPr>
            <p:spPr bwMode="auto">
              <a:xfrm>
                <a:off x="6486522" y="465693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" name="Line 473"/>
              <p:cNvSpPr>
                <a:spLocks noChangeShapeType="1"/>
              </p:cNvSpPr>
              <p:nvPr/>
            </p:nvSpPr>
            <p:spPr bwMode="auto">
              <a:xfrm>
                <a:off x="6500814" y="4691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" name="Line 477"/>
              <p:cNvSpPr>
                <a:spLocks noChangeShapeType="1"/>
              </p:cNvSpPr>
              <p:nvPr/>
            </p:nvSpPr>
            <p:spPr bwMode="auto">
              <a:xfrm>
                <a:off x="6559551" y="4835525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" name="Line 478"/>
              <p:cNvSpPr>
                <a:spLocks noChangeShapeType="1"/>
              </p:cNvSpPr>
              <p:nvPr/>
            </p:nvSpPr>
            <p:spPr bwMode="auto">
              <a:xfrm>
                <a:off x="6575425" y="48688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" name="Line 479"/>
              <p:cNvSpPr>
                <a:spLocks noChangeShapeType="1"/>
              </p:cNvSpPr>
              <p:nvPr/>
            </p:nvSpPr>
            <p:spPr bwMode="auto">
              <a:xfrm>
                <a:off x="6589713" y="4903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" name="Line 480"/>
              <p:cNvSpPr>
                <a:spLocks noChangeShapeType="1"/>
              </p:cNvSpPr>
              <p:nvPr/>
            </p:nvSpPr>
            <p:spPr bwMode="auto">
              <a:xfrm>
                <a:off x="6604000" y="49387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" name="Line 481"/>
              <p:cNvSpPr>
                <a:spLocks noChangeShapeType="1"/>
              </p:cNvSpPr>
              <p:nvPr/>
            </p:nvSpPr>
            <p:spPr bwMode="auto">
              <a:xfrm>
                <a:off x="6618289" y="4972050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" name="Line 482"/>
              <p:cNvSpPr>
                <a:spLocks noChangeShapeType="1"/>
              </p:cNvSpPr>
              <p:nvPr/>
            </p:nvSpPr>
            <p:spPr bwMode="auto">
              <a:xfrm>
                <a:off x="6634163" y="50053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" name="Line 483"/>
              <p:cNvSpPr>
                <a:spLocks noChangeShapeType="1"/>
              </p:cNvSpPr>
              <p:nvPr/>
            </p:nvSpPr>
            <p:spPr bwMode="auto">
              <a:xfrm>
                <a:off x="6648450" y="5040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" name="Line 484"/>
              <p:cNvSpPr>
                <a:spLocks noChangeShapeType="1"/>
              </p:cNvSpPr>
              <p:nvPr/>
            </p:nvSpPr>
            <p:spPr bwMode="auto">
              <a:xfrm>
                <a:off x="6662739" y="5073650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" name="Line 485"/>
              <p:cNvSpPr>
                <a:spLocks noChangeShapeType="1"/>
              </p:cNvSpPr>
              <p:nvPr/>
            </p:nvSpPr>
            <p:spPr bwMode="auto">
              <a:xfrm>
                <a:off x="6678613" y="5106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" name="Line 486"/>
              <p:cNvSpPr>
                <a:spLocks noChangeShapeType="1"/>
              </p:cNvSpPr>
              <p:nvPr/>
            </p:nvSpPr>
            <p:spPr bwMode="auto">
              <a:xfrm>
                <a:off x="6692900" y="5140325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" name="Line 487"/>
              <p:cNvSpPr>
                <a:spLocks noChangeShapeType="1"/>
              </p:cNvSpPr>
              <p:nvPr/>
            </p:nvSpPr>
            <p:spPr bwMode="auto">
              <a:xfrm>
                <a:off x="6707188" y="516572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" name="Line 488"/>
              <p:cNvSpPr>
                <a:spLocks noChangeShapeType="1"/>
              </p:cNvSpPr>
              <p:nvPr/>
            </p:nvSpPr>
            <p:spPr bwMode="auto">
              <a:xfrm>
                <a:off x="6721476" y="5199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" name="Line 489"/>
              <p:cNvSpPr>
                <a:spLocks noChangeShapeType="1"/>
              </p:cNvSpPr>
              <p:nvPr/>
            </p:nvSpPr>
            <p:spPr bwMode="auto">
              <a:xfrm>
                <a:off x="6737350" y="523398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" name="Freeform 490"/>
              <p:cNvSpPr>
                <a:spLocks/>
              </p:cNvSpPr>
              <p:nvPr/>
            </p:nvSpPr>
            <p:spPr bwMode="auto">
              <a:xfrm>
                <a:off x="6751638" y="5257801"/>
                <a:ext cx="14288" cy="34925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lnTo>
                      <a:pt x="5" y="11"/>
                    </a:lnTo>
                    <a:lnTo>
                      <a:pt x="9" y="22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" name="Freeform 491"/>
              <p:cNvSpPr>
                <a:spLocks/>
              </p:cNvSpPr>
              <p:nvPr/>
            </p:nvSpPr>
            <p:spPr bwMode="auto">
              <a:xfrm>
                <a:off x="6765926" y="5292725"/>
                <a:ext cx="22225" cy="25400"/>
              </a:xfrm>
              <a:custGeom>
                <a:avLst/>
                <a:gdLst>
                  <a:gd name="T0" fmla="*/ 0 w 14"/>
                  <a:gd name="T1" fmla="*/ 0 h 16"/>
                  <a:gd name="T2" fmla="*/ 5 w 14"/>
                  <a:gd name="T3" fmla="*/ 5 h 16"/>
                  <a:gd name="T4" fmla="*/ 14 w 14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5" y="5"/>
                    </a:lnTo>
                    <a:lnTo>
                      <a:pt x="14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" name="Freeform 492"/>
              <p:cNvSpPr>
                <a:spLocks/>
              </p:cNvSpPr>
              <p:nvPr/>
            </p:nvSpPr>
            <p:spPr bwMode="auto">
              <a:xfrm>
                <a:off x="6788150" y="5318125"/>
                <a:ext cx="14288" cy="33338"/>
              </a:xfrm>
              <a:custGeom>
                <a:avLst/>
                <a:gdLst>
                  <a:gd name="T0" fmla="*/ 0 w 9"/>
                  <a:gd name="T1" fmla="*/ 0 h 21"/>
                  <a:gd name="T2" fmla="*/ 5 w 9"/>
                  <a:gd name="T3" fmla="*/ 10 h 21"/>
                  <a:gd name="T4" fmla="*/ 9 w 9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lnTo>
                      <a:pt x="5" y="10"/>
                    </a:lnTo>
                    <a:lnTo>
                      <a:pt x="9" y="21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" name="Line 493"/>
              <p:cNvSpPr>
                <a:spLocks noChangeShapeType="1"/>
              </p:cNvSpPr>
              <p:nvPr/>
            </p:nvSpPr>
            <p:spPr bwMode="auto">
              <a:xfrm>
                <a:off x="6802439" y="5351463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" name="Line 494"/>
              <p:cNvSpPr>
                <a:spLocks noChangeShapeType="1"/>
              </p:cNvSpPr>
              <p:nvPr/>
            </p:nvSpPr>
            <p:spPr bwMode="auto">
              <a:xfrm>
                <a:off x="6818313" y="5376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" name="Line 495"/>
              <p:cNvSpPr>
                <a:spLocks noChangeShapeType="1"/>
              </p:cNvSpPr>
              <p:nvPr/>
            </p:nvSpPr>
            <p:spPr bwMode="auto">
              <a:xfrm>
                <a:off x="6832600" y="54022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2" name="Line 496"/>
              <p:cNvSpPr>
                <a:spLocks noChangeShapeType="1"/>
              </p:cNvSpPr>
              <p:nvPr/>
            </p:nvSpPr>
            <p:spPr bwMode="auto">
              <a:xfrm>
                <a:off x="6846888" y="54292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3" name="Line 497"/>
              <p:cNvSpPr>
                <a:spLocks noChangeShapeType="1"/>
              </p:cNvSpPr>
              <p:nvPr/>
            </p:nvSpPr>
            <p:spPr bwMode="auto">
              <a:xfrm>
                <a:off x="6861176" y="54530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4" name="Line 498"/>
              <p:cNvSpPr>
                <a:spLocks noChangeShapeType="1"/>
              </p:cNvSpPr>
              <p:nvPr/>
            </p:nvSpPr>
            <p:spPr bwMode="auto">
              <a:xfrm>
                <a:off x="6877050" y="54800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5" name="Line 499"/>
              <p:cNvSpPr>
                <a:spLocks noChangeShapeType="1"/>
              </p:cNvSpPr>
              <p:nvPr/>
            </p:nvSpPr>
            <p:spPr bwMode="auto">
              <a:xfrm>
                <a:off x="6891338" y="5503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6" name="Line 500"/>
              <p:cNvSpPr>
                <a:spLocks noChangeShapeType="1"/>
              </p:cNvSpPr>
              <p:nvPr/>
            </p:nvSpPr>
            <p:spPr bwMode="auto">
              <a:xfrm>
                <a:off x="6905626" y="55292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7" name="Line 501"/>
              <p:cNvSpPr>
                <a:spLocks noChangeShapeType="1"/>
              </p:cNvSpPr>
              <p:nvPr/>
            </p:nvSpPr>
            <p:spPr bwMode="auto">
              <a:xfrm>
                <a:off x="6921500" y="55562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8" name="Line 502"/>
              <p:cNvSpPr>
                <a:spLocks noChangeShapeType="1"/>
              </p:cNvSpPr>
              <p:nvPr/>
            </p:nvSpPr>
            <p:spPr bwMode="auto">
              <a:xfrm>
                <a:off x="6935788" y="558006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9" name="Freeform 503"/>
              <p:cNvSpPr>
                <a:spLocks/>
              </p:cNvSpPr>
              <p:nvPr/>
            </p:nvSpPr>
            <p:spPr bwMode="auto">
              <a:xfrm>
                <a:off x="6950075" y="5597525"/>
                <a:ext cx="14288" cy="25400"/>
              </a:xfrm>
              <a:custGeom>
                <a:avLst/>
                <a:gdLst>
                  <a:gd name="T0" fmla="*/ 0 w 9"/>
                  <a:gd name="T1" fmla="*/ 0 h 16"/>
                  <a:gd name="T2" fmla="*/ 5 w 9"/>
                  <a:gd name="T3" fmla="*/ 6 h 16"/>
                  <a:gd name="T4" fmla="*/ 9 w 9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0" y="0"/>
                    </a:moveTo>
                    <a:lnTo>
                      <a:pt x="5" y="6"/>
                    </a:lnTo>
                    <a:lnTo>
                      <a:pt x="9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0" name="Line 504"/>
              <p:cNvSpPr>
                <a:spLocks noChangeShapeType="1"/>
              </p:cNvSpPr>
              <p:nvPr/>
            </p:nvSpPr>
            <p:spPr bwMode="auto">
              <a:xfrm>
                <a:off x="6964364" y="5622926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1" name="Freeform 505"/>
              <p:cNvSpPr>
                <a:spLocks/>
              </p:cNvSpPr>
              <p:nvPr/>
            </p:nvSpPr>
            <p:spPr bwMode="auto">
              <a:xfrm>
                <a:off x="6980238" y="5640389"/>
                <a:ext cx="14288" cy="23813"/>
              </a:xfrm>
              <a:custGeom>
                <a:avLst/>
                <a:gdLst>
                  <a:gd name="T0" fmla="*/ 0 w 9"/>
                  <a:gd name="T1" fmla="*/ 0 h 15"/>
                  <a:gd name="T2" fmla="*/ 4 w 9"/>
                  <a:gd name="T3" fmla="*/ 4 h 15"/>
                  <a:gd name="T4" fmla="*/ 9 w 9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0"/>
                    </a:moveTo>
                    <a:lnTo>
                      <a:pt x="4" y="4"/>
                    </a:lnTo>
                    <a:lnTo>
                      <a:pt x="9" y="1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2" name="Line 506"/>
              <p:cNvSpPr>
                <a:spLocks noChangeShapeType="1"/>
              </p:cNvSpPr>
              <p:nvPr/>
            </p:nvSpPr>
            <p:spPr bwMode="auto">
              <a:xfrm>
                <a:off x="6994525" y="56642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3" name="Line 507"/>
              <p:cNvSpPr>
                <a:spLocks noChangeShapeType="1"/>
              </p:cNvSpPr>
              <p:nvPr/>
            </p:nvSpPr>
            <p:spPr bwMode="auto">
              <a:xfrm>
                <a:off x="7008813" y="56816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4" name="Line 508"/>
              <p:cNvSpPr>
                <a:spLocks noChangeShapeType="1"/>
              </p:cNvSpPr>
              <p:nvPr/>
            </p:nvSpPr>
            <p:spPr bwMode="auto">
              <a:xfrm>
                <a:off x="7023101" y="56975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5" name="Line 509"/>
              <p:cNvSpPr>
                <a:spLocks noChangeShapeType="1"/>
              </p:cNvSpPr>
              <p:nvPr/>
            </p:nvSpPr>
            <p:spPr bwMode="auto">
              <a:xfrm>
                <a:off x="7038975" y="57150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6" name="Line 510"/>
              <p:cNvSpPr>
                <a:spLocks noChangeShapeType="1"/>
              </p:cNvSpPr>
              <p:nvPr/>
            </p:nvSpPr>
            <p:spPr bwMode="auto">
              <a:xfrm>
                <a:off x="7053263" y="57324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7" name="Line 511"/>
              <p:cNvSpPr>
                <a:spLocks noChangeShapeType="1"/>
              </p:cNvSpPr>
              <p:nvPr/>
            </p:nvSpPr>
            <p:spPr bwMode="auto">
              <a:xfrm>
                <a:off x="7067551" y="57483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8" name="Line 512"/>
              <p:cNvSpPr>
                <a:spLocks noChangeShapeType="1"/>
              </p:cNvSpPr>
              <p:nvPr/>
            </p:nvSpPr>
            <p:spPr bwMode="auto">
              <a:xfrm>
                <a:off x="7083425" y="57658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9" name="Line 513"/>
              <p:cNvSpPr>
                <a:spLocks noChangeShapeType="1"/>
              </p:cNvSpPr>
              <p:nvPr/>
            </p:nvSpPr>
            <p:spPr bwMode="auto">
              <a:xfrm>
                <a:off x="7097713" y="57832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0" name="Line 514"/>
              <p:cNvSpPr>
                <a:spLocks noChangeShapeType="1"/>
              </p:cNvSpPr>
              <p:nvPr/>
            </p:nvSpPr>
            <p:spPr bwMode="auto">
              <a:xfrm>
                <a:off x="7112000" y="57991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1" name="Line 515"/>
              <p:cNvSpPr>
                <a:spLocks noChangeShapeType="1"/>
              </p:cNvSpPr>
              <p:nvPr/>
            </p:nvSpPr>
            <p:spPr bwMode="auto">
              <a:xfrm>
                <a:off x="7126289" y="5816601"/>
                <a:ext cx="15875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2" name="Line 516"/>
              <p:cNvSpPr>
                <a:spLocks noChangeShapeType="1"/>
              </p:cNvSpPr>
              <p:nvPr/>
            </p:nvSpPr>
            <p:spPr bwMode="auto">
              <a:xfrm>
                <a:off x="7142163" y="582612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3" name="Line 517"/>
              <p:cNvSpPr>
                <a:spLocks noChangeShapeType="1"/>
              </p:cNvSpPr>
              <p:nvPr/>
            </p:nvSpPr>
            <p:spPr bwMode="auto">
              <a:xfrm>
                <a:off x="7156450" y="5842001"/>
                <a:ext cx="12700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4" name="Line 518"/>
              <p:cNvSpPr>
                <a:spLocks noChangeShapeType="1"/>
              </p:cNvSpPr>
              <p:nvPr/>
            </p:nvSpPr>
            <p:spPr bwMode="auto">
              <a:xfrm>
                <a:off x="7169151" y="5851526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5" name="Line 519"/>
              <p:cNvSpPr>
                <a:spLocks noChangeShapeType="1"/>
              </p:cNvSpPr>
              <p:nvPr/>
            </p:nvSpPr>
            <p:spPr bwMode="auto">
              <a:xfrm>
                <a:off x="7185025" y="58689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6" name="Line 520"/>
              <p:cNvSpPr>
                <a:spLocks noChangeShapeType="1"/>
              </p:cNvSpPr>
              <p:nvPr/>
            </p:nvSpPr>
            <p:spPr bwMode="auto">
              <a:xfrm>
                <a:off x="7199313" y="58753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7" name="Line 521"/>
              <p:cNvSpPr>
                <a:spLocks noChangeShapeType="1"/>
              </p:cNvSpPr>
              <p:nvPr/>
            </p:nvSpPr>
            <p:spPr bwMode="auto">
              <a:xfrm>
                <a:off x="7213600" y="58928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8" name="Line 522"/>
              <p:cNvSpPr>
                <a:spLocks noChangeShapeType="1"/>
              </p:cNvSpPr>
              <p:nvPr/>
            </p:nvSpPr>
            <p:spPr bwMode="auto">
              <a:xfrm>
                <a:off x="7227889" y="590232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9" name="Line 523"/>
              <p:cNvSpPr>
                <a:spLocks noChangeShapeType="1"/>
              </p:cNvSpPr>
              <p:nvPr/>
            </p:nvSpPr>
            <p:spPr bwMode="auto">
              <a:xfrm>
                <a:off x="7243763" y="59102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0" name="Line 524"/>
              <p:cNvSpPr>
                <a:spLocks noChangeShapeType="1"/>
              </p:cNvSpPr>
              <p:nvPr/>
            </p:nvSpPr>
            <p:spPr bwMode="auto">
              <a:xfrm>
                <a:off x="7258050" y="59197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1" name="Line 525"/>
              <p:cNvSpPr>
                <a:spLocks noChangeShapeType="1"/>
              </p:cNvSpPr>
              <p:nvPr/>
            </p:nvSpPr>
            <p:spPr bwMode="auto">
              <a:xfrm>
                <a:off x="7272338" y="5926139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2" name="Line 526"/>
              <p:cNvSpPr>
                <a:spLocks noChangeShapeType="1"/>
              </p:cNvSpPr>
              <p:nvPr/>
            </p:nvSpPr>
            <p:spPr bwMode="auto">
              <a:xfrm>
                <a:off x="7286626" y="59356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3" name="Line 527"/>
              <p:cNvSpPr>
                <a:spLocks noChangeShapeType="1"/>
              </p:cNvSpPr>
              <p:nvPr/>
            </p:nvSpPr>
            <p:spPr bwMode="auto">
              <a:xfrm>
                <a:off x="7302500" y="59436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4" name="Line 528"/>
              <p:cNvSpPr>
                <a:spLocks noChangeShapeType="1"/>
              </p:cNvSpPr>
              <p:nvPr/>
            </p:nvSpPr>
            <p:spPr bwMode="auto">
              <a:xfrm>
                <a:off x="7316788" y="59531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5" name="Line 529"/>
              <p:cNvSpPr>
                <a:spLocks noChangeShapeType="1"/>
              </p:cNvSpPr>
              <p:nvPr/>
            </p:nvSpPr>
            <p:spPr bwMode="auto">
              <a:xfrm>
                <a:off x="7331076" y="59610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6" name="Line 530"/>
              <p:cNvSpPr>
                <a:spLocks noChangeShapeType="1"/>
              </p:cNvSpPr>
              <p:nvPr/>
            </p:nvSpPr>
            <p:spPr bwMode="auto">
              <a:xfrm>
                <a:off x="7346950" y="59690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7" name="Line 531"/>
              <p:cNvSpPr>
                <a:spLocks noChangeShapeType="1"/>
              </p:cNvSpPr>
              <p:nvPr/>
            </p:nvSpPr>
            <p:spPr bwMode="auto">
              <a:xfrm>
                <a:off x="7361238" y="59785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8" name="Freeform 532"/>
              <p:cNvSpPr>
                <a:spLocks/>
              </p:cNvSpPr>
              <p:nvPr/>
            </p:nvSpPr>
            <p:spPr bwMode="auto">
              <a:xfrm>
                <a:off x="7375526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9" name="Line 533"/>
              <p:cNvSpPr>
                <a:spLocks noChangeShapeType="1"/>
              </p:cNvSpPr>
              <p:nvPr/>
            </p:nvSpPr>
            <p:spPr bwMode="auto">
              <a:xfrm>
                <a:off x="7397750" y="59864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0" name="Line 534"/>
              <p:cNvSpPr>
                <a:spLocks noChangeShapeType="1"/>
              </p:cNvSpPr>
              <p:nvPr/>
            </p:nvSpPr>
            <p:spPr bwMode="auto">
              <a:xfrm>
                <a:off x="7412039" y="5995988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1" name="Line 535"/>
              <p:cNvSpPr>
                <a:spLocks noChangeShapeType="1"/>
              </p:cNvSpPr>
              <p:nvPr/>
            </p:nvSpPr>
            <p:spPr bwMode="auto">
              <a:xfrm>
                <a:off x="7427913" y="60039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2" name="Line 536"/>
              <p:cNvSpPr>
                <a:spLocks noChangeShapeType="1"/>
              </p:cNvSpPr>
              <p:nvPr/>
            </p:nvSpPr>
            <p:spPr bwMode="auto">
              <a:xfrm>
                <a:off x="7442200" y="60039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3" name="Line 537"/>
              <p:cNvSpPr>
                <a:spLocks noChangeShapeType="1"/>
              </p:cNvSpPr>
              <p:nvPr/>
            </p:nvSpPr>
            <p:spPr bwMode="auto">
              <a:xfrm>
                <a:off x="7456488" y="60118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4" name="Line 538"/>
              <p:cNvSpPr>
                <a:spLocks noChangeShapeType="1"/>
              </p:cNvSpPr>
              <p:nvPr/>
            </p:nvSpPr>
            <p:spPr bwMode="auto">
              <a:xfrm>
                <a:off x="7470776" y="60198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5" name="Freeform 539"/>
              <p:cNvSpPr>
                <a:spLocks/>
              </p:cNvSpPr>
              <p:nvPr/>
            </p:nvSpPr>
            <p:spPr bwMode="auto">
              <a:xfrm>
                <a:off x="7486650" y="60198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6" name="Line 540"/>
              <p:cNvSpPr>
                <a:spLocks noChangeShapeType="1"/>
              </p:cNvSpPr>
              <p:nvPr/>
            </p:nvSpPr>
            <p:spPr bwMode="auto">
              <a:xfrm>
                <a:off x="7500938" y="60293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7" name="Freeform 541"/>
              <p:cNvSpPr>
                <a:spLocks/>
              </p:cNvSpPr>
              <p:nvPr/>
            </p:nvSpPr>
            <p:spPr bwMode="auto">
              <a:xfrm>
                <a:off x="7515225" y="60293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5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5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8" name="Line 542"/>
              <p:cNvSpPr>
                <a:spLocks noChangeShapeType="1"/>
              </p:cNvSpPr>
              <p:nvPr/>
            </p:nvSpPr>
            <p:spPr bwMode="auto">
              <a:xfrm>
                <a:off x="7529514" y="60372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9" name="Line 543"/>
              <p:cNvSpPr>
                <a:spLocks noChangeShapeType="1"/>
              </p:cNvSpPr>
              <p:nvPr/>
            </p:nvSpPr>
            <p:spPr bwMode="auto">
              <a:xfrm>
                <a:off x="7545388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0" name="Freeform 544"/>
              <p:cNvSpPr>
                <a:spLocks/>
              </p:cNvSpPr>
              <p:nvPr/>
            </p:nvSpPr>
            <p:spPr bwMode="auto">
              <a:xfrm>
                <a:off x="7559675" y="6037264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1" name="Line 545"/>
              <p:cNvSpPr>
                <a:spLocks noChangeShapeType="1"/>
              </p:cNvSpPr>
              <p:nvPr/>
            </p:nvSpPr>
            <p:spPr bwMode="auto">
              <a:xfrm>
                <a:off x="7573964" y="6046788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2" name="Freeform 546"/>
              <p:cNvSpPr>
                <a:spLocks/>
              </p:cNvSpPr>
              <p:nvPr/>
            </p:nvSpPr>
            <p:spPr bwMode="auto">
              <a:xfrm>
                <a:off x="7589838" y="6046788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3" name="Line 547"/>
              <p:cNvSpPr>
                <a:spLocks noChangeShapeType="1"/>
              </p:cNvSpPr>
              <p:nvPr/>
            </p:nvSpPr>
            <p:spPr bwMode="auto">
              <a:xfrm>
                <a:off x="7604125" y="60547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4" name="Line 548"/>
              <p:cNvSpPr>
                <a:spLocks noChangeShapeType="1"/>
              </p:cNvSpPr>
              <p:nvPr/>
            </p:nvSpPr>
            <p:spPr bwMode="auto">
              <a:xfrm>
                <a:off x="7618413" y="60547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5" name="Line 549"/>
              <p:cNvSpPr>
                <a:spLocks noChangeShapeType="1"/>
              </p:cNvSpPr>
              <p:nvPr/>
            </p:nvSpPr>
            <p:spPr bwMode="auto">
              <a:xfrm>
                <a:off x="7632701" y="60547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6" name="Freeform 550"/>
              <p:cNvSpPr>
                <a:spLocks/>
              </p:cNvSpPr>
              <p:nvPr/>
            </p:nvSpPr>
            <p:spPr bwMode="auto">
              <a:xfrm>
                <a:off x="7648575" y="60547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7" name="Line 551"/>
              <p:cNvSpPr>
                <a:spLocks noChangeShapeType="1"/>
              </p:cNvSpPr>
              <p:nvPr/>
            </p:nvSpPr>
            <p:spPr bwMode="auto">
              <a:xfrm>
                <a:off x="7662863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8" name="Line 552"/>
              <p:cNvSpPr>
                <a:spLocks noChangeShapeType="1"/>
              </p:cNvSpPr>
              <p:nvPr/>
            </p:nvSpPr>
            <p:spPr bwMode="auto">
              <a:xfrm>
                <a:off x="7677150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9" name="Line 553"/>
              <p:cNvSpPr>
                <a:spLocks noChangeShapeType="1"/>
              </p:cNvSpPr>
              <p:nvPr/>
            </p:nvSpPr>
            <p:spPr bwMode="auto">
              <a:xfrm>
                <a:off x="7691439" y="60626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0" name="Freeform 554"/>
              <p:cNvSpPr>
                <a:spLocks/>
              </p:cNvSpPr>
              <p:nvPr/>
            </p:nvSpPr>
            <p:spPr bwMode="auto">
              <a:xfrm>
                <a:off x="7707313" y="6062663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1" name="Line 555"/>
              <p:cNvSpPr>
                <a:spLocks noChangeShapeType="1"/>
              </p:cNvSpPr>
              <p:nvPr/>
            </p:nvSpPr>
            <p:spPr bwMode="auto">
              <a:xfrm>
                <a:off x="7721600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2" name="Line 556"/>
              <p:cNvSpPr>
                <a:spLocks noChangeShapeType="1"/>
              </p:cNvSpPr>
              <p:nvPr/>
            </p:nvSpPr>
            <p:spPr bwMode="auto">
              <a:xfrm>
                <a:off x="7735889" y="60706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3" name="Line 557"/>
              <p:cNvSpPr>
                <a:spLocks noChangeShapeType="1"/>
              </p:cNvSpPr>
              <p:nvPr/>
            </p:nvSpPr>
            <p:spPr bwMode="auto">
              <a:xfrm>
                <a:off x="7751763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4" name="Line 558"/>
              <p:cNvSpPr>
                <a:spLocks noChangeShapeType="1"/>
              </p:cNvSpPr>
              <p:nvPr/>
            </p:nvSpPr>
            <p:spPr bwMode="auto">
              <a:xfrm>
                <a:off x="7766050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5" name="Line 559"/>
              <p:cNvSpPr>
                <a:spLocks noChangeShapeType="1"/>
              </p:cNvSpPr>
              <p:nvPr/>
            </p:nvSpPr>
            <p:spPr bwMode="auto">
              <a:xfrm>
                <a:off x="7780338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6" name="Line 560"/>
              <p:cNvSpPr>
                <a:spLocks noChangeShapeType="1"/>
              </p:cNvSpPr>
              <p:nvPr/>
            </p:nvSpPr>
            <p:spPr bwMode="auto">
              <a:xfrm>
                <a:off x="7794626" y="60706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7" name="Freeform 561"/>
              <p:cNvSpPr>
                <a:spLocks/>
              </p:cNvSpPr>
              <p:nvPr/>
            </p:nvSpPr>
            <p:spPr bwMode="auto">
              <a:xfrm>
                <a:off x="7810500" y="60706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8" name="Line 562"/>
              <p:cNvSpPr>
                <a:spLocks noChangeShapeType="1"/>
              </p:cNvSpPr>
              <p:nvPr/>
            </p:nvSpPr>
            <p:spPr bwMode="auto">
              <a:xfrm>
                <a:off x="782478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9" name="Line 563"/>
              <p:cNvSpPr>
                <a:spLocks noChangeShapeType="1"/>
              </p:cNvSpPr>
              <p:nvPr/>
            </p:nvSpPr>
            <p:spPr bwMode="auto">
              <a:xfrm>
                <a:off x="783907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0" name="Line 564"/>
              <p:cNvSpPr>
                <a:spLocks noChangeShapeType="1"/>
              </p:cNvSpPr>
              <p:nvPr/>
            </p:nvSpPr>
            <p:spPr bwMode="auto">
              <a:xfrm>
                <a:off x="7853364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1" name="Line 565"/>
              <p:cNvSpPr>
                <a:spLocks noChangeShapeType="1"/>
              </p:cNvSpPr>
              <p:nvPr/>
            </p:nvSpPr>
            <p:spPr bwMode="auto">
              <a:xfrm>
                <a:off x="786923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2" name="Line 566"/>
              <p:cNvSpPr>
                <a:spLocks noChangeShapeType="1"/>
              </p:cNvSpPr>
              <p:nvPr/>
            </p:nvSpPr>
            <p:spPr bwMode="auto">
              <a:xfrm>
                <a:off x="788352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3" name="Line 567"/>
              <p:cNvSpPr>
                <a:spLocks noChangeShapeType="1"/>
              </p:cNvSpPr>
              <p:nvPr/>
            </p:nvSpPr>
            <p:spPr bwMode="auto">
              <a:xfrm>
                <a:off x="7897814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4" name="Line 568"/>
              <p:cNvSpPr>
                <a:spLocks noChangeShapeType="1"/>
              </p:cNvSpPr>
              <p:nvPr/>
            </p:nvSpPr>
            <p:spPr bwMode="auto">
              <a:xfrm>
                <a:off x="791368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5" name="Line 569"/>
              <p:cNvSpPr>
                <a:spLocks noChangeShapeType="1"/>
              </p:cNvSpPr>
              <p:nvPr/>
            </p:nvSpPr>
            <p:spPr bwMode="auto">
              <a:xfrm>
                <a:off x="792797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6" name="Line 570"/>
              <p:cNvSpPr>
                <a:spLocks noChangeShapeType="1"/>
              </p:cNvSpPr>
              <p:nvPr/>
            </p:nvSpPr>
            <p:spPr bwMode="auto">
              <a:xfrm>
                <a:off x="7942263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7" name="Line 571"/>
              <p:cNvSpPr>
                <a:spLocks noChangeShapeType="1"/>
              </p:cNvSpPr>
              <p:nvPr/>
            </p:nvSpPr>
            <p:spPr bwMode="auto">
              <a:xfrm>
                <a:off x="7956551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8" name="Freeform 572"/>
              <p:cNvSpPr>
                <a:spLocks/>
              </p:cNvSpPr>
              <p:nvPr/>
            </p:nvSpPr>
            <p:spPr bwMode="auto">
              <a:xfrm>
                <a:off x="7972426" y="6080125"/>
                <a:ext cx="22225" cy="0"/>
              </a:xfrm>
              <a:custGeom>
                <a:avLst/>
                <a:gdLst>
                  <a:gd name="T0" fmla="*/ 0 w 14"/>
                  <a:gd name="T1" fmla="*/ 4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4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9" name="Line 294"/>
              <p:cNvSpPr>
                <a:spLocks noChangeShapeType="1"/>
              </p:cNvSpPr>
              <p:nvPr/>
            </p:nvSpPr>
            <p:spPr bwMode="auto">
              <a:xfrm>
                <a:off x="385603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0" name="Line 295"/>
              <p:cNvSpPr>
                <a:spLocks noChangeShapeType="1"/>
              </p:cNvSpPr>
              <p:nvPr/>
            </p:nvSpPr>
            <p:spPr bwMode="auto">
              <a:xfrm>
                <a:off x="3870326" y="60801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1" name="Line 296"/>
              <p:cNvSpPr>
                <a:spLocks noChangeShapeType="1"/>
              </p:cNvSpPr>
              <p:nvPr/>
            </p:nvSpPr>
            <p:spPr bwMode="auto">
              <a:xfrm>
                <a:off x="3886200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2" name="Line 297"/>
              <p:cNvSpPr>
                <a:spLocks noChangeShapeType="1"/>
              </p:cNvSpPr>
              <p:nvPr/>
            </p:nvSpPr>
            <p:spPr bwMode="auto">
              <a:xfrm>
                <a:off x="390048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3" name="Line 298"/>
              <p:cNvSpPr>
                <a:spLocks noChangeShapeType="1"/>
              </p:cNvSpPr>
              <p:nvPr/>
            </p:nvSpPr>
            <p:spPr bwMode="auto">
              <a:xfrm>
                <a:off x="3914775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4" name="Line 299"/>
              <p:cNvSpPr>
                <a:spLocks noChangeShapeType="1"/>
              </p:cNvSpPr>
              <p:nvPr/>
            </p:nvSpPr>
            <p:spPr bwMode="auto">
              <a:xfrm>
                <a:off x="3929064" y="60801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5" name="Line 300"/>
              <p:cNvSpPr>
                <a:spLocks noChangeShapeType="1"/>
              </p:cNvSpPr>
              <p:nvPr/>
            </p:nvSpPr>
            <p:spPr bwMode="auto">
              <a:xfrm>
                <a:off x="394493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6" name="Freeform 301"/>
              <p:cNvSpPr>
                <a:spLocks/>
              </p:cNvSpPr>
              <p:nvPr/>
            </p:nvSpPr>
            <p:spPr bwMode="auto">
              <a:xfrm>
                <a:off x="3959225" y="60706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7" name="Line 302"/>
              <p:cNvSpPr>
                <a:spLocks noChangeShapeType="1"/>
              </p:cNvSpPr>
              <p:nvPr/>
            </p:nvSpPr>
            <p:spPr bwMode="auto">
              <a:xfrm>
                <a:off x="3973514" y="60706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8" name="Line 303"/>
              <p:cNvSpPr>
                <a:spLocks noChangeShapeType="1"/>
              </p:cNvSpPr>
              <p:nvPr/>
            </p:nvSpPr>
            <p:spPr bwMode="auto">
              <a:xfrm>
                <a:off x="3989388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9" name="Line 304"/>
              <p:cNvSpPr>
                <a:spLocks noChangeShapeType="1"/>
              </p:cNvSpPr>
              <p:nvPr/>
            </p:nvSpPr>
            <p:spPr bwMode="auto">
              <a:xfrm>
                <a:off x="4003675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0" name="Line 305"/>
              <p:cNvSpPr>
                <a:spLocks noChangeShapeType="1"/>
              </p:cNvSpPr>
              <p:nvPr/>
            </p:nvSpPr>
            <p:spPr bwMode="auto">
              <a:xfrm>
                <a:off x="4017963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1" name="Line 306"/>
              <p:cNvSpPr>
                <a:spLocks noChangeShapeType="1"/>
              </p:cNvSpPr>
              <p:nvPr/>
            </p:nvSpPr>
            <p:spPr bwMode="auto">
              <a:xfrm>
                <a:off x="4032251" y="60706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2" name="Line 307"/>
              <p:cNvSpPr>
                <a:spLocks noChangeShapeType="1"/>
              </p:cNvSpPr>
              <p:nvPr/>
            </p:nvSpPr>
            <p:spPr bwMode="auto">
              <a:xfrm>
                <a:off x="4048125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3" name="Freeform 308"/>
              <p:cNvSpPr>
                <a:spLocks/>
              </p:cNvSpPr>
              <p:nvPr/>
            </p:nvSpPr>
            <p:spPr bwMode="auto">
              <a:xfrm>
                <a:off x="4062413" y="6062663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4" name="Line 309"/>
              <p:cNvSpPr>
                <a:spLocks noChangeShapeType="1"/>
              </p:cNvSpPr>
              <p:nvPr/>
            </p:nvSpPr>
            <p:spPr bwMode="auto">
              <a:xfrm>
                <a:off x="4076700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5" name="Line 310"/>
              <p:cNvSpPr>
                <a:spLocks noChangeShapeType="1"/>
              </p:cNvSpPr>
              <p:nvPr/>
            </p:nvSpPr>
            <p:spPr bwMode="auto">
              <a:xfrm>
                <a:off x="4090989" y="60626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6" name="Line 311"/>
              <p:cNvSpPr>
                <a:spLocks noChangeShapeType="1"/>
              </p:cNvSpPr>
              <p:nvPr/>
            </p:nvSpPr>
            <p:spPr bwMode="auto">
              <a:xfrm>
                <a:off x="4106863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7" name="Freeform 312"/>
              <p:cNvSpPr>
                <a:spLocks/>
              </p:cNvSpPr>
              <p:nvPr/>
            </p:nvSpPr>
            <p:spPr bwMode="auto">
              <a:xfrm>
                <a:off x="4121150" y="6054726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8" name="Line 313"/>
              <p:cNvSpPr>
                <a:spLocks noChangeShapeType="1"/>
              </p:cNvSpPr>
              <p:nvPr/>
            </p:nvSpPr>
            <p:spPr bwMode="auto">
              <a:xfrm>
                <a:off x="4135439" y="60547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9" name="Line 314"/>
              <p:cNvSpPr>
                <a:spLocks noChangeShapeType="1"/>
              </p:cNvSpPr>
              <p:nvPr/>
            </p:nvSpPr>
            <p:spPr bwMode="auto">
              <a:xfrm>
                <a:off x="4151313" y="60547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0" name="Line 315"/>
              <p:cNvSpPr>
                <a:spLocks noChangeShapeType="1"/>
              </p:cNvSpPr>
              <p:nvPr/>
            </p:nvSpPr>
            <p:spPr bwMode="auto">
              <a:xfrm>
                <a:off x="4165600" y="60547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1" name="Freeform 316"/>
              <p:cNvSpPr>
                <a:spLocks/>
              </p:cNvSpPr>
              <p:nvPr/>
            </p:nvSpPr>
            <p:spPr bwMode="auto">
              <a:xfrm>
                <a:off x="4179888" y="6046788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2" name="Line 317"/>
              <p:cNvSpPr>
                <a:spLocks noChangeShapeType="1"/>
              </p:cNvSpPr>
              <p:nvPr/>
            </p:nvSpPr>
            <p:spPr bwMode="auto">
              <a:xfrm>
                <a:off x="4194176" y="6046788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3" name="Freeform 318"/>
              <p:cNvSpPr>
                <a:spLocks/>
              </p:cNvSpPr>
              <p:nvPr/>
            </p:nvSpPr>
            <p:spPr bwMode="auto">
              <a:xfrm>
                <a:off x="4210050" y="6037264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4" name="Line 319"/>
              <p:cNvSpPr>
                <a:spLocks noChangeShapeType="1"/>
              </p:cNvSpPr>
              <p:nvPr/>
            </p:nvSpPr>
            <p:spPr bwMode="auto">
              <a:xfrm>
                <a:off x="4224338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5" name="Line 320"/>
              <p:cNvSpPr>
                <a:spLocks noChangeShapeType="1"/>
              </p:cNvSpPr>
              <p:nvPr/>
            </p:nvSpPr>
            <p:spPr bwMode="auto">
              <a:xfrm>
                <a:off x="4238625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6" name="Freeform 321"/>
              <p:cNvSpPr>
                <a:spLocks/>
              </p:cNvSpPr>
              <p:nvPr/>
            </p:nvSpPr>
            <p:spPr bwMode="auto">
              <a:xfrm>
                <a:off x="4252914" y="6029326"/>
                <a:ext cx="15875" cy="7938"/>
              </a:xfrm>
              <a:custGeom>
                <a:avLst/>
                <a:gdLst>
                  <a:gd name="T0" fmla="*/ 0 w 10"/>
                  <a:gd name="T1" fmla="*/ 5 h 5"/>
                  <a:gd name="T2" fmla="*/ 5 w 10"/>
                  <a:gd name="T3" fmla="*/ 0 h 5"/>
                  <a:gd name="T4" fmla="*/ 10 w 10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5"/>
                    </a:moveTo>
                    <a:lnTo>
                      <a:pt x="5" y="0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7" name="Line 322"/>
              <p:cNvSpPr>
                <a:spLocks noChangeShapeType="1"/>
              </p:cNvSpPr>
              <p:nvPr/>
            </p:nvSpPr>
            <p:spPr bwMode="auto">
              <a:xfrm>
                <a:off x="4268788" y="60293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8" name="Freeform 323"/>
              <p:cNvSpPr>
                <a:spLocks/>
              </p:cNvSpPr>
              <p:nvPr/>
            </p:nvSpPr>
            <p:spPr bwMode="auto">
              <a:xfrm>
                <a:off x="4283075" y="60198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9" name="Line 324"/>
              <p:cNvSpPr>
                <a:spLocks noChangeShapeType="1"/>
              </p:cNvSpPr>
              <p:nvPr/>
            </p:nvSpPr>
            <p:spPr bwMode="auto">
              <a:xfrm>
                <a:off x="4297364" y="60198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0" name="Line 325"/>
              <p:cNvSpPr>
                <a:spLocks noChangeShapeType="1"/>
              </p:cNvSpPr>
              <p:nvPr/>
            </p:nvSpPr>
            <p:spPr bwMode="auto">
              <a:xfrm flipV="1">
                <a:off x="4313238" y="60118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1" name="Line 326"/>
              <p:cNvSpPr>
                <a:spLocks noChangeShapeType="1"/>
              </p:cNvSpPr>
              <p:nvPr/>
            </p:nvSpPr>
            <p:spPr bwMode="auto">
              <a:xfrm flipV="1">
                <a:off x="4327525" y="60039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2" name="Line 327"/>
              <p:cNvSpPr>
                <a:spLocks noChangeShapeType="1"/>
              </p:cNvSpPr>
              <p:nvPr/>
            </p:nvSpPr>
            <p:spPr bwMode="auto">
              <a:xfrm>
                <a:off x="4341813" y="60039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3" name="Line 328"/>
              <p:cNvSpPr>
                <a:spLocks noChangeShapeType="1"/>
              </p:cNvSpPr>
              <p:nvPr/>
            </p:nvSpPr>
            <p:spPr bwMode="auto">
              <a:xfrm flipV="1">
                <a:off x="4356101" y="5995988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4" name="Line 329"/>
              <p:cNvSpPr>
                <a:spLocks noChangeShapeType="1"/>
              </p:cNvSpPr>
              <p:nvPr/>
            </p:nvSpPr>
            <p:spPr bwMode="auto">
              <a:xfrm flipV="1">
                <a:off x="4371975" y="59864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5" name="Freeform 330"/>
              <p:cNvSpPr>
                <a:spLocks/>
              </p:cNvSpPr>
              <p:nvPr/>
            </p:nvSpPr>
            <p:spPr bwMode="auto">
              <a:xfrm>
                <a:off x="4386264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6" name="Line 331"/>
              <p:cNvSpPr>
                <a:spLocks noChangeShapeType="1"/>
              </p:cNvSpPr>
              <p:nvPr/>
            </p:nvSpPr>
            <p:spPr bwMode="auto">
              <a:xfrm flipV="1">
                <a:off x="4408488" y="59785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7" name="Line 332"/>
              <p:cNvSpPr>
                <a:spLocks noChangeShapeType="1"/>
              </p:cNvSpPr>
              <p:nvPr/>
            </p:nvSpPr>
            <p:spPr bwMode="auto">
              <a:xfrm flipV="1">
                <a:off x="4422775" y="59690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8" name="Line 333"/>
              <p:cNvSpPr>
                <a:spLocks noChangeShapeType="1"/>
              </p:cNvSpPr>
              <p:nvPr/>
            </p:nvSpPr>
            <p:spPr bwMode="auto">
              <a:xfrm flipV="1">
                <a:off x="4437064" y="59610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9" name="Line 334"/>
              <p:cNvSpPr>
                <a:spLocks noChangeShapeType="1"/>
              </p:cNvSpPr>
              <p:nvPr/>
            </p:nvSpPr>
            <p:spPr bwMode="auto">
              <a:xfrm flipV="1">
                <a:off x="4452938" y="59531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0" name="Line 335"/>
              <p:cNvSpPr>
                <a:spLocks noChangeShapeType="1"/>
              </p:cNvSpPr>
              <p:nvPr/>
            </p:nvSpPr>
            <p:spPr bwMode="auto">
              <a:xfrm flipV="1">
                <a:off x="4467225" y="59436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1" name="Line 336"/>
              <p:cNvSpPr>
                <a:spLocks noChangeShapeType="1"/>
              </p:cNvSpPr>
              <p:nvPr/>
            </p:nvSpPr>
            <p:spPr bwMode="auto">
              <a:xfrm flipV="1">
                <a:off x="4481513" y="59356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2" name="Line 337"/>
              <p:cNvSpPr>
                <a:spLocks noChangeShapeType="1"/>
              </p:cNvSpPr>
              <p:nvPr/>
            </p:nvSpPr>
            <p:spPr bwMode="auto">
              <a:xfrm flipV="1">
                <a:off x="4495801" y="5926139"/>
                <a:ext cx="15875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3" name="Line 338"/>
              <p:cNvSpPr>
                <a:spLocks noChangeShapeType="1"/>
              </p:cNvSpPr>
              <p:nvPr/>
            </p:nvSpPr>
            <p:spPr bwMode="auto">
              <a:xfrm flipV="1">
                <a:off x="4511675" y="59197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4" name="Line 339"/>
              <p:cNvSpPr>
                <a:spLocks noChangeShapeType="1"/>
              </p:cNvSpPr>
              <p:nvPr/>
            </p:nvSpPr>
            <p:spPr bwMode="auto">
              <a:xfrm flipV="1">
                <a:off x="4525963" y="59102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5" name="Line 340"/>
              <p:cNvSpPr>
                <a:spLocks noChangeShapeType="1"/>
              </p:cNvSpPr>
              <p:nvPr/>
            </p:nvSpPr>
            <p:spPr bwMode="auto">
              <a:xfrm flipV="1">
                <a:off x="4540251" y="5902326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6" name="Line 341"/>
              <p:cNvSpPr>
                <a:spLocks noChangeShapeType="1"/>
              </p:cNvSpPr>
              <p:nvPr/>
            </p:nvSpPr>
            <p:spPr bwMode="auto">
              <a:xfrm flipV="1">
                <a:off x="4556125" y="58928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7" name="Line 342"/>
              <p:cNvSpPr>
                <a:spLocks noChangeShapeType="1"/>
              </p:cNvSpPr>
              <p:nvPr/>
            </p:nvSpPr>
            <p:spPr bwMode="auto">
              <a:xfrm flipV="1">
                <a:off x="4570413" y="58753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8" name="Line 343"/>
              <p:cNvSpPr>
                <a:spLocks noChangeShapeType="1"/>
              </p:cNvSpPr>
              <p:nvPr/>
            </p:nvSpPr>
            <p:spPr bwMode="auto">
              <a:xfrm flipV="1">
                <a:off x="4584700" y="58689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9" name="Line 344"/>
              <p:cNvSpPr>
                <a:spLocks noChangeShapeType="1"/>
              </p:cNvSpPr>
              <p:nvPr/>
            </p:nvSpPr>
            <p:spPr bwMode="auto">
              <a:xfrm flipV="1">
                <a:off x="4598989" y="5851527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0" name="Line 345"/>
              <p:cNvSpPr>
                <a:spLocks noChangeShapeType="1"/>
              </p:cNvSpPr>
              <p:nvPr/>
            </p:nvSpPr>
            <p:spPr bwMode="auto">
              <a:xfrm flipV="1">
                <a:off x="4614863" y="5842002"/>
                <a:ext cx="12700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1" name="Line 346"/>
              <p:cNvSpPr>
                <a:spLocks noChangeShapeType="1"/>
              </p:cNvSpPr>
              <p:nvPr/>
            </p:nvSpPr>
            <p:spPr bwMode="auto">
              <a:xfrm flipV="1">
                <a:off x="4627563" y="5826127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2" name="Line 347"/>
              <p:cNvSpPr>
                <a:spLocks noChangeShapeType="1"/>
              </p:cNvSpPr>
              <p:nvPr/>
            </p:nvSpPr>
            <p:spPr bwMode="auto">
              <a:xfrm flipV="1">
                <a:off x="4641850" y="58166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3" name="Line 348"/>
              <p:cNvSpPr>
                <a:spLocks noChangeShapeType="1"/>
              </p:cNvSpPr>
              <p:nvPr/>
            </p:nvSpPr>
            <p:spPr bwMode="auto">
              <a:xfrm flipV="1">
                <a:off x="4656139" y="57991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4" name="Line 349"/>
              <p:cNvSpPr>
                <a:spLocks noChangeShapeType="1"/>
              </p:cNvSpPr>
              <p:nvPr/>
            </p:nvSpPr>
            <p:spPr bwMode="auto">
              <a:xfrm flipV="1">
                <a:off x="4672013" y="57832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5" name="Line 350"/>
              <p:cNvSpPr>
                <a:spLocks noChangeShapeType="1"/>
              </p:cNvSpPr>
              <p:nvPr/>
            </p:nvSpPr>
            <p:spPr bwMode="auto">
              <a:xfrm flipV="1">
                <a:off x="4686300" y="57658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6" name="Line 351"/>
              <p:cNvSpPr>
                <a:spLocks noChangeShapeType="1"/>
              </p:cNvSpPr>
              <p:nvPr/>
            </p:nvSpPr>
            <p:spPr bwMode="auto">
              <a:xfrm flipV="1">
                <a:off x="4700589" y="57483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7" name="Line 352"/>
              <p:cNvSpPr>
                <a:spLocks noChangeShapeType="1"/>
              </p:cNvSpPr>
              <p:nvPr/>
            </p:nvSpPr>
            <p:spPr bwMode="auto">
              <a:xfrm flipV="1">
                <a:off x="4716463" y="57324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8" name="Line 353"/>
              <p:cNvSpPr>
                <a:spLocks noChangeShapeType="1"/>
              </p:cNvSpPr>
              <p:nvPr/>
            </p:nvSpPr>
            <p:spPr bwMode="auto">
              <a:xfrm flipV="1">
                <a:off x="4730750" y="57150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9" name="Line 354"/>
              <p:cNvSpPr>
                <a:spLocks noChangeShapeType="1"/>
              </p:cNvSpPr>
              <p:nvPr/>
            </p:nvSpPr>
            <p:spPr bwMode="auto">
              <a:xfrm flipV="1">
                <a:off x="4745038" y="56975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0" name="Line 355"/>
              <p:cNvSpPr>
                <a:spLocks noChangeShapeType="1"/>
              </p:cNvSpPr>
              <p:nvPr/>
            </p:nvSpPr>
            <p:spPr bwMode="auto">
              <a:xfrm flipV="1">
                <a:off x="4759326" y="5681664"/>
                <a:ext cx="15875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1" name="Line 356"/>
              <p:cNvSpPr>
                <a:spLocks noChangeShapeType="1"/>
              </p:cNvSpPr>
              <p:nvPr/>
            </p:nvSpPr>
            <p:spPr bwMode="auto">
              <a:xfrm flipV="1">
                <a:off x="4775200" y="56642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2" name="Freeform 357"/>
              <p:cNvSpPr>
                <a:spLocks/>
              </p:cNvSpPr>
              <p:nvPr/>
            </p:nvSpPr>
            <p:spPr bwMode="auto">
              <a:xfrm>
                <a:off x="4789488" y="5640389"/>
                <a:ext cx="14288" cy="23813"/>
              </a:xfrm>
              <a:custGeom>
                <a:avLst/>
                <a:gdLst>
                  <a:gd name="T0" fmla="*/ 0 w 9"/>
                  <a:gd name="T1" fmla="*/ 15 h 15"/>
                  <a:gd name="T2" fmla="*/ 5 w 9"/>
                  <a:gd name="T3" fmla="*/ 4 h 15"/>
                  <a:gd name="T4" fmla="*/ 9 w 9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15"/>
                    </a:moveTo>
                    <a:lnTo>
                      <a:pt x="5" y="4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3" name="Line 358"/>
              <p:cNvSpPr>
                <a:spLocks noChangeShapeType="1"/>
              </p:cNvSpPr>
              <p:nvPr/>
            </p:nvSpPr>
            <p:spPr bwMode="auto">
              <a:xfrm flipV="1">
                <a:off x="4803775" y="5622927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4" name="Freeform 359"/>
              <p:cNvSpPr>
                <a:spLocks/>
              </p:cNvSpPr>
              <p:nvPr/>
            </p:nvSpPr>
            <p:spPr bwMode="auto">
              <a:xfrm>
                <a:off x="4818064" y="5597526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6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6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5" name="Line 360"/>
              <p:cNvSpPr>
                <a:spLocks noChangeShapeType="1"/>
              </p:cNvSpPr>
              <p:nvPr/>
            </p:nvSpPr>
            <p:spPr bwMode="auto">
              <a:xfrm flipV="1">
                <a:off x="4833938" y="558006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6" name="Line 361"/>
              <p:cNvSpPr>
                <a:spLocks noChangeShapeType="1"/>
              </p:cNvSpPr>
              <p:nvPr/>
            </p:nvSpPr>
            <p:spPr bwMode="auto">
              <a:xfrm flipV="1">
                <a:off x="4848225" y="5556252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7" name="Line 362"/>
              <p:cNvSpPr>
                <a:spLocks noChangeShapeType="1"/>
              </p:cNvSpPr>
              <p:nvPr/>
            </p:nvSpPr>
            <p:spPr bwMode="auto">
              <a:xfrm flipV="1">
                <a:off x="4862514" y="55292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8" name="Line 363"/>
              <p:cNvSpPr>
                <a:spLocks noChangeShapeType="1"/>
              </p:cNvSpPr>
              <p:nvPr/>
            </p:nvSpPr>
            <p:spPr bwMode="auto">
              <a:xfrm flipV="1">
                <a:off x="4878388" y="5503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9" name="Line 364"/>
              <p:cNvSpPr>
                <a:spLocks noChangeShapeType="1"/>
              </p:cNvSpPr>
              <p:nvPr/>
            </p:nvSpPr>
            <p:spPr bwMode="auto">
              <a:xfrm flipV="1">
                <a:off x="4892675" y="5480052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0" name="Line 365"/>
              <p:cNvSpPr>
                <a:spLocks noChangeShapeType="1"/>
              </p:cNvSpPr>
              <p:nvPr/>
            </p:nvSpPr>
            <p:spPr bwMode="auto">
              <a:xfrm flipV="1">
                <a:off x="4906963" y="54530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1" name="Line 366"/>
              <p:cNvSpPr>
                <a:spLocks noChangeShapeType="1"/>
              </p:cNvSpPr>
              <p:nvPr/>
            </p:nvSpPr>
            <p:spPr bwMode="auto">
              <a:xfrm flipV="1">
                <a:off x="4921251" y="5429252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2" name="Line 367"/>
              <p:cNvSpPr>
                <a:spLocks noChangeShapeType="1"/>
              </p:cNvSpPr>
              <p:nvPr/>
            </p:nvSpPr>
            <p:spPr bwMode="auto">
              <a:xfrm flipV="1">
                <a:off x="4937125" y="54022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3" name="Line 368"/>
              <p:cNvSpPr>
                <a:spLocks noChangeShapeType="1"/>
              </p:cNvSpPr>
              <p:nvPr/>
            </p:nvSpPr>
            <p:spPr bwMode="auto">
              <a:xfrm flipV="1">
                <a:off x="4951413" y="5376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4" name="Line 369"/>
              <p:cNvSpPr>
                <a:spLocks noChangeShapeType="1"/>
              </p:cNvSpPr>
              <p:nvPr/>
            </p:nvSpPr>
            <p:spPr bwMode="auto">
              <a:xfrm flipV="1">
                <a:off x="4965700" y="53514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5" name="Freeform 370"/>
              <p:cNvSpPr>
                <a:spLocks/>
              </p:cNvSpPr>
              <p:nvPr/>
            </p:nvSpPr>
            <p:spPr bwMode="auto">
              <a:xfrm>
                <a:off x="4979989" y="5318126"/>
                <a:ext cx="22225" cy="33338"/>
              </a:xfrm>
              <a:custGeom>
                <a:avLst/>
                <a:gdLst>
                  <a:gd name="T0" fmla="*/ 0 w 14"/>
                  <a:gd name="T1" fmla="*/ 21 h 21"/>
                  <a:gd name="T2" fmla="*/ 5 w 14"/>
                  <a:gd name="T3" fmla="*/ 10 h 21"/>
                  <a:gd name="T4" fmla="*/ 14 w 14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lnTo>
                      <a:pt x="5" y="1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6" name="Line 371"/>
              <p:cNvSpPr>
                <a:spLocks noChangeShapeType="1"/>
              </p:cNvSpPr>
              <p:nvPr/>
            </p:nvSpPr>
            <p:spPr bwMode="auto">
              <a:xfrm flipV="1">
                <a:off x="5002214" y="5292726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7" name="Freeform 372"/>
              <p:cNvSpPr>
                <a:spLocks/>
              </p:cNvSpPr>
              <p:nvPr/>
            </p:nvSpPr>
            <p:spPr bwMode="auto">
              <a:xfrm>
                <a:off x="5018088" y="5257802"/>
                <a:ext cx="14288" cy="34925"/>
              </a:xfrm>
              <a:custGeom>
                <a:avLst/>
                <a:gdLst>
                  <a:gd name="T0" fmla="*/ 0 w 9"/>
                  <a:gd name="T1" fmla="*/ 22 h 22"/>
                  <a:gd name="T2" fmla="*/ 4 w 9"/>
                  <a:gd name="T3" fmla="*/ 11 h 22"/>
                  <a:gd name="T4" fmla="*/ 9 w 9"/>
                  <a:gd name="T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22"/>
                    </a:moveTo>
                    <a:lnTo>
                      <a:pt x="4" y="11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8" name="Line 373"/>
              <p:cNvSpPr>
                <a:spLocks noChangeShapeType="1"/>
              </p:cNvSpPr>
              <p:nvPr/>
            </p:nvSpPr>
            <p:spPr bwMode="auto">
              <a:xfrm flipV="1">
                <a:off x="5032375" y="523398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9" name="Line 374"/>
              <p:cNvSpPr>
                <a:spLocks noChangeShapeType="1"/>
              </p:cNvSpPr>
              <p:nvPr/>
            </p:nvSpPr>
            <p:spPr bwMode="auto">
              <a:xfrm flipV="1">
                <a:off x="5046663" y="51990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0" name="Line 375"/>
              <p:cNvSpPr>
                <a:spLocks noChangeShapeType="1"/>
              </p:cNvSpPr>
              <p:nvPr/>
            </p:nvSpPr>
            <p:spPr bwMode="auto">
              <a:xfrm flipV="1">
                <a:off x="5060951" y="5165726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1" name="Line 376"/>
              <p:cNvSpPr>
                <a:spLocks noChangeShapeType="1"/>
              </p:cNvSpPr>
              <p:nvPr/>
            </p:nvSpPr>
            <p:spPr bwMode="auto">
              <a:xfrm flipV="1">
                <a:off x="5076825" y="5140326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2" name="Line 377"/>
              <p:cNvSpPr>
                <a:spLocks noChangeShapeType="1"/>
              </p:cNvSpPr>
              <p:nvPr/>
            </p:nvSpPr>
            <p:spPr bwMode="auto">
              <a:xfrm flipV="1">
                <a:off x="5091113" y="5106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3" name="Line 378"/>
              <p:cNvSpPr>
                <a:spLocks noChangeShapeType="1"/>
              </p:cNvSpPr>
              <p:nvPr/>
            </p:nvSpPr>
            <p:spPr bwMode="auto">
              <a:xfrm flipV="1">
                <a:off x="5105401" y="5073651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4" name="Line 379"/>
              <p:cNvSpPr>
                <a:spLocks noChangeShapeType="1"/>
              </p:cNvSpPr>
              <p:nvPr/>
            </p:nvSpPr>
            <p:spPr bwMode="auto">
              <a:xfrm flipV="1">
                <a:off x="5121275" y="5040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5" name="Line 392"/>
              <p:cNvSpPr>
                <a:spLocks noChangeShapeType="1"/>
              </p:cNvSpPr>
              <p:nvPr/>
            </p:nvSpPr>
            <p:spPr bwMode="auto">
              <a:xfrm flipV="1">
                <a:off x="5311775" y="45815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" name="Line 393"/>
              <p:cNvSpPr>
                <a:spLocks noChangeShapeType="1"/>
              </p:cNvSpPr>
              <p:nvPr/>
            </p:nvSpPr>
            <p:spPr bwMode="auto">
              <a:xfrm flipV="1">
                <a:off x="5326064" y="4548188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7" name="Line 394"/>
              <p:cNvSpPr>
                <a:spLocks noChangeShapeType="1"/>
              </p:cNvSpPr>
              <p:nvPr/>
            </p:nvSpPr>
            <p:spPr bwMode="auto">
              <a:xfrm flipV="1">
                <a:off x="5341938" y="4516438"/>
                <a:ext cx="14288" cy="317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8" name="Line 395"/>
              <p:cNvSpPr>
                <a:spLocks noChangeShapeType="1"/>
              </p:cNvSpPr>
              <p:nvPr/>
            </p:nvSpPr>
            <p:spPr bwMode="auto">
              <a:xfrm flipV="1">
                <a:off x="5356225" y="448151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9" name="Line 396"/>
              <p:cNvSpPr>
                <a:spLocks noChangeShapeType="1"/>
              </p:cNvSpPr>
              <p:nvPr/>
            </p:nvSpPr>
            <p:spPr bwMode="auto">
              <a:xfrm flipV="1">
                <a:off x="5370513" y="4438652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0" name="Line 397"/>
              <p:cNvSpPr>
                <a:spLocks noChangeShapeType="1"/>
              </p:cNvSpPr>
              <p:nvPr/>
            </p:nvSpPr>
            <p:spPr bwMode="auto">
              <a:xfrm flipV="1">
                <a:off x="5384801" y="44053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1" name="Line 398"/>
              <p:cNvSpPr>
                <a:spLocks noChangeShapeType="1"/>
              </p:cNvSpPr>
              <p:nvPr/>
            </p:nvSpPr>
            <p:spPr bwMode="auto">
              <a:xfrm flipV="1">
                <a:off x="5400675" y="437197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2" name="Line 399"/>
              <p:cNvSpPr>
                <a:spLocks noChangeShapeType="1"/>
              </p:cNvSpPr>
              <p:nvPr/>
            </p:nvSpPr>
            <p:spPr bwMode="auto">
              <a:xfrm flipV="1">
                <a:off x="5414963" y="4337052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3" name="Line 400"/>
              <p:cNvSpPr>
                <a:spLocks noChangeShapeType="1"/>
              </p:cNvSpPr>
              <p:nvPr/>
            </p:nvSpPr>
            <p:spPr bwMode="auto">
              <a:xfrm flipV="1">
                <a:off x="5429251" y="4303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4" name="Line 401"/>
              <p:cNvSpPr>
                <a:spLocks noChangeShapeType="1"/>
              </p:cNvSpPr>
              <p:nvPr/>
            </p:nvSpPr>
            <p:spPr bwMode="auto">
              <a:xfrm flipV="1">
                <a:off x="5445125" y="4268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5" name="Line 402"/>
              <p:cNvSpPr>
                <a:spLocks noChangeShapeType="1"/>
              </p:cNvSpPr>
              <p:nvPr/>
            </p:nvSpPr>
            <p:spPr bwMode="auto">
              <a:xfrm flipV="1">
                <a:off x="5459413" y="4235451"/>
                <a:ext cx="12700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6" name="Line 403"/>
              <p:cNvSpPr>
                <a:spLocks noChangeShapeType="1"/>
              </p:cNvSpPr>
              <p:nvPr/>
            </p:nvSpPr>
            <p:spPr bwMode="auto">
              <a:xfrm flipV="1">
                <a:off x="5472113" y="4210051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7" name="Line 404"/>
              <p:cNvSpPr>
                <a:spLocks noChangeShapeType="1"/>
              </p:cNvSpPr>
              <p:nvPr/>
            </p:nvSpPr>
            <p:spPr bwMode="auto">
              <a:xfrm flipV="1">
                <a:off x="5486401" y="4176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8" name="Line 405"/>
              <p:cNvSpPr>
                <a:spLocks noChangeShapeType="1"/>
              </p:cNvSpPr>
              <p:nvPr/>
            </p:nvSpPr>
            <p:spPr bwMode="auto">
              <a:xfrm flipV="1">
                <a:off x="5502275" y="4141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9" name="Line 476"/>
              <p:cNvSpPr>
                <a:spLocks noChangeShapeType="1"/>
              </p:cNvSpPr>
              <p:nvPr/>
            </p:nvSpPr>
            <p:spPr bwMode="auto">
              <a:xfrm>
                <a:off x="6539707" y="4790282"/>
                <a:ext cx="9524" cy="2064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sp>
        <p:nvSpPr>
          <p:cNvPr id="570" name="TextBox 569"/>
          <p:cNvSpPr txBox="1"/>
          <p:nvPr/>
        </p:nvSpPr>
        <p:spPr>
          <a:xfrm>
            <a:off x="7651755" y="4437113"/>
            <a:ext cx="2340000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LS values with </a:t>
            </a:r>
            <a:r>
              <a:rPr lang="en-GB" sz="2400" dirty="0" err="1"/>
              <a:t>Vs+Ve</a:t>
            </a:r>
            <a:r>
              <a:rPr lang="en-GB" sz="2400" dirty="0"/>
              <a:t>/</a:t>
            </a:r>
            <a:r>
              <a:rPr lang="en-GB" sz="2400" dirty="0" err="1"/>
              <a:t>n</a:t>
            </a:r>
            <a:r>
              <a:rPr lang="en-GB" sz="2400" baseline="-25000" dirty="0" err="1"/>
              <a:t>small</a:t>
            </a:r>
            <a:endParaRPr lang="en-GB" sz="2400" dirty="0"/>
          </a:p>
        </p:txBody>
      </p:sp>
      <p:cxnSp>
        <p:nvCxnSpPr>
          <p:cNvPr id="572" name="Straight Arrow Connector 571"/>
          <p:cNvCxnSpPr/>
          <p:nvPr/>
        </p:nvCxnSpPr>
        <p:spPr>
          <a:xfrm flipH="1">
            <a:off x="6236248" y="3501009"/>
            <a:ext cx="491581" cy="330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Arrow Connector 572"/>
          <p:cNvCxnSpPr>
            <a:cxnSpLocks/>
            <a:endCxn id="171" idx="1"/>
          </p:cNvCxnSpPr>
          <p:nvPr/>
        </p:nvCxnSpPr>
        <p:spPr>
          <a:xfrm flipH="1">
            <a:off x="8875369" y="5322002"/>
            <a:ext cx="11244" cy="649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566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must be expected to happen to selected individual with more information …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61CC-FAE6-4F83-9683-302EDEB5E69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018000" y="3790800"/>
            <a:ext cx="6222558" cy="2186240"/>
            <a:chOff x="1157754" y="3501008"/>
            <a:chExt cx="6222558" cy="2186240"/>
          </a:xfrm>
        </p:grpSpPr>
        <p:grpSp>
          <p:nvGrpSpPr>
            <p:cNvPr id="9" name="Group 8"/>
            <p:cNvGrpSpPr/>
            <p:nvPr/>
          </p:nvGrpSpPr>
          <p:grpSpPr>
            <a:xfrm>
              <a:off x="1157754" y="4306712"/>
              <a:ext cx="6222558" cy="1380536"/>
              <a:chOff x="3856038" y="3727450"/>
              <a:chExt cx="4138613" cy="2352677"/>
            </a:xfrm>
          </p:grpSpPr>
          <p:sp>
            <p:nvSpPr>
              <p:cNvPr id="10" name="Line 382"/>
              <p:cNvSpPr>
                <a:spLocks noChangeShapeType="1"/>
              </p:cNvSpPr>
              <p:nvPr/>
            </p:nvSpPr>
            <p:spPr bwMode="auto">
              <a:xfrm flipV="1">
                <a:off x="5164139" y="4938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Line 380"/>
              <p:cNvSpPr>
                <a:spLocks noChangeShapeType="1"/>
              </p:cNvSpPr>
              <p:nvPr/>
            </p:nvSpPr>
            <p:spPr bwMode="auto">
              <a:xfrm flipV="1">
                <a:off x="5135563" y="50053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Line 381"/>
              <p:cNvSpPr>
                <a:spLocks noChangeShapeType="1"/>
              </p:cNvSpPr>
              <p:nvPr/>
            </p:nvSpPr>
            <p:spPr bwMode="auto">
              <a:xfrm flipV="1">
                <a:off x="5149850" y="4972051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Line 383"/>
              <p:cNvSpPr>
                <a:spLocks noChangeShapeType="1"/>
              </p:cNvSpPr>
              <p:nvPr/>
            </p:nvSpPr>
            <p:spPr bwMode="auto">
              <a:xfrm flipV="1">
                <a:off x="5180013" y="4903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Line 384"/>
              <p:cNvSpPr>
                <a:spLocks noChangeShapeType="1"/>
              </p:cNvSpPr>
              <p:nvPr/>
            </p:nvSpPr>
            <p:spPr bwMode="auto">
              <a:xfrm flipV="1">
                <a:off x="5194300" y="48688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Line 385"/>
              <p:cNvSpPr>
                <a:spLocks noChangeShapeType="1"/>
              </p:cNvSpPr>
              <p:nvPr/>
            </p:nvSpPr>
            <p:spPr bwMode="auto">
              <a:xfrm flipV="1">
                <a:off x="5208588" y="48355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Line 386"/>
              <p:cNvSpPr>
                <a:spLocks noChangeShapeType="1"/>
              </p:cNvSpPr>
              <p:nvPr/>
            </p:nvSpPr>
            <p:spPr bwMode="auto">
              <a:xfrm flipV="1">
                <a:off x="5222876" y="4802188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Line 387"/>
              <p:cNvSpPr>
                <a:spLocks noChangeShapeType="1"/>
              </p:cNvSpPr>
              <p:nvPr/>
            </p:nvSpPr>
            <p:spPr bwMode="auto">
              <a:xfrm flipV="1">
                <a:off x="5238750" y="4759327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Line 388"/>
              <p:cNvSpPr>
                <a:spLocks noChangeShapeType="1"/>
              </p:cNvSpPr>
              <p:nvPr/>
            </p:nvSpPr>
            <p:spPr bwMode="auto">
              <a:xfrm flipV="1">
                <a:off x="5253038" y="4725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Line 389"/>
              <p:cNvSpPr>
                <a:spLocks noChangeShapeType="1"/>
              </p:cNvSpPr>
              <p:nvPr/>
            </p:nvSpPr>
            <p:spPr bwMode="auto">
              <a:xfrm flipV="1">
                <a:off x="5267326" y="4691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Line 390"/>
              <p:cNvSpPr>
                <a:spLocks noChangeShapeType="1"/>
              </p:cNvSpPr>
              <p:nvPr/>
            </p:nvSpPr>
            <p:spPr bwMode="auto">
              <a:xfrm flipV="1">
                <a:off x="5283200" y="46577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Line 391"/>
              <p:cNvSpPr>
                <a:spLocks noChangeShapeType="1"/>
              </p:cNvSpPr>
              <p:nvPr/>
            </p:nvSpPr>
            <p:spPr bwMode="auto">
              <a:xfrm flipV="1">
                <a:off x="5297488" y="4614864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Line 475"/>
              <p:cNvSpPr>
                <a:spLocks noChangeShapeType="1"/>
              </p:cNvSpPr>
              <p:nvPr/>
            </p:nvSpPr>
            <p:spPr bwMode="auto">
              <a:xfrm>
                <a:off x="6530975" y="4759326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Line 474"/>
              <p:cNvSpPr>
                <a:spLocks noChangeShapeType="1"/>
              </p:cNvSpPr>
              <p:nvPr/>
            </p:nvSpPr>
            <p:spPr bwMode="auto">
              <a:xfrm>
                <a:off x="6516688" y="4725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Line 476"/>
              <p:cNvSpPr>
                <a:spLocks noChangeShapeType="1"/>
              </p:cNvSpPr>
              <p:nvPr/>
            </p:nvSpPr>
            <p:spPr bwMode="auto">
              <a:xfrm>
                <a:off x="6548439" y="4808535"/>
                <a:ext cx="11112" cy="26992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Line 407"/>
              <p:cNvSpPr>
                <a:spLocks noChangeShapeType="1"/>
              </p:cNvSpPr>
              <p:nvPr/>
            </p:nvSpPr>
            <p:spPr bwMode="auto">
              <a:xfrm flipV="1">
                <a:off x="5516563" y="4116388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408"/>
              <p:cNvSpPr>
                <a:spLocks/>
              </p:cNvSpPr>
              <p:nvPr/>
            </p:nvSpPr>
            <p:spPr bwMode="auto">
              <a:xfrm>
                <a:off x="5530851" y="4083050"/>
                <a:ext cx="15875" cy="33338"/>
              </a:xfrm>
              <a:custGeom>
                <a:avLst/>
                <a:gdLst>
                  <a:gd name="T0" fmla="*/ 0 w 10"/>
                  <a:gd name="T1" fmla="*/ 21 h 21"/>
                  <a:gd name="T2" fmla="*/ 5 w 10"/>
                  <a:gd name="T3" fmla="*/ 10 h 21"/>
                  <a:gd name="T4" fmla="*/ 10 w 10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21"/>
                    </a:moveTo>
                    <a:lnTo>
                      <a:pt x="5" y="10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Line 409"/>
              <p:cNvSpPr>
                <a:spLocks noChangeShapeType="1"/>
              </p:cNvSpPr>
              <p:nvPr/>
            </p:nvSpPr>
            <p:spPr bwMode="auto">
              <a:xfrm flipV="1">
                <a:off x="5546725" y="40576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Line 410"/>
              <p:cNvSpPr>
                <a:spLocks noChangeShapeType="1"/>
              </p:cNvSpPr>
              <p:nvPr/>
            </p:nvSpPr>
            <p:spPr bwMode="auto">
              <a:xfrm flipV="1">
                <a:off x="5561013" y="40322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411"/>
              <p:cNvSpPr>
                <a:spLocks/>
              </p:cNvSpPr>
              <p:nvPr/>
            </p:nvSpPr>
            <p:spPr bwMode="auto">
              <a:xfrm>
                <a:off x="5575301" y="4006850"/>
                <a:ext cx="22225" cy="25400"/>
              </a:xfrm>
              <a:custGeom>
                <a:avLst/>
                <a:gdLst>
                  <a:gd name="T0" fmla="*/ 0 w 14"/>
                  <a:gd name="T1" fmla="*/ 16 h 16"/>
                  <a:gd name="T2" fmla="*/ 5 w 14"/>
                  <a:gd name="T3" fmla="*/ 5 h 16"/>
                  <a:gd name="T4" fmla="*/ 14 w 14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16"/>
                    </a:moveTo>
                    <a:lnTo>
                      <a:pt x="5" y="5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Line 412"/>
              <p:cNvSpPr>
                <a:spLocks noChangeShapeType="1"/>
              </p:cNvSpPr>
              <p:nvPr/>
            </p:nvSpPr>
            <p:spPr bwMode="auto">
              <a:xfrm flipV="1">
                <a:off x="5597525" y="39798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Line 413"/>
              <p:cNvSpPr>
                <a:spLocks noChangeShapeType="1"/>
              </p:cNvSpPr>
              <p:nvPr/>
            </p:nvSpPr>
            <p:spPr bwMode="auto">
              <a:xfrm flipV="1">
                <a:off x="5611814" y="3956051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Line 414"/>
              <p:cNvSpPr>
                <a:spLocks noChangeShapeType="1"/>
              </p:cNvSpPr>
              <p:nvPr/>
            </p:nvSpPr>
            <p:spPr bwMode="auto">
              <a:xfrm flipV="1">
                <a:off x="5627688" y="393223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Line 415"/>
              <p:cNvSpPr>
                <a:spLocks noChangeShapeType="1"/>
              </p:cNvSpPr>
              <p:nvPr/>
            </p:nvSpPr>
            <p:spPr bwMode="auto">
              <a:xfrm flipV="1">
                <a:off x="5641975" y="3905250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Line 416"/>
              <p:cNvSpPr>
                <a:spLocks noChangeShapeType="1"/>
              </p:cNvSpPr>
              <p:nvPr/>
            </p:nvSpPr>
            <p:spPr bwMode="auto">
              <a:xfrm flipV="1">
                <a:off x="5656263" y="388937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417"/>
              <p:cNvSpPr>
                <a:spLocks/>
              </p:cNvSpPr>
              <p:nvPr/>
            </p:nvSpPr>
            <p:spPr bwMode="auto">
              <a:xfrm>
                <a:off x="5670551" y="3863975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5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5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Line 418"/>
              <p:cNvSpPr>
                <a:spLocks noChangeShapeType="1"/>
              </p:cNvSpPr>
              <p:nvPr/>
            </p:nvSpPr>
            <p:spPr bwMode="auto">
              <a:xfrm flipV="1">
                <a:off x="5686425" y="38465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Line 419"/>
              <p:cNvSpPr>
                <a:spLocks noChangeShapeType="1"/>
              </p:cNvSpPr>
              <p:nvPr/>
            </p:nvSpPr>
            <p:spPr bwMode="auto">
              <a:xfrm flipV="1">
                <a:off x="5700713" y="382905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Line 420"/>
              <p:cNvSpPr>
                <a:spLocks noChangeShapeType="1"/>
              </p:cNvSpPr>
              <p:nvPr/>
            </p:nvSpPr>
            <p:spPr bwMode="auto">
              <a:xfrm flipV="1">
                <a:off x="5715000" y="381158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" name="Line 421"/>
              <p:cNvSpPr>
                <a:spLocks noChangeShapeType="1"/>
              </p:cNvSpPr>
              <p:nvPr/>
            </p:nvSpPr>
            <p:spPr bwMode="auto">
              <a:xfrm flipV="1">
                <a:off x="5729289" y="3795714"/>
                <a:ext cx="15875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Line 422"/>
              <p:cNvSpPr>
                <a:spLocks noChangeShapeType="1"/>
              </p:cNvSpPr>
              <p:nvPr/>
            </p:nvSpPr>
            <p:spPr bwMode="auto">
              <a:xfrm flipV="1">
                <a:off x="5745163" y="37877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Line 423"/>
              <p:cNvSpPr>
                <a:spLocks noChangeShapeType="1"/>
              </p:cNvSpPr>
              <p:nvPr/>
            </p:nvSpPr>
            <p:spPr bwMode="auto">
              <a:xfrm flipV="1">
                <a:off x="5759450" y="37703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Line 424"/>
              <p:cNvSpPr>
                <a:spLocks noChangeShapeType="1"/>
              </p:cNvSpPr>
              <p:nvPr/>
            </p:nvSpPr>
            <p:spPr bwMode="auto">
              <a:xfrm flipV="1">
                <a:off x="5773739" y="376237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Line 425"/>
              <p:cNvSpPr>
                <a:spLocks noChangeShapeType="1"/>
              </p:cNvSpPr>
              <p:nvPr/>
            </p:nvSpPr>
            <p:spPr bwMode="auto">
              <a:xfrm flipV="1">
                <a:off x="5789613" y="3754438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Line 426"/>
              <p:cNvSpPr>
                <a:spLocks noChangeShapeType="1"/>
              </p:cNvSpPr>
              <p:nvPr/>
            </p:nvSpPr>
            <p:spPr bwMode="auto">
              <a:xfrm flipV="1">
                <a:off x="5803900" y="374491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" name="Line 427"/>
              <p:cNvSpPr>
                <a:spLocks noChangeShapeType="1"/>
              </p:cNvSpPr>
              <p:nvPr/>
            </p:nvSpPr>
            <p:spPr bwMode="auto">
              <a:xfrm flipV="1">
                <a:off x="5818188" y="37369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Line 428"/>
              <p:cNvSpPr>
                <a:spLocks noChangeShapeType="1"/>
              </p:cNvSpPr>
              <p:nvPr/>
            </p:nvSpPr>
            <p:spPr bwMode="auto">
              <a:xfrm>
                <a:off x="5832476" y="373697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29"/>
              <p:cNvSpPr>
                <a:spLocks/>
              </p:cNvSpPr>
              <p:nvPr/>
            </p:nvSpPr>
            <p:spPr bwMode="auto">
              <a:xfrm>
                <a:off x="5848350" y="3727451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Line 430"/>
              <p:cNvSpPr>
                <a:spLocks noChangeShapeType="1"/>
              </p:cNvSpPr>
              <p:nvPr/>
            </p:nvSpPr>
            <p:spPr bwMode="auto">
              <a:xfrm>
                <a:off x="5862638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Line 431"/>
              <p:cNvSpPr>
                <a:spLocks noChangeShapeType="1"/>
              </p:cNvSpPr>
              <p:nvPr/>
            </p:nvSpPr>
            <p:spPr bwMode="auto">
              <a:xfrm>
                <a:off x="5876925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Line 432"/>
              <p:cNvSpPr>
                <a:spLocks noChangeShapeType="1"/>
              </p:cNvSpPr>
              <p:nvPr/>
            </p:nvSpPr>
            <p:spPr bwMode="auto">
              <a:xfrm>
                <a:off x="5891214" y="372745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Line 433"/>
              <p:cNvSpPr>
                <a:spLocks noChangeShapeType="1"/>
              </p:cNvSpPr>
              <p:nvPr/>
            </p:nvSpPr>
            <p:spPr bwMode="auto">
              <a:xfrm>
                <a:off x="5907088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" name="Freeform 434"/>
              <p:cNvSpPr>
                <a:spLocks/>
              </p:cNvSpPr>
              <p:nvPr/>
            </p:nvSpPr>
            <p:spPr bwMode="auto">
              <a:xfrm>
                <a:off x="5921375" y="372745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Line 435"/>
              <p:cNvSpPr>
                <a:spLocks noChangeShapeType="1"/>
              </p:cNvSpPr>
              <p:nvPr/>
            </p:nvSpPr>
            <p:spPr bwMode="auto">
              <a:xfrm>
                <a:off x="5935664" y="373697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" name="Line 436"/>
              <p:cNvSpPr>
                <a:spLocks noChangeShapeType="1"/>
              </p:cNvSpPr>
              <p:nvPr/>
            </p:nvSpPr>
            <p:spPr bwMode="auto">
              <a:xfrm>
                <a:off x="5951538" y="37369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Line 437"/>
              <p:cNvSpPr>
                <a:spLocks noChangeShapeType="1"/>
              </p:cNvSpPr>
              <p:nvPr/>
            </p:nvSpPr>
            <p:spPr bwMode="auto">
              <a:xfrm>
                <a:off x="5965825" y="374491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Line 438"/>
              <p:cNvSpPr>
                <a:spLocks noChangeShapeType="1"/>
              </p:cNvSpPr>
              <p:nvPr/>
            </p:nvSpPr>
            <p:spPr bwMode="auto">
              <a:xfrm>
                <a:off x="5980113" y="3754438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" name="Line 439"/>
              <p:cNvSpPr>
                <a:spLocks noChangeShapeType="1"/>
              </p:cNvSpPr>
              <p:nvPr/>
            </p:nvSpPr>
            <p:spPr bwMode="auto">
              <a:xfrm>
                <a:off x="5994401" y="376237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Line 440"/>
              <p:cNvSpPr>
                <a:spLocks noChangeShapeType="1"/>
              </p:cNvSpPr>
              <p:nvPr/>
            </p:nvSpPr>
            <p:spPr bwMode="auto">
              <a:xfrm>
                <a:off x="6010275" y="37703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Line 441"/>
              <p:cNvSpPr>
                <a:spLocks noChangeShapeType="1"/>
              </p:cNvSpPr>
              <p:nvPr/>
            </p:nvSpPr>
            <p:spPr bwMode="auto">
              <a:xfrm>
                <a:off x="6024563" y="37877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Line 442"/>
              <p:cNvSpPr>
                <a:spLocks noChangeShapeType="1"/>
              </p:cNvSpPr>
              <p:nvPr/>
            </p:nvSpPr>
            <p:spPr bwMode="auto">
              <a:xfrm>
                <a:off x="6038850" y="379571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Line 443"/>
              <p:cNvSpPr>
                <a:spLocks noChangeShapeType="1"/>
              </p:cNvSpPr>
              <p:nvPr/>
            </p:nvSpPr>
            <p:spPr bwMode="auto">
              <a:xfrm>
                <a:off x="6053139" y="381158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Line 444"/>
              <p:cNvSpPr>
                <a:spLocks noChangeShapeType="1"/>
              </p:cNvSpPr>
              <p:nvPr/>
            </p:nvSpPr>
            <p:spPr bwMode="auto">
              <a:xfrm>
                <a:off x="6069013" y="382905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Line 445"/>
              <p:cNvSpPr>
                <a:spLocks noChangeShapeType="1"/>
              </p:cNvSpPr>
              <p:nvPr/>
            </p:nvSpPr>
            <p:spPr bwMode="auto">
              <a:xfrm>
                <a:off x="6083300" y="38465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" name="Freeform 446"/>
              <p:cNvSpPr>
                <a:spLocks/>
              </p:cNvSpPr>
              <p:nvPr/>
            </p:nvSpPr>
            <p:spPr bwMode="auto">
              <a:xfrm>
                <a:off x="6097589" y="3863975"/>
                <a:ext cx="15875" cy="25400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5 h 16"/>
                  <a:gd name="T4" fmla="*/ 10 w 10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5"/>
                    </a:lnTo>
                    <a:lnTo>
                      <a:pt x="10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" name="Line 447"/>
              <p:cNvSpPr>
                <a:spLocks noChangeShapeType="1"/>
              </p:cNvSpPr>
              <p:nvPr/>
            </p:nvSpPr>
            <p:spPr bwMode="auto">
              <a:xfrm>
                <a:off x="6113463" y="388937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" name="Line 448"/>
              <p:cNvSpPr>
                <a:spLocks noChangeShapeType="1"/>
              </p:cNvSpPr>
              <p:nvPr/>
            </p:nvSpPr>
            <p:spPr bwMode="auto">
              <a:xfrm>
                <a:off x="6127750" y="3905250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" name="Line 449"/>
              <p:cNvSpPr>
                <a:spLocks noChangeShapeType="1"/>
              </p:cNvSpPr>
              <p:nvPr/>
            </p:nvSpPr>
            <p:spPr bwMode="auto">
              <a:xfrm>
                <a:off x="6142038" y="393223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" name="Line 450"/>
              <p:cNvSpPr>
                <a:spLocks noChangeShapeType="1"/>
              </p:cNvSpPr>
              <p:nvPr/>
            </p:nvSpPr>
            <p:spPr bwMode="auto">
              <a:xfrm>
                <a:off x="6156326" y="3956051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" name="Freeform 451"/>
              <p:cNvSpPr>
                <a:spLocks/>
              </p:cNvSpPr>
              <p:nvPr/>
            </p:nvSpPr>
            <p:spPr bwMode="auto">
              <a:xfrm>
                <a:off x="6172201" y="3979863"/>
                <a:ext cx="22225" cy="26988"/>
              </a:xfrm>
              <a:custGeom>
                <a:avLst/>
                <a:gdLst>
                  <a:gd name="T0" fmla="*/ 0 w 14"/>
                  <a:gd name="T1" fmla="*/ 0 h 17"/>
                  <a:gd name="T2" fmla="*/ 4 w 14"/>
                  <a:gd name="T3" fmla="*/ 6 h 17"/>
                  <a:gd name="T4" fmla="*/ 14 w 14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7">
                    <a:moveTo>
                      <a:pt x="0" y="0"/>
                    </a:moveTo>
                    <a:lnTo>
                      <a:pt x="4" y="6"/>
                    </a:lnTo>
                    <a:lnTo>
                      <a:pt x="14" y="17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" name="Line 452"/>
              <p:cNvSpPr>
                <a:spLocks noChangeShapeType="1"/>
              </p:cNvSpPr>
              <p:nvPr/>
            </p:nvSpPr>
            <p:spPr bwMode="auto">
              <a:xfrm>
                <a:off x="6194425" y="40068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Line 453"/>
              <p:cNvSpPr>
                <a:spLocks noChangeShapeType="1"/>
              </p:cNvSpPr>
              <p:nvPr/>
            </p:nvSpPr>
            <p:spPr bwMode="auto">
              <a:xfrm>
                <a:off x="6208713" y="40322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" name="Line 454"/>
              <p:cNvSpPr>
                <a:spLocks noChangeShapeType="1"/>
              </p:cNvSpPr>
              <p:nvPr/>
            </p:nvSpPr>
            <p:spPr bwMode="auto">
              <a:xfrm>
                <a:off x="6223000" y="40576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" name="Freeform 455"/>
              <p:cNvSpPr>
                <a:spLocks/>
              </p:cNvSpPr>
              <p:nvPr/>
            </p:nvSpPr>
            <p:spPr bwMode="auto">
              <a:xfrm>
                <a:off x="6237289" y="4083050"/>
                <a:ext cx="15875" cy="33338"/>
              </a:xfrm>
              <a:custGeom>
                <a:avLst/>
                <a:gdLst>
                  <a:gd name="T0" fmla="*/ 0 w 10"/>
                  <a:gd name="T1" fmla="*/ 0 h 21"/>
                  <a:gd name="T2" fmla="*/ 5 w 10"/>
                  <a:gd name="T3" fmla="*/ 10 h 21"/>
                  <a:gd name="T4" fmla="*/ 10 w 10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0"/>
                    </a:moveTo>
                    <a:lnTo>
                      <a:pt x="5" y="10"/>
                    </a:lnTo>
                    <a:lnTo>
                      <a:pt x="10" y="21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" name="Line 456"/>
              <p:cNvSpPr>
                <a:spLocks noChangeShapeType="1"/>
              </p:cNvSpPr>
              <p:nvPr/>
            </p:nvSpPr>
            <p:spPr bwMode="auto">
              <a:xfrm>
                <a:off x="6253163" y="4116388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" name="Line 457"/>
              <p:cNvSpPr>
                <a:spLocks noChangeShapeType="1"/>
              </p:cNvSpPr>
              <p:nvPr/>
            </p:nvSpPr>
            <p:spPr bwMode="auto">
              <a:xfrm>
                <a:off x="6267450" y="4141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" name="Line 458"/>
              <p:cNvSpPr>
                <a:spLocks noChangeShapeType="1"/>
              </p:cNvSpPr>
              <p:nvPr/>
            </p:nvSpPr>
            <p:spPr bwMode="auto">
              <a:xfrm>
                <a:off x="6281738" y="41767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" name="Line 459"/>
              <p:cNvSpPr>
                <a:spLocks noChangeShapeType="1"/>
              </p:cNvSpPr>
              <p:nvPr/>
            </p:nvSpPr>
            <p:spPr bwMode="auto">
              <a:xfrm>
                <a:off x="6296026" y="4210050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" name="Line 460"/>
              <p:cNvSpPr>
                <a:spLocks noChangeShapeType="1"/>
              </p:cNvSpPr>
              <p:nvPr/>
            </p:nvSpPr>
            <p:spPr bwMode="auto">
              <a:xfrm>
                <a:off x="6311900" y="4235450"/>
                <a:ext cx="12700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" name="Line 461"/>
              <p:cNvSpPr>
                <a:spLocks noChangeShapeType="1"/>
              </p:cNvSpPr>
              <p:nvPr/>
            </p:nvSpPr>
            <p:spPr bwMode="auto">
              <a:xfrm>
                <a:off x="6324600" y="4268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Line 462"/>
              <p:cNvSpPr>
                <a:spLocks noChangeShapeType="1"/>
              </p:cNvSpPr>
              <p:nvPr/>
            </p:nvSpPr>
            <p:spPr bwMode="auto">
              <a:xfrm>
                <a:off x="6338889" y="4303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Line 463"/>
              <p:cNvSpPr>
                <a:spLocks noChangeShapeType="1"/>
              </p:cNvSpPr>
              <p:nvPr/>
            </p:nvSpPr>
            <p:spPr bwMode="auto">
              <a:xfrm>
                <a:off x="6354763" y="4337051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" name="Line 464"/>
              <p:cNvSpPr>
                <a:spLocks noChangeShapeType="1"/>
              </p:cNvSpPr>
              <p:nvPr/>
            </p:nvSpPr>
            <p:spPr bwMode="auto">
              <a:xfrm>
                <a:off x="6369050" y="437197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Line 465"/>
              <p:cNvSpPr>
                <a:spLocks noChangeShapeType="1"/>
              </p:cNvSpPr>
              <p:nvPr/>
            </p:nvSpPr>
            <p:spPr bwMode="auto">
              <a:xfrm>
                <a:off x="6383338" y="4405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Line 466"/>
              <p:cNvSpPr>
                <a:spLocks noChangeShapeType="1"/>
              </p:cNvSpPr>
              <p:nvPr/>
            </p:nvSpPr>
            <p:spPr bwMode="auto">
              <a:xfrm>
                <a:off x="6397626" y="4438651"/>
                <a:ext cx="15875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" name="Line 467"/>
              <p:cNvSpPr>
                <a:spLocks noChangeShapeType="1"/>
              </p:cNvSpPr>
              <p:nvPr/>
            </p:nvSpPr>
            <p:spPr bwMode="auto">
              <a:xfrm>
                <a:off x="6413500" y="448151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Line 468"/>
              <p:cNvSpPr>
                <a:spLocks noChangeShapeType="1"/>
              </p:cNvSpPr>
              <p:nvPr/>
            </p:nvSpPr>
            <p:spPr bwMode="auto">
              <a:xfrm>
                <a:off x="6427788" y="4516438"/>
                <a:ext cx="14288" cy="317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Line 469"/>
              <p:cNvSpPr>
                <a:spLocks noChangeShapeType="1"/>
              </p:cNvSpPr>
              <p:nvPr/>
            </p:nvSpPr>
            <p:spPr bwMode="auto">
              <a:xfrm>
                <a:off x="6442075" y="45481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" name="Line 470"/>
              <p:cNvSpPr>
                <a:spLocks noChangeShapeType="1"/>
              </p:cNvSpPr>
              <p:nvPr/>
            </p:nvSpPr>
            <p:spPr bwMode="auto">
              <a:xfrm>
                <a:off x="6456364" y="4581525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" name="Line 471"/>
              <p:cNvSpPr>
                <a:spLocks noChangeShapeType="1"/>
              </p:cNvSpPr>
              <p:nvPr/>
            </p:nvSpPr>
            <p:spPr bwMode="auto">
              <a:xfrm>
                <a:off x="6472238" y="4614864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" name="Line 472"/>
              <p:cNvSpPr>
                <a:spLocks noChangeShapeType="1"/>
              </p:cNvSpPr>
              <p:nvPr/>
            </p:nvSpPr>
            <p:spPr bwMode="auto">
              <a:xfrm>
                <a:off x="6486522" y="465693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" name="Line 473"/>
              <p:cNvSpPr>
                <a:spLocks noChangeShapeType="1"/>
              </p:cNvSpPr>
              <p:nvPr/>
            </p:nvSpPr>
            <p:spPr bwMode="auto">
              <a:xfrm>
                <a:off x="6500814" y="4691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" name="Line 477"/>
              <p:cNvSpPr>
                <a:spLocks noChangeShapeType="1"/>
              </p:cNvSpPr>
              <p:nvPr/>
            </p:nvSpPr>
            <p:spPr bwMode="auto">
              <a:xfrm>
                <a:off x="6559551" y="4835525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" name="Line 478"/>
              <p:cNvSpPr>
                <a:spLocks noChangeShapeType="1"/>
              </p:cNvSpPr>
              <p:nvPr/>
            </p:nvSpPr>
            <p:spPr bwMode="auto">
              <a:xfrm>
                <a:off x="6575425" y="48688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" name="Line 479"/>
              <p:cNvSpPr>
                <a:spLocks noChangeShapeType="1"/>
              </p:cNvSpPr>
              <p:nvPr/>
            </p:nvSpPr>
            <p:spPr bwMode="auto">
              <a:xfrm>
                <a:off x="6589713" y="4903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" name="Line 480"/>
              <p:cNvSpPr>
                <a:spLocks noChangeShapeType="1"/>
              </p:cNvSpPr>
              <p:nvPr/>
            </p:nvSpPr>
            <p:spPr bwMode="auto">
              <a:xfrm>
                <a:off x="6604000" y="49387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6" name="Line 481"/>
              <p:cNvSpPr>
                <a:spLocks noChangeShapeType="1"/>
              </p:cNvSpPr>
              <p:nvPr/>
            </p:nvSpPr>
            <p:spPr bwMode="auto">
              <a:xfrm>
                <a:off x="6618289" y="4972050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7" name="Line 482"/>
              <p:cNvSpPr>
                <a:spLocks noChangeShapeType="1"/>
              </p:cNvSpPr>
              <p:nvPr/>
            </p:nvSpPr>
            <p:spPr bwMode="auto">
              <a:xfrm>
                <a:off x="6634163" y="50053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8" name="Line 483"/>
              <p:cNvSpPr>
                <a:spLocks noChangeShapeType="1"/>
              </p:cNvSpPr>
              <p:nvPr/>
            </p:nvSpPr>
            <p:spPr bwMode="auto">
              <a:xfrm>
                <a:off x="6648450" y="5040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9" name="Line 484"/>
              <p:cNvSpPr>
                <a:spLocks noChangeShapeType="1"/>
              </p:cNvSpPr>
              <p:nvPr/>
            </p:nvSpPr>
            <p:spPr bwMode="auto">
              <a:xfrm>
                <a:off x="6662739" y="5073650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0" name="Line 485"/>
              <p:cNvSpPr>
                <a:spLocks noChangeShapeType="1"/>
              </p:cNvSpPr>
              <p:nvPr/>
            </p:nvSpPr>
            <p:spPr bwMode="auto">
              <a:xfrm>
                <a:off x="6678613" y="5106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Line 486"/>
              <p:cNvSpPr>
                <a:spLocks noChangeShapeType="1"/>
              </p:cNvSpPr>
              <p:nvPr/>
            </p:nvSpPr>
            <p:spPr bwMode="auto">
              <a:xfrm>
                <a:off x="6692900" y="5140325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2" name="Line 487"/>
              <p:cNvSpPr>
                <a:spLocks noChangeShapeType="1"/>
              </p:cNvSpPr>
              <p:nvPr/>
            </p:nvSpPr>
            <p:spPr bwMode="auto">
              <a:xfrm>
                <a:off x="6707188" y="516572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3" name="Line 488"/>
              <p:cNvSpPr>
                <a:spLocks noChangeShapeType="1"/>
              </p:cNvSpPr>
              <p:nvPr/>
            </p:nvSpPr>
            <p:spPr bwMode="auto">
              <a:xfrm>
                <a:off x="6721476" y="5199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4" name="Line 489"/>
              <p:cNvSpPr>
                <a:spLocks noChangeShapeType="1"/>
              </p:cNvSpPr>
              <p:nvPr/>
            </p:nvSpPr>
            <p:spPr bwMode="auto">
              <a:xfrm>
                <a:off x="6737350" y="523398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5" name="Freeform 490"/>
              <p:cNvSpPr>
                <a:spLocks/>
              </p:cNvSpPr>
              <p:nvPr/>
            </p:nvSpPr>
            <p:spPr bwMode="auto">
              <a:xfrm>
                <a:off x="6751638" y="5257801"/>
                <a:ext cx="14288" cy="34925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lnTo>
                      <a:pt x="5" y="11"/>
                    </a:lnTo>
                    <a:lnTo>
                      <a:pt x="9" y="22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6" name="Freeform 491"/>
              <p:cNvSpPr>
                <a:spLocks/>
              </p:cNvSpPr>
              <p:nvPr/>
            </p:nvSpPr>
            <p:spPr bwMode="auto">
              <a:xfrm>
                <a:off x="6765926" y="5292725"/>
                <a:ext cx="22225" cy="25400"/>
              </a:xfrm>
              <a:custGeom>
                <a:avLst/>
                <a:gdLst>
                  <a:gd name="T0" fmla="*/ 0 w 14"/>
                  <a:gd name="T1" fmla="*/ 0 h 16"/>
                  <a:gd name="T2" fmla="*/ 5 w 14"/>
                  <a:gd name="T3" fmla="*/ 5 h 16"/>
                  <a:gd name="T4" fmla="*/ 14 w 14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5" y="5"/>
                    </a:lnTo>
                    <a:lnTo>
                      <a:pt x="14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7" name="Freeform 492"/>
              <p:cNvSpPr>
                <a:spLocks/>
              </p:cNvSpPr>
              <p:nvPr/>
            </p:nvSpPr>
            <p:spPr bwMode="auto">
              <a:xfrm>
                <a:off x="6788150" y="5318125"/>
                <a:ext cx="14288" cy="33338"/>
              </a:xfrm>
              <a:custGeom>
                <a:avLst/>
                <a:gdLst>
                  <a:gd name="T0" fmla="*/ 0 w 9"/>
                  <a:gd name="T1" fmla="*/ 0 h 21"/>
                  <a:gd name="T2" fmla="*/ 5 w 9"/>
                  <a:gd name="T3" fmla="*/ 10 h 21"/>
                  <a:gd name="T4" fmla="*/ 9 w 9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lnTo>
                      <a:pt x="5" y="10"/>
                    </a:lnTo>
                    <a:lnTo>
                      <a:pt x="9" y="21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8" name="Line 493"/>
              <p:cNvSpPr>
                <a:spLocks noChangeShapeType="1"/>
              </p:cNvSpPr>
              <p:nvPr/>
            </p:nvSpPr>
            <p:spPr bwMode="auto">
              <a:xfrm>
                <a:off x="6802439" y="5351463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9" name="Line 494"/>
              <p:cNvSpPr>
                <a:spLocks noChangeShapeType="1"/>
              </p:cNvSpPr>
              <p:nvPr/>
            </p:nvSpPr>
            <p:spPr bwMode="auto">
              <a:xfrm>
                <a:off x="6818313" y="5376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0" name="Line 495"/>
              <p:cNvSpPr>
                <a:spLocks noChangeShapeType="1"/>
              </p:cNvSpPr>
              <p:nvPr/>
            </p:nvSpPr>
            <p:spPr bwMode="auto">
              <a:xfrm>
                <a:off x="6832600" y="54022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1" name="Line 496"/>
              <p:cNvSpPr>
                <a:spLocks noChangeShapeType="1"/>
              </p:cNvSpPr>
              <p:nvPr/>
            </p:nvSpPr>
            <p:spPr bwMode="auto">
              <a:xfrm>
                <a:off x="6846888" y="54292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2" name="Line 497"/>
              <p:cNvSpPr>
                <a:spLocks noChangeShapeType="1"/>
              </p:cNvSpPr>
              <p:nvPr/>
            </p:nvSpPr>
            <p:spPr bwMode="auto">
              <a:xfrm>
                <a:off x="6861176" y="54530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3" name="Line 498"/>
              <p:cNvSpPr>
                <a:spLocks noChangeShapeType="1"/>
              </p:cNvSpPr>
              <p:nvPr/>
            </p:nvSpPr>
            <p:spPr bwMode="auto">
              <a:xfrm>
                <a:off x="6877050" y="54800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4" name="Line 499"/>
              <p:cNvSpPr>
                <a:spLocks noChangeShapeType="1"/>
              </p:cNvSpPr>
              <p:nvPr/>
            </p:nvSpPr>
            <p:spPr bwMode="auto">
              <a:xfrm>
                <a:off x="6891338" y="5503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5" name="Line 500"/>
              <p:cNvSpPr>
                <a:spLocks noChangeShapeType="1"/>
              </p:cNvSpPr>
              <p:nvPr/>
            </p:nvSpPr>
            <p:spPr bwMode="auto">
              <a:xfrm>
                <a:off x="6905626" y="55292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6" name="Line 501"/>
              <p:cNvSpPr>
                <a:spLocks noChangeShapeType="1"/>
              </p:cNvSpPr>
              <p:nvPr/>
            </p:nvSpPr>
            <p:spPr bwMode="auto">
              <a:xfrm>
                <a:off x="6921500" y="55562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7" name="Line 502"/>
              <p:cNvSpPr>
                <a:spLocks noChangeShapeType="1"/>
              </p:cNvSpPr>
              <p:nvPr/>
            </p:nvSpPr>
            <p:spPr bwMode="auto">
              <a:xfrm>
                <a:off x="6935788" y="558006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8" name="Freeform 503"/>
              <p:cNvSpPr>
                <a:spLocks/>
              </p:cNvSpPr>
              <p:nvPr/>
            </p:nvSpPr>
            <p:spPr bwMode="auto">
              <a:xfrm>
                <a:off x="6950075" y="5597525"/>
                <a:ext cx="14288" cy="25400"/>
              </a:xfrm>
              <a:custGeom>
                <a:avLst/>
                <a:gdLst>
                  <a:gd name="T0" fmla="*/ 0 w 9"/>
                  <a:gd name="T1" fmla="*/ 0 h 16"/>
                  <a:gd name="T2" fmla="*/ 5 w 9"/>
                  <a:gd name="T3" fmla="*/ 6 h 16"/>
                  <a:gd name="T4" fmla="*/ 9 w 9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0" y="0"/>
                    </a:moveTo>
                    <a:lnTo>
                      <a:pt x="5" y="6"/>
                    </a:lnTo>
                    <a:lnTo>
                      <a:pt x="9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9" name="Line 504"/>
              <p:cNvSpPr>
                <a:spLocks noChangeShapeType="1"/>
              </p:cNvSpPr>
              <p:nvPr/>
            </p:nvSpPr>
            <p:spPr bwMode="auto">
              <a:xfrm>
                <a:off x="6964364" y="5622926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0" name="Freeform 505"/>
              <p:cNvSpPr>
                <a:spLocks/>
              </p:cNvSpPr>
              <p:nvPr/>
            </p:nvSpPr>
            <p:spPr bwMode="auto">
              <a:xfrm>
                <a:off x="6980238" y="5640389"/>
                <a:ext cx="14288" cy="23813"/>
              </a:xfrm>
              <a:custGeom>
                <a:avLst/>
                <a:gdLst>
                  <a:gd name="T0" fmla="*/ 0 w 9"/>
                  <a:gd name="T1" fmla="*/ 0 h 15"/>
                  <a:gd name="T2" fmla="*/ 4 w 9"/>
                  <a:gd name="T3" fmla="*/ 4 h 15"/>
                  <a:gd name="T4" fmla="*/ 9 w 9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0"/>
                    </a:moveTo>
                    <a:lnTo>
                      <a:pt x="4" y="4"/>
                    </a:lnTo>
                    <a:lnTo>
                      <a:pt x="9" y="1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1" name="Line 506"/>
              <p:cNvSpPr>
                <a:spLocks noChangeShapeType="1"/>
              </p:cNvSpPr>
              <p:nvPr/>
            </p:nvSpPr>
            <p:spPr bwMode="auto">
              <a:xfrm>
                <a:off x="6994525" y="56642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2" name="Line 507"/>
              <p:cNvSpPr>
                <a:spLocks noChangeShapeType="1"/>
              </p:cNvSpPr>
              <p:nvPr/>
            </p:nvSpPr>
            <p:spPr bwMode="auto">
              <a:xfrm>
                <a:off x="7008813" y="56816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3" name="Line 508"/>
              <p:cNvSpPr>
                <a:spLocks noChangeShapeType="1"/>
              </p:cNvSpPr>
              <p:nvPr/>
            </p:nvSpPr>
            <p:spPr bwMode="auto">
              <a:xfrm>
                <a:off x="7023101" y="56975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4" name="Line 509"/>
              <p:cNvSpPr>
                <a:spLocks noChangeShapeType="1"/>
              </p:cNvSpPr>
              <p:nvPr/>
            </p:nvSpPr>
            <p:spPr bwMode="auto">
              <a:xfrm>
                <a:off x="7038975" y="57150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5" name="Line 510"/>
              <p:cNvSpPr>
                <a:spLocks noChangeShapeType="1"/>
              </p:cNvSpPr>
              <p:nvPr/>
            </p:nvSpPr>
            <p:spPr bwMode="auto">
              <a:xfrm>
                <a:off x="7053263" y="57324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6" name="Line 511"/>
              <p:cNvSpPr>
                <a:spLocks noChangeShapeType="1"/>
              </p:cNvSpPr>
              <p:nvPr/>
            </p:nvSpPr>
            <p:spPr bwMode="auto">
              <a:xfrm>
                <a:off x="7067551" y="57483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7" name="Line 512"/>
              <p:cNvSpPr>
                <a:spLocks noChangeShapeType="1"/>
              </p:cNvSpPr>
              <p:nvPr/>
            </p:nvSpPr>
            <p:spPr bwMode="auto">
              <a:xfrm>
                <a:off x="7083425" y="57658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8" name="Line 513"/>
              <p:cNvSpPr>
                <a:spLocks noChangeShapeType="1"/>
              </p:cNvSpPr>
              <p:nvPr/>
            </p:nvSpPr>
            <p:spPr bwMode="auto">
              <a:xfrm>
                <a:off x="7097713" y="57832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9" name="Line 514"/>
              <p:cNvSpPr>
                <a:spLocks noChangeShapeType="1"/>
              </p:cNvSpPr>
              <p:nvPr/>
            </p:nvSpPr>
            <p:spPr bwMode="auto">
              <a:xfrm>
                <a:off x="7112000" y="57991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0" name="Line 515"/>
              <p:cNvSpPr>
                <a:spLocks noChangeShapeType="1"/>
              </p:cNvSpPr>
              <p:nvPr/>
            </p:nvSpPr>
            <p:spPr bwMode="auto">
              <a:xfrm>
                <a:off x="7126289" y="5816601"/>
                <a:ext cx="15875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1" name="Line 516"/>
              <p:cNvSpPr>
                <a:spLocks noChangeShapeType="1"/>
              </p:cNvSpPr>
              <p:nvPr/>
            </p:nvSpPr>
            <p:spPr bwMode="auto">
              <a:xfrm>
                <a:off x="7142163" y="582612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2" name="Line 517"/>
              <p:cNvSpPr>
                <a:spLocks noChangeShapeType="1"/>
              </p:cNvSpPr>
              <p:nvPr/>
            </p:nvSpPr>
            <p:spPr bwMode="auto">
              <a:xfrm>
                <a:off x="7156450" y="5842001"/>
                <a:ext cx="12700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3" name="Line 518"/>
              <p:cNvSpPr>
                <a:spLocks noChangeShapeType="1"/>
              </p:cNvSpPr>
              <p:nvPr/>
            </p:nvSpPr>
            <p:spPr bwMode="auto">
              <a:xfrm>
                <a:off x="7169151" y="5851526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4" name="Line 519"/>
              <p:cNvSpPr>
                <a:spLocks noChangeShapeType="1"/>
              </p:cNvSpPr>
              <p:nvPr/>
            </p:nvSpPr>
            <p:spPr bwMode="auto">
              <a:xfrm>
                <a:off x="7185025" y="58689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5" name="Line 520"/>
              <p:cNvSpPr>
                <a:spLocks noChangeShapeType="1"/>
              </p:cNvSpPr>
              <p:nvPr/>
            </p:nvSpPr>
            <p:spPr bwMode="auto">
              <a:xfrm>
                <a:off x="7199313" y="58753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6" name="Line 521"/>
              <p:cNvSpPr>
                <a:spLocks noChangeShapeType="1"/>
              </p:cNvSpPr>
              <p:nvPr/>
            </p:nvSpPr>
            <p:spPr bwMode="auto">
              <a:xfrm>
                <a:off x="7213600" y="58928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7" name="Line 522"/>
              <p:cNvSpPr>
                <a:spLocks noChangeShapeType="1"/>
              </p:cNvSpPr>
              <p:nvPr/>
            </p:nvSpPr>
            <p:spPr bwMode="auto">
              <a:xfrm>
                <a:off x="7227889" y="590232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8" name="Line 523"/>
              <p:cNvSpPr>
                <a:spLocks noChangeShapeType="1"/>
              </p:cNvSpPr>
              <p:nvPr/>
            </p:nvSpPr>
            <p:spPr bwMode="auto">
              <a:xfrm>
                <a:off x="7243763" y="59102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9" name="Line 524"/>
              <p:cNvSpPr>
                <a:spLocks noChangeShapeType="1"/>
              </p:cNvSpPr>
              <p:nvPr/>
            </p:nvSpPr>
            <p:spPr bwMode="auto">
              <a:xfrm>
                <a:off x="7258050" y="59197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0" name="Line 525"/>
              <p:cNvSpPr>
                <a:spLocks noChangeShapeType="1"/>
              </p:cNvSpPr>
              <p:nvPr/>
            </p:nvSpPr>
            <p:spPr bwMode="auto">
              <a:xfrm>
                <a:off x="7272338" y="5926139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1" name="Line 526"/>
              <p:cNvSpPr>
                <a:spLocks noChangeShapeType="1"/>
              </p:cNvSpPr>
              <p:nvPr/>
            </p:nvSpPr>
            <p:spPr bwMode="auto">
              <a:xfrm>
                <a:off x="7286626" y="59356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2" name="Line 527"/>
              <p:cNvSpPr>
                <a:spLocks noChangeShapeType="1"/>
              </p:cNvSpPr>
              <p:nvPr/>
            </p:nvSpPr>
            <p:spPr bwMode="auto">
              <a:xfrm>
                <a:off x="7302500" y="59436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3" name="Line 528"/>
              <p:cNvSpPr>
                <a:spLocks noChangeShapeType="1"/>
              </p:cNvSpPr>
              <p:nvPr/>
            </p:nvSpPr>
            <p:spPr bwMode="auto">
              <a:xfrm>
                <a:off x="7316788" y="59531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4" name="Line 529"/>
              <p:cNvSpPr>
                <a:spLocks noChangeShapeType="1"/>
              </p:cNvSpPr>
              <p:nvPr/>
            </p:nvSpPr>
            <p:spPr bwMode="auto">
              <a:xfrm>
                <a:off x="7331076" y="59610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5" name="Line 530"/>
              <p:cNvSpPr>
                <a:spLocks noChangeShapeType="1"/>
              </p:cNvSpPr>
              <p:nvPr/>
            </p:nvSpPr>
            <p:spPr bwMode="auto">
              <a:xfrm>
                <a:off x="7346950" y="59690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6" name="Line 531"/>
              <p:cNvSpPr>
                <a:spLocks noChangeShapeType="1"/>
              </p:cNvSpPr>
              <p:nvPr/>
            </p:nvSpPr>
            <p:spPr bwMode="auto">
              <a:xfrm>
                <a:off x="7361238" y="59785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7" name="Freeform 532"/>
              <p:cNvSpPr>
                <a:spLocks/>
              </p:cNvSpPr>
              <p:nvPr/>
            </p:nvSpPr>
            <p:spPr bwMode="auto">
              <a:xfrm>
                <a:off x="7375526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8" name="Line 533"/>
              <p:cNvSpPr>
                <a:spLocks noChangeShapeType="1"/>
              </p:cNvSpPr>
              <p:nvPr/>
            </p:nvSpPr>
            <p:spPr bwMode="auto">
              <a:xfrm>
                <a:off x="7397750" y="59864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9" name="Line 534"/>
              <p:cNvSpPr>
                <a:spLocks noChangeShapeType="1"/>
              </p:cNvSpPr>
              <p:nvPr/>
            </p:nvSpPr>
            <p:spPr bwMode="auto">
              <a:xfrm>
                <a:off x="7412039" y="5995988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0" name="Line 535"/>
              <p:cNvSpPr>
                <a:spLocks noChangeShapeType="1"/>
              </p:cNvSpPr>
              <p:nvPr/>
            </p:nvSpPr>
            <p:spPr bwMode="auto">
              <a:xfrm>
                <a:off x="7427913" y="60039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1" name="Line 536"/>
              <p:cNvSpPr>
                <a:spLocks noChangeShapeType="1"/>
              </p:cNvSpPr>
              <p:nvPr/>
            </p:nvSpPr>
            <p:spPr bwMode="auto">
              <a:xfrm>
                <a:off x="7442200" y="60039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2" name="Line 537"/>
              <p:cNvSpPr>
                <a:spLocks noChangeShapeType="1"/>
              </p:cNvSpPr>
              <p:nvPr/>
            </p:nvSpPr>
            <p:spPr bwMode="auto">
              <a:xfrm>
                <a:off x="7456488" y="60118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3" name="Line 538"/>
              <p:cNvSpPr>
                <a:spLocks noChangeShapeType="1"/>
              </p:cNvSpPr>
              <p:nvPr/>
            </p:nvSpPr>
            <p:spPr bwMode="auto">
              <a:xfrm>
                <a:off x="7470776" y="60198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4" name="Freeform 539"/>
              <p:cNvSpPr>
                <a:spLocks/>
              </p:cNvSpPr>
              <p:nvPr/>
            </p:nvSpPr>
            <p:spPr bwMode="auto">
              <a:xfrm>
                <a:off x="7486650" y="60198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5" name="Line 540"/>
              <p:cNvSpPr>
                <a:spLocks noChangeShapeType="1"/>
              </p:cNvSpPr>
              <p:nvPr/>
            </p:nvSpPr>
            <p:spPr bwMode="auto">
              <a:xfrm>
                <a:off x="7500938" y="60293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6" name="Freeform 541"/>
              <p:cNvSpPr>
                <a:spLocks/>
              </p:cNvSpPr>
              <p:nvPr/>
            </p:nvSpPr>
            <p:spPr bwMode="auto">
              <a:xfrm>
                <a:off x="7515225" y="60293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5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5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7" name="Line 542"/>
              <p:cNvSpPr>
                <a:spLocks noChangeShapeType="1"/>
              </p:cNvSpPr>
              <p:nvPr/>
            </p:nvSpPr>
            <p:spPr bwMode="auto">
              <a:xfrm>
                <a:off x="7529514" y="60372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8" name="Line 543"/>
              <p:cNvSpPr>
                <a:spLocks noChangeShapeType="1"/>
              </p:cNvSpPr>
              <p:nvPr/>
            </p:nvSpPr>
            <p:spPr bwMode="auto">
              <a:xfrm>
                <a:off x="7545388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9" name="Freeform 544"/>
              <p:cNvSpPr>
                <a:spLocks/>
              </p:cNvSpPr>
              <p:nvPr/>
            </p:nvSpPr>
            <p:spPr bwMode="auto">
              <a:xfrm>
                <a:off x="7559675" y="6037264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0" name="Line 545"/>
              <p:cNvSpPr>
                <a:spLocks noChangeShapeType="1"/>
              </p:cNvSpPr>
              <p:nvPr/>
            </p:nvSpPr>
            <p:spPr bwMode="auto">
              <a:xfrm>
                <a:off x="7573964" y="6046788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1" name="Freeform 546"/>
              <p:cNvSpPr>
                <a:spLocks/>
              </p:cNvSpPr>
              <p:nvPr/>
            </p:nvSpPr>
            <p:spPr bwMode="auto">
              <a:xfrm>
                <a:off x="7589838" y="6046788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2" name="Line 547"/>
              <p:cNvSpPr>
                <a:spLocks noChangeShapeType="1"/>
              </p:cNvSpPr>
              <p:nvPr/>
            </p:nvSpPr>
            <p:spPr bwMode="auto">
              <a:xfrm>
                <a:off x="7604125" y="60547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3" name="Line 548"/>
              <p:cNvSpPr>
                <a:spLocks noChangeShapeType="1"/>
              </p:cNvSpPr>
              <p:nvPr/>
            </p:nvSpPr>
            <p:spPr bwMode="auto">
              <a:xfrm>
                <a:off x="7618413" y="60547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4" name="Line 549"/>
              <p:cNvSpPr>
                <a:spLocks noChangeShapeType="1"/>
              </p:cNvSpPr>
              <p:nvPr/>
            </p:nvSpPr>
            <p:spPr bwMode="auto">
              <a:xfrm>
                <a:off x="7632701" y="60547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5" name="Freeform 550"/>
              <p:cNvSpPr>
                <a:spLocks/>
              </p:cNvSpPr>
              <p:nvPr/>
            </p:nvSpPr>
            <p:spPr bwMode="auto">
              <a:xfrm>
                <a:off x="7648575" y="60547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6" name="Line 551"/>
              <p:cNvSpPr>
                <a:spLocks noChangeShapeType="1"/>
              </p:cNvSpPr>
              <p:nvPr/>
            </p:nvSpPr>
            <p:spPr bwMode="auto">
              <a:xfrm>
                <a:off x="7662863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7" name="Line 552"/>
              <p:cNvSpPr>
                <a:spLocks noChangeShapeType="1"/>
              </p:cNvSpPr>
              <p:nvPr/>
            </p:nvSpPr>
            <p:spPr bwMode="auto">
              <a:xfrm>
                <a:off x="7677150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8" name="Line 553"/>
              <p:cNvSpPr>
                <a:spLocks noChangeShapeType="1"/>
              </p:cNvSpPr>
              <p:nvPr/>
            </p:nvSpPr>
            <p:spPr bwMode="auto">
              <a:xfrm>
                <a:off x="7691439" y="60626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9" name="Freeform 554"/>
              <p:cNvSpPr>
                <a:spLocks/>
              </p:cNvSpPr>
              <p:nvPr/>
            </p:nvSpPr>
            <p:spPr bwMode="auto">
              <a:xfrm>
                <a:off x="7707313" y="6062663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0" name="Line 555"/>
              <p:cNvSpPr>
                <a:spLocks noChangeShapeType="1"/>
              </p:cNvSpPr>
              <p:nvPr/>
            </p:nvSpPr>
            <p:spPr bwMode="auto">
              <a:xfrm>
                <a:off x="7721600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1" name="Line 556"/>
              <p:cNvSpPr>
                <a:spLocks noChangeShapeType="1"/>
              </p:cNvSpPr>
              <p:nvPr/>
            </p:nvSpPr>
            <p:spPr bwMode="auto">
              <a:xfrm>
                <a:off x="7735889" y="60706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2" name="Line 557"/>
              <p:cNvSpPr>
                <a:spLocks noChangeShapeType="1"/>
              </p:cNvSpPr>
              <p:nvPr/>
            </p:nvSpPr>
            <p:spPr bwMode="auto">
              <a:xfrm>
                <a:off x="7751763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3" name="Line 558"/>
              <p:cNvSpPr>
                <a:spLocks noChangeShapeType="1"/>
              </p:cNvSpPr>
              <p:nvPr/>
            </p:nvSpPr>
            <p:spPr bwMode="auto">
              <a:xfrm>
                <a:off x="7766050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4" name="Line 559"/>
              <p:cNvSpPr>
                <a:spLocks noChangeShapeType="1"/>
              </p:cNvSpPr>
              <p:nvPr/>
            </p:nvSpPr>
            <p:spPr bwMode="auto">
              <a:xfrm>
                <a:off x="7780338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5" name="Line 560"/>
              <p:cNvSpPr>
                <a:spLocks noChangeShapeType="1"/>
              </p:cNvSpPr>
              <p:nvPr/>
            </p:nvSpPr>
            <p:spPr bwMode="auto">
              <a:xfrm>
                <a:off x="7794626" y="60706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6" name="Freeform 561"/>
              <p:cNvSpPr>
                <a:spLocks/>
              </p:cNvSpPr>
              <p:nvPr/>
            </p:nvSpPr>
            <p:spPr bwMode="auto">
              <a:xfrm>
                <a:off x="7810500" y="60706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7" name="Line 562"/>
              <p:cNvSpPr>
                <a:spLocks noChangeShapeType="1"/>
              </p:cNvSpPr>
              <p:nvPr/>
            </p:nvSpPr>
            <p:spPr bwMode="auto">
              <a:xfrm>
                <a:off x="782478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" name="Line 563"/>
              <p:cNvSpPr>
                <a:spLocks noChangeShapeType="1"/>
              </p:cNvSpPr>
              <p:nvPr/>
            </p:nvSpPr>
            <p:spPr bwMode="auto">
              <a:xfrm>
                <a:off x="783907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" name="Line 564"/>
              <p:cNvSpPr>
                <a:spLocks noChangeShapeType="1"/>
              </p:cNvSpPr>
              <p:nvPr/>
            </p:nvSpPr>
            <p:spPr bwMode="auto">
              <a:xfrm>
                <a:off x="7853364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" name="Line 565"/>
              <p:cNvSpPr>
                <a:spLocks noChangeShapeType="1"/>
              </p:cNvSpPr>
              <p:nvPr/>
            </p:nvSpPr>
            <p:spPr bwMode="auto">
              <a:xfrm>
                <a:off x="786923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" name="Line 566"/>
              <p:cNvSpPr>
                <a:spLocks noChangeShapeType="1"/>
              </p:cNvSpPr>
              <p:nvPr/>
            </p:nvSpPr>
            <p:spPr bwMode="auto">
              <a:xfrm>
                <a:off x="788352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" name="Line 567"/>
              <p:cNvSpPr>
                <a:spLocks noChangeShapeType="1"/>
              </p:cNvSpPr>
              <p:nvPr/>
            </p:nvSpPr>
            <p:spPr bwMode="auto">
              <a:xfrm>
                <a:off x="7897814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" name="Line 568"/>
              <p:cNvSpPr>
                <a:spLocks noChangeShapeType="1"/>
              </p:cNvSpPr>
              <p:nvPr/>
            </p:nvSpPr>
            <p:spPr bwMode="auto">
              <a:xfrm>
                <a:off x="791368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" name="Line 569"/>
              <p:cNvSpPr>
                <a:spLocks noChangeShapeType="1"/>
              </p:cNvSpPr>
              <p:nvPr/>
            </p:nvSpPr>
            <p:spPr bwMode="auto">
              <a:xfrm>
                <a:off x="792797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" name="Line 570"/>
              <p:cNvSpPr>
                <a:spLocks noChangeShapeType="1"/>
              </p:cNvSpPr>
              <p:nvPr/>
            </p:nvSpPr>
            <p:spPr bwMode="auto">
              <a:xfrm>
                <a:off x="7942263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" name="Line 571"/>
              <p:cNvSpPr>
                <a:spLocks noChangeShapeType="1"/>
              </p:cNvSpPr>
              <p:nvPr/>
            </p:nvSpPr>
            <p:spPr bwMode="auto">
              <a:xfrm>
                <a:off x="7956551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7" name="Freeform 572"/>
              <p:cNvSpPr>
                <a:spLocks/>
              </p:cNvSpPr>
              <p:nvPr/>
            </p:nvSpPr>
            <p:spPr bwMode="auto">
              <a:xfrm>
                <a:off x="7972426" y="6080125"/>
                <a:ext cx="22225" cy="0"/>
              </a:xfrm>
              <a:custGeom>
                <a:avLst/>
                <a:gdLst>
                  <a:gd name="T0" fmla="*/ 0 w 14"/>
                  <a:gd name="T1" fmla="*/ 4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4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8" name="Line 294"/>
              <p:cNvSpPr>
                <a:spLocks noChangeShapeType="1"/>
              </p:cNvSpPr>
              <p:nvPr/>
            </p:nvSpPr>
            <p:spPr bwMode="auto">
              <a:xfrm>
                <a:off x="385603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9" name="Line 295"/>
              <p:cNvSpPr>
                <a:spLocks noChangeShapeType="1"/>
              </p:cNvSpPr>
              <p:nvPr/>
            </p:nvSpPr>
            <p:spPr bwMode="auto">
              <a:xfrm>
                <a:off x="3870326" y="60801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0" name="Line 296"/>
              <p:cNvSpPr>
                <a:spLocks noChangeShapeType="1"/>
              </p:cNvSpPr>
              <p:nvPr/>
            </p:nvSpPr>
            <p:spPr bwMode="auto">
              <a:xfrm>
                <a:off x="3886200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1" name="Line 297"/>
              <p:cNvSpPr>
                <a:spLocks noChangeShapeType="1"/>
              </p:cNvSpPr>
              <p:nvPr/>
            </p:nvSpPr>
            <p:spPr bwMode="auto">
              <a:xfrm>
                <a:off x="390048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2" name="Line 298"/>
              <p:cNvSpPr>
                <a:spLocks noChangeShapeType="1"/>
              </p:cNvSpPr>
              <p:nvPr/>
            </p:nvSpPr>
            <p:spPr bwMode="auto">
              <a:xfrm>
                <a:off x="3914775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3" name="Line 299"/>
              <p:cNvSpPr>
                <a:spLocks noChangeShapeType="1"/>
              </p:cNvSpPr>
              <p:nvPr/>
            </p:nvSpPr>
            <p:spPr bwMode="auto">
              <a:xfrm>
                <a:off x="3929064" y="60801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4" name="Line 300"/>
              <p:cNvSpPr>
                <a:spLocks noChangeShapeType="1"/>
              </p:cNvSpPr>
              <p:nvPr/>
            </p:nvSpPr>
            <p:spPr bwMode="auto">
              <a:xfrm>
                <a:off x="394493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5" name="Freeform 301"/>
              <p:cNvSpPr>
                <a:spLocks/>
              </p:cNvSpPr>
              <p:nvPr/>
            </p:nvSpPr>
            <p:spPr bwMode="auto">
              <a:xfrm>
                <a:off x="3959225" y="60706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6" name="Line 302"/>
              <p:cNvSpPr>
                <a:spLocks noChangeShapeType="1"/>
              </p:cNvSpPr>
              <p:nvPr/>
            </p:nvSpPr>
            <p:spPr bwMode="auto">
              <a:xfrm>
                <a:off x="3973514" y="60706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7" name="Line 303"/>
              <p:cNvSpPr>
                <a:spLocks noChangeShapeType="1"/>
              </p:cNvSpPr>
              <p:nvPr/>
            </p:nvSpPr>
            <p:spPr bwMode="auto">
              <a:xfrm>
                <a:off x="3989388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8" name="Line 304"/>
              <p:cNvSpPr>
                <a:spLocks noChangeShapeType="1"/>
              </p:cNvSpPr>
              <p:nvPr/>
            </p:nvSpPr>
            <p:spPr bwMode="auto">
              <a:xfrm>
                <a:off x="4003675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9" name="Line 305"/>
              <p:cNvSpPr>
                <a:spLocks noChangeShapeType="1"/>
              </p:cNvSpPr>
              <p:nvPr/>
            </p:nvSpPr>
            <p:spPr bwMode="auto">
              <a:xfrm>
                <a:off x="4017963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0" name="Line 306"/>
              <p:cNvSpPr>
                <a:spLocks noChangeShapeType="1"/>
              </p:cNvSpPr>
              <p:nvPr/>
            </p:nvSpPr>
            <p:spPr bwMode="auto">
              <a:xfrm>
                <a:off x="4032251" y="60706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1" name="Line 307"/>
              <p:cNvSpPr>
                <a:spLocks noChangeShapeType="1"/>
              </p:cNvSpPr>
              <p:nvPr/>
            </p:nvSpPr>
            <p:spPr bwMode="auto">
              <a:xfrm>
                <a:off x="4048125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2" name="Freeform 308"/>
              <p:cNvSpPr>
                <a:spLocks/>
              </p:cNvSpPr>
              <p:nvPr/>
            </p:nvSpPr>
            <p:spPr bwMode="auto">
              <a:xfrm>
                <a:off x="4062413" y="6062663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3" name="Line 309"/>
              <p:cNvSpPr>
                <a:spLocks noChangeShapeType="1"/>
              </p:cNvSpPr>
              <p:nvPr/>
            </p:nvSpPr>
            <p:spPr bwMode="auto">
              <a:xfrm>
                <a:off x="4076700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4" name="Line 310"/>
              <p:cNvSpPr>
                <a:spLocks noChangeShapeType="1"/>
              </p:cNvSpPr>
              <p:nvPr/>
            </p:nvSpPr>
            <p:spPr bwMode="auto">
              <a:xfrm>
                <a:off x="4090989" y="60626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5" name="Line 311"/>
              <p:cNvSpPr>
                <a:spLocks noChangeShapeType="1"/>
              </p:cNvSpPr>
              <p:nvPr/>
            </p:nvSpPr>
            <p:spPr bwMode="auto">
              <a:xfrm>
                <a:off x="4106863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6" name="Freeform 312"/>
              <p:cNvSpPr>
                <a:spLocks/>
              </p:cNvSpPr>
              <p:nvPr/>
            </p:nvSpPr>
            <p:spPr bwMode="auto">
              <a:xfrm>
                <a:off x="4121150" y="6054726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7" name="Line 313"/>
              <p:cNvSpPr>
                <a:spLocks noChangeShapeType="1"/>
              </p:cNvSpPr>
              <p:nvPr/>
            </p:nvSpPr>
            <p:spPr bwMode="auto">
              <a:xfrm>
                <a:off x="4135439" y="60547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8" name="Line 314"/>
              <p:cNvSpPr>
                <a:spLocks noChangeShapeType="1"/>
              </p:cNvSpPr>
              <p:nvPr/>
            </p:nvSpPr>
            <p:spPr bwMode="auto">
              <a:xfrm>
                <a:off x="4151313" y="60547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9" name="Line 315"/>
              <p:cNvSpPr>
                <a:spLocks noChangeShapeType="1"/>
              </p:cNvSpPr>
              <p:nvPr/>
            </p:nvSpPr>
            <p:spPr bwMode="auto">
              <a:xfrm>
                <a:off x="4165600" y="60547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0" name="Freeform 316"/>
              <p:cNvSpPr>
                <a:spLocks/>
              </p:cNvSpPr>
              <p:nvPr/>
            </p:nvSpPr>
            <p:spPr bwMode="auto">
              <a:xfrm>
                <a:off x="4179888" y="6046788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1" name="Line 317"/>
              <p:cNvSpPr>
                <a:spLocks noChangeShapeType="1"/>
              </p:cNvSpPr>
              <p:nvPr/>
            </p:nvSpPr>
            <p:spPr bwMode="auto">
              <a:xfrm>
                <a:off x="4194176" y="6046788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2" name="Freeform 318"/>
              <p:cNvSpPr>
                <a:spLocks/>
              </p:cNvSpPr>
              <p:nvPr/>
            </p:nvSpPr>
            <p:spPr bwMode="auto">
              <a:xfrm>
                <a:off x="4210050" y="6037264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3" name="Line 319"/>
              <p:cNvSpPr>
                <a:spLocks noChangeShapeType="1"/>
              </p:cNvSpPr>
              <p:nvPr/>
            </p:nvSpPr>
            <p:spPr bwMode="auto">
              <a:xfrm>
                <a:off x="4224338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4" name="Line 320"/>
              <p:cNvSpPr>
                <a:spLocks noChangeShapeType="1"/>
              </p:cNvSpPr>
              <p:nvPr/>
            </p:nvSpPr>
            <p:spPr bwMode="auto">
              <a:xfrm>
                <a:off x="4238625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5" name="Freeform 321"/>
              <p:cNvSpPr>
                <a:spLocks/>
              </p:cNvSpPr>
              <p:nvPr/>
            </p:nvSpPr>
            <p:spPr bwMode="auto">
              <a:xfrm>
                <a:off x="4252914" y="6029326"/>
                <a:ext cx="15875" cy="7938"/>
              </a:xfrm>
              <a:custGeom>
                <a:avLst/>
                <a:gdLst>
                  <a:gd name="T0" fmla="*/ 0 w 10"/>
                  <a:gd name="T1" fmla="*/ 5 h 5"/>
                  <a:gd name="T2" fmla="*/ 5 w 10"/>
                  <a:gd name="T3" fmla="*/ 0 h 5"/>
                  <a:gd name="T4" fmla="*/ 10 w 10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5"/>
                    </a:moveTo>
                    <a:lnTo>
                      <a:pt x="5" y="0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6" name="Line 322"/>
              <p:cNvSpPr>
                <a:spLocks noChangeShapeType="1"/>
              </p:cNvSpPr>
              <p:nvPr/>
            </p:nvSpPr>
            <p:spPr bwMode="auto">
              <a:xfrm>
                <a:off x="4268788" y="60293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7" name="Freeform 323"/>
              <p:cNvSpPr>
                <a:spLocks/>
              </p:cNvSpPr>
              <p:nvPr/>
            </p:nvSpPr>
            <p:spPr bwMode="auto">
              <a:xfrm>
                <a:off x="4283075" y="60198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8" name="Line 324"/>
              <p:cNvSpPr>
                <a:spLocks noChangeShapeType="1"/>
              </p:cNvSpPr>
              <p:nvPr/>
            </p:nvSpPr>
            <p:spPr bwMode="auto">
              <a:xfrm>
                <a:off x="4297364" y="60198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9" name="Line 325"/>
              <p:cNvSpPr>
                <a:spLocks noChangeShapeType="1"/>
              </p:cNvSpPr>
              <p:nvPr/>
            </p:nvSpPr>
            <p:spPr bwMode="auto">
              <a:xfrm flipV="1">
                <a:off x="4313238" y="60118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0" name="Line 326"/>
              <p:cNvSpPr>
                <a:spLocks noChangeShapeType="1"/>
              </p:cNvSpPr>
              <p:nvPr/>
            </p:nvSpPr>
            <p:spPr bwMode="auto">
              <a:xfrm flipV="1">
                <a:off x="4327525" y="60039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1" name="Line 327"/>
              <p:cNvSpPr>
                <a:spLocks noChangeShapeType="1"/>
              </p:cNvSpPr>
              <p:nvPr/>
            </p:nvSpPr>
            <p:spPr bwMode="auto">
              <a:xfrm>
                <a:off x="4341813" y="60039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2" name="Line 328"/>
              <p:cNvSpPr>
                <a:spLocks noChangeShapeType="1"/>
              </p:cNvSpPr>
              <p:nvPr/>
            </p:nvSpPr>
            <p:spPr bwMode="auto">
              <a:xfrm flipV="1">
                <a:off x="4356101" y="5995988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3" name="Line 329"/>
              <p:cNvSpPr>
                <a:spLocks noChangeShapeType="1"/>
              </p:cNvSpPr>
              <p:nvPr/>
            </p:nvSpPr>
            <p:spPr bwMode="auto">
              <a:xfrm flipV="1">
                <a:off x="4371975" y="59864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4" name="Freeform 330"/>
              <p:cNvSpPr>
                <a:spLocks/>
              </p:cNvSpPr>
              <p:nvPr/>
            </p:nvSpPr>
            <p:spPr bwMode="auto">
              <a:xfrm>
                <a:off x="4386264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" name="Line 331"/>
              <p:cNvSpPr>
                <a:spLocks noChangeShapeType="1"/>
              </p:cNvSpPr>
              <p:nvPr/>
            </p:nvSpPr>
            <p:spPr bwMode="auto">
              <a:xfrm flipV="1">
                <a:off x="4408488" y="59785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6" name="Line 332"/>
              <p:cNvSpPr>
                <a:spLocks noChangeShapeType="1"/>
              </p:cNvSpPr>
              <p:nvPr/>
            </p:nvSpPr>
            <p:spPr bwMode="auto">
              <a:xfrm flipV="1">
                <a:off x="4422775" y="59690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7" name="Line 333"/>
              <p:cNvSpPr>
                <a:spLocks noChangeShapeType="1"/>
              </p:cNvSpPr>
              <p:nvPr/>
            </p:nvSpPr>
            <p:spPr bwMode="auto">
              <a:xfrm flipV="1">
                <a:off x="4437064" y="59610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8" name="Line 334"/>
              <p:cNvSpPr>
                <a:spLocks noChangeShapeType="1"/>
              </p:cNvSpPr>
              <p:nvPr/>
            </p:nvSpPr>
            <p:spPr bwMode="auto">
              <a:xfrm flipV="1">
                <a:off x="4452938" y="59531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9" name="Line 335"/>
              <p:cNvSpPr>
                <a:spLocks noChangeShapeType="1"/>
              </p:cNvSpPr>
              <p:nvPr/>
            </p:nvSpPr>
            <p:spPr bwMode="auto">
              <a:xfrm flipV="1">
                <a:off x="4467225" y="59436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0" name="Line 336"/>
              <p:cNvSpPr>
                <a:spLocks noChangeShapeType="1"/>
              </p:cNvSpPr>
              <p:nvPr/>
            </p:nvSpPr>
            <p:spPr bwMode="auto">
              <a:xfrm flipV="1">
                <a:off x="4481513" y="59356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1" name="Line 337"/>
              <p:cNvSpPr>
                <a:spLocks noChangeShapeType="1"/>
              </p:cNvSpPr>
              <p:nvPr/>
            </p:nvSpPr>
            <p:spPr bwMode="auto">
              <a:xfrm flipV="1">
                <a:off x="4495801" y="5926139"/>
                <a:ext cx="15875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2" name="Line 338"/>
              <p:cNvSpPr>
                <a:spLocks noChangeShapeType="1"/>
              </p:cNvSpPr>
              <p:nvPr/>
            </p:nvSpPr>
            <p:spPr bwMode="auto">
              <a:xfrm flipV="1">
                <a:off x="4511675" y="59197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3" name="Line 339"/>
              <p:cNvSpPr>
                <a:spLocks noChangeShapeType="1"/>
              </p:cNvSpPr>
              <p:nvPr/>
            </p:nvSpPr>
            <p:spPr bwMode="auto">
              <a:xfrm flipV="1">
                <a:off x="4525963" y="59102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4" name="Line 340"/>
              <p:cNvSpPr>
                <a:spLocks noChangeShapeType="1"/>
              </p:cNvSpPr>
              <p:nvPr/>
            </p:nvSpPr>
            <p:spPr bwMode="auto">
              <a:xfrm flipV="1">
                <a:off x="4540251" y="5902326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5" name="Line 341"/>
              <p:cNvSpPr>
                <a:spLocks noChangeShapeType="1"/>
              </p:cNvSpPr>
              <p:nvPr/>
            </p:nvSpPr>
            <p:spPr bwMode="auto">
              <a:xfrm flipV="1">
                <a:off x="4556125" y="58928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6" name="Line 342"/>
              <p:cNvSpPr>
                <a:spLocks noChangeShapeType="1"/>
              </p:cNvSpPr>
              <p:nvPr/>
            </p:nvSpPr>
            <p:spPr bwMode="auto">
              <a:xfrm flipV="1">
                <a:off x="4570413" y="58753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7" name="Line 343"/>
              <p:cNvSpPr>
                <a:spLocks noChangeShapeType="1"/>
              </p:cNvSpPr>
              <p:nvPr/>
            </p:nvSpPr>
            <p:spPr bwMode="auto">
              <a:xfrm flipV="1">
                <a:off x="4584700" y="58689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8" name="Line 344"/>
              <p:cNvSpPr>
                <a:spLocks noChangeShapeType="1"/>
              </p:cNvSpPr>
              <p:nvPr/>
            </p:nvSpPr>
            <p:spPr bwMode="auto">
              <a:xfrm flipV="1">
                <a:off x="4598989" y="5851527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9" name="Line 345"/>
              <p:cNvSpPr>
                <a:spLocks noChangeShapeType="1"/>
              </p:cNvSpPr>
              <p:nvPr/>
            </p:nvSpPr>
            <p:spPr bwMode="auto">
              <a:xfrm flipV="1">
                <a:off x="4614863" y="5842002"/>
                <a:ext cx="12700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0" name="Line 346"/>
              <p:cNvSpPr>
                <a:spLocks noChangeShapeType="1"/>
              </p:cNvSpPr>
              <p:nvPr/>
            </p:nvSpPr>
            <p:spPr bwMode="auto">
              <a:xfrm flipV="1">
                <a:off x="4627563" y="5826127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1" name="Line 347"/>
              <p:cNvSpPr>
                <a:spLocks noChangeShapeType="1"/>
              </p:cNvSpPr>
              <p:nvPr/>
            </p:nvSpPr>
            <p:spPr bwMode="auto">
              <a:xfrm flipV="1">
                <a:off x="4641850" y="58166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2" name="Line 348"/>
              <p:cNvSpPr>
                <a:spLocks noChangeShapeType="1"/>
              </p:cNvSpPr>
              <p:nvPr/>
            </p:nvSpPr>
            <p:spPr bwMode="auto">
              <a:xfrm flipV="1">
                <a:off x="4656139" y="57991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3" name="Line 349"/>
              <p:cNvSpPr>
                <a:spLocks noChangeShapeType="1"/>
              </p:cNvSpPr>
              <p:nvPr/>
            </p:nvSpPr>
            <p:spPr bwMode="auto">
              <a:xfrm flipV="1">
                <a:off x="4672013" y="57832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4" name="Line 350"/>
              <p:cNvSpPr>
                <a:spLocks noChangeShapeType="1"/>
              </p:cNvSpPr>
              <p:nvPr/>
            </p:nvSpPr>
            <p:spPr bwMode="auto">
              <a:xfrm flipV="1">
                <a:off x="4686300" y="57658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5" name="Line 351"/>
              <p:cNvSpPr>
                <a:spLocks noChangeShapeType="1"/>
              </p:cNvSpPr>
              <p:nvPr/>
            </p:nvSpPr>
            <p:spPr bwMode="auto">
              <a:xfrm flipV="1">
                <a:off x="4700589" y="57483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6" name="Line 352"/>
              <p:cNvSpPr>
                <a:spLocks noChangeShapeType="1"/>
              </p:cNvSpPr>
              <p:nvPr/>
            </p:nvSpPr>
            <p:spPr bwMode="auto">
              <a:xfrm flipV="1">
                <a:off x="4716463" y="57324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7" name="Line 353"/>
              <p:cNvSpPr>
                <a:spLocks noChangeShapeType="1"/>
              </p:cNvSpPr>
              <p:nvPr/>
            </p:nvSpPr>
            <p:spPr bwMode="auto">
              <a:xfrm flipV="1">
                <a:off x="4730750" y="57150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8" name="Line 354"/>
              <p:cNvSpPr>
                <a:spLocks noChangeShapeType="1"/>
              </p:cNvSpPr>
              <p:nvPr/>
            </p:nvSpPr>
            <p:spPr bwMode="auto">
              <a:xfrm flipV="1">
                <a:off x="4745038" y="56975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9" name="Line 355"/>
              <p:cNvSpPr>
                <a:spLocks noChangeShapeType="1"/>
              </p:cNvSpPr>
              <p:nvPr/>
            </p:nvSpPr>
            <p:spPr bwMode="auto">
              <a:xfrm flipV="1">
                <a:off x="4759326" y="5681664"/>
                <a:ext cx="15875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0" name="Line 356"/>
              <p:cNvSpPr>
                <a:spLocks noChangeShapeType="1"/>
              </p:cNvSpPr>
              <p:nvPr/>
            </p:nvSpPr>
            <p:spPr bwMode="auto">
              <a:xfrm flipV="1">
                <a:off x="4775200" y="56642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1" name="Freeform 357"/>
              <p:cNvSpPr>
                <a:spLocks/>
              </p:cNvSpPr>
              <p:nvPr/>
            </p:nvSpPr>
            <p:spPr bwMode="auto">
              <a:xfrm>
                <a:off x="4789488" y="5640389"/>
                <a:ext cx="14288" cy="23813"/>
              </a:xfrm>
              <a:custGeom>
                <a:avLst/>
                <a:gdLst>
                  <a:gd name="T0" fmla="*/ 0 w 9"/>
                  <a:gd name="T1" fmla="*/ 15 h 15"/>
                  <a:gd name="T2" fmla="*/ 5 w 9"/>
                  <a:gd name="T3" fmla="*/ 4 h 15"/>
                  <a:gd name="T4" fmla="*/ 9 w 9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15"/>
                    </a:moveTo>
                    <a:lnTo>
                      <a:pt x="5" y="4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2" name="Line 358"/>
              <p:cNvSpPr>
                <a:spLocks noChangeShapeType="1"/>
              </p:cNvSpPr>
              <p:nvPr/>
            </p:nvSpPr>
            <p:spPr bwMode="auto">
              <a:xfrm flipV="1">
                <a:off x="4803775" y="5622927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3" name="Freeform 359"/>
              <p:cNvSpPr>
                <a:spLocks/>
              </p:cNvSpPr>
              <p:nvPr/>
            </p:nvSpPr>
            <p:spPr bwMode="auto">
              <a:xfrm>
                <a:off x="4818064" y="5597526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6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6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4" name="Line 360"/>
              <p:cNvSpPr>
                <a:spLocks noChangeShapeType="1"/>
              </p:cNvSpPr>
              <p:nvPr/>
            </p:nvSpPr>
            <p:spPr bwMode="auto">
              <a:xfrm flipV="1">
                <a:off x="4833938" y="558006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5" name="Line 361"/>
              <p:cNvSpPr>
                <a:spLocks noChangeShapeType="1"/>
              </p:cNvSpPr>
              <p:nvPr/>
            </p:nvSpPr>
            <p:spPr bwMode="auto">
              <a:xfrm flipV="1">
                <a:off x="4848225" y="5556252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6" name="Line 362"/>
              <p:cNvSpPr>
                <a:spLocks noChangeShapeType="1"/>
              </p:cNvSpPr>
              <p:nvPr/>
            </p:nvSpPr>
            <p:spPr bwMode="auto">
              <a:xfrm flipV="1">
                <a:off x="4862514" y="55292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7" name="Line 363"/>
              <p:cNvSpPr>
                <a:spLocks noChangeShapeType="1"/>
              </p:cNvSpPr>
              <p:nvPr/>
            </p:nvSpPr>
            <p:spPr bwMode="auto">
              <a:xfrm flipV="1">
                <a:off x="4878388" y="5503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8" name="Line 364"/>
              <p:cNvSpPr>
                <a:spLocks noChangeShapeType="1"/>
              </p:cNvSpPr>
              <p:nvPr/>
            </p:nvSpPr>
            <p:spPr bwMode="auto">
              <a:xfrm flipV="1">
                <a:off x="4892675" y="5480052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9" name="Line 365"/>
              <p:cNvSpPr>
                <a:spLocks noChangeShapeType="1"/>
              </p:cNvSpPr>
              <p:nvPr/>
            </p:nvSpPr>
            <p:spPr bwMode="auto">
              <a:xfrm flipV="1">
                <a:off x="4906963" y="54530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0" name="Line 366"/>
              <p:cNvSpPr>
                <a:spLocks noChangeShapeType="1"/>
              </p:cNvSpPr>
              <p:nvPr/>
            </p:nvSpPr>
            <p:spPr bwMode="auto">
              <a:xfrm flipV="1">
                <a:off x="4921251" y="5429252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1" name="Line 367"/>
              <p:cNvSpPr>
                <a:spLocks noChangeShapeType="1"/>
              </p:cNvSpPr>
              <p:nvPr/>
            </p:nvSpPr>
            <p:spPr bwMode="auto">
              <a:xfrm flipV="1">
                <a:off x="4937125" y="54022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2" name="Line 368"/>
              <p:cNvSpPr>
                <a:spLocks noChangeShapeType="1"/>
              </p:cNvSpPr>
              <p:nvPr/>
            </p:nvSpPr>
            <p:spPr bwMode="auto">
              <a:xfrm flipV="1">
                <a:off x="4951413" y="5376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3" name="Line 369"/>
              <p:cNvSpPr>
                <a:spLocks noChangeShapeType="1"/>
              </p:cNvSpPr>
              <p:nvPr/>
            </p:nvSpPr>
            <p:spPr bwMode="auto">
              <a:xfrm flipV="1">
                <a:off x="4965700" y="53514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4" name="Freeform 370"/>
              <p:cNvSpPr>
                <a:spLocks/>
              </p:cNvSpPr>
              <p:nvPr/>
            </p:nvSpPr>
            <p:spPr bwMode="auto">
              <a:xfrm>
                <a:off x="4979989" y="5318126"/>
                <a:ext cx="22225" cy="33338"/>
              </a:xfrm>
              <a:custGeom>
                <a:avLst/>
                <a:gdLst>
                  <a:gd name="T0" fmla="*/ 0 w 14"/>
                  <a:gd name="T1" fmla="*/ 21 h 21"/>
                  <a:gd name="T2" fmla="*/ 5 w 14"/>
                  <a:gd name="T3" fmla="*/ 10 h 21"/>
                  <a:gd name="T4" fmla="*/ 14 w 14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lnTo>
                      <a:pt x="5" y="1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5" name="Line 371"/>
              <p:cNvSpPr>
                <a:spLocks noChangeShapeType="1"/>
              </p:cNvSpPr>
              <p:nvPr/>
            </p:nvSpPr>
            <p:spPr bwMode="auto">
              <a:xfrm flipV="1">
                <a:off x="5002214" y="5292726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6" name="Freeform 372"/>
              <p:cNvSpPr>
                <a:spLocks/>
              </p:cNvSpPr>
              <p:nvPr/>
            </p:nvSpPr>
            <p:spPr bwMode="auto">
              <a:xfrm>
                <a:off x="5018088" y="5257802"/>
                <a:ext cx="14288" cy="34925"/>
              </a:xfrm>
              <a:custGeom>
                <a:avLst/>
                <a:gdLst>
                  <a:gd name="T0" fmla="*/ 0 w 9"/>
                  <a:gd name="T1" fmla="*/ 22 h 22"/>
                  <a:gd name="T2" fmla="*/ 4 w 9"/>
                  <a:gd name="T3" fmla="*/ 11 h 22"/>
                  <a:gd name="T4" fmla="*/ 9 w 9"/>
                  <a:gd name="T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22"/>
                    </a:moveTo>
                    <a:lnTo>
                      <a:pt x="4" y="11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7" name="Line 373"/>
              <p:cNvSpPr>
                <a:spLocks noChangeShapeType="1"/>
              </p:cNvSpPr>
              <p:nvPr/>
            </p:nvSpPr>
            <p:spPr bwMode="auto">
              <a:xfrm flipV="1">
                <a:off x="5032375" y="523398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8" name="Line 374"/>
              <p:cNvSpPr>
                <a:spLocks noChangeShapeType="1"/>
              </p:cNvSpPr>
              <p:nvPr/>
            </p:nvSpPr>
            <p:spPr bwMode="auto">
              <a:xfrm flipV="1">
                <a:off x="5046663" y="51990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9" name="Line 375"/>
              <p:cNvSpPr>
                <a:spLocks noChangeShapeType="1"/>
              </p:cNvSpPr>
              <p:nvPr/>
            </p:nvSpPr>
            <p:spPr bwMode="auto">
              <a:xfrm flipV="1">
                <a:off x="5060951" y="5165726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0" name="Line 376"/>
              <p:cNvSpPr>
                <a:spLocks noChangeShapeType="1"/>
              </p:cNvSpPr>
              <p:nvPr/>
            </p:nvSpPr>
            <p:spPr bwMode="auto">
              <a:xfrm flipV="1">
                <a:off x="5076825" y="5140326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1" name="Line 377"/>
              <p:cNvSpPr>
                <a:spLocks noChangeShapeType="1"/>
              </p:cNvSpPr>
              <p:nvPr/>
            </p:nvSpPr>
            <p:spPr bwMode="auto">
              <a:xfrm flipV="1">
                <a:off x="5091113" y="5106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2" name="Line 378"/>
              <p:cNvSpPr>
                <a:spLocks noChangeShapeType="1"/>
              </p:cNvSpPr>
              <p:nvPr/>
            </p:nvSpPr>
            <p:spPr bwMode="auto">
              <a:xfrm flipV="1">
                <a:off x="5105401" y="5073651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3" name="Line 379"/>
              <p:cNvSpPr>
                <a:spLocks noChangeShapeType="1"/>
              </p:cNvSpPr>
              <p:nvPr/>
            </p:nvSpPr>
            <p:spPr bwMode="auto">
              <a:xfrm flipV="1">
                <a:off x="5121275" y="5040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4" name="Line 392"/>
              <p:cNvSpPr>
                <a:spLocks noChangeShapeType="1"/>
              </p:cNvSpPr>
              <p:nvPr/>
            </p:nvSpPr>
            <p:spPr bwMode="auto">
              <a:xfrm flipV="1">
                <a:off x="5311775" y="45815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5" name="Line 393"/>
              <p:cNvSpPr>
                <a:spLocks noChangeShapeType="1"/>
              </p:cNvSpPr>
              <p:nvPr/>
            </p:nvSpPr>
            <p:spPr bwMode="auto">
              <a:xfrm flipV="1">
                <a:off x="5326064" y="4548188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6" name="Line 394"/>
              <p:cNvSpPr>
                <a:spLocks noChangeShapeType="1"/>
              </p:cNvSpPr>
              <p:nvPr/>
            </p:nvSpPr>
            <p:spPr bwMode="auto">
              <a:xfrm flipV="1">
                <a:off x="5341938" y="4516438"/>
                <a:ext cx="14288" cy="317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7" name="Line 395"/>
              <p:cNvSpPr>
                <a:spLocks noChangeShapeType="1"/>
              </p:cNvSpPr>
              <p:nvPr/>
            </p:nvSpPr>
            <p:spPr bwMode="auto">
              <a:xfrm flipV="1">
                <a:off x="5356225" y="448151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8" name="Line 396"/>
              <p:cNvSpPr>
                <a:spLocks noChangeShapeType="1"/>
              </p:cNvSpPr>
              <p:nvPr/>
            </p:nvSpPr>
            <p:spPr bwMode="auto">
              <a:xfrm flipV="1">
                <a:off x="5370513" y="4438652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9" name="Line 397"/>
              <p:cNvSpPr>
                <a:spLocks noChangeShapeType="1"/>
              </p:cNvSpPr>
              <p:nvPr/>
            </p:nvSpPr>
            <p:spPr bwMode="auto">
              <a:xfrm flipV="1">
                <a:off x="5384801" y="44053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0" name="Line 398"/>
              <p:cNvSpPr>
                <a:spLocks noChangeShapeType="1"/>
              </p:cNvSpPr>
              <p:nvPr/>
            </p:nvSpPr>
            <p:spPr bwMode="auto">
              <a:xfrm flipV="1">
                <a:off x="5400675" y="437197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1" name="Line 399"/>
              <p:cNvSpPr>
                <a:spLocks noChangeShapeType="1"/>
              </p:cNvSpPr>
              <p:nvPr/>
            </p:nvSpPr>
            <p:spPr bwMode="auto">
              <a:xfrm flipV="1">
                <a:off x="5414963" y="4337052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2" name="Line 400"/>
              <p:cNvSpPr>
                <a:spLocks noChangeShapeType="1"/>
              </p:cNvSpPr>
              <p:nvPr/>
            </p:nvSpPr>
            <p:spPr bwMode="auto">
              <a:xfrm flipV="1">
                <a:off x="5429251" y="4303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3" name="Line 401"/>
              <p:cNvSpPr>
                <a:spLocks noChangeShapeType="1"/>
              </p:cNvSpPr>
              <p:nvPr/>
            </p:nvSpPr>
            <p:spPr bwMode="auto">
              <a:xfrm flipV="1">
                <a:off x="5445125" y="4268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4" name="Line 402"/>
              <p:cNvSpPr>
                <a:spLocks noChangeShapeType="1"/>
              </p:cNvSpPr>
              <p:nvPr/>
            </p:nvSpPr>
            <p:spPr bwMode="auto">
              <a:xfrm flipV="1">
                <a:off x="5459413" y="4235451"/>
                <a:ext cx="12700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5" name="Line 403"/>
              <p:cNvSpPr>
                <a:spLocks noChangeShapeType="1"/>
              </p:cNvSpPr>
              <p:nvPr/>
            </p:nvSpPr>
            <p:spPr bwMode="auto">
              <a:xfrm flipV="1">
                <a:off x="5472113" y="4210051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6" name="Line 404"/>
              <p:cNvSpPr>
                <a:spLocks noChangeShapeType="1"/>
              </p:cNvSpPr>
              <p:nvPr/>
            </p:nvSpPr>
            <p:spPr bwMode="auto">
              <a:xfrm flipV="1">
                <a:off x="5486401" y="4176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7" name="Line 405"/>
              <p:cNvSpPr>
                <a:spLocks noChangeShapeType="1"/>
              </p:cNvSpPr>
              <p:nvPr/>
            </p:nvSpPr>
            <p:spPr bwMode="auto">
              <a:xfrm flipV="1">
                <a:off x="5502275" y="4141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8" name="Line 476"/>
              <p:cNvSpPr>
                <a:spLocks noChangeShapeType="1"/>
              </p:cNvSpPr>
              <p:nvPr/>
            </p:nvSpPr>
            <p:spPr bwMode="auto">
              <a:xfrm>
                <a:off x="6539707" y="4790282"/>
                <a:ext cx="9524" cy="2064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202018" y="3501008"/>
              <a:ext cx="4134030" cy="2186240"/>
              <a:chOff x="3856038" y="3727450"/>
              <a:chExt cx="4138613" cy="2352677"/>
            </a:xfrm>
            <a:solidFill>
              <a:srgbClr val="33CC33"/>
            </a:solidFill>
          </p:grpSpPr>
          <p:sp>
            <p:nvSpPr>
              <p:cNvPr id="291" name="Line 382"/>
              <p:cNvSpPr>
                <a:spLocks noChangeShapeType="1"/>
              </p:cNvSpPr>
              <p:nvPr/>
            </p:nvSpPr>
            <p:spPr bwMode="auto">
              <a:xfrm flipV="1">
                <a:off x="5164139" y="4938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2" name="Line 380"/>
              <p:cNvSpPr>
                <a:spLocks noChangeShapeType="1"/>
              </p:cNvSpPr>
              <p:nvPr/>
            </p:nvSpPr>
            <p:spPr bwMode="auto">
              <a:xfrm flipV="1">
                <a:off x="5135563" y="50053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3" name="Line 381"/>
              <p:cNvSpPr>
                <a:spLocks noChangeShapeType="1"/>
              </p:cNvSpPr>
              <p:nvPr/>
            </p:nvSpPr>
            <p:spPr bwMode="auto">
              <a:xfrm flipV="1">
                <a:off x="5149850" y="4972051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4" name="Line 383"/>
              <p:cNvSpPr>
                <a:spLocks noChangeShapeType="1"/>
              </p:cNvSpPr>
              <p:nvPr/>
            </p:nvSpPr>
            <p:spPr bwMode="auto">
              <a:xfrm flipV="1">
                <a:off x="5180013" y="4903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5" name="Line 384"/>
              <p:cNvSpPr>
                <a:spLocks noChangeShapeType="1"/>
              </p:cNvSpPr>
              <p:nvPr/>
            </p:nvSpPr>
            <p:spPr bwMode="auto">
              <a:xfrm flipV="1">
                <a:off x="5194300" y="48688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6" name="Line 385"/>
              <p:cNvSpPr>
                <a:spLocks noChangeShapeType="1"/>
              </p:cNvSpPr>
              <p:nvPr/>
            </p:nvSpPr>
            <p:spPr bwMode="auto">
              <a:xfrm flipV="1">
                <a:off x="5208588" y="48355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7" name="Line 386"/>
              <p:cNvSpPr>
                <a:spLocks noChangeShapeType="1"/>
              </p:cNvSpPr>
              <p:nvPr/>
            </p:nvSpPr>
            <p:spPr bwMode="auto">
              <a:xfrm flipV="1">
                <a:off x="5222876" y="4802188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8" name="Line 387"/>
              <p:cNvSpPr>
                <a:spLocks noChangeShapeType="1"/>
              </p:cNvSpPr>
              <p:nvPr/>
            </p:nvSpPr>
            <p:spPr bwMode="auto">
              <a:xfrm flipV="1">
                <a:off x="5238750" y="4759327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9" name="Line 388"/>
              <p:cNvSpPr>
                <a:spLocks noChangeShapeType="1"/>
              </p:cNvSpPr>
              <p:nvPr/>
            </p:nvSpPr>
            <p:spPr bwMode="auto">
              <a:xfrm flipV="1">
                <a:off x="5253038" y="4725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0" name="Line 389"/>
              <p:cNvSpPr>
                <a:spLocks noChangeShapeType="1"/>
              </p:cNvSpPr>
              <p:nvPr/>
            </p:nvSpPr>
            <p:spPr bwMode="auto">
              <a:xfrm flipV="1">
                <a:off x="5267326" y="4691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" name="Line 390"/>
              <p:cNvSpPr>
                <a:spLocks noChangeShapeType="1"/>
              </p:cNvSpPr>
              <p:nvPr/>
            </p:nvSpPr>
            <p:spPr bwMode="auto">
              <a:xfrm flipV="1">
                <a:off x="5283200" y="46577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" name="Line 391"/>
              <p:cNvSpPr>
                <a:spLocks noChangeShapeType="1"/>
              </p:cNvSpPr>
              <p:nvPr/>
            </p:nvSpPr>
            <p:spPr bwMode="auto">
              <a:xfrm flipV="1">
                <a:off x="5297488" y="4614864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" name="Line 475"/>
              <p:cNvSpPr>
                <a:spLocks noChangeShapeType="1"/>
              </p:cNvSpPr>
              <p:nvPr/>
            </p:nvSpPr>
            <p:spPr bwMode="auto">
              <a:xfrm>
                <a:off x="6530975" y="4759326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" name="Line 474"/>
              <p:cNvSpPr>
                <a:spLocks noChangeShapeType="1"/>
              </p:cNvSpPr>
              <p:nvPr/>
            </p:nvSpPr>
            <p:spPr bwMode="auto">
              <a:xfrm>
                <a:off x="6516688" y="4725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" name="Line 476"/>
              <p:cNvSpPr>
                <a:spLocks noChangeShapeType="1"/>
              </p:cNvSpPr>
              <p:nvPr/>
            </p:nvSpPr>
            <p:spPr bwMode="auto">
              <a:xfrm>
                <a:off x="6548439" y="4808535"/>
                <a:ext cx="11112" cy="26992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" name="Line 407"/>
              <p:cNvSpPr>
                <a:spLocks noChangeShapeType="1"/>
              </p:cNvSpPr>
              <p:nvPr/>
            </p:nvSpPr>
            <p:spPr bwMode="auto">
              <a:xfrm flipV="1">
                <a:off x="5516563" y="4116388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" name="Freeform 408"/>
              <p:cNvSpPr>
                <a:spLocks/>
              </p:cNvSpPr>
              <p:nvPr/>
            </p:nvSpPr>
            <p:spPr bwMode="auto">
              <a:xfrm>
                <a:off x="5530851" y="4083050"/>
                <a:ext cx="15875" cy="33338"/>
              </a:xfrm>
              <a:custGeom>
                <a:avLst/>
                <a:gdLst>
                  <a:gd name="T0" fmla="*/ 0 w 10"/>
                  <a:gd name="T1" fmla="*/ 21 h 21"/>
                  <a:gd name="T2" fmla="*/ 5 w 10"/>
                  <a:gd name="T3" fmla="*/ 10 h 21"/>
                  <a:gd name="T4" fmla="*/ 10 w 10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21"/>
                    </a:moveTo>
                    <a:lnTo>
                      <a:pt x="5" y="10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" name="Line 409"/>
              <p:cNvSpPr>
                <a:spLocks noChangeShapeType="1"/>
              </p:cNvSpPr>
              <p:nvPr/>
            </p:nvSpPr>
            <p:spPr bwMode="auto">
              <a:xfrm flipV="1">
                <a:off x="5546725" y="40576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" name="Line 410"/>
              <p:cNvSpPr>
                <a:spLocks noChangeShapeType="1"/>
              </p:cNvSpPr>
              <p:nvPr/>
            </p:nvSpPr>
            <p:spPr bwMode="auto">
              <a:xfrm flipV="1">
                <a:off x="5561013" y="40322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" name="Freeform 411"/>
              <p:cNvSpPr>
                <a:spLocks/>
              </p:cNvSpPr>
              <p:nvPr/>
            </p:nvSpPr>
            <p:spPr bwMode="auto">
              <a:xfrm>
                <a:off x="5575301" y="4006850"/>
                <a:ext cx="22225" cy="25400"/>
              </a:xfrm>
              <a:custGeom>
                <a:avLst/>
                <a:gdLst>
                  <a:gd name="T0" fmla="*/ 0 w 14"/>
                  <a:gd name="T1" fmla="*/ 16 h 16"/>
                  <a:gd name="T2" fmla="*/ 5 w 14"/>
                  <a:gd name="T3" fmla="*/ 5 h 16"/>
                  <a:gd name="T4" fmla="*/ 14 w 14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16"/>
                    </a:moveTo>
                    <a:lnTo>
                      <a:pt x="5" y="5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" name="Line 412"/>
              <p:cNvSpPr>
                <a:spLocks noChangeShapeType="1"/>
              </p:cNvSpPr>
              <p:nvPr/>
            </p:nvSpPr>
            <p:spPr bwMode="auto">
              <a:xfrm flipV="1">
                <a:off x="5597525" y="39798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" name="Line 413"/>
              <p:cNvSpPr>
                <a:spLocks noChangeShapeType="1"/>
              </p:cNvSpPr>
              <p:nvPr/>
            </p:nvSpPr>
            <p:spPr bwMode="auto">
              <a:xfrm flipV="1">
                <a:off x="5611814" y="3956051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" name="Line 414"/>
              <p:cNvSpPr>
                <a:spLocks noChangeShapeType="1"/>
              </p:cNvSpPr>
              <p:nvPr/>
            </p:nvSpPr>
            <p:spPr bwMode="auto">
              <a:xfrm flipV="1">
                <a:off x="5627688" y="393223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" name="Line 415"/>
              <p:cNvSpPr>
                <a:spLocks noChangeShapeType="1"/>
              </p:cNvSpPr>
              <p:nvPr/>
            </p:nvSpPr>
            <p:spPr bwMode="auto">
              <a:xfrm flipV="1">
                <a:off x="5641975" y="3905250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" name="Line 416"/>
              <p:cNvSpPr>
                <a:spLocks noChangeShapeType="1"/>
              </p:cNvSpPr>
              <p:nvPr/>
            </p:nvSpPr>
            <p:spPr bwMode="auto">
              <a:xfrm flipV="1">
                <a:off x="5656263" y="388937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" name="Freeform 417"/>
              <p:cNvSpPr>
                <a:spLocks/>
              </p:cNvSpPr>
              <p:nvPr/>
            </p:nvSpPr>
            <p:spPr bwMode="auto">
              <a:xfrm>
                <a:off x="5670551" y="3863975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5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5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" name="Line 418"/>
              <p:cNvSpPr>
                <a:spLocks noChangeShapeType="1"/>
              </p:cNvSpPr>
              <p:nvPr/>
            </p:nvSpPr>
            <p:spPr bwMode="auto">
              <a:xfrm flipV="1">
                <a:off x="5686425" y="38465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" name="Line 419"/>
              <p:cNvSpPr>
                <a:spLocks noChangeShapeType="1"/>
              </p:cNvSpPr>
              <p:nvPr/>
            </p:nvSpPr>
            <p:spPr bwMode="auto">
              <a:xfrm flipV="1">
                <a:off x="5700713" y="382905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" name="Line 420"/>
              <p:cNvSpPr>
                <a:spLocks noChangeShapeType="1"/>
              </p:cNvSpPr>
              <p:nvPr/>
            </p:nvSpPr>
            <p:spPr bwMode="auto">
              <a:xfrm flipV="1">
                <a:off x="5715000" y="381158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" name="Line 421"/>
              <p:cNvSpPr>
                <a:spLocks noChangeShapeType="1"/>
              </p:cNvSpPr>
              <p:nvPr/>
            </p:nvSpPr>
            <p:spPr bwMode="auto">
              <a:xfrm flipV="1">
                <a:off x="5729289" y="3795714"/>
                <a:ext cx="15875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" name="Line 422"/>
              <p:cNvSpPr>
                <a:spLocks noChangeShapeType="1"/>
              </p:cNvSpPr>
              <p:nvPr/>
            </p:nvSpPr>
            <p:spPr bwMode="auto">
              <a:xfrm flipV="1">
                <a:off x="5745163" y="37877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" name="Line 423"/>
              <p:cNvSpPr>
                <a:spLocks noChangeShapeType="1"/>
              </p:cNvSpPr>
              <p:nvPr/>
            </p:nvSpPr>
            <p:spPr bwMode="auto">
              <a:xfrm flipV="1">
                <a:off x="5759450" y="37703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" name="Line 424"/>
              <p:cNvSpPr>
                <a:spLocks noChangeShapeType="1"/>
              </p:cNvSpPr>
              <p:nvPr/>
            </p:nvSpPr>
            <p:spPr bwMode="auto">
              <a:xfrm flipV="1">
                <a:off x="5773739" y="376237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" name="Line 425"/>
              <p:cNvSpPr>
                <a:spLocks noChangeShapeType="1"/>
              </p:cNvSpPr>
              <p:nvPr/>
            </p:nvSpPr>
            <p:spPr bwMode="auto">
              <a:xfrm flipV="1">
                <a:off x="5789613" y="3754438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" name="Line 426"/>
              <p:cNvSpPr>
                <a:spLocks noChangeShapeType="1"/>
              </p:cNvSpPr>
              <p:nvPr/>
            </p:nvSpPr>
            <p:spPr bwMode="auto">
              <a:xfrm flipV="1">
                <a:off x="5803900" y="374491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" name="Line 427"/>
              <p:cNvSpPr>
                <a:spLocks noChangeShapeType="1"/>
              </p:cNvSpPr>
              <p:nvPr/>
            </p:nvSpPr>
            <p:spPr bwMode="auto">
              <a:xfrm flipV="1">
                <a:off x="5818188" y="37369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" name="Line 428"/>
              <p:cNvSpPr>
                <a:spLocks noChangeShapeType="1"/>
              </p:cNvSpPr>
              <p:nvPr/>
            </p:nvSpPr>
            <p:spPr bwMode="auto">
              <a:xfrm>
                <a:off x="5832476" y="373697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" name="Freeform 429"/>
              <p:cNvSpPr>
                <a:spLocks/>
              </p:cNvSpPr>
              <p:nvPr/>
            </p:nvSpPr>
            <p:spPr bwMode="auto">
              <a:xfrm>
                <a:off x="5848350" y="3727451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" name="Line 430"/>
              <p:cNvSpPr>
                <a:spLocks noChangeShapeType="1"/>
              </p:cNvSpPr>
              <p:nvPr/>
            </p:nvSpPr>
            <p:spPr bwMode="auto">
              <a:xfrm>
                <a:off x="5862638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" name="Line 431"/>
              <p:cNvSpPr>
                <a:spLocks noChangeShapeType="1"/>
              </p:cNvSpPr>
              <p:nvPr/>
            </p:nvSpPr>
            <p:spPr bwMode="auto">
              <a:xfrm>
                <a:off x="5876925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" name="Line 432"/>
              <p:cNvSpPr>
                <a:spLocks noChangeShapeType="1"/>
              </p:cNvSpPr>
              <p:nvPr/>
            </p:nvSpPr>
            <p:spPr bwMode="auto">
              <a:xfrm>
                <a:off x="5891214" y="372745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" name="Line 433"/>
              <p:cNvSpPr>
                <a:spLocks noChangeShapeType="1"/>
              </p:cNvSpPr>
              <p:nvPr/>
            </p:nvSpPr>
            <p:spPr bwMode="auto">
              <a:xfrm>
                <a:off x="5907088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" name="Freeform 434"/>
              <p:cNvSpPr>
                <a:spLocks/>
              </p:cNvSpPr>
              <p:nvPr/>
            </p:nvSpPr>
            <p:spPr bwMode="auto">
              <a:xfrm>
                <a:off x="5921375" y="372745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" name="Line 435"/>
              <p:cNvSpPr>
                <a:spLocks noChangeShapeType="1"/>
              </p:cNvSpPr>
              <p:nvPr/>
            </p:nvSpPr>
            <p:spPr bwMode="auto">
              <a:xfrm>
                <a:off x="5935664" y="373697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" name="Line 436"/>
              <p:cNvSpPr>
                <a:spLocks noChangeShapeType="1"/>
              </p:cNvSpPr>
              <p:nvPr/>
            </p:nvSpPr>
            <p:spPr bwMode="auto">
              <a:xfrm>
                <a:off x="5951538" y="37369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" name="Line 437"/>
              <p:cNvSpPr>
                <a:spLocks noChangeShapeType="1"/>
              </p:cNvSpPr>
              <p:nvPr/>
            </p:nvSpPr>
            <p:spPr bwMode="auto">
              <a:xfrm>
                <a:off x="5965825" y="374491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" name="Line 438"/>
              <p:cNvSpPr>
                <a:spLocks noChangeShapeType="1"/>
              </p:cNvSpPr>
              <p:nvPr/>
            </p:nvSpPr>
            <p:spPr bwMode="auto">
              <a:xfrm>
                <a:off x="5980113" y="3754438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" name="Line 439"/>
              <p:cNvSpPr>
                <a:spLocks noChangeShapeType="1"/>
              </p:cNvSpPr>
              <p:nvPr/>
            </p:nvSpPr>
            <p:spPr bwMode="auto">
              <a:xfrm>
                <a:off x="5994401" y="376237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" name="Line 440"/>
              <p:cNvSpPr>
                <a:spLocks noChangeShapeType="1"/>
              </p:cNvSpPr>
              <p:nvPr/>
            </p:nvSpPr>
            <p:spPr bwMode="auto">
              <a:xfrm>
                <a:off x="6010275" y="37703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" name="Line 441"/>
              <p:cNvSpPr>
                <a:spLocks noChangeShapeType="1"/>
              </p:cNvSpPr>
              <p:nvPr/>
            </p:nvSpPr>
            <p:spPr bwMode="auto">
              <a:xfrm>
                <a:off x="6024563" y="37877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" name="Line 442"/>
              <p:cNvSpPr>
                <a:spLocks noChangeShapeType="1"/>
              </p:cNvSpPr>
              <p:nvPr/>
            </p:nvSpPr>
            <p:spPr bwMode="auto">
              <a:xfrm>
                <a:off x="6038850" y="379571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" name="Line 443"/>
              <p:cNvSpPr>
                <a:spLocks noChangeShapeType="1"/>
              </p:cNvSpPr>
              <p:nvPr/>
            </p:nvSpPr>
            <p:spPr bwMode="auto">
              <a:xfrm>
                <a:off x="6053139" y="381158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" name="Line 444"/>
              <p:cNvSpPr>
                <a:spLocks noChangeShapeType="1"/>
              </p:cNvSpPr>
              <p:nvPr/>
            </p:nvSpPr>
            <p:spPr bwMode="auto">
              <a:xfrm>
                <a:off x="6069013" y="382905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" name="Line 445"/>
              <p:cNvSpPr>
                <a:spLocks noChangeShapeType="1"/>
              </p:cNvSpPr>
              <p:nvPr/>
            </p:nvSpPr>
            <p:spPr bwMode="auto">
              <a:xfrm>
                <a:off x="6083300" y="38465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" name="Freeform 446"/>
              <p:cNvSpPr>
                <a:spLocks/>
              </p:cNvSpPr>
              <p:nvPr/>
            </p:nvSpPr>
            <p:spPr bwMode="auto">
              <a:xfrm>
                <a:off x="6097589" y="3863975"/>
                <a:ext cx="15875" cy="25400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5 h 16"/>
                  <a:gd name="T4" fmla="*/ 10 w 10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5"/>
                    </a:lnTo>
                    <a:lnTo>
                      <a:pt x="10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" name="Line 447"/>
              <p:cNvSpPr>
                <a:spLocks noChangeShapeType="1"/>
              </p:cNvSpPr>
              <p:nvPr/>
            </p:nvSpPr>
            <p:spPr bwMode="auto">
              <a:xfrm>
                <a:off x="6113463" y="388937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" name="Line 448"/>
              <p:cNvSpPr>
                <a:spLocks noChangeShapeType="1"/>
              </p:cNvSpPr>
              <p:nvPr/>
            </p:nvSpPr>
            <p:spPr bwMode="auto">
              <a:xfrm>
                <a:off x="6127750" y="3905250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" name="Line 449"/>
              <p:cNvSpPr>
                <a:spLocks noChangeShapeType="1"/>
              </p:cNvSpPr>
              <p:nvPr/>
            </p:nvSpPr>
            <p:spPr bwMode="auto">
              <a:xfrm>
                <a:off x="6142038" y="393223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" name="Line 450"/>
              <p:cNvSpPr>
                <a:spLocks noChangeShapeType="1"/>
              </p:cNvSpPr>
              <p:nvPr/>
            </p:nvSpPr>
            <p:spPr bwMode="auto">
              <a:xfrm>
                <a:off x="6156326" y="3956051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" name="Freeform 451"/>
              <p:cNvSpPr>
                <a:spLocks/>
              </p:cNvSpPr>
              <p:nvPr/>
            </p:nvSpPr>
            <p:spPr bwMode="auto">
              <a:xfrm>
                <a:off x="6172201" y="3979863"/>
                <a:ext cx="22225" cy="26988"/>
              </a:xfrm>
              <a:custGeom>
                <a:avLst/>
                <a:gdLst>
                  <a:gd name="T0" fmla="*/ 0 w 14"/>
                  <a:gd name="T1" fmla="*/ 0 h 17"/>
                  <a:gd name="T2" fmla="*/ 4 w 14"/>
                  <a:gd name="T3" fmla="*/ 6 h 17"/>
                  <a:gd name="T4" fmla="*/ 14 w 14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7">
                    <a:moveTo>
                      <a:pt x="0" y="0"/>
                    </a:moveTo>
                    <a:lnTo>
                      <a:pt x="4" y="6"/>
                    </a:lnTo>
                    <a:lnTo>
                      <a:pt x="14" y="17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" name="Line 452"/>
              <p:cNvSpPr>
                <a:spLocks noChangeShapeType="1"/>
              </p:cNvSpPr>
              <p:nvPr/>
            </p:nvSpPr>
            <p:spPr bwMode="auto">
              <a:xfrm>
                <a:off x="6194425" y="40068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" name="Line 453"/>
              <p:cNvSpPr>
                <a:spLocks noChangeShapeType="1"/>
              </p:cNvSpPr>
              <p:nvPr/>
            </p:nvSpPr>
            <p:spPr bwMode="auto">
              <a:xfrm>
                <a:off x="6208713" y="40322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3" name="Line 454"/>
              <p:cNvSpPr>
                <a:spLocks noChangeShapeType="1"/>
              </p:cNvSpPr>
              <p:nvPr/>
            </p:nvSpPr>
            <p:spPr bwMode="auto">
              <a:xfrm>
                <a:off x="6223000" y="40576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4" name="Freeform 455"/>
              <p:cNvSpPr>
                <a:spLocks/>
              </p:cNvSpPr>
              <p:nvPr/>
            </p:nvSpPr>
            <p:spPr bwMode="auto">
              <a:xfrm>
                <a:off x="6237289" y="4083050"/>
                <a:ext cx="15875" cy="33338"/>
              </a:xfrm>
              <a:custGeom>
                <a:avLst/>
                <a:gdLst>
                  <a:gd name="T0" fmla="*/ 0 w 10"/>
                  <a:gd name="T1" fmla="*/ 0 h 21"/>
                  <a:gd name="T2" fmla="*/ 5 w 10"/>
                  <a:gd name="T3" fmla="*/ 10 h 21"/>
                  <a:gd name="T4" fmla="*/ 10 w 10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0"/>
                    </a:moveTo>
                    <a:lnTo>
                      <a:pt x="5" y="10"/>
                    </a:lnTo>
                    <a:lnTo>
                      <a:pt x="10" y="21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" name="Line 456"/>
              <p:cNvSpPr>
                <a:spLocks noChangeShapeType="1"/>
              </p:cNvSpPr>
              <p:nvPr/>
            </p:nvSpPr>
            <p:spPr bwMode="auto">
              <a:xfrm>
                <a:off x="6253163" y="4116388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" name="Line 457"/>
              <p:cNvSpPr>
                <a:spLocks noChangeShapeType="1"/>
              </p:cNvSpPr>
              <p:nvPr/>
            </p:nvSpPr>
            <p:spPr bwMode="auto">
              <a:xfrm>
                <a:off x="6267450" y="4141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" name="Line 458"/>
              <p:cNvSpPr>
                <a:spLocks noChangeShapeType="1"/>
              </p:cNvSpPr>
              <p:nvPr/>
            </p:nvSpPr>
            <p:spPr bwMode="auto">
              <a:xfrm>
                <a:off x="6281738" y="41767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" name="Line 459"/>
              <p:cNvSpPr>
                <a:spLocks noChangeShapeType="1"/>
              </p:cNvSpPr>
              <p:nvPr/>
            </p:nvSpPr>
            <p:spPr bwMode="auto">
              <a:xfrm>
                <a:off x="6296026" y="4210050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" name="Line 460"/>
              <p:cNvSpPr>
                <a:spLocks noChangeShapeType="1"/>
              </p:cNvSpPr>
              <p:nvPr/>
            </p:nvSpPr>
            <p:spPr bwMode="auto">
              <a:xfrm>
                <a:off x="6311900" y="4235450"/>
                <a:ext cx="12700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" name="Line 461"/>
              <p:cNvSpPr>
                <a:spLocks noChangeShapeType="1"/>
              </p:cNvSpPr>
              <p:nvPr/>
            </p:nvSpPr>
            <p:spPr bwMode="auto">
              <a:xfrm>
                <a:off x="6324600" y="4268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" name="Line 462"/>
              <p:cNvSpPr>
                <a:spLocks noChangeShapeType="1"/>
              </p:cNvSpPr>
              <p:nvPr/>
            </p:nvSpPr>
            <p:spPr bwMode="auto">
              <a:xfrm>
                <a:off x="6338889" y="4303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" name="Line 463"/>
              <p:cNvSpPr>
                <a:spLocks noChangeShapeType="1"/>
              </p:cNvSpPr>
              <p:nvPr/>
            </p:nvSpPr>
            <p:spPr bwMode="auto">
              <a:xfrm>
                <a:off x="6354763" y="4337051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" name="Line 464"/>
              <p:cNvSpPr>
                <a:spLocks noChangeShapeType="1"/>
              </p:cNvSpPr>
              <p:nvPr/>
            </p:nvSpPr>
            <p:spPr bwMode="auto">
              <a:xfrm>
                <a:off x="6369050" y="437197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" name="Line 465"/>
              <p:cNvSpPr>
                <a:spLocks noChangeShapeType="1"/>
              </p:cNvSpPr>
              <p:nvPr/>
            </p:nvSpPr>
            <p:spPr bwMode="auto">
              <a:xfrm>
                <a:off x="6383338" y="4405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" name="Line 466"/>
              <p:cNvSpPr>
                <a:spLocks noChangeShapeType="1"/>
              </p:cNvSpPr>
              <p:nvPr/>
            </p:nvSpPr>
            <p:spPr bwMode="auto">
              <a:xfrm>
                <a:off x="6397626" y="4438651"/>
                <a:ext cx="15875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" name="Line 467"/>
              <p:cNvSpPr>
                <a:spLocks noChangeShapeType="1"/>
              </p:cNvSpPr>
              <p:nvPr/>
            </p:nvSpPr>
            <p:spPr bwMode="auto">
              <a:xfrm>
                <a:off x="6413500" y="448151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" name="Line 468"/>
              <p:cNvSpPr>
                <a:spLocks noChangeShapeType="1"/>
              </p:cNvSpPr>
              <p:nvPr/>
            </p:nvSpPr>
            <p:spPr bwMode="auto">
              <a:xfrm>
                <a:off x="6427788" y="4516438"/>
                <a:ext cx="14288" cy="317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" name="Line 469"/>
              <p:cNvSpPr>
                <a:spLocks noChangeShapeType="1"/>
              </p:cNvSpPr>
              <p:nvPr/>
            </p:nvSpPr>
            <p:spPr bwMode="auto">
              <a:xfrm>
                <a:off x="6442075" y="45481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" name="Line 470"/>
              <p:cNvSpPr>
                <a:spLocks noChangeShapeType="1"/>
              </p:cNvSpPr>
              <p:nvPr/>
            </p:nvSpPr>
            <p:spPr bwMode="auto">
              <a:xfrm>
                <a:off x="6456364" y="4581525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" name="Line 471"/>
              <p:cNvSpPr>
                <a:spLocks noChangeShapeType="1"/>
              </p:cNvSpPr>
              <p:nvPr/>
            </p:nvSpPr>
            <p:spPr bwMode="auto">
              <a:xfrm>
                <a:off x="6472238" y="4614864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" name="Line 472"/>
              <p:cNvSpPr>
                <a:spLocks noChangeShapeType="1"/>
              </p:cNvSpPr>
              <p:nvPr/>
            </p:nvSpPr>
            <p:spPr bwMode="auto">
              <a:xfrm>
                <a:off x="6486522" y="465693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" name="Line 473"/>
              <p:cNvSpPr>
                <a:spLocks noChangeShapeType="1"/>
              </p:cNvSpPr>
              <p:nvPr/>
            </p:nvSpPr>
            <p:spPr bwMode="auto">
              <a:xfrm>
                <a:off x="6500814" y="4691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" name="Line 477"/>
              <p:cNvSpPr>
                <a:spLocks noChangeShapeType="1"/>
              </p:cNvSpPr>
              <p:nvPr/>
            </p:nvSpPr>
            <p:spPr bwMode="auto">
              <a:xfrm>
                <a:off x="6559551" y="4835525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" name="Line 478"/>
              <p:cNvSpPr>
                <a:spLocks noChangeShapeType="1"/>
              </p:cNvSpPr>
              <p:nvPr/>
            </p:nvSpPr>
            <p:spPr bwMode="auto">
              <a:xfrm>
                <a:off x="6575425" y="48688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" name="Line 479"/>
              <p:cNvSpPr>
                <a:spLocks noChangeShapeType="1"/>
              </p:cNvSpPr>
              <p:nvPr/>
            </p:nvSpPr>
            <p:spPr bwMode="auto">
              <a:xfrm>
                <a:off x="6589713" y="4903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" name="Line 480"/>
              <p:cNvSpPr>
                <a:spLocks noChangeShapeType="1"/>
              </p:cNvSpPr>
              <p:nvPr/>
            </p:nvSpPr>
            <p:spPr bwMode="auto">
              <a:xfrm>
                <a:off x="6604000" y="49387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" name="Line 481"/>
              <p:cNvSpPr>
                <a:spLocks noChangeShapeType="1"/>
              </p:cNvSpPr>
              <p:nvPr/>
            </p:nvSpPr>
            <p:spPr bwMode="auto">
              <a:xfrm>
                <a:off x="6618289" y="4972050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" name="Line 482"/>
              <p:cNvSpPr>
                <a:spLocks noChangeShapeType="1"/>
              </p:cNvSpPr>
              <p:nvPr/>
            </p:nvSpPr>
            <p:spPr bwMode="auto">
              <a:xfrm>
                <a:off x="6634163" y="50053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" name="Line 483"/>
              <p:cNvSpPr>
                <a:spLocks noChangeShapeType="1"/>
              </p:cNvSpPr>
              <p:nvPr/>
            </p:nvSpPr>
            <p:spPr bwMode="auto">
              <a:xfrm>
                <a:off x="6648450" y="5040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" name="Line 484"/>
              <p:cNvSpPr>
                <a:spLocks noChangeShapeType="1"/>
              </p:cNvSpPr>
              <p:nvPr/>
            </p:nvSpPr>
            <p:spPr bwMode="auto">
              <a:xfrm>
                <a:off x="6662739" y="5073650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" name="Line 485"/>
              <p:cNvSpPr>
                <a:spLocks noChangeShapeType="1"/>
              </p:cNvSpPr>
              <p:nvPr/>
            </p:nvSpPr>
            <p:spPr bwMode="auto">
              <a:xfrm>
                <a:off x="6678613" y="5106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" name="Line 486"/>
              <p:cNvSpPr>
                <a:spLocks noChangeShapeType="1"/>
              </p:cNvSpPr>
              <p:nvPr/>
            </p:nvSpPr>
            <p:spPr bwMode="auto">
              <a:xfrm>
                <a:off x="6692900" y="5140325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" name="Line 487"/>
              <p:cNvSpPr>
                <a:spLocks noChangeShapeType="1"/>
              </p:cNvSpPr>
              <p:nvPr/>
            </p:nvSpPr>
            <p:spPr bwMode="auto">
              <a:xfrm>
                <a:off x="6707188" y="516572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" name="Line 488"/>
              <p:cNvSpPr>
                <a:spLocks noChangeShapeType="1"/>
              </p:cNvSpPr>
              <p:nvPr/>
            </p:nvSpPr>
            <p:spPr bwMode="auto">
              <a:xfrm>
                <a:off x="6721476" y="5199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" name="Line 489"/>
              <p:cNvSpPr>
                <a:spLocks noChangeShapeType="1"/>
              </p:cNvSpPr>
              <p:nvPr/>
            </p:nvSpPr>
            <p:spPr bwMode="auto">
              <a:xfrm>
                <a:off x="6737350" y="523398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" name="Freeform 490"/>
              <p:cNvSpPr>
                <a:spLocks/>
              </p:cNvSpPr>
              <p:nvPr/>
            </p:nvSpPr>
            <p:spPr bwMode="auto">
              <a:xfrm>
                <a:off x="6751638" y="5257801"/>
                <a:ext cx="14288" cy="34925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lnTo>
                      <a:pt x="5" y="11"/>
                    </a:lnTo>
                    <a:lnTo>
                      <a:pt x="9" y="22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" name="Freeform 491"/>
              <p:cNvSpPr>
                <a:spLocks/>
              </p:cNvSpPr>
              <p:nvPr/>
            </p:nvSpPr>
            <p:spPr bwMode="auto">
              <a:xfrm>
                <a:off x="6765926" y="5292725"/>
                <a:ext cx="22225" cy="25400"/>
              </a:xfrm>
              <a:custGeom>
                <a:avLst/>
                <a:gdLst>
                  <a:gd name="T0" fmla="*/ 0 w 14"/>
                  <a:gd name="T1" fmla="*/ 0 h 16"/>
                  <a:gd name="T2" fmla="*/ 5 w 14"/>
                  <a:gd name="T3" fmla="*/ 5 h 16"/>
                  <a:gd name="T4" fmla="*/ 14 w 14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5" y="5"/>
                    </a:lnTo>
                    <a:lnTo>
                      <a:pt x="14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" name="Freeform 492"/>
              <p:cNvSpPr>
                <a:spLocks/>
              </p:cNvSpPr>
              <p:nvPr/>
            </p:nvSpPr>
            <p:spPr bwMode="auto">
              <a:xfrm>
                <a:off x="6788150" y="5318125"/>
                <a:ext cx="14288" cy="33338"/>
              </a:xfrm>
              <a:custGeom>
                <a:avLst/>
                <a:gdLst>
                  <a:gd name="T0" fmla="*/ 0 w 9"/>
                  <a:gd name="T1" fmla="*/ 0 h 21"/>
                  <a:gd name="T2" fmla="*/ 5 w 9"/>
                  <a:gd name="T3" fmla="*/ 10 h 21"/>
                  <a:gd name="T4" fmla="*/ 9 w 9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lnTo>
                      <a:pt x="5" y="10"/>
                    </a:lnTo>
                    <a:lnTo>
                      <a:pt x="9" y="21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" name="Line 493"/>
              <p:cNvSpPr>
                <a:spLocks noChangeShapeType="1"/>
              </p:cNvSpPr>
              <p:nvPr/>
            </p:nvSpPr>
            <p:spPr bwMode="auto">
              <a:xfrm>
                <a:off x="6802439" y="5351463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" name="Line 494"/>
              <p:cNvSpPr>
                <a:spLocks noChangeShapeType="1"/>
              </p:cNvSpPr>
              <p:nvPr/>
            </p:nvSpPr>
            <p:spPr bwMode="auto">
              <a:xfrm>
                <a:off x="6818313" y="5376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" name="Line 495"/>
              <p:cNvSpPr>
                <a:spLocks noChangeShapeType="1"/>
              </p:cNvSpPr>
              <p:nvPr/>
            </p:nvSpPr>
            <p:spPr bwMode="auto">
              <a:xfrm>
                <a:off x="6832600" y="54022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2" name="Line 496"/>
              <p:cNvSpPr>
                <a:spLocks noChangeShapeType="1"/>
              </p:cNvSpPr>
              <p:nvPr/>
            </p:nvSpPr>
            <p:spPr bwMode="auto">
              <a:xfrm>
                <a:off x="6846888" y="54292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3" name="Line 497"/>
              <p:cNvSpPr>
                <a:spLocks noChangeShapeType="1"/>
              </p:cNvSpPr>
              <p:nvPr/>
            </p:nvSpPr>
            <p:spPr bwMode="auto">
              <a:xfrm>
                <a:off x="6861176" y="54530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4" name="Line 498"/>
              <p:cNvSpPr>
                <a:spLocks noChangeShapeType="1"/>
              </p:cNvSpPr>
              <p:nvPr/>
            </p:nvSpPr>
            <p:spPr bwMode="auto">
              <a:xfrm>
                <a:off x="6877050" y="54800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5" name="Line 499"/>
              <p:cNvSpPr>
                <a:spLocks noChangeShapeType="1"/>
              </p:cNvSpPr>
              <p:nvPr/>
            </p:nvSpPr>
            <p:spPr bwMode="auto">
              <a:xfrm>
                <a:off x="6891338" y="5503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6" name="Line 500"/>
              <p:cNvSpPr>
                <a:spLocks noChangeShapeType="1"/>
              </p:cNvSpPr>
              <p:nvPr/>
            </p:nvSpPr>
            <p:spPr bwMode="auto">
              <a:xfrm>
                <a:off x="6905626" y="55292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7" name="Line 501"/>
              <p:cNvSpPr>
                <a:spLocks noChangeShapeType="1"/>
              </p:cNvSpPr>
              <p:nvPr/>
            </p:nvSpPr>
            <p:spPr bwMode="auto">
              <a:xfrm>
                <a:off x="6921500" y="55562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8" name="Line 502"/>
              <p:cNvSpPr>
                <a:spLocks noChangeShapeType="1"/>
              </p:cNvSpPr>
              <p:nvPr/>
            </p:nvSpPr>
            <p:spPr bwMode="auto">
              <a:xfrm>
                <a:off x="6935788" y="558006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9" name="Freeform 503"/>
              <p:cNvSpPr>
                <a:spLocks/>
              </p:cNvSpPr>
              <p:nvPr/>
            </p:nvSpPr>
            <p:spPr bwMode="auto">
              <a:xfrm>
                <a:off x="6950075" y="5597525"/>
                <a:ext cx="14288" cy="25400"/>
              </a:xfrm>
              <a:custGeom>
                <a:avLst/>
                <a:gdLst>
                  <a:gd name="T0" fmla="*/ 0 w 9"/>
                  <a:gd name="T1" fmla="*/ 0 h 16"/>
                  <a:gd name="T2" fmla="*/ 5 w 9"/>
                  <a:gd name="T3" fmla="*/ 6 h 16"/>
                  <a:gd name="T4" fmla="*/ 9 w 9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0" y="0"/>
                    </a:moveTo>
                    <a:lnTo>
                      <a:pt x="5" y="6"/>
                    </a:lnTo>
                    <a:lnTo>
                      <a:pt x="9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0" name="Line 504"/>
              <p:cNvSpPr>
                <a:spLocks noChangeShapeType="1"/>
              </p:cNvSpPr>
              <p:nvPr/>
            </p:nvSpPr>
            <p:spPr bwMode="auto">
              <a:xfrm>
                <a:off x="6964364" y="5622926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1" name="Freeform 505"/>
              <p:cNvSpPr>
                <a:spLocks/>
              </p:cNvSpPr>
              <p:nvPr/>
            </p:nvSpPr>
            <p:spPr bwMode="auto">
              <a:xfrm>
                <a:off x="6980238" y="5640389"/>
                <a:ext cx="14288" cy="23813"/>
              </a:xfrm>
              <a:custGeom>
                <a:avLst/>
                <a:gdLst>
                  <a:gd name="T0" fmla="*/ 0 w 9"/>
                  <a:gd name="T1" fmla="*/ 0 h 15"/>
                  <a:gd name="T2" fmla="*/ 4 w 9"/>
                  <a:gd name="T3" fmla="*/ 4 h 15"/>
                  <a:gd name="T4" fmla="*/ 9 w 9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0"/>
                    </a:moveTo>
                    <a:lnTo>
                      <a:pt x="4" y="4"/>
                    </a:lnTo>
                    <a:lnTo>
                      <a:pt x="9" y="1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2" name="Line 506"/>
              <p:cNvSpPr>
                <a:spLocks noChangeShapeType="1"/>
              </p:cNvSpPr>
              <p:nvPr/>
            </p:nvSpPr>
            <p:spPr bwMode="auto">
              <a:xfrm>
                <a:off x="6994525" y="56642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3" name="Line 507"/>
              <p:cNvSpPr>
                <a:spLocks noChangeShapeType="1"/>
              </p:cNvSpPr>
              <p:nvPr/>
            </p:nvSpPr>
            <p:spPr bwMode="auto">
              <a:xfrm>
                <a:off x="7008813" y="56816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4" name="Line 508"/>
              <p:cNvSpPr>
                <a:spLocks noChangeShapeType="1"/>
              </p:cNvSpPr>
              <p:nvPr/>
            </p:nvSpPr>
            <p:spPr bwMode="auto">
              <a:xfrm>
                <a:off x="7023101" y="56975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5" name="Line 509"/>
              <p:cNvSpPr>
                <a:spLocks noChangeShapeType="1"/>
              </p:cNvSpPr>
              <p:nvPr/>
            </p:nvSpPr>
            <p:spPr bwMode="auto">
              <a:xfrm>
                <a:off x="7038975" y="57150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6" name="Line 510"/>
              <p:cNvSpPr>
                <a:spLocks noChangeShapeType="1"/>
              </p:cNvSpPr>
              <p:nvPr/>
            </p:nvSpPr>
            <p:spPr bwMode="auto">
              <a:xfrm>
                <a:off x="7053263" y="57324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7" name="Line 511"/>
              <p:cNvSpPr>
                <a:spLocks noChangeShapeType="1"/>
              </p:cNvSpPr>
              <p:nvPr/>
            </p:nvSpPr>
            <p:spPr bwMode="auto">
              <a:xfrm>
                <a:off x="7067551" y="57483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8" name="Line 512"/>
              <p:cNvSpPr>
                <a:spLocks noChangeShapeType="1"/>
              </p:cNvSpPr>
              <p:nvPr/>
            </p:nvSpPr>
            <p:spPr bwMode="auto">
              <a:xfrm>
                <a:off x="7083425" y="57658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9" name="Line 513"/>
              <p:cNvSpPr>
                <a:spLocks noChangeShapeType="1"/>
              </p:cNvSpPr>
              <p:nvPr/>
            </p:nvSpPr>
            <p:spPr bwMode="auto">
              <a:xfrm>
                <a:off x="7097713" y="57832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0" name="Line 514"/>
              <p:cNvSpPr>
                <a:spLocks noChangeShapeType="1"/>
              </p:cNvSpPr>
              <p:nvPr/>
            </p:nvSpPr>
            <p:spPr bwMode="auto">
              <a:xfrm>
                <a:off x="7112000" y="57991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1" name="Line 515"/>
              <p:cNvSpPr>
                <a:spLocks noChangeShapeType="1"/>
              </p:cNvSpPr>
              <p:nvPr/>
            </p:nvSpPr>
            <p:spPr bwMode="auto">
              <a:xfrm>
                <a:off x="7126289" y="5816601"/>
                <a:ext cx="15875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2" name="Line 516"/>
              <p:cNvSpPr>
                <a:spLocks noChangeShapeType="1"/>
              </p:cNvSpPr>
              <p:nvPr/>
            </p:nvSpPr>
            <p:spPr bwMode="auto">
              <a:xfrm>
                <a:off x="7142163" y="582612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3" name="Line 517"/>
              <p:cNvSpPr>
                <a:spLocks noChangeShapeType="1"/>
              </p:cNvSpPr>
              <p:nvPr/>
            </p:nvSpPr>
            <p:spPr bwMode="auto">
              <a:xfrm>
                <a:off x="7156450" y="5842001"/>
                <a:ext cx="12700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4" name="Line 518"/>
              <p:cNvSpPr>
                <a:spLocks noChangeShapeType="1"/>
              </p:cNvSpPr>
              <p:nvPr/>
            </p:nvSpPr>
            <p:spPr bwMode="auto">
              <a:xfrm>
                <a:off x="7169151" y="5851526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5" name="Line 519"/>
              <p:cNvSpPr>
                <a:spLocks noChangeShapeType="1"/>
              </p:cNvSpPr>
              <p:nvPr/>
            </p:nvSpPr>
            <p:spPr bwMode="auto">
              <a:xfrm>
                <a:off x="7185025" y="58689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6" name="Line 520"/>
              <p:cNvSpPr>
                <a:spLocks noChangeShapeType="1"/>
              </p:cNvSpPr>
              <p:nvPr/>
            </p:nvSpPr>
            <p:spPr bwMode="auto">
              <a:xfrm>
                <a:off x="7199313" y="58753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7" name="Line 521"/>
              <p:cNvSpPr>
                <a:spLocks noChangeShapeType="1"/>
              </p:cNvSpPr>
              <p:nvPr/>
            </p:nvSpPr>
            <p:spPr bwMode="auto">
              <a:xfrm>
                <a:off x="7213600" y="58928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8" name="Line 522"/>
              <p:cNvSpPr>
                <a:spLocks noChangeShapeType="1"/>
              </p:cNvSpPr>
              <p:nvPr/>
            </p:nvSpPr>
            <p:spPr bwMode="auto">
              <a:xfrm>
                <a:off x="7227889" y="590232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9" name="Line 523"/>
              <p:cNvSpPr>
                <a:spLocks noChangeShapeType="1"/>
              </p:cNvSpPr>
              <p:nvPr/>
            </p:nvSpPr>
            <p:spPr bwMode="auto">
              <a:xfrm>
                <a:off x="7243763" y="59102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0" name="Line 524"/>
              <p:cNvSpPr>
                <a:spLocks noChangeShapeType="1"/>
              </p:cNvSpPr>
              <p:nvPr/>
            </p:nvSpPr>
            <p:spPr bwMode="auto">
              <a:xfrm>
                <a:off x="7258050" y="59197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1" name="Line 525"/>
              <p:cNvSpPr>
                <a:spLocks noChangeShapeType="1"/>
              </p:cNvSpPr>
              <p:nvPr/>
            </p:nvSpPr>
            <p:spPr bwMode="auto">
              <a:xfrm>
                <a:off x="7272338" y="5926139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2" name="Line 526"/>
              <p:cNvSpPr>
                <a:spLocks noChangeShapeType="1"/>
              </p:cNvSpPr>
              <p:nvPr/>
            </p:nvSpPr>
            <p:spPr bwMode="auto">
              <a:xfrm>
                <a:off x="7286626" y="59356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3" name="Line 527"/>
              <p:cNvSpPr>
                <a:spLocks noChangeShapeType="1"/>
              </p:cNvSpPr>
              <p:nvPr/>
            </p:nvSpPr>
            <p:spPr bwMode="auto">
              <a:xfrm>
                <a:off x="7302500" y="59436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4" name="Line 528"/>
              <p:cNvSpPr>
                <a:spLocks noChangeShapeType="1"/>
              </p:cNvSpPr>
              <p:nvPr/>
            </p:nvSpPr>
            <p:spPr bwMode="auto">
              <a:xfrm>
                <a:off x="7316788" y="59531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5" name="Line 529"/>
              <p:cNvSpPr>
                <a:spLocks noChangeShapeType="1"/>
              </p:cNvSpPr>
              <p:nvPr/>
            </p:nvSpPr>
            <p:spPr bwMode="auto">
              <a:xfrm>
                <a:off x="7331076" y="59610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6" name="Line 530"/>
              <p:cNvSpPr>
                <a:spLocks noChangeShapeType="1"/>
              </p:cNvSpPr>
              <p:nvPr/>
            </p:nvSpPr>
            <p:spPr bwMode="auto">
              <a:xfrm>
                <a:off x="7346950" y="59690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7" name="Line 531"/>
              <p:cNvSpPr>
                <a:spLocks noChangeShapeType="1"/>
              </p:cNvSpPr>
              <p:nvPr/>
            </p:nvSpPr>
            <p:spPr bwMode="auto">
              <a:xfrm>
                <a:off x="7361238" y="59785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8" name="Freeform 532"/>
              <p:cNvSpPr>
                <a:spLocks/>
              </p:cNvSpPr>
              <p:nvPr/>
            </p:nvSpPr>
            <p:spPr bwMode="auto">
              <a:xfrm>
                <a:off x="7375526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9" name="Line 533"/>
              <p:cNvSpPr>
                <a:spLocks noChangeShapeType="1"/>
              </p:cNvSpPr>
              <p:nvPr/>
            </p:nvSpPr>
            <p:spPr bwMode="auto">
              <a:xfrm>
                <a:off x="7397750" y="59864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0" name="Line 534"/>
              <p:cNvSpPr>
                <a:spLocks noChangeShapeType="1"/>
              </p:cNvSpPr>
              <p:nvPr/>
            </p:nvSpPr>
            <p:spPr bwMode="auto">
              <a:xfrm>
                <a:off x="7412039" y="5995988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1" name="Line 535"/>
              <p:cNvSpPr>
                <a:spLocks noChangeShapeType="1"/>
              </p:cNvSpPr>
              <p:nvPr/>
            </p:nvSpPr>
            <p:spPr bwMode="auto">
              <a:xfrm>
                <a:off x="7427913" y="60039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2" name="Line 536"/>
              <p:cNvSpPr>
                <a:spLocks noChangeShapeType="1"/>
              </p:cNvSpPr>
              <p:nvPr/>
            </p:nvSpPr>
            <p:spPr bwMode="auto">
              <a:xfrm>
                <a:off x="7442200" y="60039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3" name="Line 537"/>
              <p:cNvSpPr>
                <a:spLocks noChangeShapeType="1"/>
              </p:cNvSpPr>
              <p:nvPr/>
            </p:nvSpPr>
            <p:spPr bwMode="auto">
              <a:xfrm>
                <a:off x="7456488" y="60118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4" name="Line 538"/>
              <p:cNvSpPr>
                <a:spLocks noChangeShapeType="1"/>
              </p:cNvSpPr>
              <p:nvPr/>
            </p:nvSpPr>
            <p:spPr bwMode="auto">
              <a:xfrm>
                <a:off x="7470776" y="60198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5" name="Freeform 539"/>
              <p:cNvSpPr>
                <a:spLocks/>
              </p:cNvSpPr>
              <p:nvPr/>
            </p:nvSpPr>
            <p:spPr bwMode="auto">
              <a:xfrm>
                <a:off x="7486650" y="60198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6" name="Line 540"/>
              <p:cNvSpPr>
                <a:spLocks noChangeShapeType="1"/>
              </p:cNvSpPr>
              <p:nvPr/>
            </p:nvSpPr>
            <p:spPr bwMode="auto">
              <a:xfrm>
                <a:off x="7500938" y="60293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7" name="Freeform 541"/>
              <p:cNvSpPr>
                <a:spLocks/>
              </p:cNvSpPr>
              <p:nvPr/>
            </p:nvSpPr>
            <p:spPr bwMode="auto">
              <a:xfrm>
                <a:off x="7515225" y="60293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5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5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8" name="Line 542"/>
              <p:cNvSpPr>
                <a:spLocks noChangeShapeType="1"/>
              </p:cNvSpPr>
              <p:nvPr/>
            </p:nvSpPr>
            <p:spPr bwMode="auto">
              <a:xfrm>
                <a:off x="7529514" y="60372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9" name="Line 543"/>
              <p:cNvSpPr>
                <a:spLocks noChangeShapeType="1"/>
              </p:cNvSpPr>
              <p:nvPr/>
            </p:nvSpPr>
            <p:spPr bwMode="auto">
              <a:xfrm>
                <a:off x="7545388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0" name="Freeform 544"/>
              <p:cNvSpPr>
                <a:spLocks/>
              </p:cNvSpPr>
              <p:nvPr/>
            </p:nvSpPr>
            <p:spPr bwMode="auto">
              <a:xfrm>
                <a:off x="7559675" y="6037264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1" name="Line 545"/>
              <p:cNvSpPr>
                <a:spLocks noChangeShapeType="1"/>
              </p:cNvSpPr>
              <p:nvPr/>
            </p:nvSpPr>
            <p:spPr bwMode="auto">
              <a:xfrm>
                <a:off x="7573964" y="6046788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2" name="Freeform 546"/>
              <p:cNvSpPr>
                <a:spLocks/>
              </p:cNvSpPr>
              <p:nvPr/>
            </p:nvSpPr>
            <p:spPr bwMode="auto">
              <a:xfrm>
                <a:off x="7589838" y="6046788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3" name="Line 547"/>
              <p:cNvSpPr>
                <a:spLocks noChangeShapeType="1"/>
              </p:cNvSpPr>
              <p:nvPr/>
            </p:nvSpPr>
            <p:spPr bwMode="auto">
              <a:xfrm>
                <a:off x="7604125" y="60547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4" name="Line 548"/>
              <p:cNvSpPr>
                <a:spLocks noChangeShapeType="1"/>
              </p:cNvSpPr>
              <p:nvPr/>
            </p:nvSpPr>
            <p:spPr bwMode="auto">
              <a:xfrm>
                <a:off x="7618413" y="60547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5" name="Line 549"/>
              <p:cNvSpPr>
                <a:spLocks noChangeShapeType="1"/>
              </p:cNvSpPr>
              <p:nvPr/>
            </p:nvSpPr>
            <p:spPr bwMode="auto">
              <a:xfrm>
                <a:off x="7632701" y="60547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6" name="Freeform 550"/>
              <p:cNvSpPr>
                <a:spLocks/>
              </p:cNvSpPr>
              <p:nvPr/>
            </p:nvSpPr>
            <p:spPr bwMode="auto">
              <a:xfrm>
                <a:off x="7648575" y="60547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7" name="Line 551"/>
              <p:cNvSpPr>
                <a:spLocks noChangeShapeType="1"/>
              </p:cNvSpPr>
              <p:nvPr/>
            </p:nvSpPr>
            <p:spPr bwMode="auto">
              <a:xfrm>
                <a:off x="7662863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8" name="Line 552"/>
              <p:cNvSpPr>
                <a:spLocks noChangeShapeType="1"/>
              </p:cNvSpPr>
              <p:nvPr/>
            </p:nvSpPr>
            <p:spPr bwMode="auto">
              <a:xfrm>
                <a:off x="7677150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9" name="Line 553"/>
              <p:cNvSpPr>
                <a:spLocks noChangeShapeType="1"/>
              </p:cNvSpPr>
              <p:nvPr/>
            </p:nvSpPr>
            <p:spPr bwMode="auto">
              <a:xfrm>
                <a:off x="7691439" y="60626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0" name="Freeform 554"/>
              <p:cNvSpPr>
                <a:spLocks/>
              </p:cNvSpPr>
              <p:nvPr/>
            </p:nvSpPr>
            <p:spPr bwMode="auto">
              <a:xfrm>
                <a:off x="7707313" y="6062663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1" name="Line 555"/>
              <p:cNvSpPr>
                <a:spLocks noChangeShapeType="1"/>
              </p:cNvSpPr>
              <p:nvPr/>
            </p:nvSpPr>
            <p:spPr bwMode="auto">
              <a:xfrm>
                <a:off x="7721600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2" name="Line 556"/>
              <p:cNvSpPr>
                <a:spLocks noChangeShapeType="1"/>
              </p:cNvSpPr>
              <p:nvPr/>
            </p:nvSpPr>
            <p:spPr bwMode="auto">
              <a:xfrm>
                <a:off x="7735889" y="60706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3" name="Line 557"/>
              <p:cNvSpPr>
                <a:spLocks noChangeShapeType="1"/>
              </p:cNvSpPr>
              <p:nvPr/>
            </p:nvSpPr>
            <p:spPr bwMode="auto">
              <a:xfrm>
                <a:off x="7751763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4" name="Line 558"/>
              <p:cNvSpPr>
                <a:spLocks noChangeShapeType="1"/>
              </p:cNvSpPr>
              <p:nvPr/>
            </p:nvSpPr>
            <p:spPr bwMode="auto">
              <a:xfrm>
                <a:off x="7766050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5" name="Line 559"/>
              <p:cNvSpPr>
                <a:spLocks noChangeShapeType="1"/>
              </p:cNvSpPr>
              <p:nvPr/>
            </p:nvSpPr>
            <p:spPr bwMode="auto">
              <a:xfrm>
                <a:off x="7780338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6" name="Line 560"/>
              <p:cNvSpPr>
                <a:spLocks noChangeShapeType="1"/>
              </p:cNvSpPr>
              <p:nvPr/>
            </p:nvSpPr>
            <p:spPr bwMode="auto">
              <a:xfrm>
                <a:off x="7794626" y="60706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7" name="Freeform 561"/>
              <p:cNvSpPr>
                <a:spLocks/>
              </p:cNvSpPr>
              <p:nvPr/>
            </p:nvSpPr>
            <p:spPr bwMode="auto">
              <a:xfrm>
                <a:off x="7810500" y="60706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8" name="Line 562"/>
              <p:cNvSpPr>
                <a:spLocks noChangeShapeType="1"/>
              </p:cNvSpPr>
              <p:nvPr/>
            </p:nvSpPr>
            <p:spPr bwMode="auto">
              <a:xfrm>
                <a:off x="782478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9" name="Line 563"/>
              <p:cNvSpPr>
                <a:spLocks noChangeShapeType="1"/>
              </p:cNvSpPr>
              <p:nvPr/>
            </p:nvSpPr>
            <p:spPr bwMode="auto">
              <a:xfrm>
                <a:off x="783907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0" name="Line 564"/>
              <p:cNvSpPr>
                <a:spLocks noChangeShapeType="1"/>
              </p:cNvSpPr>
              <p:nvPr/>
            </p:nvSpPr>
            <p:spPr bwMode="auto">
              <a:xfrm>
                <a:off x="7853364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1" name="Line 565"/>
              <p:cNvSpPr>
                <a:spLocks noChangeShapeType="1"/>
              </p:cNvSpPr>
              <p:nvPr/>
            </p:nvSpPr>
            <p:spPr bwMode="auto">
              <a:xfrm>
                <a:off x="786923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2" name="Line 566"/>
              <p:cNvSpPr>
                <a:spLocks noChangeShapeType="1"/>
              </p:cNvSpPr>
              <p:nvPr/>
            </p:nvSpPr>
            <p:spPr bwMode="auto">
              <a:xfrm>
                <a:off x="788352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3" name="Line 567"/>
              <p:cNvSpPr>
                <a:spLocks noChangeShapeType="1"/>
              </p:cNvSpPr>
              <p:nvPr/>
            </p:nvSpPr>
            <p:spPr bwMode="auto">
              <a:xfrm>
                <a:off x="7897814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4" name="Line 568"/>
              <p:cNvSpPr>
                <a:spLocks noChangeShapeType="1"/>
              </p:cNvSpPr>
              <p:nvPr/>
            </p:nvSpPr>
            <p:spPr bwMode="auto">
              <a:xfrm>
                <a:off x="791368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5" name="Line 569"/>
              <p:cNvSpPr>
                <a:spLocks noChangeShapeType="1"/>
              </p:cNvSpPr>
              <p:nvPr/>
            </p:nvSpPr>
            <p:spPr bwMode="auto">
              <a:xfrm>
                <a:off x="792797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6" name="Line 570"/>
              <p:cNvSpPr>
                <a:spLocks noChangeShapeType="1"/>
              </p:cNvSpPr>
              <p:nvPr/>
            </p:nvSpPr>
            <p:spPr bwMode="auto">
              <a:xfrm>
                <a:off x="7942263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7" name="Line 571"/>
              <p:cNvSpPr>
                <a:spLocks noChangeShapeType="1"/>
              </p:cNvSpPr>
              <p:nvPr/>
            </p:nvSpPr>
            <p:spPr bwMode="auto">
              <a:xfrm>
                <a:off x="7956551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8" name="Freeform 572"/>
              <p:cNvSpPr>
                <a:spLocks/>
              </p:cNvSpPr>
              <p:nvPr/>
            </p:nvSpPr>
            <p:spPr bwMode="auto">
              <a:xfrm>
                <a:off x="7972426" y="6080125"/>
                <a:ext cx="22225" cy="0"/>
              </a:xfrm>
              <a:custGeom>
                <a:avLst/>
                <a:gdLst>
                  <a:gd name="T0" fmla="*/ 0 w 14"/>
                  <a:gd name="T1" fmla="*/ 4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4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9" name="Line 294"/>
              <p:cNvSpPr>
                <a:spLocks noChangeShapeType="1"/>
              </p:cNvSpPr>
              <p:nvPr/>
            </p:nvSpPr>
            <p:spPr bwMode="auto">
              <a:xfrm>
                <a:off x="385603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0" name="Line 295"/>
              <p:cNvSpPr>
                <a:spLocks noChangeShapeType="1"/>
              </p:cNvSpPr>
              <p:nvPr/>
            </p:nvSpPr>
            <p:spPr bwMode="auto">
              <a:xfrm>
                <a:off x="3870326" y="60801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1" name="Line 296"/>
              <p:cNvSpPr>
                <a:spLocks noChangeShapeType="1"/>
              </p:cNvSpPr>
              <p:nvPr/>
            </p:nvSpPr>
            <p:spPr bwMode="auto">
              <a:xfrm>
                <a:off x="3886200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2" name="Line 297"/>
              <p:cNvSpPr>
                <a:spLocks noChangeShapeType="1"/>
              </p:cNvSpPr>
              <p:nvPr/>
            </p:nvSpPr>
            <p:spPr bwMode="auto">
              <a:xfrm>
                <a:off x="390048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3" name="Line 298"/>
              <p:cNvSpPr>
                <a:spLocks noChangeShapeType="1"/>
              </p:cNvSpPr>
              <p:nvPr/>
            </p:nvSpPr>
            <p:spPr bwMode="auto">
              <a:xfrm>
                <a:off x="3914775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4" name="Line 299"/>
              <p:cNvSpPr>
                <a:spLocks noChangeShapeType="1"/>
              </p:cNvSpPr>
              <p:nvPr/>
            </p:nvSpPr>
            <p:spPr bwMode="auto">
              <a:xfrm>
                <a:off x="3929064" y="60801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5" name="Line 300"/>
              <p:cNvSpPr>
                <a:spLocks noChangeShapeType="1"/>
              </p:cNvSpPr>
              <p:nvPr/>
            </p:nvSpPr>
            <p:spPr bwMode="auto">
              <a:xfrm>
                <a:off x="394493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6" name="Freeform 301"/>
              <p:cNvSpPr>
                <a:spLocks/>
              </p:cNvSpPr>
              <p:nvPr/>
            </p:nvSpPr>
            <p:spPr bwMode="auto">
              <a:xfrm>
                <a:off x="3959225" y="60706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7" name="Line 302"/>
              <p:cNvSpPr>
                <a:spLocks noChangeShapeType="1"/>
              </p:cNvSpPr>
              <p:nvPr/>
            </p:nvSpPr>
            <p:spPr bwMode="auto">
              <a:xfrm>
                <a:off x="3973514" y="60706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8" name="Line 303"/>
              <p:cNvSpPr>
                <a:spLocks noChangeShapeType="1"/>
              </p:cNvSpPr>
              <p:nvPr/>
            </p:nvSpPr>
            <p:spPr bwMode="auto">
              <a:xfrm>
                <a:off x="3989388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9" name="Line 304"/>
              <p:cNvSpPr>
                <a:spLocks noChangeShapeType="1"/>
              </p:cNvSpPr>
              <p:nvPr/>
            </p:nvSpPr>
            <p:spPr bwMode="auto">
              <a:xfrm>
                <a:off x="4003675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0" name="Line 305"/>
              <p:cNvSpPr>
                <a:spLocks noChangeShapeType="1"/>
              </p:cNvSpPr>
              <p:nvPr/>
            </p:nvSpPr>
            <p:spPr bwMode="auto">
              <a:xfrm>
                <a:off x="4017963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1" name="Line 306"/>
              <p:cNvSpPr>
                <a:spLocks noChangeShapeType="1"/>
              </p:cNvSpPr>
              <p:nvPr/>
            </p:nvSpPr>
            <p:spPr bwMode="auto">
              <a:xfrm>
                <a:off x="4032251" y="60706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2" name="Line 307"/>
              <p:cNvSpPr>
                <a:spLocks noChangeShapeType="1"/>
              </p:cNvSpPr>
              <p:nvPr/>
            </p:nvSpPr>
            <p:spPr bwMode="auto">
              <a:xfrm>
                <a:off x="4048125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3" name="Freeform 308"/>
              <p:cNvSpPr>
                <a:spLocks/>
              </p:cNvSpPr>
              <p:nvPr/>
            </p:nvSpPr>
            <p:spPr bwMode="auto">
              <a:xfrm>
                <a:off x="4062413" y="6062663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4" name="Line 309"/>
              <p:cNvSpPr>
                <a:spLocks noChangeShapeType="1"/>
              </p:cNvSpPr>
              <p:nvPr/>
            </p:nvSpPr>
            <p:spPr bwMode="auto">
              <a:xfrm>
                <a:off x="4076700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5" name="Line 310"/>
              <p:cNvSpPr>
                <a:spLocks noChangeShapeType="1"/>
              </p:cNvSpPr>
              <p:nvPr/>
            </p:nvSpPr>
            <p:spPr bwMode="auto">
              <a:xfrm>
                <a:off x="4090989" y="60626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6" name="Line 311"/>
              <p:cNvSpPr>
                <a:spLocks noChangeShapeType="1"/>
              </p:cNvSpPr>
              <p:nvPr/>
            </p:nvSpPr>
            <p:spPr bwMode="auto">
              <a:xfrm>
                <a:off x="4106863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7" name="Freeform 312"/>
              <p:cNvSpPr>
                <a:spLocks/>
              </p:cNvSpPr>
              <p:nvPr/>
            </p:nvSpPr>
            <p:spPr bwMode="auto">
              <a:xfrm>
                <a:off x="4121150" y="6054726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8" name="Line 313"/>
              <p:cNvSpPr>
                <a:spLocks noChangeShapeType="1"/>
              </p:cNvSpPr>
              <p:nvPr/>
            </p:nvSpPr>
            <p:spPr bwMode="auto">
              <a:xfrm>
                <a:off x="4135439" y="60547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9" name="Line 314"/>
              <p:cNvSpPr>
                <a:spLocks noChangeShapeType="1"/>
              </p:cNvSpPr>
              <p:nvPr/>
            </p:nvSpPr>
            <p:spPr bwMode="auto">
              <a:xfrm>
                <a:off x="4151313" y="60547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0" name="Line 315"/>
              <p:cNvSpPr>
                <a:spLocks noChangeShapeType="1"/>
              </p:cNvSpPr>
              <p:nvPr/>
            </p:nvSpPr>
            <p:spPr bwMode="auto">
              <a:xfrm>
                <a:off x="4165600" y="60547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1" name="Freeform 316"/>
              <p:cNvSpPr>
                <a:spLocks/>
              </p:cNvSpPr>
              <p:nvPr/>
            </p:nvSpPr>
            <p:spPr bwMode="auto">
              <a:xfrm>
                <a:off x="4179888" y="6046788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2" name="Line 317"/>
              <p:cNvSpPr>
                <a:spLocks noChangeShapeType="1"/>
              </p:cNvSpPr>
              <p:nvPr/>
            </p:nvSpPr>
            <p:spPr bwMode="auto">
              <a:xfrm>
                <a:off x="4194176" y="6046788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3" name="Freeform 318"/>
              <p:cNvSpPr>
                <a:spLocks/>
              </p:cNvSpPr>
              <p:nvPr/>
            </p:nvSpPr>
            <p:spPr bwMode="auto">
              <a:xfrm>
                <a:off x="4210050" y="6037264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4" name="Line 319"/>
              <p:cNvSpPr>
                <a:spLocks noChangeShapeType="1"/>
              </p:cNvSpPr>
              <p:nvPr/>
            </p:nvSpPr>
            <p:spPr bwMode="auto">
              <a:xfrm>
                <a:off x="4224338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5" name="Line 320"/>
              <p:cNvSpPr>
                <a:spLocks noChangeShapeType="1"/>
              </p:cNvSpPr>
              <p:nvPr/>
            </p:nvSpPr>
            <p:spPr bwMode="auto">
              <a:xfrm>
                <a:off x="4238625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6" name="Freeform 321"/>
              <p:cNvSpPr>
                <a:spLocks/>
              </p:cNvSpPr>
              <p:nvPr/>
            </p:nvSpPr>
            <p:spPr bwMode="auto">
              <a:xfrm>
                <a:off x="4252914" y="6029326"/>
                <a:ext cx="15875" cy="7938"/>
              </a:xfrm>
              <a:custGeom>
                <a:avLst/>
                <a:gdLst>
                  <a:gd name="T0" fmla="*/ 0 w 10"/>
                  <a:gd name="T1" fmla="*/ 5 h 5"/>
                  <a:gd name="T2" fmla="*/ 5 w 10"/>
                  <a:gd name="T3" fmla="*/ 0 h 5"/>
                  <a:gd name="T4" fmla="*/ 10 w 10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5"/>
                    </a:moveTo>
                    <a:lnTo>
                      <a:pt x="5" y="0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7" name="Line 322"/>
              <p:cNvSpPr>
                <a:spLocks noChangeShapeType="1"/>
              </p:cNvSpPr>
              <p:nvPr/>
            </p:nvSpPr>
            <p:spPr bwMode="auto">
              <a:xfrm>
                <a:off x="4268788" y="60293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8" name="Freeform 323"/>
              <p:cNvSpPr>
                <a:spLocks/>
              </p:cNvSpPr>
              <p:nvPr/>
            </p:nvSpPr>
            <p:spPr bwMode="auto">
              <a:xfrm>
                <a:off x="4283075" y="60198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9" name="Line 324"/>
              <p:cNvSpPr>
                <a:spLocks noChangeShapeType="1"/>
              </p:cNvSpPr>
              <p:nvPr/>
            </p:nvSpPr>
            <p:spPr bwMode="auto">
              <a:xfrm>
                <a:off x="4297364" y="60198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0" name="Line 325"/>
              <p:cNvSpPr>
                <a:spLocks noChangeShapeType="1"/>
              </p:cNvSpPr>
              <p:nvPr/>
            </p:nvSpPr>
            <p:spPr bwMode="auto">
              <a:xfrm flipV="1">
                <a:off x="4313238" y="60118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1" name="Line 326"/>
              <p:cNvSpPr>
                <a:spLocks noChangeShapeType="1"/>
              </p:cNvSpPr>
              <p:nvPr/>
            </p:nvSpPr>
            <p:spPr bwMode="auto">
              <a:xfrm flipV="1">
                <a:off x="4327525" y="60039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2" name="Line 327"/>
              <p:cNvSpPr>
                <a:spLocks noChangeShapeType="1"/>
              </p:cNvSpPr>
              <p:nvPr/>
            </p:nvSpPr>
            <p:spPr bwMode="auto">
              <a:xfrm>
                <a:off x="4341813" y="60039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3" name="Line 328"/>
              <p:cNvSpPr>
                <a:spLocks noChangeShapeType="1"/>
              </p:cNvSpPr>
              <p:nvPr/>
            </p:nvSpPr>
            <p:spPr bwMode="auto">
              <a:xfrm flipV="1">
                <a:off x="4356101" y="5995988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4" name="Line 329"/>
              <p:cNvSpPr>
                <a:spLocks noChangeShapeType="1"/>
              </p:cNvSpPr>
              <p:nvPr/>
            </p:nvSpPr>
            <p:spPr bwMode="auto">
              <a:xfrm flipV="1">
                <a:off x="4371975" y="59864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5" name="Freeform 330"/>
              <p:cNvSpPr>
                <a:spLocks/>
              </p:cNvSpPr>
              <p:nvPr/>
            </p:nvSpPr>
            <p:spPr bwMode="auto">
              <a:xfrm>
                <a:off x="4386264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6" name="Line 331"/>
              <p:cNvSpPr>
                <a:spLocks noChangeShapeType="1"/>
              </p:cNvSpPr>
              <p:nvPr/>
            </p:nvSpPr>
            <p:spPr bwMode="auto">
              <a:xfrm flipV="1">
                <a:off x="4408488" y="59785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7" name="Line 332"/>
              <p:cNvSpPr>
                <a:spLocks noChangeShapeType="1"/>
              </p:cNvSpPr>
              <p:nvPr/>
            </p:nvSpPr>
            <p:spPr bwMode="auto">
              <a:xfrm flipV="1">
                <a:off x="4422775" y="59690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8" name="Line 333"/>
              <p:cNvSpPr>
                <a:spLocks noChangeShapeType="1"/>
              </p:cNvSpPr>
              <p:nvPr/>
            </p:nvSpPr>
            <p:spPr bwMode="auto">
              <a:xfrm flipV="1">
                <a:off x="4437064" y="59610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9" name="Line 334"/>
              <p:cNvSpPr>
                <a:spLocks noChangeShapeType="1"/>
              </p:cNvSpPr>
              <p:nvPr/>
            </p:nvSpPr>
            <p:spPr bwMode="auto">
              <a:xfrm flipV="1">
                <a:off x="4452938" y="59531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0" name="Line 335"/>
              <p:cNvSpPr>
                <a:spLocks noChangeShapeType="1"/>
              </p:cNvSpPr>
              <p:nvPr/>
            </p:nvSpPr>
            <p:spPr bwMode="auto">
              <a:xfrm flipV="1">
                <a:off x="4467225" y="59436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1" name="Line 336"/>
              <p:cNvSpPr>
                <a:spLocks noChangeShapeType="1"/>
              </p:cNvSpPr>
              <p:nvPr/>
            </p:nvSpPr>
            <p:spPr bwMode="auto">
              <a:xfrm flipV="1">
                <a:off x="4481513" y="59356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2" name="Line 337"/>
              <p:cNvSpPr>
                <a:spLocks noChangeShapeType="1"/>
              </p:cNvSpPr>
              <p:nvPr/>
            </p:nvSpPr>
            <p:spPr bwMode="auto">
              <a:xfrm flipV="1">
                <a:off x="4495801" y="5926139"/>
                <a:ext cx="15875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3" name="Line 338"/>
              <p:cNvSpPr>
                <a:spLocks noChangeShapeType="1"/>
              </p:cNvSpPr>
              <p:nvPr/>
            </p:nvSpPr>
            <p:spPr bwMode="auto">
              <a:xfrm flipV="1">
                <a:off x="4511675" y="59197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4" name="Line 339"/>
              <p:cNvSpPr>
                <a:spLocks noChangeShapeType="1"/>
              </p:cNvSpPr>
              <p:nvPr/>
            </p:nvSpPr>
            <p:spPr bwMode="auto">
              <a:xfrm flipV="1">
                <a:off x="4525963" y="59102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5" name="Line 340"/>
              <p:cNvSpPr>
                <a:spLocks noChangeShapeType="1"/>
              </p:cNvSpPr>
              <p:nvPr/>
            </p:nvSpPr>
            <p:spPr bwMode="auto">
              <a:xfrm flipV="1">
                <a:off x="4540251" y="5902326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6" name="Line 341"/>
              <p:cNvSpPr>
                <a:spLocks noChangeShapeType="1"/>
              </p:cNvSpPr>
              <p:nvPr/>
            </p:nvSpPr>
            <p:spPr bwMode="auto">
              <a:xfrm flipV="1">
                <a:off x="4556125" y="58928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7" name="Line 342"/>
              <p:cNvSpPr>
                <a:spLocks noChangeShapeType="1"/>
              </p:cNvSpPr>
              <p:nvPr/>
            </p:nvSpPr>
            <p:spPr bwMode="auto">
              <a:xfrm flipV="1">
                <a:off x="4570413" y="58753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8" name="Line 343"/>
              <p:cNvSpPr>
                <a:spLocks noChangeShapeType="1"/>
              </p:cNvSpPr>
              <p:nvPr/>
            </p:nvSpPr>
            <p:spPr bwMode="auto">
              <a:xfrm flipV="1">
                <a:off x="4584700" y="58689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9" name="Line 344"/>
              <p:cNvSpPr>
                <a:spLocks noChangeShapeType="1"/>
              </p:cNvSpPr>
              <p:nvPr/>
            </p:nvSpPr>
            <p:spPr bwMode="auto">
              <a:xfrm flipV="1">
                <a:off x="4598989" y="5851527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0" name="Line 345"/>
              <p:cNvSpPr>
                <a:spLocks noChangeShapeType="1"/>
              </p:cNvSpPr>
              <p:nvPr/>
            </p:nvSpPr>
            <p:spPr bwMode="auto">
              <a:xfrm flipV="1">
                <a:off x="4614863" y="5842002"/>
                <a:ext cx="12700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1" name="Line 346"/>
              <p:cNvSpPr>
                <a:spLocks noChangeShapeType="1"/>
              </p:cNvSpPr>
              <p:nvPr/>
            </p:nvSpPr>
            <p:spPr bwMode="auto">
              <a:xfrm flipV="1">
                <a:off x="4627563" y="5826127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2" name="Line 347"/>
              <p:cNvSpPr>
                <a:spLocks noChangeShapeType="1"/>
              </p:cNvSpPr>
              <p:nvPr/>
            </p:nvSpPr>
            <p:spPr bwMode="auto">
              <a:xfrm flipV="1">
                <a:off x="4641850" y="58166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3" name="Line 348"/>
              <p:cNvSpPr>
                <a:spLocks noChangeShapeType="1"/>
              </p:cNvSpPr>
              <p:nvPr/>
            </p:nvSpPr>
            <p:spPr bwMode="auto">
              <a:xfrm flipV="1">
                <a:off x="4656139" y="57991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4" name="Line 349"/>
              <p:cNvSpPr>
                <a:spLocks noChangeShapeType="1"/>
              </p:cNvSpPr>
              <p:nvPr/>
            </p:nvSpPr>
            <p:spPr bwMode="auto">
              <a:xfrm flipV="1">
                <a:off x="4672013" y="57832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5" name="Line 350"/>
              <p:cNvSpPr>
                <a:spLocks noChangeShapeType="1"/>
              </p:cNvSpPr>
              <p:nvPr/>
            </p:nvSpPr>
            <p:spPr bwMode="auto">
              <a:xfrm flipV="1">
                <a:off x="4686300" y="57658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6" name="Line 351"/>
              <p:cNvSpPr>
                <a:spLocks noChangeShapeType="1"/>
              </p:cNvSpPr>
              <p:nvPr/>
            </p:nvSpPr>
            <p:spPr bwMode="auto">
              <a:xfrm flipV="1">
                <a:off x="4700589" y="57483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7" name="Line 352"/>
              <p:cNvSpPr>
                <a:spLocks noChangeShapeType="1"/>
              </p:cNvSpPr>
              <p:nvPr/>
            </p:nvSpPr>
            <p:spPr bwMode="auto">
              <a:xfrm flipV="1">
                <a:off x="4716463" y="57324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8" name="Line 353"/>
              <p:cNvSpPr>
                <a:spLocks noChangeShapeType="1"/>
              </p:cNvSpPr>
              <p:nvPr/>
            </p:nvSpPr>
            <p:spPr bwMode="auto">
              <a:xfrm flipV="1">
                <a:off x="4730750" y="57150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9" name="Line 354"/>
              <p:cNvSpPr>
                <a:spLocks noChangeShapeType="1"/>
              </p:cNvSpPr>
              <p:nvPr/>
            </p:nvSpPr>
            <p:spPr bwMode="auto">
              <a:xfrm flipV="1">
                <a:off x="4745038" y="56975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0" name="Line 355"/>
              <p:cNvSpPr>
                <a:spLocks noChangeShapeType="1"/>
              </p:cNvSpPr>
              <p:nvPr/>
            </p:nvSpPr>
            <p:spPr bwMode="auto">
              <a:xfrm flipV="1">
                <a:off x="4759326" y="5681664"/>
                <a:ext cx="15875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1" name="Line 356"/>
              <p:cNvSpPr>
                <a:spLocks noChangeShapeType="1"/>
              </p:cNvSpPr>
              <p:nvPr/>
            </p:nvSpPr>
            <p:spPr bwMode="auto">
              <a:xfrm flipV="1">
                <a:off x="4775200" y="56642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2" name="Freeform 357"/>
              <p:cNvSpPr>
                <a:spLocks/>
              </p:cNvSpPr>
              <p:nvPr/>
            </p:nvSpPr>
            <p:spPr bwMode="auto">
              <a:xfrm>
                <a:off x="4789488" y="5640389"/>
                <a:ext cx="14288" cy="23813"/>
              </a:xfrm>
              <a:custGeom>
                <a:avLst/>
                <a:gdLst>
                  <a:gd name="T0" fmla="*/ 0 w 9"/>
                  <a:gd name="T1" fmla="*/ 15 h 15"/>
                  <a:gd name="T2" fmla="*/ 5 w 9"/>
                  <a:gd name="T3" fmla="*/ 4 h 15"/>
                  <a:gd name="T4" fmla="*/ 9 w 9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15"/>
                    </a:moveTo>
                    <a:lnTo>
                      <a:pt x="5" y="4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3" name="Line 358"/>
              <p:cNvSpPr>
                <a:spLocks noChangeShapeType="1"/>
              </p:cNvSpPr>
              <p:nvPr/>
            </p:nvSpPr>
            <p:spPr bwMode="auto">
              <a:xfrm flipV="1">
                <a:off x="4803775" y="5622927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4" name="Freeform 359"/>
              <p:cNvSpPr>
                <a:spLocks/>
              </p:cNvSpPr>
              <p:nvPr/>
            </p:nvSpPr>
            <p:spPr bwMode="auto">
              <a:xfrm>
                <a:off x="4818064" y="5597526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6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6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5" name="Line 360"/>
              <p:cNvSpPr>
                <a:spLocks noChangeShapeType="1"/>
              </p:cNvSpPr>
              <p:nvPr/>
            </p:nvSpPr>
            <p:spPr bwMode="auto">
              <a:xfrm flipV="1">
                <a:off x="4833938" y="558006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6" name="Line 361"/>
              <p:cNvSpPr>
                <a:spLocks noChangeShapeType="1"/>
              </p:cNvSpPr>
              <p:nvPr/>
            </p:nvSpPr>
            <p:spPr bwMode="auto">
              <a:xfrm flipV="1">
                <a:off x="4848225" y="5556252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7" name="Line 362"/>
              <p:cNvSpPr>
                <a:spLocks noChangeShapeType="1"/>
              </p:cNvSpPr>
              <p:nvPr/>
            </p:nvSpPr>
            <p:spPr bwMode="auto">
              <a:xfrm flipV="1">
                <a:off x="4862514" y="55292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8" name="Line 363"/>
              <p:cNvSpPr>
                <a:spLocks noChangeShapeType="1"/>
              </p:cNvSpPr>
              <p:nvPr/>
            </p:nvSpPr>
            <p:spPr bwMode="auto">
              <a:xfrm flipV="1">
                <a:off x="4878388" y="5503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9" name="Line 364"/>
              <p:cNvSpPr>
                <a:spLocks noChangeShapeType="1"/>
              </p:cNvSpPr>
              <p:nvPr/>
            </p:nvSpPr>
            <p:spPr bwMode="auto">
              <a:xfrm flipV="1">
                <a:off x="4892675" y="5480052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0" name="Line 365"/>
              <p:cNvSpPr>
                <a:spLocks noChangeShapeType="1"/>
              </p:cNvSpPr>
              <p:nvPr/>
            </p:nvSpPr>
            <p:spPr bwMode="auto">
              <a:xfrm flipV="1">
                <a:off x="4906963" y="54530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1" name="Line 366"/>
              <p:cNvSpPr>
                <a:spLocks noChangeShapeType="1"/>
              </p:cNvSpPr>
              <p:nvPr/>
            </p:nvSpPr>
            <p:spPr bwMode="auto">
              <a:xfrm flipV="1">
                <a:off x="4921251" y="5429252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2" name="Line 367"/>
              <p:cNvSpPr>
                <a:spLocks noChangeShapeType="1"/>
              </p:cNvSpPr>
              <p:nvPr/>
            </p:nvSpPr>
            <p:spPr bwMode="auto">
              <a:xfrm flipV="1">
                <a:off x="4937125" y="54022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3" name="Line 368"/>
              <p:cNvSpPr>
                <a:spLocks noChangeShapeType="1"/>
              </p:cNvSpPr>
              <p:nvPr/>
            </p:nvSpPr>
            <p:spPr bwMode="auto">
              <a:xfrm flipV="1">
                <a:off x="4951413" y="5376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4" name="Line 369"/>
              <p:cNvSpPr>
                <a:spLocks noChangeShapeType="1"/>
              </p:cNvSpPr>
              <p:nvPr/>
            </p:nvSpPr>
            <p:spPr bwMode="auto">
              <a:xfrm flipV="1">
                <a:off x="4965700" y="53514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5" name="Freeform 370"/>
              <p:cNvSpPr>
                <a:spLocks/>
              </p:cNvSpPr>
              <p:nvPr/>
            </p:nvSpPr>
            <p:spPr bwMode="auto">
              <a:xfrm>
                <a:off x="4979989" y="5318126"/>
                <a:ext cx="22225" cy="33338"/>
              </a:xfrm>
              <a:custGeom>
                <a:avLst/>
                <a:gdLst>
                  <a:gd name="T0" fmla="*/ 0 w 14"/>
                  <a:gd name="T1" fmla="*/ 21 h 21"/>
                  <a:gd name="T2" fmla="*/ 5 w 14"/>
                  <a:gd name="T3" fmla="*/ 10 h 21"/>
                  <a:gd name="T4" fmla="*/ 14 w 14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lnTo>
                      <a:pt x="5" y="1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6" name="Line 371"/>
              <p:cNvSpPr>
                <a:spLocks noChangeShapeType="1"/>
              </p:cNvSpPr>
              <p:nvPr/>
            </p:nvSpPr>
            <p:spPr bwMode="auto">
              <a:xfrm flipV="1">
                <a:off x="5002214" y="5292726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7" name="Freeform 372"/>
              <p:cNvSpPr>
                <a:spLocks/>
              </p:cNvSpPr>
              <p:nvPr/>
            </p:nvSpPr>
            <p:spPr bwMode="auto">
              <a:xfrm>
                <a:off x="5018088" y="5257802"/>
                <a:ext cx="14288" cy="34925"/>
              </a:xfrm>
              <a:custGeom>
                <a:avLst/>
                <a:gdLst>
                  <a:gd name="T0" fmla="*/ 0 w 9"/>
                  <a:gd name="T1" fmla="*/ 22 h 22"/>
                  <a:gd name="T2" fmla="*/ 4 w 9"/>
                  <a:gd name="T3" fmla="*/ 11 h 22"/>
                  <a:gd name="T4" fmla="*/ 9 w 9"/>
                  <a:gd name="T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22"/>
                    </a:moveTo>
                    <a:lnTo>
                      <a:pt x="4" y="11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8" name="Line 373"/>
              <p:cNvSpPr>
                <a:spLocks noChangeShapeType="1"/>
              </p:cNvSpPr>
              <p:nvPr/>
            </p:nvSpPr>
            <p:spPr bwMode="auto">
              <a:xfrm flipV="1">
                <a:off x="5032375" y="523398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9" name="Line 374"/>
              <p:cNvSpPr>
                <a:spLocks noChangeShapeType="1"/>
              </p:cNvSpPr>
              <p:nvPr/>
            </p:nvSpPr>
            <p:spPr bwMode="auto">
              <a:xfrm flipV="1">
                <a:off x="5046663" y="51990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0" name="Line 375"/>
              <p:cNvSpPr>
                <a:spLocks noChangeShapeType="1"/>
              </p:cNvSpPr>
              <p:nvPr/>
            </p:nvSpPr>
            <p:spPr bwMode="auto">
              <a:xfrm flipV="1">
                <a:off x="5060951" y="5165726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1" name="Line 376"/>
              <p:cNvSpPr>
                <a:spLocks noChangeShapeType="1"/>
              </p:cNvSpPr>
              <p:nvPr/>
            </p:nvSpPr>
            <p:spPr bwMode="auto">
              <a:xfrm flipV="1">
                <a:off x="5076825" y="5140326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2" name="Line 377"/>
              <p:cNvSpPr>
                <a:spLocks noChangeShapeType="1"/>
              </p:cNvSpPr>
              <p:nvPr/>
            </p:nvSpPr>
            <p:spPr bwMode="auto">
              <a:xfrm flipV="1">
                <a:off x="5091113" y="5106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3" name="Line 378"/>
              <p:cNvSpPr>
                <a:spLocks noChangeShapeType="1"/>
              </p:cNvSpPr>
              <p:nvPr/>
            </p:nvSpPr>
            <p:spPr bwMode="auto">
              <a:xfrm flipV="1">
                <a:off x="5105401" y="5073651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4" name="Line 379"/>
              <p:cNvSpPr>
                <a:spLocks noChangeShapeType="1"/>
              </p:cNvSpPr>
              <p:nvPr/>
            </p:nvSpPr>
            <p:spPr bwMode="auto">
              <a:xfrm flipV="1">
                <a:off x="5121275" y="5040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5" name="Line 392"/>
              <p:cNvSpPr>
                <a:spLocks noChangeShapeType="1"/>
              </p:cNvSpPr>
              <p:nvPr/>
            </p:nvSpPr>
            <p:spPr bwMode="auto">
              <a:xfrm flipV="1">
                <a:off x="5311775" y="45815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" name="Line 393"/>
              <p:cNvSpPr>
                <a:spLocks noChangeShapeType="1"/>
              </p:cNvSpPr>
              <p:nvPr/>
            </p:nvSpPr>
            <p:spPr bwMode="auto">
              <a:xfrm flipV="1">
                <a:off x="5326064" y="4548188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7" name="Line 394"/>
              <p:cNvSpPr>
                <a:spLocks noChangeShapeType="1"/>
              </p:cNvSpPr>
              <p:nvPr/>
            </p:nvSpPr>
            <p:spPr bwMode="auto">
              <a:xfrm flipV="1">
                <a:off x="5341938" y="4516438"/>
                <a:ext cx="14288" cy="317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8" name="Line 395"/>
              <p:cNvSpPr>
                <a:spLocks noChangeShapeType="1"/>
              </p:cNvSpPr>
              <p:nvPr/>
            </p:nvSpPr>
            <p:spPr bwMode="auto">
              <a:xfrm flipV="1">
                <a:off x="5356225" y="448151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9" name="Line 396"/>
              <p:cNvSpPr>
                <a:spLocks noChangeShapeType="1"/>
              </p:cNvSpPr>
              <p:nvPr/>
            </p:nvSpPr>
            <p:spPr bwMode="auto">
              <a:xfrm flipV="1">
                <a:off x="5370513" y="4438652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0" name="Line 397"/>
              <p:cNvSpPr>
                <a:spLocks noChangeShapeType="1"/>
              </p:cNvSpPr>
              <p:nvPr/>
            </p:nvSpPr>
            <p:spPr bwMode="auto">
              <a:xfrm flipV="1">
                <a:off x="5384801" y="44053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1" name="Line 398"/>
              <p:cNvSpPr>
                <a:spLocks noChangeShapeType="1"/>
              </p:cNvSpPr>
              <p:nvPr/>
            </p:nvSpPr>
            <p:spPr bwMode="auto">
              <a:xfrm flipV="1">
                <a:off x="5400675" y="437197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2" name="Line 399"/>
              <p:cNvSpPr>
                <a:spLocks noChangeShapeType="1"/>
              </p:cNvSpPr>
              <p:nvPr/>
            </p:nvSpPr>
            <p:spPr bwMode="auto">
              <a:xfrm flipV="1">
                <a:off x="5414963" y="4337052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3" name="Line 400"/>
              <p:cNvSpPr>
                <a:spLocks noChangeShapeType="1"/>
              </p:cNvSpPr>
              <p:nvPr/>
            </p:nvSpPr>
            <p:spPr bwMode="auto">
              <a:xfrm flipV="1">
                <a:off x="5429251" y="4303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4" name="Line 401"/>
              <p:cNvSpPr>
                <a:spLocks noChangeShapeType="1"/>
              </p:cNvSpPr>
              <p:nvPr/>
            </p:nvSpPr>
            <p:spPr bwMode="auto">
              <a:xfrm flipV="1">
                <a:off x="5445125" y="4268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5" name="Line 402"/>
              <p:cNvSpPr>
                <a:spLocks noChangeShapeType="1"/>
              </p:cNvSpPr>
              <p:nvPr/>
            </p:nvSpPr>
            <p:spPr bwMode="auto">
              <a:xfrm flipV="1">
                <a:off x="5459413" y="4235451"/>
                <a:ext cx="12700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6" name="Line 403"/>
              <p:cNvSpPr>
                <a:spLocks noChangeShapeType="1"/>
              </p:cNvSpPr>
              <p:nvPr/>
            </p:nvSpPr>
            <p:spPr bwMode="auto">
              <a:xfrm flipV="1">
                <a:off x="5472113" y="4210051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7" name="Line 404"/>
              <p:cNvSpPr>
                <a:spLocks noChangeShapeType="1"/>
              </p:cNvSpPr>
              <p:nvPr/>
            </p:nvSpPr>
            <p:spPr bwMode="auto">
              <a:xfrm flipV="1">
                <a:off x="5486401" y="4176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8" name="Line 405"/>
              <p:cNvSpPr>
                <a:spLocks noChangeShapeType="1"/>
              </p:cNvSpPr>
              <p:nvPr/>
            </p:nvSpPr>
            <p:spPr bwMode="auto">
              <a:xfrm flipV="1">
                <a:off x="5502275" y="4141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9" name="Line 476"/>
              <p:cNvSpPr>
                <a:spLocks noChangeShapeType="1"/>
              </p:cNvSpPr>
              <p:nvPr/>
            </p:nvSpPr>
            <p:spPr bwMode="auto">
              <a:xfrm>
                <a:off x="6539707" y="4790282"/>
                <a:ext cx="9524" cy="2064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sp>
        <p:nvSpPr>
          <p:cNvPr id="570" name="Oval 569"/>
          <p:cNvSpPr/>
          <p:nvPr/>
        </p:nvSpPr>
        <p:spPr>
          <a:xfrm>
            <a:off x="8738446" y="5589280"/>
            <a:ext cx="360000" cy="36000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23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must be expected to happen to selected individual with more information …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5B4C-6196-4247-B184-83F9EAD05997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018000" y="3790800"/>
            <a:ext cx="6222558" cy="2186240"/>
            <a:chOff x="1157754" y="3501008"/>
            <a:chExt cx="6222558" cy="2186240"/>
          </a:xfrm>
        </p:grpSpPr>
        <p:grpSp>
          <p:nvGrpSpPr>
            <p:cNvPr id="9" name="Group 8"/>
            <p:cNvGrpSpPr/>
            <p:nvPr/>
          </p:nvGrpSpPr>
          <p:grpSpPr>
            <a:xfrm>
              <a:off x="1157754" y="4306712"/>
              <a:ext cx="6222558" cy="1380536"/>
              <a:chOff x="3856038" y="3727450"/>
              <a:chExt cx="4138613" cy="2352677"/>
            </a:xfrm>
          </p:grpSpPr>
          <p:sp>
            <p:nvSpPr>
              <p:cNvPr id="10" name="Line 382"/>
              <p:cNvSpPr>
                <a:spLocks noChangeShapeType="1"/>
              </p:cNvSpPr>
              <p:nvPr/>
            </p:nvSpPr>
            <p:spPr bwMode="auto">
              <a:xfrm flipV="1">
                <a:off x="5164139" y="4938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Line 380"/>
              <p:cNvSpPr>
                <a:spLocks noChangeShapeType="1"/>
              </p:cNvSpPr>
              <p:nvPr/>
            </p:nvSpPr>
            <p:spPr bwMode="auto">
              <a:xfrm flipV="1">
                <a:off x="5135563" y="50053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Line 381"/>
              <p:cNvSpPr>
                <a:spLocks noChangeShapeType="1"/>
              </p:cNvSpPr>
              <p:nvPr/>
            </p:nvSpPr>
            <p:spPr bwMode="auto">
              <a:xfrm flipV="1">
                <a:off x="5149850" y="4972051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Line 383"/>
              <p:cNvSpPr>
                <a:spLocks noChangeShapeType="1"/>
              </p:cNvSpPr>
              <p:nvPr/>
            </p:nvSpPr>
            <p:spPr bwMode="auto">
              <a:xfrm flipV="1">
                <a:off x="5180013" y="4903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Line 384"/>
              <p:cNvSpPr>
                <a:spLocks noChangeShapeType="1"/>
              </p:cNvSpPr>
              <p:nvPr/>
            </p:nvSpPr>
            <p:spPr bwMode="auto">
              <a:xfrm flipV="1">
                <a:off x="5194300" y="48688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Line 385"/>
              <p:cNvSpPr>
                <a:spLocks noChangeShapeType="1"/>
              </p:cNvSpPr>
              <p:nvPr/>
            </p:nvSpPr>
            <p:spPr bwMode="auto">
              <a:xfrm flipV="1">
                <a:off x="5208588" y="48355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Line 386"/>
              <p:cNvSpPr>
                <a:spLocks noChangeShapeType="1"/>
              </p:cNvSpPr>
              <p:nvPr/>
            </p:nvSpPr>
            <p:spPr bwMode="auto">
              <a:xfrm flipV="1">
                <a:off x="5222876" y="4802188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Line 387"/>
              <p:cNvSpPr>
                <a:spLocks noChangeShapeType="1"/>
              </p:cNvSpPr>
              <p:nvPr/>
            </p:nvSpPr>
            <p:spPr bwMode="auto">
              <a:xfrm flipV="1">
                <a:off x="5238750" y="4759327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Line 388"/>
              <p:cNvSpPr>
                <a:spLocks noChangeShapeType="1"/>
              </p:cNvSpPr>
              <p:nvPr/>
            </p:nvSpPr>
            <p:spPr bwMode="auto">
              <a:xfrm flipV="1">
                <a:off x="5253038" y="4725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Line 389"/>
              <p:cNvSpPr>
                <a:spLocks noChangeShapeType="1"/>
              </p:cNvSpPr>
              <p:nvPr/>
            </p:nvSpPr>
            <p:spPr bwMode="auto">
              <a:xfrm flipV="1">
                <a:off x="5267326" y="4691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Line 390"/>
              <p:cNvSpPr>
                <a:spLocks noChangeShapeType="1"/>
              </p:cNvSpPr>
              <p:nvPr/>
            </p:nvSpPr>
            <p:spPr bwMode="auto">
              <a:xfrm flipV="1">
                <a:off x="5283200" y="46577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Line 391"/>
              <p:cNvSpPr>
                <a:spLocks noChangeShapeType="1"/>
              </p:cNvSpPr>
              <p:nvPr/>
            </p:nvSpPr>
            <p:spPr bwMode="auto">
              <a:xfrm flipV="1">
                <a:off x="5297488" y="4614864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Line 475"/>
              <p:cNvSpPr>
                <a:spLocks noChangeShapeType="1"/>
              </p:cNvSpPr>
              <p:nvPr/>
            </p:nvSpPr>
            <p:spPr bwMode="auto">
              <a:xfrm>
                <a:off x="6530975" y="4759326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Line 474"/>
              <p:cNvSpPr>
                <a:spLocks noChangeShapeType="1"/>
              </p:cNvSpPr>
              <p:nvPr/>
            </p:nvSpPr>
            <p:spPr bwMode="auto">
              <a:xfrm>
                <a:off x="6516688" y="4725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Line 476"/>
              <p:cNvSpPr>
                <a:spLocks noChangeShapeType="1"/>
              </p:cNvSpPr>
              <p:nvPr/>
            </p:nvSpPr>
            <p:spPr bwMode="auto">
              <a:xfrm>
                <a:off x="6548439" y="4808535"/>
                <a:ext cx="11112" cy="26992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Line 407"/>
              <p:cNvSpPr>
                <a:spLocks noChangeShapeType="1"/>
              </p:cNvSpPr>
              <p:nvPr/>
            </p:nvSpPr>
            <p:spPr bwMode="auto">
              <a:xfrm flipV="1">
                <a:off x="5516563" y="4116388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408"/>
              <p:cNvSpPr>
                <a:spLocks/>
              </p:cNvSpPr>
              <p:nvPr/>
            </p:nvSpPr>
            <p:spPr bwMode="auto">
              <a:xfrm>
                <a:off x="5530851" y="4083050"/>
                <a:ext cx="15875" cy="33338"/>
              </a:xfrm>
              <a:custGeom>
                <a:avLst/>
                <a:gdLst>
                  <a:gd name="T0" fmla="*/ 0 w 10"/>
                  <a:gd name="T1" fmla="*/ 21 h 21"/>
                  <a:gd name="T2" fmla="*/ 5 w 10"/>
                  <a:gd name="T3" fmla="*/ 10 h 21"/>
                  <a:gd name="T4" fmla="*/ 10 w 10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21"/>
                    </a:moveTo>
                    <a:lnTo>
                      <a:pt x="5" y="10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Line 409"/>
              <p:cNvSpPr>
                <a:spLocks noChangeShapeType="1"/>
              </p:cNvSpPr>
              <p:nvPr/>
            </p:nvSpPr>
            <p:spPr bwMode="auto">
              <a:xfrm flipV="1">
                <a:off x="5546725" y="40576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Line 410"/>
              <p:cNvSpPr>
                <a:spLocks noChangeShapeType="1"/>
              </p:cNvSpPr>
              <p:nvPr/>
            </p:nvSpPr>
            <p:spPr bwMode="auto">
              <a:xfrm flipV="1">
                <a:off x="5561013" y="40322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411"/>
              <p:cNvSpPr>
                <a:spLocks/>
              </p:cNvSpPr>
              <p:nvPr/>
            </p:nvSpPr>
            <p:spPr bwMode="auto">
              <a:xfrm>
                <a:off x="5575301" y="4006850"/>
                <a:ext cx="22225" cy="25400"/>
              </a:xfrm>
              <a:custGeom>
                <a:avLst/>
                <a:gdLst>
                  <a:gd name="T0" fmla="*/ 0 w 14"/>
                  <a:gd name="T1" fmla="*/ 16 h 16"/>
                  <a:gd name="T2" fmla="*/ 5 w 14"/>
                  <a:gd name="T3" fmla="*/ 5 h 16"/>
                  <a:gd name="T4" fmla="*/ 14 w 14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16"/>
                    </a:moveTo>
                    <a:lnTo>
                      <a:pt x="5" y="5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Line 412"/>
              <p:cNvSpPr>
                <a:spLocks noChangeShapeType="1"/>
              </p:cNvSpPr>
              <p:nvPr/>
            </p:nvSpPr>
            <p:spPr bwMode="auto">
              <a:xfrm flipV="1">
                <a:off x="5597525" y="39798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Line 413"/>
              <p:cNvSpPr>
                <a:spLocks noChangeShapeType="1"/>
              </p:cNvSpPr>
              <p:nvPr/>
            </p:nvSpPr>
            <p:spPr bwMode="auto">
              <a:xfrm flipV="1">
                <a:off x="5611814" y="3956051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Line 414"/>
              <p:cNvSpPr>
                <a:spLocks noChangeShapeType="1"/>
              </p:cNvSpPr>
              <p:nvPr/>
            </p:nvSpPr>
            <p:spPr bwMode="auto">
              <a:xfrm flipV="1">
                <a:off x="5627688" y="393223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Line 415"/>
              <p:cNvSpPr>
                <a:spLocks noChangeShapeType="1"/>
              </p:cNvSpPr>
              <p:nvPr/>
            </p:nvSpPr>
            <p:spPr bwMode="auto">
              <a:xfrm flipV="1">
                <a:off x="5641975" y="3905250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Line 416"/>
              <p:cNvSpPr>
                <a:spLocks noChangeShapeType="1"/>
              </p:cNvSpPr>
              <p:nvPr/>
            </p:nvSpPr>
            <p:spPr bwMode="auto">
              <a:xfrm flipV="1">
                <a:off x="5656263" y="388937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417"/>
              <p:cNvSpPr>
                <a:spLocks/>
              </p:cNvSpPr>
              <p:nvPr/>
            </p:nvSpPr>
            <p:spPr bwMode="auto">
              <a:xfrm>
                <a:off x="5670551" y="3863975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5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5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Line 418"/>
              <p:cNvSpPr>
                <a:spLocks noChangeShapeType="1"/>
              </p:cNvSpPr>
              <p:nvPr/>
            </p:nvSpPr>
            <p:spPr bwMode="auto">
              <a:xfrm flipV="1">
                <a:off x="5686425" y="38465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Line 419"/>
              <p:cNvSpPr>
                <a:spLocks noChangeShapeType="1"/>
              </p:cNvSpPr>
              <p:nvPr/>
            </p:nvSpPr>
            <p:spPr bwMode="auto">
              <a:xfrm flipV="1">
                <a:off x="5700713" y="382905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Line 420"/>
              <p:cNvSpPr>
                <a:spLocks noChangeShapeType="1"/>
              </p:cNvSpPr>
              <p:nvPr/>
            </p:nvSpPr>
            <p:spPr bwMode="auto">
              <a:xfrm flipV="1">
                <a:off x="5715000" y="381158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" name="Line 421"/>
              <p:cNvSpPr>
                <a:spLocks noChangeShapeType="1"/>
              </p:cNvSpPr>
              <p:nvPr/>
            </p:nvSpPr>
            <p:spPr bwMode="auto">
              <a:xfrm flipV="1">
                <a:off x="5729289" y="3795714"/>
                <a:ext cx="15875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Line 422"/>
              <p:cNvSpPr>
                <a:spLocks noChangeShapeType="1"/>
              </p:cNvSpPr>
              <p:nvPr/>
            </p:nvSpPr>
            <p:spPr bwMode="auto">
              <a:xfrm flipV="1">
                <a:off x="5745163" y="37877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Line 423"/>
              <p:cNvSpPr>
                <a:spLocks noChangeShapeType="1"/>
              </p:cNvSpPr>
              <p:nvPr/>
            </p:nvSpPr>
            <p:spPr bwMode="auto">
              <a:xfrm flipV="1">
                <a:off x="5759450" y="37703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Line 424"/>
              <p:cNvSpPr>
                <a:spLocks noChangeShapeType="1"/>
              </p:cNvSpPr>
              <p:nvPr/>
            </p:nvSpPr>
            <p:spPr bwMode="auto">
              <a:xfrm flipV="1">
                <a:off x="5773739" y="376237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Line 425"/>
              <p:cNvSpPr>
                <a:spLocks noChangeShapeType="1"/>
              </p:cNvSpPr>
              <p:nvPr/>
            </p:nvSpPr>
            <p:spPr bwMode="auto">
              <a:xfrm flipV="1">
                <a:off x="5789613" y="3754438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Line 426"/>
              <p:cNvSpPr>
                <a:spLocks noChangeShapeType="1"/>
              </p:cNvSpPr>
              <p:nvPr/>
            </p:nvSpPr>
            <p:spPr bwMode="auto">
              <a:xfrm flipV="1">
                <a:off x="5803900" y="374491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" name="Line 427"/>
              <p:cNvSpPr>
                <a:spLocks noChangeShapeType="1"/>
              </p:cNvSpPr>
              <p:nvPr/>
            </p:nvSpPr>
            <p:spPr bwMode="auto">
              <a:xfrm flipV="1">
                <a:off x="5818188" y="37369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Line 428"/>
              <p:cNvSpPr>
                <a:spLocks noChangeShapeType="1"/>
              </p:cNvSpPr>
              <p:nvPr/>
            </p:nvSpPr>
            <p:spPr bwMode="auto">
              <a:xfrm>
                <a:off x="5832476" y="373697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29"/>
              <p:cNvSpPr>
                <a:spLocks/>
              </p:cNvSpPr>
              <p:nvPr/>
            </p:nvSpPr>
            <p:spPr bwMode="auto">
              <a:xfrm>
                <a:off x="5848350" y="3727451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Line 430"/>
              <p:cNvSpPr>
                <a:spLocks noChangeShapeType="1"/>
              </p:cNvSpPr>
              <p:nvPr/>
            </p:nvSpPr>
            <p:spPr bwMode="auto">
              <a:xfrm>
                <a:off x="5862638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Line 431"/>
              <p:cNvSpPr>
                <a:spLocks noChangeShapeType="1"/>
              </p:cNvSpPr>
              <p:nvPr/>
            </p:nvSpPr>
            <p:spPr bwMode="auto">
              <a:xfrm>
                <a:off x="5876925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Line 432"/>
              <p:cNvSpPr>
                <a:spLocks noChangeShapeType="1"/>
              </p:cNvSpPr>
              <p:nvPr/>
            </p:nvSpPr>
            <p:spPr bwMode="auto">
              <a:xfrm>
                <a:off x="5891214" y="372745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Line 433"/>
              <p:cNvSpPr>
                <a:spLocks noChangeShapeType="1"/>
              </p:cNvSpPr>
              <p:nvPr/>
            </p:nvSpPr>
            <p:spPr bwMode="auto">
              <a:xfrm>
                <a:off x="5907088" y="372745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" name="Freeform 434"/>
              <p:cNvSpPr>
                <a:spLocks/>
              </p:cNvSpPr>
              <p:nvPr/>
            </p:nvSpPr>
            <p:spPr bwMode="auto">
              <a:xfrm>
                <a:off x="5921375" y="372745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Line 435"/>
              <p:cNvSpPr>
                <a:spLocks noChangeShapeType="1"/>
              </p:cNvSpPr>
              <p:nvPr/>
            </p:nvSpPr>
            <p:spPr bwMode="auto">
              <a:xfrm>
                <a:off x="5935664" y="373697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" name="Line 436"/>
              <p:cNvSpPr>
                <a:spLocks noChangeShapeType="1"/>
              </p:cNvSpPr>
              <p:nvPr/>
            </p:nvSpPr>
            <p:spPr bwMode="auto">
              <a:xfrm>
                <a:off x="5951538" y="37369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Line 437"/>
              <p:cNvSpPr>
                <a:spLocks noChangeShapeType="1"/>
              </p:cNvSpPr>
              <p:nvPr/>
            </p:nvSpPr>
            <p:spPr bwMode="auto">
              <a:xfrm>
                <a:off x="5965825" y="374491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Line 438"/>
              <p:cNvSpPr>
                <a:spLocks noChangeShapeType="1"/>
              </p:cNvSpPr>
              <p:nvPr/>
            </p:nvSpPr>
            <p:spPr bwMode="auto">
              <a:xfrm>
                <a:off x="5980113" y="3754438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" name="Line 439"/>
              <p:cNvSpPr>
                <a:spLocks noChangeShapeType="1"/>
              </p:cNvSpPr>
              <p:nvPr/>
            </p:nvSpPr>
            <p:spPr bwMode="auto">
              <a:xfrm>
                <a:off x="5994401" y="376237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Line 440"/>
              <p:cNvSpPr>
                <a:spLocks noChangeShapeType="1"/>
              </p:cNvSpPr>
              <p:nvPr/>
            </p:nvSpPr>
            <p:spPr bwMode="auto">
              <a:xfrm>
                <a:off x="6010275" y="37703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Line 441"/>
              <p:cNvSpPr>
                <a:spLocks noChangeShapeType="1"/>
              </p:cNvSpPr>
              <p:nvPr/>
            </p:nvSpPr>
            <p:spPr bwMode="auto">
              <a:xfrm>
                <a:off x="6024563" y="378777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Line 442"/>
              <p:cNvSpPr>
                <a:spLocks noChangeShapeType="1"/>
              </p:cNvSpPr>
              <p:nvPr/>
            </p:nvSpPr>
            <p:spPr bwMode="auto">
              <a:xfrm>
                <a:off x="6038850" y="379571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Line 443"/>
              <p:cNvSpPr>
                <a:spLocks noChangeShapeType="1"/>
              </p:cNvSpPr>
              <p:nvPr/>
            </p:nvSpPr>
            <p:spPr bwMode="auto">
              <a:xfrm>
                <a:off x="6053139" y="381158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Line 444"/>
              <p:cNvSpPr>
                <a:spLocks noChangeShapeType="1"/>
              </p:cNvSpPr>
              <p:nvPr/>
            </p:nvSpPr>
            <p:spPr bwMode="auto">
              <a:xfrm>
                <a:off x="6069013" y="382905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Line 445"/>
              <p:cNvSpPr>
                <a:spLocks noChangeShapeType="1"/>
              </p:cNvSpPr>
              <p:nvPr/>
            </p:nvSpPr>
            <p:spPr bwMode="auto">
              <a:xfrm>
                <a:off x="6083300" y="384651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" name="Freeform 446"/>
              <p:cNvSpPr>
                <a:spLocks/>
              </p:cNvSpPr>
              <p:nvPr/>
            </p:nvSpPr>
            <p:spPr bwMode="auto">
              <a:xfrm>
                <a:off x="6097589" y="3863975"/>
                <a:ext cx="15875" cy="25400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5 h 16"/>
                  <a:gd name="T4" fmla="*/ 10 w 10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5"/>
                    </a:lnTo>
                    <a:lnTo>
                      <a:pt x="10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" name="Line 447"/>
              <p:cNvSpPr>
                <a:spLocks noChangeShapeType="1"/>
              </p:cNvSpPr>
              <p:nvPr/>
            </p:nvSpPr>
            <p:spPr bwMode="auto">
              <a:xfrm>
                <a:off x="6113463" y="388937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" name="Line 448"/>
              <p:cNvSpPr>
                <a:spLocks noChangeShapeType="1"/>
              </p:cNvSpPr>
              <p:nvPr/>
            </p:nvSpPr>
            <p:spPr bwMode="auto">
              <a:xfrm>
                <a:off x="6127750" y="3905250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" name="Line 449"/>
              <p:cNvSpPr>
                <a:spLocks noChangeShapeType="1"/>
              </p:cNvSpPr>
              <p:nvPr/>
            </p:nvSpPr>
            <p:spPr bwMode="auto">
              <a:xfrm>
                <a:off x="6142038" y="393223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" name="Line 450"/>
              <p:cNvSpPr>
                <a:spLocks noChangeShapeType="1"/>
              </p:cNvSpPr>
              <p:nvPr/>
            </p:nvSpPr>
            <p:spPr bwMode="auto">
              <a:xfrm>
                <a:off x="6156326" y="3956051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" name="Freeform 451"/>
              <p:cNvSpPr>
                <a:spLocks/>
              </p:cNvSpPr>
              <p:nvPr/>
            </p:nvSpPr>
            <p:spPr bwMode="auto">
              <a:xfrm>
                <a:off x="6172201" y="3979863"/>
                <a:ext cx="22225" cy="26988"/>
              </a:xfrm>
              <a:custGeom>
                <a:avLst/>
                <a:gdLst>
                  <a:gd name="T0" fmla="*/ 0 w 14"/>
                  <a:gd name="T1" fmla="*/ 0 h 17"/>
                  <a:gd name="T2" fmla="*/ 4 w 14"/>
                  <a:gd name="T3" fmla="*/ 6 h 17"/>
                  <a:gd name="T4" fmla="*/ 14 w 14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7">
                    <a:moveTo>
                      <a:pt x="0" y="0"/>
                    </a:moveTo>
                    <a:lnTo>
                      <a:pt x="4" y="6"/>
                    </a:lnTo>
                    <a:lnTo>
                      <a:pt x="14" y="17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" name="Line 452"/>
              <p:cNvSpPr>
                <a:spLocks noChangeShapeType="1"/>
              </p:cNvSpPr>
              <p:nvPr/>
            </p:nvSpPr>
            <p:spPr bwMode="auto">
              <a:xfrm>
                <a:off x="6194425" y="40068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Line 453"/>
              <p:cNvSpPr>
                <a:spLocks noChangeShapeType="1"/>
              </p:cNvSpPr>
              <p:nvPr/>
            </p:nvSpPr>
            <p:spPr bwMode="auto">
              <a:xfrm>
                <a:off x="6208713" y="40322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" name="Line 454"/>
              <p:cNvSpPr>
                <a:spLocks noChangeShapeType="1"/>
              </p:cNvSpPr>
              <p:nvPr/>
            </p:nvSpPr>
            <p:spPr bwMode="auto">
              <a:xfrm>
                <a:off x="6223000" y="4057650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" name="Freeform 455"/>
              <p:cNvSpPr>
                <a:spLocks/>
              </p:cNvSpPr>
              <p:nvPr/>
            </p:nvSpPr>
            <p:spPr bwMode="auto">
              <a:xfrm>
                <a:off x="6237289" y="4083050"/>
                <a:ext cx="15875" cy="33338"/>
              </a:xfrm>
              <a:custGeom>
                <a:avLst/>
                <a:gdLst>
                  <a:gd name="T0" fmla="*/ 0 w 10"/>
                  <a:gd name="T1" fmla="*/ 0 h 21"/>
                  <a:gd name="T2" fmla="*/ 5 w 10"/>
                  <a:gd name="T3" fmla="*/ 10 h 21"/>
                  <a:gd name="T4" fmla="*/ 10 w 10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0"/>
                    </a:moveTo>
                    <a:lnTo>
                      <a:pt x="5" y="10"/>
                    </a:lnTo>
                    <a:lnTo>
                      <a:pt x="10" y="21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" name="Line 456"/>
              <p:cNvSpPr>
                <a:spLocks noChangeShapeType="1"/>
              </p:cNvSpPr>
              <p:nvPr/>
            </p:nvSpPr>
            <p:spPr bwMode="auto">
              <a:xfrm>
                <a:off x="6253163" y="4116388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" name="Line 457"/>
              <p:cNvSpPr>
                <a:spLocks noChangeShapeType="1"/>
              </p:cNvSpPr>
              <p:nvPr/>
            </p:nvSpPr>
            <p:spPr bwMode="auto">
              <a:xfrm>
                <a:off x="6267450" y="4141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" name="Line 458"/>
              <p:cNvSpPr>
                <a:spLocks noChangeShapeType="1"/>
              </p:cNvSpPr>
              <p:nvPr/>
            </p:nvSpPr>
            <p:spPr bwMode="auto">
              <a:xfrm>
                <a:off x="6281738" y="41767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" name="Line 459"/>
              <p:cNvSpPr>
                <a:spLocks noChangeShapeType="1"/>
              </p:cNvSpPr>
              <p:nvPr/>
            </p:nvSpPr>
            <p:spPr bwMode="auto">
              <a:xfrm>
                <a:off x="6296026" y="4210050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" name="Line 460"/>
              <p:cNvSpPr>
                <a:spLocks noChangeShapeType="1"/>
              </p:cNvSpPr>
              <p:nvPr/>
            </p:nvSpPr>
            <p:spPr bwMode="auto">
              <a:xfrm>
                <a:off x="6311900" y="4235450"/>
                <a:ext cx="12700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" name="Line 461"/>
              <p:cNvSpPr>
                <a:spLocks noChangeShapeType="1"/>
              </p:cNvSpPr>
              <p:nvPr/>
            </p:nvSpPr>
            <p:spPr bwMode="auto">
              <a:xfrm>
                <a:off x="6324600" y="4268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Line 462"/>
              <p:cNvSpPr>
                <a:spLocks noChangeShapeType="1"/>
              </p:cNvSpPr>
              <p:nvPr/>
            </p:nvSpPr>
            <p:spPr bwMode="auto">
              <a:xfrm>
                <a:off x="6338889" y="4303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Line 463"/>
              <p:cNvSpPr>
                <a:spLocks noChangeShapeType="1"/>
              </p:cNvSpPr>
              <p:nvPr/>
            </p:nvSpPr>
            <p:spPr bwMode="auto">
              <a:xfrm>
                <a:off x="6354763" y="4337051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" name="Line 464"/>
              <p:cNvSpPr>
                <a:spLocks noChangeShapeType="1"/>
              </p:cNvSpPr>
              <p:nvPr/>
            </p:nvSpPr>
            <p:spPr bwMode="auto">
              <a:xfrm>
                <a:off x="6369050" y="437197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Line 465"/>
              <p:cNvSpPr>
                <a:spLocks noChangeShapeType="1"/>
              </p:cNvSpPr>
              <p:nvPr/>
            </p:nvSpPr>
            <p:spPr bwMode="auto">
              <a:xfrm>
                <a:off x="6383338" y="4405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Line 466"/>
              <p:cNvSpPr>
                <a:spLocks noChangeShapeType="1"/>
              </p:cNvSpPr>
              <p:nvPr/>
            </p:nvSpPr>
            <p:spPr bwMode="auto">
              <a:xfrm>
                <a:off x="6397626" y="4438651"/>
                <a:ext cx="15875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" name="Line 467"/>
              <p:cNvSpPr>
                <a:spLocks noChangeShapeType="1"/>
              </p:cNvSpPr>
              <p:nvPr/>
            </p:nvSpPr>
            <p:spPr bwMode="auto">
              <a:xfrm>
                <a:off x="6413500" y="448151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Line 468"/>
              <p:cNvSpPr>
                <a:spLocks noChangeShapeType="1"/>
              </p:cNvSpPr>
              <p:nvPr/>
            </p:nvSpPr>
            <p:spPr bwMode="auto">
              <a:xfrm>
                <a:off x="6427788" y="4516438"/>
                <a:ext cx="14288" cy="317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Line 469"/>
              <p:cNvSpPr>
                <a:spLocks noChangeShapeType="1"/>
              </p:cNvSpPr>
              <p:nvPr/>
            </p:nvSpPr>
            <p:spPr bwMode="auto">
              <a:xfrm>
                <a:off x="6442075" y="45481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" name="Line 470"/>
              <p:cNvSpPr>
                <a:spLocks noChangeShapeType="1"/>
              </p:cNvSpPr>
              <p:nvPr/>
            </p:nvSpPr>
            <p:spPr bwMode="auto">
              <a:xfrm>
                <a:off x="6456364" y="4581525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" name="Line 471"/>
              <p:cNvSpPr>
                <a:spLocks noChangeShapeType="1"/>
              </p:cNvSpPr>
              <p:nvPr/>
            </p:nvSpPr>
            <p:spPr bwMode="auto">
              <a:xfrm>
                <a:off x="6472238" y="4614864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" name="Line 472"/>
              <p:cNvSpPr>
                <a:spLocks noChangeShapeType="1"/>
              </p:cNvSpPr>
              <p:nvPr/>
            </p:nvSpPr>
            <p:spPr bwMode="auto">
              <a:xfrm>
                <a:off x="6486522" y="465693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" name="Line 473"/>
              <p:cNvSpPr>
                <a:spLocks noChangeShapeType="1"/>
              </p:cNvSpPr>
              <p:nvPr/>
            </p:nvSpPr>
            <p:spPr bwMode="auto">
              <a:xfrm>
                <a:off x="6500814" y="4691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" name="Line 477"/>
              <p:cNvSpPr>
                <a:spLocks noChangeShapeType="1"/>
              </p:cNvSpPr>
              <p:nvPr/>
            </p:nvSpPr>
            <p:spPr bwMode="auto">
              <a:xfrm>
                <a:off x="6559551" y="4835525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" name="Line 478"/>
              <p:cNvSpPr>
                <a:spLocks noChangeShapeType="1"/>
              </p:cNvSpPr>
              <p:nvPr/>
            </p:nvSpPr>
            <p:spPr bwMode="auto">
              <a:xfrm>
                <a:off x="6575425" y="48688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" name="Line 479"/>
              <p:cNvSpPr>
                <a:spLocks noChangeShapeType="1"/>
              </p:cNvSpPr>
              <p:nvPr/>
            </p:nvSpPr>
            <p:spPr bwMode="auto">
              <a:xfrm>
                <a:off x="6589713" y="4903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" name="Line 480"/>
              <p:cNvSpPr>
                <a:spLocks noChangeShapeType="1"/>
              </p:cNvSpPr>
              <p:nvPr/>
            </p:nvSpPr>
            <p:spPr bwMode="auto">
              <a:xfrm>
                <a:off x="6604000" y="49387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6" name="Line 481"/>
              <p:cNvSpPr>
                <a:spLocks noChangeShapeType="1"/>
              </p:cNvSpPr>
              <p:nvPr/>
            </p:nvSpPr>
            <p:spPr bwMode="auto">
              <a:xfrm>
                <a:off x="6618289" y="4972050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7" name="Line 482"/>
              <p:cNvSpPr>
                <a:spLocks noChangeShapeType="1"/>
              </p:cNvSpPr>
              <p:nvPr/>
            </p:nvSpPr>
            <p:spPr bwMode="auto">
              <a:xfrm>
                <a:off x="6634163" y="50053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8" name="Line 483"/>
              <p:cNvSpPr>
                <a:spLocks noChangeShapeType="1"/>
              </p:cNvSpPr>
              <p:nvPr/>
            </p:nvSpPr>
            <p:spPr bwMode="auto">
              <a:xfrm>
                <a:off x="6648450" y="5040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9" name="Line 484"/>
              <p:cNvSpPr>
                <a:spLocks noChangeShapeType="1"/>
              </p:cNvSpPr>
              <p:nvPr/>
            </p:nvSpPr>
            <p:spPr bwMode="auto">
              <a:xfrm>
                <a:off x="6662739" y="5073650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0" name="Line 485"/>
              <p:cNvSpPr>
                <a:spLocks noChangeShapeType="1"/>
              </p:cNvSpPr>
              <p:nvPr/>
            </p:nvSpPr>
            <p:spPr bwMode="auto">
              <a:xfrm>
                <a:off x="6678613" y="5106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Line 486"/>
              <p:cNvSpPr>
                <a:spLocks noChangeShapeType="1"/>
              </p:cNvSpPr>
              <p:nvPr/>
            </p:nvSpPr>
            <p:spPr bwMode="auto">
              <a:xfrm>
                <a:off x="6692900" y="5140325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2" name="Line 487"/>
              <p:cNvSpPr>
                <a:spLocks noChangeShapeType="1"/>
              </p:cNvSpPr>
              <p:nvPr/>
            </p:nvSpPr>
            <p:spPr bwMode="auto">
              <a:xfrm>
                <a:off x="6707188" y="5165725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3" name="Line 488"/>
              <p:cNvSpPr>
                <a:spLocks noChangeShapeType="1"/>
              </p:cNvSpPr>
              <p:nvPr/>
            </p:nvSpPr>
            <p:spPr bwMode="auto">
              <a:xfrm>
                <a:off x="6721476" y="5199064"/>
                <a:ext cx="15875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4" name="Line 489"/>
              <p:cNvSpPr>
                <a:spLocks noChangeShapeType="1"/>
              </p:cNvSpPr>
              <p:nvPr/>
            </p:nvSpPr>
            <p:spPr bwMode="auto">
              <a:xfrm>
                <a:off x="6737350" y="523398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5" name="Freeform 490"/>
              <p:cNvSpPr>
                <a:spLocks/>
              </p:cNvSpPr>
              <p:nvPr/>
            </p:nvSpPr>
            <p:spPr bwMode="auto">
              <a:xfrm>
                <a:off x="6751638" y="5257801"/>
                <a:ext cx="14288" cy="34925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lnTo>
                      <a:pt x="5" y="11"/>
                    </a:lnTo>
                    <a:lnTo>
                      <a:pt x="9" y="22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6" name="Freeform 491"/>
              <p:cNvSpPr>
                <a:spLocks/>
              </p:cNvSpPr>
              <p:nvPr/>
            </p:nvSpPr>
            <p:spPr bwMode="auto">
              <a:xfrm>
                <a:off x="6765926" y="5292725"/>
                <a:ext cx="22225" cy="25400"/>
              </a:xfrm>
              <a:custGeom>
                <a:avLst/>
                <a:gdLst>
                  <a:gd name="T0" fmla="*/ 0 w 14"/>
                  <a:gd name="T1" fmla="*/ 0 h 16"/>
                  <a:gd name="T2" fmla="*/ 5 w 14"/>
                  <a:gd name="T3" fmla="*/ 5 h 16"/>
                  <a:gd name="T4" fmla="*/ 14 w 14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5" y="5"/>
                    </a:lnTo>
                    <a:lnTo>
                      <a:pt x="14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7" name="Freeform 492"/>
              <p:cNvSpPr>
                <a:spLocks/>
              </p:cNvSpPr>
              <p:nvPr/>
            </p:nvSpPr>
            <p:spPr bwMode="auto">
              <a:xfrm>
                <a:off x="6788150" y="5318125"/>
                <a:ext cx="14288" cy="33338"/>
              </a:xfrm>
              <a:custGeom>
                <a:avLst/>
                <a:gdLst>
                  <a:gd name="T0" fmla="*/ 0 w 9"/>
                  <a:gd name="T1" fmla="*/ 0 h 21"/>
                  <a:gd name="T2" fmla="*/ 5 w 9"/>
                  <a:gd name="T3" fmla="*/ 10 h 21"/>
                  <a:gd name="T4" fmla="*/ 9 w 9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lnTo>
                      <a:pt x="5" y="10"/>
                    </a:lnTo>
                    <a:lnTo>
                      <a:pt x="9" y="21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8" name="Line 493"/>
              <p:cNvSpPr>
                <a:spLocks noChangeShapeType="1"/>
              </p:cNvSpPr>
              <p:nvPr/>
            </p:nvSpPr>
            <p:spPr bwMode="auto">
              <a:xfrm>
                <a:off x="6802439" y="5351463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9" name="Line 494"/>
              <p:cNvSpPr>
                <a:spLocks noChangeShapeType="1"/>
              </p:cNvSpPr>
              <p:nvPr/>
            </p:nvSpPr>
            <p:spPr bwMode="auto">
              <a:xfrm>
                <a:off x="6818313" y="5376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0" name="Line 495"/>
              <p:cNvSpPr>
                <a:spLocks noChangeShapeType="1"/>
              </p:cNvSpPr>
              <p:nvPr/>
            </p:nvSpPr>
            <p:spPr bwMode="auto">
              <a:xfrm>
                <a:off x="6832600" y="54022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1" name="Line 496"/>
              <p:cNvSpPr>
                <a:spLocks noChangeShapeType="1"/>
              </p:cNvSpPr>
              <p:nvPr/>
            </p:nvSpPr>
            <p:spPr bwMode="auto">
              <a:xfrm>
                <a:off x="6846888" y="54292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2" name="Line 497"/>
              <p:cNvSpPr>
                <a:spLocks noChangeShapeType="1"/>
              </p:cNvSpPr>
              <p:nvPr/>
            </p:nvSpPr>
            <p:spPr bwMode="auto">
              <a:xfrm>
                <a:off x="6861176" y="54530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3" name="Line 498"/>
              <p:cNvSpPr>
                <a:spLocks noChangeShapeType="1"/>
              </p:cNvSpPr>
              <p:nvPr/>
            </p:nvSpPr>
            <p:spPr bwMode="auto">
              <a:xfrm>
                <a:off x="6877050" y="54800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4" name="Line 499"/>
              <p:cNvSpPr>
                <a:spLocks noChangeShapeType="1"/>
              </p:cNvSpPr>
              <p:nvPr/>
            </p:nvSpPr>
            <p:spPr bwMode="auto">
              <a:xfrm>
                <a:off x="6891338" y="5503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5" name="Line 500"/>
              <p:cNvSpPr>
                <a:spLocks noChangeShapeType="1"/>
              </p:cNvSpPr>
              <p:nvPr/>
            </p:nvSpPr>
            <p:spPr bwMode="auto">
              <a:xfrm>
                <a:off x="6905626" y="55292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6" name="Line 501"/>
              <p:cNvSpPr>
                <a:spLocks noChangeShapeType="1"/>
              </p:cNvSpPr>
              <p:nvPr/>
            </p:nvSpPr>
            <p:spPr bwMode="auto">
              <a:xfrm>
                <a:off x="6921500" y="5556251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7" name="Line 502"/>
              <p:cNvSpPr>
                <a:spLocks noChangeShapeType="1"/>
              </p:cNvSpPr>
              <p:nvPr/>
            </p:nvSpPr>
            <p:spPr bwMode="auto">
              <a:xfrm>
                <a:off x="6935788" y="558006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8" name="Freeform 503"/>
              <p:cNvSpPr>
                <a:spLocks/>
              </p:cNvSpPr>
              <p:nvPr/>
            </p:nvSpPr>
            <p:spPr bwMode="auto">
              <a:xfrm>
                <a:off x="6950075" y="5597525"/>
                <a:ext cx="14288" cy="25400"/>
              </a:xfrm>
              <a:custGeom>
                <a:avLst/>
                <a:gdLst>
                  <a:gd name="T0" fmla="*/ 0 w 9"/>
                  <a:gd name="T1" fmla="*/ 0 h 16"/>
                  <a:gd name="T2" fmla="*/ 5 w 9"/>
                  <a:gd name="T3" fmla="*/ 6 h 16"/>
                  <a:gd name="T4" fmla="*/ 9 w 9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0" y="0"/>
                    </a:moveTo>
                    <a:lnTo>
                      <a:pt x="5" y="6"/>
                    </a:lnTo>
                    <a:lnTo>
                      <a:pt x="9" y="1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9" name="Line 504"/>
              <p:cNvSpPr>
                <a:spLocks noChangeShapeType="1"/>
              </p:cNvSpPr>
              <p:nvPr/>
            </p:nvSpPr>
            <p:spPr bwMode="auto">
              <a:xfrm>
                <a:off x="6964364" y="5622926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0" name="Freeform 505"/>
              <p:cNvSpPr>
                <a:spLocks/>
              </p:cNvSpPr>
              <p:nvPr/>
            </p:nvSpPr>
            <p:spPr bwMode="auto">
              <a:xfrm>
                <a:off x="6980238" y="5640389"/>
                <a:ext cx="14288" cy="23813"/>
              </a:xfrm>
              <a:custGeom>
                <a:avLst/>
                <a:gdLst>
                  <a:gd name="T0" fmla="*/ 0 w 9"/>
                  <a:gd name="T1" fmla="*/ 0 h 15"/>
                  <a:gd name="T2" fmla="*/ 4 w 9"/>
                  <a:gd name="T3" fmla="*/ 4 h 15"/>
                  <a:gd name="T4" fmla="*/ 9 w 9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0"/>
                    </a:moveTo>
                    <a:lnTo>
                      <a:pt x="4" y="4"/>
                    </a:lnTo>
                    <a:lnTo>
                      <a:pt x="9" y="1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1" name="Line 506"/>
              <p:cNvSpPr>
                <a:spLocks noChangeShapeType="1"/>
              </p:cNvSpPr>
              <p:nvPr/>
            </p:nvSpPr>
            <p:spPr bwMode="auto">
              <a:xfrm>
                <a:off x="6994525" y="56642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2" name="Line 507"/>
              <p:cNvSpPr>
                <a:spLocks noChangeShapeType="1"/>
              </p:cNvSpPr>
              <p:nvPr/>
            </p:nvSpPr>
            <p:spPr bwMode="auto">
              <a:xfrm>
                <a:off x="7008813" y="56816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3" name="Line 508"/>
              <p:cNvSpPr>
                <a:spLocks noChangeShapeType="1"/>
              </p:cNvSpPr>
              <p:nvPr/>
            </p:nvSpPr>
            <p:spPr bwMode="auto">
              <a:xfrm>
                <a:off x="7023101" y="56975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4" name="Line 509"/>
              <p:cNvSpPr>
                <a:spLocks noChangeShapeType="1"/>
              </p:cNvSpPr>
              <p:nvPr/>
            </p:nvSpPr>
            <p:spPr bwMode="auto">
              <a:xfrm>
                <a:off x="7038975" y="57150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5" name="Line 510"/>
              <p:cNvSpPr>
                <a:spLocks noChangeShapeType="1"/>
              </p:cNvSpPr>
              <p:nvPr/>
            </p:nvSpPr>
            <p:spPr bwMode="auto">
              <a:xfrm>
                <a:off x="7053263" y="57324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6" name="Line 511"/>
              <p:cNvSpPr>
                <a:spLocks noChangeShapeType="1"/>
              </p:cNvSpPr>
              <p:nvPr/>
            </p:nvSpPr>
            <p:spPr bwMode="auto">
              <a:xfrm>
                <a:off x="7067551" y="57483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7" name="Line 512"/>
              <p:cNvSpPr>
                <a:spLocks noChangeShapeType="1"/>
              </p:cNvSpPr>
              <p:nvPr/>
            </p:nvSpPr>
            <p:spPr bwMode="auto">
              <a:xfrm>
                <a:off x="7083425" y="5765801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8" name="Line 513"/>
              <p:cNvSpPr>
                <a:spLocks noChangeShapeType="1"/>
              </p:cNvSpPr>
              <p:nvPr/>
            </p:nvSpPr>
            <p:spPr bwMode="auto">
              <a:xfrm>
                <a:off x="7097713" y="57832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9" name="Line 514"/>
              <p:cNvSpPr>
                <a:spLocks noChangeShapeType="1"/>
              </p:cNvSpPr>
              <p:nvPr/>
            </p:nvSpPr>
            <p:spPr bwMode="auto">
              <a:xfrm>
                <a:off x="7112000" y="57991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0" name="Line 515"/>
              <p:cNvSpPr>
                <a:spLocks noChangeShapeType="1"/>
              </p:cNvSpPr>
              <p:nvPr/>
            </p:nvSpPr>
            <p:spPr bwMode="auto">
              <a:xfrm>
                <a:off x="7126289" y="5816601"/>
                <a:ext cx="15875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1" name="Line 516"/>
              <p:cNvSpPr>
                <a:spLocks noChangeShapeType="1"/>
              </p:cNvSpPr>
              <p:nvPr/>
            </p:nvSpPr>
            <p:spPr bwMode="auto">
              <a:xfrm>
                <a:off x="7142163" y="5826126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2" name="Line 517"/>
              <p:cNvSpPr>
                <a:spLocks noChangeShapeType="1"/>
              </p:cNvSpPr>
              <p:nvPr/>
            </p:nvSpPr>
            <p:spPr bwMode="auto">
              <a:xfrm>
                <a:off x="7156450" y="5842001"/>
                <a:ext cx="12700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3" name="Line 518"/>
              <p:cNvSpPr>
                <a:spLocks noChangeShapeType="1"/>
              </p:cNvSpPr>
              <p:nvPr/>
            </p:nvSpPr>
            <p:spPr bwMode="auto">
              <a:xfrm>
                <a:off x="7169151" y="5851526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4" name="Line 519"/>
              <p:cNvSpPr>
                <a:spLocks noChangeShapeType="1"/>
              </p:cNvSpPr>
              <p:nvPr/>
            </p:nvSpPr>
            <p:spPr bwMode="auto">
              <a:xfrm>
                <a:off x="7185025" y="58689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5" name="Line 520"/>
              <p:cNvSpPr>
                <a:spLocks noChangeShapeType="1"/>
              </p:cNvSpPr>
              <p:nvPr/>
            </p:nvSpPr>
            <p:spPr bwMode="auto">
              <a:xfrm>
                <a:off x="7199313" y="58753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6" name="Line 521"/>
              <p:cNvSpPr>
                <a:spLocks noChangeShapeType="1"/>
              </p:cNvSpPr>
              <p:nvPr/>
            </p:nvSpPr>
            <p:spPr bwMode="auto">
              <a:xfrm>
                <a:off x="7213600" y="58928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7" name="Line 522"/>
              <p:cNvSpPr>
                <a:spLocks noChangeShapeType="1"/>
              </p:cNvSpPr>
              <p:nvPr/>
            </p:nvSpPr>
            <p:spPr bwMode="auto">
              <a:xfrm>
                <a:off x="7227889" y="5902325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8" name="Line 523"/>
              <p:cNvSpPr>
                <a:spLocks noChangeShapeType="1"/>
              </p:cNvSpPr>
              <p:nvPr/>
            </p:nvSpPr>
            <p:spPr bwMode="auto">
              <a:xfrm>
                <a:off x="7243763" y="59102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9" name="Line 524"/>
              <p:cNvSpPr>
                <a:spLocks noChangeShapeType="1"/>
              </p:cNvSpPr>
              <p:nvPr/>
            </p:nvSpPr>
            <p:spPr bwMode="auto">
              <a:xfrm>
                <a:off x="7258050" y="59197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0" name="Line 525"/>
              <p:cNvSpPr>
                <a:spLocks noChangeShapeType="1"/>
              </p:cNvSpPr>
              <p:nvPr/>
            </p:nvSpPr>
            <p:spPr bwMode="auto">
              <a:xfrm>
                <a:off x="7272338" y="5926139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1" name="Line 526"/>
              <p:cNvSpPr>
                <a:spLocks noChangeShapeType="1"/>
              </p:cNvSpPr>
              <p:nvPr/>
            </p:nvSpPr>
            <p:spPr bwMode="auto">
              <a:xfrm>
                <a:off x="7286626" y="59356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2" name="Line 527"/>
              <p:cNvSpPr>
                <a:spLocks noChangeShapeType="1"/>
              </p:cNvSpPr>
              <p:nvPr/>
            </p:nvSpPr>
            <p:spPr bwMode="auto">
              <a:xfrm>
                <a:off x="7302500" y="59436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3" name="Line 528"/>
              <p:cNvSpPr>
                <a:spLocks noChangeShapeType="1"/>
              </p:cNvSpPr>
              <p:nvPr/>
            </p:nvSpPr>
            <p:spPr bwMode="auto">
              <a:xfrm>
                <a:off x="7316788" y="59531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4" name="Line 529"/>
              <p:cNvSpPr>
                <a:spLocks noChangeShapeType="1"/>
              </p:cNvSpPr>
              <p:nvPr/>
            </p:nvSpPr>
            <p:spPr bwMode="auto">
              <a:xfrm>
                <a:off x="7331076" y="59610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5" name="Line 530"/>
              <p:cNvSpPr>
                <a:spLocks noChangeShapeType="1"/>
              </p:cNvSpPr>
              <p:nvPr/>
            </p:nvSpPr>
            <p:spPr bwMode="auto">
              <a:xfrm>
                <a:off x="7346950" y="5969001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6" name="Line 531"/>
              <p:cNvSpPr>
                <a:spLocks noChangeShapeType="1"/>
              </p:cNvSpPr>
              <p:nvPr/>
            </p:nvSpPr>
            <p:spPr bwMode="auto">
              <a:xfrm>
                <a:off x="7361238" y="59785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7" name="Freeform 532"/>
              <p:cNvSpPr>
                <a:spLocks/>
              </p:cNvSpPr>
              <p:nvPr/>
            </p:nvSpPr>
            <p:spPr bwMode="auto">
              <a:xfrm>
                <a:off x="7375526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8" name="Line 533"/>
              <p:cNvSpPr>
                <a:spLocks noChangeShapeType="1"/>
              </p:cNvSpPr>
              <p:nvPr/>
            </p:nvSpPr>
            <p:spPr bwMode="auto">
              <a:xfrm>
                <a:off x="7397750" y="59864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9" name="Line 534"/>
              <p:cNvSpPr>
                <a:spLocks noChangeShapeType="1"/>
              </p:cNvSpPr>
              <p:nvPr/>
            </p:nvSpPr>
            <p:spPr bwMode="auto">
              <a:xfrm>
                <a:off x="7412039" y="5995988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0" name="Line 535"/>
              <p:cNvSpPr>
                <a:spLocks noChangeShapeType="1"/>
              </p:cNvSpPr>
              <p:nvPr/>
            </p:nvSpPr>
            <p:spPr bwMode="auto">
              <a:xfrm>
                <a:off x="7427913" y="60039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1" name="Line 536"/>
              <p:cNvSpPr>
                <a:spLocks noChangeShapeType="1"/>
              </p:cNvSpPr>
              <p:nvPr/>
            </p:nvSpPr>
            <p:spPr bwMode="auto">
              <a:xfrm>
                <a:off x="7442200" y="6003925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2" name="Line 537"/>
              <p:cNvSpPr>
                <a:spLocks noChangeShapeType="1"/>
              </p:cNvSpPr>
              <p:nvPr/>
            </p:nvSpPr>
            <p:spPr bwMode="auto">
              <a:xfrm>
                <a:off x="7456488" y="60118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3" name="Line 538"/>
              <p:cNvSpPr>
                <a:spLocks noChangeShapeType="1"/>
              </p:cNvSpPr>
              <p:nvPr/>
            </p:nvSpPr>
            <p:spPr bwMode="auto">
              <a:xfrm>
                <a:off x="7470776" y="60198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4" name="Freeform 539"/>
              <p:cNvSpPr>
                <a:spLocks/>
              </p:cNvSpPr>
              <p:nvPr/>
            </p:nvSpPr>
            <p:spPr bwMode="auto">
              <a:xfrm>
                <a:off x="7486650" y="60198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5" name="Line 540"/>
              <p:cNvSpPr>
                <a:spLocks noChangeShapeType="1"/>
              </p:cNvSpPr>
              <p:nvPr/>
            </p:nvSpPr>
            <p:spPr bwMode="auto">
              <a:xfrm>
                <a:off x="7500938" y="60293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6" name="Freeform 541"/>
              <p:cNvSpPr>
                <a:spLocks/>
              </p:cNvSpPr>
              <p:nvPr/>
            </p:nvSpPr>
            <p:spPr bwMode="auto">
              <a:xfrm>
                <a:off x="7515225" y="60293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5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5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7" name="Line 542"/>
              <p:cNvSpPr>
                <a:spLocks noChangeShapeType="1"/>
              </p:cNvSpPr>
              <p:nvPr/>
            </p:nvSpPr>
            <p:spPr bwMode="auto">
              <a:xfrm>
                <a:off x="7529514" y="60372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8" name="Line 543"/>
              <p:cNvSpPr>
                <a:spLocks noChangeShapeType="1"/>
              </p:cNvSpPr>
              <p:nvPr/>
            </p:nvSpPr>
            <p:spPr bwMode="auto">
              <a:xfrm>
                <a:off x="7545388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9" name="Freeform 544"/>
              <p:cNvSpPr>
                <a:spLocks/>
              </p:cNvSpPr>
              <p:nvPr/>
            </p:nvSpPr>
            <p:spPr bwMode="auto">
              <a:xfrm>
                <a:off x="7559675" y="6037264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0" name="Line 545"/>
              <p:cNvSpPr>
                <a:spLocks noChangeShapeType="1"/>
              </p:cNvSpPr>
              <p:nvPr/>
            </p:nvSpPr>
            <p:spPr bwMode="auto">
              <a:xfrm>
                <a:off x="7573964" y="6046788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1" name="Freeform 546"/>
              <p:cNvSpPr>
                <a:spLocks/>
              </p:cNvSpPr>
              <p:nvPr/>
            </p:nvSpPr>
            <p:spPr bwMode="auto">
              <a:xfrm>
                <a:off x="7589838" y="6046788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2" name="Line 547"/>
              <p:cNvSpPr>
                <a:spLocks noChangeShapeType="1"/>
              </p:cNvSpPr>
              <p:nvPr/>
            </p:nvSpPr>
            <p:spPr bwMode="auto">
              <a:xfrm>
                <a:off x="7604125" y="60547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3" name="Line 548"/>
              <p:cNvSpPr>
                <a:spLocks noChangeShapeType="1"/>
              </p:cNvSpPr>
              <p:nvPr/>
            </p:nvSpPr>
            <p:spPr bwMode="auto">
              <a:xfrm>
                <a:off x="7618413" y="60547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4" name="Line 549"/>
              <p:cNvSpPr>
                <a:spLocks noChangeShapeType="1"/>
              </p:cNvSpPr>
              <p:nvPr/>
            </p:nvSpPr>
            <p:spPr bwMode="auto">
              <a:xfrm>
                <a:off x="7632701" y="60547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5" name="Freeform 550"/>
              <p:cNvSpPr>
                <a:spLocks/>
              </p:cNvSpPr>
              <p:nvPr/>
            </p:nvSpPr>
            <p:spPr bwMode="auto">
              <a:xfrm>
                <a:off x="7648575" y="60547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6" name="Line 551"/>
              <p:cNvSpPr>
                <a:spLocks noChangeShapeType="1"/>
              </p:cNvSpPr>
              <p:nvPr/>
            </p:nvSpPr>
            <p:spPr bwMode="auto">
              <a:xfrm>
                <a:off x="7662863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7" name="Line 552"/>
              <p:cNvSpPr>
                <a:spLocks noChangeShapeType="1"/>
              </p:cNvSpPr>
              <p:nvPr/>
            </p:nvSpPr>
            <p:spPr bwMode="auto">
              <a:xfrm>
                <a:off x="7677150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8" name="Line 553"/>
              <p:cNvSpPr>
                <a:spLocks noChangeShapeType="1"/>
              </p:cNvSpPr>
              <p:nvPr/>
            </p:nvSpPr>
            <p:spPr bwMode="auto">
              <a:xfrm>
                <a:off x="7691439" y="60626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9" name="Freeform 554"/>
              <p:cNvSpPr>
                <a:spLocks/>
              </p:cNvSpPr>
              <p:nvPr/>
            </p:nvSpPr>
            <p:spPr bwMode="auto">
              <a:xfrm>
                <a:off x="7707313" y="6062663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0" name="Line 555"/>
              <p:cNvSpPr>
                <a:spLocks noChangeShapeType="1"/>
              </p:cNvSpPr>
              <p:nvPr/>
            </p:nvSpPr>
            <p:spPr bwMode="auto">
              <a:xfrm>
                <a:off x="7721600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1" name="Line 556"/>
              <p:cNvSpPr>
                <a:spLocks noChangeShapeType="1"/>
              </p:cNvSpPr>
              <p:nvPr/>
            </p:nvSpPr>
            <p:spPr bwMode="auto">
              <a:xfrm>
                <a:off x="7735889" y="60706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2" name="Line 557"/>
              <p:cNvSpPr>
                <a:spLocks noChangeShapeType="1"/>
              </p:cNvSpPr>
              <p:nvPr/>
            </p:nvSpPr>
            <p:spPr bwMode="auto">
              <a:xfrm>
                <a:off x="7751763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3" name="Line 558"/>
              <p:cNvSpPr>
                <a:spLocks noChangeShapeType="1"/>
              </p:cNvSpPr>
              <p:nvPr/>
            </p:nvSpPr>
            <p:spPr bwMode="auto">
              <a:xfrm>
                <a:off x="7766050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4" name="Line 559"/>
              <p:cNvSpPr>
                <a:spLocks noChangeShapeType="1"/>
              </p:cNvSpPr>
              <p:nvPr/>
            </p:nvSpPr>
            <p:spPr bwMode="auto">
              <a:xfrm>
                <a:off x="7780338" y="6070600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5" name="Line 560"/>
              <p:cNvSpPr>
                <a:spLocks noChangeShapeType="1"/>
              </p:cNvSpPr>
              <p:nvPr/>
            </p:nvSpPr>
            <p:spPr bwMode="auto">
              <a:xfrm>
                <a:off x="7794626" y="6070600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6" name="Freeform 561"/>
              <p:cNvSpPr>
                <a:spLocks/>
              </p:cNvSpPr>
              <p:nvPr/>
            </p:nvSpPr>
            <p:spPr bwMode="auto">
              <a:xfrm>
                <a:off x="7810500" y="60706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7" name="Line 562"/>
              <p:cNvSpPr>
                <a:spLocks noChangeShapeType="1"/>
              </p:cNvSpPr>
              <p:nvPr/>
            </p:nvSpPr>
            <p:spPr bwMode="auto">
              <a:xfrm>
                <a:off x="782478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" name="Line 563"/>
              <p:cNvSpPr>
                <a:spLocks noChangeShapeType="1"/>
              </p:cNvSpPr>
              <p:nvPr/>
            </p:nvSpPr>
            <p:spPr bwMode="auto">
              <a:xfrm>
                <a:off x="783907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" name="Line 564"/>
              <p:cNvSpPr>
                <a:spLocks noChangeShapeType="1"/>
              </p:cNvSpPr>
              <p:nvPr/>
            </p:nvSpPr>
            <p:spPr bwMode="auto">
              <a:xfrm>
                <a:off x="7853364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" name="Line 565"/>
              <p:cNvSpPr>
                <a:spLocks noChangeShapeType="1"/>
              </p:cNvSpPr>
              <p:nvPr/>
            </p:nvSpPr>
            <p:spPr bwMode="auto">
              <a:xfrm>
                <a:off x="786923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" name="Line 566"/>
              <p:cNvSpPr>
                <a:spLocks noChangeShapeType="1"/>
              </p:cNvSpPr>
              <p:nvPr/>
            </p:nvSpPr>
            <p:spPr bwMode="auto">
              <a:xfrm>
                <a:off x="788352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" name="Line 567"/>
              <p:cNvSpPr>
                <a:spLocks noChangeShapeType="1"/>
              </p:cNvSpPr>
              <p:nvPr/>
            </p:nvSpPr>
            <p:spPr bwMode="auto">
              <a:xfrm>
                <a:off x="7897814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" name="Line 568"/>
              <p:cNvSpPr>
                <a:spLocks noChangeShapeType="1"/>
              </p:cNvSpPr>
              <p:nvPr/>
            </p:nvSpPr>
            <p:spPr bwMode="auto">
              <a:xfrm>
                <a:off x="7913688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" name="Line 569"/>
              <p:cNvSpPr>
                <a:spLocks noChangeShapeType="1"/>
              </p:cNvSpPr>
              <p:nvPr/>
            </p:nvSpPr>
            <p:spPr bwMode="auto">
              <a:xfrm>
                <a:off x="7927975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" name="Line 570"/>
              <p:cNvSpPr>
                <a:spLocks noChangeShapeType="1"/>
              </p:cNvSpPr>
              <p:nvPr/>
            </p:nvSpPr>
            <p:spPr bwMode="auto">
              <a:xfrm>
                <a:off x="7942263" y="6080125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" name="Line 571"/>
              <p:cNvSpPr>
                <a:spLocks noChangeShapeType="1"/>
              </p:cNvSpPr>
              <p:nvPr/>
            </p:nvSpPr>
            <p:spPr bwMode="auto">
              <a:xfrm>
                <a:off x="7956551" y="6080125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7" name="Freeform 572"/>
              <p:cNvSpPr>
                <a:spLocks/>
              </p:cNvSpPr>
              <p:nvPr/>
            </p:nvSpPr>
            <p:spPr bwMode="auto">
              <a:xfrm>
                <a:off x="7972426" y="6080125"/>
                <a:ext cx="22225" cy="0"/>
              </a:xfrm>
              <a:custGeom>
                <a:avLst/>
                <a:gdLst>
                  <a:gd name="T0" fmla="*/ 0 w 14"/>
                  <a:gd name="T1" fmla="*/ 4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4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8" name="Line 294"/>
              <p:cNvSpPr>
                <a:spLocks noChangeShapeType="1"/>
              </p:cNvSpPr>
              <p:nvPr/>
            </p:nvSpPr>
            <p:spPr bwMode="auto">
              <a:xfrm>
                <a:off x="385603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9" name="Line 295"/>
              <p:cNvSpPr>
                <a:spLocks noChangeShapeType="1"/>
              </p:cNvSpPr>
              <p:nvPr/>
            </p:nvSpPr>
            <p:spPr bwMode="auto">
              <a:xfrm>
                <a:off x="3870326" y="60801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0" name="Line 296"/>
              <p:cNvSpPr>
                <a:spLocks noChangeShapeType="1"/>
              </p:cNvSpPr>
              <p:nvPr/>
            </p:nvSpPr>
            <p:spPr bwMode="auto">
              <a:xfrm>
                <a:off x="3886200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1" name="Line 297"/>
              <p:cNvSpPr>
                <a:spLocks noChangeShapeType="1"/>
              </p:cNvSpPr>
              <p:nvPr/>
            </p:nvSpPr>
            <p:spPr bwMode="auto">
              <a:xfrm>
                <a:off x="390048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2" name="Line 298"/>
              <p:cNvSpPr>
                <a:spLocks noChangeShapeType="1"/>
              </p:cNvSpPr>
              <p:nvPr/>
            </p:nvSpPr>
            <p:spPr bwMode="auto">
              <a:xfrm>
                <a:off x="3914775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3" name="Line 299"/>
              <p:cNvSpPr>
                <a:spLocks noChangeShapeType="1"/>
              </p:cNvSpPr>
              <p:nvPr/>
            </p:nvSpPr>
            <p:spPr bwMode="auto">
              <a:xfrm>
                <a:off x="3929064" y="60801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4" name="Line 300"/>
              <p:cNvSpPr>
                <a:spLocks noChangeShapeType="1"/>
              </p:cNvSpPr>
              <p:nvPr/>
            </p:nvSpPr>
            <p:spPr bwMode="auto">
              <a:xfrm>
                <a:off x="3944938" y="60801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5" name="Freeform 301"/>
              <p:cNvSpPr>
                <a:spLocks/>
              </p:cNvSpPr>
              <p:nvPr/>
            </p:nvSpPr>
            <p:spPr bwMode="auto">
              <a:xfrm>
                <a:off x="3959225" y="60706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6" name="Line 302"/>
              <p:cNvSpPr>
                <a:spLocks noChangeShapeType="1"/>
              </p:cNvSpPr>
              <p:nvPr/>
            </p:nvSpPr>
            <p:spPr bwMode="auto">
              <a:xfrm>
                <a:off x="3973514" y="60706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7" name="Line 303"/>
              <p:cNvSpPr>
                <a:spLocks noChangeShapeType="1"/>
              </p:cNvSpPr>
              <p:nvPr/>
            </p:nvSpPr>
            <p:spPr bwMode="auto">
              <a:xfrm>
                <a:off x="3989388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8" name="Line 304"/>
              <p:cNvSpPr>
                <a:spLocks noChangeShapeType="1"/>
              </p:cNvSpPr>
              <p:nvPr/>
            </p:nvSpPr>
            <p:spPr bwMode="auto">
              <a:xfrm>
                <a:off x="4003675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9" name="Line 305"/>
              <p:cNvSpPr>
                <a:spLocks noChangeShapeType="1"/>
              </p:cNvSpPr>
              <p:nvPr/>
            </p:nvSpPr>
            <p:spPr bwMode="auto">
              <a:xfrm>
                <a:off x="4017963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0" name="Line 306"/>
              <p:cNvSpPr>
                <a:spLocks noChangeShapeType="1"/>
              </p:cNvSpPr>
              <p:nvPr/>
            </p:nvSpPr>
            <p:spPr bwMode="auto">
              <a:xfrm>
                <a:off x="4032251" y="60706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1" name="Line 307"/>
              <p:cNvSpPr>
                <a:spLocks noChangeShapeType="1"/>
              </p:cNvSpPr>
              <p:nvPr/>
            </p:nvSpPr>
            <p:spPr bwMode="auto">
              <a:xfrm>
                <a:off x="4048125" y="6070601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2" name="Freeform 308"/>
              <p:cNvSpPr>
                <a:spLocks/>
              </p:cNvSpPr>
              <p:nvPr/>
            </p:nvSpPr>
            <p:spPr bwMode="auto">
              <a:xfrm>
                <a:off x="4062413" y="6062663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3" name="Line 309"/>
              <p:cNvSpPr>
                <a:spLocks noChangeShapeType="1"/>
              </p:cNvSpPr>
              <p:nvPr/>
            </p:nvSpPr>
            <p:spPr bwMode="auto">
              <a:xfrm>
                <a:off x="4076700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4" name="Line 310"/>
              <p:cNvSpPr>
                <a:spLocks noChangeShapeType="1"/>
              </p:cNvSpPr>
              <p:nvPr/>
            </p:nvSpPr>
            <p:spPr bwMode="auto">
              <a:xfrm>
                <a:off x="4090989" y="6062663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5" name="Line 311"/>
              <p:cNvSpPr>
                <a:spLocks noChangeShapeType="1"/>
              </p:cNvSpPr>
              <p:nvPr/>
            </p:nvSpPr>
            <p:spPr bwMode="auto">
              <a:xfrm>
                <a:off x="4106863" y="60626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6" name="Freeform 312"/>
              <p:cNvSpPr>
                <a:spLocks/>
              </p:cNvSpPr>
              <p:nvPr/>
            </p:nvSpPr>
            <p:spPr bwMode="auto">
              <a:xfrm>
                <a:off x="4121150" y="6054726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7" name="Line 313"/>
              <p:cNvSpPr>
                <a:spLocks noChangeShapeType="1"/>
              </p:cNvSpPr>
              <p:nvPr/>
            </p:nvSpPr>
            <p:spPr bwMode="auto">
              <a:xfrm>
                <a:off x="4135439" y="6054726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8" name="Line 314"/>
              <p:cNvSpPr>
                <a:spLocks noChangeShapeType="1"/>
              </p:cNvSpPr>
              <p:nvPr/>
            </p:nvSpPr>
            <p:spPr bwMode="auto">
              <a:xfrm>
                <a:off x="4151313" y="60547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9" name="Line 315"/>
              <p:cNvSpPr>
                <a:spLocks noChangeShapeType="1"/>
              </p:cNvSpPr>
              <p:nvPr/>
            </p:nvSpPr>
            <p:spPr bwMode="auto">
              <a:xfrm>
                <a:off x="4165600" y="60547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0" name="Freeform 316"/>
              <p:cNvSpPr>
                <a:spLocks/>
              </p:cNvSpPr>
              <p:nvPr/>
            </p:nvSpPr>
            <p:spPr bwMode="auto">
              <a:xfrm>
                <a:off x="4179888" y="6046788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1" name="Line 317"/>
              <p:cNvSpPr>
                <a:spLocks noChangeShapeType="1"/>
              </p:cNvSpPr>
              <p:nvPr/>
            </p:nvSpPr>
            <p:spPr bwMode="auto">
              <a:xfrm>
                <a:off x="4194176" y="6046788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2" name="Freeform 318"/>
              <p:cNvSpPr>
                <a:spLocks/>
              </p:cNvSpPr>
              <p:nvPr/>
            </p:nvSpPr>
            <p:spPr bwMode="auto">
              <a:xfrm>
                <a:off x="4210050" y="6037264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3" name="Line 319"/>
              <p:cNvSpPr>
                <a:spLocks noChangeShapeType="1"/>
              </p:cNvSpPr>
              <p:nvPr/>
            </p:nvSpPr>
            <p:spPr bwMode="auto">
              <a:xfrm>
                <a:off x="4224338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4" name="Line 320"/>
              <p:cNvSpPr>
                <a:spLocks noChangeShapeType="1"/>
              </p:cNvSpPr>
              <p:nvPr/>
            </p:nvSpPr>
            <p:spPr bwMode="auto">
              <a:xfrm>
                <a:off x="4238625" y="6037263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5" name="Freeform 321"/>
              <p:cNvSpPr>
                <a:spLocks/>
              </p:cNvSpPr>
              <p:nvPr/>
            </p:nvSpPr>
            <p:spPr bwMode="auto">
              <a:xfrm>
                <a:off x="4252914" y="6029326"/>
                <a:ext cx="15875" cy="7938"/>
              </a:xfrm>
              <a:custGeom>
                <a:avLst/>
                <a:gdLst>
                  <a:gd name="T0" fmla="*/ 0 w 10"/>
                  <a:gd name="T1" fmla="*/ 5 h 5"/>
                  <a:gd name="T2" fmla="*/ 5 w 10"/>
                  <a:gd name="T3" fmla="*/ 0 h 5"/>
                  <a:gd name="T4" fmla="*/ 10 w 10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5"/>
                    </a:moveTo>
                    <a:lnTo>
                      <a:pt x="5" y="0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6" name="Line 322"/>
              <p:cNvSpPr>
                <a:spLocks noChangeShapeType="1"/>
              </p:cNvSpPr>
              <p:nvPr/>
            </p:nvSpPr>
            <p:spPr bwMode="auto">
              <a:xfrm>
                <a:off x="4268788" y="60293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7" name="Freeform 323"/>
              <p:cNvSpPr>
                <a:spLocks/>
              </p:cNvSpPr>
              <p:nvPr/>
            </p:nvSpPr>
            <p:spPr bwMode="auto">
              <a:xfrm>
                <a:off x="4283075" y="60198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8" name="Line 324"/>
              <p:cNvSpPr>
                <a:spLocks noChangeShapeType="1"/>
              </p:cNvSpPr>
              <p:nvPr/>
            </p:nvSpPr>
            <p:spPr bwMode="auto">
              <a:xfrm>
                <a:off x="4297364" y="6019801"/>
                <a:ext cx="15875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9" name="Line 325"/>
              <p:cNvSpPr>
                <a:spLocks noChangeShapeType="1"/>
              </p:cNvSpPr>
              <p:nvPr/>
            </p:nvSpPr>
            <p:spPr bwMode="auto">
              <a:xfrm flipV="1">
                <a:off x="4313238" y="60118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0" name="Line 326"/>
              <p:cNvSpPr>
                <a:spLocks noChangeShapeType="1"/>
              </p:cNvSpPr>
              <p:nvPr/>
            </p:nvSpPr>
            <p:spPr bwMode="auto">
              <a:xfrm flipV="1">
                <a:off x="4327525" y="60039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1" name="Line 327"/>
              <p:cNvSpPr>
                <a:spLocks noChangeShapeType="1"/>
              </p:cNvSpPr>
              <p:nvPr/>
            </p:nvSpPr>
            <p:spPr bwMode="auto">
              <a:xfrm>
                <a:off x="4341813" y="6003926"/>
                <a:ext cx="14288" cy="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2" name="Line 328"/>
              <p:cNvSpPr>
                <a:spLocks noChangeShapeType="1"/>
              </p:cNvSpPr>
              <p:nvPr/>
            </p:nvSpPr>
            <p:spPr bwMode="auto">
              <a:xfrm flipV="1">
                <a:off x="4356101" y="5995988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3" name="Line 329"/>
              <p:cNvSpPr>
                <a:spLocks noChangeShapeType="1"/>
              </p:cNvSpPr>
              <p:nvPr/>
            </p:nvSpPr>
            <p:spPr bwMode="auto">
              <a:xfrm flipV="1">
                <a:off x="4371975" y="59864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4" name="Freeform 330"/>
              <p:cNvSpPr>
                <a:spLocks/>
              </p:cNvSpPr>
              <p:nvPr/>
            </p:nvSpPr>
            <p:spPr bwMode="auto">
              <a:xfrm>
                <a:off x="4386264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5" name="Line 331"/>
              <p:cNvSpPr>
                <a:spLocks noChangeShapeType="1"/>
              </p:cNvSpPr>
              <p:nvPr/>
            </p:nvSpPr>
            <p:spPr bwMode="auto">
              <a:xfrm flipV="1">
                <a:off x="4408488" y="59785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6" name="Line 332"/>
              <p:cNvSpPr>
                <a:spLocks noChangeShapeType="1"/>
              </p:cNvSpPr>
              <p:nvPr/>
            </p:nvSpPr>
            <p:spPr bwMode="auto">
              <a:xfrm flipV="1">
                <a:off x="4422775" y="59690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7" name="Line 333"/>
              <p:cNvSpPr>
                <a:spLocks noChangeShapeType="1"/>
              </p:cNvSpPr>
              <p:nvPr/>
            </p:nvSpPr>
            <p:spPr bwMode="auto">
              <a:xfrm flipV="1">
                <a:off x="4437064" y="5961063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8" name="Line 334"/>
              <p:cNvSpPr>
                <a:spLocks noChangeShapeType="1"/>
              </p:cNvSpPr>
              <p:nvPr/>
            </p:nvSpPr>
            <p:spPr bwMode="auto">
              <a:xfrm flipV="1">
                <a:off x="4452938" y="5953126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9" name="Line 335"/>
              <p:cNvSpPr>
                <a:spLocks noChangeShapeType="1"/>
              </p:cNvSpPr>
              <p:nvPr/>
            </p:nvSpPr>
            <p:spPr bwMode="auto">
              <a:xfrm flipV="1">
                <a:off x="4467225" y="59436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0" name="Line 336"/>
              <p:cNvSpPr>
                <a:spLocks noChangeShapeType="1"/>
              </p:cNvSpPr>
              <p:nvPr/>
            </p:nvSpPr>
            <p:spPr bwMode="auto">
              <a:xfrm flipV="1">
                <a:off x="4481513" y="5935663"/>
                <a:ext cx="14288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1" name="Line 337"/>
              <p:cNvSpPr>
                <a:spLocks noChangeShapeType="1"/>
              </p:cNvSpPr>
              <p:nvPr/>
            </p:nvSpPr>
            <p:spPr bwMode="auto">
              <a:xfrm flipV="1">
                <a:off x="4495801" y="5926139"/>
                <a:ext cx="15875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2" name="Line 338"/>
              <p:cNvSpPr>
                <a:spLocks noChangeShapeType="1"/>
              </p:cNvSpPr>
              <p:nvPr/>
            </p:nvSpPr>
            <p:spPr bwMode="auto">
              <a:xfrm flipV="1">
                <a:off x="4511675" y="59197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3" name="Line 339"/>
              <p:cNvSpPr>
                <a:spLocks noChangeShapeType="1"/>
              </p:cNvSpPr>
              <p:nvPr/>
            </p:nvSpPr>
            <p:spPr bwMode="auto">
              <a:xfrm flipV="1">
                <a:off x="4525963" y="5910264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4" name="Line 340"/>
              <p:cNvSpPr>
                <a:spLocks noChangeShapeType="1"/>
              </p:cNvSpPr>
              <p:nvPr/>
            </p:nvSpPr>
            <p:spPr bwMode="auto">
              <a:xfrm flipV="1">
                <a:off x="4540251" y="5902326"/>
                <a:ext cx="15875" cy="79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5" name="Line 341"/>
              <p:cNvSpPr>
                <a:spLocks noChangeShapeType="1"/>
              </p:cNvSpPr>
              <p:nvPr/>
            </p:nvSpPr>
            <p:spPr bwMode="auto">
              <a:xfrm flipV="1">
                <a:off x="4556125" y="58928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6" name="Line 342"/>
              <p:cNvSpPr>
                <a:spLocks noChangeShapeType="1"/>
              </p:cNvSpPr>
              <p:nvPr/>
            </p:nvSpPr>
            <p:spPr bwMode="auto">
              <a:xfrm flipV="1">
                <a:off x="4570413" y="58753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7" name="Line 343"/>
              <p:cNvSpPr>
                <a:spLocks noChangeShapeType="1"/>
              </p:cNvSpPr>
              <p:nvPr/>
            </p:nvSpPr>
            <p:spPr bwMode="auto">
              <a:xfrm flipV="1">
                <a:off x="4584700" y="5868988"/>
                <a:ext cx="14288" cy="63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8" name="Line 344"/>
              <p:cNvSpPr>
                <a:spLocks noChangeShapeType="1"/>
              </p:cNvSpPr>
              <p:nvPr/>
            </p:nvSpPr>
            <p:spPr bwMode="auto">
              <a:xfrm flipV="1">
                <a:off x="4598989" y="5851527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9" name="Line 345"/>
              <p:cNvSpPr>
                <a:spLocks noChangeShapeType="1"/>
              </p:cNvSpPr>
              <p:nvPr/>
            </p:nvSpPr>
            <p:spPr bwMode="auto">
              <a:xfrm flipV="1">
                <a:off x="4614863" y="5842002"/>
                <a:ext cx="12700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0" name="Line 346"/>
              <p:cNvSpPr>
                <a:spLocks noChangeShapeType="1"/>
              </p:cNvSpPr>
              <p:nvPr/>
            </p:nvSpPr>
            <p:spPr bwMode="auto">
              <a:xfrm flipV="1">
                <a:off x="4627563" y="5826127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1" name="Line 347"/>
              <p:cNvSpPr>
                <a:spLocks noChangeShapeType="1"/>
              </p:cNvSpPr>
              <p:nvPr/>
            </p:nvSpPr>
            <p:spPr bwMode="auto">
              <a:xfrm flipV="1">
                <a:off x="4641850" y="5816602"/>
                <a:ext cx="14288" cy="95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2" name="Line 348"/>
              <p:cNvSpPr>
                <a:spLocks noChangeShapeType="1"/>
              </p:cNvSpPr>
              <p:nvPr/>
            </p:nvSpPr>
            <p:spPr bwMode="auto">
              <a:xfrm flipV="1">
                <a:off x="4656139" y="57991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3" name="Line 349"/>
              <p:cNvSpPr>
                <a:spLocks noChangeShapeType="1"/>
              </p:cNvSpPr>
              <p:nvPr/>
            </p:nvSpPr>
            <p:spPr bwMode="auto">
              <a:xfrm flipV="1">
                <a:off x="4672013" y="57832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4" name="Line 350"/>
              <p:cNvSpPr>
                <a:spLocks noChangeShapeType="1"/>
              </p:cNvSpPr>
              <p:nvPr/>
            </p:nvSpPr>
            <p:spPr bwMode="auto">
              <a:xfrm flipV="1">
                <a:off x="4686300" y="57658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5" name="Line 351"/>
              <p:cNvSpPr>
                <a:spLocks noChangeShapeType="1"/>
              </p:cNvSpPr>
              <p:nvPr/>
            </p:nvSpPr>
            <p:spPr bwMode="auto">
              <a:xfrm flipV="1">
                <a:off x="4700589" y="5748339"/>
                <a:ext cx="15875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6" name="Line 352"/>
              <p:cNvSpPr>
                <a:spLocks noChangeShapeType="1"/>
              </p:cNvSpPr>
              <p:nvPr/>
            </p:nvSpPr>
            <p:spPr bwMode="auto">
              <a:xfrm flipV="1">
                <a:off x="4716463" y="5732464"/>
                <a:ext cx="14288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7" name="Line 353"/>
              <p:cNvSpPr>
                <a:spLocks noChangeShapeType="1"/>
              </p:cNvSpPr>
              <p:nvPr/>
            </p:nvSpPr>
            <p:spPr bwMode="auto">
              <a:xfrm flipV="1">
                <a:off x="4730750" y="57150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8" name="Line 354"/>
              <p:cNvSpPr>
                <a:spLocks noChangeShapeType="1"/>
              </p:cNvSpPr>
              <p:nvPr/>
            </p:nvSpPr>
            <p:spPr bwMode="auto">
              <a:xfrm flipV="1">
                <a:off x="4745038" y="5697539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9" name="Line 355"/>
              <p:cNvSpPr>
                <a:spLocks noChangeShapeType="1"/>
              </p:cNvSpPr>
              <p:nvPr/>
            </p:nvSpPr>
            <p:spPr bwMode="auto">
              <a:xfrm flipV="1">
                <a:off x="4759326" y="5681664"/>
                <a:ext cx="15875" cy="1587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0" name="Line 356"/>
              <p:cNvSpPr>
                <a:spLocks noChangeShapeType="1"/>
              </p:cNvSpPr>
              <p:nvPr/>
            </p:nvSpPr>
            <p:spPr bwMode="auto">
              <a:xfrm flipV="1">
                <a:off x="4775200" y="5664202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1" name="Freeform 357"/>
              <p:cNvSpPr>
                <a:spLocks/>
              </p:cNvSpPr>
              <p:nvPr/>
            </p:nvSpPr>
            <p:spPr bwMode="auto">
              <a:xfrm>
                <a:off x="4789488" y="5640389"/>
                <a:ext cx="14288" cy="23813"/>
              </a:xfrm>
              <a:custGeom>
                <a:avLst/>
                <a:gdLst>
                  <a:gd name="T0" fmla="*/ 0 w 9"/>
                  <a:gd name="T1" fmla="*/ 15 h 15"/>
                  <a:gd name="T2" fmla="*/ 5 w 9"/>
                  <a:gd name="T3" fmla="*/ 4 h 15"/>
                  <a:gd name="T4" fmla="*/ 9 w 9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15"/>
                    </a:moveTo>
                    <a:lnTo>
                      <a:pt x="5" y="4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2" name="Line 358"/>
              <p:cNvSpPr>
                <a:spLocks noChangeShapeType="1"/>
              </p:cNvSpPr>
              <p:nvPr/>
            </p:nvSpPr>
            <p:spPr bwMode="auto">
              <a:xfrm flipV="1">
                <a:off x="4803775" y="5622927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3" name="Freeform 359"/>
              <p:cNvSpPr>
                <a:spLocks/>
              </p:cNvSpPr>
              <p:nvPr/>
            </p:nvSpPr>
            <p:spPr bwMode="auto">
              <a:xfrm>
                <a:off x="4818064" y="5597526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6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6"/>
                    </a:lnTo>
                    <a:lnTo>
                      <a:pt x="10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4" name="Line 360"/>
              <p:cNvSpPr>
                <a:spLocks noChangeShapeType="1"/>
              </p:cNvSpPr>
              <p:nvPr/>
            </p:nvSpPr>
            <p:spPr bwMode="auto">
              <a:xfrm flipV="1">
                <a:off x="4833938" y="5580064"/>
                <a:ext cx="14288" cy="174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5" name="Line 361"/>
              <p:cNvSpPr>
                <a:spLocks noChangeShapeType="1"/>
              </p:cNvSpPr>
              <p:nvPr/>
            </p:nvSpPr>
            <p:spPr bwMode="auto">
              <a:xfrm flipV="1">
                <a:off x="4848225" y="5556252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6" name="Line 362"/>
              <p:cNvSpPr>
                <a:spLocks noChangeShapeType="1"/>
              </p:cNvSpPr>
              <p:nvPr/>
            </p:nvSpPr>
            <p:spPr bwMode="auto">
              <a:xfrm flipV="1">
                <a:off x="4862514" y="5529263"/>
                <a:ext cx="15875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7" name="Line 363"/>
              <p:cNvSpPr>
                <a:spLocks noChangeShapeType="1"/>
              </p:cNvSpPr>
              <p:nvPr/>
            </p:nvSpPr>
            <p:spPr bwMode="auto">
              <a:xfrm flipV="1">
                <a:off x="4878388" y="5503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8" name="Line 364"/>
              <p:cNvSpPr>
                <a:spLocks noChangeShapeType="1"/>
              </p:cNvSpPr>
              <p:nvPr/>
            </p:nvSpPr>
            <p:spPr bwMode="auto">
              <a:xfrm flipV="1">
                <a:off x="4892675" y="5480052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9" name="Line 365"/>
              <p:cNvSpPr>
                <a:spLocks noChangeShapeType="1"/>
              </p:cNvSpPr>
              <p:nvPr/>
            </p:nvSpPr>
            <p:spPr bwMode="auto">
              <a:xfrm flipV="1">
                <a:off x="4906963" y="54530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0" name="Line 366"/>
              <p:cNvSpPr>
                <a:spLocks noChangeShapeType="1"/>
              </p:cNvSpPr>
              <p:nvPr/>
            </p:nvSpPr>
            <p:spPr bwMode="auto">
              <a:xfrm flipV="1">
                <a:off x="4921251" y="5429252"/>
                <a:ext cx="15875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1" name="Line 367"/>
              <p:cNvSpPr>
                <a:spLocks noChangeShapeType="1"/>
              </p:cNvSpPr>
              <p:nvPr/>
            </p:nvSpPr>
            <p:spPr bwMode="auto">
              <a:xfrm flipV="1">
                <a:off x="4937125" y="5402263"/>
                <a:ext cx="14288" cy="2698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2" name="Line 368"/>
              <p:cNvSpPr>
                <a:spLocks noChangeShapeType="1"/>
              </p:cNvSpPr>
              <p:nvPr/>
            </p:nvSpPr>
            <p:spPr bwMode="auto">
              <a:xfrm flipV="1">
                <a:off x="4951413" y="53768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3" name="Line 369"/>
              <p:cNvSpPr>
                <a:spLocks noChangeShapeType="1"/>
              </p:cNvSpPr>
              <p:nvPr/>
            </p:nvSpPr>
            <p:spPr bwMode="auto">
              <a:xfrm flipV="1">
                <a:off x="4965700" y="5351463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4" name="Freeform 370"/>
              <p:cNvSpPr>
                <a:spLocks/>
              </p:cNvSpPr>
              <p:nvPr/>
            </p:nvSpPr>
            <p:spPr bwMode="auto">
              <a:xfrm>
                <a:off x="4979989" y="5318126"/>
                <a:ext cx="22225" cy="33338"/>
              </a:xfrm>
              <a:custGeom>
                <a:avLst/>
                <a:gdLst>
                  <a:gd name="T0" fmla="*/ 0 w 14"/>
                  <a:gd name="T1" fmla="*/ 21 h 21"/>
                  <a:gd name="T2" fmla="*/ 5 w 14"/>
                  <a:gd name="T3" fmla="*/ 10 h 21"/>
                  <a:gd name="T4" fmla="*/ 14 w 14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lnTo>
                      <a:pt x="5" y="10"/>
                    </a:lnTo>
                    <a:lnTo>
                      <a:pt x="14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5" name="Line 371"/>
              <p:cNvSpPr>
                <a:spLocks noChangeShapeType="1"/>
              </p:cNvSpPr>
              <p:nvPr/>
            </p:nvSpPr>
            <p:spPr bwMode="auto">
              <a:xfrm flipV="1">
                <a:off x="5002214" y="5292726"/>
                <a:ext cx="15875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6" name="Freeform 372"/>
              <p:cNvSpPr>
                <a:spLocks/>
              </p:cNvSpPr>
              <p:nvPr/>
            </p:nvSpPr>
            <p:spPr bwMode="auto">
              <a:xfrm>
                <a:off x="5018088" y="5257802"/>
                <a:ext cx="14288" cy="34925"/>
              </a:xfrm>
              <a:custGeom>
                <a:avLst/>
                <a:gdLst>
                  <a:gd name="T0" fmla="*/ 0 w 9"/>
                  <a:gd name="T1" fmla="*/ 22 h 22"/>
                  <a:gd name="T2" fmla="*/ 4 w 9"/>
                  <a:gd name="T3" fmla="*/ 11 h 22"/>
                  <a:gd name="T4" fmla="*/ 9 w 9"/>
                  <a:gd name="T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22"/>
                    </a:moveTo>
                    <a:lnTo>
                      <a:pt x="4" y="11"/>
                    </a:lnTo>
                    <a:lnTo>
                      <a:pt x="9" y="0"/>
                    </a:lnTo>
                  </a:path>
                </a:pathLst>
              </a:cu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7" name="Line 373"/>
              <p:cNvSpPr>
                <a:spLocks noChangeShapeType="1"/>
              </p:cNvSpPr>
              <p:nvPr/>
            </p:nvSpPr>
            <p:spPr bwMode="auto">
              <a:xfrm flipV="1">
                <a:off x="5032375" y="5233989"/>
                <a:ext cx="14288" cy="2381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8" name="Line 374"/>
              <p:cNvSpPr>
                <a:spLocks noChangeShapeType="1"/>
              </p:cNvSpPr>
              <p:nvPr/>
            </p:nvSpPr>
            <p:spPr bwMode="auto">
              <a:xfrm flipV="1">
                <a:off x="5046663" y="519906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9" name="Line 375"/>
              <p:cNvSpPr>
                <a:spLocks noChangeShapeType="1"/>
              </p:cNvSpPr>
              <p:nvPr/>
            </p:nvSpPr>
            <p:spPr bwMode="auto">
              <a:xfrm flipV="1">
                <a:off x="5060951" y="5165726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0" name="Line 376"/>
              <p:cNvSpPr>
                <a:spLocks noChangeShapeType="1"/>
              </p:cNvSpPr>
              <p:nvPr/>
            </p:nvSpPr>
            <p:spPr bwMode="auto">
              <a:xfrm flipV="1">
                <a:off x="5076825" y="5140326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1" name="Line 377"/>
              <p:cNvSpPr>
                <a:spLocks noChangeShapeType="1"/>
              </p:cNvSpPr>
              <p:nvPr/>
            </p:nvSpPr>
            <p:spPr bwMode="auto">
              <a:xfrm flipV="1">
                <a:off x="5091113" y="5106988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2" name="Line 378"/>
              <p:cNvSpPr>
                <a:spLocks noChangeShapeType="1"/>
              </p:cNvSpPr>
              <p:nvPr/>
            </p:nvSpPr>
            <p:spPr bwMode="auto">
              <a:xfrm flipV="1">
                <a:off x="5105401" y="5073651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3" name="Line 379"/>
              <p:cNvSpPr>
                <a:spLocks noChangeShapeType="1"/>
              </p:cNvSpPr>
              <p:nvPr/>
            </p:nvSpPr>
            <p:spPr bwMode="auto">
              <a:xfrm flipV="1">
                <a:off x="5121275" y="5040313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4" name="Line 392"/>
              <p:cNvSpPr>
                <a:spLocks noChangeShapeType="1"/>
              </p:cNvSpPr>
              <p:nvPr/>
            </p:nvSpPr>
            <p:spPr bwMode="auto">
              <a:xfrm flipV="1">
                <a:off x="5311775" y="458152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5" name="Line 393"/>
              <p:cNvSpPr>
                <a:spLocks noChangeShapeType="1"/>
              </p:cNvSpPr>
              <p:nvPr/>
            </p:nvSpPr>
            <p:spPr bwMode="auto">
              <a:xfrm flipV="1">
                <a:off x="5326064" y="4548188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6" name="Line 394"/>
              <p:cNvSpPr>
                <a:spLocks noChangeShapeType="1"/>
              </p:cNvSpPr>
              <p:nvPr/>
            </p:nvSpPr>
            <p:spPr bwMode="auto">
              <a:xfrm flipV="1">
                <a:off x="5341938" y="4516438"/>
                <a:ext cx="14288" cy="3175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7" name="Line 395"/>
              <p:cNvSpPr>
                <a:spLocks noChangeShapeType="1"/>
              </p:cNvSpPr>
              <p:nvPr/>
            </p:nvSpPr>
            <p:spPr bwMode="auto">
              <a:xfrm flipV="1">
                <a:off x="5356225" y="4481514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8" name="Line 396"/>
              <p:cNvSpPr>
                <a:spLocks noChangeShapeType="1"/>
              </p:cNvSpPr>
              <p:nvPr/>
            </p:nvSpPr>
            <p:spPr bwMode="auto">
              <a:xfrm flipV="1">
                <a:off x="5370513" y="4438652"/>
                <a:ext cx="14288" cy="42863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9" name="Line 397"/>
              <p:cNvSpPr>
                <a:spLocks noChangeShapeType="1"/>
              </p:cNvSpPr>
              <p:nvPr/>
            </p:nvSpPr>
            <p:spPr bwMode="auto">
              <a:xfrm flipV="1">
                <a:off x="5384801" y="44053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0" name="Line 398"/>
              <p:cNvSpPr>
                <a:spLocks noChangeShapeType="1"/>
              </p:cNvSpPr>
              <p:nvPr/>
            </p:nvSpPr>
            <p:spPr bwMode="auto">
              <a:xfrm flipV="1">
                <a:off x="5400675" y="4371976"/>
                <a:ext cx="14288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1" name="Line 399"/>
              <p:cNvSpPr>
                <a:spLocks noChangeShapeType="1"/>
              </p:cNvSpPr>
              <p:nvPr/>
            </p:nvSpPr>
            <p:spPr bwMode="auto">
              <a:xfrm flipV="1">
                <a:off x="5414963" y="4337052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2" name="Line 400"/>
              <p:cNvSpPr>
                <a:spLocks noChangeShapeType="1"/>
              </p:cNvSpPr>
              <p:nvPr/>
            </p:nvSpPr>
            <p:spPr bwMode="auto">
              <a:xfrm flipV="1">
                <a:off x="5429251" y="4303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3" name="Line 401"/>
              <p:cNvSpPr>
                <a:spLocks noChangeShapeType="1"/>
              </p:cNvSpPr>
              <p:nvPr/>
            </p:nvSpPr>
            <p:spPr bwMode="auto">
              <a:xfrm flipV="1">
                <a:off x="5445125" y="4268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4" name="Line 402"/>
              <p:cNvSpPr>
                <a:spLocks noChangeShapeType="1"/>
              </p:cNvSpPr>
              <p:nvPr/>
            </p:nvSpPr>
            <p:spPr bwMode="auto">
              <a:xfrm flipV="1">
                <a:off x="5459413" y="4235451"/>
                <a:ext cx="12700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5" name="Line 403"/>
              <p:cNvSpPr>
                <a:spLocks noChangeShapeType="1"/>
              </p:cNvSpPr>
              <p:nvPr/>
            </p:nvSpPr>
            <p:spPr bwMode="auto">
              <a:xfrm flipV="1">
                <a:off x="5472113" y="4210051"/>
                <a:ext cx="14288" cy="2540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6" name="Line 404"/>
              <p:cNvSpPr>
                <a:spLocks noChangeShapeType="1"/>
              </p:cNvSpPr>
              <p:nvPr/>
            </p:nvSpPr>
            <p:spPr bwMode="auto">
              <a:xfrm flipV="1">
                <a:off x="5486401" y="4176713"/>
                <a:ext cx="15875" cy="33338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7" name="Line 405"/>
              <p:cNvSpPr>
                <a:spLocks noChangeShapeType="1"/>
              </p:cNvSpPr>
              <p:nvPr/>
            </p:nvSpPr>
            <p:spPr bwMode="auto">
              <a:xfrm flipV="1">
                <a:off x="5502275" y="4141789"/>
                <a:ext cx="14288" cy="34925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8" name="Line 476"/>
              <p:cNvSpPr>
                <a:spLocks noChangeShapeType="1"/>
              </p:cNvSpPr>
              <p:nvPr/>
            </p:nvSpPr>
            <p:spPr bwMode="auto">
              <a:xfrm>
                <a:off x="6539707" y="4790282"/>
                <a:ext cx="9524" cy="20640"/>
              </a:xfrm>
              <a:prstGeom prst="line">
                <a:avLst/>
              </a:prstGeom>
              <a:noFill/>
              <a:ln w="28575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90" name="Group 289"/>
            <p:cNvGrpSpPr/>
            <p:nvPr/>
          </p:nvGrpSpPr>
          <p:grpSpPr>
            <a:xfrm>
              <a:off x="2202018" y="3501008"/>
              <a:ext cx="4134030" cy="2186240"/>
              <a:chOff x="3856038" y="3727450"/>
              <a:chExt cx="4138613" cy="2352677"/>
            </a:xfrm>
            <a:solidFill>
              <a:srgbClr val="33CC33"/>
            </a:solidFill>
          </p:grpSpPr>
          <p:sp>
            <p:nvSpPr>
              <p:cNvPr id="291" name="Line 382"/>
              <p:cNvSpPr>
                <a:spLocks noChangeShapeType="1"/>
              </p:cNvSpPr>
              <p:nvPr/>
            </p:nvSpPr>
            <p:spPr bwMode="auto">
              <a:xfrm flipV="1">
                <a:off x="5164139" y="4938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2" name="Line 380"/>
              <p:cNvSpPr>
                <a:spLocks noChangeShapeType="1"/>
              </p:cNvSpPr>
              <p:nvPr/>
            </p:nvSpPr>
            <p:spPr bwMode="auto">
              <a:xfrm flipV="1">
                <a:off x="5135563" y="50053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3" name="Line 381"/>
              <p:cNvSpPr>
                <a:spLocks noChangeShapeType="1"/>
              </p:cNvSpPr>
              <p:nvPr/>
            </p:nvSpPr>
            <p:spPr bwMode="auto">
              <a:xfrm flipV="1">
                <a:off x="5149850" y="4972051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4" name="Line 383"/>
              <p:cNvSpPr>
                <a:spLocks noChangeShapeType="1"/>
              </p:cNvSpPr>
              <p:nvPr/>
            </p:nvSpPr>
            <p:spPr bwMode="auto">
              <a:xfrm flipV="1">
                <a:off x="5180013" y="4903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5" name="Line 384"/>
              <p:cNvSpPr>
                <a:spLocks noChangeShapeType="1"/>
              </p:cNvSpPr>
              <p:nvPr/>
            </p:nvSpPr>
            <p:spPr bwMode="auto">
              <a:xfrm flipV="1">
                <a:off x="5194300" y="48688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6" name="Line 385"/>
              <p:cNvSpPr>
                <a:spLocks noChangeShapeType="1"/>
              </p:cNvSpPr>
              <p:nvPr/>
            </p:nvSpPr>
            <p:spPr bwMode="auto">
              <a:xfrm flipV="1">
                <a:off x="5208588" y="48355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7" name="Line 386"/>
              <p:cNvSpPr>
                <a:spLocks noChangeShapeType="1"/>
              </p:cNvSpPr>
              <p:nvPr/>
            </p:nvSpPr>
            <p:spPr bwMode="auto">
              <a:xfrm flipV="1">
                <a:off x="5222876" y="4802188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8" name="Line 387"/>
              <p:cNvSpPr>
                <a:spLocks noChangeShapeType="1"/>
              </p:cNvSpPr>
              <p:nvPr/>
            </p:nvSpPr>
            <p:spPr bwMode="auto">
              <a:xfrm flipV="1">
                <a:off x="5238750" y="4759327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9" name="Line 388"/>
              <p:cNvSpPr>
                <a:spLocks noChangeShapeType="1"/>
              </p:cNvSpPr>
              <p:nvPr/>
            </p:nvSpPr>
            <p:spPr bwMode="auto">
              <a:xfrm flipV="1">
                <a:off x="5253038" y="4725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0" name="Line 389"/>
              <p:cNvSpPr>
                <a:spLocks noChangeShapeType="1"/>
              </p:cNvSpPr>
              <p:nvPr/>
            </p:nvSpPr>
            <p:spPr bwMode="auto">
              <a:xfrm flipV="1">
                <a:off x="5267326" y="4691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" name="Line 390"/>
              <p:cNvSpPr>
                <a:spLocks noChangeShapeType="1"/>
              </p:cNvSpPr>
              <p:nvPr/>
            </p:nvSpPr>
            <p:spPr bwMode="auto">
              <a:xfrm flipV="1">
                <a:off x="5283200" y="46577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" name="Line 391"/>
              <p:cNvSpPr>
                <a:spLocks noChangeShapeType="1"/>
              </p:cNvSpPr>
              <p:nvPr/>
            </p:nvSpPr>
            <p:spPr bwMode="auto">
              <a:xfrm flipV="1">
                <a:off x="5297488" y="4614864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" name="Line 475"/>
              <p:cNvSpPr>
                <a:spLocks noChangeShapeType="1"/>
              </p:cNvSpPr>
              <p:nvPr/>
            </p:nvSpPr>
            <p:spPr bwMode="auto">
              <a:xfrm>
                <a:off x="6530975" y="4759326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" name="Line 474"/>
              <p:cNvSpPr>
                <a:spLocks noChangeShapeType="1"/>
              </p:cNvSpPr>
              <p:nvPr/>
            </p:nvSpPr>
            <p:spPr bwMode="auto">
              <a:xfrm>
                <a:off x="6516688" y="4725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" name="Line 476"/>
              <p:cNvSpPr>
                <a:spLocks noChangeShapeType="1"/>
              </p:cNvSpPr>
              <p:nvPr/>
            </p:nvSpPr>
            <p:spPr bwMode="auto">
              <a:xfrm>
                <a:off x="6548439" y="4808535"/>
                <a:ext cx="11112" cy="26992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" name="Line 407"/>
              <p:cNvSpPr>
                <a:spLocks noChangeShapeType="1"/>
              </p:cNvSpPr>
              <p:nvPr/>
            </p:nvSpPr>
            <p:spPr bwMode="auto">
              <a:xfrm flipV="1">
                <a:off x="5516563" y="4116388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" name="Freeform 408"/>
              <p:cNvSpPr>
                <a:spLocks/>
              </p:cNvSpPr>
              <p:nvPr/>
            </p:nvSpPr>
            <p:spPr bwMode="auto">
              <a:xfrm>
                <a:off x="5530851" y="4083050"/>
                <a:ext cx="15875" cy="33338"/>
              </a:xfrm>
              <a:custGeom>
                <a:avLst/>
                <a:gdLst>
                  <a:gd name="T0" fmla="*/ 0 w 10"/>
                  <a:gd name="T1" fmla="*/ 21 h 21"/>
                  <a:gd name="T2" fmla="*/ 5 w 10"/>
                  <a:gd name="T3" fmla="*/ 10 h 21"/>
                  <a:gd name="T4" fmla="*/ 10 w 10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21"/>
                    </a:moveTo>
                    <a:lnTo>
                      <a:pt x="5" y="10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" name="Line 409"/>
              <p:cNvSpPr>
                <a:spLocks noChangeShapeType="1"/>
              </p:cNvSpPr>
              <p:nvPr/>
            </p:nvSpPr>
            <p:spPr bwMode="auto">
              <a:xfrm flipV="1">
                <a:off x="5546725" y="40576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" name="Line 410"/>
              <p:cNvSpPr>
                <a:spLocks noChangeShapeType="1"/>
              </p:cNvSpPr>
              <p:nvPr/>
            </p:nvSpPr>
            <p:spPr bwMode="auto">
              <a:xfrm flipV="1">
                <a:off x="5561013" y="40322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" name="Freeform 411"/>
              <p:cNvSpPr>
                <a:spLocks/>
              </p:cNvSpPr>
              <p:nvPr/>
            </p:nvSpPr>
            <p:spPr bwMode="auto">
              <a:xfrm>
                <a:off x="5575301" y="4006850"/>
                <a:ext cx="22225" cy="25400"/>
              </a:xfrm>
              <a:custGeom>
                <a:avLst/>
                <a:gdLst>
                  <a:gd name="T0" fmla="*/ 0 w 14"/>
                  <a:gd name="T1" fmla="*/ 16 h 16"/>
                  <a:gd name="T2" fmla="*/ 5 w 14"/>
                  <a:gd name="T3" fmla="*/ 5 h 16"/>
                  <a:gd name="T4" fmla="*/ 14 w 14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16"/>
                    </a:moveTo>
                    <a:lnTo>
                      <a:pt x="5" y="5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" name="Line 412"/>
              <p:cNvSpPr>
                <a:spLocks noChangeShapeType="1"/>
              </p:cNvSpPr>
              <p:nvPr/>
            </p:nvSpPr>
            <p:spPr bwMode="auto">
              <a:xfrm flipV="1">
                <a:off x="5597525" y="39798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" name="Line 413"/>
              <p:cNvSpPr>
                <a:spLocks noChangeShapeType="1"/>
              </p:cNvSpPr>
              <p:nvPr/>
            </p:nvSpPr>
            <p:spPr bwMode="auto">
              <a:xfrm flipV="1">
                <a:off x="5611814" y="3956051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" name="Line 414"/>
              <p:cNvSpPr>
                <a:spLocks noChangeShapeType="1"/>
              </p:cNvSpPr>
              <p:nvPr/>
            </p:nvSpPr>
            <p:spPr bwMode="auto">
              <a:xfrm flipV="1">
                <a:off x="5627688" y="393223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" name="Line 415"/>
              <p:cNvSpPr>
                <a:spLocks noChangeShapeType="1"/>
              </p:cNvSpPr>
              <p:nvPr/>
            </p:nvSpPr>
            <p:spPr bwMode="auto">
              <a:xfrm flipV="1">
                <a:off x="5641975" y="3905250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" name="Line 416"/>
              <p:cNvSpPr>
                <a:spLocks noChangeShapeType="1"/>
              </p:cNvSpPr>
              <p:nvPr/>
            </p:nvSpPr>
            <p:spPr bwMode="auto">
              <a:xfrm flipV="1">
                <a:off x="5656263" y="388937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" name="Freeform 417"/>
              <p:cNvSpPr>
                <a:spLocks/>
              </p:cNvSpPr>
              <p:nvPr/>
            </p:nvSpPr>
            <p:spPr bwMode="auto">
              <a:xfrm>
                <a:off x="5670551" y="3863975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5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5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" name="Line 418"/>
              <p:cNvSpPr>
                <a:spLocks noChangeShapeType="1"/>
              </p:cNvSpPr>
              <p:nvPr/>
            </p:nvSpPr>
            <p:spPr bwMode="auto">
              <a:xfrm flipV="1">
                <a:off x="5686425" y="38465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" name="Line 419"/>
              <p:cNvSpPr>
                <a:spLocks noChangeShapeType="1"/>
              </p:cNvSpPr>
              <p:nvPr/>
            </p:nvSpPr>
            <p:spPr bwMode="auto">
              <a:xfrm flipV="1">
                <a:off x="5700713" y="382905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" name="Line 420"/>
              <p:cNvSpPr>
                <a:spLocks noChangeShapeType="1"/>
              </p:cNvSpPr>
              <p:nvPr/>
            </p:nvSpPr>
            <p:spPr bwMode="auto">
              <a:xfrm flipV="1">
                <a:off x="5715000" y="381158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" name="Line 421"/>
              <p:cNvSpPr>
                <a:spLocks noChangeShapeType="1"/>
              </p:cNvSpPr>
              <p:nvPr/>
            </p:nvSpPr>
            <p:spPr bwMode="auto">
              <a:xfrm flipV="1">
                <a:off x="5729289" y="3795714"/>
                <a:ext cx="15875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" name="Line 422"/>
              <p:cNvSpPr>
                <a:spLocks noChangeShapeType="1"/>
              </p:cNvSpPr>
              <p:nvPr/>
            </p:nvSpPr>
            <p:spPr bwMode="auto">
              <a:xfrm flipV="1">
                <a:off x="5745163" y="37877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" name="Line 423"/>
              <p:cNvSpPr>
                <a:spLocks noChangeShapeType="1"/>
              </p:cNvSpPr>
              <p:nvPr/>
            </p:nvSpPr>
            <p:spPr bwMode="auto">
              <a:xfrm flipV="1">
                <a:off x="5759450" y="37703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" name="Line 424"/>
              <p:cNvSpPr>
                <a:spLocks noChangeShapeType="1"/>
              </p:cNvSpPr>
              <p:nvPr/>
            </p:nvSpPr>
            <p:spPr bwMode="auto">
              <a:xfrm flipV="1">
                <a:off x="5773739" y="376237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" name="Line 425"/>
              <p:cNvSpPr>
                <a:spLocks noChangeShapeType="1"/>
              </p:cNvSpPr>
              <p:nvPr/>
            </p:nvSpPr>
            <p:spPr bwMode="auto">
              <a:xfrm flipV="1">
                <a:off x="5789613" y="3754438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" name="Line 426"/>
              <p:cNvSpPr>
                <a:spLocks noChangeShapeType="1"/>
              </p:cNvSpPr>
              <p:nvPr/>
            </p:nvSpPr>
            <p:spPr bwMode="auto">
              <a:xfrm flipV="1">
                <a:off x="5803900" y="374491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" name="Line 427"/>
              <p:cNvSpPr>
                <a:spLocks noChangeShapeType="1"/>
              </p:cNvSpPr>
              <p:nvPr/>
            </p:nvSpPr>
            <p:spPr bwMode="auto">
              <a:xfrm flipV="1">
                <a:off x="5818188" y="37369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" name="Line 428"/>
              <p:cNvSpPr>
                <a:spLocks noChangeShapeType="1"/>
              </p:cNvSpPr>
              <p:nvPr/>
            </p:nvSpPr>
            <p:spPr bwMode="auto">
              <a:xfrm>
                <a:off x="5832476" y="373697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" name="Freeform 429"/>
              <p:cNvSpPr>
                <a:spLocks/>
              </p:cNvSpPr>
              <p:nvPr/>
            </p:nvSpPr>
            <p:spPr bwMode="auto">
              <a:xfrm>
                <a:off x="5848350" y="3727451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" name="Line 430"/>
              <p:cNvSpPr>
                <a:spLocks noChangeShapeType="1"/>
              </p:cNvSpPr>
              <p:nvPr/>
            </p:nvSpPr>
            <p:spPr bwMode="auto">
              <a:xfrm>
                <a:off x="5862638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" name="Line 431"/>
              <p:cNvSpPr>
                <a:spLocks noChangeShapeType="1"/>
              </p:cNvSpPr>
              <p:nvPr/>
            </p:nvSpPr>
            <p:spPr bwMode="auto">
              <a:xfrm>
                <a:off x="5876925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" name="Line 432"/>
              <p:cNvSpPr>
                <a:spLocks noChangeShapeType="1"/>
              </p:cNvSpPr>
              <p:nvPr/>
            </p:nvSpPr>
            <p:spPr bwMode="auto">
              <a:xfrm>
                <a:off x="5891214" y="372745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" name="Line 433"/>
              <p:cNvSpPr>
                <a:spLocks noChangeShapeType="1"/>
              </p:cNvSpPr>
              <p:nvPr/>
            </p:nvSpPr>
            <p:spPr bwMode="auto">
              <a:xfrm>
                <a:off x="5907088" y="372745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" name="Freeform 434"/>
              <p:cNvSpPr>
                <a:spLocks/>
              </p:cNvSpPr>
              <p:nvPr/>
            </p:nvSpPr>
            <p:spPr bwMode="auto">
              <a:xfrm>
                <a:off x="5921375" y="372745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" name="Line 435"/>
              <p:cNvSpPr>
                <a:spLocks noChangeShapeType="1"/>
              </p:cNvSpPr>
              <p:nvPr/>
            </p:nvSpPr>
            <p:spPr bwMode="auto">
              <a:xfrm>
                <a:off x="5935664" y="373697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" name="Line 436"/>
              <p:cNvSpPr>
                <a:spLocks noChangeShapeType="1"/>
              </p:cNvSpPr>
              <p:nvPr/>
            </p:nvSpPr>
            <p:spPr bwMode="auto">
              <a:xfrm>
                <a:off x="5951538" y="37369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" name="Line 437"/>
              <p:cNvSpPr>
                <a:spLocks noChangeShapeType="1"/>
              </p:cNvSpPr>
              <p:nvPr/>
            </p:nvSpPr>
            <p:spPr bwMode="auto">
              <a:xfrm>
                <a:off x="5965825" y="374491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" name="Line 438"/>
              <p:cNvSpPr>
                <a:spLocks noChangeShapeType="1"/>
              </p:cNvSpPr>
              <p:nvPr/>
            </p:nvSpPr>
            <p:spPr bwMode="auto">
              <a:xfrm>
                <a:off x="5980113" y="3754438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" name="Line 439"/>
              <p:cNvSpPr>
                <a:spLocks noChangeShapeType="1"/>
              </p:cNvSpPr>
              <p:nvPr/>
            </p:nvSpPr>
            <p:spPr bwMode="auto">
              <a:xfrm>
                <a:off x="5994401" y="376237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" name="Line 440"/>
              <p:cNvSpPr>
                <a:spLocks noChangeShapeType="1"/>
              </p:cNvSpPr>
              <p:nvPr/>
            </p:nvSpPr>
            <p:spPr bwMode="auto">
              <a:xfrm>
                <a:off x="6010275" y="37703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" name="Line 441"/>
              <p:cNvSpPr>
                <a:spLocks noChangeShapeType="1"/>
              </p:cNvSpPr>
              <p:nvPr/>
            </p:nvSpPr>
            <p:spPr bwMode="auto">
              <a:xfrm>
                <a:off x="6024563" y="378777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" name="Line 442"/>
              <p:cNvSpPr>
                <a:spLocks noChangeShapeType="1"/>
              </p:cNvSpPr>
              <p:nvPr/>
            </p:nvSpPr>
            <p:spPr bwMode="auto">
              <a:xfrm>
                <a:off x="6038850" y="379571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" name="Line 443"/>
              <p:cNvSpPr>
                <a:spLocks noChangeShapeType="1"/>
              </p:cNvSpPr>
              <p:nvPr/>
            </p:nvSpPr>
            <p:spPr bwMode="auto">
              <a:xfrm>
                <a:off x="6053139" y="381158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" name="Line 444"/>
              <p:cNvSpPr>
                <a:spLocks noChangeShapeType="1"/>
              </p:cNvSpPr>
              <p:nvPr/>
            </p:nvSpPr>
            <p:spPr bwMode="auto">
              <a:xfrm>
                <a:off x="6069013" y="382905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" name="Line 445"/>
              <p:cNvSpPr>
                <a:spLocks noChangeShapeType="1"/>
              </p:cNvSpPr>
              <p:nvPr/>
            </p:nvSpPr>
            <p:spPr bwMode="auto">
              <a:xfrm>
                <a:off x="6083300" y="384651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" name="Freeform 446"/>
              <p:cNvSpPr>
                <a:spLocks/>
              </p:cNvSpPr>
              <p:nvPr/>
            </p:nvSpPr>
            <p:spPr bwMode="auto">
              <a:xfrm>
                <a:off x="6097589" y="3863975"/>
                <a:ext cx="15875" cy="25400"/>
              </a:xfrm>
              <a:custGeom>
                <a:avLst/>
                <a:gdLst>
                  <a:gd name="T0" fmla="*/ 0 w 10"/>
                  <a:gd name="T1" fmla="*/ 0 h 16"/>
                  <a:gd name="T2" fmla="*/ 5 w 10"/>
                  <a:gd name="T3" fmla="*/ 5 h 16"/>
                  <a:gd name="T4" fmla="*/ 10 w 10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0"/>
                    </a:moveTo>
                    <a:lnTo>
                      <a:pt x="5" y="5"/>
                    </a:lnTo>
                    <a:lnTo>
                      <a:pt x="10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" name="Line 447"/>
              <p:cNvSpPr>
                <a:spLocks noChangeShapeType="1"/>
              </p:cNvSpPr>
              <p:nvPr/>
            </p:nvSpPr>
            <p:spPr bwMode="auto">
              <a:xfrm>
                <a:off x="6113463" y="388937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" name="Line 448"/>
              <p:cNvSpPr>
                <a:spLocks noChangeShapeType="1"/>
              </p:cNvSpPr>
              <p:nvPr/>
            </p:nvSpPr>
            <p:spPr bwMode="auto">
              <a:xfrm>
                <a:off x="6127750" y="3905250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" name="Line 449"/>
              <p:cNvSpPr>
                <a:spLocks noChangeShapeType="1"/>
              </p:cNvSpPr>
              <p:nvPr/>
            </p:nvSpPr>
            <p:spPr bwMode="auto">
              <a:xfrm>
                <a:off x="6142038" y="393223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" name="Line 450"/>
              <p:cNvSpPr>
                <a:spLocks noChangeShapeType="1"/>
              </p:cNvSpPr>
              <p:nvPr/>
            </p:nvSpPr>
            <p:spPr bwMode="auto">
              <a:xfrm>
                <a:off x="6156326" y="3956051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" name="Freeform 451"/>
              <p:cNvSpPr>
                <a:spLocks/>
              </p:cNvSpPr>
              <p:nvPr/>
            </p:nvSpPr>
            <p:spPr bwMode="auto">
              <a:xfrm>
                <a:off x="6172201" y="3979863"/>
                <a:ext cx="22225" cy="26988"/>
              </a:xfrm>
              <a:custGeom>
                <a:avLst/>
                <a:gdLst>
                  <a:gd name="T0" fmla="*/ 0 w 14"/>
                  <a:gd name="T1" fmla="*/ 0 h 17"/>
                  <a:gd name="T2" fmla="*/ 4 w 14"/>
                  <a:gd name="T3" fmla="*/ 6 h 17"/>
                  <a:gd name="T4" fmla="*/ 14 w 14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7">
                    <a:moveTo>
                      <a:pt x="0" y="0"/>
                    </a:moveTo>
                    <a:lnTo>
                      <a:pt x="4" y="6"/>
                    </a:lnTo>
                    <a:lnTo>
                      <a:pt x="14" y="17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" name="Line 452"/>
              <p:cNvSpPr>
                <a:spLocks noChangeShapeType="1"/>
              </p:cNvSpPr>
              <p:nvPr/>
            </p:nvSpPr>
            <p:spPr bwMode="auto">
              <a:xfrm>
                <a:off x="6194425" y="40068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2" name="Line 453"/>
              <p:cNvSpPr>
                <a:spLocks noChangeShapeType="1"/>
              </p:cNvSpPr>
              <p:nvPr/>
            </p:nvSpPr>
            <p:spPr bwMode="auto">
              <a:xfrm>
                <a:off x="6208713" y="40322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3" name="Line 454"/>
              <p:cNvSpPr>
                <a:spLocks noChangeShapeType="1"/>
              </p:cNvSpPr>
              <p:nvPr/>
            </p:nvSpPr>
            <p:spPr bwMode="auto">
              <a:xfrm>
                <a:off x="6223000" y="4057650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4" name="Freeform 455"/>
              <p:cNvSpPr>
                <a:spLocks/>
              </p:cNvSpPr>
              <p:nvPr/>
            </p:nvSpPr>
            <p:spPr bwMode="auto">
              <a:xfrm>
                <a:off x="6237289" y="4083050"/>
                <a:ext cx="15875" cy="33338"/>
              </a:xfrm>
              <a:custGeom>
                <a:avLst/>
                <a:gdLst>
                  <a:gd name="T0" fmla="*/ 0 w 10"/>
                  <a:gd name="T1" fmla="*/ 0 h 21"/>
                  <a:gd name="T2" fmla="*/ 5 w 10"/>
                  <a:gd name="T3" fmla="*/ 10 h 21"/>
                  <a:gd name="T4" fmla="*/ 10 w 10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21">
                    <a:moveTo>
                      <a:pt x="0" y="0"/>
                    </a:moveTo>
                    <a:lnTo>
                      <a:pt x="5" y="10"/>
                    </a:lnTo>
                    <a:lnTo>
                      <a:pt x="10" y="21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" name="Line 456"/>
              <p:cNvSpPr>
                <a:spLocks noChangeShapeType="1"/>
              </p:cNvSpPr>
              <p:nvPr/>
            </p:nvSpPr>
            <p:spPr bwMode="auto">
              <a:xfrm>
                <a:off x="6253163" y="4116388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" name="Line 457"/>
              <p:cNvSpPr>
                <a:spLocks noChangeShapeType="1"/>
              </p:cNvSpPr>
              <p:nvPr/>
            </p:nvSpPr>
            <p:spPr bwMode="auto">
              <a:xfrm>
                <a:off x="6267450" y="4141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" name="Line 458"/>
              <p:cNvSpPr>
                <a:spLocks noChangeShapeType="1"/>
              </p:cNvSpPr>
              <p:nvPr/>
            </p:nvSpPr>
            <p:spPr bwMode="auto">
              <a:xfrm>
                <a:off x="6281738" y="41767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" name="Line 459"/>
              <p:cNvSpPr>
                <a:spLocks noChangeShapeType="1"/>
              </p:cNvSpPr>
              <p:nvPr/>
            </p:nvSpPr>
            <p:spPr bwMode="auto">
              <a:xfrm>
                <a:off x="6296026" y="4210050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" name="Line 460"/>
              <p:cNvSpPr>
                <a:spLocks noChangeShapeType="1"/>
              </p:cNvSpPr>
              <p:nvPr/>
            </p:nvSpPr>
            <p:spPr bwMode="auto">
              <a:xfrm>
                <a:off x="6311900" y="4235450"/>
                <a:ext cx="12700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" name="Line 461"/>
              <p:cNvSpPr>
                <a:spLocks noChangeShapeType="1"/>
              </p:cNvSpPr>
              <p:nvPr/>
            </p:nvSpPr>
            <p:spPr bwMode="auto">
              <a:xfrm>
                <a:off x="6324600" y="4268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" name="Line 462"/>
              <p:cNvSpPr>
                <a:spLocks noChangeShapeType="1"/>
              </p:cNvSpPr>
              <p:nvPr/>
            </p:nvSpPr>
            <p:spPr bwMode="auto">
              <a:xfrm>
                <a:off x="6338889" y="4303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" name="Line 463"/>
              <p:cNvSpPr>
                <a:spLocks noChangeShapeType="1"/>
              </p:cNvSpPr>
              <p:nvPr/>
            </p:nvSpPr>
            <p:spPr bwMode="auto">
              <a:xfrm>
                <a:off x="6354763" y="4337051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" name="Line 464"/>
              <p:cNvSpPr>
                <a:spLocks noChangeShapeType="1"/>
              </p:cNvSpPr>
              <p:nvPr/>
            </p:nvSpPr>
            <p:spPr bwMode="auto">
              <a:xfrm>
                <a:off x="6369050" y="437197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" name="Line 465"/>
              <p:cNvSpPr>
                <a:spLocks noChangeShapeType="1"/>
              </p:cNvSpPr>
              <p:nvPr/>
            </p:nvSpPr>
            <p:spPr bwMode="auto">
              <a:xfrm>
                <a:off x="6383338" y="4405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" name="Line 466"/>
              <p:cNvSpPr>
                <a:spLocks noChangeShapeType="1"/>
              </p:cNvSpPr>
              <p:nvPr/>
            </p:nvSpPr>
            <p:spPr bwMode="auto">
              <a:xfrm>
                <a:off x="6397626" y="4438651"/>
                <a:ext cx="15875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" name="Line 467"/>
              <p:cNvSpPr>
                <a:spLocks noChangeShapeType="1"/>
              </p:cNvSpPr>
              <p:nvPr/>
            </p:nvSpPr>
            <p:spPr bwMode="auto">
              <a:xfrm>
                <a:off x="6413500" y="448151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" name="Line 468"/>
              <p:cNvSpPr>
                <a:spLocks noChangeShapeType="1"/>
              </p:cNvSpPr>
              <p:nvPr/>
            </p:nvSpPr>
            <p:spPr bwMode="auto">
              <a:xfrm>
                <a:off x="6427788" y="4516438"/>
                <a:ext cx="14288" cy="317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" name="Line 469"/>
              <p:cNvSpPr>
                <a:spLocks noChangeShapeType="1"/>
              </p:cNvSpPr>
              <p:nvPr/>
            </p:nvSpPr>
            <p:spPr bwMode="auto">
              <a:xfrm>
                <a:off x="6442075" y="45481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" name="Line 470"/>
              <p:cNvSpPr>
                <a:spLocks noChangeShapeType="1"/>
              </p:cNvSpPr>
              <p:nvPr/>
            </p:nvSpPr>
            <p:spPr bwMode="auto">
              <a:xfrm>
                <a:off x="6456364" y="4581525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" name="Line 471"/>
              <p:cNvSpPr>
                <a:spLocks noChangeShapeType="1"/>
              </p:cNvSpPr>
              <p:nvPr/>
            </p:nvSpPr>
            <p:spPr bwMode="auto">
              <a:xfrm>
                <a:off x="6472238" y="4614864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" name="Line 472"/>
              <p:cNvSpPr>
                <a:spLocks noChangeShapeType="1"/>
              </p:cNvSpPr>
              <p:nvPr/>
            </p:nvSpPr>
            <p:spPr bwMode="auto">
              <a:xfrm>
                <a:off x="6486522" y="465693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" name="Line 473"/>
              <p:cNvSpPr>
                <a:spLocks noChangeShapeType="1"/>
              </p:cNvSpPr>
              <p:nvPr/>
            </p:nvSpPr>
            <p:spPr bwMode="auto">
              <a:xfrm>
                <a:off x="6500814" y="4691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" name="Line 477"/>
              <p:cNvSpPr>
                <a:spLocks noChangeShapeType="1"/>
              </p:cNvSpPr>
              <p:nvPr/>
            </p:nvSpPr>
            <p:spPr bwMode="auto">
              <a:xfrm>
                <a:off x="6559551" y="4835525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" name="Line 478"/>
              <p:cNvSpPr>
                <a:spLocks noChangeShapeType="1"/>
              </p:cNvSpPr>
              <p:nvPr/>
            </p:nvSpPr>
            <p:spPr bwMode="auto">
              <a:xfrm>
                <a:off x="6575425" y="48688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" name="Line 479"/>
              <p:cNvSpPr>
                <a:spLocks noChangeShapeType="1"/>
              </p:cNvSpPr>
              <p:nvPr/>
            </p:nvSpPr>
            <p:spPr bwMode="auto">
              <a:xfrm>
                <a:off x="6589713" y="4903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" name="Line 480"/>
              <p:cNvSpPr>
                <a:spLocks noChangeShapeType="1"/>
              </p:cNvSpPr>
              <p:nvPr/>
            </p:nvSpPr>
            <p:spPr bwMode="auto">
              <a:xfrm>
                <a:off x="6604000" y="49387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" name="Line 481"/>
              <p:cNvSpPr>
                <a:spLocks noChangeShapeType="1"/>
              </p:cNvSpPr>
              <p:nvPr/>
            </p:nvSpPr>
            <p:spPr bwMode="auto">
              <a:xfrm>
                <a:off x="6618289" y="4972050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" name="Line 482"/>
              <p:cNvSpPr>
                <a:spLocks noChangeShapeType="1"/>
              </p:cNvSpPr>
              <p:nvPr/>
            </p:nvSpPr>
            <p:spPr bwMode="auto">
              <a:xfrm>
                <a:off x="6634163" y="50053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" name="Line 483"/>
              <p:cNvSpPr>
                <a:spLocks noChangeShapeType="1"/>
              </p:cNvSpPr>
              <p:nvPr/>
            </p:nvSpPr>
            <p:spPr bwMode="auto">
              <a:xfrm>
                <a:off x="6648450" y="5040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" name="Line 484"/>
              <p:cNvSpPr>
                <a:spLocks noChangeShapeType="1"/>
              </p:cNvSpPr>
              <p:nvPr/>
            </p:nvSpPr>
            <p:spPr bwMode="auto">
              <a:xfrm>
                <a:off x="6662739" y="5073650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" name="Line 485"/>
              <p:cNvSpPr>
                <a:spLocks noChangeShapeType="1"/>
              </p:cNvSpPr>
              <p:nvPr/>
            </p:nvSpPr>
            <p:spPr bwMode="auto">
              <a:xfrm>
                <a:off x="6678613" y="5106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" name="Line 486"/>
              <p:cNvSpPr>
                <a:spLocks noChangeShapeType="1"/>
              </p:cNvSpPr>
              <p:nvPr/>
            </p:nvSpPr>
            <p:spPr bwMode="auto">
              <a:xfrm>
                <a:off x="6692900" y="5140325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" name="Line 487"/>
              <p:cNvSpPr>
                <a:spLocks noChangeShapeType="1"/>
              </p:cNvSpPr>
              <p:nvPr/>
            </p:nvSpPr>
            <p:spPr bwMode="auto">
              <a:xfrm>
                <a:off x="6707188" y="5165725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" name="Line 488"/>
              <p:cNvSpPr>
                <a:spLocks noChangeShapeType="1"/>
              </p:cNvSpPr>
              <p:nvPr/>
            </p:nvSpPr>
            <p:spPr bwMode="auto">
              <a:xfrm>
                <a:off x="6721476" y="5199064"/>
                <a:ext cx="15875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" name="Line 489"/>
              <p:cNvSpPr>
                <a:spLocks noChangeShapeType="1"/>
              </p:cNvSpPr>
              <p:nvPr/>
            </p:nvSpPr>
            <p:spPr bwMode="auto">
              <a:xfrm>
                <a:off x="6737350" y="523398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" name="Freeform 490"/>
              <p:cNvSpPr>
                <a:spLocks/>
              </p:cNvSpPr>
              <p:nvPr/>
            </p:nvSpPr>
            <p:spPr bwMode="auto">
              <a:xfrm>
                <a:off x="6751638" y="5257801"/>
                <a:ext cx="14288" cy="34925"/>
              </a:xfrm>
              <a:custGeom>
                <a:avLst/>
                <a:gdLst>
                  <a:gd name="T0" fmla="*/ 0 w 9"/>
                  <a:gd name="T1" fmla="*/ 0 h 22"/>
                  <a:gd name="T2" fmla="*/ 5 w 9"/>
                  <a:gd name="T3" fmla="*/ 11 h 22"/>
                  <a:gd name="T4" fmla="*/ 9 w 9"/>
                  <a:gd name="T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0"/>
                    </a:moveTo>
                    <a:lnTo>
                      <a:pt x="5" y="11"/>
                    </a:lnTo>
                    <a:lnTo>
                      <a:pt x="9" y="22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" name="Freeform 491"/>
              <p:cNvSpPr>
                <a:spLocks/>
              </p:cNvSpPr>
              <p:nvPr/>
            </p:nvSpPr>
            <p:spPr bwMode="auto">
              <a:xfrm>
                <a:off x="6765926" y="5292725"/>
                <a:ext cx="22225" cy="25400"/>
              </a:xfrm>
              <a:custGeom>
                <a:avLst/>
                <a:gdLst>
                  <a:gd name="T0" fmla="*/ 0 w 14"/>
                  <a:gd name="T1" fmla="*/ 0 h 16"/>
                  <a:gd name="T2" fmla="*/ 5 w 14"/>
                  <a:gd name="T3" fmla="*/ 5 h 16"/>
                  <a:gd name="T4" fmla="*/ 14 w 14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5" y="5"/>
                    </a:lnTo>
                    <a:lnTo>
                      <a:pt x="14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" name="Freeform 492"/>
              <p:cNvSpPr>
                <a:spLocks/>
              </p:cNvSpPr>
              <p:nvPr/>
            </p:nvSpPr>
            <p:spPr bwMode="auto">
              <a:xfrm>
                <a:off x="6788150" y="5318125"/>
                <a:ext cx="14288" cy="33338"/>
              </a:xfrm>
              <a:custGeom>
                <a:avLst/>
                <a:gdLst>
                  <a:gd name="T0" fmla="*/ 0 w 9"/>
                  <a:gd name="T1" fmla="*/ 0 h 21"/>
                  <a:gd name="T2" fmla="*/ 5 w 9"/>
                  <a:gd name="T3" fmla="*/ 10 h 21"/>
                  <a:gd name="T4" fmla="*/ 9 w 9"/>
                  <a:gd name="T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1">
                    <a:moveTo>
                      <a:pt x="0" y="0"/>
                    </a:moveTo>
                    <a:lnTo>
                      <a:pt x="5" y="10"/>
                    </a:lnTo>
                    <a:lnTo>
                      <a:pt x="9" y="21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" name="Line 493"/>
              <p:cNvSpPr>
                <a:spLocks noChangeShapeType="1"/>
              </p:cNvSpPr>
              <p:nvPr/>
            </p:nvSpPr>
            <p:spPr bwMode="auto">
              <a:xfrm>
                <a:off x="6802439" y="5351463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" name="Line 494"/>
              <p:cNvSpPr>
                <a:spLocks noChangeShapeType="1"/>
              </p:cNvSpPr>
              <p:nvPr/>
            </p:nvSpPr>
            <p:spPr bwMode="auto">
              <a:xfrm>
                <a:off x="6818313" y="5376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" name="Line 495"/>
              <p:cNvSpPr>
                <a:spLocks noChangeShapeType="1"/>
              </p:cNvSpPr>
              <p:nvPr/>
            </p:nvSpPr>
            <p:spPr bwMode="auto">
              <a:xfrm>
                <a:off x="6832600" y="54022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2" name="Line 496"/>
              <p:cNvSpPr>
                <a:spLocks noChangeShapeType="1"/>
              </p:cNvSpPr>
              <p:nvPr/>
            </p:nvSpPr>
            <p:spPr bwMode="auto">
              <a:xfrm>
                <a:off x="6846888" y="54292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3" name="Line 497"/>
              <p:cNvSpPr>
                <a:spLocks noChangeShapeType="1"/>
              </p:cNvSpPr>
              <p:nvPr/>
            </p:nvSpPr>
            <p:spPr bwMode="auto">
              <a:xfrm>
                <a:off x="6861176" y="54530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4" name="Line 498"/>
              <p:cNvSpPr>
                <a:spLocks noChangeShapeType="1"/>
              </p:cNvSpPr>
              <p:nvPr/>
            </p:nvSpPr>
            <p:spPr bwMode="auto">
              <a:xfrm>
                <a:off x="6877050" y="54800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5" name="Line 499"/>
              <p:cNvSpPr>
                <a:spLocks noChangeShapeType="1"/>
              </p:cNvSpPr>
              <p:nvPr/>
            </p:nvSpPr>
            <p:spPr bwMode="auto">
              <a:xfrm>
                <a:off x="6891338" y="5503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6" name="Line 500"/>
              <p:cNvSpPr>
                <a:spLocks noChangeShapeType="1"/>
              </p:cNvSpPr>
              <p:nvPr/>
            </p:nvSpPr>
            <p:spPr bwMode="auto">
              <a:xfrm>
                <a:off x="6905626" y="55292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7" name="Line 501"/>
              <p:cNvSpPr>
                <a:spLocks noChangeShapeType="1"/>
              </p:cNvSpPr>
              <p:nvPr/>
            </p:nvSpPr>
            <p:spPr bwMode="auto">
              <a:xfrm>
                <a:off x="6921500" y="5556251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8" name="Line 502"/>
              <p:cNvSpPr>
                <a:spLocks noChangeShapeType="1"/>
              </p:cNvSpPr>
              <p:nvPr/>
            </p:nvSpPr>
            <p:spPr bwMode="auto">
              <a:xfrm>
                <a:off x="6935788" y="558006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9" name="Freeform 503"/>
              <p:cNvSpPr>
                <a:spLocks/>
              </p:cNvSpPr>
              <p:nvPr/>
            </p:nvSpPr>
            <p:spPr bwMode="auto">
              <a:xfrm>
                <a:off x="6950075" y="5597525"/>
                <a:ext cx="14288" cy="25400"/>
              </a:xfrm>
              <a:custGeom>
                <a:avLst/>
                <a:gdLst>
                  <a:gd name="T0" fmla="*/ 0 w 9"/>
                  <a:gd name="T1" fmla="*/ 0 h 16"/>
                  <a:gd name="T2" fmla="*/ 5 w 9"/>
                  <a:gd name="T3" fmla="*/ 6 h 16"/>
                  <a:gd name="T4" fmla="*/ 9 w 9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6">
                    <a:moveTo>
                      <a:pt x="0" y="0"/>
                    </a:moveTo>
                    <a:lnTo>
                      <a:pt x="5" y="6"/>
                    </a:lnTo>
                    <a:lnTo>
                      <a:pt x="9" y="1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0" name="Line 504"/>
              <p:cNvSpPr>
                <a:spLocks noChangeShapeType="1"/>
              </p:cNvSpPr>
              <p:nvPr/>
            </p:nvSpPr>
            <p:spPr bwMode="auto">
              <a:xfrm>
                <a:off x="6964364" y="5622926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1" name="Freeform 505"/>
              <p:cNvSpPr>
                <a:spLocks/>
              </p:cNvSpPr>
              <p:nvPr/>
            </p:nvSpPr>
            <p:spPr bwMode="auto">
              <a:xfrm>
                <a:off x="6980238" y="5640389"/>
                <a:ext cx="14288" cy="23813"/>
              </a:xfrm>
              <a:custGeom>
                <a:avLst/>
                <a:gdLst>
                  <a:gd name="T0" fmla="*/ 0 w 9"/>
                  <a:gd name="T1" fmla="*/ 0 h 15"/>
                  <a:gd name="T2" fmla="*/ 4 w 9"/>
                  <a:gd name="T3" fmla="*/ 4 h 15"/>
                  <a:gd name="T4" fmla="*/ 9 w 9"/>
                  <a:gd name="T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0"/>
                    </a:moveTo>
                    <a:lnTo>
                      <a:pt x="4" y="4"/>
                    </a:lnTo>
                    <a:lnTo>
                      <a:pt x="9" y="1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2" name="Line 506"/>
              <p:cNvSpPr>
                <a:spLocks noChangeShapeType="1"/>
              </p:cNvSpPr>
              <p:nvPr/>
            </p:nvSpPr>
            <p:spPr bwMode="auto">
              <a:xfrm>
                <a:off x="6994525" y="56642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3" name="Line 507"/>
              <p:cNvSpPr>
                <a:spLocks noChangeShapeType="1"/>
              </p:cNvSpPr>
              <p:nvPr/>
            </p:nvSpPr>
            <p:spPr bwMode="auto">
              <a:xfrm>
                <a:off x="7008813" y="56816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4" name="Line 508"/>
              <p:cNvSpPr>
                <a:spLocks noChangeShapeType="1"/>
              </p:cNvSpPr>
              <p:nvPr/>
            </p:nvSpPr>
            <p:spPr bwMode="auto">
              <a:xfrm>
                <a:off x="7023101" y="56975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5" name="Line 509"/>
              <p:cNvSpPr>
                <a:spLocks noChangeShapeType="1"/>
              </p:cNvSpPr>
              <p:nvPr/>
            </p:nvSpPr>
            <p:spPr bwMode="auto">
              <a:xfrm>
                <a:off x="7038975" y="57150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6" name="Line 510"/>
              <p:cNvSpPr>
                <a:spLocks noChangeShapeType="1"/>
              </p:cNvSpPr>
              <p:nvPr/>
            </p:nvSpPr>
            <p:spPr bwMode="auto">
              <a:xfrm>
                <a:off x="7053263" y="57324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7" name="Line 511"/>
              <p:cNvSpPr>
                <a:spLocks noChangeShapeType="1"/>
              </p:cNvSpPr>
              <p:nvPr/>
            </p:nvSpPr>
            <p:spPr bwMode="auto">
              <a:xfrm>
                <a:off x="7067551" y="57483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8" name="Line 512"/>
              <p:cNvSpPr>
                <a:spLocks noChangeShapeType="1"/>
              </p:cNvSpPr>
              <p:nvPr/>
            </p:nvSpPr>
            <p:spPr bwMode="auto">
              <a:xfrm>
                <a:off x="7083425" y="5765801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9" name="Line 513"/>
              <p:cNvSpPr>
                <a:spLocks noChangeShapeType="1"/>
              </p:cNvSpPr>
              <p:nvPr/>
            </p:nvSpPr>
            <p:spPr bwMode="auto">
              <a:xfrm>
                <a:off x="7097713" y="57832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0" name="Line 514"/>
              <p:cNvSpPr>
                <a:spLocks noChangeShapeType="1"/>
              </p:cNvSpPr>
              <p:nvPr/>
            </p:nvSpPr>
            <p:spPr bwMode="auto">
              <a:xfrm>
                <a:off x="7112000" y="57991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1" name="Line 515"/>
              <p:cNvSpPr>
                <a:spLocks noChangeShapeType="1"/>
              </p:cNvSpPr>
              <p:nvPr/>
            </p:nvSpPr>
            <p:spPr bwMode="auto">
              <a:xfrm>
                <a:off x="7126289" y="5816601"/>
                <a:ext cx="15875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2" name="Line 516"/>
              <p:cNvSpPr>
                <a:spLocks noChangeShapeType="1"/>
              </p:cNvSpPr>
              <p:nvPr/>
            </p:nvSpPr>
            <p:spPr bwMode="auto">
              <a:xfrm>
                <a:off x="7142163" y="5826126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3" name="Line 517"/>
              <p:cNvSpPr>
                <a:spLocks noChangeShapeType="1"/>
              </p:cNvSpPr>
              <p:nvPr/>
            </p:nvSpPr>
            <p:spPr bwMode="auto">
              <a:xfrm>
                <a:off x="7156450" y="5842001"/>
                <a:ext cx="12700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4" name="Line 518"/>
              <p:cNvSpPr>
                <a:spLocks noChangeShapeType="1"/>
              </p:cNvSpPr>
              <p:nvPr/>
            </p:nvSpPr>
            <p:spPr bwMode="auto">
              <a:xfrm>
                <a:off x="7169151" y="5851526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5" name="Line 519"/>
              <p:cNvSpPr>
                <a:spLocks noChangeShapeType="1"/>
              </p:cNvSpPr>
              <p:nvPr/>
            </p:nvSpPr>
            <p:spPr bwMode="auto">
              <a:xfrm>
                <a:off x="7185025" y="58689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6" name="Line 520"/>
              <p:cNvSpPr>
                <a:spLocks noChangeShapeType="1"/>
              </p:cNvSpPr>
              <p:nvPr/>
            </p:nvSpPr>
            <p:spPr bwMode="auto">
              <a:xfrm>
                <a:off x="7199313" y="58753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7" name="Line 521"/>
              <p:cNvSpPr>
                <a:spLocks noChangeShapeType="1"/>
              </p:cNvSpPr>
              <p:nvPr/>
            </p:nvSpPr>
            <p:spPr bwMode="auto">
              <a:xfrm>
                <a:off x="7213600" y="58928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8" name="Line 522"/>
              <p:cNvSpPr>
                <a:spLocks noChangeShapeType="1"/>
              </p:cNvSpPr>
              <p:nvPr/>
            </p:nvSpPr>
            <p:spPr bwMode="auto">
              <a:xfrm>
                <a:off x="7227889" y="5902325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9" name="Line 523"/>
              <p:cNvSpPr>
                <a:spLocks noChangeShapeType="1"/>
              </p:cNvSpPr>
              <p:nvPr/>
            </p:nvSpPr>
            <p:spPr bwMode="auto">
              <a:xfrm>
                <a:off x="7243763" y="59102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0" name="Line 524"/>
              <p:cNvSpPr>
                <a:spLocks noChangeShapeType="1"/>
              </p:cNvSpPr>
              <p:nvPr/>
            </p:nvSpPr>
            <p:spPr bwMode="auto">
              <a:xfrm>
                <a:off x="7258050" y="59197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1" name="Line 525"/>
              <p:cNvSpPr>
                <a:spLocks noChangeShapeType="1"/>
              </p:cNvSpPr>
              <p:nvPr/>
            </p:nvSpPr>
            <p:spPr bwMode="auto">
              <a:xfrm>
                <a:off x="7272338" y="5926139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2" name="Line 526"/>
              <p:cNvSpPr>
                <a:spLocks noChangeShapeType="1"/>
              </p:cNvSpPr>
              <p:nvPr/>
            </p:nvSpPr>
            <p:spPr bwMode="auto">
              <a:xfrm>
                <a:off x="7286626" y="59356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3" name="Line 527"/>
              <p:cNvSpPr>
                <a:spLocks noChangeShapeType="1"/>
              </p:cNvSpPr>
              <p:nvPr/>
            </p:nvSpPr>
            <p:spPr bwMode="auto">
              <a:xfrm>
                <a:off x="7302500" y="59436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4" name="Line 528"/>
              <p:cNvSpPr>
                <a:spLocks noChangeShapeType="1"/>
              </p:cNvSpPr>
              <p:nvPr/>
            </p:nvSpPr>
            <p:spPr bwMode="auto">
              <a:xfrm>
                <a:off x="7316788" y="59531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5" name="Line 529"/>
              <p:cNvSpPr>
                <a:spLocks noChangeShapeType="1"/>
              </p:cNvSpPr>
              <p:nvPr/>
            </p:nvSpPr>
            <p:spPr bwMode="auto">
              <a:xfrm>
                <a:off x="7331076" y="59610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6" name="Line 530"/>
              <p:cNvSpPr>
                <a:spLocks noChangeShapeType="1"/>
              </p:cNvSpPr>
              <p:nvPr/>
            </p:nvSpPr>
            <p:spPr bwMode="auto">
              <a:xfrm>
                <a:off x="7346950" y="5969001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7" name="Line 531"/>
              <p:cNvSpPr>
                <a:spLocks noChangeShapeType="1"/>
              </p:cNvSpPr>
              <p:nvPr/>
            </p:nvSpPr>
            <p:spPr bwMode="auto">
              <a:xfrm>
                <a:off x="7361238" y="59785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8" name="Freeform 532"/>
              <p:cNvSpPr>
                <a:spLocks/>
              </p:cNvSpPr>
              <p:nvPr/>
            </p:nvSpPr>
            <p:spPr bwMode="auto">
              <a:xfrm>
                <a:off x="7375526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9" name="Line 533"/>
              <p:cNvSpPr>
                <a:spLocks noChangeShapeType="1"/>
              </p:cNvSpPr>
              <p:nvPr/>
            </p:nvSpPr>
            <p:spPr bwMode="auto">
              <a:xfrm>
                <a:off x="7397750" y="59864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0" name="Line 534"/>
              <p:cNvSpPr>
                <a:spLocks noChangeShapeType="1"/>
              </p:cNvSpPr>
              <p:nvPr/>
            </p:nvSpPr>
            <p:spPr bwMode="auto">
              <a:xfrm>
                <a:off x="7412039" y="5995988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1" name="Line 535"/>
              <p:cNvSpPr>
                <a:spLocks noChangeShapeType="1"/>
              </p:cNvSpPr>
              <p:nvPr/>
            </p:nvSpPr>
            <p:spPr bwMode="auto">
              <a:xfrm>
                <a:off x="7427913" y="60039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2" name="Line 536"/>
              <p:cNvSpPr>
                <a:spLocks noChangeShapeType="1"/>
              </p:cNvSpPr>
              <p:nvPr/>
            </p:nvSpPr>
            <p:spPr bwMode="auto">
              <a:xfrm>
                <a:off x="7442200" y="6003925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3" name="Line 537"/>
              <p:cNvSpPr>
                <a:spLocks noChangeShapeType="1"/>
              </p:cNvSpPr>
              <p:nvPr/>
            </p:nvSpPr>
            <p:spPr bwMode="auto">
              <a:xfrm>
                <a:off x="7456488" y="60118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4" name="Line 538"/>
              <p:cNvSpPr>
                <a:spLocks noChangeShapeType="1"/>
              </p:cNvSpPr>
              <p:nvPr/>
            </p:nvSpPr>
            <p:spPr bwMode="auto">
              <a:xfrm>
                <a:off x="7470776" y="60198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5" name="Freeform 539"/>
              <p:cNvSpPr>
                <a:spLocks/>
              </p:cNvSpPr>
              <p:nvPr/>
            </p:nvSpPr>
            <p:spPr bwMode="auto">
              <a:xfrm>
                <a:off x="7486650" y="60198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6" name="Line 540"/>
              <p:cNvSpPr>
                <a:spLocks noChangeShapeType="1"/>
              </p:cNvSpPr>
              <p:nvPr/>
            </p:nvSpPr>
            <p:spPr bwMode="auto">
              <a:xfrm>
                <a:off x="7500938" y="60293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7" name="Freeform 541"/>
              <p:cNvSpPr>
                <a:spLocks/>
              </p:cNvSpPr>
              <p:nvPr/>
            </p:nvSpPr>
            <p:spPr bwMode="auto">
              <a:xfrm>
                <a:off x="7515225" y="60293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5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5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8" name="Line 542"/>
              <p:cNvSpPr>
                <a:spLocks noChangeShapeType="1"/>
              </p:cNvSpPr>
              <p:nvPr/>
            </p:nvSpPr>
            <p:spPr bwMode="auto">
              <a:xfrm>
                <a:off x="7529514" y="60372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9" name="Line 543"/>
              <p:cNvSpPr>
                <a:spLocks noChangeShapeType="1"/>
              </p:cNvSpPr>
              <p:nvPr/>
            </p:nvSpPr>
            <p:spPr bwMode="auto">
              <a:xfrm>
                <a:off x="7545388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0" name="Freeform 544"/>
              <p:cNvSpPr>
                <a:spLocks/>
              </p:cNvSpPr>
              <p:nvPr/>
            </p:nvSpPr>
            <p:spPr bwMode="auto">
              <a:xfrm>
                <a:off x="7559675" y="6037264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5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5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1" name="Line 545"/>
              <p:cNvSpPr>
                <a:spLocks noChangeShapeType="1"/>
              </p:cNvSpPr>
              <p:nvPr/>
            </p:nvSpPr>
            <p:spPr bwMode="auto">
              <a:xfrm>
                <a:off x="7573964" y="6046788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2" name="Freeform 546"/>
              <p:cNvSpPr>
                <a:spLocks/>
              </p:cNvSpPr>
              <p:nvPr/>
            </p:nvSpPr>
            <p:spPr bwMode="auto">
              <a:xfrm>
                <a:off x="7589838" y="6046788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3" name="Line 547"/>
              <p:cNvSpPr>
                <a:spLocks noChangeShapeType="1"/>
              </p:cNvSpPr>
              <p:nvPr/>
            </p:nvSpPr>
            <p:spPr bwMode="auto">
              <a:xfrm>
                <a:off x="7604125" y="60547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4" name="Line 548"/>
              <p:cNvSpPr>
                <a:spLocks noChangeShapeType="1"/>
              </p:cNvSpPr>
              <p:nvPr/>
            </p:nvSpPr>
            <p:spPr bwMode="auto">
              <a:xfrm>
                <a:off x="7618413" y="60547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5" name="Line 549"/>
              <p:cNvSpPr>
                <a:spLocks noChangeShapeType="1"/>
              </p:cNvSpPr>
              <p:nvPr/>
            </p:nvSpPr>
            <p:spPr bwMode="auto">
              <a:xfrm>
                <a:off x="7632701" y="60547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6" name="Freeform 550"/>
              <p:cNvSpPr>
                <a:spLocks/>
              </p:cNvSpPr>
              <p:nvPr/>
            </p:nvSpPr>
            <p:spPr bwMode="auto">
              <a:xfrm>
                <a:off x="7648575" y="6054725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7" name="Line 551"/>
              <p:cNvSpPr>
                <a:spLocks noChangeShapeType="1"/>
              </p:cNvSpPr>
              <p:nvPr/>
            </p:nvSpPr>
            <p:spPr bwMode="auto">
              <a:xfrm>
                <a:off x="7662863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8" name="Line 552"/>
              <p:cNvSpPr>
                <a:spLocks noChangeShapeType="1"/>
              </p:cNvSpPr>
              <p:nvPr/>
            </p:nvSpPr>
            <p:spPr bwMode="auto">
              <a:xfrm>
                <a:off x="7677150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9" name="Line 553"/>
              <p:cNvSpPr>
                <a:spLocks noChangeShapeType="1"/>
              </p:cNvSpPr>
              <p:nvPr/>
            </p:nvSpPr>
            <p:spPr bwMode="auto">
              <a:xfrm>
                <a:off x="7691439" y="60626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0" name="Freeform 554"/>
              <p:cNvSpPr>
                <a:spLocks/>
              </p:cNvSpPr>
              <p:nvPr/>
            </p:nvSpPr>
            <p:spPr bwMode="auto">
              <a:xfrm>
                <a:off x="7707313" y="6062663"/>
                <a:ext cx="14288" cy="7938"/>
              </a:xfrm>
              <a:custGeom>
                <a:avLst/>
                <a:gdLst>
                  <a:gd name="T0" fmla="*/ 0 w 9"/>
                  <a:gd name="T1" fmla="*/ 0 h 5"/>
                  <a:gd name="T2" fmla="*/ 4 w 9"/>
                  <a:gd name="T3" fmla="*/ 0 h 5"/>
                  <a:gd name="T4" fmla="*/ 9 w 9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4" y="0"/>
                    </a:lnTo>
                    <a:lnTo>
                      <a:pt x="9" y="5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1" name="Line 555"/>
              <p:cNvSpPr>
                <a:spLocks noChangeShapeType="1"/>
              </p:cNvSpPr>
              <p:nvPr/>
            </p:nvSpPr>
            <p:spPr bwMode="auto">
              <a:xfrm>
                <a:off x="7721600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2" name="Line 556"/>
              <p:cNvSpPr>
                <a:spLocks noChangeShapeType="1"/>
              </p:cNvSpPr>
              <p:nvPr/>
            </p:nvSpPr>
            <p:spPr bwMode="auto">
              <a:xfrm>
                <a:off x="7735889" y="60706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3" name="Line 557"/>
              <p:cNvSpPr>
                <a:spLocks noChangeShapeType="1"/>
              </p:cNvSpPr>
              <p:nvPr/>
            </p:nvSpPr>
            <p:spPr bwMode="auto">
              <a:xfrm>
                <a:off x="7751763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4" name="Line 558"/>
              <p:cNvSpPr>
                <a:spLocks noChangeShapeType="1"/>
              </p:cNvSpPr>
              <p:nvPr/>
            </p:nvSpPr>
            <p:spPr bwMode="auto">
              <a:xfrm>
                <a:off x="7766050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5" name="Line 559"/>
              <p:cNvSpPr>
                <a:spLocks noChangeShapeType="1"/>
              </p:cNvSpPr>
              <p:nvPr/>
            </p:nvSpPr>
            <p:spPr bwMode="auto">
              <a:xfrm>
                <a:off x="7780338" y="6070600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6" name="Line 560"/>
              <p:cNvSpPr>
                <a:spLocks noChangeShapeType="1"/>
              </p:cNvSpPr>
              <p:nvPr/>
            </p:nvSpPr>
            <p:spPr bwMode="auto">
              <a:xfrm>
                <a:off x="7794626" y="6070600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7" name="Freeform 561"/>
              <p:cNvSpPr>
                <a:spLocks/>
              </p:cNvSpPr>
              <p:nvPr/>
            </p:nvSpPr>
            <p:spPr bwMode="auto">
              <a:xfrm>
                <a:off x="7810500" y="6070601"/>
                <a:ext cx="14288" cy="9525"/>
              </a:xfrm>
              <a:custGeom>
                <a:avLst/>
                <a:gdLst>
                  <a:gd name="T0" fmla="*/ 0 w 9"/>
                  <a:gd name="T1" fmla="*/ 0 h 6"/>
                  <a:gd name="T2" fmla="*/ 4 w 9"/>
                  <a:gd name="T3" fmla="*/ 0 h 6"/>
                  <a:gd name="T4" fmla="*/ 9 w 9"/>
                  <a:gd name="T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lnTo>
                      <a:pt x="4" y="0"/>
                    </a:lnTo>
                    <a:lnTo>
                      <a:pt x="9" y="6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8" name="Line 562"/>
              <p:cNvSpPr>
                <a:spLocks noChangeShapeType="1"/>
              </p:cNvSpPr>
              <p:nvPr/>
            </p:nvSpPr>
            <p:spPr bwMode="auto">
              <a:xfrm>
                <a:off x="782478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9" name="Line 563"/>
              <p:cNvSpPr>
                <a:spLocks noChangeShapeType="1"/>
              </p:cNvSpPr>
              <p:nvPr/>
            </p:nvSpPr>
            <p:spPr bwMode="auto">
              <a:xfrm>
                <a:off x="783907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0" name="Line 564"/>
              <p:cNvSpPr>
                <a:spLocks noChangeShapeType="1"/>
              </p:cNvSpPr>
              <p:nvPr/>
            </p:nvSpPr>
            <p:spPr bwMode="auto">
              <a:xfrm>
                <a:off x="7853364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1" name="Line 565"/>
              <p:cNvSpPr>
                <a:spLocks noChangeShapeType="1"/>
              </p:cNvSpPr>
              <p:nvPr/>
            </p:nvSpPr>
            <p:spPr bwMode="auto">
              <a:xfrm>
                <a:off x="786923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2" name="Line 566"/>
              <p:cNvSpPr>
                <a:spLocks noChangeShapeType="1"/>
              </p:cNvSpPr>
              <p:nvPr/>
            </p:nvSpPr>
            <p:spPr bwMode="auto">
              <a:xfrm>
                <a:off x="788352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3" name="Line 567"/>
              <p:cNvSpPr>
                <a:spLocks noChangeShapeType="1"/>
              </p:cNvSpPr>
              <p:nvPr/>
            </p:nvSpPr>
            <p:spPr bwMode="auto">
              <a:xfrm>
                <a:off x="7897814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4" name="Line 568"/>
              <p:cNvSpPr>
                <a:spLocks noChangeShapeType="1"/>
              </p:cNvSpPr>
              <p:nvPr/>
            </p:nvSpPr>
            <p:spPr bwMode="auto">
              <a:xfrm>
                <a:off x="7913688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5" name="Line 569"/>
              <p:cNvSpPr>
                <a:spLocks noChangeShapeType="1"/>
              </p:cNvSpPr>
              <p:nvPr/>
            </p:nvSpPr>
            <p:spPr bwMode="auto">
              <a:xfrm>
                <a:off x="7927975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6" name="Line 570"/>
              <p:cNvSpPr>
                <a:spLocks noChangeShapeType="1"/>
              </p:cNvSpPr>
              <p:nvPr/>
            </p:nvSpPr>
            <p:spPr bwMode="auto">
              <a:xfrm>
                <a:off x="7942263" y="6080125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7" name="Line 571"/>
              <p:cNvSpPr>
                <a:spLocks noChangeShapeType="1"/>
              </p:cNvSpPr>
              <p:nvPr/>
            </p:nvSpPr>
            <p:spPr bwMode="auto">
              <a:xfrm>
                <a:off x="7956551" y="6080125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8" name="Freeform 572"/>
              <p:cNvSpPr>
                <a:spLocks/>
              </p:cNvSpPr>
              <p:nvPr/>
            </p:nvSpPr>
            <p:spPr bwMode="auto">
              <a:xfrm>
                <a:off x="7972426" y="6080125"/>
                <a:ext cx="22225" cy="0"/>
              </a:xfrm>
              <a:custGeom>
                <a:avLst/>
                <a:gdLst>
                  <a:gd name="T0" fmla="*/ 0 w 14"/>
                  <a:gd name="T1" fmla="*/ 4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4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9" name="Line 294"/>
              <p:cNvSpPr>
                <a:spLocks noChangeShapeType="1"/>
              </p:cNvSpPr>
              <p:nvPr/>
            </p:nvSpPr>
            <p:spPr bwMode="auto">
              <a:xfrm>
                <a:off x="385603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0" name="Line 295"/>
              <p:cNvSpPr>
                <a:spLocks noChangeShapeType="1"/>
              </p:cNvSpPr>
              <p:nvPr/>
            </p:nvSpPr>
            <p:spPr bwMode="auto">
              <a:xfrm>
                <a:off x="3870326" y="60801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1" name="Line 296"/>
              <p:cNvSpPr>
                <a:spLocks noChangeShapeType="1"/>
              </p:cNvSpPr>
              <p:nvPr/>
            </p:nvSpPr>
            <p:spPr bwMode="auto">
              <a:xfrm>
                <a:off x="3886200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2" name="Line 297"/>
              <p:cNvSpPr>
                <a:spLocks noChangeShapeType="1"/>
              </p:cNvSpPr>
              <p:nvPr/>
            </p:nvSpPr>
            <p:spPr bwMode="auto">
              <a:xfrm>
                <a:off x="390048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3" name="Line 298"/>
              <p:cNvSpPr>
                <a:spLocks noChangeShapeType="1"/>
              </p:cNvSpPr>
              <p:nvPr/>
            </p:nvSpPr>
            <p:spPr bwMode="auto">
              <a:xfrm>
                <a:off x="3914775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4" name="Line 299"/>
              <p:cNvSpPr>
                <a:spLocks noChangeShapeType="1"/>
              </p:cNvSpPr>
              <p:nvPr/>
            </p:nvSpPr>
            <p:spPr bwMode="auto">
              <a:xfrm>
                <a:off x="3929064" y="60801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5" name="Line 300"/>
              <p:cNvSpPr>
                <a:spLocks noChangeShapeType="1"/>
              </p:cNvSpPr>
              <p:nvPr/>
            </p:nvSpPr>
            <p:spPr bwMode="auto">
              <a:xfrm>
                <a:off x="3944938" y="60801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6" name="Freeform 301"/>
              <p:cNvSpPr>
                <a:spLocks/>
              </p:cNvSpPr>
              <p:nvPr/>
            </p:nvSpPr>
            <p:spPr bwMode="auto">
              <a:xfrm>
                <a:off x="3959225" y="60706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7" name="Line 302"/>
              <p:cNvSpPr>
                <a:spLocks noChangeShapeType="1"/>
              </p:cNvSpPr>
              <p:nvPr/>
            </p:nvSpPr>
            <p:spPr bwMode="auto">
              <a:xfrm>
                <a:off x="3973514" y="60706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8" name="Line 303"/>
              <p:cNvSpPr>
                <a:spLocks noChangeShapeType="1"/>
              </p:cNvSpPr>
              <p:nvPr/>
            </p:nvSpPr>
            <p:spPr bwMode="auto">
              <a:xfrm>
                <a:off x="3989388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9" name="Line 304"/>
              <p:cNvSpPr>
                <a:spLocks noChangeShapeType="1"/>
              </p:cNvSpPr>
              <p:nvPr/>
            </p:nvSpPr>
            <p:spPr bwMode="auto">
              <a:xfrm>
                <a:off x="4003675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0" name="Line 305"/>
              <p:cNvSpPr>
                <a:spLocks noChangeShapeType="1"/>
              </p:cNvSpPr>
              <p:nvPr/>
            </p:nvSpPr>
            <p:spPr bwMode="auto">
              <a:xfrm>
                <a:off x="4017963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1" name="Line 306"/>
              <p:cNvSpPr>
                <a:spLocks noChangeShapeType="1"/>
              </p:cNvSpPr>
              <p:nvPr/>
            </p:nvSpPr>
            <p:spPr bwMode="auto">
              <a:xfrm>
                <a:off x="4032251" y="60706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2" name="Line 307"/>
              <p:cNvSpPr>
                <a:spLocks noChangeShapeType="1"/>
              </p:cNvSpPr>
              <p:nvPr/>
            </p:nvSpPr>
            <p:spPr bwMode="auto">
              <a:xfrm>
                <a:off x="4048125" y="6070601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3" name="Freeform 308"/>
              <p:cNvSpPr>
                <a:spLocks/>
              </p:cNvSpPr>
              <p:nvPr/>
            </p:nvSpPr>
            <p:spPr bwMode="auto">
              <a:xfrm>
                <a:off x="4062413" y="6062663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4" name="Line 309"/>
              <p:cNvSpPr>
                <a:spLocks noChangeShapeType="1"/>
              </p:cNvSpPr>
              <p:nvPr/>
            </p:nvSpPr>
            <p:spPr bwMode="auto">
              <a:xfrm>
                <a:off x="4076700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5" name="Line 310"/>
              <p:cNvSpPr>
                <a:spLocks noChangeShapeType="1"/>
              </p:cNvSpPr>
              <p:nvPr/>
            </p:nvSpPr>
            <p:spPr bwMode="auto">
              <a:xfrm>
                <a:off x="4090989" y="6062663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6" name="Line 311"/>
              <p:cNvSpPr>
                <a:spLocks noChangeShapeType="1"/>
              </p:cNvSpPr>
              <p:nvPr/>
            </p:nvSpPr>
            <p:spPr bwMode="auto">
              <a:xfrm>
                <a:off x="4106863" y="60626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7" name="Freeform 312"/>
              <p:cNvSpPr>
                <a:spLocks/>
              </p:cNvSpPr>
              <p:nvPr/>
            </p:nvSpPr>
            <p:spPr bwMode="auto">
              <a:xfrm>
                <a:off x="4121150" y="6054726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8" name="Line 313"/>
              <p:cNvSpPr>
                <a:spLocks noChangeShapeType="1"/>
              </p:cNvSpPr>
              <p:nvPr/>
            </p:nvSpPr>
            <p:spPr bwMode="auto">
              <a:xfrm>
                <a:off x="4135439" y="6054726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9" name="Line 314"/>
              <p:cNvSpPr>
                <a:spLocks noChangeShapeType="1"/>
              </p:cNvSpPr>
              <p:nvPr/>
            </p:nvSpPr>
            <p:spPr bwMode="auto">
              <a:xfrm>
                <a:off x="4151313" y="60547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0" name="Line 315"/>
              <p:cNvSpPr>
                <a:spLocks noChangeShapeType="1"/>
              </p:cNvSpPr>
              <p:nvPr/>
            </p:nvSpPr>
            <p:spPr bwMode="auto">
              <a:xfrm>
                <a:off x="4165600" y="60547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1" name="Freeform 316"/>
              <p:cNvSpPr>
                <a:spLocks/>
              </p:cNvSpPr>
              <p:nvPr/>
            </p:nvSpPr>
            <p:spPr bwMode="auto">
              <a:xfrm>
                <a:off x="4179888" y="6046788"/>
                <a:ext cx="14288" cy="7938"/>
              </a:xfrm>
              <a:custGeom>
                <a:avLst/>
                <a:gdLst>
                  <a:gd name="T0" fmla="*/ 0 w 9"/>
                  <a:gd name="T1" fmla="*/ 5 h 5"/>
                  <a:gd name="T2" fmla="*/ 5 w 9"/>
                  <a:gd name="T3" fmla="*/ 0 h 5"/>
                  <a:gd name="T4" fmla="*/ 9 w 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5">
                    <a:moveTo>
                      <a:pt x="0" y="5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2" name="Line 317"/>
              <p:cNvSpPr>
                <a:spLocks noChangeShapeType="1"/>
              </p:cNvSpPr>
              <p:nvPr/>
            </p:nvSpPr>
            <p:spPr bwMode="auto">
              <a:xfrm>
                <a:off x="4194176" y="6046788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3" name="Freeform 318"/>
              <p:cNvSpPr>
                <a:spLocks/>
              </p:cNvSpPr>
              <p:nvPr/>
            </p:nvSpPr>
            <p:spPr bwMode="auto">
              <a:xfrm>
                <a:off x="4210050" y="6037264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4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4" name="Line 319"/>
              <p:cNvSpPr>
                <a:spLocks noChangeShapeType="1"/>
              </p:cNvSpPr>
              <p:nvPr/>
            </p:nvSpPr>
            <p:spPr bwMode="auto">
              <a:xfrm>
                <a:off x="4224338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5" name="Line 320"/>
              <p:cNvSpPr>
                <a:spLocks noChangeShapeType="1"/>
              </p:cNvSpPr>
              <p:nvPr/>
            </p:nvSpPr>
            <p:spPr bwMode="auto">
              <a:xfrm>
                <a:off x="4238625" y="6037263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6" name="Freeform 321"/>
              <p:cNvSpPr>
                <a:spLocks/>
              </p:cNvSpPr>
              <p:nvPr/>
            </p:nvSpPr>
            <p:spPr bwMode="auto">
              <a:xfrm>
                <a:off x="4252914" y="6029326"/>
                <a:ext cx="15875" cy="7938"/>
              </a:xfrm>
              <a:custGeom>
                <a:avLst/>
                <a:gdLst>
                  <a:gd name="T0" fmla="*/ 0 w 10"/>
                  <a:gd name="T1" fmla="*/ 5 h 5"/>
                  <a:gd name="T2" fmla="*/ 5 w 10"/>
                  <a:gd name="T3" fmla="*/ 0 h 5"/>
                  <a:gd name="T4" fmla="*/ 10 w 10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5">
                    <a:moveTo>
                      <a:pt x="0" y="5"/>
                    </a:moveTo>
                    <a:lnTo>
                      <a:pt x="5" y="0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7" name="Line 322"/>
              <p:cNvSpPr>
                <a:spLocks noChangeShapeType="1"/>
              </p:cNvSpPr>
              <p:nvPr/>
            </p:nvSpPr>
            <p:spPr bwMode="auto">
              <a:xfrm>
                <a:off x="4268788" y="60293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8" name="Freeform 323"/>
              <p:cNvSpPr>
                <a:spLocks/>
              </p:cNvSpPr>
              <p:nvPr/>
            </p:nvSpPr>
            <p:spPr bwMode="auto">
              <a:xfrm>
                <a:off x="4283075" y="6019802"/>
                <a:ext cx="14288" cy="9525"/>
              </a:xfrm>
              <a:custGeom>
                <a:avLst/>
                <a:gdLst>
                  <a:gd name="T0" fmla="*/ 0 w 9"/>
                  <a:gd name="T1" fmla="*/ 6 h 6"/>
                  <a:gd name="T2" fmla="*/ 5 w 9"/>
                  <a:gd name="T3" fmla="*/ 0 h 6"/>
                  <a:gd name="T4" fmla="*/ 9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6"/>
                    </a:move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9" name="Line 324"/>
              <p:cNvSpPr>
                <a:spLocks noChangeShapeType="1"/>
              </p:cNvSpPr>
              <p:nvPr/>
            </p:nvSpPr>
            <p:spPr bwMode="auto">
              <a:xfrm>
                <a:off x="4297364" y="6019801"/>
                <a:ext cx="15875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0" name="Line 325"/>
              <p:cNvSpPr>
                <a:spLocks noChangeShapeType="1"/>
              </p:cNvSpPr>
              <p:nvPr/>
            </p:nvSpPr>
            <p:spPr bwMode="auto">
              <a:xfrm flipV="1">
                <a:off x="4313238" y="60118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1" name="Line 326"/>
              <p:cNvSpPr>
                <a:spLocks noChangeShapeType="1"/>
              </p:cNvSpPr>
              <p:nvPr/>
            </p:nvSpPr>
            <p:spPr bwMode="auto">
              <a:xfrm flipV="1">
                <a:off x="4327525" y="60039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2" name="Line 327"/>
              <p:cNvSpPr>
                <a:spLocks noChangeShapeType="1"/>
              </p:cNvSpPr>
              <p:nvPr/>
            </p:nvSpPr>
            <p:spPr bwMode="auto">
              <a:xfrm>
                <a:off x="4341813" y="6003926"/>
                <a:ext cx="14288" cy="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3" name="Line 328"/>
              <p:cNvSpPr>
                <a:spLocks noChangeShapeType="1"/>
              </p:cNvSpPr>
              <p:nvPr/>
            </p:nvSpPr>
            <p:spPr bwMode="auto">
              <a:xfrm flipV="1">
                <a:off x="4356101" y="5995988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4" name="Line 329"/>
              <p:cNvSpPr>
                <a:spLocks noChangeShapeType="1"/>
              </p:cNvSpPr>
              <p:nvPr/>
            </p:nvSpPr>
            <p:spPr bwMode="auto">
              <a:xfrm flipV="1">
                <a:off x="4371975" y="59864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5" name="Freeform 330"/>
              <p:cNvSpPr>
                <a:spLocks/>
              </p:cNvSpPr>
              <p:nvPr/>
            </p:nvSpPr>
            <p:spPr bwMode="auto">
              <a:xfrm>
                <a:off x="4386264" y="5986463"/>
                <a:ext cx="22225" cy="0"/>
              </a:xfrm>
              <a:custGeom>
                <a:avLst/>
                <a:gdLst>
                  <a:gd name="T0" fmla="*/ 0 w 14"/>
                  <a:gd name="T1" fmla="*/ 5 w 14"/>
                  <a:gd name="T2" fmla="*/ 14 w 1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4">
                    <a:moveTo>
                      <a:pt x="0" y="0"/>
                    </a:moveTo>
                    <a:lnTo>
                      <a:pt x="5" y="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6" name="Line 331"/>
              <p:cNvSpPr>
                <a:spLocks noChangeShapeType="1"/>
              </p:cNvSpPr>
              <p:nvPr/>
            </p:nvSpPr>
            <p:spPr bwMode="auto">
              <a:xfrm flipV="1">
                <a:off x="4408488" y="59785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7" name="Line 332"/>
              <p:cNvSpPr>
                <a:spLocks noChangeShapeType="1"/>
              </p:cNvSpPr>
              <p:nvPr/>
            </p:nvSpPr>
            <p:spPr bwMode="auto">
              <a:xfrm flipV="1">
                <a:off x="4422775" y="59690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8" name="Line 333"/>
              <p:cNvSpPr>
                <a:spLocks noChangeShapeType="1"/>
              </p:cNvSpPr>
              <p:nvPr/>
            </p:nvSpPr>
            <p:spPr bwMode="auto">
              <a:xfrm flipV="1">
                <a:off x="4437064" y="5961063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9" name="Line 334"/>
              <p:cNvSpPr>
                <a:spLocks noChangeShapeType="1"/>
              </p:cNvSpPr>
              <p:nvPr/>
            </p:nvSpPr>
            <p:spPr bwMode="auto">
              <a:xfrm flipV="1">
                <a:off x="4452938" y="5953126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0" name="Line 335"/>
              <p:cNvSpPr>
                <a:spLocks noChangeShapeType="1"/>
              </p:cNvSpPr>
              <p:nvPr/>
            </p:nvSpPr>
            <p:spPr bwMode="auto">
              <a:xfrm flipV="1">
                <a:off x="4467225" y="59436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1" name="Line 336"/>
              <p:cNvSpPr>
                <a:spLocks noChangeShapeType="1"/>
              </p:cNvSpPr>
              <p:nvPr/>
            </p:nvSpPr>
            <p:spPr bwMode="auto">
              <a:xfrm flipV="1">
                <a:off x="4481513" y="5935663"/>
                <a:ext cx="14288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2" name="Line 337"/>
              <p:cNvSpPr>
                <a:spLocks noChangeShapeType="1"/>
              </p:cNvSpPr>
              <p:nvPr/>
            </p:nvSpPr>
            <p:spPr bwMode="auto">
              <a:xfrm flipV="1">
                <a:off x="4495801" y="5926139"/>
                <a:ext cx="15875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3" name="Line 338"/>
              <p:cNvSpPr>
                <a:spLocks noChangeShapeType="1"/>
              </p:cNvSpPr>
              <p:nvPr/>
            </p:nvSpPr>
            <p:spPr bwMode="auto">
              <a:xfrm flipV="1">
                <a:off x="4511675" y="59197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4" name="Line 339"/>
              <p:cNvSpPr>
                <a:spLocks noChangeShapeType="1"/>
              </p:cNvSpPr>
              <p:nvPr/>
            </p:nvSpPr>
            <p:spPr bwMode="auto">
              <a:xfrm flipV="1">
                <a:off x="4525963" y="5910264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5" name="Line 340"/>
              <p:cNvSpPr>
                <a:spLocks noChangeShapeType="1"/>
              </p:cNvSpPr>
              <p:nvPr/>
            </p:nvSpPr>
            <p:spPr bwMode="auto">
              <a:xfrm flipV="1">
                <a:off x="4540251" y="5902326"/>
                <a:ext cx="15875" cy="79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6" name="Line 341"/>
              <p:cNvSpPr>
                <a:spLocks noChangeShapeType="1"/>
              </p:cNvSpPr>
              <p:nvPr/>
            </p:nvSpPr>
            <p:spPr bwMode="auto">
              <a:xfrm flipV="1">
                <a:off x="4556125" y="58928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7" name="Line 342"/>
              <p:cNvSpPr>
                <a:spLocks noChangeShapeType="1"/>
              </p:cNvSpPr>
              <p:nvPr/>
            </p:nvSpPr>
            <p:spPr bwMode="auto">
              <a:xfrm flipV="1">
                <a:off x="4570413" y="58753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8" name="Line 343"/>
              <p:cNvSpPr>
                <a:spLocks noChangeShapeType="1"/>
              </p:cNvSpPr>
              <p:nvPr/>
            </p:nvSpPr>
            <p:spPr bwMode="auto">
              <a:xfrm flipV="1">
                <a:off x="4584700" y="5868988"/>
                <a:ext cx="14288" cy="63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9" name="Line 344"/>
              <p:cNvSpPr>
                <a:spLocks noChangeShapeType="1"/>
              </p:cNvSpPr>
              <p:nvPr/>
            </p:nvSpPr>
            <p:spPr bwMode="auto">
              <a:xfrm flipV="1">
                <a:off x="4598989" y="5851527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0" name="Line 345"/>
              <p:cNvSpPr>
                <a:spLocks noChangeShapeType="1"/>
              </p:cNvSpPr>
              <p:nvPr/>
            </p:nvSpPr>
            <p:spPr bwMode="auto">
              <a:xfrm flipV="1">
                <a:off x="4614863" y="5842002"/>
                <a:ext cx="12700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1" name="Line 346"/>
              <p:cNvSpPr>
                <a:spLocks noChangeShapeType="1"/>
              </p:cNvSpPr>
              <p:nvPr/>
            </p:nvSpPr>
            <p:spPr bwMode="auto">
              <a:xfrm flipV="1">
                <a:off x="4627563" y="5826127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2" name="Line 347"/>
              <p:cNvSpPr>
                <a:spLocks noChangeShapeType="1"/>
              </p:cNvSpPr>
              <p:nvPr/>
            </p:nvSpPr>
            <p:spPr bwMode="auto">
              <a:xfrm flipV="1">
                <a:off x="4641850" y="5816602"/>
                <a:ext cx="14288" cy="95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3" name="Line 348"/>
              <p:cNvSpPr>
                <a:spLocks noChangeShapeType="1"/>
              </p:cNvSpPr>
              <p:nvPr/>
            </p:nvSpPr>
            <p:spPr bwMode="auto">
              <a:xfrm flipV="1">
                <a:off x="4656139" y="57991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4" name="Line 349"/>
              <p:cNvSpPr>
                <a:spLocks noChangeShapeType="1"/>
              </p:cNvSpPr>
              <p:nvPr/>
            </p:nvSpPr>
            <p:spPr bwMode="auto">
              <a:xfrm flipV="1">
                <a:off x="4672013" y="57832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5" name="Line 350"/>
              <p:cNvSpPr>
                <a:spLocks noChangeShapeType="1"/>
              </p:cNvSpPr>
              <p:nvPr/>
            </p:nvSpPr>
            <p:spPr bwMode="auto">
              <a:xfrm flipV="1">
                <a:off x="4686300" y="57658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6" name="Line 351"/>
              <p:cNvSpPr>
                <a:spLocks noChangeShapeType="1"/>
              </p:cNvSpPr>
              <p:nvPr/>
            </p:nvSpPr>
            <p:spPr bwMode="auto">
              <a:xfrm flipV="1">
                <a:off x="4700589" y="5748339"/>
                <a:ext cx="15875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7" name="Line 352"/>
              <p:cNvSpPr>
                <a:spLocks noChangeShapeType="1"/>
              </p:cNvSpPr>
              <p:nvPr/>
            </p:nvSpPr>
            <p:spPr bwMode="auto">
              <a:xfrm flipV="1">
                <a:off x="4716463" y="5732464"/>
                <a:ext cx="14288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8" name="Line 353"/>
              <p:cNvSpPr>
                <a:spLocks noChangeShapeType="1"/>
              </p:cNvSpPr>
              <p:nvPr/>
            </p:nvSpPr>
            <p:spPr bwMode="auto">
              <a:xfrm flipV="1">
                <a:off x="4730750" y="57150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9" name="Line 354"/>
              <p:cNvSpPr>
                <a:spLocks noChangeShapeType="1"/>
              </p:cNvSpPr>
              <p:nvPr/>
            </p:nvSpPr>
            <p:spPr bwMode="auto">
              <a:xfrm flipV="1">
                <a:off x="4745038" y="5697539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0" name="Line 355"/>
              <p:cNvSpPr>
                <a:spLocks noChangeShapeType="1"/>
              </p:cNvSpPr>
              <p:nvPr/>
            </p:nvSpPr>
            <p:spPr bwMode="auto">
              <a:xfrm flipV="1">
                <a:off x="4759326" y="5681664"/>
                <a:ext cx="15875" cy="1587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1" name="Line 356"/>
              <p:cNvSpPr>
                <a:spLocks noChangeShapeType="1"/>
              </p:cNvSpPr>
              <p:nvPr/>
            </p:nvSpPr>
            <p:spPr bwMode="auto">
              <a:xfrm flipV="1">
                <a:off x="4775200" y="5664202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2" name="Freeform 357"/>
              <p:cNvSpPr>
                <a:spLocks/>
              </p:cNvSpPr>
              <p:nvPr/>
            </p:nvSpPr>
            <p:spPr bwMode="auto">
              <a:xfrm>
                <a:off x="4789488" y="5640389"/>
                <a:ext cx="14288" cy="23813"/>
              </a:xfrm>
              <a:custGeom>
                <a:avLst/>
                <a:gdLst>
                  <a:gd name="T0" fmla="*/ 0 w 9"/>
                  <a:gd name="T1" fmla="*/ 15 h 15"/>
                  <a:gd name="T2" fmla="*/ 5 w 9"/>
                  <a:gd name="T3" fmla="*/ 4 h 15"/>
                  <a:gd name="T4" fmla="*/ 9 w 9"/>
                  <a:gd name="T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15">
                    <a:moveTo>
                      <a:pt x="0" y="15"/>
                    </a:moveTo>
                    <a:lnTo>
                      <a:pt x="5" y="4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3" name="Line 358"/>
              <p:cNvSpPr>
                <a:spLocks noChangeShapeType="1"/>
              </p:cNvSpPr>
              <p:nvPr/>
            </p:nvSpPr>
            <p:spPr bwMode="auto">
              <a:xfrm flipV="1">
                <a:off x="4803775" y="5622927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4" name="Freeform 359"/>
              <p:cNvSpPr>
                <a:spLocks/>
              </p:cNvSpPr>
              <p:nvPr/>
            </p:nvSpPr>
            <p:spPr bwMode="auto">
              <a:xfrm>
                <a:off x="4818064" y="5597526"/>
                <a:ext cx="15875" cy="25400"/>
              </a:xfrm>
              <a:custGeom>
                <a:avLst/>
                <a:gdLst>
                  <a:gd name="T0" fmla="*/ 0 w 10"/>
                  <a:gd name="T1" fmla="*/ 16 h 16"/>
                  <a:gd name="T2" fmla="*/ 5 w 10"/>
                  <a:gd name="T3" fmla="*/ 6 h 16"/>
                  <a:gd name="T4" fmla="*/ 10 w 10"/>
                  <a:gd name="T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6">
                    <a:moveTo>
                      <a:pt x="0" y="16"/>
                    </a:moveTo>
                    <a:lnTo>
                      <a:pt x="5" y="6"/>
                    </a:lnTo>
                    <a:lnTo>
                      <a:pt x="10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5" name="Line 360"/>
              <p:cNvSpPr>
                <a:spLocks noChangeShapeType="1"/>
              </p:cNvSpPr>
              <p:nvPr/>
            </p:nvSpPr>
            <p:spPr bwMode="auto">
              <a:xfrm flipV="1">
                <a:off x="4833938" y="5580064"/>
                <a:ext cx="14288" cy="174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6" name="Line 361"/>
              <p:cNvSpPr>
                <a:spLocks noChangeShapeType="1"/>
              </p:cNvSpPr>
              <p:nvPr/>
            </p:nvSpPr>
            <p:spPr bwMode="auto">
              <a:xfrm flipV="1">
                <a:off x="4848225" y="5556252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7" name="Line 362"/>
              <p:cNvSpPr>
                <a:spLocks noChangeShapeType="1"/>
              </p:cNvSpPr>
              <p:nvPr/>
            </p:nvSpPr>
            <p:spPr bwMode="auto">
              <a:xfrm flipV="1">
                <a:off x="4862514" y="5529263"/>
                <a:ext cx="15875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8" name="Line 363"/>
              <p:cNvSpPr>
                <a:spLocks noChangeShapeType="1"/>
              </p:cNvSpPr>
              <p:nvPr/>
            </p:nvSpPr>
            <p:spPr bwMode="auto">
              <a:xfrm flipV="1">
                <a:off x="4878388" y="5503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9" name="Line 364"/>
              <p:cNvSpPr>
                <a:spLocks noChangeShapeType="1"/>
              </p:cNvSpPr>
              <p:nvPr/>
            </p:nvSpPr>
            <p:spPr bwMode="auto">
              <a:xfrm flipV="1">
                <a:off x="4892675" y="5480052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0" name="Line 365"/>
              <p:cNvSpPr>
                <a:spLocks noChangeShapeType="1"/>
              </p:cNvSpPr>
              <p:nvPr/>
            </p:nvSpPr>
            <p:spPr bwMode="auto">
              <a:xfrm flipV="1">
                <a:off x="4906963" y="54530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1" name="Line 366"/>
              <p:cNvSpPr>
                <a:spLocks noChangeShapeType="1"/>
              </p:cNvSpPr>
              <p:nvPr/>
            </p:nvSpPr>
            <p:spPr bwMode="auto">
              <a:xfrm flipV="1">
                <a:off x="4921251" y="5429252"/>
                <a:ext cx="15875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2" name="Line 367"/>
              <p:cNvSpPr>
                <a:spLocks noChangeShapeType="1"/>
              </p:cNvSpPr>
              <p:nvPr/>
            </p:nvSpPr>
            <p:spPr bwMode="auto">
              <a:xfrm flipV="1">
                <a:off x="4937125" y="5402263"/>
                <a:ext cx="14288" cy="2698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3" name="Line 368"/>
              <p:cNvSpPr>
                <a:spLocks noChangeShapeType="1"/>
              </p:cNvSpPr>
              <p:nvPr/>
            </p:nvSpPr>
            <p:spPr bwMode="auto">
              <a:xfrm flipV="1">
                <a:off x="4951413" y="53768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4" name="Line 369"/>
              <p:cNvSpPr>
                <a:spLocks noChangeShapeType="1"/>
              </p:cNvSpPr>
              <p:nvPr/>
            </p:nvSpPr>
            <p:spPr bwMode="auto">
              <a:xfrm flipV="1">
                <a:off x="4965700" y="5351463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5" name="Freeform 370"/>
              <p:cNvSpPr>
                <a:spLocks/>
              </p:cNvSpPr>
              <p:nvPr/>
            </p:nvSpPr>
            <p:spPr bwMode="auto">
              <a:xfrm>
                <a:off x="4979989" y="5318126"/>
                <a:ext cx="22225" cy="33338"/>
              </a:xfrm>
              <a:custGeom>
                <a:avLst/>
                <a:gdLst>
                  <a:gd name="T0" fmla="*/ 0 w 14"/>
                  <a:gd name="T1" fmla="*/ 21 h 21"/>
                  <a:gd name="T2" fmla="*/ 5 w 14"/>
                  <a:gd name="T3" fmla="*/ 10 h 21"/>
                  <a:gd name="T4" fmla="*/ 14 w 14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" h="21">
                    <a:moveTo>
                      <a:pt x="0" y="21"/>
                    </a:moveTo>
                    <a:lnTo>
                      <a:pt x="5" y="10"/>
                    </a:lnTo>
                    <a:lnTo>
                      <a:pt x="14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6" name="Line 371"/>
              <p:cNvSpPr>
                <a:spLocks noChangeShapeType="1"/>
              </p:cNvSpPr>
              <p:nvPr/>
            </p:nvSpPr>
            <p:spPr bwMode="auto">
              <a:xfrm flipV="1">
                <a:off x="5002214" y="5292726"/>
                <a:ext cx="15875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7" name="Freeform 372"/>
              <p:cNvSpPr>
                <a:spLocks/>
              </p:cNvSpPr>
              <p:nvPr/>
            </p:nvSpPr>
            <p:spPr bwMode="auto">
              <a:xfrm>
                <a:off x="5018088" y="5257802"/>
                <a:ext cx="14288" cy="34925"/>
              </a:xfrm>
              <a:custGeom>
                <a:avLst/>
                <a:gdLst>
                  <a:gd name="T0" fmla="*/ 0 w 9"/>
                  <a:gd name="T1" fmla="*/ 22 h 22"/>
                  <a:gd name="T2" fmla="*/ 4 w 9"/>
                  <a:gd name="T3" fmla="*/ 11 h 22"/>
                  <a:gd name="T4" fmla="*/ 9 w 9"/>
                  <a:gd name="T5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22">
                    <a:moveTo>
                      <a:pt x="0" y="22"/>
                    </a:moveTo>
                    <a:lnTo>
                      <a:pt x="4" y="11"/>
                    </a:lnTo>
                    <a:lnTo>
                      <a:pt x="9" y="0"/>
                    </a:lnTo>
                  </a:path>
                </a:pathLst>
              </a:cu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8" name="Line 373"/>
              <p:cNvSpPr>
                <a:spLocks noChangeShapeType="1"/>
              </p:cNvSpPr>
              <p:nvPr/>
            </p:nvSpPr>
            <p:spPr bwMode="auto">
              <a:xfrm flipV="1">
                <a:off x="5032375" y="5233989"/>
                <a:ext cx="14288" cy="2381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9" name="Line 374"/>
              <p:cNvSpPr>
                <a:spLocks noChangeShapeType="1"/>
              </p:cNvSpPr>
              <p:nvPr/>
            </p:nvSpPr>
            <p:spPr bwMode="auto">
              <a:xfrm flipV="1">
                <a:off x="5046663" y="519906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0" name="Line 375"/>
              <p:cNvSpPr>
                <a:spLocks noChangeShapeType="1"/>
              </p:cNvSpPr>
              <p:nvPr/>
            </p:nvSpPr>
            <p:spPr bwMode="auto">
              <a:xfrm flipV="1">
                <a:off x="5060951" y="5165726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1" name="Line 376"/>
              <p:cNvSpPr>
                <a:spLocks noChangeShapeType="1"/>
              </p:cNvSpPr>
              <p:nvPr/>
            </p:nvSpPr>
            <p:spPr bwMode="auto">
              <a:xfrm flipV="1">
                <a:off x="5076825" y="5140326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2" name="Line 377"/>
              <p:cNvSpPr>
                <a:spLocks noChangeShapeType="1"/>
              </p:cNvSpPr>
              <p:nvPr/>
            </p:nvSpPr>
            <p:spPr bwMode="auto">
              <a:xfrm flipV="1">
                <a:off x="5091113" y="5106988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3" name="Line 378"/>
              <p:cNvSpPr>
                <a:spLocks noChangeShapeType="1"/>
              </p:cNvSpPr>
              <p:nvPr/>
            </p:nvSpPr>
            <p:spPr bwMode="auto">
              <a:xfrm flipV="1">
                <a:off x="5105401" y="5073651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4" name="Line 379"/>
              <p:cNvSpPr>
                <a:spLocks noChangeShapeType="1"/>
              </p:cNvSpPr>
              <p:nvPr/>
            </p:nvSpPr>
            <p:spPr bwMode="auto">
              <a:xfrm flipV="1">
                <a:off x="5121275" y="5040313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5" name="Line 392"/>
              <p:cNvSpPr>
                <a:spLocks noChangeShapeType="1"/>
              </p:cNvSpPr>
              <p:nvPr/>
            </p:nvSpPr>
            <p:spPr bwMode="auto">
              <a:xfrm flipV="1">
                <a:off x="5311775" y="458152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" name="Line 393"/>
              <p:cNvSpPr>
                <a:spLocks noChangeShapeType="1"/>
              </p:cNvSpPr>
              <p:nvPr/>
            </p:nvSpPr>
            <p:spPr bwMode="auto">
              <a:xfrm flipV="1">
                <a:off x="5326064" y="4548188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7" name="Line 394"/>
              <p:cNvSpPr>
                <a:spLocks noChangeShapeType="1"/>
              </p:cNvSpPr>
              <p:nvPr/>
            </p:nvSpPr>
            <p:spPr bwMode="auto">
              <a:xfrm flipV="1">
                <a:off x="5341938" y="4516438"/>
                <a:ext cx="14288" cy="3175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8" name="Line 395"/>
              <p:cNvSpPr>
                <a:spLocks noChangeShapeType="1"/>
              </p:cNvSpPr>
              <p:nvPr/>
            </p:nvSpPr>
            <p:spPr bwMode="auto">
              <a:xfrm flipV="1">
                <a:off x="5356225" y="4481514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9" name="Line 396"/>
              <p:cNvSpPr>
                <a:spLocks noChangeShapeType="1"/>
              </p:cNvSpPr>
              <p:nvPr/>
            </p:nvSpPr>
            <p:spPr bwMode="auto">
              <a:xfrm flipV="1">
                <a:off x="5370513" y="4438652"/>
                <a:ext cx="14288" cy="42863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0" name="Line 397"/>
              <p:cNvSpPr>
                <a:spLocks noChangeShapeType="1"/>
              </p:cNvSpPr>
              <p:nvPr/>
            </p:nvSpPr>
            <p:spPr bwMode="auto">
              <a:xfrm flipV="1">
                <a:off x="5384801" y="44053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1" name="Line 398"/>
              <p:cNvSpPr>
                <a:spLocks noChangeShapeType="1"/>
              </p:cNvSpPr>
              <p:nvPr/>
            </p:nvSpPr>
            <p:spPr bwMode="auto">
              <a:xfrm flipV="1">
                <a:off x="5400675" y="4371976"/>
                <a:ext cx="14288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2" name="Line 399"/>
              <p:cNvSpPr>
                <a:spLocks noChangeShapeType="1"/>
              </p:cNvSpPr>
              <p:nvPr/>
            </p:nvSpPr>
            <p:spPr bwMode="auto">
              <a:xfrm flipV="1">
                <a:off x="5414963" y="4337052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3" name="Line 400"/>
              <p:cNvSpPr>
                <a:spLocks noChangeShapeType="1"/>
              </p:cNvSpPr>
              <p:nvPr/>
            </p:nvSpPr>
            <p:spPr bwMode="auto">
              <a:xfrm flipV="1">
                <a:off x="5429251" y="4303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4" name="Line 401"/>
              <p:cNvSpPr>
                <a:spLocks noChangeShapeType="1"/>
              </p:cNvSpPr>
              <p:nvPr/>
            </p:nvSpPr>
            <p:spPr bwMode="auto">
              <a:xfrm flipV="1">
                <a:off x="5445125" y="4268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5" name="Line 402"/>
              <p:cNvSpPr>
                <a:spLocks noChangeShapeType="1"/>
              </p:cNvSpPr>
              <p:nvPr/>
            </p:nvSpPr>
            <p:spPr bwMode="auto">
              <a:xfrm flipV="1">
                <a:off x="5459413" y="4235451"/>
                <a:ext cx="12700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6" name="Line 403"/>
              <p:cNvSpPr>
                <a:spLocks noChangeShapeType="1"/>
              </p:cNvSpPr>
              <p:nvPr/>
            </p:nvSpPr>
            <p:spPr bwMode="auto">
              <a:xfrm flipV="1">
                <a:off x="5472113" y="4210051"/>
                <a:ext cx="14288" cy="2540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7" name="Line 404"/>
              <p:cNvSpPr>
                <a:spLocks noChangeShapeType="1"/>
              </p:cNvSpPr>
              <p:nvPr/>
            </p:nvSpPr>
            <p:spPr bwMode="auto">
              <a:xfrm flipV="1">
                <a:off x="5486401" y="4176713"/>
                <a:ext cx="15875" cy="33338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8" name="Line 405"/>
              <p:cNvSpPr>
                <a:spLocks noChangeShapeType="1"/>
              </p:cNvSpPr>
              <p:nvPr/>
            </p:nvSpPr>
            <p:spPr bwMode="auto">
              <a:xfrm flipV="1">
                <a:off x="5502275" y="4141789"/>
                <a:ext cx="14288" cy="34925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9" name="Line 476"/>
              <p:cNvSpPr>
                <a:spLocks noChangeShapeType="1"/>
              </p:cNvSpPr>
              <p:nvPr/>
            </p:nvSpPr>
            <p:spPr bwMode="auto">
              <a:xfrm>
                <a:off x="6539707" y="4790282"/>
                <a:ext cx="9524" cy="20640"/>
              </a:xfrm>
              <a:prstGeom prst="line">
                <a:avLst/>
              </a:prstGeom>
              <a:grpFill/>
              <a:ln w="28575" cap="flat">
                <a:solidFill>
                  <a:srgbClr val="33CC33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sp>
        <p:nvSpPr>
          <p:cNvPr id="6" name="Oval 5"/>
          <p:cNvSpPr/>
          <p:nvPr/>
        </p:nvSpPr>
        <p:spPr>
          <a:xfrm>
            <a:off x="8738446" y="5589260"/>
            <a:ext cx="360000" cy="36000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0" name="Right Arrow 569"/>
          <p:cNvSpPr/>
          <p:nvPr/>
        </p:nvSpPr>
        <p:spPr>
          <a:xfrm flipH="1">
            <a:off x="7608168" y="5589240"/>
            <a:ext cx="936104" cy="360040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024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be Done?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Shrink the ‘LS’ estimates …</a:t>
            </a:r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7DDD-474D-4D0D-899B-26185AE1FAAB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000" y="3790801"/>
            <a:ext cx="6048672" cy="2375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ight Arrow 6"/>
          <p:cNvSpPr/>
          <p:nvPr/>
        </p:nvSpPr>
        <p:spPr>
          <a:xfrm>
            <a:off x="2567608" y="5469830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 flipH="1">
            <a:off x="8400256" y="5517232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294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be Done?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Shrink the ‘LS’ estimates …</a:t>
            </a:r>
          </a:p>
          <a:p>
            <a:pPr lvl="1"/>
            <a:r>
              <a:rPr lang="en-GB" dirty="0"/>
              <a:t>regress them back to the population mean 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7DDD-474D-4D0D-899B-26185AE1FAAB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000" y="3790801"/>
            <a:ext cx="6048672" cy="2375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ight Arrow 6"/>
          <p:cNvSpPr/>
          <p:nvPr/>
        </p:nvSpPr>
        <p:spPr>
          <a:xfrm>
            <a:off x="2567608" y="5469830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 flipH="1">
            <a:off x="8400256" y="5517232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43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be Done?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Shrink the estimates …</a:t>
            </a:r>
          </a:p>
          <a:p>
            <a:pPr lvl="1"/>
            <a:r>
              <a:rPr lang="en-GB" dirty="0"/>
              <a:t>regress them back to the population mean …</a:t>
            </a:r>
          </a:p>
          <a:p>
            <a:pPr lvl="1"/>
            <a:r>
              <a:rPr lang="en-GB" dirty="0"/>
              <a:t>but how much?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6288-A1AF-4ABC-848D-EB881BB1D17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000" y="3790801"/>
            <a:ext cx="6048672" cy="2375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ight Arrow 6"/>
          <p:cNvSpPr/>
          <p:nvPr/>
        </p:nvSpPr>
        <p:spPr>
          <a:xfrm>
            <a:off x="2567608" y="5469830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 flipH="1">
            <a:off x="8400256" y="5517232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958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be Done?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Shrink the ‘LS’ estimates …</a:t>
            </a:r>
          </a:p>
          <a:p>
            <a:pPr lvl="1"/>
            <a:r>
              <a:rPr lang="en-GB" dirty="0"/>
              <a:t>regress them back to the population mean …</a:t>
            </a:r>
          </a:p>
          <a:p>
            <a:pPr lvl="1"/>
            <a:r>
              <a:rPr lang="en-GB" dirty="0"/>
              <a:t>regression coefficient, b ~ f(info)/[1+f(info)] &lt; 1</a:t>
            </a:r>
          </a:p>
          <a:p>
            <a:pPr lvl="2"/>
            <a:r>
              <a:rPr lang="en-GB" dirty="0"/>
              <a:t>where f(info) is a measure of information ( ≥ 0) </a:t>
            </a:r>
          </a:p>
          <a:p>
            <a:pPr lvl="1"/>
            <a:r>
              <a:rPr lang="en-GB" dirty="0"/>
              <a:t>more info, b → 1, as estimate has smaller error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3A0D9-E2F9-46E3-9E77-67FC4EB2BC97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506" y="3789041"/>
            <a:ext cx="6048672" cy="2375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ight Arrow 6"/>
          <p:cNvSpPr/>
          <p:nvPr/>
        </p:nvSpPr>
        <p:spPr>
          <a:xfrm>
            <a:off x="2567608" y="5469830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Arrow 7"/>
          <p:cNvSpPr/>
          <p:nvPr/>
        </p:nvSpPr>
        <p:spPr>
          <a:xfrm flipH="1">
            <a:off x="8400256" y="5517232"/>
            <a:ext cx="93610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76209-D5A6-4404-88E9-9AF447DFE5B2}"/>
              </a:ext>
            </a:extLst>
          </p:cNvPr>
          <p:cNvSpPr txBox="1"/>
          <p:nvPr/>
        </p:nvSpPr>
        <p:spPr>
          <a:xfrm>
            <a:off x="8256240" y="2793122"/>
            <a:ext cx="3312367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GB" sz="2000" dirty="0"/>
              <a:t>… this emerges from theory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998D25-138B-493C-B2AC-7C2407EA4F3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7752184" y="2708920"/>
            <a:ext cx="504056" cy="284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614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000" y="1196976"/>
            <a:ext cx="11520000" cy="4968875"/>
          </a:xfrm>
        </p:spPr>
        <p:txBody>
          <a:bodyPr/>
          <a:lstStyle/>
          <a:p>
            <a:r>
              <a:rPr lang="en-GB" dirty="0"/>
              <a:t>If an effect is declared as random the ideas of shrinkage are directly incorporated into the estimation process &amp; the estimates obtained!</a:t>
            </a:r>
          </a:p>
          <a:p>
            <a:endParaRPr lang="en-GB" u="sng" dirty="0"/>
          </a:p>
          <a:p>
            <a:r>
              <a:rPr lang="en-GB" u="sng" dirty="0"/>
              <a:t>In QGM</a:t>
            </a:r>
          </a:p>
          <a:p>
            <a:pPr lvl="1"/>
            <a:r>
              <a:rPr lang="en-GB" dirty="0"/>
              <a:t>we do </a:t>
            </a:r>
            <a:r>
              <a:rPr lang="en-GB" u="sng" dirty="0"/>
              <a:t>not</a:t>
            </a:r>
            <a:r>
              <a:rPr lang="en-GB" dirty="0"/>
              <a:t> need to know how it is estimated </a:t>
            </a:r>
          </a:p>
          <a:p>
            <a:pPr lvl="1"/>
            <a:r>
              <a:rPr lang="en-GB" dirty="0"/>
              <a:t>we do need to know </a:t>
            </a:r>
          </a:p>
          <a:p>
            <a:pPr lvl="2"/>
            <a:r>
              <a:rPr lang="en-GB" dirty="0"/>
              <a:t>this idea differentiates fixed LS and random estimates</a:t>
            </a:r>
          </a:p>
          <a:p>
            <a:pPr lvl="2"/>
            <a:r>
              <a:rPr lang="en-GB" dirty="0"/>
              <a:t>the extent of shrinkage is a function of information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Effects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DBB6-18DA-4B50-BB9A-57FFA9909E8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0800" y="1268760"/>
            <a:ext cx="11448000" cy="15841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70800" y="3356992"/>
            <a:ext cx="11448000" cy="25922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051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E665-C62F-4FDA-A9C5-B3167744BC7A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05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Shrinkage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REML &amp; our sires, f(info) = n(Vs/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more offspring (n ↑), so f(info) ↑, so b ↑</a:t>
            </a:r>
          </a:p>
          <a:p>
            <a:pPr lvl="2"/>
            <a:r>
              <a:rPr lang="en-GB" dirty="0"/>
              <a:t>more data points!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7EA78-0F8E-4EDC-BB22-819B5D8F06D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73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Shrinkage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REML &amp; our sires, f(info) = n(Vs/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more offspring (n ↑), so f(info) ↑, so b ↑</a:t>
            </a:r>
          </a:p>
          <a:p>
            <a:pPr lvl="2"/>
            <a:r>
              <a:rPr lang="en-GB" dirty="0"/>
              <a:t>more data points! </a:t>
            </a:r>
          </a:p>
          <a:p>
            <a:pPr lvl="1"/>
            <a:r>
              <a:rPr lang="en-GB" dirty="0"/>
              <a:t>Vs/</a:t>
            </a:r>
            <a:r>
              <a:rPr lang="en-GB" dirty="0" err="1"/>
              <a:t>Ve</a:t>
            </a:r>
            <a:r>
              <a:rPr lang="en-GB" dirty="0"/>
              <a:t> ↑, so f(info) ↑, so b↑</a:t>
            </a:r>
          </a:p>
          <a:p>
            <a:pPr lvl="2"/>
            <a:r>
              <a:rPr lang="en-GB" dirty="0"/>
              <a:t>each record richer in sire information</a:t>
            </a:r>
          </a:p>
          <a:p>
            <a:pPr lvl="2"/>
            <a:r>
              <a:rPr lang="en-GB" dirty="0"/>
              <a:t>less influenced by random error</a:t>
            </a:r>
          </a:p>
          <a:p>
            <a:pPr lvl="2"/>
            <a:r>
              <a:rPr lang="en-GB" dirty="0"/>
              <a:t>Vs/</a:t>
            </a:r>
            <a:r>
              <a:rPr lang="en-GB" dirty="0" err="1"/>
              <a:t>Ve</a:t>
            </a:r>
            <a:r>
              <a:rPr lang="en-GB" dirty="0"/>
              <a:t> ↑ means h</a:t>
            </a:r>
            <a:r>
              <a:rPr lang="en-GB" baseline="30000" dirty="0"/>
              <a:t>2 </a:t>
            </a:r>
            <a:r>
              <a:rPr lang="en-GB" dirty="0"/>
              <a:t>↑</a:t>
            </a:r>
          </a:p>
          <a:p>
            <a:pPr lvl="2"/>
            <a:r>
              <a:rPr lang="en-GB" dirty="0"/>
              <a:t>analogous to ‘signal to noise’ ratio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643ED-2F78-4C81-A93A-0895F783CEA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518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Shrinkage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REML &amp; our sires, f(info) = n(Vs/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more offspring (n ↑), so f(info) ↑, so b ↑</a:t>
            </a:r>
          </a:p>
          <a:p>
            <a:pPr lvl="2"/>
            <a:r>
              <a:rPr lang="en-GB" dirty="0"/>
              <a:t>more data points! </a:t>
            </a:r>
          </a:p>
          <a:p>
            <a:pPr lvl="1"/>
            <a:r>
              <a:rPr lang="en-GB" dirty="0"/>
              <a:t>Vs/</a:t>
            </a:r>
            <a:r>
              <a:rPr lang="en-GB" dirty="0" err="1"/>
              <a:t>Ve</a:t>
            </a:r>
            <a:r>
              <a:rPr lang="en-GB" dirty="0"/>
              <a:t> ↑, so f(info) ↑, so b↑</a:t>
            </a:r>
          </a:p>
          <a:p>
            <a:pPr lvl="2"/>
            <a:r>
              <a:rPr lang="en-GB" dirty="0"/>
              <a:t>each record richer in sire information</a:t>
            </a:r>
          </a:p>
          <a:p>
            <a:pPr lvl="2"/>
            <a:r>
              <a:rPr lang="en-GB" dirty="0"/>
              <a:t>less influenced by random error independent of the sire</a:t>
            </a:r>
          </a:p>
          <a:p>
            <a:pPr lvl="2"/>
            <a:r>
              <a:rPr lang="en-GB" dirty="0"/>
              <a:t>Vs/</a:t>
            </a:r>
            <a:r>
              <a:rPr lang="en-GB" dirty="0" err="1"/>
              <a:t>Ve</a:t>
            </a:r>
            <a:r>
              <a:rPr lang="en-GB" dirty="0"/>
              <a:t> ↑ means h</a:t>
            </a:r>
            <a:r>
              <a:rPr lang="en-GB" baseline="30000" dirty="0"/>
              <a:t>2 </a:t>
            </a:r>
            <a:r>
              <a:rPr lang="en-GB" dirty="0"/>
              <a:t>↑</a:t>
            </a:r>
          </a:p>
          <a:p>
            <a:pPr lvl="2"/>
            <a:r>
              <a:rPr lang="en-GB" dirty="0"/>
              <a:t>analogous to ‘signal to noise’ ratio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03B4-3906-4BA0-9ED6-023DB2E1595E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 rot="21289316">
            <a:off x="2567608" y="2564905"/>
            <a:ext cx="6984776" cy="95410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See the notes which shows a heuristic derivation of f(info) by linear regression!</a:t>
            </a:r>
          </a:p>
        </p:txBody>
      </p:sp>
    </p:spTree>
    <p:extLst>
      <p:ext uri="{BB962C8B-B14F-4D97-AF65-F5344CB8AC3E}">
        <p14:creationId xmlns:p14="http://schemas.microsoft.com/office/powerpoint/2010/main" val="1023500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Fit ‘sire’ as fixed &amp; fit ‘sire’ as random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C7C38-2CF3-4A38-AAA6-44B65A34634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72816"/>
            <a:ext cx="6076604" cy="4339244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2510320" y="5445225"/>
            <a:ext cx="57289" cy="457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367808" y="2060849"/>
            <a:ext cx="3528392" cy="3393157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575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Low Signal to Noise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20 unrelated sires, 10 offspring, Vs/</a:t>
            </a:r>
            <a:r>
              <a:rPr lang="en-GB" dirty="0" err="1"/>
              <a:t>Ve</a:t>
            </a:r>
            <a:r>
              <a:rPr lang="en-GB" dirty="0"/>
              <a:t> = 0.05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918C-D0BC-448A-BDCB-12240C52BCEE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71201"/>
            <a:ext cx="6080760" cy="4340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84000" y="2160000"/>
            <a:ext cx="172819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Slope = 0.34</a:t>
            </a:r>
          </a:p>
        </p:txBody>
      </p:sp>
    </p:spTree>
    <p:extLst>
      <p:ext uri="{BB962C8B-B14F-4D97-AF65-F5344CB8AC3E}">
        <p14:creationId xmlns:p14="http://schemas.microsoft.com/office/powerpoint/2010/main" val="1188259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Increased Signal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20 unrelated sires, 10 offspring, Vs/</a:t>
            </a:r>
            <a:r>
              <a:rPr lang="en-GB" dirty="0" err="1"/>
              <a:t>Ve</a:t>
            </a:r>
            <a:r>
              <a:rPr lang="en-GB" dirty="0"/>
              <a:t> = </a:t>
            </a:r>
            <a:r>
              <a:rPr lang="en-GB" b="1" dirty="0">
                <a:solidFill>
                  <a:srgbClr val="FF0000"/>
                </a:solidFill>
              </a:rPr>
              <a:t>0.20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59D0-B82E-4352-9808-33BFBF0FA49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71201"/>
            <a:ext cx="6080760" cy="4340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84000" y="2160000"/>
            <a:ext cx="172819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Slope = 0.71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4000" y="4320001"/>
            <a:ext cx="2334078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Each record richer in genetic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less shrinkage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slope increases</a:t>
            </a:r>
          </a:p>
        </p:txBody>
      </p:sp>
    </p:spTree>
    <p:extLst>
      <p:ext uri="{BB962C8B-B14F-4D97-AF65-F5344CB8AC3E}">
        <p14:creationId xmlns:p14="http://schemas.microsoft.com/office/powerpoint/2010/main" val="1068905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71201"/>
            <a:ext cx="6080760" cy="43405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Records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20 unrelated sires, </a:t>
            </a:r>
            <a:r>
              <a:rPr lang="en-GB" b="1" dirty="0">
                <a:solidFill>
                  <a:srgbClr val="FF0000"/>
                </a:solidFill>
              </a:rPr>
              <a:t>20</a:t>
            </a:r>
            <a:r>
              <a:rPr lang="en-GB" dirty="0"/>
              <a:t> offspring, Vs/</a:t>
            </a:r>
            <a:r>
              <a:rPr lang="en-GB" dirty="0" err="1"/>
              <a:t>Ve</a:t>
            </a:r>
            <a:r>
              <a:rPr lang="en-GB" dirty="0"/>
              <a:t> = 0.20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59D0-B82E-4352-9808-33BFBF0FA49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84000" y="2160000"/>
            <a:ext cx="172819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Slope = 0.83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4000" y="4320001"/>
            <a:ext cx="2334078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More records, more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less shrinkage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slope increases</a:t>
            </a:r>
          </a:p>
        </p:txBody>
      </p:sp>
    </p:spTree>
    <p:extLst>
      <p:ext uri="{BB962C8B-B14F-4D97-AF65-F5344CB8AC3E}">
        <p14:creationId xmlns:p14="http://schemas.microsoft.com/office/powerpoint/2010/main" val="2268907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to Each Effect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19</a:t>
            </a:r>
            <a:r>
              <a:rPr lang="en-GB" dirty="0"/>
              <a:t> sires, </a:t>
            </a:r>
            <a:r>
              <a:rPr lang="en-GB" b="1" dirty="0">
                <a:solidFill>
                  <a:srgbClr val="FF0000"/>
                </a:solidFill>
              </a:rPr>
              <a:t>20</a:t>
            </a:r>
            <a:r>
              <a:rPr lang="en-GB" dirty="0"/>
              <a:t> offspring &amp; </a:t>
            </a:r>
            <a:r>
              <a:rPr lang="en-GB" b="1" dirty="0">
                <a:solidFill>
                  <a:srgbClr val="FF0000"/>
                </a:solidFill>
              </a:rPr>
              <a:t>1</a:t>
            </a:r>
            <a:r>
              <a:rPr lang="en-GB" dirty="0"/>
              <a:t> sire with </a:t>
            </a:r>
            <a:r>
              <a:rPr lang="en-GB" b="1" dirty="0">
                <a:solidFill>
                  <a:srgbClr val="FF0000"/>
                </a:solidFill>
              </a:rPr>
              <a:t>1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59D0-B82E-4352-9808-33BFBF0FA49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71200"/>
            <a:ext cx="6080760" cy="4340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4000" y="4320000"/>
            <a:ext cx="2412480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Less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more shrinkage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 population mean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878000" y="1988840"/>
            <a:ext cx="0" cy="129614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8004000" y="1988840"/>
            <a:ext cx="180232" cy="18002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282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</a:t>
            </a:r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>
          <a:xfrm>
            <a:off x="1703388" y="1196975"/>
            <a:ext cx="8784000" cy="8784000"/>
          </a:xfrm>
        </p:spPr>
        <p:txBody>
          <a:bodyPr/>
          <a:lstStyle/>
          <a:p>
            <a:r>
              <a:rPr lang="en-GB" dirty="0"/>
              <a:t>Comparison of prediction errors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BAFAE-B6E3-4B36-A81A-FD904412760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7968209" y="3501008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71201"/>
            <a:ext cx="6080760" cy="4340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48128" y="4320001"/>
            <a:ext cx="3168352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       Sires fitted as RANDOM</a:t>
            </a:r>
          </a:p>
          <a:p>
            <a:r>
              <a:rPr lang="en-GB" dirty="0"/>
              <a:t>       Sires fitted as FIXED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Smaller prediction errors!</a:t>
            </a:r>
          </a:p>
        </p:txBody>
      </p:sp>
      <p:sp>
        <p:nvSpPr>
          <p:cNvPr id="8" name="Oval 7"/>
          <p:cNvSpPr/>
          <p:nvPr/>
        </p:nvSpPr>
        <p:spPr>
          <a:xfrm>
            <a:off x="7392144" y="4401128"/>
            <a:ext cx="180000" cy="180000"/>
          </a:xfrm>
          <a:prstGeom prst="ellipse">
            <a:avLst/>
          </a:prstGeom>
          <a:solidFill>
            <a:srgbClr val="FC0101"/>
          </a:solidFill>
          <a:ln>
            <a:solidFill>
              <a:srgbClr val="FC0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7392144" y="4689160"/>
            <a:ext cx="180000" cy="180000"/>
          </a:xfrm>
          <a:prstGeom prst="ellipse">
            <a:avLst/>
          </a:prstGeom>
          <a:solidFill>
            <a:srgbClr val="0000FE"/>
          </a:solidFill>
          <a:ln>
            <a:solidFill>
              <a:srgbClr val="000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004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Random instead of fixed leads to </a:t>
            </a:r>
            <a:r>
              <a:rPr lang="en-GB" u="sng" dirty="0"/>
              <a:t>shrinkage</a:t>
            </a:r>
          </a:p>
          <a:p>
            <a:pPr lvl="1"/>
            <a:r>
              <a:rPr lang="en-GB" dirty="0"/>
              <a:t>regression back to the distribution mean …</a:t>
            </a:r>
          </a:p>
          <a:p>
            <a:pPr lvl="1"/>
            <a:r>
              <a:rPr lang="en-GB" dirty="0"/>
              <a:t>regression coefficient, b ~ f(info)/[1+f(info)] &lt; 1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22658-CAD9-4088-8D2D-05DCF9D5EFB1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277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Random instead of fixed leads to </a:t>
            </a:r>
            <a:r>
              <a:rPr lang="en-GB" u="sng" dirty="0"/>
              <a:t>shrinkage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regression back to the distribution mean …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regression coefficient, b ~ f(info)/[1+f(info)] &lt; 1</a:t>
            </a:r>
          </a:p>
          <a:p>
            <a:pPr lvl="1"/>
            <a:r>
              <a:rPr lang="en-GB" dirty="0"/>
              <a:t>more info, f(info) increases and b → 1</a:t>
            </a:r>
          </a:p>
          <a:p>
            <a:pPr lvl="2"/>
            <a:r>
              <a:rPr lang="en-GB" dirty="0"/>
              <a:t>the estimate has smaller random error</a:t>
            </a:r>
          </a:p>
          <a:p>
            <a:pPr lvl="2"/>
            <a:r>
              <a:rPr lang="en-GB" dirty="0"/>
              <a:t>b → 1 with more data points</a:t>
            </a:r>
          </a:p>
          <a:p>
            <a:pPr lvl="2"/>
            <a:r>
              <a:rPr lang="en-GB" dirty="0"/>
              <a:t>b → 1 with greater ‘signal to noise ratio’ per data point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22658-CAD9-4088-8D2D-05DCF9D5EFB1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358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Random instead of fixed leads to </a:t>
            </a:r>
            <a:r>
              <a:rPr lang="en-GB" u="sng" dirty="0"/>
              <a:t>shrinkage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regression back to the distribution mean …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regression coefficient, b ~ f(info)/[1+f(info)] &lt; 1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more info, f(info) increases and b → 1</a:t>
            </a:r>
          </a:p>
          <a:p>
            <a:pPr lvl="2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the estimate has smaller random error</a:t>
            </a:r>
          </a:p>
          <a:p>
            <a:pPr lvl="2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b → 1 with more data points</a:t>
            </a:r>
          </a:p>
          <a:p>
            <a:pPr lvl="2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b → 1 with greater ‘signal to noise ratio’ per data point</a:t>
            </a:r>
          </a:p>
          <a:p>
            <a:pPr lvl="1"/>
            <a:r>
              <a:rPr lang="en-GB" dirty="0"/>
              <a:t>shrinkage is differentially applied effect by effect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22658-CAD9-4088-8D2D-05DCF9D5EFB1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0B1D6-A6A9-4495-8D22-FE306559587E}"/>
              </a:ext>
            </a:extLst>
          </p:cNvPr>
          <p:cNvSpPr txBox="1"/>
          <p:nvPr/>
        </p:nvSpPr>
        <p:spPr>
          <a:xfrm>
            <a:off x="5159896" y="5260914"/>
            <a:ext cx="6264696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GB" sz="2000" dirty="0"/>
              <a:t>… i.e. sire by sire, or patient by patient, or tree by tree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97A089-E8E7-45C6-AF00-98B26F6B0B4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367808" y="5157193"/>
            <a:ext cx="792088" cy="30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351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Random instead of fixed leads to </a:t>
            </a:r>
            <a:r>
              <a:rPr lang="en-GB" u="sng" dirty="0"/>
              <a:t>shrinkage</a:t>
            </a:r>
          </a:p>
          <a:p>
            <a:pPr lvl="1"/>
            <a:r>
              <a:rPr lang="en-GB" dirty="0"/>
              <a:t>regression back to the distribution mean …</a:t>
            </a:r>
          </a:p>
          <a:p>
            <a:pPr lvl="1"/>
            <a:r>
              <a:rPr lang="en-GB" dirty="0"/>
              <a:t>regression coefficient, b ~ f(info)/[1+f(info)] &lt; 1</a:t>
            </a:r>
          </a:p>
          <a:p>
            <a:pPr lvl="1"/>
            <a:r>
              <a:rPr lang="en-GB" dirty="0"/>
              <a:t>more info, f(info) increases and b → 1</a:t>
            </a:r>
          </a:p>
          <a:p>
            <a:pPr lvl="2"/>
            <a:r>
              <a:rPr lang="en-GB" dirty="0"/>
              <a:t>the estimate has smaller random error</a:t>
            </a:r>
          </a:p>
          <a:p>
            <a:pPr lvl="2"/>
            <a:r>
              <a:rPr lang="en-GB" dirty="0"/>
              <a:t>b → 1 with more data points</a:t>
            </a:r>
          </a:p>
          <a:p>
            <a:pPr lvl="2"/>
            <a:r>
              <a:rPr lang="en-GB" dirty="0"/>
              <a:t>b → 1 with greater ‘signal to noise ratio’ per data point</a:t>
            </a:r>
          </a:p>
          <a:p>
            <a:pPr lvl="1"/>
            <a:r>
              <a:rPr lang="en-GB" dirty="0"/>
              <a:t>shrinkage is differentially applied effect by effect</a:t>
            </a:r>
          </a:p>
          <a:p>
            <a:pPr lvl="1"/>
            <a:r>
              <a:rPr lang="en-GB" dirty="0"/>
              <a:t>see ‘revision_5_heuristic.pdf’</a:t>
            </a:r>
          </a:p>
          <a:p>
            <a:pPr lvl="1"/>
            <a:r>
              <a:rPr lang="en-GB" dirty="0"/>
              <a:t>see ‘revision_5_heuristic_Amatrix.pdf’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22658-CAD9-4088-8D2D-05DCF9D5EFB1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418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B94A-1535-4B17-898B-937EF7B13F9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4685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… Lecture 5 …</a:t>
            </a:r>
            <a:br>
              <a:rPr lang="en-GB" dirty="0"/>
            </a:br>
            <a:r>
              <a:rPr lang="en-GB" dirty="0"/>
              <a:t>Shrinkage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Part 2: the origins of REML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592649-E89A-493A-B39B-DEBBF19A122F}" type="datetime4">
              <a:rPr lang="en-GB">
                <a:solidFill>
                  <a:srgbClr val="000000"/>
                </a:solidFill>
                <a:latin typeface="Arial"/>
                <a:cs typeface="Arial"/>
              </a:rPr>
              <a:pPr>
                <a:defRPr/>
              </a:pPr>
              <a:t>22 January 2026</a:t>
            </a:fld>
            <a:endParaRPr lang="en-GB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  <a:latin typeface="Arial"/>
                <a:cs typeface="Arial"/>
              </a:rPr>
              <a:t>Lecture 5</a:t>
            </a:r>
            <a:endParaRPr lang="en-GB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5039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Models will have different types of terms</a:t>
            </a:r>
          </a:p>
          <a:p>
            <a:pPr lvl="1"/>
            <a:r>
              <a:rPr lang="en-GB" dirty="0"/>
              <a:t>factors of interest e.g. genetics</a:t>
            </a:r>
          </a:p>
          <a:p>
            <a:pPr lvl="2"/>
            <a:r>
              <a:rPr lang="en-GB" dirty="0"/>
              <a:t>concerned with </a:t>
            </a:r>
            <a:r>
              <a:rPr lang="en-GB" dirty="0" err="1"/>
              <a:t>objecctives</a:t>
            </a:r>
            <a:r>
              <a:rPr lang="en-GB" dirty="0"/>
              <a:t> and hypotheses being tested</a:t>
            </a:r>
          </a:p>
          <a:p>
            <a:pPr lvl="3"/>
            <a:r>
              <a:rPr lang="en-GB" dirty="0"/>
              <a:t>fixed effect contrasts of breeds</a:t>
            </a:r>
          </a:p>
          <a:p>
            <a:pPr lvl="3"/>
            <a:r>
              <a:rPr lang="en-GB" dirty="0"/>
              <a:t>random effect estimates of genetic variance or BV</a:t>
            </a:r>
          </a:p>
          <a:p>
            <a:pPr lvl="1"/>
            <a:r>
              <a:rPr lang="en-GB" dirty="0"/>
              <a:t>nuisance factors</a:t>
            </a:r>
          </a:p>
          <a:p>
            <a:pPr lvl="2"/>
            <a:r>
              <a:rPr lang="en-GB" dirty="0"/>
              <a:t>would not be present in an ideal experiment</a:t>
            </a:r>
          </a:p>
          <a:p>
            <a:pPr lvl="2"/>
            <a:r>
              <a:rPr lang="en-GB" dirty="0"/>
              <a:t>e.g. ‘blocks’, fields, hospitals, herds, tanks, batches, quadrats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D722-E98F-4A04-B344-EDF859978B25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780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Models will have different types of terms</a:t>
            </a:r>
          </a:p>
          <a:p>
            <a:pPr lvl="1"/>
            <a:r>
              <a:rPr lang="en-GB" dirty="0"/>
              <a:t>factors of interest e.g. genetics</a:t>
            </a:r>
          </a:p>
          <a:p>
            <a:pPr lvl="2"/>
            <a:r>
              <a:rPr lang="en-GB" dirty="0"/>
              <a:t>concerned with hypotheses being tested</a:t>
            </a:r>
          </a:p>
          <a:p>
            <a:pPr lvl="3"/>
            <a:r>
              <a:rPr lang="en-GB" dirty="0"/>
              <a:t>fixed effect contrasts of breeds</a:t>
            </a:r>
          </a:p>
          <a:p>
            <a:pPr lvl="3"/>
            <a:r>
              <a:rPr lang="en-GB" dirty="0"/>
              <a:t>random effect estimates of genetic variance or BV</a:t>
            </a:r>
          </a:p>
          <a:p>
            <a:pPr lvl="1"/>
            <a:r>
              <a:rPr lang="en-GB" dirty="0"/>
              <a:t>nuisance factors</a:t>
            </a:r>
          </a:p>
          <a:p>
            <a:pPr lvl="2"/>
            <a:r>
              <a:rPr lang="en-GB" dirty="0"/>
              <a:t>would not be present in an ideal experiment</a:t>
            </a:r>
          </a:p>
          <a:p>
            <a:pPr lvl="2"/>
            <a:r>
              <a:rPr lang="en-GB" dirty="0"/>
              <a:t>e.g. ‘blocks’, fields, hospitals, herds, tanks, batches, quadrats</a:t>
            </a:r>
          </a:p>
          <a:p>
            <a:pPr lvl="1"/>
            <a:r>
              <a:rPr lang="en-GB" dirty="0"/>
              <a:t>a genetic model is only as good as its associated environmental model!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D722-E98F-4A04-B344-EDF859978B25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80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or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/>
              <a:t>Choice of fixed/random depends on context</a:t>
            </a:r>
          </a:p>
          <a:p>
            <a:pPr lvl="1"/>
            <a:r>
              <a:rPr lang="en-GB" dirty="0"/>
              <a:t>not automatic although often ‘routine’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532B0-DCC2-4C28-A47A-A5B65E311E59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398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Patterson &amp; Thompson’s original REML paper was on recovery of inter-block information</a:t>
            </a:r>
          </a:p>
          <a:p>
            <a:pPr lvl="1"/>
            <a:r>
              <a:rPr lang="en-GB" dirty="0"/>
              <a:t>illustrates consequences of random/fixed choice</a:t>
            </a:r>
          </a:p>
          <a:p>
            <a:pPr lvl="1"/>
            <a:r>
              <a:rPr lang="en-GB" dirty="0"/>
              <a:t>incomplete block designs e.g. fish tanks</a:t>
            </a:r>
          </a:p>
          <a:p>
            <a:pPr lvl="1"/>
            <a:r>
              <a:rPr lang="en-GB" dirty="0"/>
              <a:t>e.g.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4F9D6-5944-43C8-BF96-CA99ED8E2DF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325274" y="3609948"/>
            <a:ext cx="6795363" cy="2497184"/>
            <a:chOff x="2801273" y="3609948"/>
            <a:chExt cx="6795363" cy="2497184"/>
          </a:xfrm>
        </p:grpSpPr>
        <p:sp>
          <p:nvSpPr>
            <p:cNvPr id="6" name="Oval 5"/>
            <p:cNvSpPr/>
            <p:nvPr/>
          </p:nvSpPr>
          <p:spPr>
            <a:xfrm>
              <a:off x="3721332" y="4585742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4108009" y="4154505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741237" y="4187787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144092" y="5045593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310532" y="4509527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554891" y="5045593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5387512" y="4865770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979359" y="4766785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4144092" y="5045593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352616" y="4509527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5186174" y="4238755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6929857" y="5563507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6521703" y="5464523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6894960" y="5207264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6728520" y="4936492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886132" y="3789040"/>
              <a:ext cx="1217833" cy="19554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/>
            <p:cNvSpPr/>
            <p:nvPr/>
          </p:nvSpPr>
          <p:spPr>
            <a:xfrm rot="327589">
              <a:off x="6363616" y="4151643"/>
              <a:ext cx="1217833" cy="19554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/>
            <p:cNvSpPr/>
            <p:nvPr/>
          </p:nvSpPr>
          <p:spPr>
            <a:xfrm rot="1156490">
              <a:off x="3401089" y="4003572"/>
              <a:ext cx="1217833" cy="19554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/>
            <p:cNvSpPr/>
            <p:nvPr/>
          </p:nvSpPr>
          <p:spPr>
            <a:xfrm>
              <a:off x="6970112" y="4551173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516542" y="5297785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883314" y="5374001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7047360" y="4904141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01273" y="4000791"/>
              <a:ext cx="2084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Tank 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511777" y="4154505"/>
              <a:ext cx="2084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Tank 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69660" y="3609948"/>
              <a:ext cx="2084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Tank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71212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 assume there is no difference among the tanks </a:t>
            </a:r>
          </a:p>
          <a:p>
            <a:pPr lvl="1"/>
            <a:r>
              <a:rPr lang="en-GB" dirty="0"/>
              <a:t>i.e. if variation among tanks is small</a:t>
            </a:r>
          </a:p>
          <a:p>
            <a:pPr lvl="1"/>
            <a:r>
              <a:rPr lang="en-GB" dirty="0"/>
              <a:t>… I have a good experiment!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1673-4E7C-4120-A0C2-1E7CCE96DF2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6" name="Oval 5"/>
          <p:cNvSpPr/>
          <p:nvPr/>
        </p:nvSpPr>
        <p:spPr>
          <a:xfrm>
            <a:off x="5245333" y="4585743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632010" y="4154506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265238" y="4187788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834533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8892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11513" y="4865771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03360" y="4766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160259" y="4790125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76617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710175" y="423875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5502487" y="4766785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18797" y="5226637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5926876" y="5373769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434363" y="4723099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49576" y="4495221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040543" y="5297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648031" y="5157732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557075" y="516788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2451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 assume the tanks are fixed</a:t>
            </a:r>
          </a:p>
          <a:p>
            <a:pPr lvl="1"/>
            <a:r>
              <a:rPr lang="en-GB" dirty="0"/>
              <a:t>assume differences across tanks caused by unassessed, systematic effects outside of model</a:t>
            </a:r>
          </a:p>
          <a:p>
            <a:pPr lvl="1"/>
            <a:r>
              <a:rPr lang="en-GB" dirty="0"/>
              <a:t>information on treatments must be assessed within tank … and then pooled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C229E-43AD-4015-B9F8-215A5BBB9F68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6" name="Oval 5"/>
          <p:cNvSpPr/>
          <p:nvPr/>
        </p:nvSpPr>
        <p:spPr>
          <a:xfrm>
            <a:off x="5245333" y="4585743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632010" y="4154506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265238" y="4187788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834533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8892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11513" y="4865771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03360" y="4766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76617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710175" y="423875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8453858" y="556350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045704" y="5464524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8418961" y="5207265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8252521" y="4936493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410133" y="3789041"/>
            <a:ext cx="1217833" cy="1955489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 rot="327589">
            <a:off x="7887617" y="4151644"/>
            <a:ext cx="1217833" cy="1955489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 rot="1156490">
            <a:off x="4925090" y="4003573"/>
            <a:ext cx="1217833" cy="1955489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494113" y="4551174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040543" y="5297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07315" y="5374002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8571361" y="4904142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25274" y="4000791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5778" y="4154505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3661" y="3609948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2</a:t>
            </a:r>
          </a:p>
        </p:txBody>
      </p:sp>
    </p:spTree>
    <p:extLst>
      <p:ext uri="{BB962C8B-B14F-4D97-AF65-F5344CB8AC3E}">
        <p14:creationId xmlns:p14="http://schemas.microsoft.com/office/powerpoint/2010/main" val="2002374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 assume the tanks are fixed</a:t>
            </a:r>
          </a:p>
          <a:p>
            <a:pPr lvl="1"/>
            <a:r>
              <a:rPr lang="en-GB" dirty="0"/>
              <a:t>assume differences across tanks caused by unassessed, systematic effects outside of model</a:t>
            </a:r>
          </a:p>
          <a:p>
            <a:pPr lvl="1"/>
            <a:r>
              <a:rPr lang="en-GB" dirty="0"/>
              <a:t>information on treatments must be assessed within tank … and then pooled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C229E-43AD-4015-B9F8-215A5BBB9F68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6" name="Oval 5"/>
          <p:cNvSpPr/>
          <p:nvPr/>
        </p:nvSpPr>
        <p:spPr>
          <a:xfrm>
            <a:off x="5245333" y="4585743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632010" y="4154506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265238" y="4187788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834533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8892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11513" y="4865771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03360" y="4766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76617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710175" y="423875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8453858" y="556350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045704" y="5464524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8418961" y="5207265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8252521" y="4936493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410133" y="3789041"/>
            <a:ext cx="1217833" cy="1955489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 rot="327589">
            <a:off x="7887617" y="4151644"/>
            <a:ext cx="1217833" cy="1955489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 rot="1156490">
            <a:off x="4925090" y="4003573"/>
            <a:ext cx="1217833" cy="1955489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494113" y="4551174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040543" y="5297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07315" y="5374002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8571361" y="4904142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25274" y="4000791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5778" y="4154505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3661" y="3609948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2</a:t>
            </a:r>
          </a:p>
        </p:txBody>
      </p:sp>
      <p:sp>
        <p:nvSpPr>
          <p:cNvPr id="18" name="Rectangle 17"/>
          <p:cNvSpPr/>
          <p:nvPr/>
        </p:nvSpPr>
        <p:spPr>
          <a:xfrm rot="21245676">
            <a:off x="2209800" y="4690570"/>
            <a:ext cx="2518048" cy="118670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And the individual tanks are not well designed!</a:t>
            </a:r>
          </a:p>
        </p:txBody>
      </p:sp>
    </p:spTree>
    <p:extLst>
      <p:ext uri="{BB962C8B-B14F-4D97-AF65-F5344CB8AC3E}">
        <p14:creationId xmlns:p14="http://schemas.microsoft.com/office/powerpoint/2010/main" val="6585038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 assume the tanks are random</a:t>
            </a:r>
          </a:p>
          <a:p>
            <a:pPr lvl="1"/>
            <a:r>
              <a:rPr lang="en-GB" dirty="0"/>
              <a:t>assume differences are caused by unknown random influences which have a variance</a:t>
            </a:r>
          </a:p>
          <a:p>
            <a:pPr lvl="1"/>
            <a:r>
              <a:rPr lang="en-GB" dirty="0"/>
              <a:t>estimate degree to which tank differences are due to treatment and to the random tank variance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5B954-1848-446B-95F9-06895CB0547A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6" name="Oval 5"/>
          <p:cNvSpPr/>
          <p:nvPr/>
        </p:nvSpPr>
        <p:spPr>
          <a:xfrm>
            <a:off x="5245333" y="4585743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632010" y="4154506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265238" y="4187788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834533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78892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11513" y="4865771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03360" y="4766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76617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710175" y="423875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8453858" y="556350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045704" y="5464524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8418961" y="5207265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8252521" y="4936493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6410133" y="3793711"/>
            <a:ext cx="1217833" cy="1955489"/>
          </a:xfrm>
          <a:prstGeom prst="ellipse">
            <a:avLst/>
          </a:prstGeom>
          <a:noFill/>
          <a:ln w="762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 rot="327589">
            <a:off x="7887617" y="4156314"/>
            <a:ext cx="1217833" cy="1955489"/>
          </a:xfrm>
          <a:prstGeom prst="ellipse">
            <a:avLst/>
          </a:prstGeom>
          <a:noFill/>
          <a:ln w="762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 rot="1156490">
            <a:off x="4925089" y="4008243"/>
            <a:ext cx="1217833" cy="1955489"/>
          </a:xfrm>
          <a:prstGeom prst="ellipse">
            <a:avLst/>
          </a:prstGeom>
          <a:noFill/>
          <a:ln w="762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494113" y="4551174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040543" y="5297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07315" y="5374002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8571361" y="4904142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25274" y="4000791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5778" y="4154505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3661" y="3609948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Tank 2</a:t>
            </a:r>
          </a:p>
        </p:txBody>
      </p:sp>
    </p:spTree>
    <p:extLst>
      <p:ext uri="{BB962C8B-B14F-4D97-AF65-F5344CB8AC3E}">
        <p14:creationId xmlns:p14="http://schemas.microsoft.com/office/powerpoint/2010/main" val="3836101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24A0-812A-45DA-A2B1-F5E499574AF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059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Phosphorus Metabolism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2" y="1196975"/>
            <a:ext cx="6480000" cy="4968875"/>
          </a:xfrm>
        </p:spPr>
        <p:txBody>
          <a:bodyPr/>
          <a:lstStyle/>
          <a:p>
            <a:r>
              <a:rPr lang="en-GB" dirty="0"/>
              <a:t>3 treatments in 3 blocks … poor !!!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36061F4-E978-4EBB-A8FC-8EF8B28B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0096" y="1196976"/>
            <a:ext cx="4992722" cy="49688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AF478DA4-7318-48BC-BC14-FFEBE27748E1}" type="datetime4">
              <a:rPr lang="en-GB" smtClean="0"/>
              <a:pPr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/>
              <a:t>Lecture 5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148288" y="2060848"/>
            <a:ext cx="540000" cy="2880320"/>
            <a:chOff x="1691680" y="1844824"/>
            <a:chExt cx="1008112" cy="2880320"/>
          </a:xfrm>
        </p:grpSpPr>
        <p:grpSp>
          <p:nvGrpSpPr>
            <p:cNvPr id="8" name="Group 7"/>
            <p:cNvGrpSpPr/>
            <p:nvPr/>
          </p:nvGrpSpPr>
          <p:grpSpPr>
            <a:xfrm>
              <a:off x="1691680" y="1844824"/>
              <a:ext cx="1008112" cy="1440160"/>
              <a:chOff x="1691680" y="1844824"/>
              <a:chExt cx="1008112" cy="144016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691680" y="3284984"/>
              <a:ext cx="1008112" cy="1440160"/>
              <a:chOff x="1691680" y="1844824"/>
              <a:chExt cx="1008112" cy="144016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8940376" y="2060848"/>
            <a:ext cx="540000" cy="2880320"/>
            <a:chOff x="3563888" y="1844824"/>
            <a:chExt cx="1008112" cy="2880320"/>
          </a:xfrm>
        </p:grpSpPr>
        <p:grpSp>
          <p:nvGrpSpPr>
            <p:cNvPr id="12" name="Group 11"/>
            <p:cNvGrpSpPr/>
            <p:nvPr/>
          </p:nvGrpSpPr>
          <p:grpSpPr>
            <a:xfrm>
              <a:off x="3563888" y="1844824"/>
              <a:ext cx="1008112" cy="1440160"/>
              <a:chOff x="1691680" y="1844824"/>
              <a:chExt cx="1008112" cy="144016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563888" y="3284984"/>
              <a:ext cx="1008112" cy="1440160"/>
              <a:chOff x="1691680" y="1844824"/>
              <a:chExt cx="1008112" cy="144016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9732464" y="2060848"/>
            <a:ext cx="540000" cy="2880320"/>
            <a:chOff x="4788024" y="1844824"/>
            <a:chExt cx="1008112" cy="2880320"/>
          </a:xfrm>
          <a:solidFill>
            <a:srgbClr val="FFC000"/>
          </a:solidFill>
        </p:grpSpPr>
        <p:grpSp>
          <p:nvGrpSpPr>
            <p:cNvPr id="18" name="Group 17"/>
            <p:cNvGrpSpPr/>
            <p:nvPr/>
          </p:nvGrpSpPr>
          <p:grpSpPr>
            <a:xfrm>
              <a:off x="4788024" y="1844824"/>
              <a:ext cx="1008112" cy="1440160"/>
              <a:chOff x="1691680" y="1844824"/>
              <a:chExt cx="1008112" cy="1440160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4788024" y="3284984"/>
              <a:ext cx="1008112" cy="1440160"/>
              <a:chOff x="1691680" y="1844824"/>
              <a:chExt cx="1008112" cy="1440160"/>
            </a:xfrm>
            <a:grpFill/>
          </p:grpSpPr>
          <p:sp>
            <p:nvSpPr>
              <p:cNvPr id="22" name="Rectangle 21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</p:grpSp>
      </p:grpSp>
      <p:sp>
        <p:nvSpPr>
          <p:cNvPr id="28" name="TextBox 27"/>
          <p:cNvSpPr txBox="1"/>
          <p:nvPr/>
        </p:nvSpPr>
        <p:spPr>
          <a:xfrm>
            <a:off x="8220296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2384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4472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5137125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Phosphorus Metabolism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2" y="1196975"/>
            <a:ext cx="6480000" cy="4968875"/>
          </a:xfrm>
        </p:spPr>
        <p:txBody>
          <a:bodyPr/>
          <a:lstStyle/>
          <a:p>
            <a:r>
              <a:rPr lang="en-GB" dirty="0"/>
              <a:t>3 treatments in 3 blocks … poor !!!</a:t>
            </a:r>
          </a:p>
          <a:p>
            <a:r>
              <a:rPr lang="en-GB" dirty="0"/>
              <a:t>If blocks are fixed</a:t>
            </a:r>
          </a:p>
          <a:p>
            <a:pPr lvl="1"/>
            <a:r>
              <a:rPr lang="en-GB" dirty="0"/>
              <a:t>only A &amp; B can be compared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36061F4-E978-4EBB-A8FC-8EF8B28B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0096" y="1196976"/>
            <a:ext cx="4992722" cy="49688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AF478DA4-7318-48BC-BC14-FFEBE27748E1}" type="datetime4">
              <a:rPr lang="en-GB" smtClean="0"/>
              <a:pPr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/>
              <a:t>Lecture 5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148288" y="2060848"/>
            <a:ext cx="540000" cy="2880320"/>
            <a:chOff x="1691680" y="1844824"/>
            <a:chExt cx="1008112" cy="2880320"/>
          </a:xfrm>
        </p:grpSpPr>
        <p:grpSp>
          <p:nvGrpSpPr>
            <p:cNvPr id="8" name="Group 7"/>
            <p:cNvGrpSpPr/>
            <p:nvPr/>
          </p:nvGrpSpPr>
          <p:grpSpPr>
            <a:xfrm>
              <a:off x="1691680" y="1844824"/>
              <a:ext cx="1008112" cy="1440160"/>
              <a:chOff x="1691680" y="1844824"/>
              <a:chExt cx="1008112" cy="144016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691680" y="3284984"/>
              <a:ext cx="1008112" cy="1440160"/>
              <a:chOff x="1691680" y="1844824"/>
              <a:chExt cx="1008112" cy="144016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8940376" y="2060848"/>
            <a:ext cx="540000" cy="2880320"/>
            <a:chOff x="3563888" y="1844824"/>
            <a:chExt cx="1008112" cy="2880320"/>
          </a:xfrm>
        </p:grpSpPr>
        <p:grpSp>
          <p:nvGrpSpPr>
            <p:cNvPr id="12" name="Group 11"/>
            <p:cNvGrpSpPr/>
            <p:nvPr/>
          </p:nvGrpSpPr>
          <p:grpSpPr>
            <a:xfrm>
              <a:off x="3563888" y="1844824"/>
              <a:ext cx="1008112" cy="1440160"/>
              <a:chOff x="1691680" y="1844824"/>
              <a:chExt cx="1008112" cy="144016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563888" y="3284984"/>
              <a:ext cx="1008112" cy="1440160"/>
              <a:chOff x="1691680" y="1844824"/>
              <a:chExt cx="1008112" cy="144016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9732464" y="2060848"/>
            <a:ext cx="540000" cy="2880320"/>
            <a:chOff x="4788024" y="1844824"/>
            <a:chExt cx="1008112" cy="2880320"/>
          </a:xfrm>
          <a:solidFill>
            <a:srgbClr val="FFC000"/>
          </a:solidFill>
        </p:grpSpPr>
        <p:grpSp>
          <p:nvGrpSpPr>
            <p:cNvPr id="18" name="Group 17"/>
            <p:cNvGrpSpPr/>
            <p:nvPr/>
          </p:nvGrpSpPr>
          <p:grpSpPr>
            <a:xfrm>
              <a:off x="4788024" y="1844824"/>
              <a:ext cx="1008112" cy="1440160"/>
              <a:chOff x="1691680" y="1844824"/>
              <a:chExt cx="1008112" cy="1440160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4788024" y="3284984"/>
              <a:ext cx="1008112" cy="1440160"/>
              <a:chOff x="1691680" y="1844824"/>
              <a:chExt cx="1008112" cy="1440160"/>
            </a:xfrm>
            <a:grpFill/>
          </p:grpSpPr>
          <p:sp>
            <p:nvSpPr>
              <p:cNvPr id="22" name="Rectangle 21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</p:grpSp>
      </p:grpSp>
      <p:sp>
        <p:nvSpPr>
          <p:cNvPr id="28" name="TextBox 27"/>
          <p:cNvSpPr txBox="1"/>
          <p:nvPr/>
        </p:nvSpPr>
        <p:spPr>
          <a:xfrm>
            <a:off x="8220296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2384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4472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516550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dirty="0"/>
              <a:t>Phosphorus Metabolism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2" y="1196975"/>
            <a:ext cx="6480000" cy="4968875"/>
          </a:xfrm>
        </p:spPr>
        <p:txBody>
          <a:bodyPr/>
          <a:lstStyle/>
          <a:p>
            <a:r>
              <a:rPr lang="en-GB" dirty="0"/>
              <a:t>3 treatments in 3 blocks … poor !!!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If blocks are fixed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only A &amp; B can be compared</a:t>
            </a:r>
          </a:p>
          <a:p>
            <a:r>
              <a:rPr lang="en-GB" dirty="0"/>
              <a:t>If blocks are random</a:t>
            </a:r>
          </a:p>
          <a:p>
            <a:pPr lvl="1"/>
            <a:r>
              <a:rPr lang="en-GB" dirty="0"/>
              <a:t>information on block differences from </a:t>
            </a:r>
            <a:r>
              <a:rPr lang="en-GB" b="1" dirty="0"/>
              <a:t>I </a:t>
            </a:r>
            <a:r>
              <a:rPr lang="en-GB" dirty="0"/>
              <a:t>&amp; </a:t>
            </a:r>
            <a:r>
              <a:rPr lang="en-GB" b="1" dirty="0"/>
              <a:t>II</a:t>
            </a:r>
            <a:r>
              <a:rPr lang="en-GB" dirty="0"/>
              <a:t> allow an estimate of the variance between blocks</a:t>
            </a:r>
          </a:p>
          <a:p>
            <a:pPr lvl="1"/>
            <a:r>
              <a:rPr lang="en-GB" dirty="0"/>
              <a:t>allows a partition of errors into block variance and residual variance</a:t>
            </a:r>
          </a:p>
          <a:p>
            <a:pPr lvl="1"/>
            <a:r>
              <a:rPr lang="en-GB" dirty="0"/>
              <a:t>hence an estimate of treatment C!    </a:t>
            </a:r>
          </a:p>
          <a:p>
            <a:pPr lvl="1"/>
            <a:r>
              <a:rPr lang="en-GB" dirty="0"/>
              <a:t>value of estimate in this example? </a:t>
            </a:r>
          </a:p>
          <a:p>
            <a:r>
              <a:rPr lang="en-GB" dirty="0"/>
              <a:t>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36061F4-E978-4EBB-A8FC-8EF8B28B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0096" y="1196976"/>
            <a:ext cx="4992722" cy="49688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/>
          <a:p>
            <a:fld id="{AF478DA4-7318-48BC-BC14-FFEBE27748E1}" type="datetime4">
              <a:rPr lang="en-GB" smtClean="0"/>
              <a:pPr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/>
          <a:p>
            <a:r>
              <a:rPr lang="en-GB"/>
              <a:t>Lecture 5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148288" y="2060848"/>
            <a:ext cx="540000" cy="2880320"/>
            <a:chOff x="1691680" y="1844824"/>
            <a:chExt cx="1008112" cy="2880320"/>
          </a:xfrm>
        </p:grpSpPr>
        <p:grpSp>
          <p:nvGrpSpPr>
            <p:cNvPr id="8" name="Group 7"/>
            <p:cNvGrpSpPr/>
            <p:nvPr/>
          </p:nvGrpSpPr>
          <p:grpSpPr>
            <a:xfrm>
              <a:off x="1691680" y="1844824"/>
              <a:ext cx="1008112" cy="1440160"/>
              <a:chOff x="1691680" y="1844824"/>
              <a:chExt cx="1008112" cy="144016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691680" y="3284984"/>
              <a:ext cx="1008112" cy="1440160"/>
              <a:chOff x="1691680" y="1844824"/>
              <a:chExt cx="1008112" cy="144016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8940376" y="2060848"/>
            <a:ext cx="540000" cy="2880320"/>
            <a:chOff x="3563888" y="1844824"/>
            <a:chExt cx="1008112" cy="2880320"/>
          </a:xfrm>
        </p:grpSpPr>
        <p:grpSp>
          <p:nvGrpSpPr>
            <p:cNvPr id="12" name="Group 11"/>
            <p:cNvGrpSpPr/>
            <p:nvPr/>
          </p:nvGrpSpPr>
          <p:grpSpPr>
            <a:xfrm>
              <a:off x="3563888" y="1844824"/>
              <a:ext cx="1008112" cy="1440160"/>
              <a:chOff x="1691680" y="1844824"/>
              <a:chExt cx="1008112" cy="144016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563888" y="3284984"/>
              <a:ext cx="1008112" cy="1440160"/>
              <a:chOff x="1691680" y="1844824"/>
              <a:chExt cx="1008112" cy="144016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B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</a:t>
                </a: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9732464" y="2060848"/>
            <a:ext cx="540000" cy="2880320"/>
            <a:chOff x="4788024" y="1844824"/>
            <a:chExt cx="1008112" cy="2880320"/>
          </a:xfrm>
          <a:solidFill>
            <a:srgbClr val="FFC000"/>
          </a:solidFill>
        </p:grpSpPr>
        <p:grpSp>
          <p:nvGrpSpPr>
            <p:cNvPr id="18" name="Group 17"/>
            <p:cNvGrpSpPr/>
            <p:nvPr/>
          </p:nvGrpSpPr>
          <p:grpSpPr>
            <a:xfrm>
              <a:off x="4788024" y="1844824"/>
              <a:ext cx="1008112" cy="1440160"/>
              <a:chOff x="1691680" y="1844824"/>
              <a:chExt cx="1008112" cy="1440160"/>
            </a:xfrm>
            <a:grpFill/>
          </p:grpSpPr>
          <p:sp>
            <p:nvSpPr>
              <p:cNvPr id="19" name="Rectangle 18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4788024" y="3284984"/>
              <a:ext cx="1008112" cy="1440160"/>
              <a:chOff x="1691680" y="1844824"/>
              <a:chExt cx="1008112" cy="1440160"/>
            </a:xfrm>
            <a:grpFill/>
          </p:grpSpPr>
          <p:sp>
            <p:nvSpPr>
              <p:cNvPr id="22" name="Rectangle 21"/>
              <p:cNvSpPr/>
              <p:nvPr/>
            </p:nvSpPr>
            <p:spPr>
              <a:xfrm>
                <a:off x="1691680" y="184482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691680" y="2564904"/>
                <a:ext cx="1008112" cy="72008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</a:t>
                </a:r>
              </a:p>
            </p:txBody>
          </p:sp>
        </p:grpSp>
      </p:grpSp>
      <p:sp>
        <p:nvSpPr>
          <p:cNvPr id="28" name="TextBox 27"/>
          <p:cNvSpPr txBox="1"/>
          <p:nvPr/>
        </p:nvSpPr>
        <p:spPr>
          <a:xfrm>
            <a:off x="8220296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2384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4472" y="5301208"/>
            <a:ext cx="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656348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Patterson &amp; Thompson’s original REML paper was on recovery of inter-block information</a:t>
            </a:r>
          </a:p>
          <a:p>
            <a:pPr lvl="1"/>
            <a:r>
              <a:rPr lang="en-GB" dirty="0"/>
              <a:t>illustrates consequences of random/fixed choice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6964-7493-4914-AF3E-1146A399DED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1210791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Patterson &amp; Thompson’s original REML paper was on recovery of inter-block information</a:t>
            </a:r>
          </a:p>
          <a:p>
            <a:pPr lvl="1"/>
            <a:r>
              <a:rPr lang="en-GB" dirty="0"/>
              <a:t>illustrates consequences of random/fixed choice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Do you want to recover it?</a:t>
            </a:r>
          </a:p>
          <a:p>
            <a:pPr lvl="1"/>
            <a:r>
              <a:rPr lang="en-GB" dirty="0"/>
              <a:t>the P study</a:t>
            </a:r>
          </a:p>
          <a:p>
            <a:pPr lvl="2"/>
            <a:r>
              <a:rPr lang="en-GB" dirty="0"/>
              <a:t>confounding of treatment with block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E577E-C061-401C-B050-02754424769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6" name="TextBox 5"/>
          <p:cNvSpPr txBox="1"/>
          <p:nvPr/>
        </p:nvSpPr>
        <p:spPr>
          <a:xfrm rot="532572">
            <a:off x="6816080" y="3789041"/>
            <a:ext cx="3672533" cy="8309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Yes!!! It allows more estimates to be made</a:t>
            </a:r>
          </a:p>
        </p:txBody>
      </p:sp>
    </p:spTree>
    <p:extLst>
      <p:ext uri="{BB962C8B-B14F-4D97-AF65-F5344CB8AC3E}">
        <p14:creationId xmlns:p14="http://schemas.microsoft.com/office/powerpoint/2010/main" val="1907181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586C-F93E-436E-8538-AC433E08D44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0151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Variation in TB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bovine TB breakdown is a mini-epidemic</a:t>
            </a:r>
          </a:p>
          <a:p>
            <a:r>
              <a:rPr lang="en-GB" dirty="0"/>
              <a:t>Herds are closed during epidemic (H1, H2 …)</a:t>
            </a:r>
          </a:p>
          <a:p>
            <a:r>
              <a:rPr lang="en-GB" dirty="0"/>
              <a:t>How does one interpret the following?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86E1-008C-4807-A596-DA31F32AB34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835062" y="3697574"/>
            <a:ext cx="7285575" cy="2409559"/>
            <a:chOff x="2311061" y="3697573"/>
            <a:chExt cx="7285575" cy="2409559"/>
          </a:xfrm>
        </p:grpSpPr>
        <p:sp>
          <p:nvSpPr>
            <p:cNvPr id="9" name="Oval 8"/>
            <p:cNvSpPr/>
            <p:nvPr/>
          </p:nvSpPr>
          <p:spPr>
            <a:xfrm>
              <a:off x="3721332" y="4585742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108009" y="4154505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741237" y="4187787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144092" y="5045593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310532" y="4509527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554891" y="5045593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387512" y="4865770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4979359" y="4766785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44092" y="5045593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352616" y="4509527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186174" y="4238755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6929857" y="5563507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6521703" y="5464523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6894960" y="5207264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6728520" y="4936492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4886132" y="3789040"/>
              <a:ext cx="1217833" cy="19554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/>
            <p:cNvSpPr/>
            <p:nvPr/>
          </p:nvSpPr>
          <p:spPr>
            <a:xfrm rot="327589">
              <a:off x="6363616" y="4151643"/>
              <a:ext cx="1217833" cy="19554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/>
            <p:cNvSpPr/>
            <p:nvPr/>
          </p:nvSpPr>
          <p:spPr>
            <a:xfrm rot="1156490">
              <a:off x="3401089" y="4003572"/>
              <a:ext cx="1217833" cy="19554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/>
            <p:cNvSpPr/>
            <p:nvPr/>
          </p:nvSpPr>
          <p:spPr>
            <a:xfrm>
              <a:off x="6970112" y="4551173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5516542" y="5297785"/>
              <a:ext cx="169125" cy="18104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3883314" y="5374001"/>
              <a:ext cx="169125" cy="18104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7047360" y="4904141"/>
              <a:ext cx="169125" cy="181043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C00000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11061" y="3702623"/>
              <a:ext cx="1764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Herd 1: </a:t>
              </a:r>
              <a:r>
                <a:rPr lang="en-GB" sz="2400" b="1" dirty="0"/>
                <a:t>††††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11777" y="4154505"/>
              <a:ext cx="2084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Herd 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871517" y="3697573"/>
              <a:ext cx="20848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Herd 2: </a:t>
              </a:r>
              <a:r>
                <a:rPr lang="en-GB" sz="2400" b="1" dirty="0"/>
                <a:t>†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523841" y="4936493"/>
            <a:ext cx="302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Sire families: </a:t>
            </a:r>
          </a:p>
          <a:p>
            <a:r>
              <a:rPr lang="en-GB" sz="2400" dirty="0"/>
              <a:t>‘red’, ‘yellow’ &amp; ‘blue’</a:t>
            </a:r>
          </a:p>
        </p:txBody>
      </p:sp>
    </p:spTree>
    <p:extLst>
      <p:ext uri="{BB962C8B-B14F-4D97-AF65-F5344CB8AC3E}">
        <p14:creationId xmlns:p14="http://schemas.microsoft.com/office/powerpoint/2010/main" val="10100967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Variation in TB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bovine TB breakdown is a mini-epidemic</a:t>
            </a:r>
          </a:p>
          <a:p>
            <a:r>
              <a:rPr lang="en-GB" dirty="0"/>
              <a:t>Herds are closed during epidemic (H1, H2 …)</a:t>
            </a:r>
          </a:p>
          <a:p>
            <a:r>
              <a:rPr lang="en-GB" dirty="0"/>
              <a:t>How does one interpret the following?</a:t>
            </a:r>
          </a:p>
          <a:p>
            <a:r>
              <a:rPr lang="en-GB" dirty="0"/>
              <a:t>Are herds fixed or random?</a:t>
            </a:r>
          </a:p>
          <a:p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ACF6E-A631-4F43-BB29-335B3E2320D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9" name="Oval 8"/>
          <p:cNvSpPr/>
          <p:nvPr/>
        </p:nvSpPr>
        <p:spPr>
          <a:xfrm>
            <a:off x="5245333" y="4585743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632010" y="4154506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265238" y="4187788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34533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78892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11513" y="4865771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03360" y="4766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68093" y="504559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876617" y="450952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710175" y="423875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8453858" y="5563508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45704" y="5464524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418961" y="5207265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8252521" y="4936493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10133" y="3789041"/>
            <a:ext cx="1217833" cy="19554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 rot="327589">
            <a:off x="7887617" y="4151644"/>
            <a:ext cx="1217833" cy="19554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 rot="1156490">
            <a:off x="4925090" y="4003573"/>
            <a:ext cx="1217833" cy="19554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8494113" y="4551174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7040543" y="5297786"/>
            <a:ext cx="169125" cy="18104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5407315" y="5374002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8571361" y="4904142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35062" y="3702624"/>
            <a:ext cx="176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Herd 1: </a:t>
            </a:r>
            <a:r>
              <a:rPr lang="en-GB" sz="2400" b="1" dirty="0"/>
              <a:t>††††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5778" y="4154505"/>
            <a:ext cx="208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Herd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2145" y="3697574"/>
            <a:ext cx="2084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Herd 2: </a:t>
            </a:r>
            <a:r>
              <a:rPr lang="en-GB" sz="2400" b="1" dirty="0"/>
              <a:t>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392" y="4551173"/>
            <a:ext cx="4035194" cy="120032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GB" sz="2400" dirty="0"/>
              <a:t>Is the mortality in Herd 1 due to the herd environment or the ‘red’ sire?</a:t>
            </a:r>
          </a:p>
        </p:txBody>
      </p:sp>
    </p:spTree>
    <p:extLst>
      <p:ext uri="{BB962C8B-B14F-4D97-AF65-F5344CB8AC3E}">
        <p14:creationId xmlns:p14="http://schemas.microsoft.com/office/powerpoint/2010/main" val="12159203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Variation in TB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herds fixed or random? </a:t>
            </a:r>
          </a:p>
          <a:p>
            <a:pPr lvl="1"/>
            <a:r>
              <a:rPr lang="en-GB" dirty="0"/>
              <a:t>is it OK to say </a:t>
            </a:r>
          </a:p>
          <a:p>
            <a:pPr marL="457200" lvl="1" indent="0">
              <a:buNone/>
            </a:pPr>
            <a:r>
              <a:rPr lang="en-GB" dirty="0"/>
              <a:t>	“H1 high TB &amp;    ”, “H3 with low TB &amp;   ”, is evidence “    &gt;   ”?</a:t>
            </a:r>
          </a:p>
          <a:p>
            <a:pPr lvl="1"/>
            <a:r>
              <a:rPr lang="en-GB" dirty="0"/>
              <a:t>i.e. is it OK to recover information from between herds?</a:t>
            </a:r>
          </a:p>
          <a:p>
            <a:pPr lvl="1"/>
            <a:r>
              <a:rPr lang="en-GB" dirty="0"/>
              <a:t>i.e. is it OK to treat herds as random from a distribution?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1A6C-1D6C-4432-9F93-DD58665159D0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sp>
        <p:nvSpPr>
          <p:cNvPr id="8" name="Oval 7"/>
          <p:cNvSpPr/>
          <p:nvPr/>
        </p:nvSpPr>
        <p:spPr>
          <a:xfrm>
            <a:off x="9773236" y="245165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114708" y="2451654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622619" y="2451654"/>
            <a:ext cx="169125" cy="18104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319363" y="2451653"/>
            <a:ext cx="169125" cy="18104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2564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Variation in TB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herds fixed or random? </a:t>
            </a:r>
          </a:p>
          <a:p>
            <a:pPr lvl="1"/>
            <a:r>
              <a:rPr lang="en-GB" dirty="0"/>
              <a:t>why has Herd 3 no cases?</a:t>
            </a:r>
          </a:p>
          <a:p>
            <a:pPr lvl="1"/>
            <a:r>
              <a:rPr lang="en-GB" dirty="0"/>
              <a:t>is it due to ‘blue’ sire or absence of pathogen?</a:t>
            </a:r>
          </a:p>
          <a:p>
            <a:pPr lvl="1"/>
            <a:r>
              <a:rPr lang="en-GB" dirty="0"/>
              <a:t>no badgers? </a:t>
            </a:r>
          </a:p>
          <a:p>
            <a:pPr lvl="1"/>
            <a:r>
              <a:rPr lang="en-GB" dirty="0"/>
              <a:t>“forces of infection”, importation events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641A-6E33-409B-A7C8-A53A9742115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42430016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5115E7-6D20-4865-83BE-E953817D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Herds as Fixed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C5A-3D5F-4950-8A7E-9A1FD809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DBB6-18DA-4B50-BB9A-57FFA9909E8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E5CD-D1FA-4077-8617-F3D1D69D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58DD1E-5C62-4B56-AF78-3157C9277AEC}"/>
              </a:ext>
            </a:extLst>
          </p:cNvPr>
          <p:cNvCxnSpPr>
            <a:cxnSpLocks/>
          </p:cNvCxnSpPr>
          <p:nvPr/>
        </p:nvCxnSpPr>
        <p:spPr>
          <a:xfrm flipV="1">
            <a:off x="5447928" y="1700808"/>
            <a:ext cx="0" cy="367240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32D3D2-32F0-41B1-A092-69DBFF3DF0EB}"/>
              </a:ext>
            </a:extLst>
          </p:cNvPr>
          <p:cNvSpPr txBox="1"/>
          <p:nvPr/>
        </p:nvSpPr>
        <p:spPr>
          <a:xfrm>
            <a:off x="4799856" y="5579948"/>
            <a:ext cx="136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‘LS’ Means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9DFCE1-5C6F-44D3-B4E4-352A2F71969B}"/>
              </a:ext>
            </a:extLst>
          </p:cNvPr>
          <p:cNvGrpSpPr/>
          <p:nvPr/>
        </p:nvGrpSpPr>
        <p:grpSpPr>
          <a:xfrm>
            <a:off x="3849437" y="4680000"/>
            <a:ext cx="1598491" cy="576064"/>
            <a:chOff x="3849437" y="2204975"/>
            <a:chExt cx="1598491" cy="5760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9B01CF-F4BB-4051-8792-094A9C4A0ABF}"/>
                </a:ext>
              </a:extLst>
            </p:cNvPr>
            <p:cNvSpPr/>
            <p:nvPr/>
          </p:nvSpPr>
          <p:spPr>
            <a:xfrm>
              <a:off x="3849437" y="2204975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H4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EB35A35-FDD3-47A6-BB5C-6142998DCF74}"/>
                </a:ext>
              </a:extLst>
            </p:cNvPr>
            <p:cNvCxnSpPr>
              <a:endCxn id="10" idx="3"/>
            </p:cNvCxnSpPr>
            <p:nvPr/>
          </p:nvCxnSpPr>
          <p:spPr>
            <a:xfrm flipH="1">
              <a:off x="4425499" y="2492896"/>
              <a:ext cx="1022429" cy="0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F7D94B-C532-4F48-8DB9-C1FAA557DEC3}"/>
              </a:ext>
            </a:extLst>
          </p:cNvPr>
          <p:cNvGrpSpPr/>
          <p:nvPr/>
        </p:nvGrpSpPr>
        <p:grpSpPr>
          <a:xfrm>
            <a:off x="2351584" y="3840000"/>
            <a:ext cx="3096344" cy="576064"/>
            <a:chOff x="2351584" y="4365104"/>
            <a:chExt cx="3096344" cy="5760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6024B1-BF45-4F6D-B19E-F2256C1A6644}"/>
                </a:ext>
              </a:extLst>
            </p:cNvPr>
            <p:cNvSpPr/>
            <p:nvPr/>
          </p:nvSpPr>
          <p:spPr>
            <a:xfrm>
              <a:off x="2351584" y="4365104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4CE64C7-7FF4-4F9C-9BF6-A1BFCF079C9E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H="1">
              <a:off x="2927646" y="4653136"/>
              <a:ext cx="2520282" cy="0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F57673-0E0C-456D-AAAC-779A138CDE2C}"/>
              </a:ext>
            </a:extLst>
          </p:cNvPr>
          <p:cNvGrpSpPr/>
          <p:nvPr/>
        </p:nvGrpSpPr>
        <p:grpSpPr>
          <a:xfrm>
            <a:off x="5447927" y="3000000"/>
            <a:ext cx="2304255" cy="576064"/>
            <a:chOff x="5447927" y="3645061"/>
            <a:chExt cx="2304255" cy="5760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3C0888-FD5C-4761-8907-701DB624B743}"/>
                </a:ext>
              </a:extLst>
            </p:cNvPr>
            <p:cNvSpPr/>
            <p:nvPr/>
          </p:nvSpPr>
          <p:spPr>
            <a:xfrm>
              <a:off x="7176120" y="3645061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H2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0AC82A-F0A6-4B99-AE36-DFCACDFCC379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5447927" y="3933057"/>
              <a:ext cx="1728193" cy="36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77AE8E-7582-4BB4-AE3F-F451A5A597F4}"/>
              </a:ext>
            </a:extLst>
          </p:cNvPr>
          <p:cNvGrpSpPr/>
          <p:nvPr/>
        </p:nvGrpSpPr>
        <p:grpSpPr>
          <a:xfrm>
            <a:off x="5447926" y="2160000"/>
            <a:ext cx="3961418" cy="576064"/>
            <a:chOff x="5447926" y="2925018"/>
            <a:chExt cx="3961418" cy="5760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571718-94BD-482B-90C8-28C9679748D9}"/>
                </a:ext>
              </a:extLst>
            </p:cNvPr>
            <p:cNvSpPr/>
            <p:nvPr/>
          </p:nvSpPr>
          <p:spPr>
            <a:xfrm>
              <a:off x="8833282" y="2925018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D8814B9-28F3-4AC7-B4F1-D717725B7BE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5447926" y="3212939"/>
              <a:ext cx="3385356" cy="111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4573A7D-5F41-4A7E-8316-9CDCD8DA33E6}"/>
              </a:ext>
            </a:extLst>
          </p:cNvPr>
          <p:cNvCxnSpPr/>
          <p:nvPr/>
        </p:nvCxnSpPr>
        <p:spPr>
          <a:xfrm>
            <a:off x="1847528" y="5517232"/>
            <a:ext cx="770485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1452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5115E7-6D20-4865-83BE-E953817D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Herds as Random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C5A-3D5F-4950-8A7E-9A1FD809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DBB6-18DA-4B50-BB9A-57FFA9909E8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E5CD-D1FA-4077-8617-F3D1D69D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58DD1E-5C62-4B56-AF78-3157C9277AEC}"/>
              </a:ext>
            </a:extLst>
          </p:cNvPr>
          <p:cNvCxnSpPr>
            <a:cxnSpLocks/>
          </p:cNvCxnSpPr>
          <p:nvPr/>
        </p:nvCxnSpPr>
        <p:spPr>
          <a:xfrm flipV="1">
            <a:off x="5447928" y="1700808"/>
            <a:ext cx="0" cy="367240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32D3D2-32F0-41B1-A092-69DBFF3DF0EB}"/>
              </a:ext>
            </a:extLst>
          </p:cNvPr>
          <p:cNvSpPr txBox="1"/>
          <p:nvPr/>
        </p:nvSpPr>
        <p:spPr>
          <a:xfrm>
            <a:off x="4943872" y="5472457"/>
            <a:ext cx="100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Mean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D214D9-49FD-49EB-8679-3F1FAD07563B}"/>
              </a:ext>
            </a:extLst>
          </p:cNvPr>
          <p:cNvGrpSpPr/>
          <p:nvPr/>
        </p:nvGrpSpPr>
        <p:grpSpPr>
          <a:xfrm>
            <a:off x="3849437" y="4680000"/>
            <a:ext cx="1598491" cy="576064"/>
            <a:chOff x="3849437" y="2204975"/>
            <a:chExt cx="1598491" cy="5760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9B01CF-F4BB-4051-8792-094A9C4A0ABF}"/>
                </a:ext>
              </a:extLst>
            </p:cNvPr>
            <p:cNvSpPr/>
            <p:nvPr/>
          </p:nvSpPr>
          <p:spPr>
            <a:xfrm>
              <a:off x="3849437" y="2204975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H4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EB35A35-FDD3-47A6-BB5C-6142998DCF74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871928" y="2492896"/>
              <a:ext cx="576000" cy="61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8562E3E-AEF8-4ED0-94C2-A4BEBD7B7582}"/>
              </a:ext>
            </a:extLst>
          </p:cNvPr>
          <p:cNvGrpSpPr/>
          <p:nvPr/>
        </p:nvGrpSpPr>
        <p:grpSpPr>
          <a:xfrm>
            <a:off x="2351584" y="3840000"/>
            <a:ext cx="3096344" cy="576064"/>
            <a:chOff x="2351584" y="4365104"/>
            <a:chExt cx="3096344" cy="5760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6024B1-BF45-4F6D-B19E-F2256C1A6644}"/>
                </a:ext>
              </a:extLst>
            </p:cNvPr>
            <p:cNvSpPr/>
            <p:nvPr/>
          </p:nvSpPr>
          <p:spPr>
            <a:xfrm>
              <a:off x="2351584" y="4365104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4CE64C7-7FF4-4F9C-9BF6-A1BFCF079C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5928" y="4653136"/>
              <a:ext cx="1152000" cy="0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752594-3486-418F-955F-F2CAC8DD9791}"/>
              </a:ext>
            </a:extLst>
          </p:cNvPr>
          <p:cNvGrpSpPr/>
          <p:nvPr/>
        </p:nvGrpSpPr>
        <p:grpSpPr>
          <a:xfrm>
            <a:off x="5447927" y="3000000"/>
            <a:ext cx="2304255" cy="576064"/>
            <a:chOff x="5447927" y="3645061"/>
            <a:chExt cx="2304255" cy="5760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3C0888-FD5C-4761-8907-701DB624B743}"/>
                </a:ext>
              </a:extLst>
            </p:cNvPr>
            <p:cNvSpPr/>
            <p:nvPr/>
          </p:nvSpPr>
          <p:spPr>
            <a:xfrm>
              <a:off x="7176120" y="3645061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H2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0AC82A-F0A6-4B99-AE36-DFCACDFCC379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5447927" y="3933057"/>
              <a:ext cx="360000" cy="36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5C58B3-8E03-41C8-A83F-07AB0FC32039}"/>
              </a:ext>
            </a:extLst>
          </p:cNvPr>
          <p:cNvGrpSpPr/>
          <p:nvPr/>
        </p:nvGrpSpPr>
        <p:grpSpPr>
          <a:xfrm>
            <a:off x="5447926" y="2160000"/>
            <a:ext cx="3961418" cy="576064"/>
            <a:chOff x="5447926" y="2925018"/>
            <a:chExt cx="3961418" cy="5760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571718-94BD-482B-90C8-28C9679748D9}"/>
                </a:ext>
              </a:extLst>
            </p:cNvPr>
            <p:cNvSpPr/>
            <p:nvPr/>
          </p:nvSpPr>
          <p:spPr>
            <a:xfrm>
              <a:off x="8833282" y="2925018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D8814B9-28F3-4AC7-B4F1-D717725B7BE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5447926" y="3212939"/>
              <a:ext cx="2088000" cy="111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D7A86E0-0CFE-4959-BBCB-F46B334AD859}"/>
              </a:ext>
            </a:extLst>
          </p:cNvPr>
          <p:cNvSpPr/>
          <p:nvPr/>
        </p:nvSpPr>
        <p:spPr>
          <a:xfrm>
            <a:off x="720000" y="1196975"/>
            <a:ext cx="4176463" cy="791199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Regress back from ‘fixed’</a:t>
            </a:r>
          </a:p>
        </p:txBody>
      </p:sp>
    </p:spTree>
    <p:extLst>
      <p:ext uri="{BB962C8B-B14F-4D97-AF65-F5344CB8AC3E}">
        <p14:creationId xmlns:p14="http://schemas.microsoft.com/office/powerpoint/2010/main" val="452879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5115E7-6D20-4865-83BE-E953817D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Herds as Random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C5A-3D5F-4950-8A7E-9A1FD809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DBB6-18DA-4B50-BB9A-57FFA9909E8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E5CD-D1FA-4077-8617-F3D1D69D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58DD1E-5C62-4B56-AF78-3157C9277AEC}"/>
              </a:ext>
            </a:extLst>
          </p:cNvPr>
          <p:cNvCxnSpPr>
            <a:cxnSpLocks/>
          </p:cNvCxnSpPr>
          <p:nvPr/>
        </p:nvCxnSpPr>
        <p:spPr>
          <a:xfrm flipV="1">
            <a:off x="5447928" y="1700808"/>
            <a:ext cx="0" cy="367240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32D3D2-32F0-41B1-A092-69DBFF3DF0EB}"/>
              </a:ext>
            </a:extLst>
          </p:cNvPr>
          <p:cNvSpPr txBox="1"/>
          <p:nvPr/>
        </p:nvSpPr>
        <p:spPr>
          <a:xfrm>
            <a:off x="4943872" y="5472457"/>
            <a:ext cx="100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Mean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7A86E0-0CFE-4959-BBCB-F46B334AD859}"/>
              </a:ext>
            </a:extLst>
          </p:cNvPr>
          <p:cNvSpPr/>
          <p:nvPr/>
        </p:nvSpPr>
        <p:spPr>
          <a:xfrm>
            <a:off x="720000" y="1196975"/>
            <a:ext cx="4176463" cy="1196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Released variation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… re-interpreted by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How! What model?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E4C3C8C-DB07-4C54-990E-11C4E5D8054C}"/>
              </a:ext>
            </a:extLst>
          </p:cNvPr>
          <p:cNvGrpSpPr/>
          <p:nvPr/>
        </p:nvGrpSpPr>
        <p:grpSpPr>
          <a:xfrm>
            <a:off x="2351584" y="3840000"/>
            <a:ext cx="3096344" cy="576064"/>
            <a:chOff x="2351584" y="4365104"/>
            <a:chExt cx="3096344" cy="5760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6024B1-BF45-4F6D-B19E-F2256C1A6644}"/>
                </a:ext>
              </a:extLst>
            </p:cNvPr>
            <p:cNvSpPr/>
            <p:nvPr/>
          </p:nvSpPr>
          <p:spPr>
            <a:xfrm>
              <a:off x="2351584" y="4365104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4CE64C7-7FF4-4F9C-9BF6-A1BFCF079C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5928" y="4653136"/>
              <a:ext cx="1152000" cy="0"/>
            </a:xfrm>
            <a:prstGeom prst="straightConnector1">
              <a:avLst/>
            </a:prstGeom>
            <a:ln w="63500">
              <a:solidFill>
                <a:srgbClr val="C00000">
                  <a:alpha val="3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97A0D63-5EBF-42B4-82B3-BECE1ED865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7646" y="4653136"/>
              <a:ext cx="1368193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DE3AB1D-8748-4B26-9A29-F6F1EBD26EBF}"/>
              </a:ext>
            </a:extLst>
          </p:cNvPr>
          <p:cNvGrpSpPr/>
          <p:nvPr/>
        </p:nvGrpSpPr>
        <p:grpSpPr>
          <a:xfrm>
            <a:off x="5447927" y="3000000"/>
            <a:ext cx="2304255" cy="576064"/>
            <a:chOff x="5447927" y="3645061"/>
            <a:chExt cx="2304255" cy="5760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3C0888-FD5C-4761-8907-701DB624B743}"/>
                </a:ext>
              </a:extLst>
            </p:cNvPr>
            <p:cNvSpPr/>
            <p:nvPr/>
          </p:nvSpPr>
          <p:spPr>
            <a:xfrm>
              <a:off x="7176120" y="3645061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H2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0AC82A-F0A6-4B99-AE36-DFCACDFCC379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5447927" y="3933057"/>
              <a:ext cx="360000" cy="36"/>
            </a:xfrm>
            <a:prstGeom prst="straightConnector1">
              <a:avLst/>
            </a:prstGeom>
            <a:ln w="63500">
              <a:solidFill>
                <a:srgbClr val="C00000">
                  <a:alpha val="3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17E19FA-EDD9-4A09-B90F-DED49E7399E3}"/>
                </a:ext>
              </a:extLst>
            </p:cNvPr>
            <p:cNvCxnSpPr>
              <a:cxnSpLocks/>
            </p:cNvCxnSpPr>
            <p:nvPr/>
          </p:nvCxnSpPr>
          <p:spPr>
            <a:xfrm>
              <a:off x="5807927" y="3933093"/>
              <a:ext cx="1368193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511E3E-7214-4F26-81BB-FD4F6C713738}"/>
              </a:ext>
            </a:extLst>
          </p:cNvPr>
          <p:cNvGrpSpPr/>
          <p:nvPr/>
        </p:nvGrpSpPr>
        <p:grpSpPr>
          <a:xfrm>
            <a:off x="5447926" y="2160000"/>
            <a:ext cx="3961418" cy="576064"/>
            <a:chOff x="5447926" y="2925018"/>
            <a:chExt cx="3961418" cy="5760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571718-94BD-482B-90C8-28C9679748D9}"/>
                </a:ext>
              </a:extLst>
            </p:cNvPr>
            <p:cNvSpPr/>
            <p:nvPr/>
          </p:nvSpPr>
          <p:spPr>
            <a:xfrm>
              <a:off x="8833282" y="2925018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D8814B9-28F3-4AC7-B4F1-D717725B7BE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5447926" y="3212939"/>
              <a:ext cx="2088000" cy="111"/>
            </a:xfrm>
            <a:prstGeom prst="straightConnector1">
              <a:avLst/>
            </a:prstGeom>
            <a:ln w="63500">
              <a:solidFill>
                <a:srgbClr val="C00000">
                  <a:alpha val="3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C57D988-A67B-4142-8799-B81B8066C457}"/>
                </a:ext>
              </a:extLst>
            </p:cNvPr>
            <p:cNvCxnSpPr>
              <a:cxnSpLocks/>
            </p:cNvCxnSpPr>
            <p:nvPr/>
          </p:nvCxnSpPr>
          <p:spPr>
            <a:xfrm>
              <a:off x="7535926" y="3213050"/>
              <a:ext cx="1297356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BB12708-17A2-4071-BED1-BD0E5D8E71E1}"/>
              </a:ext>
            </a:extLst>
          </p:cNvPr>
          <p:cNvGrpSpPr/>
          <p:nvPr/>
        </p:nvGrpSpPr>
        <p:grpSpPr>
          <a:xfrm>
            <a:off x="3849392" y="4680000"/>
            <a:ext cx="1598491" cy="576064"/>
            <a:chOff x="3849392" y="4365104"/>
            <a:chExt cx="1598491" cy="57606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9DD9942-ADDD-45F2-8C7E-D5A9DEB8EA31}"/>
                </a:ext>
              </a:extLst>
            </p:cNvPr>
            <p:cNvSpPr/>
            <p:nvPr/>
          </p:nvSpPr>
          <p:spPr>
            <a:xfrm>
              <a:off x="3849392" y="4365104"/>
              <a:ext cx="57606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H4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DAABACD-3528-43C1-BF7E-FD0E04C2B8D6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871883" y="4653025"/>
              <a:ext cx="576000" cy="61"/>
            </a:xfrm>
            <a:prstGeom prst="straightConnector1">
              <a:avLst/>
            </a:prstGeom>
            <a:ln w="63500">
              <a:solidFill>
                <a:srgbClr val="C00000">
                  <a:alpha val="3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D901711-8959-4C1A-A253-E81D64D22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25454" y="4653136"/>
              <a:ext cx="446429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69038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Variation in TB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herds fixed or random? </a:t>
            </a:r>
          </a:p>
          <a:p>
            <a:pPr lvl="1"/>
            <a:r>
              <a:rPr lang="en-GB" dirty="0"/>
              <a:t>why has Herd 3 no cases?</a:t>
            </a:r>
          </a:p>
          <a:p>
            <a:pPr lvl="1"/>
            <a:r>
              <a:rPr lang="en-GB" dirty="0"/>
              <a:t>is it due to ‘blue’ sire or absence of pathogen?</a:t>
            </a:r>
          </a:p>
          <a:p>
            <a:pPr lvl="1"/>
            <a:r>
              <a:rPr lang="en-GB" dirty="0"/>
              <a:t>no badgers? </a:t>
            </a:r>
          </a:p>
          <a:p>
            <a:pPr lvl="1"/>
            <a:r>
              <a:rPr lang="en-GB" dirty="0"/>
              <a:t>“forces of infection”, importation events</a:t>
            </a:r>
          </a:p>
          <a:p>
            <a:pPr lvl="1"/>
            <a:r>
              <a:rPr lang="en-GB" dirty="0"/>
              <a:t>other systematic effects in a complex control system</a:t>
            </a:r>
          </a:p>
          <a:p>
            <a:r>
              <a:rPr lang="en-GB" dirty="0"/>
              <a:t>Need an excellent between herd model!</a:t>
            </a:r>
          </a:p>
          <a:p>
            <a:pPr lvl="1"/>
            <a:r>
              <a:rPr lang="en-GB" dirty="0"/>
              <a:t>otherwise you may interpret unknowns as genetics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641A-6E33-409B-A7C8-A53A9742115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2007652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68E42-86E9-4542-B5AA-B0A8EF2A0A74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2761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Patterson &amp; Thompson’s original REML paper was on recovery of inter-block information</a:t>
            </a:r>
          </a:p>
          <a:p>
            <a:pPr lvl="1"/>
            <a:r>
              <a:rPr lang="en-GB" dirty="0"/>
              <a:t>illustrates consequences of random/fixed choice</a:t>
            </a:r>
          </a:p>
          <a:p>
            <a:pPr lvl="1"/>
            <a:endParaRPr lang="en-GB" dirty="0"/>
          </a:p>
          <a:p>
            <a:r>
              <a:rPr lang="en-GB" dirty="0"/>
              <a:t>Do you want to recover it?</a:t>
            </a:r>
          </a:p>
          <a:p>
            <a:pPr lvl="1"/>
            <a:r>
              <a:rPr lang="en-GB" dirty="0"/>
              <a:t>the P study</a:t>
            </a:r>
          </a:p>
          <a:p>
            <a:pPr lvl="2"/>
            <a:r>
              <a:rPr lang="en-GB" dirty="0"/>
              <a:t>confounding of a treatment with block</a:t>
            </a:r>
          </a:p>
          <a:p>
            <a:pPr lvl="1"/>
            <a:r>
              <a:rPr lang="en-GB" dirty="0"/>
              <a:t>the TB study</a:t>
            </a:r>
          </a:p>
          <a:p>
            <a:pPr lvl="2"/>
            <a:r>
              <a:rPr lang="en-GB" dirty="0"/>
              <a:t>allowing information from one block to influence another and increase power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A5D7-3891-4C72-8730-222EBE4E8C61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2792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Patterson &amp; Thompson’s original REML paper was on recovery of inter-block information</a:t>
            </a:r>
          </a:p>
          <a:p>
            <a:pPr lvl="1"/>
            <a:r>
              <a:rPr lang="en-GB" dirty="0"/>
              <a:t>illustrates consequences of random/fixed choice</a:t>
            </a:r>
          </a:p>
          <a:p>
            <a:pPr lvl="1"/>
            <a:endParaRPr lang="en-GB" dirty="0"/>
          </a:p>
          <a:p>
            <a:r>
              <a:rPr lang="en-GB" dirty="0"/>
              <a:t>Do you want to recover it?</a:t>
            </a:r>
          </a:p>
          <a:p>
            <a:pPr lvl="1"/>
            <a:r>
              <a:rPr lang="en-GB" dirty="0"/>
              <a:t>the P study</a:t>
            </a:r>
          </a:p>
          <a:p>
            <a:pPr lvl="2"/>
            <a:r>
              <a:rPr lang="en-GB" dirty="0"/>
              <a:t>confounding of a treatment with block</a:t>
            </a:r>
          </a:p>
          <a:p>
            <a:pPr lvl="1"/>
            <a:r>
              <a:rPr lang="en-GB" dirty="0"/>
              <a:t>the TB study</a:t>
            </a:r>
          </a:p>
          <a:p>
            <a:pPr lvl="2"/>
            <a:r>
              <a:rPr lang="en-GB" dirty="0"/>
              <a:t>allowing information from one block to influence another and increase power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9A5D7-3891-4C72-8730-222EBE4E8C61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 rot="552837">
            <a:off x="6816080" y="3789041"/>
            <a:ext cx="3672533" cy="8309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Yes!!! It allows more estimates to be made</a:t>
            </a:r>
          </a:p>
        </p:txBody>
      </p:sp>
    </p:spTree>
    <p:extLst>
      <p:ext uri="{BB962C8B-B14F-4D97-AF65-F5344CB8AC3E}">
        <p14:creationId xmlns:p14="http://schemas.microsoft.com/office/powerpoint/2010/main" val="30542618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Recovery of Inter-block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Patterson &amp; Thompson’s original REML paper was on recovery of inter-block information</a:t>
            </a:r>
          </a:p>
          <a:p>
            <a:pPr lvl="1"/>
            <a:r>
              <a:rPr lang="en-GB" dirty="0"/>
              <a:t>illustrates consequences of random/fixed choice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Do you want to recover it?</a:t>
            </a:r>
          </a:p>
          <a:p>
            <a:pPr lvl="1"/>
            <a:r>
              <a:rPr lang="en-GB" dirty="0"/>
              <a:t>the P study</a:t>
            </a:r>
          </a:p>
          <a:p>
            <a:pPr lvl="2"/>
            <a:r>
              <a:rPr lang="en-GB" dirty="0"/>
              <a:t>confounding of a treatment with block</a:t>
            </a:r>
          </a:p>
          <a:p>
            <a:pPr lvl="1"/>
            <a:r>
              <a:rPr lang="en-GB" dirty="0"/>
              <a:t>the TB study</a:t>
            </a:r>
          </a:p>
          <a:p>
            <a:pPr lvl="2"/>
            <a:r>
              <a:rPr lang="en-GB" dirty="0"/>
              <a:t>allowing information from one block to influence another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3462-370A-4F81-9A63-B1B38B53720C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 rot="552837">
            <a:off x="6816080" y="3789041"/>
            <a:ext cx="3672533" cy="8309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Yes!!! It allows more estimates to be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606" y="5131639"/>
            <a:ext cx="5624389" cy="8309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No! The assumptions make the findings more vulnerable to model error. </a:t>
            </a:r>
          </a:p>
        </p:txBody>
      </p:sp>
    </p:spTree>
    <p:extLst>
      <p:ext uri="{BB962C8B-B14F-4D97-AF65-F5344CB8AC3E}">
        <p14:creationId xmlns:p14="http://schemas.microsoft.com/office/powerpoint/2010/main" val="755445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2448-B843-46DA-8FCE-282816F82C0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3536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… Lecture 5 …</a:t>
            </a:r>
            <a:br>
              <a:rPr lang="en-GB" dirty="0"/>
            </a:br>
            <a:r>
              <a:rPr lang="en-GB" dirty="0"/>
              <a:t>Shrinkage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Part 3: some generalities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2649-E89A-493A-B39B-DEBBF19A122F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7540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Often genetic effects treated as random</a:t>
            </a:r>
          </a:p>
          <a:p>
            <a:r>
              <a:rPr lang="en-GB" dirty="0"/>
              <a:t>Sire models</a:t>
            </a:r>
          </a:p>
          <a:p>
            <a:pPr lvl="1"/>
            <a:r>
              <a:rPr lang="en-GB" dirty="0"/>
              <a:t>assume sire effects are </a:t>
            </a:r>
            <a:r>
              <a:rPr lang="el-GR" dirty="0"/>
              <a:t>σ</a:t>
            </a:r>
            <a:r>
              <a:rPr lang="en-GB" baseline="-25000" dirty="0"/>
              <a:t>s</a:t>
            </a:r>
            <a:r>
              <a:rPr lang="en-GB" baseline="30000" dirty="0"/>
              <a:t>2 </a:t>
            </a:r>
            <a:r>
              <a:rPr lang="en-GB" b="1" dirty="0"/>
              <a:t>I  </a:t>
            </a:r>
            <a:r>
              <a:rPr lang="en-GB" dirty="0"/>
              <a:t>with </a:t>
            </a:r>
            <a:r>
              <a:rPr lang="en-GB" b="1" dirty="0"/>
              <a:t> </a:t>
            </a:r>
            <a:r>
              <a:rPr lang="el-GR" dirty="0"/>
              <a:t>σ</a:t>
            </a:r>
            <a:r>
              <a:rPr lang="en-GB" baseline="-25000" dirty="0"/>
              <a:t>s</a:t>
            </a:r>
            <a:r>
              <a:rPr lang="en-GB" baseline="30000" dirty="0"/>
              <a:t>2</a:t>
            </a:r>
            <a:r>
              <a:rPr lang="en-GB" dirty="0"/>
              <a:t> = ¼ </a:t>
            </a:r>
            <a:r>
              <a:rPr lang="el-GR" dirty="0"/>
              <a:t>σ</a:t>
            </a:r>
            <a:r>
              <a:rPr lang="en-GB" baseline="-25000" dirty="0"/>
              <a:t>A</a:t>
            </a:r>
            <a:r>
              <a:rPr lang="en-GB" baseline="30000" dirty="0"/>
              <a:t>2</a:t>
            </a:r>
          </a:p>
          <a:p>
            <a:pPr lvl="2"/>
            <a:r>
              <a:rPr lang="el-GR" dirty="0"/>
              <a:t>σ</a:t>
            </a:r>
            <a:r>
              <a:rPr lang="en-GB" baseline="-25000" dirty="0"/>
              <a:t>A</a:t>
            </a:r>
            <a:r>
              <a:rPr lang="en-GB" baseline="30000" dirty="0"/>
              <a:t>2</a:t>
            </a:r>
            <a:r>
              <a:rPr lang="en-GB" dirty="0"/>
              <a:t> is the additive genetic variance</a:t>
            </a:r>
          </a:p>
          <a:p>
            <a:pPr lvl="1"/>
            <a:r>
              <a:rPr lang="en-GB" dirty="0"/>
              <a:t>or </a:t>
            </a:r>
            <a:r>
              <a:rPr lang="el-GR" dirty="0"/>
              <a:t>σ</a:t>
            </a:r>
            <a:r>
              <a:rPr lang="en-GB" baseline="-25000" dirty="0"/>
              <a:t>s</a:t>
            </a:r>
            <a:r>
              <a:rPr lang="en-GB" baseline="30000" dirty="0"/>
              <a:t>2 </a:t>
            </a:r>
            <a:r>
              <a:rPr lang="en-GB" b="1" dirty="0"/>
              <a:t>A </a:t>
            </a:r>
            <a:r>
              <a:rPr lang="en-GB" dirty="0"/>
              <a:t>(as Tutorial 1!)</a:t>
            </a:r>
          </a:p>
          <a:p>
            <a:pPr lvl="2"/>
            <a:r>
              <a:rPr lang="en-GB" b="1" dirty="0"/>
              <a:t>A </a:t>
            </a:r>
            <a:r>
              <a:rPr lang="en-GB" dirty="0"/>
              <a:t>is Numerator Relationship Matrix</a:t>
            </a:r>
          </a:p>
          <a:p>
            <a:r>
              <a:rPr lang="en-GB" dirty="0"/>
              <a:t>Individual Animal model</a:t>
            </a:r>
          </a:p>
          <a:p>
            <a:pPr lvl="1"/>
            <a:r>
              <a:rPr lang="en-GB" dirty="0"/>
              <a:t>assume genetic effects of individuals are </a:t>
            </a:r>
            <a:r>
              <a:rPr lang="el-GR" dirty="0"/>
              <a:t>σ</a:t>
            </a:r>
            <a:r>
              <a:rPr lang="en-GB" baseline="-25000" dirty="0"/>
              <a:t>A</a:t>
            </a:r>
            <a:r>
              <a:rPr lang="en-GB" baseline="30000" dirty="0"/>
              <a:t>2 </a:t>
            </a:r>
            <a:r>
              <a:rPr lang="en-GB" b="1" dirty="0"/>
              <a:t>A</a:t>
            </a:r>
          </a:p>
          <a:p>
            <a:pPr lvl="1"/>
            <a:r>
              <a:rPr lang="en-GB" dirty="0"/>
              <a:t>or with genomic data </a:t>
            </a:r>
            <a:r>
              <a:rPr lang="el-GR" dirty="0"/>
              <a:t>σ</a:t>
            </a:r>
            <a:r>
              <a:rPr lang="en-GB" baseline="-25000" dirty="0"/>
              <a:t>G</a:t>
            </a:r>
            <a:r>
              <a:rPr lang="en-GB" baseline="30000" dirty="0"/>
              <a:t>2 </a:t>
            </a:r>
            <a:r>
              <a:rPr lang="en-GB" b="1" dirty="0"/>
              <a:t>G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6F79-42E4-47A5-B886-090591A76C17}" type="datetime4">
              <a:rPr lang="en-GB" smtClean="0"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39102929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‘Genetics’ is not always random</a:t>
            </a:r>
          </a:p>
          <a:p>
            <a:pPr lvl="1"/>
            <a:r>
              <a:rPr lang="en-GB" dirty="0"/>
              <a:t>may sometimes be fixed</a:t>
            </a:r>
          </a:p>
          <a:p>
            <a:pPr lvl="1"/>
            <a:r>
              <a:rPr lang="en-GB" dirty="0"/>
              <a:t>e.g. breed is typically fixed</a:t>
            </a:r>
          </a:p>
          <a:p>
            <a:pPr lvl="1"/>
            <a:r>
              <a:rPr lang="en-GB" dirty="0"/>
              <a:t>next lecture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B63E-BF7A-445A-8393-79411841AC95}" type="datetime4">
              <a:rPr lang="en-GB" smtClean="0"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24088552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Spatial models, e.g. pens in a shed</a:t>
            </a:r>
          </a:p>
          <a:p>
            <a:pPr lvl="1"/>
            <a:r>
              <a:rPr lang="en-GB" dirty="0"/>
              <a:t> or desks in a classroom</a:t>
            </a:r>
          </a:p>
          <a:p>
            <a:pPr lvl="1"/>
            <a:r>
              <a:rPr lang="en-GB" dirty="0"/>
              <a:t> or plots/quadrats in a field or forest</a:t>
            </a:r>
          </a:p>
          <a:p>
            <a:pPr lvl="1"/>
            <a:r>
              <a:rPr lang="en-GB" dirty="0"/>
              <a:t> or tanks in aquaculture shed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0D16D-C205-4D99-B847-D54CCB8501A6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935760" y="3429000"/>
            <a:ext cx="3888432" cy="2592288"/>
            <a:chOff x="1475656" y="1772816"/>
            <a:chExt cx="3888432" cy="2592288"/>
          </a:xfrm>
          <a:gradFill flip="none" rotWithShape="1">
            <a:gsLst>
              <a:gs pos="0">
                <a:schemeClr val="bg1"/>
              </a:gs>
              <a:gs pos="100000">
                <a:srgbClr val="00B050"/>
              </a:gs>
            </a:gsLst>
            <a:lin ang="18900000" scaled="1"/>
            <a:tileRect/>
          </a:gradFill>
        </p:grpSpPr>
        <p:grpSp>
          <p:nvGrpSpPr>
            <p:cNvPr id="22" name="Group 21"/>
            <p:cNvGrpSpPr/>
            <p:nvPr/>
          </p:nvGrpSpPr>
          <p:grpSpPr>
            <a:xfrm>
              <a:off x="1475656" y="1772816"/>
              <a:ext cx="1296144" cy="2592288"/>
              <a:chOff x="1475656" y="1772816"/>
              <a:chExt cx="1296144" cy="2592288"/>
            </a:xfrm>
            <a:grpFill/>
          </p:grpSpPr>
          <p:grpSp>
            <p:nvGrpSpPr>
              <p:cNvPr id="14" name="Group 13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  <a:grpFill/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6" name="Rectangle 5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" name="Rectangle 6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  <a:grpFill/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20" name="Rectangle 19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7" name="Group 16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23" name="Group 22"/>
            <p:cNvGrpSpPr/>
            <p:nvPr/>
          </p:nvGrpSpPr>
          <p:grpSpPr>
            <a:xfrm>
              <a:off x="2771800" y="1772816"/>
              <a:ext cx="1296144" cy="2592288"/>
              <a:chOff x="1475656" y="1772816"/>
              <a:chExt cx="1296144" cy="2592288"/>
            </a:xfrm>
            <a:grpFill/>
          </p:grpSpPr>
          <p:grpSp>
            <p:nvGrpSpPr>
              <p:cNvPr id="24" name="Group 23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  <a:grpFill/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36" name="Rectangle 35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34" name="Rectangle 33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25" name="Group 24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  <a:grpFill/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28" name="Rectangle 27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38" name="Group 37"/>
            <p:cNvGrpSpPr/>
            <p:nvPr/>
          </p:nvGrpSpPr>
          <p:grpSpPr>
            <a:xfrm>
              <a:off x="4067944" y="1772816"/>
              <a:ext cx="1296144" cy="2592288"/>
              <a:chOff x="1475656" y="1772816"/>
              <a:chExt cx="1296144" cy="2592288"/>
            </a:xfrm>
            <a:grpFill/>
          </p:grpSpPr>
          <p:grpSp>
            <p:nvGrpSpPr>
              <p:cNvPr id="39" name="Group 38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  <a:grpFill/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51" name="Rectangle 50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2" name="Rectangle 51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8" name="Group 47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49" name="Rectangle 48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40" name="Group 39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  <a:grpFill/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45" name="Rectangle 44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2" name="Group 41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  <a:grpFill/>
              </p:grpSpPr>
              <p:sp>
                <p:nvSpPr>
                  <p:cNvPr id="43" name="Rectangle 42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4" name="Rectangle 43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4766770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fixed = … + pen</a:t>
            </a:r>
          </a:p>
          <a:p>
            <a:pPr lvl="1"/>
            <a:r>
              <a:rPr lang="en-GB" dirty="0"/>
              <a:t>here 23 d.f.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809E-B4BD-44C8-AE6C-B71E0EB53712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4079776" y="2636912"/>
            <a:ext cx="3888432" cy="2592288"/>
            <a:chOff x="1475656" y="1772816"/>
            <a:chExt cx="3888432" cy="2592288"/>
          </a:xfrm>
        </p:grpSpPr>
        <p:grpSp>
          <p:nvGrpSpPr>
            <p:cNvPr id="22" name="Group 21"/>
            <p:cNvGrpSpPr/>
            <p:nvPr/>
          </p:nvGrpSpPr>
          <p:grpSpPr>
            <a:xfrm>
              <a:off x="1475656" y="1772816"/>
              <a:ext cx="1296144" cy="2592288"/>
              <a:chOff x="1475656" y="1772816"/>
              <a:chExt cx="1296144" cy="2592288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6" name="Rectangle 5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" name="Rectangle 6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20" name="Rectangle 19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7" name="Group 16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23" name="Group 22"/>
            <p:cNvGrpSpPr/>
            <p:nvPr/>
          </p:nvGrpSpPr>
          <p:grpSpPr>
            <a:xfrm>
              <a:off x="2771800" y="1772816"/>
              <a:ext cx="1296144" cy="2592288"/>
              <a:chOff x="1475656" y="1772816"/>
              <a:chExt cx="1296144" cy="2592288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36" name="Rectangle 35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34" name="Rectangle 33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25" name="Group 24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28" name="Rectangle 27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38" name="Group 37"/>
            <p:cNvGrpSpPr/>
            <p:nvPr/>
          </p:nvGrpSpPr>
          <p:grpSpPr>
            <a:xfrm>
              <a:off x="4067944" y="1772816"/>
              <a:ext cx="1296144" cy="2592288"/>
              <a:chOff x="1475656" y="1772816"/>
              <a:chExt cx="1296144" cy="2592288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51" name="Rectangle 50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2" name="Rectangle 51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8" name="Group 47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49" name="Rectangle 48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40" name="Group 39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45" name="Rectangle 44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2" name="Group 41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43" name="Rectangle 42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4" name="Rectangle 43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148844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fixed = … + row + column, random = … + pen</a:t>
            </a:r>
          </a:p>
          <a:p>
            <a:pPr lvl="1"/>
            <a:r>
              <a:rPr lang="en-GB" dirty="0"/>
              <a:t>here 8 d.f. (3 for row, 5 for column) &amp; </a:t>
            </a:r>
            <a:r>
              <a:rPr lang="en-GB" dirty="0" err="1"/>
              <a:t>V</a:t>
            </a:r>
            <a:r>
              <a:rPr lang="en-GB" baseline="-25000" dirty="0" err="1"/>
              <a:t>pen</a:t>
            </a:r>
            <a:endParaRPr lang="en-GB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E9DB-6028-41AF-B2DA-9D288B000D85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4079776" y="2636912"/>
            <a:ext cx="3888432" cy="2592288"/>
            <a:chOff x="1475656" y="1772816"/>
            <a:chExt cx="3888432" cy="2592288"/>
          </a:xfrm>
        </p:grpSpPr>
        <p:grpSp>
          <p:nvGrpSpPr>
            <p:cNvPr id="22" name="Group 21"/>
            <p:cNvGrpSpPr/>
            <p:nvPr/>
          </p:nvGrpSpPr>
          <p:grpSpPr>
            <a:xfrm>
              <a:off x="1475656" y="1772816"/>
              <a:ext cx="1296144" cy="2592288"/>
              <a:chOff x="1475656" y="1772816"/>
              <a:chExt cx="1296144" cy="2592288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6" name="Rectangle 5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" name="Rectangle 6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20" name="Rectangle 19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7" name="Group 16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23" name="Group 22"/>
            <p:cNvGrpSpPr/>
            <p:nvPr/>
          </p:nvGrpSpPr>
          <p:grpSpPr>
            <a:xfrm>
              <a:off x="2771800" y="1772816"/>
              <a:ext cx="1296144" cy="2592288"/>
              <a:chOff x="1475656" y="1772816"/>
              <a:chExt cx="1296144" cy="2592288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36" name="Rectangle 35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34" name="Rectangle 33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25" name="Group 24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28" name="Rectangle 27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38" name="Group 37"/>
            <p:cNvGrpSpPr/>
            <p:nvPr/>
          </p:nvGrpSpPr>
          <p:grpSpPr>
            <a:xfrm>
              <a:off x="4067944" y="1772816"/>
              <a:ext cx="1296144" cy="2592288"/>
              <a:chOff x="1475656" y="1772816"/>
              <a:chExt cx="1296144" cy="2592288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1475656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51" name="Rectangle 50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2" name="Rectangle 51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8" name="Group 47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49" name="Rectangle 48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40" name="Group 39"/>
              <p:cNvGrpSpPr/>
              <p:nvPr/>
            </p:nvGrpSpPr>
            <p:grpSpPr>
              <a:xfrm>
                <a:off x="2123728" y="1772816"/>
                <a:ext cx="648072" cy="2592288"/>
                <a:chOff x="1475656" y="1772816"/>
                <a:chExt cx="648072" cy="2592288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1475656" y="1772816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45" name="Rectangle 44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2" name="Group 41"/>
                <p:cNvGrpSpPr/>
                <p:nvPr/>
              </p:nvGrpSpPr>
              <p:grpSpPr>
                <a:xfrm>
                  <a:off x="1475656" y="3068960"/>
                  <a:ext cx="648072" cy="1296144"/>
                  <a:chOff x="1475656" y="1772816"/>
                  <a:chExt cx="648072" cy="1296144"/>
                </a:xfrm>
              </p:grpSpPr>
              <p:sp>
                <p:nvSpPr>
                  <p:cNvPr id="43" name="Rectangle 42"/>
                  <p:cNvSpPr/>
                  <p:nvPr/>
                </p:nvSpPr>
                <p:spPr>
                  <a:xfrm>
                    <a:off x="1475656" y="1772816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4" name="Rectangle 43"/>
                  <p:cNvSpPr/>
                  <p:nvPr/>
                </p:nvSpPr>
                <p:spPr>
                  <a:xfrm>
                    <a:off x="1475656" y="2420888"/>
                    <a:ext cx="648072" cy="64807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42594339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fixed = … + </a:t>
            </a:r>
            <a:r>
              <a:rPr lang="en-GB" dirty="0" err="1"/>
              <a:t>x</a:t>
            </a:r>
            <a:r>
              <a:rPr lang="en-GB" baseline="-25000" dirty="0" err="1"/>
              <a:t>light</a:t>
            </a:r>
            <a:r>
              <a:rPr lang="en-GB" dirty="0"/>
              <a:t> + </a:t>
            </a:r>
            <a:r>
              <a:rPr lang="en-GB" dirty="0" err="1"/>
              <a:t>x</a:t>
            </a:r>
            <a:r>
              <a:rPr lang="en-GB" baseline="-25000" dirty="0" err="1"/>
              <a:t>temp</a:t>
            </a:r>
            <a:r>
              <a:rPr lang="en-GB" dirty="0"/>
              <a:t>, random = … + pen</a:t>
            </a:r>
          </a:p>
          <a:p>
            <a:pPr lvl="1"/>
            <a:r>
              <a:rPr lang="en-GB" dirty="0"/>
              <a:t>here 2 d.f.  &amp; </a:t>
            </a:r>
            <a:r>
              <a:rPr lang="en-GB" dirty="0" err="1"/>
              <a:t>V</a:t>
            </a:r>
            <a:r>
              <a:rPr lang="en-GB" baseline="-25000" dirty="0" err="1"/>
              <a:t>pen</a:t>
            </a:r>
            <a:endParaRPr lang="en-GB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C465-8445-4B7B-A464-3F9DC48D328C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83632" y="2636912"/>
            <a:ext cx="5281312" cy="3425026"/>
            <a:chOff x="1259632" y="2636912"/>
            <a:chExt cx="5281312" cy="3425026"/>
          </a:xfrm>
        </p:grpSpPr>
        <p:grpSp>
          <p:nvGrpSpPr>
            <p:cNvPr id="53" name="Group 52"/>
            <p:cNvGrpSpPr/>
            <p:nvPr/>
          </p:nvGrpSpPr>
          <p:grpSpPr>
            <a:xfrm>
              <a:off x="2555776" y="2636912"/>
              <a:ext cx="3888432" cy="2592288"/>
              <a:chOff x="1475656" y="1772816"/>
              <a:chExt cx="3888432" cy="2592288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1475656" y="1772816"/>
                <a:ext cx="1296144" cy="2592288"/>
                <a:chOff x="1475656" y="1772816"/>
                <a:chExt cx="1296144" cy="2592288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1475656" y="1772816"/>
                  <a:ext cx="648072" cy="2592288"/>
                  <a:chOff x="1475656" y="1772816"/>
                  <a:chExt cx="648072" cy="2592288"/>
                </a:xfrm>
              </p:grpSpPr>
              <p:grpSp>
                <p:nvGrpSpPr>
                  <p:cNvPr id="10" name="Group 9"/>
                  <p:cNvGrpSpPr/>
                  <p:nvPr/>
                </p:nvGrpSpPr>
                <p:grpSpPr>
                  <a:xfrm>
                    <a:off x="1475656" y="1772816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6" name="Rectangle 5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1" name="Group 10"/>
                  <p:cNvGrpSpPr/>
                  <p:nvPr/>
                </p:nvGrpSpPr>
                <p:grpSpPr>
                  <a:xfrm>
                    <a:off x="1475656" y="3068960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12" name="Rectangle 11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" name="Rectangle 12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2123728" y="1772816"/>
                  <a:ext cx="648072" cy="2592288"/>
                  <a:chOff x="1475656" y="1772816"/>
                  <a:chExt cx="648072" cy="2592288"/>
                </a:xfrm>
              </p:grpSpPr>
              <p:grpSp>
                <p:nvGrpSpPr>
                  <p:cNvPr id="16" name="Group 15"/>
                  <p:cNvGrpSpPr/>
                  <p:nvPr/>
                </p:nvGrpSpPr>
                <p:grpSpPr>
                  <a:xfrm>
                    <a:off x="1475656" y="1772816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7" name="Group 16"/>
                  <p:cNvGrpSpPr/>
                  <p:nvPr/>
                </p:nvGrpSpPr>
                <p:grpSpPr>
                  <a:xfrm>
                    <a:off x="1475656" y="3068960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18" name="Rectangle 17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grpSp>
            <p:nvGrpSpPr>
              <p:cNvPr id="23" name="Group 22"/>
              <p:cNvGrpSpPr/>
              <p:nvPr/>
            </p:nvGrpSpPr>
            <p:grpSpPr>
              <a:xfrm>
                <a:off x="2771800" y="1772816"/>
                <a:ext cx="1296144" cy="2592288"/>
                <a:chOff x="1475656" y="1772816"/>
                <a:chExt cx="1296144" cy="2592288"/>
              </a:xfrm>
            </p:grpSpPr>
            <p:grpSp>
              <p:nvGrpSpPr>
                <p:cNvPr id="24" name="Group 23"/>
                <p:cNvGrpSpPr/>
                <p:nvPr/>
              </p:nvGrpSpPr>
              <p:grpSpPr>
                <a:xfrm>
                  <a:off x="1475656" y="1772816"/>
                  <a:ext cx="648072" cy="2592288"/>
                  <a:chOff x="1475656" y="1772816"/>
                  <a:chExt cx="648072" cy="2592288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1475656" y="1772816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7" name="Rectangle 36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33" name="Group 32"/>
                  <p:cNvGrpSpPr/>
                  <p:nvPr/>
                </p:nvGrpSpPr>
                <p:grpSpPr>
                  <a:xfrm>
                    <a:off x="1475656" y="3068960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34" name="Rectangle 33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5" name="Rectangle 34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25" name="Group 24"/>
                <p:cNvGrpSpPr/>
                <p:nvPr/>
              </p:nvGrpSpPr>
              <p:grpSpPr>
                <a:xfrm>
                  <a:off x="2123728" y="1772816"/>
                  <a:ext cx="648072" cy="2592288"/>
                  <a:chOff x="1475656" y="1772816"/>
                  <a:chExt cx="648072" cy="2592288"/>
                </a:xfrm>
              </p:grpSpPr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1475656" y="1772816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7" name="Group 26"/>
                  <p:cNvGrpSpPr/>
                  <p:nvPr/>
                </p:nvGrpSpPr>
                <p:grpSpPr>
                  <a:xfrm>
                    <a:off x="1475656" y="3068960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" name="Rectangle 28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grpSp>
            <p:nvGrpSpPr>
              <p:cNvPr id="38" name="Group 37"/>
              <p:cNvGrpSpPr/>
              <p:nvPr/>
            </p:nvGrpSpPr>
            <p:grpSpPr>
              <a:xfrm>
                <a:off x="4067944" y="1772816"/>
                <a:ext cx="1296144" cy="2592288"/>
                <a:chOff x="1475656" y="1772816"/>
                <a:chExt cx="1296144" cy="2592288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1475656" y="1772816"/>
                  <a:ext cx="648072" cy="2592288"/>
                  <a:chOff x="1475656" y="1772816"/>
                  <a:chExt cx="648072" cy="2592288"/>
                </a:xfrm>
              </p:grpSpPr>
              <p:grpSp>
                <p:nvGrpSpPr>
                  <p:cNvPr id="47" name="Group 46"/>
                  <p:cNvGrpSpPr/>
                  <p:nvPr/>
                </p:nvGrpSpPr>
                <p:grpSpPr>
                  <a:xfrm>
                    <a:off x="1475656" y="1772816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51" name="Rectangle 50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2" name="Rectangle 51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48" name="Group 47"/>
                  <p:cNvGrpSpPr/>
                  <p:nvPr/>
                </p:nvGrpSpPr>
                <p:grpSpPr>
                  <a:xfrm>
                    <a:off x="1475656" y="3068960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40" name="Group 39"/>
                <p:cNvGrpSpPr/>
                <p:nvPr/>
              </p:nvGrpSpPr>
              <p:grpSpPr>
                <a:xfrm>
                  <a:off x="2123728" y="1772816"/>
                  <a:ext cx="648072" cy="2592288"/>
                  <a:chOff x="1475656" y="1772816"/>
                  <a:chExt cx="648072" cy="2592288"/>
                </a:xfrm>
              </p:grpSpPr>
              <p:grpSp>
                <p:nvGrpSpPr>
                  <p:cNvPr id="41" name="Group 40"/>
                  <p:cNvGrpSpPr/>
                  <p:nvPr/>
                </p:nvGrpSpPr>
                <p:grpSpPr>
                  <a:xfrm>
                    <a:off x="1475656" y="1772816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6" name="Rectangle 45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42" name="Group 41"/>
                  <p:cNvGrpSpPr/>
                  <p:nvPr/>
                </p:nvGrpSpPr>
                <p:grpSpPr>
                  <a:xfrm>
                    <a:off x="1475656" y="3068960"/>
                    <a:ext cx="648072" cy="1296144"/>
                    <a:chOff x="1475656" y="1772816"/>
                    <a:chExt cx="648072" cy="1296144"/>
                  </a:xfrm>
                </p:grpSpPr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475656" y="1772816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1475656" y="2420888"/>
                      <a:ext cx="648072" cy="64807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</p:grpSp>
        <p:cxnSp>
          <p:nvCxnSpPr>
            <p:cNvPr id="56" name="Straight Arrow Connector 55"/>
            <p:cNvCxnSpPr/>
            <p:nvPr/>
          </p:nvCxnSpPr>
          <p:spPr>
            <a:xfrm>
              <a:off x="2627784" y="5625244"/>
              <a:ext cx="3744416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3228576" y="5692606"/>
              <a:ext cx="3312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Temperature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2267744" y="2780928"/>
              <a:ext cx="0" cy="227663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259632" y="3429000"/>
              <a:ext cx="3312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85278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‘Genetics’ is not always random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may sometimes be fixed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e.g. breed is typically fixed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next lecture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e.g. offspring of 10 ‘top’ sires and 10 ‘bottom’ sires taken from a distribution of 100</a:t>
            </a:r>
          </a:p>
          <a:p>
            <a:pPr lvl="2"/>
            <a:r>
              <a:rPr lang="en-GB">
                <a:solidFill>
                  <a:schemeClr val="tx1"/>
                </a:solidFill>
              </a:rPr>
              <a:t>perhaps no </a:t>
            </a:r>
            <a:r>
              <a:rPr lang="en-GB" dirty="0">
                <a:solidFill>
                  <a:schemeClr val="tx1"/>
                </a:solidFill>
              </a:rPr>
              <a:t>data available on how selection was made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fixed effect GG (genetic group, 1 d.f.), high or low sire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fixed = …+ GG +… , random= …+</a:t>
            </a:r>
            <a:r>
              <a:rPr lang="en-GB" dirty="0" err="1">
                <a:solidFill>
                  <a:schemeClr val="tx1"/>
                </a:solidFill>
              </a:rPr>
              <a:t>vm</a:t>
            </a:r>
            <a:r>
              <a:rPr lang="en-GB" dirty="0">
                <a:solidFill>
                  <a:schemeClr val="tx1"/>
                </a:solidFill>
              </a:rPr>
              <a:t>(</a:t>
            </a:r>
            <a:r>
              <a:rPr lang="en-GB" dirty="0" err="1">
                <a:solidFill>
                  <a:schemeClr val="tx1"/>
                </a:solidFill>
              </a:rPr>
              <a:t>id,ainv</a:t>
            </a:r>
            <a:r>
              <a:rPr lang="en-GB" dirty="0">
                <a:solidFill>
                  <a:schemeClr val="tx1"/>
                </a:solidFill>
              </a:rPr>
              <a:t>)+…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B63E-BF7A-445A-8393-79411841AC95}" type="datetime4">
              <a:rPr lang="en-GB" smtClean="0"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30321947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effect can be described by a combination of fixed and random components!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DBB6-18DA-4B50-BB9A-57FFA9909E83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777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Fixed &amp; Random Interactions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57603632"/>
              </p:ext>
            </p:extLst>
          </p:nvPr>
        </p:nvGraphicFramePr>
        <p:xfrm>
          <a:off x="239182" y="1196974"/>
          <a:ext cx="5780619" cy="25200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6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0014"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 marL="44927" marR="449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Factor</a:t>
                      </a:r>
                      <a:r>
                        <a:rPr lang="en-GB" sz="2400" b="1" baseline="0" dirty="0"/>
                        <a:t> 1</a:t>
                      </a:r>
                      <a:endParaRPr lang="en-GB" sz="2400" b="1" dirty="0"/>
                    </a:p>
                  </a:txBody>
                  <a:tcPr marL="44927" marR="44927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2911727275"/>
                  </a:ext>
                </a:extLst>
              </a:tr>
              <a:tr h="630014">
                <a:tc>
                  <a:txBody>
                    <a:bodyPr/>
                    <a:lstStyle/>
                    <a:p>
                      <a:r>
                        <a:rPr lang="en-GB" sz="2400" b="1" dirty="0"/>
                        <a:t>Factor 2</a:t>
                      </a:r>
                    </a:p>
                  </a:txBody>
                  <a:tcPr marL="44927" marR="449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360000" algn="l"/>
                      <a:r>
                        <a:rPr lang="en-GB" sz="2400" b="1" dirty="0"/>
                        <a:t>Fixed</a:t>
                      </a:r>
                    </a:p>
                  </a:txBody>
                  <a:tcPr marL="44927" marR="44927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360000" algn="l"/>
                      <a:r>
                        <a:rPr lang="en-GB" sz="2400" b="1" dirty="0"/>
                        <a:t>Random</a:t>
                      </a:r>
                    </a:p>
                  </a:txBody>
                  <a:tcPr marL="44927" marR="44927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14">
                <a:tc>
                  <a:txBody>
                    <a:bodyPr/>
                    <a:lstStyle/>
                    <a:p>
                      <a:pPr marL="504000" algn="l"/>
                      <a:r>
                        <a:rPr lang="en-GB" sz="2400" b="1" dirty="0"/>
                        <a:t>Fixed</a:t>
                      </a:r>
                    </a:p>
                  </a:txBody>
                  <a:tcPr marL="44927" marR="449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60000" algn="l"/>
                      <a:r>
                        <a:rPr lang="en-GB" sz="2400" dirty="0"/>
                        <a:t>Either</a:t>
                      </a:r>
                    </a:p>
                  </a:txBody>
                  <a:tcPr marL="44927" marR="44927" anchor="ctr">
                    <a:solidFill>
                      <a:srgbClr val="F3F3E3"/>
                    </a:solidFill>
                  </a:tcPr>
                </a:tc>
                <a:tc>
                  <a:txBody>
                    <a:bodyPr/>
                    <a:lstStyle/>
                    <a:p>
                      <a:pPr marL="360000" algn="l"/>
                      <a:r>
                        <a:rPr lang="en-GB" sz="2400" dirty="0"/>
                        <a:t>Random</a:t>
                      </a:r>
                    </a:p>
                  </a:txBody>
                  <a:tcPr marL="44927" marR="44927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3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14">
                <a:tc>
                  <a:txBody>
                    <a:bodyPr/>
                    <a:lstStyle/>
                    <a:p>
                      <a:pPr marL="504000" algn="l"/>
                      <a:r>
                        <a:rPr lang="en-GB" sz="2400" b="1" dirty="0"/>
                        <a:t>Random</a:t>
                      </a:r>
                    </a:p>
                  </a:txBody>
                  <a:tcPr marL="44927" marR="449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360000" algn="l"/>
                      <a:r>
                        <a:rPr lang="en-GB" sz="2400" dirty="0"/>
                        <a:t>Random</a:t>
                      </a:r>
                    </a:p>
                  </a:txBody>
                  <a:tcPr marL="44927" marR="44927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3"/>
                    </a:solidFill>
                  </a:tcPr>
                </a:tc>
                <a:tc>
                  <a:txBody>
                    <a:bodyPr/>
                    <a:lstStyle/>
                    <a:p>
                      <a:pPr marL="360000" algn="l"/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</a:p>
                  </a:txBody>
                  <a:tcPr marL="44927" marR="44927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Two-way</a:t>
            </a:r>
          </a:p>
          <a:p>
            <a:pPr lvl="1"/>
            <a:r>
              <a:rPr lang="en-GB" dirty="0"/>
              <a:t>if one factor random, interactions must be random</a:t>
            </a:r>
          </a:p>
          <a:p>
            <a:pPr lvl="1"/>
            <a:r>
              <a:rPr lang="en-GB" dirty="0"/>
              <a:t>if factors are fixed then choice</a:t>
            </a:r>
          </a:p>
          <a:p>
            <a:r>
              <a:rPr lang="en-GB" dirty="0"/>
              <a:t>Multi-way</a:t>
            </a:r>
          </a:p>
          <a:p>
            <a:pPr lvl="1"/>
            <a:r>
              <a:rPr lang="en-GB" dirty="0"/>
              <a:t>if any lower order interaction is random, then high order is random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1D5A-8395-4109-AA52-515ACF55C616}" type="datetime4">
              <a:rPr lang="en-GB" smtClean="0"/>
              <a:t>22 January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04961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Choice of fixed or random influences how information is used</a:t>
            </a:r>
          </a:p>
          <a:p>
            <a:pPr lvl="1"/>
            <a:r>
              <a:rPr lang="en-GB" dirty="0"/>
              <a:t>fixed or random is not absolute</a:t>
            </a:r>
          </a:p>
          <a:p>
            <a:pPr lvl="2"/>
            <a:r>
              <a:rPr lang="en-GB" dirty="0"/>
              <a:t>using a factor as random is making an assumption about the nature of the effect</a:t>
            </a:r>
          </a:p>
          <a:p>
            <a:pPr lvl="2"/>
            <a:r>
              <a:rPr lang="en-GB" dirty="0"/>
              <a:t>depends on the modelling consequences of making the assumption</a:t>
            </a:r>
          </a:p>
          <a:p>
            <a:r>
              <a:rPr lang="en-GB" dirty="0"/>
              <a:t>A genetic model is only as good as its environmental model!</a:t>
            </a:r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4458-2FA8-457C-B7C1-6960B8EF34A2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8342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F6EC-AF87-4E17-8809-0079AC6B1E6D}" type="datetime4">
              <a:rPr lang="en-GB" smtClean="0">
                <a:solidFill>
                  <a:srgbClr val="000000"/>
                </a:solidFill>
              </a:rPr>
              <a:t>22 January 2026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Lecture 5</a:t>
            </a:r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723495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7495</TotalTime>
  <Words>3038</Words>
  <Application>Microsoft Office PowerPoint</Application>
  <PresentationFormat>Widescreen</PresentationFormat>
  <Paragraphs>622</Paragraphs>
  <Slides>78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2" baseType="lpstr">
      <vt:lpstr>Arial</vt:lpstr>
      <vt:lpstr>Calibri</vt:lpstr>
      <vt:lpstr>Times New Roman</vt:lpstr>
      <vt:lpstr>1_Default Design</vt:lpstr>
      <vt:lpstr>… Lecture 5 … Shrinkage</vt:lpstr>
      <vt:lpstr>… Lecture 5 … Shrinkage</vt:lpstr>
      <vt:lpstr>Fixed or Random</vt:lpstr>
      <vt:lpstr>Fixed or Random</vt:lpstr>
      <vt:lpstr>Random Effects</vt:lpstr>
      <vt:lpstr>Fixed Effects</vt:lpstr>
      <vt:lpstr>Examples of Fixed Effects</vt:lpstr>
      <vt:lpstr>PowerPoint Presentation</vt:lpstr>
      <vt:lpstr>So What?</vt:lpstr>
      <vt:lpstr>So What?</vt:lpstr>
      <vt:lpstr>So What?</vt:lpstr>
      <vt:lpstr>So What?</vt:lpstr>
      <vt:lpstr>So What?</vt:lpstr>
      <vt:lpstr>Problem (1)</vt:lpstr>
      <vt:lpstr>Problem (2)</vt:lpstr>
      <vt:lpstr>Problem (3)</vt:lpstr>
      <vt:lpstr>Problem (3)</vt:lpstr>
      <vt:lpstr>What Can be Done?</vt:lpstr>
      <vt:lpstr>What Can be Done?</vt:lpstr>
      <vt:lpstr>What Can be Done?</vt:lpstr>
      <vt:lpstr>What Can be Done?</vt:lpstr>
      <vt:lpstr>Random Effects</vt:lpstr>
      <vt:lpstr>PowerPoint Presentation</vt:lpstr>
      <vt:lpstr>Shrinkage</vt:lpstr>
      <vt:lpstr>Shrinkage</vt:lpstr>
      <vt:lpstr>Shrinkage</vt:lpstr>
      <vt:lpstr>Example</vt:lpstr>
      <vt:lpstr>Low Signal to Noise Ratio</vt:lpstr>
      <vt:lpstr>Increased Signal …</vt:lpstr>
      <vt:lpstr>More Records …</vt:lpstr>
      <vt:lpstr>Applied to Each Effect …</vt:lpstr>
      <vt:lpstr>Benefits</vt:lpstr>
      <vt:lpstr>Summary</vt:lpstr>
      <vt:lpstr>Summary</vt:lpstr>
      <vt:lpstr>Summary</vt:lpstr>
      <vt:lpstr>Summary</vt:lpstr>
      <vt:lpstr>PowerPoint Presentation</vt:lpstr>
      <vt:lpstr>… Lecture 5 … Shrinkage</vt:lpstr>
      <vt:lpstr>Model Terms</vt:lpstr>
      <vt:lpstr>Model Terms</vt:lpstr>
      <vt:lpstr>Fixed or Random</vt:lpstr>
      <vt:lpstr>Recovery of Inter-block Information</vt:lpstr>
      <vt:lpstr>Recovery of Inter-block Information</vt:lpstr>
      <vt:lpstr>Recovery of Inter-block Information</vt:lpstr>
      <vt:lpstr>Recovery of Inter-block Information</vt:lpstr>
      <vt:lpstr>Recovery of Inter-block Information</vt:lpstr>
      <vt:lpstr>PowerPoint Presentation</vt:lpstr>
      <vt:lpstr>Phosphorus Metabolism</vt:lpstr>
      <vt:lpstr>Phosphorus Metabolism</vt:lpstr>
      <vt:lpstr>Phosphorus Metabolism</vt:lpstr>
      <vt:lpstr>Recovery of Inter-block Information</vt:lpstr>
      <vt:lpstr>Recovery of Inter-block Information</vt:lpstr>
      <vt:lpstr>PowerPoint Presentation</vt:lpstr>
      <vt:lpstr>Genetic Variation in TB</vt:lpstr>
      <vt:lpstr>Genetic Variation in TB</vt:lpstr>
      <vt:lpstr>Genetic Variation in TB</vt:lpstr>
      <vt:lpstr>Genetic Variation in TB</vt:lpstr>
      <vt:lpstr>Herds as Fixed</vt:lpstr>
      <vt:lpstr>Herds as Random</vt:lpstr>
      <vt:lpstr>Herds as Random</vt:lpstr>
      <vt:lpstr>Genetic Variation in TB</vt:lpstr>
      <vt:lpstr>PowerPoint Presentation</vt:lpstr>
      <vt:lpstr>Recovery of Inter-block Information</vt:lpstr>
      <vt:lpstr>Recovery of Inter-block Information</vt:lpstr>
      <vt:lpstr>Recovery of Inter-block Information</vt:lpstr>
      <vt:lpstr>PowerPoint Presentation</vt:lpstr>
      <vt:lpstr>… Lecture 5 … Shrinkage</vt:lpstr>
      <vt:lpstr>Genetic Models</vt:lpstr>
      <vt:lpstr>Genetic Models</vt:lpstr>
      <vt:lpstr>Environmental Models</vt:lpstr>
      <vt:lpstr>Environmental Models</vt:lpstr>
      <vt:lpstr>Environmental Models</vt:lpstr>
      <vt:lpstr>Environmental Models</vt:lpstr>
      <vt:lpstr>Genetic Models</vt:lpstr>
      <vt:lpstr>Conclusion</vt:lpstr>
      <vt:lpstr>Fixed &amp; Random Interactions</vt:lpstr>
      <vt:lpstr>Summary</vt:lpstr>
      <vt:lpstr>PowerPoint Presentation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creator>WOOLLIAMS John</dc:creator>
  <cp:lastModifiedBy>John Woolliams</cp:lastModifiedBy>
  <cp:revision>173</cp:revision>
  <dcterms:created xsi:type="dcterms:W3CDTF">2013-01-28T20:22:25Z</dcterms:created>
  <dcterms:modified xsi:type="dcterms:W3CDTF">2026-01-22T10:01:27Z</dcterms:modified>
</cp:coreProperties>
</file>