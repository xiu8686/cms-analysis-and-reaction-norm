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00"/>
  </p:notesMasterIdLst>
  <p:sldIdLst>
    <p:sldId id="256" r:id="rId2"/>
    <p:sldId id="418" r:id="rId3"/>
    <p:sldId id="388" r:id="rId4"/>
    <p:sldId id="420" r:id="rId5"/>
    <p:sldId id="391" r:id="rId6"/>
    <p:sldId id="394" r:id="rId7"/>
    <p:sldId id="395" r:id="rId8"/>
    <p:sldId id="421" r:id="rId9"/>
    <p:sldId id="458" r:id="rId10"/>
    <p:sldId id="396" r:id="rId11"/>
    <p:sldId id="505" r:id="rId12"/>
    <p:sldId id="423" r:id="rId13"/>
    <p:sldId id="397" r:id="rId14"/>
    <p:sldId id="399" r:id="rId15"/>
    <p:sldId id="425" r:id="rId16"/>
    <p:sldId id="424" r:id="rId17"/>
    <p:sldId id="506" r:id="rId18"/>
    <p:sldId id="428" r:id="rId19"/>
    <p:sldId id="426" r:id="rId20"/>
    <p:sldId id="429" r:id="rId21"/>
    <p:sldId id="430" r:id="rId22"/>
    <p:sldId id="402" r:id="rId23"/>
    <p:sldId id="461" r:id="rId24"/>
    <p:sldId id="431" r:id="rId25"/>
    <p:sldId id="413" r:id="rId26"/>
    <p:sldId id="507" r:id="rId27"/>
    <p:sldId id="508" r:id="rId28"/>
    <p:sldId id="509" r:id="rId29"/>
    <p:sldId id="510" r:id="rId30"/>
    <p:sldId id="512" r:id="rId31"/>
    <p:sldId id="403" r:id="rId32"/>
    <p:sldId id="417" r:id="rId33"/>
    <p:sldId id="462" r:id="rId34"/>
    <p:sldId id="463" r:id="rId35"/>
    <p:sldId id="464" r:id="rId36"/>
    <p:sldId id="513" r:id="rId37"/>
    <p:sldId id="473" r:id="rId38"/>
    <p:sldId id="474" r:id="rId39"/>
    <p:sldId id="467" r:id="rId40"/>
    <p:sldId id="475" r:id="rId41"/>
    <p:sldId id="472" r:id="rId42"/>
    <p:sldId id="469" r:id="rId43"/>
    <p:sldId id="419" r:id="rId44"/>
    <p:sldId id="514" r:id="rId45"/>
    <p:sldId id="470" r:id="rId46"/>
    <p:sldId id="476" r:id="rId47"/>
    <p:sldId id="471" r:id="rId48"/>
    <p:sldId id="439" r:id="rId49"/>
    <p:sldId id="360" r:id="rId50"/>
    <p:sldId id="377" r:id="rId51"/>
    <p:sldId id="365" r:id="rId52"/>
    <p:sldId id="366" r:id="rId53"/>
    <p:sldId id="479" r:id="rId54"/>
    <p:sldId id="477" r:id="rId55"/>
    <p:sldId id="478" r:id="rId56"/>
    <p:sldId id="407" r:id="rId57"/>
    <p:sldId id="358" r:id="rId58"/>
    <p:sldId id="359" r:id="rId59"/>
    <p:sldId id="480" r:id="rId60"/>
    <p:sldId id="432" r:id="rId61"/>
    <p:sldId id="433" r:id="rId62"/>
    <p:sldId id="481" r:id="rId63"/>
    <p:sldId id="372" r:id="rId64"/>
    <p:sldId id="373" r:id="rId65"/>
    <p:sldId id="485" r:id="rId66"/>
    <p:sldId id="375" r:id="rId67"/>
    <p:sldId id="482" r:id="rId68"/>
    <p:sldId id="456" r:id="rId69"/>
    <p:sldId id="489" r:id="rId70"/>
    <p:sldId id="488" r:id="rId71"/>
    <p:sldId id="499" r:id="rId72"/>
    <p:sldId id="487" r:id="rId73"/>
    <p:sldId id="491" r:id="rId74"/>
    <p:sldId id="492" r:id="rId75"/>
    <p:sldId id="493" r:id="rId76"/>
    <p:sldId id="542" r:id="rId77"/>
    <p:sldId id="498" r:id="rId78"/>
    <p:sldId id="495" r:id="rId79"/>
    <p:sldId id="380" r:id="rId80"/>
    <p:sldId id="466" r:id="rId81"/>
    <p:sldId id="533" r:id="rId82"/>
    <p:sldId id="534" r:id="rId83"/>
    <p:sldId id="535" r:id="rId84"/>
    <p:sldId id="536" r:id="rId85"/>
    <p:sldId id="537" r:id="rId86"/>
    <p:sldId id="538" r:id="rId87"/>
    <p:sldId id="520" r:id="rId88"/>
    <p:sldId id="540" r:id="rId89"/>
    <p:sldId id="543" r:id="rId90"/>
    <p:sldId id="524" r:id="rId91"/>
    <p:sldId id="460" r:id="rId92"/>
    <p:sldId id="496" r:id="rId93"/>
    <p:sldId id="541" r:id="rId94"/>
    <p:sldId id="497" r:id="rId95"/>
    <p:sldId id="501" r:id="rId96"/>
    <p:sldId id="502" r:id="rId97"/>
    <p:sldId id="503" r:id="rId98"/>
    <p:sldId id="504" r:id="rId99"/>
  </p:sldIdLst>
  <p:sldSz cx="12192000" cy="6858000"/>
  <p:notesSz cx="6786563" cy="992346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3E4820-1A34-45D1-920A-6AFF370485D7}">
          <p14:sldIdLst>
            <p14:sldId id="256"/>
            <p14:sldId id="418"/>
            <p14:sldId id="388"/>
            <p14:sldId id="420"/>
            <p14:sldId id="391"/>
            <p14:sldId id="394"/>
            <p14:sldId id="395"/>
            <p14:sldId id="421"/>
            <p14:sldId id="458"/>
            <p14:sldId id="396"/>
            <p14:sldId id="505"/>
            <p14:sldId id="423"/>
            <p14:sldId id="397"/>
            <p14:sldId id="399"/>
            <p14:sldId id="425"/>
            <p14:sldId id="424"/>
            <p14:sldId id="506"/>
            <p14:sldId id="428"/>
            <p14:sldId id="426"/>
            <p14:sldId id="429"/>
            <p14:sldId id="430"/>
            <p14:sldId id="402"/>
            <p14:sldId id="461"/>
            <p14:sldId id="431"/>
            <p14:sldId id="413"/>
            <p14:sldId id="507"/>
            <p14:sldId id="508"/>
            <p14:sldId id="509"/>
            <p14:sldId id="510"/>
            <p14:sldId id="512"/>
            <p14:sldId id="403"/>
            <p14:sldId id="417"/>
            <p14:sldId id="462"/>
            <p14:sldId id="463"/>
            <p14:sldId id="464"/>
            <p14:sldId id="513"/>
            <p14:sldId id="473"/>
            <p14:sldId id="474"/>
            <p14:sldId id="467"/>
            <p14:sldId id="475"/>
            <p14:sldId id="472"/>
            <p14:sldId id="469"/>
            <p14:sldId id="419"/>
            <p14:sldId id="514"/>
            <p14:sldId id="470"/>
            <p14:sldId id="476"/>
            <p14:sldId id="471"/>
            <p14:sldId id="439"/>
            <p14:sldId id="360"/>
            <p14:sldId id="377"/>
            <p14:sldId id="365"/>
            <p14:sldId id="366"/>
            <p14:sldId id="479"/>
            <p14:sldId id="477"/>
            <p14:sldId id="478"/>
            <p14:sldId id="407"/>
            <p14:sldId id="358"/>
            <p14:sldId id="359"/>
            <p14:sldId id="480"/>
            <p14:sldId id="432"/>
            <p14:sldId id="433"/>
            <p14:sldId id="481"/>
            <p14:sldId id="372"/>
            <p14:sldId id="373"/>
            <p14:sldId id="485"/>
            <p14:sldId id="375"/>
            <p14:sldId id="482"/>
            <p14:sldId id="456"/>
            <p14:sldId id="489"/>
            <p14:sldId id="488"/>
            <p14:sldId id="499"/>
            <p14:sldId id="487"/>
            <p14:sldId id="491"/>
            <p14:sldId id="492"/>
            <p14:sldId id="493"/>
            <p14:sldId id="542"/>
            <p14:sldId id="498"/>
            <p14:sldId id="495"/>
            <p14:sldId id="380"/>
            <p14:sldId id="466"/>
            <p14:sldId id="533"/>
            <p14:sldId id="534"/>
            <p14:sldId id="535"/>
            <p14:sldId id="536"/>
            <p14:sldId id="537"/>
            <p14:sldId id="538"/>
            <p14:sldId id="520"/>
            <p14:sldId id="540"/>
            <p14:sldId id="543"/>
            <p14:sldId id="524"/>
            <p14:sldId id="460"/>
            <p14:sldId id="496"/>
            <p14:sldId id="541"/>
            <p14:sldId id="497"/>
            <p14:sldId id="501"/>
            <p14:sldId id="502"/>
            <p14:sldId id="503"/>
            <p14:sldId id="5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OOLLIAMS John" initials="" lastIdx="0" clrIdx="0"/>
  <p:cmAuthor id="1" name="WOOLLIAMS John" initials="WJ" lastIdx="0" clrIdx="1">
    <p:extLst>
      <p:ext uri="{19B8F6BF-5375-455C-9EA6-DF929625EA0E}">
        <p15:presenceInfo xmlns:p15="http://schemas.microsoft.com/office/powerpoint/2012/main" userId="S-1-5-21-861567501-1417001333-682003330-306317" providerId="AD"/>
      </p:ext>
    </p:extLst>
  </p:cmAuthor>
  <p:cmAuthor id="2" name="John Woolliams" initials="JW" lastIdx="1" clrIdx="2">
    <p:extLst>
      <p:ext uri="{19B8F6BF-5375-455C-9EA6-DF929625EA0E}">
        <p15:presenceInfo xmlns:p15="http://schemas.microsoft.com/office/powerpoint/2012/main" userId="S::jwoollia@ed.ac.uk::6258ffa4-d08f-4d58-a298-dc811c1d53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8F8F8F"/>
    <a:srgbClr val="7F7F7F"/>
    <a:srgbClr val="C6C6C6"/>
    <a:srgbClr val="D9D9D9"/>
    <a:srgbClr val="FF9D76"/>
    <a:srgbClr val="FFCC99"/>
    <a:srgbClr val="C9C9C9"/>
    <a:srgbClr val="CACACA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32" autoAdjust="0"/>
  </p:normalViewPr>
  <p:slideViewPr>
    <p:cSldViewPr>
      <p:cViewPr varScale="1">
        <p:scale>
          <a:sx n="76" d="100"/>
          <a:sy n="76" d="100"/>
        </p:scale>
        <p:origin x="104" y="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50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28392"/>
    </p:cViewPr>
  </p:sorterViewPr>
  <p:notesViewPr>
    <p:cSldViewPr>
      <p:cViewPr varScale="1">
        <p:scale>
          <a:sx n="52" d="100"/>
          <a:sy n="52" d="100"/>
        </p:scale>
        <p:origin x="2680" y="60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ris-fas1a.roslin.ed.ac.uk\jwoollia\Lectures%20and%20Examining\Edinburgh\MSc2015_16\QGM\principal_components\principal_componen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ris-fas1a.roslin.ed.ac.uk\jwoollia\Lectures%20and%20Examining\Edinburgh\MSc2015_16\QGM\principal_components\principal_componen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ris-fas1a.roslin.ed.ac.uk\jwoollia\Lectures%20and%20Examining\Edinburgh\MSc2015_16\QGM\principal_components\principal_componen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277777777777776E-2"/>
          <c:y val="1.2662301587301587E-2"/>
          <c:w val="0.92817817460317464"/>
          <c:h val="0.9445634920634921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19050">
                <a:solidFill>
                  <a:srgbClr val="C00000"/>
                </a:solidFill>
              </a:ln>
              <a:effectLst/>
            </c:spPr>
          </c:marker>
          <c:xVal>
            <c:numRef>
              <c:f>Sheet1!$N$1:$N$100</c:f>
              <c:numCache>
                <c:formatCode>General</c:formatCode>
                <c:ptCount val="100"/>
                <c:pt idx="0">
                  <c:v>0.1107921079631615</c:v>
                </c:pt>
                <c:pt idx="1">
                  <c:v>-2.3256050837140396</c:v>
                </c:pt>
                <c:pt idx="2">
                  <c:v>1.1968598769593728</c:v>
                </c:pt>
                <c:pt idx="3">
                  <c:v>-0.48274385928493929</c:v>
                </c:pt>
                <c:pt idx="4">
                  <c:v>-0.45146819776843444</c:v>
                </c:pt>
                <c:pt idx="5">
                  <c:v>0.25581128065402831</c:v>
                </c:pt>
                <c:pt idx="6">
                  <c:v>1.0057812002941029</c:v>
                </c:pt>
                <c:pt idx="7">
                  <c:v>-1.3755289960457691</c:v>
                </c:pt>
                <c:pt idx="8">
                  <c:v>-0.62958447176059229</c:v>
                </c:pt>
                <c:pt idx="9">
                  <c:v>1.9317822009573218</c:v>
                </c:pt>
                <c:pt idx="10">
                  <c:v>-1.185596745641587</c:v>
                </c:pt>
                <c:pt idx="11">
                  <c:v>0.26496835274162178</c:v>
                </c:pt>
                <c:pt idx="12">
                  <c:v>0.16898463830219496</c:v>
                </c:pt>
                <c:pt idx="13">
                  <c:v>0.42985609472617187</c:v>
                </c:pt>
                <c:pt idx="14">
                  <c:v>1.5847123040269149</c:v>
                </c:pt>
                <c:pt idx="15">
                  <c:v>6.5730665721600703E-2</c:v>
                </c:pt>
                <c:pt idx="16">
                  <c:v>-1.3654284783603614</c:v>
                </c:pt>
                <c:pt idx="17">
                  <c:v>-1.6948688195308446</c:v>
                </c:pt>
                <c:pt idx="18">
                  <c:v>8.862954864519057E-2</c:v>
                </c:pt>
                <c:pt idx="19">
                  <c:v>-0.74318102586760226</c:v>
                </c:pt>
                <c:pt idx="20">
                  <c:v>-0.94446970540762287</c:v>
                </c:pt>
                <c:pt idx="21">
                  <c:v>0.51598606405830372</c:v>
                </c:pt>
                <c:pt idx="22">
                  <c:v>0.21988935492189896</c:v>
                </c:pt>
                <c:pt idx="23">
                  <c:v>-0.7727547668591449</c:v>
                </c:pt>
                <c:pt idx="24">
                  <c:v>0.19188937847568324</c:v>
                </c:pt>
                <c:pt idx="25">
                  <c:v>-3.4694419109966491E-2</c:v>
                </c:pt>
                <c:pt idx="26">
                  <c:v>0.95297300479703451</c:v>
                </c:pt>
                <c:pt idx="27">
                  <c:v>-1.9591041081301073</c:v>
                </c:pt>
                <c:pt idx="28">
                  <c:v>-0.60075044499091268</c:v>
                </c:pt>
                <c:pt idx="29">
                  <c:v>-0.70736543722437839</c:v>
                </c:pt>
                <c:pt idx="30">
                  <c:v>-2.0123117441215719</c:v>
                </c:pt>
                <c:pt idx="31">
                  <c:v>0.93992654517102692</c:v>
                </c:pt>
                <c:pt idx="32">
                  <c:v>-1.8925575555807885</c:v>
                </c:pt>
                <c:pt idx="33">
                  <c:v>1.2237704689634372</c:v>
                </c:pt>
                <c:pt idx="34">
                  <c:v>-1.3442608294364613</c:v>
                </c:pt>
                <c:pt idx="35">
                  <c:v>0.41671749566195254</c:v>
                </c:pt>
                <c:pt idx="36">
                  <c:v>0.15990186713324431</c:v>
                </c:pt>
                <c:pt idx="37">
                  <c:v>-1.0061094490812561</c:v>
                </c:pt>
                <c:pt idx="38">
                  <c:v>0.1788064584870605</c:v>
                </c:pt>
                <c:pt idx="39">
                  <c:v>-0.22108128327871801</c:v>
                </c:pt>
                <c:pt idx="40">
                  <c:v>-0.25581296622940453</c:v>
                </c:pt>
                <c:pt idx="41">
                  <c:v>0.84160025105921465</c:v>
                </c:pt>
                <c:pt idx="42">
                  <c:v>-0.10923452363599558</c:v>
                </c:pt>
                <c:pt idx="43">
                  <c:v>-0.22609138006449744</c:v>
                </c:pt>
                <c:pt idx="44">
                  <c:v>-0.59124361578045292</c:v>
                </c:pt>
                <c:pt idx="45">
                  <c:v>8.1424183973174538E-2</c:v>
                </c:pt>
                <c:pt idx="46">
                  <c:v>-1.173659382394836</c:v>
                </c:pt>
                <c:pt idx="47">
                  <c:v>-0.48032826820801527</c:v>
                </c:pt>
                <c:pt idx="48">
                  <c:v>-0.19850973923220397</c:v>
                </c:pt>
                <c:pt idx="49">
                  <c:v>0.13449272724847414</c:v>
                </c:pt>
                <c:pt idx="50">
                  <c:v>0.96234089431515668</c:v>
                </c:pt>
                <c:pt idx="51">
                  <c:v>-0.32875687667769599</c:v>
                </c:pt>
                <c:pt idx="52">
                  <c:v>0.67569010680946606</c:v>
                </c:pt>
                <c:pt idx="53">
                  <c:v>0.52877327746362002</c:v>
                </c:pt>
                <c:pt idx="54">
                  <c:v>0.67996597692195737</c:v>
                </c:pt>
                <c:pt idx="55">
                  <c:v>-1.751854334433629</c:v>
                </c:pt>
                <c:pt idx="56">
                  <c:v>-5.7854344073933424E-2</c:v>
                </c:pt>
                <c:pt idx="57">
                  <c:v>1.1782215577948634</c:v>
                </c:pt>
                <c:pt idx="58">
                  <c:v>1.794305982375654</c:v>
                </c:pt>
                <c:pt idx="59">
                  <c:v>2.5912310266614238</c:v>
                </c:pt>
                <c:pt idx="60">
                  <c:v>-1.1977276366137313</c:v>
                </c:pt>
                <c:pt idx="61">
                  <c:v>-0.30159153704594621</c:v>
                </c:pt>
                <c:pt idx="62">
                  <c:v>0.28632759642477335</c:v>
                </c:pt>
                <c:pt idx="63">
                  <c:v>-0.34675903252697227</c:v>
                </c:pt>
                <c:pt idx="64">
                  <c:v>-0.43656006303945044</c:v>
                </c:pt>
                <c:pt idx="65">
                  <c:v>-0.91110414640060688</c:v>
                </c:pt>
                <c:pt idx="66">
                  <c:v>-0.31594078932440373</c:v>
                </c:pt>
                <c:pt idx="67">
                  <c:v>0.86522960087479295</c:v>
                </c:pt>
                <c:pt idx="68">
                  <c:v>-0.80307840905829231</c:v>
                </c:pt>
                <c:pt idx="69">
                  <c:v>1.5623361894626737</c:v>
                </c:pt>
                <c:pt idx="70">
                  <c:v>-1.2916013987342352</c:v>
                </c:pt>
                <c:pt idx="71">
                  <c:v>0.24787416443216159</c:v>
                </c:pt>
                <c:pt idx="72">
                  <c:v>0.27911912885350909</c:v>
                </c:pt>
                <c:pt idx="73">
                  <c:v>-0.64794238582160535</c:v>
                </c:pt>
                <c:pt idx="74">
                  <c:v>1.5318638170484864</c:v>
                </c:pt>
                <c:pt idx="75">
                  <c:v>-0.13475453678898619</c:v>
                </c:pt>
                <c:pt idx="76">
                  <c:v>-8.005911825450801E-2</c:v>
                </c:pt>
                <c:pt idx="77">
                  <c:v>-1.3508870204491772</c:v>
                </c:pt>
                <c:pt idx="78">
                  <c:v>0.27008807539941448</c:v>
                </c:pt>
                <c:pt idx="79">
                  <c:v>1.301662975814956</c:v>
                </c:pt>
                <c:pt idx="80">
                  <c:v>0.21881379187010305</c:v>
                </c:pt>
                <c:pt idx="81">
                  <c:v>0.79040270656784861</c:v>
                </c:pt>
                <c:pt idx="82">
                  <c:v>-1.4471522455983805</c:v>
                </c:pt>
                <c:pt idx="83">
                  <c:v>1.7342390778555352</c:v>
                </c:pt>
                <c:pt idx="84">
                  <c:v>1.0084057339064829</c:v>
                </c:pt>
                <c:pt idx="85">
                  <c:v>1.2494175646565093</c:v>
                </c:pt>
                <c:pt idx="86">
                  <c:v>0.43883978370440857</c:v>
                </c:pt>
                <c:pt idx="87">
                  <c:v>-0.27531537052965754</c:v>
                </c:pt>
                <c:pt idx="88">
                  <c:v>-2.077564132657054</c:v>
                </c:pt>
                <c:pt idx="89">
                  <c:v>4.0959146867373258E-2</c:v>
                </c:pt>
                <c:pt idx="90">
                  <c:v>-0.26533499848593001</c:v>
                </c:pt>
                <c:pt idx="91">
                  <c:v>1.5198198459336885</c:v>
                </c:pt>
                <c:pt idx="92">
                  <c:v>-8.7793353014751468E-2</c:v>
                </c:pt>
                <c:pt idx="93">
                  <c:v>5.8787393715795958E-2</c:v>
                </c:pt>
                <c:pt idx="94">
                  <c:v>-0.63298779752237577</c:v>
                </c:pt>
                <c:pt idx="95">
                  <c:v>0.59474623865623244</c:v>
                </c:pt>
                <c:pt idx="96">
                  <c:v>-0.46376903943348585</c:v>
                </c:pt>
                <c:pt idx="97">
                  <c:v>-0.93300359132180544</c:v>
                </c:pt>
                <c:pt idx="98">
                  <c:v>0.15527692670560228</c:v>
                </c:pt>
                <c:pt idx="99">
                  <c:v>0.20005505766973927</c:v>
                </c:pt>
              </c:numCache>
            </c:numRef>
          </c:xVal>
          <c:yVal>
            <c:numRef>
              <c:f>Sheet1!$O$1:$O$100</c:f>
              <c:numCache>
                <c:formatCode>General</c:formatCode>
                <c:ptCount val="100"/>
                <c:pt idx="0">
                  <c:v>-6.9218995469416081E-2</c:v>
                </c:pt>
                <c:pt idx="1">
                  <c:v>-2.1734431606521394</c:v>
                </c:pt>
                <c:pt idx="2">
                  <c:v>1.4595621444576437</c:v>
                </c:pt>
                <c:pt idx="3">
                  <c:v>-1.1547723397126786</c:v>
                </c:pt>
                <c:pt idx="4">
                  <c:v>-0.90565758115084694</c:v>
                </c:pt>
                <c:pt idx="5">
                  <c:v>0.46080406922119188</c:v>
                </c:pt>
                <c:pt idx="6">
                  <c:v>0.50880951331153879</c:v>
                </c:pt>
                <c:pt idx="7">
                  <c:v>-2.0842979413555534</c:v>
                </c:pt>
                <c:pt idx="8">
                  <c:v>-0.41452312335963271</c:v>
                </c:pt>
                <c:pt idx="9">
                  <c:v>0.84902078494475175</c:v>
                </c:pt>
                <c:pt idx="10">
                  <c:v>-1.875891972349836</c:v>
                </c:pt>
                <c:pt idx="11">
                  <c:v>-0.39070188757050317</c:v>
                </c:pt>
                <c:pt idx="12">
                  <c:v>0.27643982584201965</c:v>
                </c:pt>
                <c:pt idx="13">
                  <c:v>0.38478263836278515</c:v>
                </c:pt>
                <c:pt idx="14">
                  <c:v>0.53986963421120859</c:v>
                </c:pt>
                <c:pt idx="15">
                  <c:v>-0.68417499244081137</c:v>
                </c:pt>
                <c:pt idx="16">
                  <c:v>-1.0945815625923077</c:v>
                </c:pt>
                <c:pt idx="17">
                  <c:v>-0.62145007832763388</c:v>
                </c:pt>
                <c:pt idx="18">
                  <c:v>0.91768452706783799</c:v>
                </c:pt>
                <c:pt idx="19">
                  <c:v>1.9460177220145307</c:v>
                </c:pt>
                <c:pt idx="20">
                  <c:v>-0.40472086677286367</c:v>
                </c:pt>
                <c:pt idx="21">
                  <c:v>0.50403682531958982</c:v>
                </c:pt>
                <c:pt idx="22">
                  <c:v>0.94082480822752934</c:v>
                </c:pt>
                <c:pt idx="23">
                  <c:v>-0.34158875282646495</c:v>
                </c:pt>
                <c:pt idx="24">
                  <c:v>0.31053196781007458</c:v>
                </c:pt>
                <c:pt idx="25">
                  <c:v>0.49103735130686288</c:v>
                </c:pt>
                <c:pt idx="26">
                  <c:v>2.4819558895778526E-2</c:v>
                </c:pt>
                <c:pt idx="27">
                  <c:v>-0.1119850744742471</c:v>
                </c:pt>
                <c:pt idx="28">
                  <c:v>0.81967520265503135</c:v>
                </c:pt>
                <c:pt idx="29">
                  <c:v>-0.43537520570565735</c:v>
                </c:pt>
                <c:pt idx="30">
                  <c:v>-1.5329107347680018</c:v>
                </c:pt>
                <c:pt idx="31">
                  <c:v>1.00014693518731</c:v>
                </c:pt>
                <c:pt idx="32">
                  <c:v>-1.2077820630086655</c:v>
                </c:pt>
                <c:pt idx="33">
                  <c:v>-0.41058638869513941</c:v>
                </c:pt>
                <c:pt idx="34">
                  <c:v>-1.3821760175923967</c:v>
                </c:pt>
                <c:pt idx="35">
                  <c:v>2.0806059142528484</c:v>
                </c:pt>
                <c:pt idx="36">
                  <c:v>0.16043327202057173</c:v>
                </c:pt>
                <c:pt idx="37">
                  <c:v>-1.1285413650264546</c:v>
                </c:pt>
                <c:pt idx="38">
                  <c:v>-0.97366671697233032</c:v>
                </c:pt>
                <c:pt idx="39">
                  <c:v>0.47172859197390254</c:v>
                </c:pt>
                <c:pt idx="40">
                  <c:v>0.63921102501187566</c:v>
                </c:pt>
                <c:pt idx="41">
                  <c:v>9.3379357551365338E-2</c:v>
                </c:pt>
                <c:pt idx="42">
                  <c:v>-0.52614586887203285</c:v>
                </c:pt>
                <c:pt idx="43">
                  <c:v>-1.8434746294705016</c:v>
                </c:pt>
                <c:pt idx="44">
                  <c:v>-0.87987300972210858</c:v>
                </c:pt>
                <c:pt idx="45">
                  <c:v>-0.91827933909227422</c:v>
                </c:pt>
                <c:pt idx="46">
                  <c:v>-0.27456996632722724</c:v>
                </c:pt>
                <c:pt idx="47">
                  <c:v>-0.25333334160171433</c:v>
                </c:pt>
                <c:pt idx="48">
                  <c:v>0.34649998862191067</c:v>
                </c:pt>
                <c:pt idx="49">
                  <c:v>-0.63430149082595644</c:v>
                </c:pt>
                <c:pt idx="50">
                  <c:v>-0.18393362371619554</c:v>
                </c:pt>
                <c:pt idx="51">
                  <c:v>1.1612402265232082</c:v>
                </c:pt>
                <c:pt idx="52">
                  <c:v>1.2022397300908632</c:v>
                </c:pt>
                <c:pt idx="53">
                  <c:v>1.183351570562164</c:v>
                </c:pt>
                <c:pt idx="54">
                  <c:v>1.3469998808074857</c:v>
                </c:pt>
                <c:pt idx="55">
                  <c:v>-1.8250106467888623</c:v>
                </c:pt>
                <c:pt idx="56">
                  <c:v>-0.28282347326075113</c:v>
                </c:pt>
                <c:pt idx="57">
                  <c:v>0.69808230921077741</c:v>
                </c:pt>
                <c:pt idx="58">
                  <c:v>-0.42893145167972435</c:v>
                </c:pt>
                <c:pt idx="59">
                  <c:v>1.6606032406429501</c:v>
                </c:pt>
                <c:pt idx="60">
                  <c:v>-1.5932968513496819</c:v>
                </c:pt>
                <c:pt idx="61">
                  <c:v>-8.4081294430258524E-3</c:v>
                </c:pt>
                <c:pt idx="62">
                  <c:v>0.26326834176434488</c:v>
                </c:pt>
                <c:pt idx="63">
                  <c:v>-0.90790032022936884</c:v>
                </c:pt>
                <c:pt idx="64">
                  <c:v>-0.41668849260823781</c:v>
                </c:pt>
                <c:pt idx="65">
                  <c:v>-0.38855651759588172</c:v>
                </c:pt>
                <c:pt idx="66">
                  <c:v>-0.97548329187972982</c:v>
                </c:pt>
                <c:pt idx="67">
                  <c:v>1.1999992037714851</c:v>
                </c:pt>
                <c:pt idx="68">
                  <c:v>0.36434759752780033</c:v>
                </c:pt>
                <c:pt idx="69">
                  <c:v>1.0267309289992959</c:v>
                </c:pt>
                <c:pt idx="70">
                  <c:v>-2.1273889066263596</c:v>
                </c:pt>
                <c:pt idx="71">
                  <c:v>-0.47713162228176975</c:v>
                </c:pt>
                <c:pt idx="72">
                  <c:v>0.7022135885054509</c:v>
                </c:pt>
                <c:pt idx="73">
                  <c:v>0.94935171722991241</c:v>
                </c:pt>
                <c:pt idx="74">
                  <c:v>0.20821887255102156</c:v>
                </c:pt>
                <c:pt idx="75">
                  <c:v>0.10103741152657214</c:v>
                </c:pt>
                <c:pt idx="76">
                  <c:v>-0.63932243928268639</c:v>
                </c:pt>
                <c:pt idx="77">
                  <c:v>-0.65604055477065837</c:v>
                </c:pt>
                <c:pt idx="78">
                  <c:v>0.45389605597741667</c:v>
                </c:pt>
                <c:pt idx="79">
                  <c:v>-0.32221215065395914</c:v>
                </c:pt>
                <c:pt idx="80">
                  <c:v>0.64120062452861804</c:v>
                </c:pt>
                <c:pt idx="81">
                  <c:v>0.78588774638263437</c:v>
                </c:pt>
                <c:pt idx="82">
                  <c:v>-1.4902497493434366</c:v>
                </c:pt>
                <c:pt idx="83">
                  <c:v>0.21185564021910375</c:v>
                </c:pt>
                <c:pt idx="84">
                  <c:v>0.28938200901992583</c:v>
                </c:pt>
                <c:pt idx="85">
                  <c:v>2.0158648216687789</c:v>
                </c:pt>
                <c:pt idx="86">
                  <c:v>-0.91335531806744896</c:v>
                </c:pt>
                <c:pt idx="87">
                  <c:v>2.0785552483964578</c:v>
                </c:pt>
                <c:pt idx="88">
                  <c:v>-2.0887586187024612</c:v>
                </c:pt>
                <c:pt idx="89">
                  <c:v>-1.2077934906685106</c:v>
                </c:pt>
                <c:pt idx="90">
                  <c:v>-1.4263044542416836</c:v>
                </c:pt>
                <c:pt idx="91">
                  <c:v>8.9623398372307705E-2</c:v>
                </c:pt>
                <c:pt idx="92">
                  <c:v>-2.7451383478732393E-2</c:v>
                </c:pt>
                <c:pt idx="93">
                  <c:v>-0.90497625631658618</c:v>
                </c:pt>
                <c:pt idx="94">
                  <c:v>-1.4683340663586677</c:v>
                </c:pt>
                <c:pt idx="95">
                  <c:v>1.8674276346504139</c:v>
                </c:pt>
                <c:pt idx="96">
                  <c:v>-0.58630715279305978</c:v>
                </c:pt>
                <c:pt idx="97">
                  <c:v>-0.34237943970525569</c:v>
                </c:pt>
                <c:pt idx="98">
                  <c:v>0.19728267667757043</c:v>
                </c:pt>
                <c:pt idx="99">
                  <c:v>-0.8760953355946034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74-454D-9A0F-6D1E55A86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386232"/>
        <c:axId val="199781424"/>
      </c:scatterChart>
      <c:valAx>
        <c:axId val="200386232"/>
        <c:scaling>
          <c:orientation val="minMax"/>
          <c:max val="4"/>
          <c:min val="-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781424"/>
        <c:crosses val="autoZero"/>
        <c:crossBetween val="midCat"/>
        <c:majorUnit val="1"/>
        <c:minorUnit val="0.5"/>
      </c:valAx>
      <c:valAx>
        <c:axId val="199781424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386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277777777777776E-2"/>
          <c:y val="1.2662301587301587E-2"/>
          <c:w val="0.92817817460317464"/>
          <c:h val="0.9445634920634921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19050">
                <a:solidFill>
                  <a:srgbClr val="C00000"/>
                </a:solidFill>
              </a:ln>
              <a:effectLst/>
            </c:spPr>
          </c:marker>
          <c:xVal>
            <c:numRef>
              <c:f>Sheet1!$N$1:$N$100</c:f>
              <c:numCache>
                <c:formatCode>General</c:formatCode>
                <c:ptCount val="100"/>
                <c:pt idx="0">
                  <c:v>0.1107921079631615</c:v>
                </c:pt>
                <c:pt idx="1">
                  <c:v>-2.3256050837140396</c:v>
                </c:pt>
                <c:pt idx="2">
                  <c:v>1.1968598769593728</c:v>
                </c:pt>
                <c:pt idx="3">
                  <c:v>-0.48274385928493929</c:v>
                </c:pt>
                <c:pt idx="4">
                  <c:v>-0.45146819776843444</c:v>
                </c:pt>
                <c:pt idx="5">
                  <c:v>0.25581128065402831</c:v>
                </c:pt>
                <c:pt idx="6">
                  <c:v>1.0057812002941029</c:v>
                </c:pt>
                <c:pt idx="7">
                  <c:v>-1.3755289960457691</c:v>
                </c:pt>
                <c:pt idx="8">
                  <c:v>-0.62958447176059229</c:v>
                </c:pt>
                <c:pt idx="9">
                  <c:v>1.9317822009573218</c:v>
                </c:pt>
                <c:pt idx="10">
                  <c:v>-1.185596745641587</c:v>
                </c:pt>
                <c:pt idx="11">
                  <c:v>0.26496835274162178</c:v>
                </c:pt>
                <c:pt idx="12">
                  <c:v>0.16898463830219496</c:v>
                </c:pt>
                <c:pt idx="13">
                  <c:v>0.42985609472617187</c:v>
                </c:pt>
                <c:pt idx="14">
                  <c:v>1.5847123040269149</c:v>
                </c:pt>
                <c:pt idx="15">
                  <c:v>6.5730665721600703E-2</c:v>
                </c:pt>
                <c:pt idx="16">
                  <c:v>-1.3654284783603614</c:v>
                </c:pt>
                <c:pt idx="17">
                  <c:v>-1.6948688195308446</c:v>
                </c:pt>
                <c:pt idx="18">
                  <c:v>8.862954864519057E-2</c:v>
                </c:pt>
                <c:pt idx="19">
                  <c:v>-0.74318102586760226</c:v>
                </c:pt>
                <c:pt idx="20">
                  <c:v>-0.94446970540762287</c:v>
                </c:pt>
                <c:pt idx="21">
                  <c:v>0.51598606405830372</c:v>
                </c:pt>
                <c:pt idx="22">
                  <c:v>0.21988935492189896</c:v>
                </c:pt>
                <c:pt idx="23">
                  <c:v>-0.7727547668591449</c:v>
                </c:pt>
                <c:pt idx="24">
                  <c:v>0.19188937847568324</c:v>
                </c:pt>
                <c:pt idx="25">
                  <c:v>-3.4694419109966491E-2</c:v>
                </c:pt>
                <c:pt idx="26">
                  <c:v>0.95297300479703451</c:v>
                </c:pt>
                <c:pt idx="27">
                  <c:v>-1.9591041081301073</c:v>
                </c:pt>
                <c:pt idx="28">
                  <c:v>-0.60075044499091268</c:v>
                </c:pt>
                <c:pt idx="29">
                  <c:v>-0.70736543722437839</c:v>
                </c:pt>
                <c:pt idx="30">
                  <c:v>-2.0123117441215719</c:v>
                </c:pt>
                <c:pt idx="31">
                  <c:v>0.93992654517102692</c:v>
                </c:pt>
                <c:pt idx="32">
                  <c:v>-1.8925575555807885</c:v>
                </c:pt>
                <c:pt idx="33">
                  <c:v>1.2237704689634372</c:v>
                </c:pt>
                <c:pt idx="34">
                  <c:v>-1.3442608294364613</c:v>
                </c:pt>
                <c:pt idx="35">
                  <c:v>0.41671749566195254</c:v>
                </c:pt>
                <c:pt idx="36">
                  <c:v>0.15990186713324431</c:v>
                </c:pt>
                <c:pt idx="37">
                  <c:v>-1.0061094490812561</c:v>
                </c:pt>
                <c:pt idx="38">
                  <c:v>0.1788064584870605</c:v>
                </c:pt>
                <c:pt idx="39">
                  <c:v>-0.22108128327871801</c:v>
                </c:pt>
                <c:pt idx="40">
                  <c:v>-0.25581296622940453</c:v>
                </c:pt>
                <c:pt idx="41">
                  <c:v>0.84160025105921465</c:v>
                </c:pt>
                <c:pt idx="42">
                  <c:v>-0.10923452363599558</c:v>
                </c:pt>
                <c:pt idx="43">
                  <c:v>-0.22609138006449744</c:v>
                </c:pt>
                <c:pt idx="44">
                  <c:v>-0.59124361578045292</c:v>
                </c:pt>
                <c:pt idx="45">
                  <c:v>8.1424183973174538E-2</c:v>
                </c:pt>
                <c:pt idx="46">
                  <c:v>-1.173659382394836</c:v>
                </c:pt>
                <c:pt idx="47">
                  <c:v>-0.48032826820801527</c:v>
                </c:pt>
                <c:pt idx="48">
                  <c:v>-0.19850973923220397</c:v>
                </c:pt>
                <c:pt idx="49">
                  <c:v>0.13449272724847414</c:v>
                </c:pt>
                <c:pt idx="50">
                  <c:v>0.96234089431515668</c:v>
                </c:pt>
                <c:pt idx="51">
                  <c:v>-0.32875687667769599</c:v>
                </c:pt>
                <c:pt idx="52">
                  <c:v>0.67569010680946606</c:v>
                </c:pt>
                <c:pt idx="53">
                  <c:v>0.52877327746362002</c:v>
                </c:pt>
                <c:pt idx="54">
                  <c:v>0.67996597692195737</c:v>
                </c:pt>
                <c:pt idx="55">
                  <c:v>-1.751854334433629</c:v>
                </c:pt>
                <c:pt idx="56">
                  <c:v>-5.7854344073933424E-2</c:v>
                </c:pt>
                <c:pt idx="57">
                  <c:v>1.1782215577948634</c:v>
                </c:pt>
                <c:pt idx="58">
                  <c:v>1.794305982375654</c:v>
                </c:pt>
                <c:pt idx="59">
                  <c:v>2.5912310266614238</c:v>
                </c:pt>
                <c:pt idx="60">
                  <c:v>-1.1977276366137313</c:v>
                </c:pt>
                <c:pt idx="61">
                  <c:v>-0.30159153704594621</c:v>
                </c:pt>
                <c:pt idx="62">
                  <c:v>0.28632759642477335</c:v>
                </c:pt>
                <c:pt idx="63">
                  <c:v>-0.34675903252697227</c:v>
                </c:pt>
                <c:pt idx="64">
                  <c:v>-0.43656006303945044</c:v>
                </c:pt>
                <c:pt idx="65">
                  <c:v>-0.91110414640060688</c:v>
                </c:pt>
                <c:pt idx="66">
                  <c:v>-0.31594078932440373</c:v>
                </c:pt>
                <c:pt idx="67">
                  <c:v>0.86522960087479295</c:v>
                </c:pt>
                <c:pt idx="68">
                  <c:v>-0.80307840905829231</c:v>
                </c:pt>
                <c:pt idx="69">
                  <c:v>1.5623361894626737</c:v>
                </c:pt>
                <c:pt idx="70">
                  <c:v>-1.2916013987342352</c:v>
                </c:pt>
                <c:pt idx="71">
                  <c:v>0.24787416443216159</c:v>
                </c:pt>
                <c:pt idx="72">
                  <c:v>0.27911912885350909</c:v>
                </c:pt>
                <c:pt idx="73">
                  <c:v>-0.64794238582160535</c:v>
                </c:pt>
                <c:pt idx="74">
                  <c:v>1.5318638170484864</c:v>
                </c:pt>
                <c:pt idx="75">
                  <c:v>-0.13475453678898619</c:v>
                </c:pt>
                <c:pt idx="76">
                  <c:v>-8.005911825450801E-2</c:v>
                </c:pt>
                <c:pt idx="77">
                  <c:v>-1.3508870204491772</c:v>
                </c:pt>
                <c:pt idx="78">
                  <c:v>0.27008807539941448</c:v>
                </c:pt>
                <c:pt idx="79">
                  <c:v>1.301662975814956</c:v>
                </c:pt>
                <c:pt idx="80">
                  <c:v>0.21881379187010305</c:v>
                </c:pt>
                <c:pt idx="81">
                  <c:v>0.79040270656784861</c:v>
                </c:pt>
                <c:pt idx="82">
                  <c:v>-1.4471522455983805</c:v>
                </c:pt>
                <c:pt idx="83">
                  <c:v>1.7342390778555352</c:v>
                </c:pt>
                <c:pt idx="84">
                  <c:v>1.0084057339064829</c:v>
                </c:pt>
                <c:pt idx="85">
                  <c:v>1.2494175646565093</c:v>
                </c:pt>
                <c:pt idx="86">
                  <c:v>0.43883978370440857</c:v>
                </c:pt>
                <c:pt idx="87">
                  <c:v>-0.27531537052965754</c:v>
                </c:pt>
                <c:pt idx="88">
                  <c:v>-2.077564132657054</c:v>
                </c:pt>
                <c:pt idx="89">
                  <c:v>4.0959146867373258E-2</c:v>
                </c:pt>
                <c:pt idx="90">
                  <c:v>-0.26533499848593001</c:v>
                </c:pt>
                <c:pt idx="91">
                  <c:v>1.5198198459336885</c:v>
                </c:pt>
                <c:pt idx="92">
                  <c:v>-8.7793353014751468E-2</c:v>
                </c:pt>
                <c:pt idx="93">
                  <c:v>5.8787393715795958E-2</c:v>
                </c:pt>
                <c:pt idx="94">
                  <c:v>-0.63298779752237577</c:v>
                </c:pt>
                <c:pt idx="95">
                  <c:v>0.59474623865623244</c:v>
                </c:pt>
                <c:pt idx="96">
                  <c:v>-0.46376903943348585</c:v>
                </c:pt>
                <c:pt idx="97">
                  <c:v>-0.93300359132180544</c:v>
                </c:pt>
                <c:pt idx="98">
                  <c:v>0.15527692670560228</c:v>
                </c:pt>
                <c:pt idx="99">
                  <c:v>0.20005505766973927</c:v>
                </c:pt>
              </c:numCache>
            </c:numRef>
          </c:xVal>
          <c:yVal>
            <c:numRef>
              <c:f>Sheet1!$O$1:$O$100</c:f>
              <c:numCache>
                <c:formatCode>General</c:formatCode>
                <c:ptCount val="100"/>
                <c:pt idx="0">
                  <c:v>-6.9218995469416081E-2</c:v>
                </c:pt>
                <c:pt idx="1">
                  <c:v>-2.1734431606521394</c:v>
                </c:pt>
                <c:pt idx="2">
                  <c:v>1.4595621444576437</c:v>
                </c:pt>
                <c:pt idx="3">
                  <c:v>-1.1547723397126786</c:v>
                </c:pt>
                <c:pt idx="4">
                  <c:v>-0.90565758115084694</c:v>
                </c:pt>
                <c:pt idx="5">
                  <c:v>0.46080406922119188</c:v>
                </c:pt>
                <c:pt idx="6">
                  <c:v>0.50880951331153879</c:v>
                </c:pt>
                <c:pt idx="7">
                  <c:v>-2.0842979413555534</c:v>
                </c:pt>
                <c:pt idx="8">
                  <c:v>-0.41452312335963271</c:v>
                </c:pt>
                <c:pt idx="9">
                  <c:v>0.84902078494475175</c:v>
                </c:pt>
                <c:pt idx="10">
                  <c:v>-1.875891972349836</c:v>
                </c:pt>
                <c:pt idx="11">
                  <c:v>-0.39070188757050317</c:v>
                </c:pt>
                <c:pt idx="12">
                  <c:v>0.27643982584201965</c:v>
                </c:pt>
                <c:pt idx="13">
                  <c:v>0.38478263836278515</c:v>
                </c:pt>
                <c:pt idx="14">
                  <c:v>0.53986963421120859</c:v>
                </c:pt>
                <c:pt idx="15">
                  <c:v>-0.68417499244081137</c:v>
                </c:pt>
                <c:pt idx="16">
                  <c:v>-1.0945815625923077</c:v>
                </c:pt>
                <c:pt idx="17">
                  <c:v>-0.62145007832763388</c:v>
                </c:pt>
                <c:pt idx="18">
                  <c:v>0.91768452706783799</c:v>
                </c:pt>
                <c:pt idx="19">
                  <c:v>1.9460177220145307</c:v>
                </c:pt>
                <c:pt idx="20">
                  <c:v>-0.40472086677286367</c:v>
                </c:pt>
                <c:pt idx="21">
                  <c:v>0.50403682531958982</c:v>
                </c:pt>
                <c:pt idx="22">
                  <c:v>0.94082480822752934</c:v>
                </c:pt>
                <c:pt idx="23">
                  <c:v>-0.34158875282646495</c:v>
                </c:pt>
                <c:pt idx="24">
                  <c:v>0.31053196781007458</c:v>
                </c:pt>
                <c:pt idx="25">
                  <c:v>0.49103735130686288</c:v>
                </c:pt>
                <c:pt idx="26">
                  <c:v>2.4819558895778526E-2</c:v>
                </c:pt>
                <c:pt idx="27">
                  <c:v>-0.1119850744742471</c:v>
                </c:pt>
                <c:pt idx="28">
                  <c:v>0.81967520265503135</c:v>
                </c:pt>
                <c:pt idx="29">
                  <c:v>-0.43537520570565735</c:v>
                </c:pt>
                <c:pt idx="30">
                  <c:v>-1.5329107347680018</c:v>
                </c:pt>
                <c:pt idx="31">
                  <c:v>1.00014693518731</c:v>
                </c:pt>
                <c:pt idx="32">
                  <c:v>-1.2077820630086655</c:v>
                </c:pt>
                <c:pt idx="33">
                  <c:v>-0.41058638869513941</c:v>
                </c:pt>
                <c:pt idx="34">
                  <c:v>-1.3821760175923967</c:v>
                </c:pt>
                <c:pt idx="35">
                  <c:v>2.0806059142528484</c:v>
                </c:pt>
                <c:pt idx="36">
                  <c:v>0.16043327202057173</c:v>
                </c:pt>
                <c:pt idx="37">
                  <c:v>-1.1285413650264546</c:v>
                </c:pt>
                <c:pt idx="38">
                  <c:v>-0.97366671697233032</c:v>
                </c:pt>
                <c:pt idx="39">
                  <c:v>0.47172859197390254</c:v>
                </c:pt>
                <c:pt idx="40">
                  <c:v>0.63921102501187566</c:v>
                </c:pt>
                <c:pt idx="41">
                  <c:v>9.3379357551365338E-2</c:v>
                </c:pt>
                <c:pt idx="42">
                  <c:v>-0.52614586887203285</c:v>
                </c:pt>
                <c:pt idx="43">
                  <c:v>-1.8434746294705016</c:v>
                </c:pt>
                <c:pt idx="44">
                  <c:v>-0.87987300972210858</c:v>
                </c:pt>
                <c:pt idx="45">
                  <c:v>-0.91827933909227422</c:v>
                </c:pt>
                <c:pt idx="46">
                  <c:v>-0.27456996632722724</c:v>
                </c:pt>
                <c:pt idx="47">
                  <c:v>-0.25333334160171433</c:v>
                </c:pt>
                <c:pt idx="48">
                  <c:v>0.34649998862191067</c:v>
                </c:pt>
                <c:pt idx="49">
                  <c:v>-0.63430149082595644</c:v>
                </c:pt>
                <c:pt idx="50">
                  <c:v>-0.18393362371619554</c:v>
                </c:pt>
                <c:pt idx="51">
                  <c:v>1.1612402265232082</c:v>
                </c:pt>
                <c:pt idx="52">
                  <c:v>1.2022397300908632</c:v>
                </c:pt>
                <c:pt idx="53">
                  <c:v>1.183351570562164</c:v>
                </c:pt>
                <c:pt idx="54">
                  <c:v>1.3469998808074857</c:v>
                </c:pt>
                <c:pt idx="55">
                  <c:v>-1.8250106467888623</c:v>
                </c:pt>
                <c:pt idx="56">
                  <c:v>-0.28282347326075113</c:v>
                </c:pt>
                <c:pt idx="57">
                  <c:v>0.69808230921077741</c:v>
                </c:pt>
                <c:pt idx="58">
                  <c:v>-0.42893145167972435</c:v>
                </c:pt>
                <c:pt idx="59">
                  <c:v>1.6606032406429501</c:v>
                </c:pt>
                <c:pt idx="60">
                  <c:v>-1.5932968513496819</c:v>
                </c:pt>
                <c:pt idx="61">
                  <c:v>-8.4081294430258524E-3</c:v>
                </c:pt>
                <c:pt idx="62">
                  <c:v>0.26326834176434488</c:v>
                </c:pt>
                <c:pt idx="63">
                  <c:v>-0.90790032022936884</c:v>
                </c:pt>
                <c:pt idx="64">
                  <c:v>-0.41668849260823781</c:v>
                </c:pt>
                <c:pt idx="65">
                  <c:v>-0.38855651759588172</c:v>
                </c:pt>
                <c:pt idx="66">
                  <c:v>-0.97548329187972982</c:v>
                </c:pt>
                <c:pt idx="67">
                  <c:v>1.1999992037714851</c:v>
                </c:pt>
                <c:pt idx="68">
                  <c:v>0.36434759752780033</c:v>
                </c:pt>
                <c:pt idx="69">
                  <c:v>1.0267309289992959</c:v>
                </c:pt>
                <c:pt idx="70">
                  <c:v>-2.1273889066263596</c:v>
                </c:pt>
                <c:pt idx="71">
                  <c:v>-0.47713162228176975</c:v>
                </c:pt>
                <c:pt idx="72">
                  <c:v>0.7022135885054509</c:v>
                </c:pt>
                <c:pt idx="73">
                  <c:v>0.94935171722991241</c:v>
                </c:pt>
                <c:pt idx="74">
                  <c:v>0.20821887255102156</c:v>
                </c:pt>
                <c:pt idx="75">
                  <c:v>0.10103741152657214</c:v>
                </c:pt>
                <c:pt idx="76">
                  <c:v>-0.63932243928268639</c:v>
                </c:pt>
                <c:pt idx="77">
                  <c:v>-0.65604055477065837</c:v>
                </c:pt>
                <c:pt idx="78">
                  <c:v>0.45389605597741667</c:v>
                </c:pt>
                <c:pt idx="79">
                  <c:v>-0.32221215065395914</c:v>
                </c:pt>
                <c:pt idx="80">
                  <c:v>0.64120062452861804</c:v>
                </c:pt>
                <c:pt idx="81">
                  <c:v>0.78588774638263437</c:v>
                </c:pt>
                <c:pt idx="82">
                  <c:v>-1.4902497493434366</c:v>
                </c:pt>
                <c:pt idx="83">
                  <c:v>0.21185564021910375</c:v>
                </c:pt>
                <c:pt idx="84">
                  <c:v>0.28938200901992583</c:v>
                </c:pt>
                <c:pt idx="85">
                  <c:v>2.0158648216687789</c:v>
                </c:pt>
                <c:pt idx="86">
                  <c:v>-0.91335531806744896</c:v>
                </c:pt>
                <c:pt idx="87">
                  <c:v>2.0785552483964578</c:v>
                </c:pt>
                <c:pt idx="88">
                  <c:v>-2.0887586187024612</c:v>
                </c:pt>
                <c:pt idx="89">
                  <c:v>-1.2077934906685106</c:v>
                </c:pt>
                <c:pt idx="90">
                  <c:v>-1.4263044542416836</c:v>
                </c:pt>
                <c:pt idx="91">
                  <c:v>8.9623398372307705E-2</c:v>
                </c:pt>
                <c:pt idx="92">
                  <c:v>-2.7451383478732393E-2</c:v>
                </c:pt>
                <c:pt idx="93">
                  <c:v>-0.90497625631658618</c:v>
                </c:pt>
                <c:pt idx="94">
                  <c:v>-1.4683340663586677</c:v>
                </c:pt>
                <c:pt idx="95">
                  <c:v>1.8674276346504139</c:v>
                </c:pt>
                <c:pt idx="96">
                  <c:v>-0.58630715279305978</c:v>
                </c:pt>
                <c:pt idx="97">
                  <c:v>-0.34237943970525569</c:v>
                </c:pt>
                <c:pt idx="98">
                  <c:v>0.19728267667757043</c:v>
                </c:pt>
                <c:pt idx="99">
                  <c:v>-0.8760953355946034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74-454D-9A0F-6D1E55A86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386232"/>
        <c:axId val="199781424"/>
      </c:scatterChart>
      <c:valAx>
        <c:axId val="200386232"/>
        <c:scaling>
          <c:orientation val="minMax"/>
          <c:max val="4"/>
          <c:min val="-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781424"/>
        <c:crosses val="autoZero"/>
        <c:crossBetween val="midCat"/>
        <c:majorUnit val="1"/>
        <c:minorUnit val="0.5"/>
      </c:valAx>
      <c:valAx>
        <c:axId val="199781424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386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277777777777776E-2"/>
          <c:y val="2.526150793650794E-2"/>
          <c:w val="0.92817817460317464"/>
          <c:h val="0.9445634920634921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19050">
                <a:solidFill>
                  <a:srgbClr val="C00000"/>
                </a:solidFill>
              </a:ln>
              <a:effectLst/>
            </c:spPr>
          </c:marker>
          <c:xVal>
            <c:numRef>
              <c:f>Sheet1!$N$1:$N$100</c:f>
              <c:numCache>
                <c:formatCode>General</c:formatCode>
                <c:ptCount val="100"/>
                <c:pt idx="0">
                  <c:v>0.1107921079631615</c:v>
                </c:pt>
                <c:pt idx="1">
                  <c:v>-2.3256050837140396</c:v>
                </c:pt>
                <c:pt idx="2">
                  <c:v>1.1968598769593728</c:v>
                </c:pt>
                <c:pt idx="3">
                  <c:v>-0.48274385928493929</c:v>
                </c:pt>
                <c:pt idx="4">
                  <c:v>-0.45146819776843444</c:v>
                </c:pt>
                <c:pt idx="5">
                  <c:v>0.25581128065402831</c:v>
                </c:pt>
                <c:pt idx="6">
                  <c:v>1.0057812002941029</c:v>
                </c:pt>
                <c:pt idx="7">
                  <c:v>-1.3755289960457691</c:v>
                </c:pt>
                <c:pt idx="8">
                  <c:v>-0.62958447176059229</c:v>
                </c:pt>
                <c:pt idx="9">
                  <c:v>1.9317822009573218</c:v>
                </c:pt>
                <c:pt idx="10">
                  <c:v>-1.185596745641587</c:v>
                </c:pt>
                <c:pt idx="11">
                  <c:v>0.26496835274162178</c:v>
                </c:pt>
                <c:pt idx="12">
                  <c:v>0.16898463830219496</c:v>
                </c:pt>
                <c:pt idx="13">
                  <c:v>0.42985609472617187</c:v>
                </c:pt>
                <c:pt idx="14">
                  <c:v>1.5847123040269149</c:v>
                </c:pt>
                <c:pt idx="15">
                  <c:v>6.5730665721600703E-2</c:v>
                </c:pt>
                <c:pt idx="16">
                  <c:v>-1.3654284783603614</c:v>
                </c:pt>
                <c:pt idx="17">
                  <c:v>-1.6948688195308446</c:v>
                </c:pt>
                <c:pt idx="18">
                  <c:v>8.862954864519057E-2</c:v>
                </c:pt>
                <c:pt idx="19">
                  <c:v>-0.74318102586760226</c:v>
                </c:pt>
                <c:pt idx="20">
                  <c:v>-0.94446970540762287</c:v>
                </c:pt>
                <c:pt idx="21">
                  <c:v>0.51598606405830372</c:v>
                </c:pt>
                <c:pt idx="22">
                  <c:v>0.21988935492189896</c:v>
                </c:pt>
                <c:pt idx="23">
                  <c:v>-0.7727547668591449</c:v>
                </c:pt>
                <c:pt idx="24">
                  <c:v>0.19188937847568324</c:v>
                </c:pt>
                <c:pt idx="25">
                  <c:v>-3.4694419109966491E-2</c:v>
                </c:pt>
                <c:pt idx="26">
                  <c:v>0.95297300479703451</c:v>
                </c:pt>
                <c:pt idx="27">
                  <c:v>-1.9591041081301073</c:v>
                </c:pt>
                <c:pt idx="28">
                  <c:v>-0.60075044499091268</c:v>
                </c:pt>
                <c:pt idx="29">
                  <c:v>-0.70736543722437839</c:v>
                </c:pt>
                <c:pt idx="30">
                  <c:v>-2.0123117441215719</c:v>
                </c:pt>
                <c:pt idx="31">
                  <c:v>0.93992654517102692</c:v>
                </c:pt>
                <c:pt idx="32">
                  <c:v>-1.8925575555807885</c:v>
                </c:pt>
                <c:pt idx="33">
                  <c:v>1.2237704689634372</c:v>
                </c:pt>
                <c:pt idx="34">
                  <c:v>-1.3442608294364613</c:v>
                </c:pt>
                <c:pt idx="35">
                  <c:v>0.41671749566195254</c:v>
                </c:pt>
                <c:pt idx="36">
                  <c:v>0.15990186713324431</c:v>
                </c:pt>
                <c:pt idx="37">
                  <c:v>-1.0061094490812561</c:v>
                </c:pt>
                <c:pt idx="38">
                  <c:v>0.1788064584870605</c:v>
                </c:pt>
                <c:pt idx="39">
                  <c:v>-0.22108128327871801</c:v>
                </c:pt>
                <c:pt idx="40">
                  <c:v>-0.25581296622940453</c:v>
                </c:pt>
                <c:pt idx="41">
                  <c:v>0.84160025105921465</c:v>
                </c:pt>
                <c:pt idx="42">
                  <c:v>-0.10923452363599558</c:v>
                </c:pt>
                <c:pt idx="43">
                  <c:v>-0.22609138006449744</c:v>
                </c:pt>
                <c:pt idx="44">
                  <c:v>-0.59124361578045292</c:v>
                </c:pt>
                <c:pt idx="45">
                  <c:v>8.1424183973174538E-2</c:v>
                </c:pt>
                <c:pt idx="46">
                  <c:v>-1.173659382394836</c:v>
                </c:pt>
                <c:pt idx="47">
                  <c:v>-0.48032826820801527</c:v>
                </c:pt>
                <c:pt idx="48">
                  <c:v>-0.19850973923220397</c:v>
                </c:pt>
                <c:pt idx="49">
                  <c:v>0.13449272724847414</c:v>
                </c:pt>
                <c:pt idx="50">
                  <c:v>0.96234089431515668</c:v>
                </c:pt>
                <c:pt idx="51">
                  <c:v>-0.32875687667769599</c:v>
                </c:pt>
                <c:pt idx="52">
                  <c:v>0.67569010680946606</c:v>
                </c:pt>
                <c:pt idx="53">
                  <c:v>0.52877327746362002</c:v>
                </c:pt>
                <c:pt idx="54">
                  <c:v>0.67996597692195737</c:v>
                </c:pt>
                <c:pt idx="55">
                  <c:v>-1.751854334433629</c:v>
                </c:pt>
                <c:pt idx="56">
                  <c:v>-5.7854344073933424E-2</c:v>
                </c:pt>
                <c:pt idx="57">
                  <c:v>1.1782215577948634</c:v>
                </c:pt>
                <c:pt idx="58">
                  <c:v>1.794305982375654</c:v>
                </c:pt>
                <c:pt idx="59">
                  <c:v>2.5912310266614238</c:v>
                </c:pt>
                <c:pt idx="60">
                  <c:v>-1.1977276366137313</c:v>
                </c:pt>
                <c:pt idx="61">
                  <c:v>-0.30159153704594621</c:v>
                </c:pt>
                <c:pt idx="62">
                  <c:v>0.28632759642477335</c:v>
                </c:pt>
                <c:pt idx="63">
                  <c:v>-0.34675903252697227</c:v>
                </c:pt>
                <c:pt idx="64">
                  <c:v>-0.43656006303945044</c:v>
                </c:pt>
                <c:pt idx="65">
                  <c:v>-0.91110414640060688</c:v>
                </c:pt>
                <c:pt idx="66">
                  <c:v>-0.31594078932440373</c:v>
                </c:pt>
                <c:pt idx="67">
                  <c:v>0.86522960087479295</c:v>
                </c:pt>
                <c:pt idx="68">
                  <c:v>-0.80307840905829231</c:v>
                </c:pt>
                <c:pt idx="69">
                  <c:v>1.5623361894626737</c:v>
                </c:pt>
                <c:pt idx="70">
                  <c:v>-1.2916013987342352</c:v>
                </c:pt>
                <c:pt idx="71">
                  <c:v>0.24787416443216159</c:v>
                </c:pt>
                <c:pt idx="72">
                  <c:v>0.27911912885350909</c:v>
                </c:pt>
                <c:pt idx="73">
                  <c:v>-0.64794238582160535</c:v>
                </c:pt>
                <c:pt idx="74">
                  <c:v>1.5318638170484864</c:v>
                </c:pt>
                <c:pt idx="75">
                  <c:v>-0.13475453678898619</c:v>
                </c:pt>
                <c:pt idx="76">
                  <c:v>-8.005911825450801E-2</c:v>
                </c:pt>
                <c:pt idx="77">
                  <c:v>-1.3508870204491772</c:v>
                </c:pt>
                <c:pt idx="78">
                  <c:v>0.27008807539941448</c:v>
                </c:pt>
                <c:pt idx="79">
                  <c:v>1.301662975814956</c:v>
                </c:pt>
                <c:pt idx="80">
                  <c:v>0.21881379187010305</c:v>
                </c:pt>
                <c:pt idx="81">
                  <c:v>0.79040270656784861</c:v>
                </c:pt>
                <c:pt idx="82">
                  <c:v>-1.4471522455983805</c:v>
                </c:pt>
                <c:pt idx="83">
                  <c:v>1.7342390778555352</c:v>
                </c:pt>
                <c:pt idx="84">
                  <c:v>1.0084057339064829</c:v>
                </c:pt>
                <c:pt idx="85">
                  <c:v>1.2494175646565093</c:v>
                </c:pt>
                <c:pt idx="86">
                  <c:v>0.43883978370440857</c:v>
                </c:pt>
                <c:pt idx="87">
                  <c:v>-0.27531537052965754</c:v>
                </c:pt>
                <c:pt idx="88">
                  <c:v>-2.077564132657054</c:v>
                </c:pt>
                <c:pt idx="89">
                  <c:v>4.0959146867373258E-2</c:v>
                </c:pt>
                <c:pt idx="90">
                  <c:v>-0.26533499848593001</c:v>
                </c:pt>
                <c:pt idx="91">
                  <c:v>1.5198198459336885</c:v>
                </c:pt>
                <c:pt idx="92">
                  <c:v>-8.7793353014751468E-2</c:v>
                </c:pt>
                <c:pt idx="93">
                  <c:v>5.8787393715795958E-2</c:v>
                </c:pt>
                <c:pt idx="94">
                  <c:v>-0.63298779752237577</c:v>
                </c:pt>
                <c:pt idx="95">
                  <c:v>0.59474623865623244</c:v>
                </c:pt>
                <c:pt idx="96">
                  <c:v>-0.46376903943348585</c:v>
                </c:pt>
                <c:pt idx="97">
                  <c:v>-0.93300359132180544</c:v>
                </c:pt>
                <c:pt idx="98">
                  <c:v>0.15527692670560228</c:v>
                </c:pt>
                <c:pt idx="99">
                  <c:v>0.20005505766973927</c:v>
                </c:pt>
              </c:numCache>
            </c:numRef>
          </c:xVal>
          <c:yVal>
            <c:numRef>
              <c:f>Sheet1!$O$1:$O$100</c:f>
              <c:numCache>
                <c:formatCode>General</c:formatCode>
                <c:ptCount val="100"/>
                <c:pt idx="0">
                  <c:v>-6.9218995469416081E-2</c:v>
                </c:pt>
                <c:pt idx="1">
                  <c:v>-2.1734431606521394</c:v>
                </c:pt>
                <c:pt idx="2">
                  <c:v>1.4595621444576437</c:v>
                </c:pt>
                <c:pt idx="3">
                  <c:v>-1.1547723397126786</c:v>
                </c:pt>
                <c:pt idx="4">
                  <c:v>-0.90565758115084694</c:v>
                </c:pt>
                <c:pt idx="5">
                  <c:v>0.46080406922119188</c:v>
                </c:pt>
                <c:pt idx="6">
                  <c:v>0.50880951331153879</c:v>
                </c:pt>
                <c:pt idx="7">
                  <c:v>-2.0842979413555534</c:v>
                </c:pt>
                <c:pt idx="8">
                  <c:v>-0.41452312335963271</c:v>
                </c:pt>
                <c:pt idx="9">
                  <c:v>0.84902078494475175</c:v>
                </c:pt>
                <c:pt idx="10">
                  <c:v>-1.875891972349836</c:v>
                </c:pt>
                <c:pt idx="11">
                  <c:v>-0.39070188757050317</c:v>
                </c:pt>
                <c:pt idx="12">
                  <c:v>0.27643982584201965</c:v>
                </c:pt>
                <c:pt idx="13">
                  <c:v>0.38478263836278515</c:v>
                </c:pt>
                <c:pt idx="14">
                  <c:v>0.53986963421120859</c:v>
                </c:pt>
                <c:pt idx="15">
                  <c:v>-0.68417499244081137</c:v>
                </c:pt>
                <c:pt idx="16">
                  <c:v>-1.0945815625923077</c:v>
                </c:pt>
                <c:pt idx="17">
                  <c:v>-0.62145007832763388</c:v>
                </c:pt>
                <c:pt idx="18">
                  <c:v>0.91768452706783799</c:v>
                </c:pt>
                <c:pt idx="19">
                  <c:v>1.9460177220145307</c:v>
                </c:pt>
                <c:pt idx="20">
                  <c:v>-0.40472086677286367</c:v>
                </c:pt>
                <c:pt idx="21">
                  <c:v>0.50403682531958982</c:v>
                </c:pt>
                <c:pt idx="22">
                  <c:v>0.94082480822752934</c:v>
                </c:pt>
                <c:pt idx="23">
                  <c:v>-0.34158875282646495</c:v>
                </c:pt>
                <c:pt idx="24">
                  <c:v>0.31053196781007458</c:v>
                </c:pt>
                <c:pt idx="25">
                  <c:v>0.49103735130686288</c:v>
                </c:pt>
                <c:pt idx="26">
                  <c:v>2.4819558895778526E-2</c:v>
                </c:pt>
                <c:pt idx="27">
                  <c:v>-0.1119850744742471</c:v>
                </c:pt>
                <c:pt idx="28">
                  <c:v>0.81967520265503135</c:v>
                </c:pt>
                <c:pt idx="29">
                  <c:v>-0.43537520570565735</c:v>
                </c:pt>
                <c:pt idx="30">
                  <c:v>-1.5329107347680018</c:v>
                </c:pt>
                <c:pt idx="31">
                  <c:v>1.00014693518731</c:v>
                </c:pt>
                <c:pt idx="32">
                  <c:v>-1.2077820630086655</c:v>
                </c:pt>
                <c:pt idx="33">
                  <c:v>-0.41058638869513941</c:v>
                </c:pt>
                <c:pt idx="34">
                  <c:v>-1.3821760175923967</c:v>
                </c:pt>
                <c:pt idx="35">
                  <c:v>2.0806059142528484</c:v>
                </c:pt>
                <c:pt idx="36">
                  <c:v>0.16043327202057173</c:v>
                </c:pt>
                <c:pt idx="37">
                  <c:v>-1.1285413650264546</c:v>
                </c:pt>
                <c:pt idx="38">
                  <c:v>-0.97366671697233032</c:v>
                </c:pt>
                <c:pt idx="39">
                  <c:v>0.47172859197390254</c:v>
                </c:pt>
                <c:pt idx="40">
                  <c:v>0.63921102501187566</c:v>
                </c:pt>
                <c:pt idx="41">
                  <c:v>9.3379357551365338E-2</c:v>
                </c:pt>
                <c:pt idx="42">
                  <c:v>-0.52614586887203285</c:v>
                </c:pt>
                <c:pt idx="43">
                  <c:v>-1.8434746294705016</c:v>
                </c:pt>
                <c:pt idx="44">
                  <c:v>-0.87987300972210858</c:v>
                </c:pt>
                <c:pt idx="45">
                  <c:v>-0.91827933909227422</c:v>
                </c:pt>
                <c:pt idx="46">
                  <c:v>-0.27456996632722724</c:v>
                </c:pt>
                <c:pt idx="47">
                  <c:v>-0.25333334160171433</c:v>
                </c:pt>
                <c:pt idx="48">
                  <c:v>0.34649998862191067</c:v>
                </c:pt>
                <c:pt idx="49">
                  <c:v>-0.63430149082595644</c:v>
                </c:pt>
                <c:pt idx="50">
                  <c:v>-0.18393362371619554</c:v>
                </c:pt>
                <c:pt idx="51">
                  <c:v>1.1612402265232082</c:v>
                </c:pt>
                <c:pt idx="52">
                  <c:v>1.2022397300908632</c:v>
                </c:pt>
                <c:pt idx="53">
                  <c:v>1.183351570562164</c:v>
                </c:pt>
                <c:pt idx="54">
                  <c:v>1.3469998808074857</c:v>
                </c:pt>
                <c:pt idx="55">
                  <c:v>-1.8250106467888623</c:v>
                </c:pt>
                <c:pt idx="56">
                  <c:v>-0.28282347326075113</c:v>
                </c:pt>
                <c:pt idx="57">
                  <c:v>0.69808230921077741</c:v>
                </c:pt>
                <c:pt idx="58">
                  <c:v>-0.42893145167972435</c:v>
                </c:pt>
                <c:pt idx="59">
                  <c:v>1.6606032406429501</c:v>
                </c:pt>
                <c:pt idx="60">
                  <c:v>-1.5932968513496819</c:v>
                </c:pt>
                <c:pt idx="61">
                  <c:v>-8.4081294430258524E-3</c:v>
                </c:pt>
                <c:pt idx="62">
                  <c:v>0.26326834176434488</c:v>
                </c:pt>
                <c:pt idx="63">
                  <c:v>-0.90790032022936884</c:v>
                </c:pt>
                <c:pt idx="64">
                  <c:v>-0.41668849260823781</c:v>
                </c:pt>
                <c:pt idx="65">
                  <c:v>-0.38855651759588172</c:v>
                </c:pt>
                <c:pt idx="66">
                  <c:v>-0.97548329187972982</c:v>
                </c:pt>
                <c:pt idx="67">
                  <c:v>1.1999992037714851</c:v>
                </c:pt>
                <c:pt idx="68">
                  <c:v>0.36434759752780033</c:v>
                </c:pt>
                <c:pt idx="69">
                  <c:v>1.0267309289992959</c:v>
                </c:pt>
                <c:pt idx="70">
                  <c:v>-2.1273889066263596</c:v>
                </c:pt>
                <c:pt idx="71">
                  <c:v>-0.47713162228176975</c:v>
                </c:pt>
                <c:pt idx="72">
                  <c:v>0.7022135885054509</c:v>
                </c:pt>
                <c:pt idx="73">
                  <c:v>0.94935171722991241</c:v>
                </c:pt>
                <c:pt idx="74">
                  <c:v>0.20821887255102156</c:v>
                </c:pt>
                <c:pt idx="75">
                  <c:v>0.10103741152657214</c:v>
                </c:pt>
                <c:pt idx="76">
                  <c:v>-0.63932243928268639</c:v>
                </c:pt>
                <c:pt idx="77">
                  <c:v>-0.65604055477065837</c:v>
                </c:pt>
                <c:pt idx="78">
                  <c:v>0.45389605597741667</c:v>
                </c:pt>
                <c:pt idx="79">
                  <c:v>-0.32221215065395914</c:v>
                </c:pt>
                <c:pt idx="80">
                  <c:v>0.64120062452861804</c:v>
                </c:pt>
                <c:pt idx="81">
                  <c:v>0.78588774638263437</c:v>
                </c:pt>
                <c:pt idx="82">
                  <c:v>-1.4902497493434366</c:v>
                </c:pt>
                <c:pt idx="83">
                  <c:v>0.21185564021910375</c:v>
                </c:pt>
                <c:pt idx="84">
                  <c:v>0.28938200901992583</c:v>
                </c:pt>
                <c:pt idx="85">
                  <c:v>2.0158648216687789</c:v>
                </c:pt>
                <c:pt idx="86">
                  <c:v>-0.91335531806744896</c:v>
                </c:pt>
                <c:pt idx="87">
                  <c:v>2.0785552483964578</c:v>
                </c:pt>
                <c:pt idx="88">
                  <c:v>-2.0887586187024612</c:v>
                </c:pt>
                <c:pt idx="89">
                  <c:v>-1.2077934906685106</c:v>
                </c:pt>
                <c:pt idx="90">
                  <c:v>-1.4263044542416836</c:v>
                </c:pt>
                <c:pt idx="91">
                  <c:v>8.9623398372307705E-2</c:v>
                </c:pt>
                <c:pt idx="92">
                  <c:v>-2.7451383478732393E-2</c:v>
                </c:pt>
                <c:pt idx="93">
                  <c:v>-0.90497625631658618</c:v>
                </c:pt>
                <c:pt idx="94">
                  <c:v>-1.4683340663586677</c:v>
                </c:pt>
                <c:pt idx="95">
                  <c:v>1.8674276346504139</c:v>
                </c:pt>
                <c:pt idx="96">
                  <c:v>-0.58630715279305978</c:v>
                </c:pt>
                <c:pt idx="97">
                  <c:v>-0.34237943970525569</c:v>
                </c:pt>
                <c:pt idx="98">
                  <c:v>0.19728267667757043</c:v>
                </c:pt>
                <c:pt idx="99">
                  <c:v>-0.8760953355946034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74-454D-9A0F-6D1E55A86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386232"/>
        <c:axId val="199781424"/>
      </c:scatterChart>
      <c:valAx>
        <c:axId val="200386232"/>
        <c:scaling>
          <c:orientation val="minMax"/>
          <c:max val="4"/>
          <c:min val="-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781424"/>
        <c:crosses val="autoZero"/>
        <c:crossBetween val="midCat"/>
        <c:majorUnit val="1"/>
        <c:minorUnit val="0.5"/>
      </c:valAx>
      <c:valAx>
        <c:axId val="199781424"/>
        <c:scaling>
          <c:orientation val="minMax"/>
          <c:max val="4"/>
          <c:min val="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386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1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1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1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0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7.wmf"/><Relationship Id="rId1" Type="http://schemas.openxmlformats.org/officeDocument/2006/relationships/image" Target="../media/image4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emf"/><Relationship Id="rId4" Type="http://schemas.openxmlformats.org/officeDocument/2006/relationships/image" Target="../media/image49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8.wmf"/><Relationship Id="rId1" Type="http://schemas.openxmlformats.org/officeDocument/2006/relationships/image" Target="../media/image57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54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0844" cy="49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4149" y="0"/>
            <a:ext cx="2940844" cy="49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3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657" y="4713645"/>
            <a:ext cx="5429250" cy="4465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5568"/>
            <a:ext cx="2940844" cy="49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4149" y="9425568"/>
            <a:ext cx="2940844" cy="49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99FC11-17B9-4DF3-92D0-073BC9F6791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4778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327C0-0BE4-45EB-ADFA-49CAB22BBE06}" type="slidenum">
              <a:rPr lang="en-GB"/>
              <a:pPr/>
              <a:t>1</a:t>
            </a:fld>
            <a:endParaRPr lang="en-GB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3645"/>
            <a:ext cx="4976813" cy="44655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5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327C0-0BE4-45EB-ADFA-49CAB22BBE06}" type="slidenum">
              <a:rPr lang="en-GB"/>
              <a:pPr/>
              <a:t>2</a:t>
            </a:fld>
            <a:endParaRPr lang="en-GB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3645"/>
            <a:ext cx="4976813" cy="44655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2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205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57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112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338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762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570E-2EB1-D55E-6944-DC66A9E0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1D311-3B40-4E1F-974A-E12674645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6E1EF-CD78-7F9E-CE20-31C30FB17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24CD5-7126-C3CD-5971-83D98F64A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633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213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327C0-0BE4-45EB-ADFA-49CAB22BBE06}" type="slidenum">
              <a:rPr lang="en-GB"/>
              <a:pPr/>
              <a:t>48</a:t>
            </a:fld>
            <a:endParaRPr lang="en-GB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13645"/>
            <a:ext cx="4976813" cy="44655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16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78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57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85F263-1A50-40BC-8099-2A671B133AE1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5966F-3723-497E-90BA-6AC8459AF35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6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 sz="2400"/>
            </a:lvl4pPr>
            <a:lvl5pPr>
              <a:buClr>
                <a:srgbClr val="C00000"/>
              </a:buCl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C62B4-D659-4986-A106-F54448397AD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1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FDA5-DB8F-4C0A-984C-83722AC373E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99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1196976"/>
            <a:ext cx="5755216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96976"/>
            <a:ext cx="575521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0A3EBF-85B2-4DAB-B4B2-CA1421EE8FC1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9E4A5-1AE5-41FB-A351-8DA8656252A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22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F7E597-56DD-4786-BD24-FBC08F10D00E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992BF-F812-4ACC-A2E5-7A0CB50EA4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79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BEE51D-0FB3-43F7-822B-A6BD6AFDA4AD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DAEF-49BF-4E64-B9FA-4176E9A7F44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9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F46433-1264-4555-8BE1-8EC0184C33F6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6E065-78C5-4121-A03E-B493A710BB1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35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F1BEF0-05FD-4F6E-B8FD-43C53445EBC3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E3B90-6D42-48B6-B178-560C9C4A725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44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1447C3-8D84-41AB-8526-F9FFAFDE1984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8779-24BE-4776-9404-2FBB564F2A8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7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8F21AD-B0F0-4F9A-BC2A-CFC9ED24963F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E84ED-5D94-4D2D-9963-4BD5C1E2F9C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2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5467" y="269876"/>
            <a:ext cx="2927351" cy="5895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9184" y="269876"/>
            <a:ext cx="8583083" cy="5895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2FBC1A-958C-4D68-98DB-E01EB220BB1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57723-A289-4712-B113-901C1B817E8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83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DDDDDD">
                <a:gamma/>
                <a:tint val="73725"/>
                <a:invGamma/>
              </a:srgbClr>
            </a:gs>
            <a:gs pos="50000">
              <a:srgbClr val="DDDDDD"/>
            </a:gs>
            <a:gs pos="100000">
              <a:srgbClr val="DDDDDD">
                <a:gamma/>
                <a:tint val="73725"/>
                <a:invGamma/>
              </a:srgb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185" y="269875"/>
            <a:ext cx="1171363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5" y="1196976"/>
            <a:ext cx="11713633" cy="4968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48E4DFCE-D431-4A8E-9BF5-A5E15D11EB3E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578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3AFDA5-DB8F-4C0A-984C-83722AC373E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78567" name="Text Box 7"/>
          <p:cNvSpPr txBox="1">
            <a:spLocks noChangeArrowheads="1"/>
          </p:cNvSpPr>
          <p:nvPr userDrawn="1"/>
        </p:nvSpPr>
        <p:spPr bwMode="auto">
          <a:xfrm>
            <a:off x="143934" y="212725"/>
            <a:ext cx="662516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600" b="1">
              <a:solidFill>
                <a:schemeClr val="bg1"/>
              </a:solidFill>
            </a:endParaRPr>
          </a:p>
        </p:txBody>
      </p:sp>
      <p:pic>
        <p:nvPicPr>
          <p:cNvPr id="578569" name="Picture 9" descr="roslin new logo Blk"/>
          <p:cNvPicPr>
            <a:picLocks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967" y="6291113"/>
            <a:ext cx="1372497" cy="37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0" name="Picture 5" descr="R(D)SVSlogofade3.psd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6211889"/>
            <a:ext cx="1537929" cy="52372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1" name="Picture 11"/>
          <p:cNvPicPr>
            <a:picLocks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219825"/>
            <a:ext cx="515851" cy="5222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C0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800">
          <a:solidFill>
            <a:srgbClr val="4D4D4D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15" Type="http://schemas.openxmlformats.org/officeDocument/2006/relationships/image" Target="../media/image17.png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1.wmf"/><Relationship Id="rId9" Type="http://schemas.openxmlformats.org/officeDocument/2006/relationships/image" Target="../media/image13.wmf"/><Relationship Id="rId1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15" Type="http://schemas.openxmlformats.org/officeDocument/2006/relationships/image" Target="../media/image17.png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1.wmf"/><Relationship Id="rId9" Type="http://schemas.openxmlformats.org/officeDocument/2006/relationships/image" Target="../media/image13.wmf"/><Relationship Id="rId1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9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9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9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3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30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3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38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6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4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9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48.emf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9.w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47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54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5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5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7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49.w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59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7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55.emf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54.wm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65.wmf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3EDE-3533-4CFC-A23C-4BCC24CED6D7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9 …</a:t>
            </a:r>
            <a:br>
              <a:rPr lang="en-GB" dirty="0"/>
            </a:br>
            <a:r>
              <a:rPr lang="en-GB" dirty="0"/>
              <a:t>Variances and Perspectives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3EDE-3533-4CFC-A23C-4BCC24CED6D7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9 …</a:t>
            </a:r>
            <a:br>
              <a:rPr lang="en-GB" dirty="0"/>
            </a:br>
            <a:r>
              <a:rPr lang="en-GB" dirty="0"/>
              <a:t>Variances and Perspectives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r>
              <a:rPr lang="en-US" dirty="0"/>
              <a:t>Part 1: </a:t>
            </a:r>
          </a:p>
          <a:p>
            <a:r>
              <a:rPr lang="en-US" dirty="0"/>
              <a:t>Comparing genetic variances: what is Vg?</a:t>
            </a:r>
          </a:p>
        </p:txBody>
      </p:sp>
    </p:spTree>
    <p:extLst>
      <p:ext uri="{BB962C8B-B14F-4D97-AF65-F5344CB8AC3E}">
        <p14:creationId xmlns:p14="http://schemas.microsoft.com/office/powerpoint/2010/main" val="420962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Estimates of Heritability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know what we mean by </a:t>
            </a:r>
          </a:p>
          <a:p>
            <a:pPr lvl="1"/>
            <a:r>
              <a:rPr lang="en-GB" dirty="0"/>
              <a:t>e.g.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 = 0.5 for milk yield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616106"/>
              </p:ext>
            </p:extLst>
          </p:nvPr>
        </p:nvGraphicFramePr>
        <p:xfrm>
          <a:off x="7248128" y="1279525"/>
          <a:ext cx="1955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3" imgW="1955520" imgH="533160" progId="Equation.DSMT4">
                  <p:embed/>
                </p:oleObj>
              </mc:Choice>
              <mc:Fallback>
                <p:oleObj name="Equation" r:id="rId3" imgW="19555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8128" y="1279525"/>
                        <a:ext cx="19558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994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Estimates of Heritability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know what we mean by </a:t>
            </a:r>
          </a:p>
          <a:p>
            <a:pPr lvl="1"/>
            <a:r>
              <a:rPr lang="en-GB" dirty="0"/>
              <a:t>e.g.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 = 0.5 for milk yield</a:t>
            </a:r>
          </a:p>
          <a:p>
            <a:pPr lvl="1"/>
            <a:endParaRPr lang="en-GB" dirty="0"/>
          </a:p>
          <a:p>
            <a:r>
              <a:rPr lang="en-GB" dirty="0"/>
              <a:t>Heritability varies across populations</a:t>
            </a:r>
          </a:p>
          <a:p>
            <a:pPr lvl="1"/>
            <a:r>
              <a:rPr lang="en-GB" dirty="0"/>
              <a:t>e.g. breeds</a:t>
            </a:r>
          </a:p>
          <a:p>
            <a:pPr lvl="1"/>
            <a:r>
              <a:rPr lang="en-GB" dirty="0"/>
              <a:t>… and across herds</a:t>
            </a:r>
          </a:p>
          <a:p>
            <a:pPr lvl="1"/>
            <a:r>
              <a:rPr lang="en-GB" dirty="0"/>
              <a:t>… and within families</a:t>
            </a:r>
          </a:p>
          <a:p>
            <a:r>
              <a:rPr lang="en-GB" dirty="0"/>
              <a:t>We have an idea it refers to ‘some’ population</a:t>
            </a:r>
          </a:p>
          <a:p>
            <a:pPr lvl="1"/>
            <a:r>
              <a:rPr lang="en-GB" dirty="0"/>
              <a:t>which?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692042"/>
              </p:ext>
            </p:extLst>
          </p:nvPr>
        </p:nvGraphicFramePr>
        <p:xfrm>
          <a:off x="7248128" y="1279525"/>
          <a:ext cx="1955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3" imgW="1955520" imgH="533160" progId="Equation.DSMT4">
                  <p:embed/>
                </p:oleObj>
              </mc:Choice>
              <mc:Fallback>
                <p:oleObj name="Equation" r:id="rId3" imgW="1955520" imgH="53316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8128" y="1279525"/>
                        <a:ext cx="19558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95800" y="2268162"/>
            <a:ext cx="2663500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3200" dirty="0"/>
              <a:t>Are we sure?</a:t>
            </a:r>
          </a:p>
        </p:txBody>
      </p:sp>
    </p:spTree>
    <p:extLst>
      <p:ext uri="{BB962C8B-B14F-4D97-AF65-F5344CB8AC3E}">
        <p14:creationId xmlns:p14="http://schemas.microsoft.com/office/powerpoint/2010/main" val="58302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Ancient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Pre-REML</a:t>
            </a:r>
          </a:p>
          <a:p>
            <a:pPr lvl="1"/>
            <a:r>
              <a:rPr lang="en-GB" dirty="0"/>
              <a:t>heritability estimated from selection experiments</a:t>
            </a:r>
          </a:p>
          <a:p>
            <a:pPr lvl="1"/>
            <a:r>
              <a:rPr lang="en-GB" dirty="0"/>
              <a:t>variance of paternal half-sibs (PHS)</a:t>
            </a:r>
          </a:p>
          <a:p>
            <a:pPr lvl="2"/>
            <a:r>
              <a:rPr lang="en-GB" dirty="0"/>
              <a:t>Sire Models!</a:t>
            </a:r>
          </a:p>
          <a:p>
            <a:pPr lvl="2"/>
            <a:r>
              <a:rPr lang="en-GB" dirty="0"/>
              <a:t>important for good estimates in real populations</a:t>
            </a:r>
          </a:p>
          <a:p>
            <a:pPr lvl="1"/>
            <a:r>
              <a:rPr lang="en-GB" dirty="0"/>
              <a:t>sires often selected before breeding</a:t>
            </a:r>
          </a:p>
          <a:p>
            <a:pPr lvl="2"/>
            <a:r>
              <a:rPr lang="en-GB" dirty="0"/>
              <a:t>estimates are biased!</a:t>
            </a:r>
          </a:p>
          <a:p>
            <a:pPr lvl="2"/>
            <a:r>
              <a:rPr lang="en-GB" dirty="0"/>
              <a:t>what are we estimating?</a:t>
            </a:r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35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REML 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r>
              <a:rPr lang="en-GB" dirty="0"/>
              <a:t>Estimate of      refers to the base population</a:t>
            </a:r>
          </a:p>
          <a:p>
            <a:pPr lvl="2"/>
            <a:r>
              <a:rPr lang="en-GB" dirty="0"/>
              <a:t>remember QG definition </a:t>
            </a:r>
            <a:r>
              <a:rPr lang="en-GB" dirty="0" err="1"/>
              <a:t>cov</a:t>
            </a:r>
            <a:r>
              <a:rPr lang="en-GB" dirty="0"/>
              <a:t>(</a:t>
            </a:r>
            <a:r>
              <a:rPr lang="en-GB" dirty="0" err="1"/>
              <a:t>u</a:t>
            </a:r>
            <a:r>
              <a:rPr lang="en-GB" baseline="-25000" dirty="0" err="1"/>
              <a:t>i</a:t>
            </a:r>
            <a:r>
              <a:rPr lang="en-GB" dirty="0" err="1"/>
              <a:t>,u</a:t>
            </a:r>
            <a:r>
              <a:rPr lang="en-GB" baseline="-25000" dirty="0" err="1"/>
              <a:t>j</a:t>
            </a:r>
            <a:r>
              <a:rPr lang="en-GB" dirty="0"/>
              <a:t>) = V</a:t>
            </a:r>
            <a:r>
              <a:rPr lang="en-GB" baseline="-25000" dirty="0"/>
              <a:t>A,0 </a:t>
            </a:r>
            <a:r>
              <a:rPr lang="en-GB" dirty="0" err="1"/>
              <a:t>a</a:t>
            </a:r>
            <a:r>
              <a:rPr lang="en-GB" baseline="-25000" dirty="0" err="1"/>
              <a:t>ij</a:t>
            </a:r>
            <a:endParaRPr lang="en-GB" baseline="-25000" dirty="0"/>
          </a:p>
          <a:p>
            <a:pPr lvl="2"/>
            <a:r>
              <a:rPr lang="en-GB" dirty="0"/>
              <a:t>in the model it is MVN(0, V</a:t>
            </a:r>
            <a:r>
              <a:rPr lang="en-GB" baseline="-25000" dirty="0"/>
              <a:t>A</a:t>
            </a:r>
            <a:r>
              <a:rPr lang="en-GB" b="1" dirty="0"/>
              <a:t>A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i.e. the sub matrix of A which is identity matrix</a:t>
            </a:r>
          </a:p>
          <a:p>
            <a:pPr lvl="2"/>
            <a:r>
              <a:rPr lang="en-GB" dirty="0"/>
              <a:t>but are they truly unrelated individuals!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458555"/>
              </p:ext>
            </p:extLst>
          </p:nvPr>
        </p:nvGraphicFramePr>
        <p:xfrm>
          <a:off x="2855640" y="1304925"/>
          <a:ext cx="40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" imgW="406080" imgH="482400" progId="Equation.DSMT4">
                  <p:embed/>
                </p:oleObj>
              </mc:Choice>
              <mc:Fallback>
                <p:oleObj name="Equation" r:id="rId3" imgW="406080" imgH="4824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640" y="1304925"/>
                        <a:ext cx="406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626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REML 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Estimate of      refers to the base population</a:t>
            </a:r>
          </a:p>
          <a:p>
            <a:pPr lvl="1"/>
            <a:r>
              <a:rPr lang="en-GB" dirty="0"/>
              <a:t>i.e. the sub matrix of </a:t>
            </a:r>
            <a:r>
              <a:rPr lang="en-GB" b="1" dirty="0"/>
              <a:t>A </a:t>
            </a:r>
            <a:r>
              <a:rPr lang="en-GB" dirty="0"/>
              <a:t>which is identity matrix</a:t>
            </a:r>
          </a:p>
          <a:p>
            <a:pPr lvl="2"/>
            <a:r>
              <a:rPr lang="en-GB" dirty="0"/>
              <a:t>but are they truly unrelated individuals!</a:t>
            </a:r>
          </a:p>
          <a:p>
            <a:pPr lvl="1"/>
            <a:r>
              <a:rPr lang="en-GB" dirty="0"/>
              <a:t>what base population?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pSp>
        <p:nvGrpSpPr>
          <p:cNvPr id="11" name="Group 10"/>
          <p:cNvGrpSpPr/>
          <p:nvPr/>
        </p:nvGrpSpPr>
        <p:grpSpPr>
          <a:xfrm>
            <a:off x="3719736" y="2924944"/>
            <a:ext cx="4855774" cy="2736304"/>
            <a:chOff x="2195736" y="2924944"/>
            <a:chExt cx="4855774" cy="2736304"/>
          </a:xfrm>
        </p:grpSpPr>
        <p:sp>
          <p:nvSpPr>
            <p:cNvPr id="6" name="Rectangle 5"/>
            <p:cNvSpPr/>
            <p:nvPr/>
          </p:nvSpPr>
          <p:spPr>
            <a:xfrm>
              <a:off x="2195736" y="4869160"/>
              <a:ext cx="1720552" cy="792088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Data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330958" y="4869160"/>
              <a:ext cx="1720552" cy="792088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Data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95736" y="4365104"/>
              <a:ext cx="1720552" cy="5040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Base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330958" y="2924944"/>
              <a:ext cx="1720552" cy="5040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tx1"/>
                  </a:solidFill>
                </a:rPr>
                <a:t>Base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788496" y="3717032"/>
              <a:ext cx="799728" cy="936104"/>
            </a:xfrm>
            <a:prstGeom prst="downArrow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</p:grp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39263"/>
              </p:ext>
            </p:extLst>
          </p:nvPr>
        </p:nvGraphicFramePr>
        <p:xfrm>
          <a:off x="2809280" y="1304925"/>
          <a:ext cx="40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3" imgW="406080" imgH="482400" progId="Equation.DSMT4">
                  <p:embed/>
                </p:oleObj>
              </mc:Choice>
              <mc:Fallback>
                <p:oleObj name="Equation" r:id="rId3" imgW="406080" imgH="4824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9280" y="1304925"/>
                        <a:ext cx="406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137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REML 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Estimate of      refers to the base population</a:t>
            </a:r>
          </a:p>
          <a:p>
            <a:pPr lvl="1"/>
            <a:r>
              <a:rPr lang="en-GB" dirty="0"/>
              <a:t>i.e. the sub matrix of </a:t>
            </a:r>
            <a:r>
              <a:rPr lang="en-GB" b="1" dirty="0"/>
              <a:t>A </a:t>
            </a:r>
            <a:r>
              <a:rPr lang="en-GB" dirty="0"/>
              <a:t>which is identity matrix</a:t>
            </a:r>
          </a:p>
          <a:p>
            <a:pPr lvl="2"/>
            <a:r>
              <a:rPr lang="en-GB" dirty="0"/>
              <a:t>but are they truly unrelated individuals!</a:t>
            </a:r>
          </a:p>
          <a:p>
            <a:pPr lvl="1"/>
            <a:r>
              <a:rPr lang="en-GB" dirty="0"/>
              <a:t>what base population?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117222"/>
              </p:ext>
            </p:extLst>
          </p:nvPr>
        </p:nvGraphicFramePr>
        <p:xfrm>
          <a:off x="2855640" y="1304925"/>
          <a:ext cx="40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3" imgW="406080" imgH="482400" progId="Equation.DSMT4">
                  <p:embed/>
                </p:oleObj>
              </mc:Choice>
              <mc:Fallback>
                <p:oleObj name="Equation" r:id="rId3" imgW="406080" imgH="48240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640" y="1304925"/>
                        <a:ext cx="406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2495601" y="4227424"/>
            <a:ext cx="3254393" cy="1433824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14" name="Rectangle 13"/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6" name="Straight Arrow Connector 25"/>
            <p:cNvCxnSpPr>
              <a:stCxn id="14" idx="2"/>
              <a:endCxn id="18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4" idx="2"/>
              <a:endCxn id="19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5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5" idx="2"/>
              <a:endCxn id="19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4" idx="2"/>
              <a:endCxn id="20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4" idx="2"/>
              <a:endCxn id="21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5" idx="2"/>
              <a:endCxn id="20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5" idx="2"/>
              <a:endCxn id="21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7" idx="2"/>
              <a:endCxn id="22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6" idx="2"/>
              <a:endCxn id="22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7" idx="2"/>
              <a:endCxn id="23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2" idx="2"/>
              <a:endCxn id="24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9" idx="2"/>
              <a:endCxn id="24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6" idx="2"/>
              <a:endCxn id="23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3" idx="2"/>
              <a:endCxn id="25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0" idx="2"/>
              <a:endCxn id="25" idx="0"/>
            </p:cNvCxnSpPr>
            <p:nvPr/>
          </p:nvCxnSpPr>
          <p:spPr>
            <a:xfrm>
              <a:off x="2054435" y="3938944"/>
              <a:ext cx="1539301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586024" y="2996952"/>
            <a:ext cx="3254393" cy="2657960"/>
            <a:chOff x="5062023" y="2996952"/>
            <a:chExt cx="3254393" cy="2657960"/>
          </a:xfrm>
        </p:grpSpPr>
        <p:sp>
          <p:nvSpPr>
            <p:cNvPr id="43" name="Rectangle 42"/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5" name="Straight Arrow Connector 54"/>
            <p:cNvCxnSpPr>
              <a:stCxn id="43" idx="2"/>
              <a:endCxn id="47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3" idx="2"/>
              <a:endCxn id="48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4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4" idx="2"/>
              <a:endCxn id="48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3" idx="2"/>
              <a:endCxn id="49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43" idx="2"/>
              <a:endCxn id="50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4" idx="2"/>
              <a:endCxn id="49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44" idx="2"/>
              <a:endCxn id="50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46" idx="2"/>
              <a:endCxn id="51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5" idx="2"/>
              <a:endCxn id="51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6" idx="2"/>
              <a:endCxn id="52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51" idx="2"/>
              <a:endCxn id="53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8" idx="2"/>
              <a:endCxn id="53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5" idx="2"/>
              <a:endCxn id="52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52" idx="2"/>
              <a:endCxn id="54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9" idx="2"/>
              <a:endCxn id="54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70"/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5" name="Straight Arrow Connector 74"/>
            <p:cNvCxnSpPr>
              <a:stCxn id="72" idx="2"/>
              <a:endCxn id="73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73" idx="2"/>
              <a:endCxn id="46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72" idx="2"/>
              <a:endCxn id="74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71" idx="2"/>
              <a:endCxn id="74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3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3" idx="2"/>
              <a:endCxn id="43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3" idx="2"/>
              <a:endCxn id="43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3" idx="2"/>
              <a:endCxn id="43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3" idx="2"/>
              <a:endCxn id="45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74" idx="2"/>
              <a:endCxn id="46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74" idx="2"/>
              <a:endCxn id="43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74" idx="2"/>
              <a:endCxn id="44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74" idx="2"/>
              <a:endCxn id="45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71" idx="2"/>
              <a:endCxn id="73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956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REML 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Estimate of      refers to the base population</a:t>
            </a:r>
          </a:p>
          <a:p>
            <a:pPr lvl="1"/>
            <a:r>
              <a:rPr lang="en-GB" dirty="0"/>
              <a:t>i.e. the sub matrix of </a:t>
            </a:r>
            <a:r>
              <a:rPr lang="en-GB" b="1" dirty="0"/>
              <a:t>A </a:t>
            </a:r>
            <a:r>
              <a:rPr lang="en-GB" dirty="0"/>
              <a:t>which is identity matrix</a:t>
            </a:r>
          </a:p>
          <a:p>
            <a:pPr lvl="2"/>
            <a:r>
              <a:rPr lang="en-GB" dirty="0"/>
              <a:t>but are they truly unrelated individuals!</a:t>
            </a:r>
          </a:p>
          <a:p>
            <a:pPr lvl="1"/>
            <a:r>
              <a:rPr lang="en-GB" dirty="0"/>
              <a:t>what base population?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661628"/>
              </p:ext>
            </p:extLst>
          </p:nvPr>
        </p:nvGraphicFramePr>
        <p:xfrm>
          <a:off x="2855640" y="1304925"/>
          <a:ext cx="40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3" imgW="406080" imgH="482400" progId="Equation.DSMT4">
                  <p:embed/>
                </p:oleObj>
              </mc:Choice>
              <mc:Fallback>
                <p:oleObj name="Equation" r:id="rId3" imgW="406080" imgH="48240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640" y="1304925"/>
                        <a:ext cx="406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2495601" y="4227424"/>
            <a:ext cx="3254393" cy="1433824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14" name="Rectangle 13"/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6" name="Straight Arrow Connector 25"/>
            <p:cNvCxnSpPr>
              <a:stCxn id="14" idx="2"/>
              <a:endCxn id="18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4" idx="2"/>
              <a:endCxn id="19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5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5" idx="2"/>
              <a:endCxn id="19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4" idx="2"/>
              <a:endCxn id="20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4" idx="2"/>
              <a:endCxn id="21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5" idx="2"/>
              <a:endCxn id="20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5" idx="2"/>
              <a:endCxn id="21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7" idx="2"/>
              <a:endCxn id="22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6" idx="2"/>
              <a:endCxn id="22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7" idx="2"/>
              <a:endCxn id="23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2" idx="2"/>
              <a:endCxn id="24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9" idx="2"/>
              <a:endCxn id="24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6" idx="2"/>
              <a:endCxn id="23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3" idx="2"/>
              <a:endCxn id="25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0" idx="2"/>
              <a:endCxn id="25" idx="0"/>
            </p:cNvCxnSpPr>
            <p:nvPr/>
          </p:nvCxnSpPr>
          <p:spPr>
            <a:xfrm>
              <a:off x="2054435" y="3938944"/>
              <a:ext cx="1539301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586024" y="2996952"/>
            <a:ext cx="3254393" cy="2657960"/>
            <a:chOff x="5062023" y="2996952"/>
            <a:chExt cx="3254393" cy="2657960"/>
          </a:xfrm>
        </p:grpSpPr>
        <p:sp>
          <p:nvSpPr>
            <p:cNvPr id="43" name="Rectangle 42"/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5" name="Straight Arrow Connector 54"/>
            <p:cNvCxnSpPr>
              <a:stCxn id="43" idx="2"/>
              <a:endCxn id="47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3" idx="2"/>
              <a:endCxn id="48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4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4" idx="2"/>
              <a:endCxn id="48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3" idx="2"/>
              <a:endCxn id="49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43" idx="2"/>
              <a:endCxn id="50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4" idx="2"/>
              <a:endCxn id="49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44" idx="2"/>
              <a:endCxn id="50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46" idx="2"/>
              <a:endCxn id="51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5" idx="2"/>
              <a:endCxn id="51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6" idx="2"/>
              <a:endCxn id="52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51" idx="2"/>
              <a:endCxn id="53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8" idx="2"/>
              <a:endCxn id="53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5" idx="2"/>
              <a:endCxn id="52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52" idx="2"/>
              <a:endCxn id="54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9" idx="2"/>
              <a:endCxn id="54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70"/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5" name="Straight Arrow Connector 74"/>
            <p:cNvCxnSpPr>
              <a:stCxn id="72" idx="2"/>
              <a:endCxn id="73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73" idx="2"/>
              <a:endCxn id="46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72" idx="2"/>
              <a:endCxn id="74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71" idx="2"/>
              <a:endCxn id="74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3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3" idx="2"/>
              <a:endCxn id="43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3" idx="2"/>
              <a:endCxn id="43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3" idx="2"/>
              <a:endCxn id="43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3" idx="2"/>
              <a:endCxn id="45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74" idx="2"/>
              <a:endCxn id="46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74" idx="2"/>
              <a:endCxn id="43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74" idx="2"/>
              <a:endCxn id="44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74" idx="2"/>
              <a:endCxn id="45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71" idx="2"/>
              <a:endCxn id="73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/>
          <p:cNvSpPr txBox="1"/>
          <p:nvPr/>
        </p:nvSpPr>
        <p:spPr>
          <a:xfrm rot="21316141">
            <a:off x="2747628" y="3068961"/>
            <a:ext cx="6696744" cy="954107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indent="-457200" algn="ctr"/>
            <a:r>
              <a:rPr lang="en-GB" sz="2800" dirty="0"/>
              <a:t>Can change V</a:t>
            </a:r>
            <a:r>
              <a:rPr lang="en-GB" sz="2800" baseline="-25000" dirty="0"/>
              <a:t>A</a:t>
            </a:r>
            <a:r>
              <a:rPr lang="en-GB" sz="2800" dirty="0"/>
              <a:t> by adding some ancestral pedigree!</a:t>
            </a:r>
          </a:p>
        </p:txBody>
      </p:sp>
    </p:spTree>
    <p:extLst>
      <p:ext uri="{BB962C8B-B14F-4D97-AF65-F5344CB8AC3E}">
        <p14:creationId xmlns:p14="http://schemas.microsoft.com/office/powerpoint/2010/main" val="106315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Van Raden </a:t>
            </a:r>
            <a:r>
              <a:rPr lang="en-GB" b="1" dirty="0"/>
              <a:t>G </a:t>
            </a:r>
            <a:r>
              <a:rPr lang="en-GB" dirty="0"/>
              <a:t>… estimates </a:t>
            </a:r>
          </a:p>
          <a:p>
            <a:pPr lvl="1"/>
            <a:r>
              <a:rPr lang="en-GB" dirty="0"/>
              <a:t>genic variances - all loci in LE and in HWE</a:t>
            </a:r>
          </a:p>
          <a:p>
            <a:pPr lvl="1"/>
            <a:r>
              <a:rPr lang="en-GB" dirty="0"/>
              <a:t>individuals used to construct </a:t>
            </a:r>
            <a:r>
              <a:rPr lang="en-GB" b="1" dirty="0"/>
              <a:t>G</a:t>
            </a:r>
            <a:r>
              <a:rPr lang="en-GB" dirty="0"/>
              <a:t> if markers in HWE</a:t>
            </a:r>
          </a:p>
          <a:p>
            <a:pPr lvl="1"/>
            <a:r>
              <a:rPr lang="en-GB" dirty="0"/>
              <a:t>can you compare with     </a:t>
            </a:r>
          </a:p>
          <a:p>
            <a:r>
              <a:rPr lang="en-GB" dirty="0"/>
              <a:t>Change </a:t>
            </a:r>
            <a:r>
              <a:rPr lang="en-GB" b="1" dirty="0"/>
              <a:t>G </a:t>
            </a:r>
            <a:r>
              <a:rPr lang="en-GB" dirty="0"/>
              <a:t>… there are many!</a:t>
            </a:r>
          </a:p>
          <a:p>
            <a:pPr lvl="1"/>
            <a:r>
              <a:rPr lang="en-GB" dirty="0"/>
              <a:t>e.g. prune a few SNPs</a:t>
            </a:r>
          </a:p>
          <a:p>
            <a:pPr lvl="1"/>
            <a:r>
              <a:rPr lang="en-GB" dirty="0"/>
              <a:t>does estimate of       refer to same population?</a:t>
            </a:r>
          </a:p>
          <a:p>
            <a:pPr lvl="1"/>
            <a:r>
              <a:rPr lang="en-GB" dirty="0"/>
              <a:t>is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 same?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169024"/>
              </p:ext>
            </p:extLst>
          </p:nvPr>
        </p:nvGraphicFramePr>
        <p:xfrm>
          <a:off x="5837511" y="1300957"/>
          <a:ext cx="41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3" imgW="419040" imgH="482400" progId="Equation.DSMT4">
                  <p:embed/>
                </p:oleObj>
              </mc:Choice>
              <mc:Fallback>
                <p:oleObj name="Equation" r:id="rId3" imgW="4190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7511" y="1300957"/>
                        <a:ext cx="419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703091"/>
              </p:ext>
            </p:extLst>
          </p:nvPr>
        </p:nvGraphicFramePr>
        <p:xfrm>
          <a:off x="4655840" y="2852738"/>
          <a:ext cx="3667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Equation" r:id="rId5" imgW="406080" imgH="482400" progId="Equation.DSMT4">
                  <p:embed/>
                </p:oleObj>
              </mc:Choice>
              <mc:Fallback>
                <p:oleObj name="Equation" r:id="rId5" imgW="406080" imgH="4824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55840" y="2852738"/>
                        <a:ext cx="366713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076755"/>
              </p:ext>
            </p:extLst>
          </p:nvPr>
        </p:nvGraphicFramePr>
        <p:xfrm>
          <a:off x="3876700" y="4437112"/>
          <a:ext cx="41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3" imgW="419040" imgH="482400" progId="Equation.DSMT4">
                  <p:embed/>
                </p:oleObj>
              </mc:Choice>
              <mc:Fallback>
                <p:oleObj name="Equation" r:id="rId3" imgW="419040" imgH="4824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6700" y="4437112"/>
                        <a:ext cx="419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870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0EE7-253A-4A0A-C228-7E12944C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343A-1E14-522C-255F-439739FA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12904-31A4-B793-CE7F-DE16E78EC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Van Raden </a:t>
            </a:r>
            <a:r>
              <a:rPr lang="en-GB" b="1" dirty="0"/>
              <a:t>G </a:t>
            </a:r>
            <a:r>
              <a:rPr lang="en-GB" dirty="0"/>
              <a:t>… estimates </a:t>
            </a:r>
          </a:p>
          <a:p>
            <a:pPr lvl="1"/>
            <a:r>
              <a:rPr lang="en-GB" dirty="0"/>
              <a:t>genic variances - all loci in LE and in HWE</a:t>
            </a:r>
          </a:p>
          <a:p>
            <a:pPr lvl="1"/>
            <a:r>
              <a:rPr lang="en-GB" dirty="0"/>
              <a:t>individuals used to construct </a:t>
            </a:r>
            <a:r>
              <a:rPr lang="en-GB" b="1" dirty="0"/>
              <a:t>G</a:t>
            </a:r>
            <a:r>
              <a:rPr lang="en-GB" dirty="0"/>
              <a:t> if markers in HWE</a:t>
            </a:r>
          </a:p>
          <a:p>
            <a:pPr lvl="1"/>
            <a:r>
              <a:rPr lang="en-GB" dirty="0"/>
              <a:t>can you compare with     </a:t>
            </a:r>
          </a:p>
          <a:p>
            <a:r>
              <a:rPr lang="en-GB" dirty="0"/>
              <a:t>Change </a:t>
            </a:r>
            <a:r>
              <a:rPr lang="en-GB" b="1" dirty="0"/>
              <a:t>G </a:t>
            </a:r>
            <a:r>
              <a:rPr lang="en-GB" dirty="0"/>
              <a:t>… there are many!</a:t>
            </a:r>
          </a:p>
          <a:p>
            <a:pPr lvl="1"/>
            <a:r>
              <a:rPr lang="en-GB" dirty="0"/>
              <a:t>e.g. prune a few SNPs</a:t>
            </a:r>
          </a:p>
          <a:p>
            <a:pPr lvl="1"/>
            <a:r>
              <a:rPr lang="en-GB" dirty="0"/>
              <a:t>does estimate of       refer to same population?</a:t>
            </a:r>
          </a:p>
          <a:p>
            <a:pPr lvl="1"/>
            <a:r>
              <a:rPr lang="en-GB" dirty="0"/>
              <a:t>is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 same?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EB746-1E68-1DED-6D31-3600B0A6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C339-46E8-079D-8460-61B1E14E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E255249-F0FA-9EAE-2FA5-458608A5CA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274546"/>
              </p:ext>
            </p:extLst>
          </p:nvPr>
        </p:nvGraphicFramePr>
        <p:xfrm>
          <a:off x="5837511" y="1300957"/>
          <a:ext cx="41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Equation" r:id="rId3" imgW="419040" imgH="482400" progId="Equation.DSMT4">
                  <p:embed/>
                </p:oleObj>
              </mc:Choice>
              <mc:Fallback>
                <p:oleObj name="Equation" r:id="rId3" imgW="419040" imgH="4824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7511" y="1300957"/>
                        <a:ext cx="419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4C650A2-78AD-901D-09FF-928ECF1CB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422332"/>
              </p:ext>
            </p:extLst>
          </p:nvPr>
        </p:nvGraphicFramePr>
        <p:xfrm>
          <a:off x="4655840" y="2852738"/>
          <a:ext cx="3667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Equation" r:id="rId5" imgW="406080" imgH="482400" progId="Equation.DSMT4">
                  <p:embed/>
                </p:oleObj>
              </mc:Choice>
              <mc:Fallback>
                <p:oleObj name="Equation" r:id="rId5" imgW="406080" imgH="4824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55840" y="2852738"/>
                        <a:ext cx="366713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D84DC98-8218-0E5D-1C5A-0EEEC8E16B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667232"/>
              </p:ext>
            </p:extLst>
          </p:nvPr>
        </p:nvGraphicFramePr>
        <p:xfrm>
          <a:off x="3876700" y="4437112"/>
          <a:ext cx="41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" name="Equation" r:id="rId3" imgW="419040" imgH="482400" progId="Equation.DSMT4">
                  <p:embed/>
                </p:oleObj>
              </mc:Choice>
              <mc:Fallback>
                <p:oleObj name="Equation" r:id="rId3" imgW="419040" imgH="4824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6700" y="4437112"/>
                        <a:ext cx="419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8C9EB5-48C8-9437-4E9D-1CC9C225AF02}"/>
              </a:ext>
            </a:extLst>
          </p:cNvPr>
          <p:cNvSpPr txBox="1"/>
          <p:nvPr/>
        </p:nvSpPr>
        <p:spPr>
          <a:xfrm rot="21316141">
            <a:off x="2747628" y="2853517"/>
            <a:ext cx="6696744" cy="1384995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indent="-457200" algn="ctr"/>
            <a:r>
              <a:rPr lang="en-GB" sz="2800" dirty="0"/>
              <a:t>Yet many papers compare </a:t>
            </a:r>
            <a:r>
              <a:rPr lang="en-GB" sz="2800" i="1" dirty="0"/>
              <a:t>h</a:t>
            </a:r>
            <a:r>
              <a:rPr lang="en-GB" sz="2800" i="1" baseline="30000" dirty="0"/>
              <a:t>2</a:t>
            </a:r>
            <a:r>
              <a:rPr lang="en-GB" sz="2800" dirty="0"/>
              <a:t> from different </a:t>
            </a:r>
            <a:r>
              <a:rPr lang="en-GB" sz="2800" b="1" dirty="0"/>
              <a:t>A</a:t>
            </a:r>
            <a:r>
              <a:rPr lang="en-GB" sz="2800" dirty="0"/>
              <a:t> and different </a:t>
            </a:r>
            <a:r>
              <a:rPr lang="en-GB" sz="2800" b="1" dirty="0"/>
              <a:t>G</a:t>
            </a:r>
            <a:r>
              <a:rPr lang="en-GB" sz="2800" dirty="0"/>
              <a:t> - more sense to compare      !</a:t>
            </a:r>
          </a:p>
        </p:txBody>
      </p:sp>
    </p:spTree>
    <p:extLst>
      <p:ext uri="{BB962C8B-B14F-4D97-AF65-F5344CB8AC3E}">
        <p14:creationId xmlns:p14="http://schemas.microsoft.com/office/powerpoint/2010/main" val="3916586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6433-1264-4555-8BE1-8EC0184C33F6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79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Perspectives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Specific populations and sub-populations of interest …</a:t>
            </a:r>
          </a:p>
          <a:p>
            <a:pPr lvl="1"/>
            <a:r>
              <a:rPr lang="en-GB" dirty="0"/>
              <a:t>e.g. </a:t>
            </a:r>
          </a:p>
          <a:p>
            <a:pPr lvl="2"/>
            <a:r>
              <a:rPr lang="en-GB" dirty="0"/>
              <a:t>all individuals with data</a:t>
            </a:r>
          </a:p>
          <a:p>
            <a:pPr lvl="2"/>
            <a:r>
              <a:rPr lang="en-GB" dirty="0"/>
              <a:t>particular generations</a:t>
            </a:r>
          </a:p>
          <a:p>
            <a:pPr lvl="2"/>
            <a:r>
              <a:rPr lang="en-GB" dirty="0"/>
              <a:t>selection candidates</a:t>
            </a:r>
          </a:p>
          <a:p>
            <a:r>
              <a:rPr lang="en-GB" dirty="0"/>
              <a:t>Can compare different models:</a:t>
            </a:r>
          </a:p>
          <a:p>
            <a:pPr lvl="1"/>
            <a:r>
              <a:rPr lang="en-GB" dirty="0"/>
              <a:t>accuracies</a:t>
            </a:r>
          </a:p>
          <a:p>
            <a:pPr lvl="1"/>
            <a:r>
              <a:rPr lang="en-GB" u="sng" dirty="0"/>
              <a:t>also</a:t>
            </a:r>
            <a:r>
              <a:rPr lang="en-GB" dirty="0"/>
              <a:t> predicted variances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229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a population with (co)variance matrix </a:t>
            </a:r>
            <a:r>
              <a:rPr lang="en-GB" b="1" dirty="0"/>
              <a:t>V</a:t>
            </a:r>
          </a:p>
          <a:p>
            <a:pPr lvl="2"/>
            <a:r>
              <a:rPr lang="en-GB" dirty="0"/>
              <a:t>can refer to a trait phenotype, breeding value, …</a:t>
            </a:r>
          </a:p>
          <a:p>
            <a:pPr lvl="2"/>
            <a:r>
              <a:rPr lang="en-GB" dirty="0"/>
              <a:t>individuals have value </a:t>
            </a:r>
            <a:r>
              <a:rPr lang="en-GB" i="1" dirty="0" err="1"/>
              <a:t>y</a:t>
            </a:r>
            <a:r>
              <a:rPr lang="en-GB" i="1" baseline="-25000" dirty="0" err="1"/>
              <a:t>i</a:t>
            </a:r>
            <a:r>
              <a:rPr lang="en-GB" i="1" dirty="0"/>
              <a:t> </a:t>
            </a:r>
          </a:p>
          <a:p>
            <a:pPr lvl="2"/>
            <a:r>
              <a:rPr lang="en-GB" dirty="0"/>
              <a:t>v</a:t>
            </a:r>
            <a:r>
              <a:rPr lang="en-GB" baseline="-25000" dirty="0"/>
              <a:t>ii </a:t>
            </a:r>
            <a:r>
              <a:rPr lang="en-GB" dirty="0"/>
              <a:t>= </a:t>
            </a:r>
            <a:r>
              <a:rPr lang="en-GB" dirty="0" err="1"/>
              <a:t>var</a:t>
            </a:r>
            <a:r>
              <a:rPr lang="en-GB" dirty="0"/>
              <a:t>(</a:t>
            </a:r>
            <a:r>
              <a:rPr lang="en-GB" i="1" dirty="0" err="1"/>
              <a:t>y</a:t>
            </a:r>
            <a:r>
              <a:rPr lang="en-GB" i="1" baseline="-25000" dirty="0" err="1"/>
              <a:t>i</a:t>
            </a:r>
            <a:r>
              <a:rPr lang="en-GB" dirty="0"/>
              <a:t>) , </a:t>
            </a:r>
            <a:r>
              <a:rPr lang="en-GB" dirty="0" err="1"/>
              <a:t>v</a:t>
            </a:r>
            <a:r>
              <a:rPr lang="en-GB" baseline="-25000" dirty="0" err="1"/>
              <a:t>ij</a:t>
            </a:r>
            <a:r>
              <a:rPr lang="en-GB" dirty="0"/>
              <a:t> = </a:t>
            </a:r>
            <a:r>
              <a:rPr lang="en-GB" dirty="0" err="1"/>
              <a:t>cov</a:t>
            </a:r>
            <a:r>
              <a:rPr lang="en-GB" dirty="0"/>
              <a:t>(</a:t>
            </a:r>
            <a:r>
              <a:rPr lang="en-GB" i="1" dirty="0" err="1"/>
              <a:t>y</a:t>
            </a:r>
            <a:r>
              <a:rPr lang="en-GB" i="1" baseline="-25000" dirty="0" err="1"/>
              <a:t>i</a:t>
            </a:r>
            <a:r>
              <a:rPr lang="en-GB" i="1" dirty="0" err="1"/>
              <a:t>,y</a:t>
            </a:r>
            <a:r>
              <a:rPr lang="en-GB" i="1" baseline="-25000" dirty="0" err="1"/>
              <a:t>j</a:t>
            </a:r>
            <a:r>
              <a:rPr lang="en-GB" dirty="0"/>
              <a:t>)</a:t>
            </a:r>
          </a:p>
          <a:p>
            <a:r>
              <a:rPr lang="en-GB" dirty="0"/>
              <a:t>Variance within the population </a:t>
            </a:r>
          </a:p>
          <a:p>
            <a:pPr marL="0" indent="0">
              <a:buNone/>
            </a:pPr>
            <a:r>
              <a:rPr lang="en-GB" dirty="0"/>
              <a:t>		= </a:t>
            </a:r>
          </a:p>
          <a:p>
            <a:pPr lvl="3"/>
            <a:r>
              <a:rPr lang="en-GB" dirty="0"/>
              <a:t>a standard result for variances</a:t>
            </a:r>
          </a:p>
          <a:p>
            <a:pPr marL="0" indent="0">
              <a:buNone/>
            </a:pPr>
            <a:r>
              <a:rPr lang="en-GB" dirty="0"/>
              <a:t>		=</a:t>
            </a:r>
          </a:p>
          <a:p>
            <a:r>
              <a:rPr lang="en-GB" dirty="0"/>
              <a:t>See handout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9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184037"/>
              </p:ext>
            </p:extLst>
          </p:nvPr>
        </p:nvGraphicFramePr>
        <p:xfrm>
          <a:off x="3215680" y="3645024"/>
          <a:ext cx="451643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Equation" r:id="rId3" imgW="1790640" imgH="241200" progId="Equation.DSMT4">
                  <p:embed/>
                </p:oleObj>
              </mc:Choice>
              <mc:Fallback>
                <p:oleObj name="Equation" r:id="rId3" imgW="17906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5680" y="3645024"/>
                        <a:ext cx="4516437" cy="608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632742"/>
              </p:ext>
            </p:extLst>
          </p:nvPr>
        </p:nvGraphicFramePr>
        <p:xfrm>
          <a:off x="3359696" y="4725144"/>
          <a:ext cx="1810991" cy="564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Equation" r:id="rId5" imgW="812520" imgH="241200" progId="Equation.DSMT4">
                  <p:embed/>
                </p:oleObj>
              </mc:Choice>
              <mc:Fallback>
                <p:oleObj name="Equation" r:id="rId5" imgW="812520" imgH="24120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9696" y="4725144"/>
                        <a:ext cx="1810991" cy="564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6767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General Result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Variance within the set  =</a:t>
            </a:r>
          </a:p>
          <a:p>
            <a:pPr marL="0" indent="0">
              <a:buNone/>
            </a:pPr>
            <a:r>
              <a:rPr lang="en-GB" dirty="0"/>
              <a:t>			= (3+2+4)/3 – (3+1-1+1… +4)/9</a:t>
            </a:r>
          </a:p>
          <a:p>
            <a:pPr marL="0" indent="0">
              <a:buNone/>
            </a:pPr>
            <a:r>
              <a:rPr lang="en-GB" dirty="0"/>
              <a:t>			= 3 – 1</a:t>
            </a:r>
          </a:p>
          <a:p>
            <a:pPr marL="0" indent="0">
              <a:buNone/>
            </a:pPr>
            <a:r>
              <a:rPr lang="en-GB" dirty="0"/>
              <a:t>			=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/>
          <a:p>
            <a:r>
              <a:rPr lang="en-GB" dirty="0"/>
              <a:t>Lecture 9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988290"/>
              </p:ext>
            </p:extLst>
          </p:nvPr>
        </p:nvGraphicFramePr>
        <p:xfrm>
          <a:off x="7104063" y="3573463"/>
          <a:ext cx="181133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04063" y="3573463"/>
                        <a:ext cx="1811337" cy="563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00955"/>
              </p:ext>
            </p:extLst>
          </p:nvPr>
        </p:nvGraphicFramePr>
        <p:xfrm>
          <a:off x="4399136" y="1506984"/>
          <a:ext cx="29210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Equation" r:id="rId5" imgW="2920680" imgH="1777680" progId="Equation.DSMT4">
                  <p:embed/>
                </p:oleObj>
              </mc:Choice>
              <mc:Fallback>
                <p:oleObj name="Equation" r:id="rId5" imgW="2920680" imgH="1777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99136" y="1506984"/>
                        <a:ext cx="2921000" cy="177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324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Apply to Relationships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</a:t>
            </a:r>
            <a:r>
              <a:rPr lang="en-GB" dirty="0"/>
              <a:t> matrix</a:t>
            </a:r>
          </a:p>
          <a:p>
            <a:pPr lvl="1"/>
            <a:r>
              <a:rPr lang="en-GB" dirty="0"/>
              <a:t>(co)variance of breeding values is</a:t>
            </a:r>
            <a:r>
              <a:rPr lang="en-GB" b="1" dirty="0"/>
              <a:t>     </a:t>
            </a:r>
          </a:p>
          <a:p>
            <a:pPr lvl="1"/>
            <a:r>
              <a:rPr lang="en-GB" dirty="0"/>
              <a:t>sub-matrix for base generation of size </a:t>
            </a:r>
            <a:r>
              <a:rPr lang="en-GB" i="1" dirty="0"/>
              <a:t>n </a:t>
            </a:r>
            <a:r>
              <a:rPr lang="en-GB" dirty="0"/>
              <a:t>is </a:t>
            </a:r>
            <a:r>
              <a:rPr lang="en-GB" i="1" dirty="0"/>
              <a:t>   </a:t>
            </a:r>
            <a:endParaRPr lang="en-GB" dirty="0"/>
          </a:p>
          <a:p>
            <a:pPr lvl="1"/>
            <a:r>
              <a:rPr lang="en-GB" dirty="0"/>
              <a:t>so variance within the base is  </a:t>
            </a:r>
          </a:p>
          <a:p>
            <a:pPr lvl="2"/>
            <a:r>
              <a:rPr lang="en-GB" dirty="0"/>
              <a:t>as                         and </a:t>
            </a:r>
          </a:p>
          <a:p>
            <a:r>
              <a:rPr lang="en-GB" dirty="0"/>
              <a:t>So the REML estimate of parameter       is estimating variance for a </a:t>
            </a:r>
            <a:r>
              <a:rPr lang="en-GB" i="1" dirty="0"/>
              <a:t>very large</a:t>
            </a:r>
            <a:r>
              <a:rPr lang="en-GB" dirty="0"/>
              <a:t> base population from which </a:t>
            </a:r>
            <a:r>
              <a:rPr lang="en-GB" i="1" dirty="0"/>
              <a:t>n </a:t>
            </a:r>
            <a:r>
              <a:rPr lang="en-GB" dirty="0"/>
              <a:t>sampled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756818"/>
              </p:ext>
            </p:extLst>
          </p:nvPr>
        </p:nvGraphicFramePr>
        <p:xfrm>
          <a:off x="5695950" y="2987637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6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95950" y="2987637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605059"/>
              </p:ext>
            </p:extLst>
          </p:nvPr>
        </p:nvGraphicFramePr>
        <p:xfrm>
          <a:off x="5638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7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61470"/>
              </p:ext>
            </p:extLst>
          </p:nvPr>
        </p:nvGraphicFramePr>
        <p:xfrm>
          <a:off x="6816080" y="1827213"/>
          <a:ext cx="72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8" name="Equation" r:id="rId6" imgW="723600" imgH="482400" progId="Equation.DSMT4">
                  <p:embed/>
                </p:oleObj>
              </mc:Choice>
              <mc:Fallback>
                <p:oleObj name="Equation" r:id="rId6" imgW="723600" imgH="48240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16080" y="1827213"/>
                        <a:ext cx="723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983276"/>
              </p:ext>
            </p:extLst>
          </p:nvPr>
        </p:nvGraphicFramePr>
        <p:xfrm>
          <a:off x="7968208" y="2330450"/>
          <a:ext cx="647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9" name="Equation" r:id="rId8" imgW="647640" imgH="482400" progId="Equation.DSMT4">
                  <p:embed/>
                </p:oleObj>
              </mc:Choice>
              <mc:Fallback>
                <p:oleObj name="Equation" r:id="rId8" imgW="647640" imgH="48240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68208" y="2330450"/>
                        <a:ext cx="647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907938"/>
              </p:ext>
            </p:extLst>
          </p:nvPr>
        </p:nvGraphicFramePr>
        <p:xfrm>
          <a:off x="6023992" y="2787415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0" name="Equation" r:id="rId10" imgW="1752480" imgH="533160" progId="Equation.DSMT4">
                  <p:embed/>
                </p:oleObj>
              </mc:Choice>
              <mc:Fallback>
                <p:oleObj name="Equation" r:id="rId10" imgW="17524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23992" y="2787415"/>
                        <a:ext cx="1752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35865"/>
              </p:ext>
            </p:extLst>
          </p:nvPr>
        </p:nvGraphicFramePr>
        <p:xfrm>
          <a:off x="7345784" y="378904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1" name="Equation" r:id="rId12" imgW="406080" imgH="571320" progId="Equation.DSMT4">
                  <p:embed/>
                </p:oleObj>
              </mc:Choice>
              <mc:Fallback>
                <p:oleObj name="Equation" r:id="rId12" imgW="40608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345784" y="3789040"/>
                        <a:ext cx="4064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859B2FC-3F57-558D-9E3B-7E5776193AE0}"/>
                  </a:ext>
                </a:extLst>
              </p:cNvPr>
              <p:cNvSpPr txBox="1"/>
              <p:nvPr/>
            </p:nvSpPr>
            <p:spPr>
              <a:xfrm>
                <a:off x="2063552" y="3212976"/>
                <a:ext cx="1811338" cy="56515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GB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GB" sz="3200" i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diag</m:t>
                        </m:r>
                        <m:r>
                          <m:rPr>
                            <m:nor/>
                          </m:rPr>
                          <a:rPr lang="en-GB" sz="3200" i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GB" sz="3200" b="1" i="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GB" sz="3200" i="0" baseline="-2500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GB" sz="3200" i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=1</a:t>
                </a: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859B2FC-3F57-558D-9E3B-7E5776193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3212976"/>
                <a:ext cx="1811338" cy="565150"/>
              </a:xfrm>
              <a:prstGeom prst="rect">
                <a:avLst/>
              </a:prstGeom>
              <a:blipFill>
                <a:blip r:embed="rId14"/>
                <a:stretch>
                  <a:fillRect t="-6452" r="-4040" b="-215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40F9A148-25FA-6855-4240-7DA1CA3C74DE}"/>
                  </a:ext>
                </a:extLst>
              </p:cNvPr>
              <p:cNvSpPr txBox="1"/>
              <p:nvPr/>
            </p:nvSpPr>
            <p:spPr>
              <a:xfrm>
                <a:off x="4583831" y="3284984"/>
                <a:ext cx="2520281" cy="565150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GB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GB" sz="3200" b="1" i="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GB" sz="3200" i="0" baseline="-2500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</m:t>
                        </m:r>
                      </m:e>
                    </m:bar>
                  </m:oMath>
                </a14:m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GB" sz="3200" i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n</a:t>
                </a:r>
                <a:r>
                  <a:rPr lang="en-GB" sz="3200" i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-1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GB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40F9A148-25FA-6855-4240-7DA1CA3C7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1" y="3284984"/>
                <a:ext cx="2520281" cy="565150"/>
              </a:xfrm>
              <a:prstGeom prst="rect">
                <a:avLst/>
              </a:prstGeom>
              <a:blipFill>
                <a:blip r:embed="rId15"/>
                <a:stretch>
                  <a:fillRect t="-20430" b="-23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406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0CB7-B32E-A63D-589A-FCBF28341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0902E4FB-B8AA-E15B-4654-14478639C010}"/>
              </a:ext>
            </a:extLst>
          </p:cNvPr>
          <p:cNvSpPr/>
          <p:nvPr/>
        </p:nvSpPr>
        <p:spPr>
          <a:xfrm>
            <a:off x="7548984" y="4813457"/>
            <a:ext cx="2804493" cy="482601"/>
          </a:xfrm>
          <a:prstGeom prst="ellipse">
            <a:avLst/>
          </a:prstGeom>
          <a:solidFill>
            <a:srgbClr val="FF9999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378B6-6DE8-F2C6-9F34-38B685E9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Apply to Relationships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32DF8-4264-FB75-C42C-1655E6CFB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</a:t>
            </a:r>
            <a:r>
              <a:rPr lang="en-GB" dirty="0"/>
              <a:t> matrix</a:t>
            </a:r>
          </a:p>
          <a:p>
            <a:pPr lvl="1"/>
            <a:r>
              <a:rPr lang="en-GB" dirty="0"/>
              <a:t>(co)variance of breeding values is</a:t>
            </a:r>
            <a:r>
              <a:rPr lang="en-GB" b="1" dirty="0"/>
              <a:t>     </a:t>
            </a:r>
          </a:p>
          <a:p>
            <a:pPr lvl="1"/>
            <a:r>
              <a:rPr lang="en-GB" dirty="0"/>
              <a:t>sub-matrix for base generation of size </a:t>
            </a:r>
            <a:r>
              <a:rPr lang="en-GB" i="1" dirty="0"/>
              <a:t>n </a:t>
            </a:r>
            <a:r>
              <a:rPr lang="en-GB" dirty="0"/>
              <a:t>is </a:t>
            </a:r>
            <a:r>
              <a:rPr lang="en-GB" i="1" dirty="0"/>
              <a:t>   </a:t>
            </a:r>
            <a:endParaRPr lang="en-GB" dirty="0"/>
          </a:p>
          <a:p>
            <a:pPr lvl="1"/>
            <a:r>
              <a:rPr lang="en-GB" dirty="0"/>
              <a:t>so variance within the base is  </a:t>
            </a:r>
          </a:p>
          <a:p>
            <a:pPr lvl="2"/>
            <a:r>
              <a:rPr lang="en-GB" dirty="0"/>
              <a:t>as                         and </a:t>
            </a:r>
          </a:p>
          <a:p>
            <a:r>
              <a:rPr lang="en-GB" dirty="0"/>
              <a:t>So the REML estimate of parameter       is estimating variance for a </a:t>
            </a:r>
            <a:r>
              <a:rPr lang="en-GB" i="1" dirty="0"/>
              <a:t>very large</a:t>
            </a:r>
            <a:r>
              <a:rPr lang="en-GB" dirty="0"/>
              <a:t> base population from which </a:t>
            </a:r>
            <a:r>
              <a:rPr lang="en-GB" i="1" dirty="0"/>
              <a:t>n </a:t>
            </a:r>
            <a:r>
              <a:rPr lang="en-GB" dirty="0"/>
              <a:t>sampled</a:t>
            </a:r>
          </a:p>
          <a:p>
            <a:pPr lvl="1"/>
            <a:r>
              <a:rPr lang="en-GB" dirty="0"/>
              <a:t>e.g. variance </a:t>
            </a:r>
            <a:r>
              <a:rPr lang="en-GB" u="sng" dirty="0"/>
              <a:t>within</a:t>
            </a:r>
            <a:r>
              <a:rPr lang="en-GB" dirty="0"/>
              <a:t> this base 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5A72E-D845-CAE7-CC2E-C6D8DF8B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6CC1C-334F-6F2C-7C1E-A43F4EC9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5FCA96E9-E2BF-E7F3-4319-BE4B39682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5950" y="2987637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95950" y="2987637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4CF3A2C0-0ABB-0899-69DF-9EBEB16DB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6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DAFB80D6-6205-D3C8-2438-4BDA45B7FC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080" y="1827213"/>
          <a:ext cx="72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7" name="Equation" r:id="rId6" imgW="723600" imgH="482400" progId="Equation.DSMT4">
                  <p:embed/>
                </p:oleObj>
              </mc:Choice>
              <mc:Fallback>
                <p:oleObj name="Equation" r:id="rId6" imgW="723600" imgH="48240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16080" y="1827213"/>
                        <a:ext cx="723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C7C0103C-6056-B7BF-E011-15D68FCBF5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8208" y="2330450"/>
          <a:ext cx="647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" name="Equation" r:id="rId8" imgW="647640" imgH="482400" progId="Equation.DSMT4">
                  <p:embed/>
                </p:oleObj>
              </mc:Choice>
              <mc:Fallback>
                <p:oleObj name="Equation" r:id="rId8" imgW="647640" imgH="48240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68208" y="2330450"/>
                        <a:ext cx="647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285ECD2-F5BD-5465-6228-A5F307AC9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3992" y="2787415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" name="Equation" r:id="rId10" imgW="1752480" imgH="533160" progId="Equation.DSMT4">
                  <p:embed/>
                </p:oleObj>
              </mc:Choice>
              <mc:Fallback>
                <p:oleObj name="Equation" r:id="rId10" imgW="1752480" imgH="533160" progId="Equation.DSMT4">
                  <p:embed/>
                  <p:pic>
                    <p:nvPicPr>
                      <p:cNvPr id="18" name="Object 1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23992" y="2787415"/>
                        <a:ext cx="1752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18D65211-7A23-A0AB-E94D-F6C19A030B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5784" y="378904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" name="Equation" r:id="rId12" imgW="406080" imgH="571320" progId="Equation.DSMT4">
                  <p:embed/>
                </p:oleObj>
              </mc:Choice>
              <mc:Fallback>
                <p:oleObj name="Equation" r:id="rId12" imgW="406080" imgH="57132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345784" y="3789040"/>
                        <a:ext cx="4064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6ECDE85F-A439-6D00-C9F0-FCE109A7E08B}"/>
                  </a:ext>
                </a:extLst>
              </p:cNvPr>
              <p:cNvSpPr txBox="1"/>
              <p:nvPr/>
            </p:nvSpPr>
            <p:spPr>
              <a:xfrm>
                <a:off x="2063552" y="3214800"/>
                <a:ext cx="1811338" cy="56515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GB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GB" sz="3200" i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diag</m:t>
                        </m:r>
                        <m:r>
                          <m:rPr>
                            <m:nor/>
                          </m:rPr>
                          <a:rPr lang="en-GB" sz="3200" i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GB" sz="3200" b="1" i="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GB" sz="3200" i="0" baseline="-2500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GB" sz="3200" i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=1</a:t>
                </a: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6ECDE85F-A439-6D00-C9F0-FCE109A7E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3214800"/>
                <a:ext cx="1811338" cy="565150"/>
              </a:xfrm>
              <a:prstGeom prst="rect">
                <a:avLst/>
              </a:prstGeom>
              <a:blipFill>
                <a:blip r:embed="rId14"/>
                <a:stretch>
                  <a:fillRect t="-5376" r="-4040" b="-215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8BF6C09A-DA73-6495-3D01-AA60FE960C75}"/>
                  </a:ext>
                </a:extLst>
              </p:cNvPr>
              <p:cNvSpPr txBox="1"/>
              <p:nvPr/>
            </p:nvSpPr>
            <p:spPr>
              <a:xfrm>
                <a:off x="4583831" y="3284984"/>
                <a:ext cx="2520281" cy="565150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GB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GB" sz="3200" b="1" i="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GB" sz="3200" i="0" baseline="-25000" smtClean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</m:t>
                        </m:r>
                      </m:e>
                    </m:bar>
                  </m:oMath>
                </a14:m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GB" sz="3200" i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n</a:t>
                </a:r>
                <a:r>
                  <a:rPr lang="en-GB" sz="3200" i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-1</a:t>
                </a:r>
                <a:r>
                  <a:rPr lang="en-GB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GB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8BF6C09A-DA73-6495-3D01-AA60FE960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1" y="3284984"/>
                <a:ext cx="2520281" cy="565150"/>
              </a:xfrm>
              <a:prstGeom prst="rect">
                <a:avLst/>
              </a:prstGeom>
              <a:blipFill>
                <a:blip r:embed="rId15"/>
                <a:stretch>
                  <a:fillRect t="-20430" b="-23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8F3763C7-1C69-C810-CA10-481EB8843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005980"/>
              </p:ext>
            </p:extLst>
          </p:nvPr>
        </p:nvGraphicFramePr>
        <p:xfrm>
          <a:off x="6242725" y="4772000"/>
          <a:ext cx="717371" cy="52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" name="Equation" r:id="rId16" imgW="774360" imgH="571320" progId="Equation.DSMT4">
                  <p:embed/>
                </p:oleObj>
              </mc:Choice>
              <mc:Fallback>
                <p:oleObj name="Equation" r:id="rId16" imgW="774360" imgH="57132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42725" y="4772000"/>
                        <a:ext cx="717371" cy="529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FA4F376A-44F5-EDA4-F741-D28EBE50F84C}"/>
              </a:ext>
            </a:extLst>
          </p:cNvPr>
          <p:cNvGrpSpPr/>
          <p:nvPr/>
        </p:nvGrpSpPr>
        <p:grpSpPr>
          <a:xfrm>
            <a:off x="7813372" y="5013176"/>
            <a:ext cx="2088232" cy="1001776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B85E99-3E64-D0D1-3B5A-EBE37A294E96}"/>
                </a:ext>
              </a:extLst>
            </p:cNvPr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9291EB-EB81-DE96-90B8-3EC7ECD8D4A4}"/>
                </a:ext>
              </a:extLst>
            </p:cNvPr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E178AC-89BF-E57F-3FD7-EA370E784ACD}"/>
                </a:ext>
              </a:extLst>
            </p:cNvPr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DFB338-34FE-D571-2C5E-61CD9458F41E}"/>
                </a:ext>
              </a:extLst>
            </p:cNvPr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08F09F-16E7-A1E8-3C15-9B3B586A000F}"/>
                </a:ext>
              </a:extLst>
            </p:cNvPr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F9B5C9-94EA-409A-2A7F-00E4BC11404A}"/>
                </a:ext>
              </a:extLst>
            </p:cNvPr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93D500-F1AC-45B5-019C-A46D4322E629}"/>
                </a:ext>
              </a:extLst>
            </p:cNvPr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6585011-FD80-73A6-F9CF-E3A381345451}"/>
                </a:ext>
              </a:extLst>
            </p:cNvPr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82AD44-867B-F889-7910-4AADA23D3FD5}"/>
                </a:ext>
              </a:extLst>
            </p:cNvPr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699D9D-A926-7FE8-D021-867E167A35CF}"/>
                </a:ext>
              </a:extLst>
            </p:cNvPr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0FCAFC6-22AC-E846-DE07-0A277B829D2E}"/>
                </a:ext>
              </a:extLst>
            </p:cNvPr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2FE52C-3AC7-7F61-0BE7-EC3FD3717FB1}"/>
                </a:ext>
              </a:extLst>
            </p:cNvPr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7BF1E70-A67A-EFA8-5BDA-58716F3A88D5}"/>
                </a:ext>
              </a:extLst>
            </p:cNvPr>
            <p:cNvCxnSpPr>
              <a:stCxn id="8" idx="2"/>
              <a:endCxn id="12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FB2C0B7-BAF7-DDBD-01B3-89DD342B31BD}"/>
                </a:ext>
              </a:extLst>
            </p:cNvPr>
            <p:cNvCxnSpPr>
              <a:stCxn id="8" idx="2"/>
              <a:endCxn id="15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E01A59D-0D07-4102-6812-B12CCBBD0133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242566B-C140-6791-152A-2D0FA99AF396}"/>
                </a:ext>
              </a:extLst>
            </p:cNvPr>
            <p:cNvCxnSpPr>
              <a:stCxn id="9" idx="2"/>
              <a:endCxn id="15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9C231C4-918F-31D1-CD2A-853F21026331}"/>
                </a:ext>
              </a:extLst>
            </p:cNvPr>
            <p:cNvCxnSpPr>
              <a:stCxn id="8" idx="2"/>
              <a:endCxn id="16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18E567F-1CB3-1BC3-1048-C5C225AF1318}"/>
                </a:ext>
              </a:extLst>
            </p:cNvPr>
            <p:cNvCxnSpPr>
              <a:stCxn id="8" idx="2"/>
              <a:endCxn id="19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F960E72-91E1-783D-CC31-3E405E598285}"/>
                </a:ext>
              </a:extLst>
            </p:cNvPr>
            <p:cNvCxnSpPr>
              <a:stCxn id="9" idx="2"/>
              <a:endCxn id="16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860F4C4-744D-54D7-F919-A189E9405A4D}"/>
                </a:ext>
              </a:extLst>
            </p:cNvPr>
            <p:cNvCxnSpPr>
              <a:stCxn id="9" idx="2"/>
              <a:endCxn id="19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960299-B49B-CCA5-46EE-8D8CED7AA13A}"/>
                </a:ext>
              </a:extLst>
            </p:cNvPr>
            <p:cNvCxnSpPr>
              <a:stCxn id="11" idx="2"/>
              <a:endCxn id="20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C686927-1278-CA26-A7C5-561E2D48765A}"/>
                </a:ext>
              </a:extLst>
            </p:cNvPr>
            <p:cNvCxnSpPr>
              <a:stCxn id="10" idx="2"/>
              <a:endCxn id="20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7683911-C3BA-94AB-034C-E2B4D11257B7}"/>
                </a:ext>
              </a:extLst>
            </p:cNvPr>
            <p:cNvCxnSpPr>
              <a:stCxn id="11" idx="2"/>
              <a:endCxn id="21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4D00326-ECAF-9058-E6AE-1FD0AAA621A0}"/>
                </a:ext>
              </a:extLst>
            </p:cNvPr>
            <p:cNvCxnSpPr>
              <a:stCxn id="20" idx="2"/>
              <a:endCxn id="25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3F2AC25-3177-1CFF-1597-78778DF52812}"/>
                </a:ext>
              </a:extLst>
            </p:cNvPr>
            <p:cNvCxnSpPr>
              <a:stCxn id="15" idx="2"/>
              <a:endCxn id="25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9F10150-223C-698B-1507-5F60DFBF4CC7}"/>
                </a:ext>
              </a:extLst>
            </p:cNvPr>
            <p:cNvCxnSpPr>
              <a:stCxn id="10" idx="2"/>
              <a:endCxn id="21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30F2A9D-47BF-BBF5-512C-A3F7AEB93019}"/>
                </a:ext>
              </a:extLst>
            </p:cNvPr>
            <p:cNvCxnSpPr>
              <a:stCxn id="21" idx="2"/>
              <a:endCxn id="26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544ECE-7E1F-5022-4E24-BEC797872E8F}"/>
                </a:ext>
              </a:extLst>
            </p:cNvPr>
            <p:cNvCxnSpPr>
              <a:stCxn id="16" idx="2"/>
              <a:endCxn id="26" idx="0"/>
            </p:cNvCxnSpPr>
            <p:nvPr/>
          </p:nvCxnSpPr>
          <p:spPr>
            <a:xfrm>
              <a:off x="2054435" y="3938944"/>
              <a:ext cx="1539301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9702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Apply to Relationships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Van </a:t>
            </a:r>
            <a:r>
              <a:rPr lang="en-GB" dirty="0" err="1"/>
              <a:t>Raden</a:t>
            </a:r>
            <a:r>
              <a:rPr lang="en-GB" dirty="0"/>
              <a:t> </a:t>
            </a:r>
            <a:r>
              <a:rPr lang="en-GB" b="1" dirty="0"/>
              <a:t>G</a:t>
            </a:r>
            <a:r>
              <a:rPr lang="en-GB" b="1" baseline="-25000" dirty="0"/>
              <a:t>1</a:t>
            </a:r>
            <a:r>
              <a:rPr lang="en-GB" dirty="0"/>
              <a:t> or </a:t>
            </a:r>
            <a:r>
              <a:rPr lang="en-GB" b="1" dirty="0"/>
              <a:t>G</a:t>
            </a:r>
            <a:r>
              <a:rPr lang="en-GB" b="1" baseline="-25000" dirty="0"/>
              <a:t>2</a:t>
            </a:r>
            <a:endParaRPr lang="en-GB" b="1" dirty="0"/>
          </a:p>
          <a:p>
            <a:pPr lvl="1"/>
            <a:r>
              <a:rPr lang="en-GB" dirty="0"/>
              <a:t>(co)variance of breeding values is</a:t>
            </a:r>
            <a:r>
              <a:rPr lang="en-GB" b="1" dirty="0"/>
              <a:t> </a:t>
            </a:r>
          </a:p>
          <a:p>
            <a:pPr lvl="1"/>
            <a:r>
              <a:rPr lang="en-GB" b="1" dirty="0"/>
              <a:t>            </a:t>
            </a:r>
            <a:r>
              <a:rPr lang="en-GB" dirty="0"/>
              <a:t>as sum of elements is 0</a:t>
            </a:r>
          </a:p>
          <a:p>
            <a:pPr lvl="1"/>
            <a:r>
              <a:rPr lang="en-GB" dirty="0"/>
              <a:t>if all loci are in HWE …    </a:t>
            </a:r>
          </a:p>
          <a:p>
            <a:pPr lvl="2"/>
            <a:r>
              <a:rPr lang="en-GB" dirty="0"/>
              <a:t>            </a:t>
            </a:r>
            <a:r>
              <a:rPr lang="en-GB" b="1" dirty="0"/>
              <a:t> </a:t>
            </a:r>
          </a:p>
          <a:p>
            <a:pPr lvl="2"/>
            <a:r>
              <a:rPr lang="en-GB" dirty="0"/>
              <a:t>so REML estimate       is estimating genetic variance within set used to construct</a:t>
            </a:r>
          </a:p>
          <a:p>
            <a:pPr lvl="1"/>
            <a:r>
              <a:rPr lang="en-GB" dirty="0"/>
              <a:t>see handout ‘properties of Van </a:t>
            </a:r>
            <a:r>
              <a:rPr lang="en-GB" dirty="0" err="1"/>
              <a:t>Raden</a:t>
            </a:r>
            <a:r>
              <a:rPr lang="en-GB" dirty="0"/>
              <a:t> matrices’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9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796987"/>
              </p:ext>
            </p:extLst>
          </p:nvPr>
        </p:nvGraphicFramePr>
        <p:xfrm>
          <a:off x="5638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205885"/>
              </p:ext>
            </p:extLst>
          </p:nvPr>
        </p:nvGraphicFramePr>
        <p:xfrm>
          <a:off x="6672064" y="1827213"/>
          <a:ext cx="72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name="Equation" r:id="rId5" imgW="723600" imgH="482400" progId="Equation.DSMT4">
                  <p:embed/>
                </p:oleObj>
              </mc:Choice>
              <mc:Fallback>
                <p:oleObj name="Equation" r:id="rId5" imgW="723600" imgH="48240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72064" y="1827213"/>
                        <a:ext cx="723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187175"/>
              </p:ext>
            </p:extLst>
          </p:nvPr>
        </p:nvGraphicFramePr>
        <p:xfrm>
          <a:off x="1127448" y="2309813"/>
          <a:ext cx="965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name="Equation" r:id="rId7" imgW="965160" imgH="444240" progId="Equation.DSMT4">
                  <p:embed/>
                </p:oleObj>
              </mc:Choice>
              <mc:Fallback>
                <p:oleObj name="Equation" r:id="rId7" imgW="965160" imgH="44424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27448" y="2309813"/>
                        <a:ext cx="965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444182"/>
              </p:ext>
            </p:extLst>
          </p:nvPr>
        </p:nvGraphicFramePr>
        <p:xfrm>
          <a:off x="1674664" y="3212976"/>
          <a:ext cx="1955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7" name="Equation" r:id="rId9" imgW="1955520" imgH="533160" progId="Equation.DSMT4">
                  <p:embed/>
                </p:oleObj>
              </mc:Choice>
              <mc:Fallback>
                <p:oleObj name="Equation" r:id="rId9" imgW="19555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4664" y="3212976"/>
                        <a:ext cx="19558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229468"/>
              </p:ext>
            </p:extLst>
          </p:nvPr>
        </p:nvGraphicFramePr>
        <p:xfrm>
          <a:off x="4092724" y="3649588"/>
          <a:ext cx="419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name="Equation" r:id="rId11" imgW="419040" imgH="571320" progId="Equation.DSMT4">
                  <p:embed/>
                </p:oleObj>
              </mc:Choice>
              <mc:Fallback>
                <p:oleObj name="Equation" r:id="rId11" imgW="419040" imgH="57132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92724" y="3649588"/>
                        <a:ext cx="419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574794"/>
              </p:ext>
            </p:extLst>
          </p:nvPr>
        </p:nvGraphicFramePr>
        <p:xfrm>
          <a:off x="2885480" y="414908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9" name="Equation" r:id="rId13" imgW="330120" imgH="368280" progId="Equation.DSMT4">
                  <p:embed/>
                </p:oleObj>
              </mc:Choice>
              <mc:Fallback>
                <p:oleObj name="Equation" r:id="rId13" imgW="330120" imgH="36828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85480" y="4149080"/>
                        <a:ext cx="330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1554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6738032" y="4221088"/>
            <a:ext cx="3606441" cy="648072"/>
          </a:xfrm>
          <a:prstGeom prst="ellipse">
            <a:avLst/>
          </a:prstGeom>
          <a:solidFill>
            <a:srgbClr val="FF9999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Apply to Relationships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</a:t>
            </a:r>
            <a:r>
              <a:rPr lang="en-GB" b="1" baseline="-25000" dirty="0"/>
              <a:t>1</a:t>
            </a:r>
            <a:r>
              <a:rPr lang="en-GB" dirty="0"/>
              <a:t> matrix … Van </a:t>
            </a:r>
            <a:r>
              <a:rPr lang="en-GB" dirty="0" err="1"/>
              <a:t>Raden</a:t>
            </a:r>
            <a:r>
              <a:rPr lang="en-GB" dirty="0"/>
              <a:t> 1 for the base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181604"/>
              </p:ext>
            </p:extLst>
          </p:nvPr>
        </p:nvGraphicFramePr>
        <p:xfrm>
          <a:off x="5695950" y="2987637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3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95950" y="2987637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894360"/>
              </p:ext>
            </p:extLst>
          </p:nvPr>
        </p:nvGraphicFramePr>
        <p:xfrm>
          <a:off x="5638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4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30516"/>
              </p:ext>
            </p:extLst>
          </p:nvPr>
        </p:nvGraphicFramePr>
        <p:xfrm>
          <a:off x="7395048" y="2100023"/>
          <a:ext cx="21362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59">
                  <a:extLst>
                    <a:ext uri="{9D8B030D-6E8A-4147-A177-3AD203B41FA5}">
                      <a16:colId xmlns:a16="http://schemas.microsoft.com/office/drawing/2014/main" val="382555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8300255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403297822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1636970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56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03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78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11257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6610350" y="4437112"/>
            <a:ext cx="3340100" cy="1483360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15" name="Rectangle 14"/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2" name="Straight Arrow Connector 31"/>
            <p:cNvCxnSpPr>
              <a:stCxn id="15" idx="2"/>
              <a:endCxn id="21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5" idx="2"/>
              <a:endCxn id="25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6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6" idx="2"/>
              <a:endCxn id="25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5" idx="2"/>
              <a:endCxn id="26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5" idx="2"/>
              <a:endCxn id="27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6" idx="2"/>
              <a:endCxn id="26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6" idx="2"/>
              <a:endCxn id="27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2"/>
              <a:endCxn id="28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9" idx="2"/>
              <a:endCxn id="28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20" idx="2"/>
              <a:endCxn id="29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8" idx="2"/>
              <a:endCxn id="30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5" idx="2"/>
              <a:endCxn id="30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9" idx="2"/>
              <a:endCxn id="29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29" idx="2"/>
              <a:endCxn id="31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26" idx="2"/>
              <a:endCxn id="31" idx="0"/>
            </p:cNvCxnSpPr>
            <p:nvPr/>
          </p:nvCxnSpPr>
          <p:spPr>
            <a:xfrm>
              <a:off x="2054435" y="3938944"/>
              <a:ext cx="1539301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64018"/>
              </p:ext>
            </p:extLst>
          </p:nvPr>
        </p:nvGraphicFramePr>
        <p:xfrm>
          <a:off x="2284723" y="2015431"/>
          <a:ext cx="4498975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5" name="Equation" r:id="rId6" imgW="2019240" imgH="723600" progId="Equation.DSMT4">
                  <p:embed/>
                </p:oleObj>
              </mc:Choice>
              <mc:Fallback>
                <p:oleObj name="Equation" r:id="rId6" imgW="2019240" imgH="723600" progId="Equation.DSMT4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4723" y="2015431"/>
                        <a:ext cx="4498975" cy="169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3242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6738032" y="4221088"/>
            <a:ext cx="3606441" cy="648072"/>
          </a:xfrm>
          <a:prstGeom prst="ellipse">
            <a:avLst/>
          </a:prstGeom>
          <a:solidFill>
            <a:srgbClr val="FF9999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Apply to Relationships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</a:t>
            </a:r>
            <a:r>
              <a:rPr lang="en-GB" b="1" baseline="-25000" dirty="0"/>
              <a:t>1</a:t>
            </a:r>
            <a:r>
              <a:rPr lang="en-GB" dirty="0"/>
              <a:t> matrix … Van </a:t>
            </a:r>
            <a:r>
              <a:rPr lang="en-GB" dirty="0" err="1"/>
              <a:t>Raden</a:t>
            </a:r>
            <a:r>
              <a:rPr lang="en-GB" dirty="0"/>
              <a:t> 1 for the base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453050"/>
              </p:ext>
            </p:extLst>
          </p:nvPr>
        </p:nvGraphicFramePr>
        <p:xfrm>
          <a:off x="5695950" y="2987637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7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95950" y="2987637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870855"/>
              </p:ext>
            </p:extLst>
          </p:nvPr>
        </p:nvGraphicFramePr>
        <p:xfrm>
          <a:off x="5638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8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30516"/>
              </p:ext>
            </p:extLst>
          </p:nvPr>
        </p:nvGraphicFramePr>
        <p:xfrm>
          <a:off x="7395048" y="2100023"/>
          <a:ext cx="21362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59">
                  <a:extLst>
                    <a:ext uri="{9D8B030D-6E8A-4147-A177-3AD203B41FA5}">
                      <a16:colId xmlns:a16="http://schemas.microsoft.com/office/drawing/2014/main" val="382555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8300255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403297822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1636970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56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03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78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11257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6610350" y="4437112"/>
            <a:ext cx="3340100" cy="1483360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15" name="Rectangle 14"/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2" name="Straight Arrow Connector 31"/>
            <p:cNvCxnSpPr>
              <a:stCxn id="15" idx="2"/>
              <a:endCxn id="21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5" idx="2"/>
              <a:endCxn id="25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6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6" idx="2"/>
              <a:endCxn id="25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5" idx="2"/>
              <a:endCxn id="26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5" idx="2"/>
              <a:endCxn id="27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6" idx="2"/>
              <a:endCxn id="26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6" idx="2"/>
              <a:endCxn id="27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2"/>
              <a:endCxn id="28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9" idx="2"/>
              <a:endCxn id="28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20" idx="2"/>
              <a:endCxn id="29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8" idx="2"/>
              <a:endCxn id="30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5" idx="2"/>
              <a:endCxn id="30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9" idx="2"/>
              <a:endCxn id="29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29" idx="2"/>
              <a:endCxn id="31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26" idx="2"/>
              <a:endCxn id="31" idx="0"/>
            </p:cNvCxnSpPr>
            <p:nvPr/>
          </p:nvCxnSpPr>
          <p:spPr>
            <a:xfrm>
              <a:off x="2054435" y="3938944"/>
              <a:ext cx="1539301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70737"/>
              </p:ext>
            </p:extLst>
          </p:nvPr>
        </p:nvGraphicFramePr>
        <p:xfrm>
          <a:off x="2284723" y="2015431"/>
          <a:ext cx="4498975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9" name="Equation" r:id="rId6" imgW="2019240" imgH="723600" progId="Equation.DSMT4">
                  <p:embed/>
                </p:oleObj>
              </mc:Choice>
              <mc:Fallback>
                <p:oleObj name="Equation" r:id="rId6" imgW="2019240" imgH="72360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4723" y="2015431"/>
                        <a:ext cx="4498975" cy="169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7648" y="4221088"/>
            <a:ext cx="3168352" cy="523220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c.f. 0.75V</a:t>
            </a:r>
            <a:r>
              <a:rPr lang="en-GB" sz="2800" baseline="-25000" dirty="0"/>
              <a:t>A</a:t>
            </a:r>
            <a:r>
              <a:rPr lang="en-GB" sz="28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2143683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Estimates of V</a:t>
            </a:r>
            <a:r>
              <a:rPr lang="en-GB" baseline="-25000" dirty="0"/>
              <a:t>A</a:t>
            </a:r>
            <a:r>
              <a:rPr lang="en-GB" dirty="0"/>
              <a:t> &amp; V</a:t>
            </a:r>
            <a:r>
              <a:rPr lang="en-GB" baseline="-25000" dirty="0"/>
              <a:t>G</a:t>
            </a:r>
            <a:r>
              <a:rPr lang="en-GB" dirty="0"/>
              <a:t> from different relationship matrices not directly comparable!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Compare models by: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GB" dirty="0"/>
              <a:t> defining a subset of interest </a:t>
            </a:r>
          </a:p>
          <a:p>
            <a:pPr marL="1371600" lvl="2" indent="-571500">
              <a:buFont typeface="+mj-lt"/>
              <a:buAutoNum type="romanLcPeriod"/>
            </a:pPr>
            <a:r>
              <a:rPr lang="en-GB" dirty="0"/>
              <a:t>e.g. whole population</a:t>
            </a:r>
          </a:p>
          <a:p>
            <a:pPr marL="1371600" lvl="2" indent="-571500">
              <a:buFont typeface="+mj-lt"/>
              <a:buAutoNum type="romanLcPeriod"/>
            </a:pPr>
            <a:r>
              <a:rPr lang="en-GB" dirty="0"/>
              <a:t>e.g. genotyped individuals</a:t>
            </a:r>
          </a:p>
          <a:p>
            <a:pPr marL="971550" lvl="1" indent="-571500">
              <a:buFont typeface="+mj-lt"/>
              <a:buAutoNum type="alphaLcParenR"/>
            </a:pPr>
            <a:r>
              <a:rPr lang="en-GB" dirty="0"/>
              <a:t>estimate variance, estimate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 etc. on same subset for each relationship matrix</a:t>
            </a:r>
            <a:endParaRPr lang="en-GB" u="sng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158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Genetic Variances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 subset S … e.g. for </a:t>
            </a:r>
            <a:r>
              <a:rPr lang="en-GB" b="1" dirty="0"/>
              <a:t>A</a:t>
            </a:r>
            <a:endParaRPr lang="en-GB" dirty="0"/>
          </a:p>
          <a:p>
            <a:pPr lvl="1"/>
            <a:r>
              <a:rPr lang="en-GB" dirty="0"/>
              <a:t>find submatrix </a:t>
            </a:r>
            <a:r>
              <a:rPr lang="en-GB" b="1" dirty="0"/>
              <a:t>A</a:t>
            </a:r>
            <a:r>
              <a:rPr lang="en-GB" dirty="0"/>
              <a:t>[S]</a:t>
            </a:r>
          </a:p>
          <a:p>
            <a:pPr lvl="1"/>
            <a:r>
              <a:rPr lang="en-GB" dirty="0"/>
              <a:t>take average of diagonal of </a:t>
            </a:r>
            <a:r>
              <a:rPr lang="en-GB" b="1" dirty="0"/>
              <a:t>A</a:t>
            </a:r>
            <a:r>
              <a:rPr lang="en-GB" dirty="0"/>
              <a:t>[S]</a:t>
            </a:r>
          </a:p>
          <a:p>
            <a:pPr lvl="1"/>
            <a:r>
              <a:rPr lang="en-GB" dirty="0"/>
              <a:t>take average of all  </a:t>
            </a:r>
            <a:r>
              <a:rPr lang="en-GB" b="1" dirty="0"/>
              <a:t>A</a:t>
            </a:r>
            <a:r>
              <a:rPr lang="en-GB" dirty="0"/>
              <a:t>[S]</a:t>
            </a:r>
          </a:p>
          <a:p>
            <a:pPr lvl="1"/>
            <a:r>
              <a:rPr lang="en-GB" dirty="0"/>
              <a:t>find difference, say </a:t>
            </a:r>
            <a:r>
              <a:rPr lang="en-GB" i="1" dirty="0"/>
              <a:t>k</a:t>
            </a:r>
          </a:p>
          <a:p>
            <a:pPr lvl="1"/>
            <a:r>
              <a:rPr lang="en-GB" dirty="0"/>
              <a:t>estimated variance within S is  </a:t>
            </a:r>
          </a:p>
          <a:p>
            <a:pPr lvl="1"/>
            <a:r>
              <a:rPr lang="en-GB" dirty="0" err="1"/>
              <a:t>s.e.</a:t>
            </a:r>
            <a:r>
              <a:rPr lang="en-GB" dirty="0"/>
              <a:t> (      )  is</a:t>
            </a:r>
          </a:p>
          <a:p>
            <a:pPr lvl="1"/>
            <a:r>
              <a:rPr lang="en-GB" dirty="0"/>
              <a:t>can calculate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[S] </a:t>
            </a:r>
          </a:p>
          <a:p>
            <a:pPr lvl="2"/>
            <a:r>
              <a:rPr lang="en-GB" dirty="0"/>
              <a:t>e.g.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202327"/>
              </p:ext>
            </p:extLst>
          </p:nvPr>
        </p:nvGraphicFramePr>
        <p:xfrm>
          <a:off x="6023992" y="3771380"/>
          <a:ext cx="7254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1" name="Equation" r:id="rId3" imgW="266400" imgH="253800" progId="Equation.DSMT4">
                  <p:embed/>
                </p:oleObj>
              </mc:Choice>
              <mc:Fallback>
                <p:oleObj name="Equation" r:id="rId3" imgW="266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23992" y="3771380"/>
                        <a:ext cx="725488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614941"/>
              </p:ext>
            </p:extLst>
          </p:nvPr>
        </p:nvGraphicFramePr>
        <p:xfrm>
          <a:off x="3215680" y="4293096"/>
          <a:ext cx="16573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name="Equation" r:id="rId5" imgW="609480" imgH="253800" progId="Equation.DSMT4">
                  <p:embed/>
                </p:oleObj>
              </mc:Choice>
              <mc:Fallback>
                <p:oleObj name="Equation" r:id="rId5" imgW="60948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5680" y="4293096"/>
                        <a:ext cx="1657350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07568" y="5373217"/>
            <a:ext cx="633670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 err="1"/>
              <a:t>vpredict</a:t>
            </a:r>
            <a:r>
              <a:rPr lang="en-GB" sz="2400" i="1" dirty="0"/>
              <a:t>( </a:t>
            </a:r>
            <a:r>
              <a:rPr lang="en-GB" sz="2400" dirty="0" err="1"/>
              <a:t>my.asr</a:t>
            </a:r>
            <a:r>
              <a:rPr lang="en-GB" sz="2400" dirty="0"/>
              <a:t>, </a:t>
            </a:r>
            <a:r>
              <a:rPr lang="en-GB" sz="2400" dirty="0" err="1"/>
              <a:t>hh</a:t>
            </a:r>
            <a:r>
              <a:rPr lang="en-GB" sz="2400" dirty="0"/>
              <a:t>[S] ~ k*V1/(k*V1+V2) </a:t>
            </a:r>
            <a:r>
              <a:rPr lang="en-GB" sz="2400" i="1" dirty="0"/>
              <a:t>)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9BBB4A2-F6A0-C1D2-467C-38C7E579F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35329"/>
              </p:ext>
            </p:extLst>
          </p:nvPr>
        </p:nvGraphicFramePr>
        <p:xfrm>
          <a:off x="1821656" y="4320057"/>
          <a:ext cx="7254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Equation" r:id="rId3" imgW="266400" imgH="253800" progId="Equation.DSMT4">
                  <p:embed/>
                </p:oleObj>
              </mc:Choice>
              <mc:Fallback>
                <p:oleObj name="Equation" r:id="rId3" imgW="26640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1656" y="4320057"/>
                        <a:ext cx="725488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9007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Genetic Variances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 subset S … e.g. for </a:t>
            </a:r>
            <a:r>
              <a:rPr lang="en-GB" b="1" dirty="0"/>
              <a:t>A</a:t>
            </a:r>
            <a:endParaRPr lang="en-GB" dirty="0"/>
          </a:p>
          <a:p>
            <a:pPr lvl="1"/>
            <a:r>
              <a:rPr lang="en-GB" dirty="0"/>
              <a:t>find submatrix </a:t>
            </a:r>
            <a:r>
              <a:rPr lang="en-GB" b="1" dirty="0"/>
              <a:t>A</a:t>
            </a:r>
            <a:r>
              <a:rPr lang="en-GB" dirty="0"/>
              <a:t>[S]</a:t>
            </a:r>
          </a:p>
          <a:p>
            <a:pPr lvl="1"/>
            <a:r>
              <a:rPr lang="en-GB" dirty="0"/>
              <a:t>take average of diagonal of </a:t>
            </a:r>
            <a:r>
              <a:rPr lang="en-GB" b="1" dirty="0"/>
              <a:t>A</a:t>
            </a:r>
            <a:r>
              <a:rPr lang="en-GB" dirty="0"/>
              <a:t>[S]</a:t>
            </a:r>
          </a:p>
          <a:p>
            <a:pPr lvl="1"/>
            <a:r>
              <a:rPr lang="en-GB" dirty="0"/>
              <a:t>take average of all  </a:t>
            </a:r>
            <a:r>
              <a:rPr lang="en-GB" b="1" dirty="0"/>
              <a:t>A</a:t>
            </a:r>
            <a:r>
              <a:rPr lang="en-GB" dirty="0"/>
              <a:t>[S]</a:t>
            </a:r>
          </a:p>
          <a:p>
            <a:pPr lvl="1"/>
            <a:r>
              <a:rPr lang="en-GB" dirty="0"/>
              <a:t>find difference, say </a:t>
            </a:r>
            <a:r>
              <a:rPr lang="en-GB" i="1" dirty="0"/>
              <a:t>k</a:t>
            </a:r>
          </a:p>
          <a:p>
            <a:pPr lvl="1"/>
            <a:r>
              <a:rPr lang="en-GB" dirty="0"/>
              <a:t>estimated variance within S is  </a:t>
            </a:r>
          </a:p>
          <a:p>
            <a:pPr lvl="1"/>
            <a:r>
              <a:rPr lang="en-GB" dirty="0"/>
              <a:t>s.e. is</a:t>
            </a:r>
          </a:p>
          <a:p>
            <a:pPr lvl="1"/>
            <a:r>
              <a:rPr lang="en-GB" dirty="0"/>
              <a:t>can calculate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[S] </a:t>
            </a:r>
          </a:p>
          <a:p>
            <a:pPr lvl="2"/>
            <a:r>
              <a:rPr lang="en-GB" dirty="0"/>
              <a:t>e.g.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697604"/>
              </p:ext>
            </p:extLst>
          </p:nvPr>
        </p:nvGraphicFramePr>
        <p:xfrm>
          <a:off x="6248400" y="3771900"/>
          <a:ext cx="7604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Equation" r:id="rId3" imgW="279360" imgH="253800" progId="Equation.DSMT4">
                  <p:embed/>
                </p:oleObj>
              </mc:Choice>
              <mc:Fallback>
                <p:oleObj name="Equation" r:id="rId3" imgW="27936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8400" y="3771900"/>
                        <a:ext cx="760413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853746"/>
              </p:ext>
            </p:extLst>
          </p:nvPr>
        </p:nvGraphicFramePr>
        <p:xfrm>
          <a:off x="2355850" y="4292600"/>
          <a:ext cx="17954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Equation" r:id="rId5" imgW="660240" imgH="253800" progId="Equation.DSMT4">
                  <p:embed/>
                </p:oleObj>
              </mc:Choice>
              <mc:Fallback>
                <p:oleObj name="Equation" r:id="rId5" imgW="660240" imgH="2538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5850" y="4292600"/>
                        <a:ext cx="1795463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75720" y="5373217"/>
            <a:ext cx="633670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vpredict</a:t>
            </a:r>
            <a:r>
              <a:rPr lang="en-GB" sz="2400" dirty="0"/>
              <a:t>( </a:t>
            </a:r>
            <a:r>
              <a:rPr lang="en-GB" sz="2400" dirty="0" err="1"/>
              <a:t>my.asr</a:t>
            </a:r>
            <a:r>
              <a:rPr lang="en-GB" sz="2400" dirty="0"/>
              <a:t>, </a:t>
            </a:r>
            <a:r>
              <a:rPr lang="en-GB" sz="2400" dirty="0" err="1"/>
              <a:t>hh</a:t>
            </a:r>
            <a:r>
              <a:rPr lang="en-GB" sz="2400" dirty="0"/>
              <a:t>[S] ~ k*V1/(k*V1+V2)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7856" y="4068242"/>
            <a:ext cx="2296616" cy="1200329"/>
          </a:xfrm>
          <a:prstGeom prst="rect">
            <a:avLst/>
          </a:prstGeom>
          <a:solidFill>
            <a:srgbClr val="FFCC66"/>
          </a:solidFill>
          <a:ln>
            <a:solidFill>
              <a:srgbClr val="FF9999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Strictly V2 should also be replaced by (1-n</a:t>
            </a:r>
            <a:r>
              <a:rPr lang="en-GB" baseline="30000" dirty="0"/>
              <a:t>-1</a:t>
            </a:r>
            <a:r>
              <a:rPr lang="en-GB" dirty="0"/>
              <a:t>)V</a:t>
            </a:r>
            <a:r>
              <a:rPr lang="en-GB" baseline="-25000" dirty="0"/>
              <a:t>2</a:t>
            </a:r>
            <a:r>
              <a:rPr lang="en-GB" dirty="0"/>
              <a:t> where n is size of S</a:t>
            </a:r>
          </a:p>
        </p:txBody>
      </p:sp>
    </p:spTree>
    <p:extLst>
      <p:ext uri="{BB962C8B-B14F-4D97-AF65-F5344CB8AC3E}">
        <p14:creationId xmlns:p14="http://schemas.microsoft.com/office/powerpoint/2010/main" val="1107678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874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945842"/>
              </p:ext>
            </p:extLst>
          </p:nvPr>
        </p:nvGraphicFramePr>
        <p:xfrm>
          <a:off x="1703388" y="1780024"/>
          <a:ext cx="87852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292">
                  <a:extLst>
                    <a:ext uri="{9D8B030D-6E8A-4147-A177-3AD203B41FA5}">
                      <a16:colId xmlns:a16="http://schemas.microsoft.com/office/drawing/2014/main" val="231102012"/>
                    </a:ext>
                  </a:extLst>
                </a:gridCol>
                <a:gridCol w="1416116">
                  <a:extLst>
                    <a:ext uri="{9D8B030D-6E8A-4147-A177-3AD203B41FA5}">
                      <a16:colId xmlns:a16="http://schemas.microsoft.com/office/drawing/2014/main" val="72618059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584847740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152204552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173467611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75784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Target Population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1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Matrix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3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42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363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FG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655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r>
                        <a:rPr lang="en-GB" sz="1800" baseline="-25000" dirty="0"/>
                        <a:t>+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9244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697B8B-A4F5-476F-A680-8191BD338EC5}" type="datetime4">
              <a:rPr lang="en-GB">
                <a:solidFill>
                  <a:srgbClr val="000000"/>
                </a:solidFill>
                <a:cs typeface="Arial"/>
              </a:rPr>
              <a:pPr>
                <a:defRPr/>
              </a:pPr>
              <a:t>09 February 2025</a:t>
            </a:fld>
            <a:endParaRPr lang="en-GB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  <a:cs typeface="Arial"/>
              </a:rPr>
              <a:t>Lecture 9</a:t>
            </a:r>
            <a:endParaRPr lang="en-GB" dirty="0">
              <a:solidFill>
                <a:srgbClr val="000000"/>
              </a:solidFill>
              <a:cs typeface="Arial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23933"/>
              </p:ext>
            </p:extLst>
          </p:nvPr>
        </p:nvGraphicFramePr>
        <p:xfrm>
          <a:off x="6168009" y="2204864"/>
          <a:ext cx="1234927" cy="38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9" y="2204864"/>
                        <a:ext cx="1234927" cy="385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03388" y="1167135"/>
            <a:ext cx="878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cs typeface="Arial"/>
              </a:rPr>
              <a:t>In table below V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the component,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V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FG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or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A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+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</a:t>
            </a:r>
            <a:endParaRPr lang="en-GB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67408" y="4399944"/>
            <a:ext cx="211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endParaRPr lang="en-GB" baseline="-25000" dirty="0">
              <a:solidFill>
                <a:srgbClr val="000000"/>
              </a:solidFill>
              <a:cs typeface="Arial"/>
            </a:endParaRP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Pedigree has data and genotypes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40016" y="4399944"/>
            <a:ext cx="27778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+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Data and genotypes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as for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plus 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additional pedigree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C8B488-AB56-31BB-1268-ABCFF647F78C}"/>
              </a:ext>
            </a:extLst>
          </p:cNvPr>
          <p:cNvGrpSpPr>
            <a:grpSpLocks noChangeAspect="1"/>
          </p:cNvGrpSpPr>
          <p:nvPr/>
        </p:nvGrpSpPr>
        <p:grpSpPr>
          <a:xfrm>
            <a:off x="3143672" y="4548652"/>
            <a:ext cx="2353602" cy="1036948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6DA926-883C-B33D-124F-2BA52AEAB75B}"/>
                </a:ext>
              </a:extLst>
            </p:cNvPr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A4B0F0-8685-C462-76F4-BD2DFD5A95EA}"/>
                </a:ext>
              </a:extLst>
            </p:cNvPr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9FA98FC-D2F8-7450-44CB-5C7EBC28626C}"/>
                </a:ext>
              </a:extLst>
            </p:cNvPr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A82EE7C-1C02-70A9-F2C8-5F74DD179A4A}"/>
                </a:ext>
              </a:extLst>
            </p:cNvPr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A250031-A1F0-50F4-03AE-62D2A76FE09F}"/>
                </a:ext>
              </a:extLst>
            </p:cNvPr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90310C9-E74C-C81E-7980-53A19E07F1D1}"/>
                </a:ext>
              </a:extLst>
            </p:cNvPr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917571F-0D92-984F-3F94-0A21D1A86889}"/>
                </a:ext>
              </a:extLst>
            </p:cNvPr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BA218A1-8F1F-3D04-6E59-7FBD0D79DBC1}"/>
                </a:ext>
              </a:extLst>
            </p:cNvPr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3413D02-EE31-BB5F-57F0-DF463F764A31}"/>
                </a:ext>
              </a:extLst>
            </p:cNvPr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0D42DBB-8A38-CA2D-55F0-DFF11329B91B}"/>
                </a:ext>
              </a:extLst>
            </p:cNvPr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C6A54BF-D001-E2E7-26C7-E1B156B75B68}"/>
                </a:ext>
              </a:extLst>
            </p:cNvPr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720B3E6-D414-A730-7AA6-0D9C540E275D}"/>
                </a:ext>
              </a:extLst>
            </p:cNvPr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88DA0C5-797F-173F-C5EE-B426DE12BE11}"/>
                </a:ext>
              </a:extLst>
            </p:cNvPr>
            <p:cNvCxnSpPr>
              <a:stCxn id="9" idx="2"/>
              <a:endCxn id="92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CC85D7A-7962-A534-343C-31FD249D3CC3}"/>
                </a:ext>
              </a:extLst>
            </p:cNvPr>
            <p:cNvCxnSpPr>
              <a:stCxn id="9" idx="2"/>
              <a:endCxn id="93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97D14AED-A183-0B1A-0E2E-31BE46F2DB9E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36448F7A-4BCE-1DCE-1387-690F8EE4EE42}"/>
                </a:ext>
              </a:extLst>
            </p:cNvPr>
            <p:cNvCxnSpPr>
              <a:stCxn id="11" idx="2"/>
              <a:endCxn id="93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F62CA614-AE07-9FC9-A9EC-7819712831CA}"/>
                </a:ext>
              </a:extLst>
            </p:cNvPr>
            <p:cNvCxnSpPr>
              <a:stCxn id="9" idx="2"/>
              <a:endCxn id="94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205F321C-4A1A-53A6-CDC3-B1288EA589DF}"/>
                </a:ext>
              </a:extLst>
            </p:cNvPr>
            <p:cNvCxnSpPr>
              <a:stCxn id="9" idx="2"/>
              <a:endCxn id="95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0045C918-1F8A-AF57-F0F7-7E0FA6FE2660}"/>
                </a:ext>
              </a:extLst>
            </p:cNvPr>
            <p:cNvCxnSpPr>
              <a:stCxn id="11" idx="2"/>
              <a:endCxn id="94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95E66B7-B9DB-D457-DA13-1C3C97B7AA3E}"/>
                </a:ext>
              </a:extLst>
            </p:cNvPr>
            <p:cNvCxnSpPr>
              <a:stCxn id="11" idx="2"/>
              <a:endCxn id="95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DAD00B60-1BB1-8719-5D11-C3FE8CAA7175}"/>
                </a:ext>
              </a:extLst>
            </p:cNvPr>
            <p:cNvCxnSpPr>
              <a:stCxn id="91" idx="2"/>
              <a:endCxn id="96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BB8A055-DC80-0560-B155-326A2FA639DA}"/>
                </a:ext>
              </a:extLst>
            </p:cNvPr>
            <p:cNvCxnSpPr>
              <a:stCxn id="88" idx="2"/>
              <a:endCxn id="96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43BF79E-1E5B-A4D4-B373-807AD65AAD17}"/>
                </a:ext>
              </a:extLst>
            </p:cNvPr>
            <p:cNvCxnSpPr>
              <a:stCxn id="91" idx="2"/>
              <a:endCxn id="97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646FA4D-C780-A137-190C-EE752FBCAD7C}"/>
                </a:ext>
              </a:extLst>
            </p:cNvPr>
            <p:cNvCxnSpPr>
              <a:stCxn id="96" idx="2"/>
              <a:endCxn id="98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FE1820DA-32CB-AE83-0F3E-BEEC3DC4015A}"/>
                </a:ext>
              </a:extLst>
            </p:cNvPr>
            <p:cNvCxnSpPr>
              <a:stCxn id="93" idx="2"/>
              <a:endCxn id="98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BCB5978F-0F0E-EE54-6D58-B622C97CFDD0}"/>
                </a:ext>
              </a:extLst>
            </p:cNvPr>
            <p:cNvCxnSpPr>
              <a:stCxn id="88" idx="2"/>
              <a:endCxn id="97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E9004AA-03D2-FD54-C721-BD2BDEE7174F}"/>
                </a:ext>
              </a:extLst>
            </p:cNvPr>
            <p:cNvCxnSpPr>
              <a:stCxn id="97" idx="2"/>
              <a:endCxn id="99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5763FCD-D583-DD94-37BD-45C853C0B3A5}"/>
                </a:ext>
              </a:extLst>
            </p:cNvPr>
            <p:cNvCxnSpPr>
              <a:stCxn id="94" idx="2"/>
              <a:endCxn id="99" idx="0"/>
            </p:cNvCxnSpPr>
            <p:nvPr/>
          </p:nvCxnSpPr>
          <p:spPr>
            <a:xfrm>
              <a:off x="2054435" y="3938944"/>
              <a:ext cx="1539301" cy="509999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02C2B38-3A48-0C49-D59A-48B50B91F9F5}"/>
              </a:ext>
            </a:extLst>
          </p:cNvPr>
          <p:cNvGrpSpPr>
            <a:grpSpLocks noChangeAspect="1"/>
          </p:cNvGrpSpPr>
          <p:nvPr/>
        </p:nvGrpSpPr>
        <p:grpSpPr>
          <a:xfrm>
            <a:off x="8926176" y="4149080"/>
            <a:ext cx="2354400" cy="1922918"/>
            <a:chOff x="5062023" y="2996952"/>
            <a:chExt cx="3254393" cy="26579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9542D31-BCB6-72AC-3836-A1FDF7890E20}"/>
                </a:ext>
              </a:extLst>
            </p:cNvPr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95C425D-4463-BEF4-8E7F-7F10AC4B60B2}"/>
                </a:ext>
              </a:extLst>
            </p:cNvPr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FEBF492-7467-B917-CE4B-D3EDB0934567}"/>
                </a:ext>
              </a:extLst>
            </p:cNvPr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105416A-F8E3-A339-0049-F121CFE1D334}"/>
                </a:ext>
              </a:extLst>
            </p:cNvPr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D23B53A-690E-AEAA-4913-B21D44E661F4}"/>
                </a:ext>
              </a:extLst>
            </p:cNvPr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A9A2F1A-397D-E738-47B2-A63FD63EF6FB}"/>
                </a:ext>
              </a:extLst>
            </p:cNvPr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4365A65-6C92-AB12-BBED-A5D1A74A56D9}"/>
                </a:ext>
              </a:extLst>
            </p:cNvPr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25C60F9-4544-EDE8-1307-1BE32C66E55A}"/>
                </a:ext>
              </a:extLst>
            </p:cNvPr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6C18065-C117-7D64-B3EB-E48EA1608941}"/>
                </a:ext>
              </a:extLst>
            </p:cNvPr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F6831E3-AA67-799A-6336-5F66310E9822}"/>
                </a:ext>
              </a:extLst>
            </p:cNvPr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D8F5786-3821-5B74-8A85-05E7DEE915F5}"/>
                </a:ext>
              </a:extLst>
            </p:cNvPr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4157627-C6CE-B59D-6CAA-5E7DB5BCACC4}"/>
                </a:ext>
              </a:extLst>
            </p:cNvPr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268EF3AD-7324-AF43-F7D2-5767F9613713}"/>
                </a:ext>
              </a:extLst>
            </p:cNvPr>
            <p:cNvCxnSpPr>
              <a:stCxn id="117" idx="2"/>
              <a:endCxn id="121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B603AC53-7338-52B2-CD12-FAF72AA7A08B}"/>
                </a:ext>
              </a:extLst>
            </p:cNvPr>
            <p:cNvCxnSpPr>
              <a:stCxn id="117" idx="2"/>
              <a:endCxn id="122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71A57C6C-211F-8E61-3E14-095F0A322E56}"/>
                </a:ext>
              </a:extLst>
            </p:cNvPr>
            <p:cNvCxnSpPr>
              <a:stCxn id="118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46C7D0B6-6815-C2BA-CEE6-793751C88340}"/>
                </a:ext>
              </a:extLst>
            </p:cNvPr>
            <p:cNvCxnSpPr>
              <a:stCxn id="118" idx="2"/>
              <a:endCxn id="122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F644ACA-7ABB-194C-4A3D-CC7A19751F04}"/>
                </a:ext>
              </a:extLst>
            </p:cNvPr>
            <p:cNvCxnSpPr>
              <a:stCxn id="117" idx="2"/>
              <a:endCxn id="123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2C1F445-9F76-1D2A-538E-861F7206128A}"/>
                </a:ext>
              </a:extLst>
            </p:cNvPr>
            <p:cNvCxnSpPr>
              <a:stCxn id="117" idx="2"/>
              <a:endCxn id="124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FC46B6D0-60DE-AD43-98C3-C54054E2FB41}"/>
                </a:ext>
              </a:extLst>
            </p:cNvPr>
            <p:cNvCxnSpPr>
              <a:stCxn id="118" idx="2"/>
              <a:endCxn id="123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9DF4E27-7464-800B-70C6-A3FC0859DAF4}"/>
                </a:ext>
              </a:extLst>
            </p:cNvPr>
            <p:cNvCxnSpPr>
              <a:stCxn id="118" idx="2"/>
              <a:endCxn id="124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33EAC343-577A-2DC2-AE0E-8075712912D4}"/>
                </a:ext>
              </a:extLst>
            </p:cNvPr>
            <p:cNvCxnSpPr>
              <a:stCxn id="120" idx="2"/>
              <a:endCxn id="125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E86AEDD3-7710-E3CF-BCED-E63CF519E1DB}"/>
                </a:ext>
              </a:extLst>
            </p:cNvPr>
            <p:cNvCxnSpPr>
              <a:stCxn id="119" idx="2"/>
              <a:endCxn id="125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83848D9C-CA86-F622-846A-39C92BEBB6C4}"/>
                </a:ext>
              </a:extLst>
            </p:cNvPr>
            <p:cNvCxnSpPr>
              <a:stCxn id="120" idx="2"/>
              <a:endCxn id="126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6240D22E-17A4-8135-1B35-71E285594FBA}"/>
                </a:ext>
              </a:extLst>
            </p:cNvPr>
            <p:cNvCxnSpPr>
              <a:stCxn id="125" idx="2"/>
              <a:endCxn id="127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C501D7C0-1156-7EBB-6FC8-07D7536943E0}"/>
                </a:ext>
              </a:extLst>
            </p:cNvPr>
            <p:cNvCxnSpPr>
              <a:stCxn id="122" idx="2"/>
              <a:endCxn id="127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C2B3591F-1FBB-FD86-5464-9C5F11B0908F}"/>
                </a:ext>
              </a:extLst>
            </p:cNvPr>
            <p:cNvCxnSpPr>
              <a:stCxn id="119" idx="2"/>
              <a:endCxn id="126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611C8599-8A12-4B72-A7B2-3F5805525D09}"/>
                </a:ext>
              </a:extLst>
            </p:cNvPr>
            <p:cNvCxnSpPr>
              <a:stCxn id="126" idx="2"/>
              <a:endCxn id="128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52595846-8C98-CDE1-12F6-001053FE6129}"/>
                </a:ext>
              </a:extLst>
            </p:cNvPr>
            <p:cNvCxnSpPr>
              <a:stCxn id="123" idx="2"/>
              <a:endCxn id="128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8D5314B-7A92-A23A-EC34-4C7236C0EA3D}"/>
                </a:ext>
              </a:extLst>
            </p:cNvPr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5888537-BF18-59CF-010F-0C188DED277D}"/>
                </a:ext>
              </a:extLst>
            </p:cNvPr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3D81D28-5E14-EF0E-B5B2-9623C0719216}"/>
                </a:ext>
              </a:extLst>
            </p:cNvPr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395EDE8-CC8B-8AFB-C38E-B79943CB9CEE}"/>
                </a:ext>
              </a:extLst>
            </p:cNvPr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61B458FB-7F7F-AD3C-4BFD-72F208E28EA7}"/>
                </a:ext>
              </a:extLst>
            </p:cNvPr>
            <p:cNvCxnSpPr>
              <a:stCxn id="146" idx="2"/>
              <a:endCxn id="147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E0EA55CF-503F-06D5-1CAA-75339E5D55BF}"/>
                </a:ext>
              </a:extLst>
            </p:cNvPr>
            <p:cNvCxnSpPr>
              <a:stCxn id="147" idx="2"/>
              <a:endCxn id="120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6BD07A1C-1013-9CB9-B58D-823DC1D6B7DC}"/>
                </a:ext>
              </a:extLst>
            </p:cNvPr>
            <p:cNvCxnSpPr>
              <a:stCxn id="146" idx="2"/>
              <a:endCxn id="148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0C1F1F58-D7A7-DF39-3C31-7F6D7B7640C9}"/>
                </a:ext>
              </a:extLst>
            </p:cNvPr>
            <p:cNvCxnSpPr>
              <a:stCxn id="145" idx="2"/>
              <a:endCxn id="148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C9691A89-DB75-441E-5F5E-5668FDC6841B}"/>
                </a:ext>
              </a:extLst>
            </p:cNvPr>
            <p:cNvCxnSpPr>
              <a:stCxn id="147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4C42D203-37E0-E97B-971E-E060F842B2D8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78247B9-7F9B-AE4E-F57E-A529DA6C6BA1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2215E3D3-B9CF-AA0F-C7BB-A2B3DB9798CF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729656-99D3-353B-42C5-607509F1D89D}"/>
                </a:ext>
              </a:extLst>
            </p:cNvPr>
            <p:cNvCxnSpPr>
              <a:stCxn id="147" idx="2"/>
              <a:endCxn id="119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EF8097DF-7A2C-C16D-FF42-69C5A2F6D8AB}"/>
                </a:ext>
              </a:extLst>
            </p:cNvPr>
            <p:cNvCxnSpPr>
              <a:stCxn id="148" idx="2"/>
              <a:endCxn id="120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4486B432-AFDF-A897-DA13-CD86143E00BC}"/>
                </a:ext>
              </a:extLst>
            </p:cNvPr>
            <p:cNvCxnSpPr>
              <a:stCxn id="148" idx="2"/>
              <a:endCxn id="117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0A795995-1A16-725F-483F-297A26E08271}"/>
                </a:ext>
              </a:extLst>
            </p:cNvPr>
            <p:cNvCxnSpPr>
              <a:stCxn id="148" idx="2"/>
              <a:endCxn id="118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E2599CF2-7498-2332-6F96-34C1675DC6B2}"/>
                </a:ext>
              </a:extLst>
            </p:cNvPr>
            <p:cNvCxnSpPr>
              <a:stCxn id="148" idx="2"/>
              <a:endCxn id="119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39C7883B-4B2D-7C95-E99E-15C8C658A2E9}"/>
                </a:ext>
              </a:extLst>
            </p:cNvPr>
            <p:cNvCxnSpPr>
              <a:stCxn id="145" idx="2"/>
              <a:endCxn id="147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9328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2D48A-17AA-B464-E3D7-CC2B1B3DB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B46A-8E63-94C4-3FFA-3D34803D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698DEAF-B171-07CF-BDBE-8C8B7250EC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238894"/>
              </p:ext>
            </p:extLst>
          </p:nvPr>
        </p:nvGraphicFramePr>
        <p:xfrm>
          <a:off x="1703388" y="1780024"/>
          <a:ext cx="87852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292">
                  <a:extLst>
                    <a:ext uri="{9D8B030D-6E8A-4147-A177-3AD203B41FA5}">
                      <a16:colId xmlns:a16="http://schemas.microsoft.com/office/drawing/2014/main" val="231102012"/>
                    </a:ext>
                  </a:extLst>
                </a:gridCol>
                <a:gridCol w="1416116">
                  <a:extLst>
                    <a:ext uri="{9D8B030D-6E8A-4147-A177-3AD203B41FA5}">
                      <a16:colId xmlns:a16="http://schemas.microsoft.com/office/drawing/2014/main" val="72618059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584847740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152204552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173467611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75784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Target Population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1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Matrix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3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42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363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FG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655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r>
                        <a:rPr lang="en-GB" sz="1800" baseline="-25000" dirty="0"/>
                        <a:t>+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9244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8463F-3CB0-BB29-B289-27CFB493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697B8B-A4F5-476F-A680-8191BD338EC5}" type="datetime4">
              <a:rPr lang="en-GB">
                <a:solidFill>
                  <a:srgbClr val="000000"/>
                </a:solidFill>
                <a:cs typeface="Arial"/>
              </a:rPr>
              <a:pPr>
                <a:defRPr/>
              </a:pPr>
              <a:t>09 February 2025</a:t>
            </a:fld>
            <a:endParaRPr lang="en-GB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F254D-1B6B-F1AC-84CA-4625E3CF8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  <a:cs typeface="Arial"/>
              </a:rPr>
              <a:t>Lecture 9</a:t>
            </a:r>
            <a:endParaRPr lang="en-GB" dirty="0">
              <a:solidFill>
                <a:srgbClr val="000000"/>
              </a:solidFill>
              <a:cs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B372FC1-AC37-93A5-EAEA-5DFAD5827B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8009" y="2204864"/>
          <a:ext cx="1234927" cy="38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9" y="2204864"/>
                        <a:ext cx="1234927" cy="385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7C9D477-BBED-DC19-F2FF-E244FC24512A}"/>
              </a:ext>
            </a:extLst>
          </p:cNvPr>
          <p:cNvSpPr txBox="1"/>
          <p:nvPr/>
        </p:nvSpPr>
        <p:spPr>
          <a:xfrm>
            <a:off x="1703388" y="1167135"/>
            <a:ext cx="878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cs typeface="Arial"/>
              </a:rPr>
              <a:t>In table below V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the component,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V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FG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or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A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+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</a:t>
            </a:r>
            <a:endParaRPr lang="en-GB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A74E986-90C1-D1E7-819A-FAEB6E28EEAD}"/>
              </a:ext>
            </a:extLst>
          </p:cNvPr>
          <p:cNvSpPr txBox="1"/>
          <p:nvPr/>
        </p:nvSpPr>
        <p:spPr>
          <a:xfrm>
            <a:off x="767408" y="4399944"/>
            <a:ext cx="211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endParaRPr lang="en-GB" baseline="-25000" dirty="0">
              <a:solidFill>
                <a:srgbClr val="000000"/>
              </a:solidFill>
              <a:cs typeface="Arial"/>
            </a:endParaRP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Pedigree has data and genotypes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B7FCE23-22D3-0607-82E9-EF4E93639347}"/>
              </a:ext>
            </a:extLst>
          </p:cNvPr>
          <p:cNvSpPr txBox="1"/>
          <p:nvPr/>
        </p:nvSpPr>
        <p:spPr>
          <a:xfrm>
            <a:off x="6240016" y="4399944"/>
            <a:ext cx="27778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+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Data and genotypes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as for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plus 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additional pedigree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B87520-E0A8-3C3B-06F8-32CA8D14F3D8}"/>
              </a:ext>
            </a:extLst>
          </p:cNvPr>
          <p:cNvGrpSpPr>
            <a:grpSpLocks noChangeAspect="1"/>
          </p:cNvGrpSpPr>
          <p:nvPr/>
        </p:nvGrpSpPr>
        <p:grpSpPr>
          <a:xfrm>
            <a:off x="3143672" y="4548652"/>
            <a:ext cx="2353602" cy="1036948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7217E9-6579-AD73-62A1-48FD9EDF1B04}"/>
                </a:ext>
              </a:extLst>
            </p:cNvPr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426E8E-A6BA-6193-CC50-F5453B348D47}"/>
                </a:ext>
              </a:extLst>
            </p:cNvPr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48F6FE0-0453-D0D8-3A09-F92D147D087D}"/>
                </a:ext>
              </a:extLst>
            </p:cNvPr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A0595F1-3F74-2FBD-3E88-1E79FBE9277A}"/>
                </a:ext>
              </a:extLst>
            </p:cNvPr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9D9E632-99AF-F52C-6CDB-53DA033492B3}"/>
                </a:ext>
              </a:extLst>
            </p:cNvPr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853D43F-6FBF-7091-965F-346908B74098}"/>
                </a:ext>
              </a:extLst>
            </p:cNvPr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9AA1BA-DD46-5070-27B8-7A40ABCA5B58}"/>
                </a:ext>
              </a:extLst>
            </p:cNvPr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8C5E268-F43F-CC6D-DCEA-AE2999A4749E}"/>
                </a:ext>
              </a:extLst>
            </p:cNvPr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E69058E-43A5-B8DC-EA6C-669DD38C2C6B}"/>
                </a:ext>
              </a:extLst>
            </p:cNvPr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13E02AB-63BA-A452-AFF0-F33F5DF4F6B1}"/>
                </a:ext>
              </a:extLst>
            </p:cNvPr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E7F4E37-38F0-2332-67D8-C6E620322085}"/>
                </a:ext>
              </a:extLst>
            </p:cNvPr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EA415D1-E298-A1B2-F18A-B857F7B64128}"/>
                </a:ext>
              </a:extLst>
            </p:cNvPr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BEC3BAB-7624-6269-FC19-0F454FB134A8}"/>
                </a:ext>
              </a:extLst>
            </p:cNvPr>
            <p:cNvCxnSpPr>
              <a:stCxn id="9" idx="2"/>
              <a:endCxn id="92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C5EA6937-7FF2-777D-3081-DD3097BA587E}"/>
                </a:ext>
              </a:extLst>
            </p:cNvPr>
            <p:cNvCxnSpPr>
              <a:stCxn id="9" idx="2"/>
              <a:endCxn id="93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C5EF852D-AFAD-412D-590B-98418AF69F9A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07C7748-EC96-ED2F-6B6D-8EC825251D4E}"/>
                </a:ext>
              </a:extLst>
            </p:cNvPr>
            <p:cNvCxnSpPr>
              <a:stCxn id="11" idx="2"/>
              <a:endCxn id="93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D3BAD6D-6C6E-4F76-04AA-3CABB625E1BC}"/>
                </a:ext>
              </a:extLst>
            </p:cNvPr>
            <p:cNvCxnSpPr>
              <a:stCxn id="9" idx="2"/>
              <a:endCxn id="94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0460D89-039B-D687-536F-DB9077148AF6}"/>
                </a:ext>
              </a:extLst>
            </p:cNvPr>
            <p:cNvCxnSpPr>
              <a:stCxn id="9" idx="2"/>
              <a:endCxn id="95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F4E5601-95ED-9CA2-07F0-54571AE04ADC}"/>
                </a:ext>
              </a:extLst>
            </p:cNvPr>
            <p:cNvCxnSpPr>
              <a:stCxn id="11" idx="2"/>
              <a:endCxn id="94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2FE6DF7-A68C-21D0-EB98-8C517D4BB5DA}"/>
                </a:ext>
              </a:extLst>
            </p:cNvPr>
            <p:cNvCxnSpPr>
              <a:stCxn id="11" idx="2"/>
              <a:endCxn id="95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2325A1E-51F6-19D5-41AF-D874703C0237}"/>
                </a:ext>
              </a:extLst>
            </p:cNvPr>
            <p:cNvCxnSpPr>
              <a:stCxn id="91" idx="2"/>
              <a:endCxn id="96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EC489593-4771-37CA-BFC0-579073FAF157}"/>
                </a:ext>
              </a:extLst>
            </p:cNvPr>
            <p:cNvCxnSpPr>
              <a:stCxn id="88" idx="2"/>
              <a:endCxn id="96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9D67932-930D-BFEB-A106-B224A788ED9B}"/>
                </a:ext>
              </a:extLst>
            </p:cNvPr>
            <p:cNvCxnSpPr>
              <a:stCxn id="91" idx="2"/>
              <a:endCxn id="97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E683F493-898E-D614-D0A9-C809A3AA94BB}"/>
                </a:ext>
              </a:extLst>
            </p:cNvPr>
            <p:cNvCxnSpPr>
              <a:stCxn id="96" idx="2"/>
              <a:endCxn id="98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580E5B3-8488-2585-68E0-D6D71AD772CD}"/>
                </a:ext>
              </a:extLst>
            </p:cNvPr>
            <p:cNvCxnSpPr>
              <a:stCxn id="93" idx="2"/>
              <a:endCxn id="98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5D8A578-8BEF-83B0-C671-D616321DABB2}"/>
                </a:ext>
              </a:extLst>
            </p:cNvPr>
            <p:cNvCxnSpPr>
              <a:stCxn id="88" idx="2"/>
              <a:endCxn id="97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2F261F4-D97F-3DF8-E1FD-41CE9FA4B702}"/>
                </a:ext>
              </a:extLst>
            </p:cNvPr>
            <p:cNvCxnSpPr>
              <a:stCxn id="97" idx="2"/>
              <a:endCxn id="99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3DDB12E-5C9B-5540-AEB9-C327CDAF3A59}"/>
                </a:ext>
              </a:extLst>
            </p:cNvPr>
            <p:cNvCxnSpPr>
              <a:stCxn id="94" idx="2"/>
              <a:endCxn id="99" idx="0"/>
            </p:cNvCxnSpPr>
            <p:nvPr/>
          </p:nvCxnSpPr>
          <p:spPr>
            <a:xfrm>
              <a:off x="2054435" y="3938944"/>
              <a:ext cx="1539301" cy="509999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ACBE5F2-C73C-49E0-D893-103D7BE2695C}"/>
              </a:ext>
            </a:extLst>
          </p:cNvPr>
          <p:cNvGrpSpPr>
            <a:grpSpLocks noChangeAspect="1"/>
          </p:cNvGrpSpPr>
          <p:nvPr/>
        </p:nvGrpSpPr>
        <p:grpSpPr>
          <a:xfrm>
            <a:off x="8926176" y="4149080"/>
            <a:ext cx="2354400" cy="1922918"/>
            <a:chOff x="5062023" y="2996952"/>
            <a:chExt cx="3254393" cy="26579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2CB6807-3E09-82C7-88B2-116773CFBF19}"/>
                </a:ext>
              </a:extLst>
            </p:cNvPr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70E6ED9-D9F9-39D4-8E22-4908C428E640}"/>
                </a:ext>
              </a:extLst>
            </p:cNvPr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D1F7E95-B4F3-8CE9-1A86-D3E04969445C}"/>
                </a:ext>
              </a:extLst>
            </p:cNvPr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EA47DD9-0B76-06D4-B72E-C7DD61D980C5}"/>
                </a:ext>
              </a:extLst>
            </p:cNvPr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88606FC-31BB-275E-9994-583A9180F7BB}"/>
                </a:ext>
              </a:extLst>
            </p:cNvPr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8ED11AB-7798-40DC-EEAE-98D0D6990748}"/>
                </a:ext>
              </a:extLst>
            </p:cNvPr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247E458-D1BC-6CE2-FC71-F0A35FA4BF04}"/>
                </a:ext>
              </a:extLst>
            </p:cNvPr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32EDA3A-1EE5-4646-7352-6B138A6A0D26}"/>
                </a:ext>
              </a:extLst>
            </p:cNvPr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5E229FE-A471-AED5-7499-FC2DB40785DF}"/>
                </a:ext>
              </a:extLst>
            </p:cNvPr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B9348AA-2774-676A-2C78-4425D988550B}"/>
                </a:ext>
              </a:extLst>
            </p:cNvPr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8F83A58-8269-0EFD-713A-4E139EA08889}"/>
                </a:ext>
              </a:extLst>
            </p:cNvPr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9E965FB-AB90-75B4-F0FC-5D986DE2CBB8}"/>
                </a:ext>
              </a:extLst>
            </p:cNvPr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CCB4AD3C-4AFB-0FEA-B9AC-BAC91216D8B9}"/>
                </a:ext>
              </a:extLst>
            </p:cNvPr>
            <p:cNvCxnSpPr>
              <a:stCxn id="117" idx="2"/>
              <a:endCxn id="121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552E3CAF-B68E-C7A7-3F9F-EE16379CD876}"/>
                </a:ext>
              </a:extLst>
            </p:cNvPr>
            <p:cNvCxnSpPr>
              <a:stCxn id="117" idx="2"/>
              <a:endCxn id="122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2EB895B-5279-3A06-7A37-2C5BECCA9357}"/>
                </a:ext>
              </a:extLst>
            </p:cNvPr>
            <p:cNvCxnSpPr>
              <a:stCxn id="118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69F66E0-09AD-345F-BC8F-FD2EDBCFC5AB}"/>
                </a:ext>
              </a:extLst>
            </p:cNvPr>
            <p:cNvCxnSpPr>
              <a:stCxn id="118" idx="2"/>
              <a:endCxn id="122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714174B9-54C8-1F13-B66C-3721A0CBC21F}"/>
                </a:ext>
              </a:extLst>
            </p:cNvPr>
            <p:cNvCxnSpPr>
              <a:stCxn id="117" idx="2"/>
              <a:endCxn id="123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3B41F674-B745-2477-19A7-BBB71637E34C}"/>
                </a:ext>
              </a:extLst>
            </p:cNvPr>
            <p:cNvCxnSpPr>
              <a:stCxn id="117" idx="2"/>
              <a:endCxn id="124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943A87D-5D09-E830-5989-37AD99317947}"/>
                </a:ext>
              </a:extLst>
            </p:cNvPr>
            <p:cNvCxnSpPr>
              <a:stCxn id="118" idx="2"/>
              <a:endCxn id="123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F43DA75D-BDDE-A5A9-EB64-ABE833DB5727}"/>
                </a:ext>
              </a:extLst>
            </p:cNvPr>
            <p:cNvCxnSpPr>
              <a:stCxn id="118" idx="2"/>
              <a:endCxn id="124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4792D7D5-103C-97EF-DCC4-D58A269BA494}"/>
                </a:ext>
              </a:extLst>
            </p:cNvPr>
            <p:cNvCxnSpPr>
              <a:stCxn id="120" idx="2"/>
              <a:endCxn id="125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B19B07C-32E2-484B-BE23-D53F305DAA54}"/>
                </a:ext>
              </a:extLst>
            </p:cNvPr>
            <p:cNvCxnSpPr>
              <a:stCxn id="119" idx="2"/>
              <a:endCxn id="125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603D3BDA-9324-7763-8A4D-169E776DA000}"/>
                </a:ext>
              </a:extLst>
            </p:cNvPr>
            <p:cNvCxnSpPr>
              <a:stCxn id="120" idx="2"/>
              <a:endCxn id="126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79307E24-D14B-FD35-D76E-D05D868C7913}"/>
                </a:ext>
              </a:extLst>
            </p:cNvPr>
            <p:cNvCxnSpPr>
              <a:stCxn id="125" idx="2"/>
              <a:endCxn id="127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206D8838-35C1-6137-D381-B41F22B7DE91}"/>
                </a:ext>
              </a:extLst>
            </p:cNvPr>
            <p:cNvCxnSpPr>
              <a:stCxn id="122" idx="2"/>
              <a:endCxn id="127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03DEBABE-E0FD-F395-1A5B-F737CBCD846B}"/>
                </a:ext>
              </a:extLst>
            </p:cNvPr>
            <p:cNvCxnSpPr>
              <a:stCxn id="119" idx="2"/>
              <a:endCxn id="126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0139B590-EC0D-869A-4D83-57C2764EDD03}"/>
                </a:ext>
              </a:extLst>
            </p:cNvPr>
            <p:cNvCxnSpPr>
              <a:stCxn id="126" idx="2"/>
              <a:endCxn id="128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2DBAF864-B9A5-76D7-0551-0CF52A481FD1}"/>
                </a:ext>
              </a:extLst>
            </p:cNvPr>
            <p:cNvCxnSpPr>
              <a:stCxn id="123" idx="2"/>
              <a:endCxn id="128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2A0C328-1939-B9FA-ED09-49E2EF8629FE}"/>
                </a:ext>
              </a:extLst>
            </p:cNvPr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6134232-4CB1-0F51-1691-22FAAF9057B0}"/>
                </a:ext>
              </a:extLst>
            </p:cNvPr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DF6D590-2474-295B-1AE7-8ECBDD3D8494}"/>
                </a:ext>
              </a:extLst>
            </p:cNvPr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C02A4AD-C3A4-3A0C-AEF7-E2BAEBC4B7FB}"/>
                </a:ext>
              </a:extLst>
            </p:cNvPr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FC95BFC7-05D7-A95E-7697-66F9F90D510D}"/>
                </a:ext>
              </a:extLst>
            </p:cNvPr>
            <p:cNvCxnSpPr>
              <a:stCxn id="146" idx="2"/>
              <a:endCxn id="147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DA2FB6C1-05A4-28CF-EA75-0B8C84A878B8}"/>
                </a:ext>
              </a:extLst>
            </p:cNvPr>
            <p:cNvCxnSpPr>
              <a:stCxn id="147" idx="2"/>
              <a:endCxn id="120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A7025D8B-AAA8-FEC5-B351-6835B30EEC31}"/>
                </a:ext>
              </a:extLst>
            </p:cNvPr>
            <p:cNvCxnSpPr>
              <a:stCxn id="146" idx="2"/>
              <a:endCxn id="148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B2212C36-0090-EBFB-53C7-34B32914BFA3}"/>
                </a:ext>
              </a:extLst>
            </p:cNvPr>
            <p:cNvCxnSpPr>
              <a:stCxn id="145" idx="2"/>
              <a:endCxn id="148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D7F4E6B8-5D7D-184C-69D7-11D18D6C7833}"/>
                </a:ext>
              </a:extLst>
            </p:cNvPr>
            <p:cNvCxnSpPr>
              <a:stCxn id="147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9817700E-D9EA-AE4C-CC0E-34A5C60B194A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0B567CEA-F2CD-594F-2324-B03B64E3B97D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14C62AFF-9C2E-587E-0065-0094B567D321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0A81654C-2379-8063-9702-1805D7A927F7}"/>
                </a:ext>
              </a:extLst>
            </p:cNvPr>
            <p:cNvCxnSpPr>
              <a:stCxn id="147" idx="2"/>
              <a:endCxn id="119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3ED24B3-B600-95AF-D671-E39A22C2057D}"/>
                </a:ext>
              </a:extLst>
            </p:cNvPr>
            <p:cNvCxnSpPr>
              <a:stCxn id="148" idx="2"/>
              <a:endCxn id="120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526BE435-947C-A415-8819-BA108C5BC4E4}"/>
                </a:ext>
              </a:extLst>
            </p:cNvPr>
            <p:cNvCxnSpPr>
              <a:stCxn id="148" idx="2"/>
              <a:endCxn id="117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6C0C800E-2A30-0C59-641B-E54932168050}"/>
                </a:ext>
              </a:extLst>
            </p:cNvPr>
            <p:cNvCxnSpPr>
              <a:stCxn id="148" idx="2"/>
              <a:endCxn id="118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6138009D-0CF7-DF8E-8E0A-6AF79180ECD8}"/>
                </a:ext>
              </a:extLst>
            </p:cNvPr>
            <p:cNvCxnSpPr>
              <a:stCxn id="148" idx="2"/>
              <a:endCxn id="119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3A088344-3246-4BAA-3B65-2A7A24F85B1D}"/>
                </a:ext>
              </a:extLst>
            </p:cNvPr>
            <p:cNvCxnSpPr>
              <a:stCxn id="145" idx="2"/>
              <a:endCxn id="147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166136C-71C7-DB5D-5441-630E597B3E7F}"/>
              </a:ext>
            </a:extLst>
          </p:cNvPr>
          <p:cNvSpPr>
            <a:spLocks noChangeAspect="1"/>
          </p:cNvSpPr>
          <p:nvPr/>
        </p:nvSpPr>
        <p:spPr>
          <a:xfrm>
            <a:off x="2893203" y="4437112"/>
            <a:ext cx="2871545" cy="12600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id="{1D4F46E4-8BEF-9E72-142F-B1222AF03068}"/>
              </a:ext>
            </a:extLst>
          </p:cNvPr>
          <p:cNvSpPr/>
          <p:nvPr/>
        </p:nvSpPr>
        <p:spPr>
          <a:xfrm rot="8512794">
            <a:off x="5095543" y="3357291"/>
            <a:ext cx="4352759" cy="441316"/>
          </a:xfrm>
          <a:prstGeom prst="rightArrow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732B6A-F098-5B0B-BA1E-59613EDB4F22}"/>
              </a:ext>
            </a:extLst>
          </p:cNvPr>
          <p:cNvSpPr>
            <a:spLocks noChangeAspect="1"/>
          </p:cNvSpPr>
          <p:nvPr/>
        </p:nvSpPr>
        <p:spPr>
          <a:xfrm>
            <a:off x="8760296" y="4893275"/>
            <a:ext cx="2871545" cy="12600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Arrow 90">
            <a:extLst>
              <a:ext uri="{FF2B5EF4-FFF2-40B4-BE49-F238E27FC236}">
                <a16:creationId xmlns:a16="http://schemas.microsoft.com/office/drawing/2014/main" id="{50882009-904A-94AD-5F5E-8D73C4AB704F}"/>
              </a:ext>
            </a:extLst>
          </p:cNvPr>
          <p:cNvSpPr/>
          <p:nvPr/>
        </p:nvSpPr>
        <p:spPr>
          <a:xfrm rot="3948673">
            <a:off x="7976553" y="3476643"/>
            <a:ext cx="3284048" cy="441316"/>
          </a:xfrm>
          <a:prstGeom prst="rightArrow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379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6E83-D5D8-B885-68A6-D614A961D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E2A7-5AC2-C0CD-6889-041D4070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68D11BE-4BAC-F915-9E7F-B9A06CDA6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5556190"/>
              </p:ext>
            </p:extLst>
          </p:nvPr>
        </p:nvGraphicFramePr>
        <p:xfrm>
          <a:off x="1703388" y="1780024"/>
          <a:ext cx="87852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292">
                  <a:extLst>
                    <a:ext uri="{9D8B030D-6E8A-4147-A177-3AD203B41FA5}">
                      <a16:colId xmlns:a16="http://schemas.microsoft.com/office/drawing/2014/main" val="231102012"/>
                    </a:ext>
                  </a:extLst>
                </a:gridCol>
                <a:gridCol w="1416116">
                  <a:extLst>
                    <a:ext uri="{9D8B030D-6E8A-4147-A177-3AD203B41FA5}">
                      <a16:colId xmlns:a16="http://schemas.microsoft.com/office/drawing/2014/main" val="72618059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584847740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152204552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173467611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75784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Target Population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1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Matrix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3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42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363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FG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655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r>
                        <a:rPr lang="en-GB" sz="1800" baseline="-25000" dirty="0"/>
                        <a:t>+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9244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33D4D-49BC-9E96-82BF-B68E998A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697B8B-A4F5-476F-A680-8191BD338EC5}" type="datetime4">
              <a:rPr lang="en-GB">
                <a:solidFill>
                  <a:srgbClr val="000000"/>
                </a:solidFill>
                <a:cs typeface="Arial"/>
              </a:rPr>
              <a:pPr>
                <a:defRPr/>
              </a:pPr>
              <a:t>09 February 2025</a:t>
            </a:fld>
            <a:endParaRPr lang="en-GB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BB355-5053-886B-99FC-860F36ED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  <a:cs typeface="Arial"/>
              </a:rPr>
              <a:t>Lecture 9</a:t>
            </a:r>
            <a:endParaRPr lang="en-GB" dirty="0">
              <a:solidFill>
                <a:srgbClr val="000000"/>
              </a:solidFill>
              <a:cs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7FE9B06-A2CC-5EE0-0CB7-30A6C3312E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723728"/>
              </p:ext>
            </p:extLst>
          </p:nvPr>
        </p:nvGraphicFramePr>
        <p:xfrm>
          <a:off x="6168009" y="2107838"/>
          <a:ext cx="1234927" cy="38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B372FC1-AC37-93A5-EAEA-5DFAD5827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9" y="2107838"/>
                        <a:ext cx="1234927" cy="385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BD1978D-7C12-0BBB-1653-C94208AF165E}"/>
              </a:ext>
            </a:extLst>
          </p:cNvPr>
          <p:cNvSpPr txBox="1"/>
          <p:nvPr/>
        </p:nvSpPr>
        <p:spPr>
          <a:xfrm>
            <a:off x="1703388" y="1167135"/>
            <a:ext cx="878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cs typeface="Arial"/>
              </a:rPr>
              <a:t>In table below V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the component,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V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FG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or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A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+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</a:t>
            </a:r>
            <a:endParaRPr lang="en-GB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F175F8-21DC-AD8B-34C8-3F04AB0B6DCE}"/>
              </a:ext>
            </a:extLst>
          </p:cNvPr>
          <p:cNvSpPr txBox="1"/>
          <p:nvPr/>
        </p:nvSpPr>
        <p:spPr>
          <a:xfrm>
            <a:off x="767408" y="4399944"/>
            <a:ext cx="211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endParaRPr lang="en-GB" baseline="-25000" dirty="0">
              <a:solidFill>
                <a:srgbClr val="000000"/>
              </a:solidFill>
              <a:cs typeface="Arial"/>
            </a:endParaRP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Pedigree has data and genotypes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42885AD-0859-A75A-D49B-F2B248137B95}"/>
              </a:ext>
            </a:extLst>
          </p:cNvPr>
          <p:cNvSpPr txBox="1"/>
          <p:nvPr/>
        </p:nvSpPr>
        <p:spPr>
          <a:xfrm>
            <a:off x="6240016" y="4399944"/>
            <a:ext cx="27778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+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Data and genotypes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as for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plus 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additional pedigree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29F991-3424-7EBE-C4E9-67A79931DAFA}"/>
              </a:ext>
            </a:extLst>
          </p:cNvPr>
          <p:cNvGrpSpPr>
            <a:grpSpLocks noChangeAspect="1"/>
          </p:cNvGrpSpPr>
          <p:nvPr/>
        </p:nvGrpSpPr>
        <p:grpSpPr>
          <a:xfrm>
            <a:off x="3143672" y="4548652"/>
            <a:ext cx="2353602" cy="1036948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770301-D43C-A070-F1EA-48BDF31E36D5}"/>
                </a:ext>
              </a:extLst>
            </p:cNvPr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06FCEA-6F3B-43D5-C3C8-7803BCD3E4A6}"/>
                </a:ext>
              </a:extLst>
            </p:cNvPr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C7E8E44-E26A-8801-BBA2-6F22A3519972}"/>
                </a:ext>
              </a:extLst>
            </p:cNvPr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E63689B-B27E-AFC7-99AB-82482835EDB9}"/>
                </a:ext>
              </a:extLst>
            </p:cNvPr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583221F-0580-9466-EBA3-2F38B6B7F20C}"/>
                </a:ext>
              </a:extLst>
            </p:cNvPr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24A3BFB-D372-D15C-E66B-62CF464BC5C7}"/>
                </a:ext>
              </a:extLst>
            </p:cNvPr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4F83B5A-964A-C63B-512F-8D4E833A0E1F}"/>
                </a:ext>
              </a:extLst>
            </p:cNvPr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A3A34C4-97A5-05D8-135C-2AA5A330E486}"/>
                </a:ext>
              </a:extLst>
            </p:cNvPr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4049551-0058-F027-EC14-F9151D9C55E6}"/>
                </a:ext>
              </a:extLst>
            </p:cNvPr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741E2B0-C716-7A00-1C90-7736482376E6}"/>
                </a:ext>
              </a:extLst>
            </p:cNvPr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6586090-BB1F-D9D3-A016-AFAF09F89174}"/>
                </a:ext>
              </a:extLst>
            </p:cNvPr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326EB4D-1A67-A748-9500-23974B138463}"/>
                </a:ext>
              </a:extLst>
            </p:cNvPr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34824DC1-ED5A-9C75-AC85-B8BDF32A6D4B}"/>
                </a:ext>
              </a:extLst>
            </p:cNvPr>
            <p:cNvCxnSpPr>
              <a:stCxn id="9" idx="2"/>
              <a:endCxn id="92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DD19988-EA33-4405-D103-7C9B6917A950}"/>
                </a:ext>
              </a:extLst>
            </p:cNvPr>
            <p:cNvCxnSpPr>
              <a:stCxn id="9" idx="2"/>
              <a:endCxn id="93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6DADE87-077D-DF1C-D071-58F7C39F911E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6C071DFE-DF16-BE88-DC21-543F58FBC128}"/>
                </a:ext>
              </a:extLst>
            </p:cNvPr>
            <p:cNvCxnSpPr>
              <a:stCxn id="11" idx="2"/>
              <a:endCxn id="93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6B191AD-DB7E-256C-B856-4A3D276DFC2E}"/>
                </a:ext>
              </a:extLst>
            </p:cNvPr>
            <p:cNvCxnSpPr>
              <a:stCxn id="9" idx="2"/>
              <a:endCxn id="94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AA838E2E-39AF-1C06-665C-1C29CAEBEE20}"/>
                </a:ext>
              </a:extLst>
            </p:cNvPr>
            <p:cNvCxnSpPr>
              <a:stCxn id="9" idx="2"/>
              <a:endCxn id="95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5FD33356-4689-BCB7-B8C3-A45A82DA931B}"/>
                </a:ext>
              </a:extLst>
            </p:cNvPr>
            <p:cNvCxnSpPr>
              <a:stCxn id="11" idx="2"/>
              <a:endCxn id="94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9528DC3-65C4-6B99-681B-31811D20ED15}"/>
                </a:ext>
              </a:extLst>
            </p:cNvPr>
            <p:cNvCxnSpPr>
              <a:stCxn id="11" idx="2"/>
              <a:endCxn id="95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B809FE03-F614-C8E3-2A1B-11E97B236253}"/>
                </a:ext>
              </a:extLst>
            </p:cNvPr>
            <p:cNvCxnSpPr>
              <a:stCxn id="91" idx="2"/>
              <a:endCxn id="96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0A7CE70B-2332-2C9C-9F7C-EF73EB4A2A7E}"/>
                </a:ext>
              </a:extLst>
            </p:cNvPr>
            <p:cNvCxnSpPr>
              <a:stCxn id="88" idx="2"/>
              <a:endCxn id="96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B2E3696-2401-5BC7-0FC0-73834480800D}"/>
                </a:ext>
              </a:extLst>
            </p:cNvPr>
            <p:cNvCxnSpPr>
              <a:stCxn id="91" idx="2"/>
              <a:endCxn id="97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F985D6DF-DCC2-66DB-4BE5-145EF7C70A31}"/>
                </a:ext>
              </a:extLst>
            </p:cNvPr>
            <p:cNvCxnSpPr>
              <a:stCxn id="96" idx="2"/>
              <a:endCxn id="98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4DB634E-9B9D-133B-B2EF-76781C0C4C93}"/>
                </a:ext>
              </a:extLst>
            </p:cNvPr>
            <p:cNvCxnSpPr>
              <a:stCxn id="93" idx="2"/>
              <a:endCxn id="98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2950DD2-55FA-D96A-2A00-C47A350BD2C4}"/>
                </a:ext>
              </a:extLst>
            </p:cNvPr>
            <p:cNvCxnSpPr>
              <a:stCxn id="88" idx="2"/>
              <a:endCxn id="97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1DB410D-38E5-16A9-957E-540EAB4C989D}"/>
                </a:ext>
              </a:extLst>
            </p:cNvPr>
            <p:cNvCxnSpPr>
              <a:stCxn id="97" idx="2"/>
              <a:endCxn id="99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516150F-9C88-883C-60C6-9938785AE07C}"/>
                </a:ext>
              </a:extLst>
            </p:cNvPr>
            <p:cNvCxnSpPr>
              <a:stCxn id="94" idx="2"/>
              <a:endCxn id="99" idx="0"/>
            </p:cNvCxnSpPr>
            <p:nvPr/>
          </p:nvCxnSpPr>
          <p:spPr>
            <a:xfrm>
              <a:off x="2054435" y="3938944"/>
              <a:ext cx="1539301" cy="509999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02CE468-98C7-42AB-FE81-7C306F534FA5}"/>
              </a:ext>
            </a:extLst>
          </p:cNvPr>
          <p:cNvGrpSpPr>
            <a:grpSpLocks noChangeAspect="1"/>
          </p:cNvGrpSpPr>
          <p:nvPr/>
        </p:nvGrpSpPr>
        <p:grpSpPr>
          <a:xfrm>
            <a:off x="8926176" y="4149080"/>
            <a:ext cx="2354400" cy="1922918"/>
            <a:chOff x="5062023" y="2996952"/>
            <a:chExt cx="3254393" cy="26579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E0C786F-1478-DFE9-FC1D-3135C9FC818C}"/>
                </a:ext>
              </a:extLst>
            </p:cNvPr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67A6070-BFF2-E3D3-267A-74B8E5D0D716}"/>
                </a:ext>
              </a:extLst>
            </p:cNvPr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7CEE4B9-DEAE-083D-0D06-E06EC386BC63}"/>
                </a:ext>
              </a:extLst>
            </p:cNvPr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E03E9B4-7651-89E0-72A2-E6D93557345E}"/>
                </a:ext>
              </a:extLst>
            </p:cNvPr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4E736B2-0CF6-7DA0-0E6B-494D5546A977}"/>
                </a:ext>
              </a:extLst>
            </p:cNvPr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9CCD68B-FEC5-6184-9276-FF67055B52D3}"/>
                </a:ext>
              </a:extLst>
            </p:cNvPr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ADB9AF1-9C68-047C-D37F-A9358E0D4B22}"/>
                </a:ext>
              </a:extLst>
            </p:cNvPr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09ECE45-85BF-18EA-2261-825B8475C910}"/>
                </a:ext>
              </a:extLst>
            </p:cNvPr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3515B53-67C2-3375-68A4-DDB2C718DFD9}"/>
                </a:ext>
              </a:extLst>
            </p:cNvPr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9F4D6B1-79E9-1646-9B6C-EB5512365F4F}"/>
                </a:ext>
              </a:extLst>
            </p:cNvPr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84CCC92-728E-8BD7-A8E1-BB5113B48AEF}"/>
                </a:ext>
              </a:extLst>
            </p:cNvPr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E9AFC78-5178-E150-EC06-6B20C7C03AE8}"/>
                </a:ext>
              </a:extLst>
            </p:cNvPr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0E16BCE-87B6-8ECB-F372-32480F7342A4}"/>
                </a:ext>
              </a:extLst>
            </p:cNvPr>
            <p:cNvCxnSpPr>
              <a:stCxn id="117" idx="2"/>
              <a:endCxn id="121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58BF489-FB04-36B5-9461-4B245510C061}"/>
                </a:ext>
              </a:extLst>
            </p:cNvPr>
            <p:cNvCxnSpPr>
              <a:stCxn id="117" idx="2"/>
              <a:endCxn id="122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D382279C-221E-000E-04C4-1570CFDF2090}"/>
                </a:ext>
              </a:extLst>
            </p:cNvPr>
            <p:cNvCxnSpPr>
              <a:stCxn id="118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9993311D-8705-3FD7-25E8-A15DF333F64A}"/>
                </a:ext>
              </a:extLst>
            </p:cNvPr>
            <p:cNvCxnSpPr>
              <a:stCxn id="118" idx="2"/>
              <a:endCxn id="122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10FF4FA1-C8DD-D7C5-04F5-C6EE45E4F8F7}"/>
                </a:ext>
              </a:extLst>
            </p:cNvPr>
            <p:cNvCxnSpPr>
              <a:stCxn id="117" idx="2"/>
              <a:endCxn id="123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3A15CB32-C70E-955D-5BD6-E25625FAD1D8}"/>
                </a:ext>
              </a:extLst>
            </p:cNvPr>
            <p:cNvCxnSpPr>
              <a:stCxn id="117" idx="2"/>
              <a:endCxn id="124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AA1773C6-E16F-CA05-08F4-F44AAF149B81}"/>
                </a:ext>
              </a:extLst>
            </p:cNvPr>
            <p:cNvCxnSpPr>
              <a:stCxn id="118" idx="2"/>
              <a:endCxn id="123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952440E-8CBB-C3C8-E96A-D2F0A01D0DFC}"/>
                </a:ext>
              </a:extLst>
            </p:cNvPr>
            <p:cNvCxnSpPr>
              <a:stCxn id="118" idx="2"/>
              <a:endCxn id="124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C119C7EF-87A8-C4D6-3849-1B86F2E54B9C}"/>
                </a:ext>
              </a:extLst>
            </p:cNvPr>
            <p:cNvCxnSpPr>
              <a:stCxn id="120" idx="2"/>
              <a:endCxn id="125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604BB638-7942-4452-3766-FEE05813F624}"/>
                </a:ext>
              </a:extLst>
            </p:cNvPr>
            <p:cNvCxnSpPr>
              <a:stCxn id="119" idx="2"/>
              <a:endCxn id="125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E4A02EFF-0C15-6332-1E7A-93C2DEF02120}"/>
                </a:ext>
              </a:extLst>
            </p:cNvPr>
            <p:cNvCxnSpPr>
              <a:stCxn id="120" idx="2"/>
              <a:endCxn id="126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4A0C56AB-755A-2FDF-E571-FDF2B0F4ED0E}"/>
                </a:ext>
              </a:extLst>
            </p:cNvPr>
            <p:cNvCxnSpPr>
              <a:stCxn id="125" idx="2"/>
              <a:endCxn id="127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93232BB-EE91-DFF3-6380-B14E9CF31297}"/>
                </a:ext>
              </a:extLst>
            </p:cNvPr>
            <p:cNvCxnSpPr>
              <a:stCxn id="122" idx="2"/>
              <a:endCxn id="127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4D0D3D7-F002-091C-AB39-9E6F0FF24879}"/>
                </a:ext>
              </a:extLst>
            </p:cNvPr>
            <p:cNvCxnSpPr>
              <a:stCxn id="119" idx="2"/>
              <a:endCxn id="126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94E9F476-C59B-0D78-9BB9-8B02EB946F03}"/>
                </a:ext>
              </a:extLst>
            </p:cNvPr>
            <p:cNvCxnSpPr>
              <a:stCxn id="126" idx="2"/>
              <a:endCxn id="128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0F0AF72B-D04F-2B79-DEBC-CC42B0C9D229}"/>
                </a:ext>
              </a:extLst>
            </p:cNvPr>
            <p:cNvCxnSpPr>
              <a:stCxn id="123" idx="2"/>
              <a:endCxn id="128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71E2F75-63A5-C70E-D95D-6AE3CB62A2F7}"/>
                </a:ext>
              </a:extLst>
            </p:cNvPr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F3FA761-D615-A01C-3A7C-81312C1B8C40}"/>
                </a:ext>
              </a:extLst>
            </p:cNvPr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D777FCC2-426B-2420-B446-488BEA50E538}"/>
                </a:ext>
              </a:extLst>
            </p:cNvPr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4279A510-E6BB-25B5-7056-78F20BD89BFC}"/>
                </a:ext>
              </a:extLst>
            </p:cNvPr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10B177F2-9B2E-786C-42D0-BD1EA4660F5D}"/>
                </a:ext>
              </a:extLst>
            </p:cNvPr>
            <p:cNvCxnSpPr>
              <a:stCxn id="146" idx="2"/>
              <a:endCxn id="147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96667C21-7B38-9621-12BF-4C7113AD75CE}"/>
                </a:ext>
              </a:extLst>
            </p:cNvPr>
            <p:cNvCxnSpPr>
              <a:stCxn id="147" idx="2"/>
              <a:endCxn id="120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E691FA52-6C2F-402B-9F33-370479B42525}"/>
                </a:ext>
              </a:extLst>
            </p:cNvPr>
            <p:cNvCxnSpPr>
              <a:stCxn id="146" idx="2"/>
              <a:endCxn id="148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F607EE80-8C81-E724-6E2F-CDED3DDE0737}"/>
                </a:ext>
              </a:extLst>
            </p:cNvPr>
            <p:cNvCxnSpPr>
              <a:stCxn id="145" idx="2"/>
              <a:endCxn id="148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BB8AA60C-A3BF-21CF-7A55-8845F268D78C}"/>
                </a:ext>
              </a:extLst>
            </p:cNvPr>
            <p:cNvCxnSpPr>
              <a:stCxn id="147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0F7B0B41-FFE3-1362-B7BE-DF4074FB2B38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7C8FB7E1-705E-EB84-B0CB-D49BC63127C8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8A293FB0-DD78-3972-E5E9-C9B302ADD3D4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C3D3E09C-4A8F-AEDD-8B15-369CBDD2D500}"/>
                </a:ext>
              </a:extLst>
            </p:cNvPr>
            <p:cNvCxnSpPr>
              <a:stCxn id="147" idx="2"/>
              <a:endCxn id="119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DDF5B76C-4156-0C55-9A7F-8B13295FCCA4}"/>
                </a:ext>
              </a:extLst>
            </p:cNvPr>
            <p:cNvCxnSpPr>
              <a:stCxn id="148" idx="2"/>
              <a:endCxn id="120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7026742E-C0C5-4C89-3AE6-C8FE8693BD99}"/>
                </a:ext>
              </a:extLst>
            </p:cNvPr>
            <p:cNvCxnSpPr>
              <a:stCxn id="148" idx="2"/>
              <a:endCxn id="117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E4034947-6B27-5BCA-A83B-DF617021871F}"/>
                </a:ext>
              </a:extLst>
            </p:cNvPr>
            <p:cNvCxnSpPr>
              <a:stCxn id="148" idx="2"/>
              <a:endCxn id="118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1786307C-F690-FB75-405D-796706F4BAAF}"/>
                </a:ext>
              </a:extLst>
            </p:cNvPr>
            <p:cNvCxnSpPr>
              <a:stCxn id="148" idx="2"/>
              <a:endCxn id="119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C200077B-C386-B6BD-8B78-03A9E0F619FE}"/>
                </a:ext>
              </a:extLst>
            </p:cNvPr>
            <p:cNvCxnSpPr>
              <a:stCxn id="145" idx="2"/>
              <a:endCxn id="147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0885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42B02-2DC1-20B9-347C-E83828EA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2C4C-DA95-E0A7-8D3E-05A204EC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C9A6FD3-D2EB-A464-FE00-A8C0964F9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480457"/>
              </p:ext>
            </p:extLst>
          </p:nvPr>
        </p:nvGraphicFramePr>
        <p:xfrm>
          <a:off x="1703388" y="1780024"/>
          <a:ext cx="87852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292">
                  <a:extLst>
                    <a:ext uri="{9D8B030D-6E8A-4147-A177-3AD203B41FA5}">
                      <a16:colId xmlns:a16="http://schemas.microsoft.com/office/drawing/2014/main" val="231102012"/>
                    </a:ext>
                  </a:extLst>
                </a:gridCol>
                <a:gridCol w="1416116">
                  <a:extLst>
                    <a:ext uri="{9D8B030D-6E8A-4147-A177-3AD203B41FA5}">
                      <a16:colId xmlns:a16="http://schemas.microsoft.com/office/drawing/2014/main" val="72618059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584847740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152204552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173467611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75784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Target Population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1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Matrix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3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42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13.6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363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FG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655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r>
                        <a:rPr lang="en-GB" sz="1800" baseline="-25000" dirty="0"/>
                        <a:t>+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9244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364B7-AA0C-0781-6685-A02F52C1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697B8B-A4F5-476F-A680-8191BD338EC5}" type="datetime4">
              <a:rPr lang="en-GB">
                <a:solidFill>
                  <a:srgbClr val="000000"/>
                </a:solidFill>
                <a:cs typeface="Arial"/>
              </a:rPr>
              <a:pPr>
                <a:defRPr/>
              </a:pPr>
              <a:t>09 February 2025</a:t>
            </a:fld>
            <a:endParaRPr lang="en-GB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9CAEE-51F3-9338-BD72-729CFF7E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  <a:cs typeface="Arial"/>
              </a:rPr>
              <a:t>Lecture 9</a:t>
            </a:r>
            <a:endParaRPr lang="en-GB" dirty="0">
              <a:solidFill>
                <a:srgbClr val="000000"/>
              </a:solidFill>
              <a:cs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4E5EC09-4BAC-4E10-ECA5-4BA2B02F22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8009" y="2107838"/>
          <a:ext cx="1234927" cy="38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7FE9B06-A2CC-5EE0-0CB7-30A6C3312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9" y="2107838"/>
                        <a:ext cx="1234927" cy="385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F6CEDE9-CCAF-30F8-E1E6-3D07B08F42CB}"/>
              </a:ext>
            </a:extLst>
          </p:cNvPr>
          <p:cNvSpPr txBox="1"/>
          <p:nvPr/>
        </p:nvSpPr>
        <p:spPr>
          <a:xfrm>
            <a:off x="1703388" y="1167135"/>
            <a:ext cx="878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cs typeface="Arial"/>
              </a:rPr>
              <a:t>In table below V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the component,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V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FG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or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A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+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</a:t>
            </a:r>
            <a:endParaRPr lang="en-GB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F959DBD-07E5-1C9D-678F-C378E4AFDC8D}"/>
              </a:ext>
            </a:extLst>
          </p:cNvPr>
          <p:cNvSpPr txBox="1"/>
          <p:nvPr/>
        </p:nvSpPr>
        <p:spPr>
          <a:xfrm>
            <a:off x="767408" y="4399944"/>
            <a:ext cx="211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endParaRPr lang="en-GB" baseline="-25000" dirty="0">
              <a:solidFill>
                <a:srgbClr val="000000"/>
              </a:solidFill>
              <a:cs typeface="Arial"/>
            </a:endParaRP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Pedigree has data and genotypes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7F0BE65-B38E-89FD-98C0-F90395CD5124}"/>
              </a:ext>
            </a:extLst>
          </p:cNvPr>
          <p:cNvSpPr txBox="1"/>
          <p:nvPr/>
        </p:nvSpPr>
        <p:spPr>
          <a:xfrm>
            <a:off x="6240016" y="4399944"/>
            <a:ext cx="27778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+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Data and genotypes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as for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plus 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additional pedigree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E94DC8-F3C5-5D02-1EB2-53ECD0000D29}"/>
              </a:ext>
            </a:extLst>
          </p:cNvPr>
          <p:cNvGrpSpPr>
            <a:grpSpLocks noChangeAspect="1"/>
          </p:cNvGrpSpPr>
          <p:nvPr/>
        </p:nvGrpSpPr>
        <p:grpSpPr>
          <a:xfrm>
            <a:off x="3143672" y="4548652"/>
            <a:ext cx="2353602" cy="1036948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C8CCB-FAE4-06BE-59A2-163DB3C8A0F6}"/>
                </a:ext>
              </a:extLst>
            </p:cNvPr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ABD3A4-77DD-2DB2-A834-625900DAF6E5}"/>
                </a:ext>
              </a:extLst>
            </p:cNvPr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5F6C077-5CE0-FBBB-D4BA-50E3B7FF946A}"/>
                </a:ext>
              </a:extLst>
            </p:cNvPr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E7EE8BF-FD6E-5B27-6FD3-B10DFACB111E}"/>
                </a:ext>
              </a:extLst>
            </p:cNvPr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DADDE25-4145-FAC1-F64F-FFA6F477BA88}"/>
                </a:ext>
              </a:extLst>
            </p:cNvPr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0EF90A9-7B50-AA91-E08E-7B35B49E2391}"/>
                </a:ext>
              </a:extLst>
            </p:cNvPr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9AA3C1E-03FD-EF7C-893B-935F4B57A284}"/>
                </a:ext>
              </a:extLst>
            </p:cNvPr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49B8AE-2A89-1526-C1F3-DA75FFCB84DE}"/>
                </a:ext>
              </a:extLst>
            </p:cNvPr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C6604CF-EA6E-E49C-4F01-D71CE92944E8}"/>
                </a:ext>
              </a:extLst>
            </p:cNvPr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C338384-8489-FD0F-F3A6-E7031D803FC5}"/>
                </a:ext>
              </a:extLst>
            </p:cNvPr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18C7577-68C1-B829-AFFB-BED5E6E04673}"/>
                </a:ext>
              </a:extLst>
            </p:cNvPr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770A29C-4AFF-870A-4135-75EDC37417D5}"/>
                </a:ext>
              </a:extLst>
            </p:cNvPr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A8D506F-6CC8-78C4-19A3-7CE8C961352F}"/>
                </a:ext>
              </a:extLst>
            </p:cNvPr>
            <p:cNvCxnSpPr>
              <a:stCxn id="9" idx="2"/>
              <a:endCxn id="92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6CB04F0-ECB1-3F23-82DC-F42AB543B59A}"/>
                </a:ext>
              </a:extLst>
            </p:cNvPr>
            <p:cNvCxnSpPr>
              <a:stCxn id="9" idx="2"/>
              <a:endCxn id="93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C8AE10C-4C3D-9C79-2269-F2AEADD1537E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4FB603E0-A25C-2B5E-0711-D9F58FB33444}"/>
                </a:ext>
              </a:extLst>
            </p:cNvPr>
            <p:cNvCxnSpPr>
              <a:stCxn id="11" idx="2"/>
              <a:endCxn id="93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6F2AA2E1-8445-99E7-8635-408D2EB26196}"/>
                </a:ext>
              </a:extLst>
            </p:cNvPr>
            <p:cNvCxnSpPr>
              <a:stCxn id="9" idx="2"/>
              <a:endCxn id="94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5F42D4E-AC5C-FF7F-40CA-FC921DDC2693}"/>
                </a:ext>
              </a:extLst>
            </p:cNvPr>
            <p:cNvCxnSpPr>
              <a:stCxn id="9" idx="2"/>
              <a:endCxn id="95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E623DB0A-460D-8815-CA34-035A79F05F8F}"/>
                </a:ext>
              </a:extLst>
            </p:cNvPr>
            <p:cNvCxnSpPr>
              <a:stCxn id="11" idx="2"/>
              <a:endCxn id="94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CBE6426-34A4-65A8-6AFB-7FFDAD402DC8}"/>
                </a:ext>
              </a:extLst>
            </p:cNvPr>
            <p:cNvCxnSpPr>
              <a:stCxn id="11" idx="2"/>
              <a:endCxn id="95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F7606F26-E238-12B6-B6CD-17D3DF1E7446}"/>
                </a:ext>
              </a:extLst>
            </p:cNvPr>
            <p:cNvCxnSpPr>
              <a:stCxn id="91" idx="2"/>
              <a:endCxn id="96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27F25422-DFB2-CD18-CFD8-F2D1A669C7C8}"/>
                </a:ext>
              </a:extLst>
            </p:cNvPr>
            <p:cNvCxnSpPr>
              <a:stCxn id="88" idx="2"/>
              <a:endCxn id="96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6D63A1E-C41D-8A2C-A8DB-A5910C0E81D8}"/>
                </a:ext>
              </a:extLst>
            </p:cNvPr>
            <p:cNvCxnSpPr>
              <a:stCxn id="91" idx="2"/>
              <a:endCxn id="97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CA27A25-051E-5F68-4746-7AA1857FE56B}"/>
                </a:ext>
              </a:extLst>
            </p:cNvPr>
            <p:cNvCxnSpPr>
              <a:stCxn id="96" idx="2"/>
              <a:endCxn id="98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8D75F424-4C09-016F-A202-45E2188E5E97}"/>
                </a:ext>
              </a:extLst>
            </p:cNvPr>
            <p:cNvCxnSpPr>
              <a:stCxn id="93" idx="2"/>
              <a:endCxn id="98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FBFCDFFD-7091-B38C-E59F-F0EBAE62A31B}"/>
                </a:ext>
              </a:extLst>
            </p:cNvPr>
            <p:cNvCxnSpPr>
              <a:stCxn id="88" idx="2"/>
              <a:endCxn id="97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4CFD1A2-17FB-9C89-131A-9A47E8C118D1}"/>
                </a:ext>
              </a:extLst>
            </p:cNvPr>
            <p:cNvCxnSpPr>
              <a:stCxn id="97" idx="2"/>
              <a:endCxn id="99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2D255061-A3D0-44B5-D47C-8F9CB3526DAA}"/>
                </a:ext>
              </a:extLst>
            </p:cNvPr>
            <p:cNvCxnSpPr>
              <a:stCxn id="94" idx="2"/>
              <a:endCxn id="99" idx="0"/>
            </p:cNvCxnSpPr>
            <p:nvPr/>
          </p:nvCxnSpPr>
          <p:spPr>
            <a:xfrm>
              <a:off x="2054435" y="3938944"/>
              <a:ext cx="1539301" cy="509999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A444D34-C4E6-3742-9E8B-56C55593C3C1}"/>
              </a:ext>
            </a:extLst>
          </p:cNvPr>
          <p:cNvGrpSpPr>
            <a:grpSpLocks noChangeAspect="1"/>
          </p:cNvGrpSpPr>
          <p:nvPr/>
        </p:nvGrpSpPr>
        <p:grpSpPr>
          <a:xfrm>
            <a:off x="8926176" y="4149080"/>
            <a:ext cx="2354400" cy="1922918"/>
            <a:chOff x="5062023" y="2996952"/>
            <a:chExt cx="3254393" cy="26579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272D856-7D20-7B17-F803-007FB071D232}"/>
                </a:ext>
              </a:extLst>
            </p:cNvPr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389BDE1-29E3-24D7-D9B2-0FE3F28E6F43}"/>
                </a:ext>
              </a:extLst>
            </p:cNvPr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E578D37-842B-EB1F-6495-6961ABE1F417}"/>
                </a:ext>
              </a:extLst>
            </p:cNvPr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C7A26F2-75F5-5174-9E7F-1ADC9BC9843A}"/>
                </a:ext>
              </a:extLst>
            </p:cNvPr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4D2111F-DBB2-2ACC-EDB5-2702B62633BA}"/>
                </a:ext>
              </a:extLst>
            </p:cNvPr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4FDB9DC-6CE7-DB8D-58BE-F1D59D5A741F}"/>
                </a:ext>
              </a:extLst>
            </p:cNvPr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9CC24E7-65CF-0BBB-37E5-7A8A43F0C697}"/>
                </a:ext>
              </a:extLst>
            </p:cNvPr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EEE73898-E875-6599-F8DA-D9F2721D3B78}"/>
                </a:ext>
              </a:extLst>
            </p:cNvPr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998BB30-73E1-E7E9-2F38-377ABFEC4F71}"/>
                </a:ext>
              </a:extLst>
            </p:cNvPr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012F421-2D30-9FA7-FE7B-21D247234BEF}"/>
                </a:ext>
              </a:extLst>
            </p:cNvPr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A014B16-DDBB-BF99-AD15-9474FBF2441C}"/>
                </a:ext>
              </a:extLst>
            </p:cNvPr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8AC80D2-C131-EDF4-E0AA-4A1495D14693}"/>
                </a:ext>
              </a:extLst>
            </p:cNvPr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BDD41600-809A-02F3-C589-83FC30DAEEE6}"/>
                </a:ext>
              </a:extLst>
            </p:cNvPr>
            <p:cNvCxnSpPr>
              <a:stCxn id="117" idx="2"/>
              <a:endCxn id="121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92C944B2-3774-2960-8262-96B466D5DB85}"/>
                </a:ext>
              </a:extLst>
            </p:cNvPr>
            <p:cNvCxnSpPr>
              <a:stCxn id="117" idx="2"/>
              <a:endCxn id="122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65CC7C83-3729-3629-6B33-95EF8FD76E63}"/>
                </a:ext>
              </a:extLst>
            </p:cNvPr>
            <p:cNvCxnSpPr>
              <a:stCxn id="118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D20EB1F4-6799-04F0-1595-5BB3E4A4D61C}"/>
                </a:ext>
              </a:extLst>
            </p:cNvPr>
            <p:cNvCxnSpPr>
              <a:stCxn id="118" idx="2"/>
              <a:endCxn id="122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FDE9803C-D97E-0E64-7A9A-5283DAF54E18}"/>
                </a:ext>
              </a:extLst>
            </p:cNvPr>
            <p:cNvCxnSpPr>
              <a:stCxn id="117" idx="2"/>
              <a:endCxn id="123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0146C4E-63C4-886C-7063-9E474B387EFB}"/>
                </a:ext>
              </a:extLst>
            </p:cNvPr>
            <p:cNvCxnSpPr>
              <a:stCxn id="117" idx="2"/>
              <a:endCxn id="124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64508B8-78E8-EEFD-A432-E4C0B9092179}"/>
                </a:ext>
              </a:extLst>
            </p:cNvPr>
            <p:cNvCxnSpPr>
              <a:stCxn id="118" idx="2"/>
              <a:endCxn id="123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0E27794A-C740-B6F9-F195-1640E432C3CF}"/>
                </a:ext>
              </a:extLst>
            </p:cNvPr>
            <p:cNvCxnSpPr>
              <a:stCxn id="118" idx="2"/>
              <a:endCxn id="124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F283F7E5-59E3-D779-9B88-232CA5F569C8}"/>
                </a:ext>
              </a:extLst>
            </p:cNvPr>
            <p:cNvCxnSpPr>
              <a:stCxn id="120" idx="2"/>
              <a:endCxn id="125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94F4F444-7F7E-B641-0620-10D7664D36A6}"/>
                </a:ext>
              </a:extLst>
            </p:cNvPr>
            <p:cNvCxnSpPr>
              <a:stCxn id="119" idx="2"/>
              <a:endCxn id="125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7D4B982C-8F52-A47C-1C9E-A2077FC4E28B}"/>
                </a:ext>
              </a:extLst>
            </p:cNvPr>
            <p:cNvCxnSpPr>
              <a:stCxn id="120" idx="2"/>
              <a:endCxn id="126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54A10820-E980-FB0E-6EE4-E97D075A5491}"/>
                </a:ext>
              </a:extLst>
            </p:cNvPr>
            <p:cNvCxnSpPr>
              <a:stCxn id="125" idx="2"/>
              <a:endCxn id="127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F903C050-D1DE-1738-E765-C99104FDADD9}"/>
                </a:ext>
              </a:extLst>
            </p:cNvPr>
            <p:cNvCxnSpPr>
              <a:stCxn id="122" idx="2"/>
              <a:endCxn id="127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AAA4F30-AA2F-6E7D-07A0-67555E88E1B4}"/>
                </a:ext>
              </a:extLst>
            </p:cNvPr>
            <p:cNvCxnSpPr>
              <a:stCxn id="119" idx="2"/>
              <a:endCxn id="126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AB557B9-1337-CB01-B5DB-3F0BDCC5DB33}"/>
                </a:ext>
              </a:extLst>
            </p:cNvPr>
            <p:cNvCxnSpPr>
              <a:stCxn id="126" idx="2"/>
              <a:endCxn id="128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BD5EAE3F-FB54-9CC9-E99E-35D4FEBF3E64}"/>
                </a:ext>
              </a:extLst>
            </p:cNvPr>
            <p:cNvCxnSpPr>
              <a:stCxn id="123" idx="2"/>
              <a:endCxn id="128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7BD4C64-41DD-33C1-2F89-471709324F33}"/>
                </a:ext>
              </a:extLst>
            </p:cNvPr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45A5BCE-F798-5E86-736E-C3567ACC2D9D}"/>
                </a:ext>
              </a:extLst>
            </p:cNvPr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AB667219-3A66-470F-5A65-1C61CF4A6D4A}"/>
                </a:ext>
              </a:extLst>
            </p:cNvPr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553EE5D-A049-F3E5-24F3-7A74D06BC8C5}"/>
                </a:ext>
              </a:extLst>
            </p:cNvPr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EA23B1B7-A25F-4A6F-7683-BD8100DE656B}"/>
                </a:ext>
              </a:extLst>
            </p:cNvPr>
            <p:cNvCxnSpPr>
              <a:stCxn id="146" idx="2"/>
              <a:endCxn id="147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ED786730-0DCE-376D-15FA-7ADEF1FF8F1F}"/>
                </a:ext>
              </a:extLst>
            </p:cNvPr>
            <p:cNvCxnSpPr>
              <a:stCxn id="147" idx="2"/>
              <a:endCxn id="120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98D4B46B-32E8-0308-D202-C84490E3AE87}"/>
                </a:ext>
              </a:extLst>
            </p:cNvPr>
            <p:cNvCxnSpPr>
              <a:stCxn id="146" idx="2"/>
              <a:endCxn id="148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AE7D4F47-0E2E-059B-9DEB-17DFF3257A38}"/>
                </a:ext>
              </a:extLst>
            </p:cNvPr>
            <p:cNvCxnSpPr>
              <a:stCxn id="145" idx="2"/>
              <a:endCxn id="148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1F2D374D-0AC8-E01C-3D16-26F0D30AD42F}"/>
                </a:ext>
              </a:extLst>
            </p:cNvPr>
            <p:cNvCxnSpPr>
              <a:stCxn id="147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C448B2DB-31CB-DA66-B036-3CAB4EA39CE0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2EA4485-D722-59A5-9A82-53F82CEE3E88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C2763D97-697B-528F-7646-C7DDFF349507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2C39D111-0BFC-FA9B-0FF1-785CA58697FE}"/>
                </a:ext>
              </a:extLst>
            </p:cNvPr>
            <p:cNvCxnSpPr>
              <a:stCxn id="147" idx="2"/>
              <a:endCxn id="119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D1151B0C-020B-CA30-D72B-871EDE73F7E2}"/>
                </a:ext>
              </a:extLst>
            </p:cNvPr>
            <p:cNvCxnSpPr>
              <a:stCxn id="148" idx="2"/>
              <a:endCxn id="120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80DD1ACE-942C-0850-647C-ED2EFE71109B}"/>
                </a:ext>
              </a:extLst>
            </p:cNvPr>
            <p:cNvCxnSpPr>
              <a:stCxn id="148" idx="2"/>
              <a:endCxn id="117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A0146D53-F8D0-8BD5-98B1-D93494276FB4}"/>
                </a:ext>
              </a:extLst>
            </p:cNvPr>
            <p:cNvCxnSpPr>
              <a:stCxn id="148" idx="2"/>
              <a:endCxn id="118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CD6AC0B3-17BA-C71C-63AE-7C655B043435}"/>
                </a:ext>
              </a:extLst>
            </p:cNvPr>
            <p:cNvCxnSpPr>
              <a:stCxn id="148" idx="2"/>
              <a:endCxn id="119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50D01034-691D-5660-9C9C-A6D393984299}"/>
                </a:ext>
              </a:extLst>
            </p:cNvPr>
            <p:cNvCxnSpPr>
              <a:stCxn id="145" idx="2"/>
              <a:endCxn id="147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9963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981B-36EC-C2E1-5200-8B54415B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4582-BA30-43D4-336F-50C0301D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770569-8669-0C42-85EF-14D12E6FD4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979849"/>
              </p:ext>
            </p:extLst>
          </p:nvPr>
        </p:nvGraphicFramePr>
        <p:xfrm>
          <a:off x="1703388" y="1780024"/>
          <a:ext cx="87852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292">
                  <a:extLst>
                    <a:ext uri="{9D8B030D-6E8A-4147-A177-3AD203B41FA5}">
                      <a16:colId xmlns:a16="http://schemas.microsoft.com/office/drawing/2014/main" val="231102012"/>
                    </a:ext>
                  </a:extLst>
                </a:gridCol>
                <a:gridCol w="1416116">
                  <a:extLst>
                    <a:ext uri="{9D8B030D-6E8A-4147-A177-3AD203B41FA5}">
                      <a16:colId xmlns:a16="http://schemas.microsoft.com/office/drawing/2014/main" val="72618059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584847740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152204552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173467611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75784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Target Population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1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Matrix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3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42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13.6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363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FG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24.4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0.701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  8.8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655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r>
                        <a:rPr lang="en-GB" sz="1800" baseline="-25000" dirty="0"/>
                        <a:t>+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9244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55129-B0D4-D036-FF98-2C8080871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697B8B-A4F5-476F-A680-8191BD338EC5}" type="datetime4">
              <a:rPr lang="en-GB">
                <a:solidFill>
                  <a:srgbClr val="000000"/>
                </a:solidFill>
                <a:cs typeface="Arial"/>
              </a:rPr>
              <a:pPr>
                <a:defRPr/>
              </a:pPr>
              <a:t>09 February 2025</a:t>
            </a:fld>
            <a:endParaRPr lang="en-GB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E1B6-E33F-155D-9E8A-2B71113F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  <a:cs typeface="Arial"/>
              </a:rPr>
              <a:t>Lecture 9</a:t>
            </a:r>
            <a:endParaRPr lang="en-GB" dirty="0">
              <a:solidFill>
                <a:srgbClr val="000000"/>
              </a:solidFill>
              <a:cs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E5B4243-6FBF-1C40-167A-425AACDFB3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8009" y="2107838"/>
          <a:ext cx="1234927" cy="38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4E5EC09-4BAC-4E10-ECA5-4BA2B02F2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9" y="2107838"/>
                        <a:ext cx="1234927" cy="385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0350EA2-63FD-1930-27E7-14D300089545}"/>
              </a:ext>
            </a:extLst>
          </p:cNvPr>
          <p:cNvSpPr txBox="1"/>
          <p:nvPr/>
        </p:nvSpPr>
        <p:spPr>
          <a:xfrm>
            <a:off x="1703388" y="1167135"/>
            <a:ext cx="878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cs typeface="Arial"/>
              </a:rPr>
              <a:t>In table below V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the component,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V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FG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or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A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+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</a:t>
            </a:r>
            <a:endParaRPr lang="en-GB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B1B8FA1-3A24-0712-9A10-71BC3F3477B1}"/>
              </a:ext>
            </a:extLst>
          </p:cNvPr>
          <p:cNvSpPr txBox="1"/>
          <p:nvPr/>
        </p:nvSpPr>
        <p:spPr>
          <a:xfrm>
            <a:off x="767408" y="4399944"/>
            <a:ext cx="211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endParaRPr lang="en-GB" baseline="-25000" dirty="0">
              <a:solidFill>
                <a:srgbClr val="000000"/>
              </a:solidFill>
              <a:cs typeface="Arial"/>
            </a:endParaRP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Pedigree has data and genotypes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996CC4-0099-8D65-8DC4-916D93E77D3B}"/>
              </a:ext>
            </a:extLst>
          </p:cNvPr>
          <p:cNvSpPr txBox="1"/>
          <p:nvPr/>
        </p:nvSpPr>
        <p:spPr>
          <a:xfrm>
            <a:off x="6240016" y="4399944"/>
            <a:ext cx="27778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+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Data and genotypes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as for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plus 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additional pedigree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07B7943-C7F2-918F-FFF3-791D82D2762E}"/>
              </a:ext>
            </a:extLst>
          </p:cNvPr>
          <p:cNvGrpSpPr>
            <a:grpSpLocks noChangeAspect="1"/>
          </p:cNvGrpSpPr>
          <p:nvPr/>
        </p:nvGrpSpPr>
        <p:grpSpPr>
          <a:xfrm>
            <a:off x="3143672" y="4548652"/>
            <a:ext cx="2353602" cy="1036948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F31008-F0DE-B6B8-1C95-CE673ECC7F4A}"/>
                </a:ext>
              </a:extLst>
            </p:cNvPr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9E738A9-8259-88F8-216E-001A99718C7C}"/>
                </a:ext>
              </a:extLst>
            </p:cNvPr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B8E5CBC-7956-552A-B684-9B3B780ABC8D}"/>
                </a:ext>
              </a:extLst>
            </p:cNvPr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6DB9754-A5EF-62E9-5C24-C282B09F8B10}"/>
                </a:ext>
              </a:extLst>
            </p:cNvPr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F0BA976-CBF7-3814-184F-13D5F20322B4}"/>
                </a:ext>
              </a:extLst>
            </p:cNvPr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D3F800E-F865-CDC8-5A2A-E20EB9398B8B}"/>
                </a:ext>
              </a:extLst>
            </p:cNvPr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2348F3F-1F4E-9CB8-074D-2999E738E6F3}"/>
                </a:ext>
              </a:extLst>
            </p:cNvPr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149CA29-6397-2F1E-87F9-EA3BA2AC1FA3}"/>
                </a:ext>
              </a:extLst>
            </p:cNvPr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D62B6D2-8477-459A-7BF2-FB8D0FBA3F8D}"/>
                </a:ext>
              </a:extLst>
            </p:cNvPr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731075D-A180-2331-94AD-9DD8B4A817DE}"/>
                </a:ext>
              </a:extLst>
            </p:cNvPr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CF6E3C6-3706-9241-9550-9CAD5B320296}"/>
                </a:ext>
              </a:extLst>
            </p:cNvPr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31CBF27-A098-FE5F-C6A6-82CCA5343425}"/>
                </a:ext>
              </a:extLst>
            </p:cNvPr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56F50A1-2F4F-1E1D-826C-2E1DC8F986CB}"/>
                </a:ext>
              </a:extLst>
            </p:cNvPr>
            <p:cNvCxnSpPr>
              <a:stCxn id="9" idx="2"/>
              <a:endCxn id="92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271300DC-645B-F7FB-3F26-83917E52F175}"/>
                </a:ext>
              </a:extLst>
            </p:cNvPr>
            <p:cNvCxnSpPr>
              <a:stCxn id="9" idx="2"/>
              <a:endCxn id="93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897216E-984C-FB64-F968-155AB3914544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99B9F5C-3656-C6F1-DF0A-F121314CC43F}"/>
                </a:ext>
              </a:extLst>
            </p:cNvPr>
            <p:cNvCxnSpPr>
              <a:stCxn id="11" idx="2"/>
              <a:endCxn id="93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2933F74-F548-8CAE-E3F0-1C3B0A181B9F}"/>
                </a:ext>
              </a:extLst>
            </p:cNvPr>
            <p:cNvCxnSpPr>
              <a:stCxn id="9" idx="2"/>
              <a:endCxn id="94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124526C-AEBB-D9D5-867C-0B3BB2B4F465}"/>
                </a:ext>
              </a:extLst>
            </p:cNvPr>
            <p:cNvCxnSpPr>
              <a:stCxn id="9" idx="2"/>
              <a:endCxn id="95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24D1C1F5-27D6-F986-0A15-7702073729A8}"/>
                </a:ext>
              </a:extLst>
            </p:cNvPr>
            <p:cNvCxnSpPr>
              <a:stCxn id="11" idx="2"/>
              <a:endCxn id="94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CC77FA5-ADB6-4EE4-7138-CAEC02AF858E}"/>
                </a:ext>
              </a:extLst>
            </p:cNvPr>
            <p:cNvCxnSpPr>
              <a:stCxn id="11" idx="2"/>
              <a:endCxn id="95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F58EDCA2-FEA2-FE6B-A239-FA5CE8F7924C}"/>
                </a:ext>
              </a:extLst>
            </p:cNvPr>
            <p:cNvCxnSpPr>
              <a:stCxn id="91" idx="2"/>
              <a:endCxn id="96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2DB57BF5-9777-E0B2-10C3-555CBF78D4D3}"/>
                </a:ext>
              </a:extLst>
            </p:cNvPr>
            <p:cNvCxnSpPr>
              <a:stCxn id="88" idx="2"/>
              <a:endCxn id="96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93D226C-78B2-A91D-8BCA-C84A2AB24F12}"/>
                </a:ext>
              </a:extLst>
            </p:cNvPr>
            <p:cNvCxnSpPr>
              <a:stCxn id="91" idx="2"/>
              <a:endCxn id="97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73A08B5-0879-CCC3-9ADD-B33019FCA18B}"/>
                </a:ext>
              </a:extLst>
            </p:cNvPr>
            <p:cNvCxnSpPr>
              <a:stCxn id="96" idx="2"/>
              <a:endCxn id="98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FA4D407-2CB3-4CD6-2969-FC519D2ADA3B}"/>
                </a:ext>
              </a:extLst>
            </p:cNvPr>
            <p:cNvCxnSpPr>
              <a:stCxn id="93" idx="2"/>
              <a:endCxn id="98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FC7656EA-AB5A-24A8-2AE1-D252DB00A88F}"/>
                </a:ext>
              </a:extLst>
            </p:cNvPr>
            <p:cNvCxnSpPr>
              <a:stCxn id="88" idx="2"/>
              <a:endCxn id="97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595C1B34-2AD1-193C-8051-51890F21253F}"/>
                </a:ext>
              </a:extLst>
            </p:cNvPr>
            <p:cNvCxnSpPr>
              <a:stCxn id="97" idx="2"/>
              <a:endCxn id="99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17D2042-B070-E520-487C-465CFC33EA70}"/>
                </a:ext>
              </a:extLst>
            </p:cNvPr>
            <p:cNvCxnSpPr>
              <a:stCxn id="94" idx="2"/>
              <a:endCxn id="99" idx="0"/>
            </p:cNvCxnSpPr>
            <p:nvPr/>
          </p:nvCxnSpPr>
          <p:spPr>
            <a:xfrm>
              <a:off x="2054435" y="3938944"/>
              <a:ext cx="1539301" cy="509999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256089C-ABD3-798D-989B-B43B5DA7E5CF}"/>
              </a:ext>
            </a:extLst>
          </p:cNvPr>
          <p:cNvGrpSpPr>
            <a:grpSpLocks noChangeAspect="1"/>
          </p:cNvGrpSpPr>
          <p:nvPr/>
        </p:nvGrpSpPr>
        <p:grpSpPr>
          <a:xfrm>
            <a:off x="8926176" y="4149080"/>
            <a:ext cx="2354400" cy="1922918"/>
            <a:chOff x="5062023" y="2996952"/>
            <a:chExt cx="3254393" cy="26579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4C02169-5DCD-C19E-AB50-74799EDECE3F}"/>
                </a:ext>
              </a:extLst>
            </p:cNvPr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004EDCF-C104-0A2C-012A-DE8B80C3D0C4}"/>
                </a:ext>
              </a:extLst>
            </p:cNvPr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7AB8557-7BB4-0211-8DB4-C8014D0880F6}"/>
                </a:ext>
              </a:extLst>
            </p:cNvPr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534D32B-05A7-7EB0-AA89-6FEDDC6EFA3E}"/>
                </a:ext>
              </a:extLst>
            </p:cNvPr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B9F2946-584B-7916-9C04-86A62C1433BC}"/>
                </a:ext>
              </a:extLst>
            </p:cNvPr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0423110-7156-D65F-5D9A-FCBACDA1F3BD}"/>
                </a:ext>
              </a:extLst>
            </p:cNvPr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BCE8A56-E098-0B9F-5472-4E9F5A6F0276}"/>
                </a:ext>
              </a:extLst>
            </p:cNvPr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2ECF029-E221-0BA1-8E89-0C573DE37767}"/>
                </a:ext>
              </a:extLst>
            </p:cNvPr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E1090C5-967D-1AC8-3246-3894706ABEAE}"/>
                </a:ext>
              </a:extLst>
            </p:cNvPr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7FE18DC-C387-EBB6-A840-C190EF26B2F9}"/>
                </a:ext>
              </a:extLst>
            </p:cNvPr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DBDACE26-9DD9-FF4B-E674-78C3E1CC2046}"/>
                </a:ext>
              </a:extLst>
            </p:cNvPr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58F9A1A-F555-1423-EF12-B4FDD97AF94C}"/>
                </a:ext>
              </a:extLst>
            </p:cNvPr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00D244F1-EFC6-1328-2BBD-128B8DA52AC3}"/>
                </a:ext>
              </a:extLst>
            </p:cNvPr>
            <p:cNvCxnSpPr>
              <a:stCxn id="117" idx="2"/>
              <a:endCxn id="121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72969485-B12B-28B0-90D3-C8D669EEE0AC}"/>
                </a:ext>
              </a:extLst>
            </p:cNvPr>
            <p:cNvCxnSpPr>
              <a:stCxn id="117" idx="2"/>
              <a:endCxn id="122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3A40EC35-E303-8ADB-184A-73213376D4F4}"/>
                </a:ext>
              </a:extLst>
            </p:cNvPr>
            <p:cNvCxnSpPr>
              <a:stCxn id="118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55C07DE1-3B1C-197B-4DB2-7902B63D6167}"/>
                </a:ext>
              </a:extLst>
            </p:cNvPr>
            <p:cNvCxnSpPr>
              <a:stCxn id="118" idx="2"/>
              <a:endCxn id="122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4E6262F5-397D-77B4-4B21-F51FB2736161}"/>
                </a:ext>
              </a:extLst>
            </p:cNvPr>
            <p:cNvCxnSpPr>
              <a:stCxn id="117" idx="2"/>
              <a:endCxn id="123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670DF616-13F6-7C41-4B4D-1BD8813D8F15}"/>
                </a:ext>
              </a:extLst>
            </p:cNvPr>
            <p:cNvCxnSpPr>
              <a:stCxn id="117" idx="2"/>
              <a:endCxn id="124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CDB99FCF-DF75-84E8-9B9A-7054ABDB3931}"/>
                </a:ext>
              </a:extLst>
            </p:cNvPr>
            <p:cNvCxnSpPr>
              <a:stCxn id="118" idx="2"/>
              <a:endCxn id="123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779AC6E7-632A-AEEC-5DAD-2408C53D50F3}"/>
                </a:ext>
              </a:extLst>
            </p:cNvPr>
            <p:cNvCxnSpPr>
              <a:stCxn id="118" idx="2"/>
              <a:endCxn id="124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EA392D5F-FB8B-A1B6-045E-ECD53F58E68C}"/>
                </a:ext>
              </a:extLst>
            </p:cNvPr>
            <p:cNvCxnSpPr>
              <a:stCxn id="120" idx="2"/>
              <a:endCxn id="125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EB1C2E8-7478-31AD-66F8-44748A36BA33}"/>
                </a:ext>
              </a:extLst>
            </p:cNvPr>
            <p:cNvCxnSpPr>
              <a:stCxn id="119" idx="2"/>
              <a:endCxn id="125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FEFFADFB-7719-237A-E63F-F5AD053F76B0}"/>
                </a:ext>
              </a:extLst>
            </p:cNvPr>
            <p:cNvCxnSpPr>
              <a:stCxn id="120" idx="2"/>
              <a:endCxn id="126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82AAB9DF-9B84-DA6B-51B0-8D9B574361D3}"/>
                </a:ext>
              </a:extLst>
            </p:cNvPr>
            <p:cNvCxnSpPr>
              <a:stCxn id="125" idx="2"/>
              <a:endCxn id="127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7678C82C-934F-80DF-CA0C-BFC125DD4606}"/>
                </a:ext>
              </a:extLst>
            </p:cNvPr>
            <p:cNvCxnSpPr>
              <a:stCxn id="122" idx="2"/>
              <a:endCxn id="127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68F6A45D-6382-F4F0-05CB-8479C825F2B7}"/>
                </a:ext>
              </a:extLst>
            </p:cNvPr>
            <p:cNvCxnSpPr>
              <a:stCxn id="119" idx="2"/>
              <a:endCxn id="126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A077F7E-81A6-B26D-FE2E-9BB50C00ABF0}"/>
                </a:ext>
              </a:extLst>
            </p:cNvPr>
            <p:cNvCxnSpPr>
              <a:stCxn id="126" idx="2"/>
              <a:endCxn id="128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E7D98EF5-CBA5-1681-4CF2-7D012EF1A7B5}"/>
                </a:ext>
              </a:extLst>
            </p:cNvPr>
            <p:cNvCxnSpPr>
              <a:stCxn id="123" idx="2"/>
              <a:endCxn id="128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BB141564-4FFB-4EAA-B637-7FAC6BF738EF}"/>
                </a:ext>
              </a:extLst>
            </p:cNvPr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3C793A5-F27B-4884-EFAA-F8B056378FE3}"/>
                </a:ext>
              </a:extLst>
            </p:cNvPr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FCAA178-9D43-D603-8121-7871E2E62DF0}"/>
                </a:ext>
              </a:extLst>
            </p:cNvPr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B58E393-25EC-096B-0DF8-00B11FC64797}"/>
                </a:ext>
              </a:extLst>
            </p:cNvPr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FDFEC9A4-CE16-F328-908F-4E375852AD65}"/>
                </a:ext>
              </a:extLst>
            </p:cNvPr>
            <p:cNvCxnSpPr>
              <a:stCxn id="146" idx="2"/>
              <a:endCxn id="147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4009E99F-7519-4E97-B104-C65981B72211}"/>
                </a:ext>
              </a:extLst>
            </p:cNvPr>
            <p:cNvCxnSpPr>
              <a:stCxn id="147" idx="2"/>
              <a:endCxn id="120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4C27ED8C-EADB-0F90-68CF-B74B0D3F80C4}"/>
                </a:ext>
              </a:extLst>
            </p:cNvPr>
            <p:cNvCxnSpPr>
              <a:stCxn id="146" idx="2"/>
              <a:endCxn id="148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B5A8DCA4-92C7-2D7C-8A02-E89C760E055F}"/>
                </a:ext>
              </a:extLst>
            </p:cNvPr>
            <p:cNvCxnSpPr>
              <a:stCxn id="145" idx="2"/>
              <a:endCxn id="148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A1013502-9CC8-2350-6F59-1CB54F392DC3}"/>
                </a:ext>
              </a:extLst>
            </p:cNvPr>
            <p:cNvCxnSpPr>
              <a:stCxn id="147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05096D05-838C-B85B-20CA-243ED570B1B8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71965A42-75E3-C618-0A82-9D252F3CA012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FF12971E-D044-6F12-38FB-FEACC9E298F4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187F38CF-C462-54D7-3D62-036F18D6AC8D}"/>
                </a:ext>
              </a:extLst>
            </p:cNvPr>
            <p:cNvCxnSpPr>
              <a:stCxn id="147" idx="2"/>
              <a:endCxn id="119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28BDDCE1-C956-B8CB-0ADD-CDF763276323}"/>
                </a:ext>
              </a:extLst>
            </p:cNvPr>
            <p:cNvCxnSpPr>
              <a:stCxn id="148" idx="2"/>
              <a:endCxn id="120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5A706C19-FCE7-5553-7FE8-CDA25DB70A49}"/>
                </a:ext>
              </a:extLst>
            </p:cNvPr>
            <p:cNvCxnSpPr>
              <a:stCxn id="148" idx="2"/>
              <a:endCxn id="117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3189BEB9-6965-C0BA-9549-D6D4E3B4D4DB}"/>
                </a:ext>
              </a:extLst>
            </p:cNvPr>
            <p:cNvCxnSpPr>
              <a:stCxn id="148" idx="2"/>
              <a:endCxn id="118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ED32BC36-416C-9D18-133C-1635695A1DB6}"/>
                </a:ext>
              </a:extLst>
            </p:cNvPr>
            <p:cNvCxnSpPr>
              <a:stCxn id="148" idx="2"/>
              <a:endCxn id="119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6C9BE017-6FAE-7BF2-DBA6-D1C4393327BA}"/>
                </a:ext>
              </a:extLst>
            </p:cNvPr>
            <p:cNvCxnSpPr>
              <a:stCxn id="145" idx="2"/>
              <a:endCxn id="147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6666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8052A-DCC4-AC70-8EAA-2B44E86E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A8F9-2246-1938-A4D7-1969023C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B8D6684-541C-D7C2-6A51-59F2DDA69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665346"/>
              </p:ext>
            </p:extLst>
          </p:nvPr>
        </p:nvGraphicFramePr>
        <p:xfrm>
          <a:off x="1703388" y="1780024"/>
          <a:ext cx="87852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292">
                  <a:extLst>
                    <a:ext uri="{9D8B030D-6E8A-4147-A177-3AD203B41FA5}">
                      <a16:colId xmlns:a16="http://schemas.microsoft.com/office/drawing/2014/main" val="231102012"/>
                    </a:ext>
                  </a:extLst>
                </a:gridCol>
                <a:gridCol w="1416116">
                  <a:extLst>
                    <a:ext uri="{9D8B030D-6E8A-4147-A177-3AD203B41FA5}">
                      <a16:colId xmlns:a16="http://schemas.microsoft.com/office/drawing/2014/main" val="72618059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584847740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152204552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1734676115"/>
                    </a:ext>
                  </a:extLst>
                </a:gridCol>
                <a:gridCol w="1464204">
                  <a:extLst>
                    <a:ext uri="{9D8B030D-6E8A-4147-A177-3AD203B41FA5}">
                      <a16:colId xmlns:a16="http://schemas.microsoft.com/office/drawing/2014/main" val="375784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Target Population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21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Matrix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s.e.(V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3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422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13.6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363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G</a:t>
                      </a:r>
                      <a:r>
                        <a:rPr lang="en-GB" sz="1800" baseline="-25000" dirty="0"/>
                        <a:t>FG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24.4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0.701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  8.8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655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/>
                        <a:t>A</a:t>
                      </a:r>
                      <a:r>
                        <a:rPr lang="en-GB" sz="1800" baseline="-25000" dirty="0"/>
                        <a:t>+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38.0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32.1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0.422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69244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E983E-1197-378A-CCEC-86365C70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697B8B-A4F5-476F-A680-8191BD338EC5}" type="datetime4">
              <a:rPr lang="en-GB">
                <a:solidFill>
                  <a:srgbClr val="000000"/>
                </a:solidFill>
                <a:cs typeface="Arial"/>
              </a:rPr>
              <a:pPr>
                <a:defRPr/>
              </a:pPr>
              <a:t>09 February 2025</a:t>
            </a:fld>
            <a:endParaRPr lang="en-GB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17796-C7B5-2B9D-8126-9EF35D79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  <a:cs typeface="Arial"/>
              </a:rPr>
              <a:t>Lecture 9</a:t>
            </a:r>
            <a:endParaRPr lang="en-GB" dirty="0">
              <a:solidFill>
                <a:srgbClr val="000000"/>
              </a:solidFill>
              <a:cs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4C34326-9752-44BD-CA5C-A7AECA765F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8009" y="2107838"/>
          <a:ext cx="1234927" cy="38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9E7A55D-4D4C-D4C9-3A63-BD95262FA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9" y="2107838"/>
                        <a:ext cx="1234927" cy="385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A3EABC4-9537-FBEE-86B7-7AA1524910A7}"/>
              </a:ext>
            </a:extLst>
          </p:cNvPr>
          <p:cNvSpPr txBox="1"/>
          <p:nvPr/>
        </p:nvSpPr>
        <p:spPr>
          <a:xfrm>
            <a:off x="1703388" y="1167135"/>
            <a:ext cx="878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cs typeface="Arial"/>
              </a:rPr>
              <a:t>In table below V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the component,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V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is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FG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, or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A</a:t>
            </a:r>
            <a:r>
              <a:rPr lang="en-GB" sz="2400" baseline="-25000" dirty="0">
                <a:solidFill>
                  <a:srgbClr val="000000"/>
                </a:solidFill>
                <a:cs typeface="Arial"/>
              </a:rPr>
              <a:t>+</a:t>
            </a:r>
            <a:r>
              <a:rPr lang="en-GB" sz="2400" dirty="0">
                <a:solidFill>
                  <a:srgbClr val="000000"/>
                </a:solidFill>
                <a:cs typeface="Arial"/>
              </a:rPr>
              <a:t> </a:t>
            </a:r>
            <a:r>
              <a:rPr lang="en-GB" sz="2400" b="1" dirty="0">
                <a:solidFill>
                  <a:srgbClr val="000000"/>
                </a:solidFill>
                <a:cs typeface="Arial"/>
              </a:rPr>
              <a:t> </a:t>
            </a:r>
            <a:endParaRPr lang="en-GB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AF1461-2191-C71D-213E-692BA961A8DA}"/>
              </a:ext>
            </a:extLst>
          </p:cNvPr>
          <p:cNvSpPr txBox="1"/>
          <p:nvPr/>
        </p:nvSpPr>
        <p:spPr>
          <a:xfrm>
            <a:off x="767408" y="4399944"/>
            <a:ext cx="211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endParaRPr lang="en-GB" baseline="-25000" dirty="0">
              <a:solidFill>
                <a:srgbClr val="000000"/>
              </a:solidFill>
              <a:cs typeface="Arial"/>
            </a:endParaRP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Pedigree has data and genotypes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0D3AE4-1AE7-972E-2431-8F37F7BB5651}"/>
              </a:ext>
            </a:extLst>
          </p:cNvPr>
          <p:cNvSpPr txBox="1"/>
          <p:nvPr/>
        </p:nvSpPr>
        <p:spPr>
          <a:xfrm>
            <a:off x="6240016" y="4399944"/>
            <a:ext cx="27778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+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Data and genotypes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as for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1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A</a:t>
            </a:r>
            <a:r>
              <a:rPr lang="en-GB" dirty="0">
                <a:solidFill>
                  <a:srgbClr val="000000"/>
                </a:solidFill>
                <a:cs typeface="Arial"/>
              </a:rPr>
              <a:t>, </a:t>
            </a:r>
            <a:r>
              <a:rPr lang="en-GB" b="1" dirty="0">
                <a:solidFill>
                  <a:srgbClr val="000000"/>
                </a:solidFill>
                <a:cs typeface="Arial"/>
              </a:rPr>
              <a:t>G</a:t>
            </a:r>
            <a:r>
              <a:rPr lang="en-GB" baseline="-25000" dirty="0">
                <a:solidFill>
                  <a:srgbClr val="000000"/>
                </a:solidFill>
                <a:cs typeface="Arial"/>
              </a:rPr>
              <a:t>FG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plus 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additional pedigree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F88D46-983C-1054-4720-D2DAA74477B6}"/>
              </a:ext>
            </a:extLst>
          </p:cNvPr>
          <p:cNvGrpSpPr>
            <a:grpSpLocks noChangeAspect="1"/>
          </p:cNvGrpSpPr>
          <p:nvPr/>
        </p:nvGrpSpPr>
        <p:grpSpPr>
          <a:xfrm>
            <a:off x="3143672" y="4548652"/>
            <a:ext cx="2353602" cy="1036948"/>
            <a:chOff x="457673" y="2931280"/>
            <a:chExt cx="4128360" cy="1769664"/>
          </a:xfrm>
          <a:solidFill>
            <a:srgbClr val="FFFF99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1FAFCA-CC86-86CF-8C24-10C4536FA130}"/>
                </a:ext>
              </a:extLst>
            </p:cNvPr>
            <p:cNvSpPr/>
            <p:nvPr/>
          </p:nvSpPr>
          <p:spPr>
            <a:xfrm>
              <a:off x="118762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70C910-CE98-384B-0A17-CF4441FB899B}"/>
                </a:ext>
              </a:extLst>
            </p:cNvPr>
            <p:cNvSpPr/>
            <p:nvPr/>
          </p:nvSpPr>
          <p:spPr>
            <a:xfrm>
              <a:off x="1907704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0FAA390-62F5-2922-D24D-42A115A64FA8}"/>
                </a:ext>
              </a:extLst>
            </p:cNvPr>
            <p:cNvSpPr/>
            <p:nvPr/>
          </p:nvSpPr>
          <p:spPr>
            <a:xfrm>
              <a:off x="4334033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E8666A1-143D-498E-6969-2196CA05DD1F}"/>
                </a:ext>
              </a:extLst>
            </p:cNvPr>
            <p:cNvSpPr/>
            <p:nvPr/>
          </p:nvSpPr>
          <p:spPr>
            <a:xfrm>
              <a:off x="3563888" y="2931280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1B20B1E-1BE8-D98A-80CD-44CD729363D1}"/>
                </a:ext>
              </a:extLst>
            </p:cNvPr>
            <p:cNvSpPr/>
            <p:nvPr/>
          </p:nvSpPr>
          <p:spPr>
            <a:xfrm>
              <a:off x="457673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5AAAAFF-5133-54EB-640F-22AF1D3D5E39}"/>
                </a:ext>
              </a:extLst>
            </p:cNvPr>
            <p:cNvSpPr/>
            <p:nvPr/>
          </p:nvSpPr>
          <p:spPr>
            <a:xfrm>
              <a:off x="119305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4812B19-9319-2FD1-84CB-38E62746B566}"/>
                </a:ext>
              </a:extLst>
            </p:cNvPr>
            <p:cNvSpPr/>
            <p:nvPr/>
          </p:nvSpPr>
          <p:spPr>
            <a:xfrm>
              <a:off x="1928435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3C6E0BE-BCAC-6F6B-F0E1-17DC9B11DFF3}"/>
                </a:ext>
              </a:extLst>
            </p:cNvPr>
            <p:cNvSpPr/>
            <p:nvPr/>
          </p:nvSpPr>
          <p:spPr>
            <a:xfrm>
              <a:off x="2663816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69869F1-8AC0-F682-D60D-2EDCF668889D}"/>
                </a:ext>
              </a:extLst>
            </p:cNvPr>
            <p:cNvSpPr/>
            <p:nvPr/>
          </p:nvSpPr>
          <p:spPr>
            <a:xfrm>
              <a:off x="3579074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9771894-DDFB-588C-5B20-5D53E377725F}"/>
                </a:ext>
              </a:extLst>
            </p:cNvPr>
            <p:cNvSpPr/>
            <p:nvPr/>
          </p:nvSpPr>
          <p:spPr>
            <a:xfrm>
              <a:off x="4320000" y="3686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97DE4CC-ED13-2680-437C-9F6AB82FBF88}"/>
                </a:ext>
              </a:extLst>
            </p:cNvPr>
            <p:cNvSpPr/>
            <p:nvPr/>
          </p:nvSpPr>
          <p:spPr>
            <a:xfrm>
              <a:off x="2705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AAC2B8A-37DA-4538-84D6-AA372E4AE5D7}"/>
                </a:ext>
              </a:extLst>
            </p:cNvPr>
            <p:cNvSpPr/>
            <p:nvPr/>
          </p:nvSpPr>
          <p:spPr>
            <a:xfrm>
              <a:off x="3467736" y="4448944"/>
              <a:ext cx="252000" cy="252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7EEFE02-9E67-22EA-41F1-2E6242BD648E}"/>
                </a:ext>
              </a:extLst>
            </p:cNvPr>
            <p:cNvCxnSpPr>
              <a:stCxn id="9" idx="2"/>
              <a:endCxn id="92" idx="0"/>
            </p:cNvCxnSpPr>
            <p:nvPr/>
          </p:nvCxnSpPr>
          <p:spPr>
            <a:xfrm flipH="1">
              <a:off x="583673" y="3183280"/>
              <a:ext cx="72995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F687DE6-E84E-EFB9-A5B4-D99CB26AD428}"/>
                </a:ext>
              </a:extLst>
            </p:cNvPr>
            <p:cNvCxnSpPr>
              <a:stCxn id="9" idx="2"/>
              <a:endCxn id="93" idx="0"/>
            </p:cNvCxnSpPr>
            <p:nvPr/>
          </p:nvCxnSpPr>
          <p:spPr>
            <a:xfrm>
              <a:off x="1313624" y="3183280"/>
              <a:ext cx="543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C51790E-5445-F74B-E8F3-2672ED1620FB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615487" y="3183280"/>
              <a:ext cx="1418217" cy="480432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64C7BFB-E199-7C22-4831-9CFDBC50D39B}"/>
                </a:ext>
              </a:extLst>
            </p:cNvPr>
            <p:cNvCxnSpPr>
              <a:stCxn id="11" idx="2"/>
              <a:endCxn id="93" idx="0"/>
            </p:cNvCxnSpPr>
            <p:nvPr/>
          </p:nvCxnSpPr>
          <p:spPr>
            <a:xfrm flipH="1">
              <a:off x="1319054" y="3183280"/>
              <a:ext cx="714650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FAF4092B-BD51-4FC2-2897-BC488BE0BFDD}"/>
                </a:ext>
              </a:extLst>
            </p:cNvPr>
            <p:cNvCxnSpPr>
              <a:stCxn id="9" idx="2"/>
              <a:endCxn id="94" idx="0"/>
            </p:cNvCxnSpPr>
            <p:nvPr/>
          </p:nvCxnSpPr>
          <p:spPr>
            <a:xfrm>
              <a:off x="1313624" y="3183280"/>
              <a:ext cx="74081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C2A01AC-23BC-5530-CC82-3F9431CB0F04}"/>
                </a:ext>
              </a:extLst>
            </p:cNvPr>
            <p:cNvCxnSpPr>
              <a:stCxn id="9" idx="2"/>
              <a:endCxn id="95" idx="0"/>
            </p:cNvCxnSpPr>
            <p:nvPr/>
          </p:nvCxnSpPr>
          <p:spPr>
            <a:xfrm>
              <a:off x="1313624" y="3183280"/>
              <a:ext cx="147619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0829DEA0-A69E-A391-F849-39ECA0C6D12C}"/>
                </a:ext>
              </a:extLst>
            </p:cNvPr>
            <p:cNvCxnSpPr>
              <a:stCxn id="11" idx="2"/>
              <a:endCxn id="94" idx="0"/>
            </p:cNvCxnSpPr>
            <p:nvPr/>
          </p:nvCxnSpPr>
          <p:spPr>
            <a:xfrm>
              <a:off x="2033704" y="3183280"/>
              <a:ext cx="20731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F01111C-4BAF-B86D-6F78-CE55B9A62BF1}"/>
                </a:ext>
              </a:extLst>
            </p:cNvPr>
            <p:cNvCxnSpPr>
              <a:stCxn id="11" idx="2"/>
              <a:endCxn id="95" idx="0"/>
            </p:cNvCxnSpPr>
            <p:nvPr/>
          </p:nvCxnSpPr>
          <p:spPr>
            <a:xfrm>
              <a:off x="2033704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04CAC0E3-FF11-D2BF-4890-0A562FBC9E00}"/>
                </a:ext>
              </a:extLst>
            </p:cNvPr>
            <p:cNvCxnSpPr>
              <a:stCxn id="91" idx="2"/>
              <a:endCxn id="96" idx="0"/>
            </p:cNvCxnSpPr>
            <p:nvPr/>
          </p:nvCxnSpPr>
          <p:spPr>
            <a:xfrm>
              <a:off x="3689888" y="3183280"/>
              <a:ext cx="15186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EBC92DC4-889A-7955-CECB-CFA4193D7711}"/>
                </a:ext>
              </a:extLst>
            </p:cNvPr>
            <p:cNvCxnSpPr>
              <a:stCxn id="88" idx="2"/>
              <a:endCxn id="96" idx="0"/>
            </p:cNvCxnSpPr>
            <p:nvPr/>
          </p:nvCxnSpPr>
          <p:spPr>
            <a:xfrm flipH="1">
              <a:off x="3705074" y="3183280"/>
              <a:ext cx="754959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314A351A-84BA-9889-099F-45690CAF3D31}"/>
                </a:ext>
              </a:extLst>
            </p:cNvPr>
            <p:cNvCxnSpPr>
              <a:stCxn id="91" idx="2"/>
              <a:endCxn id="97" idx="0"/>
            </p:cNvCxnSpPr>
            <p:nvPr/>
          </p:nvCxnSpPr>
          <p:spPr>
            <a:xfrm>
              <a:off x="3689888" y="3183280"/>
              <a:ext cx="756112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5E03D57-45F0-F9D9-059F-CE5EDB159176}"/>
                </a:ext>
              </a:extLst>
            </p:cNvPr>
            <p:cNvCxnSpPr>
              <a:stCxn id="96" idx="2"/>
              <a:endCxn id="98" idx="0"/>
            </p:cNvCxnSpPr>
            <p:nvPr/>
          </p:nvCxnSpPr>
          <p:spPr>
            <a:xfrm flipH="1">
              <a:off x="2831736" y="3938944"/>
              <a:ext cx="873338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E4BF141-B346-F87F-AC12-CE0DDBC83892}"/>
                </a:ext>
              </a:extLst>
            </p:cNvPr>
            <p:cNvCxnSpPr>
              <a:stCxn id="93" idx="2"/>
              <a:endCxn id="98" idx="0"/>
            </p:cNvCxnSpPr>
            <p:nvPr/>
          </p:nvCxnSpPr>
          <p:spPr>
            <a:xfrm>
              <a:off x="1319054" y="3938944"/>
              <a:ext cx="1512682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15E985E-AA5E-B600-FE35-5841860ADB2C}"/>
                </a:ext>
              </a:extLst>
            </p:cNvPr>
            <p:cNvCxnSpPr>
              <a:stCxn id="88" idx="2"/>
              <a:endCxn id="97" idx="0"/>
            </p:cNvCxnSpPr>
            <p:nvPr/>
          </p:nvCxnSpPr>
          <p:spPr>
            <a:xfrm flipH="1">
              <a:off x="4446000" y="3183280"/>
              <a:ext cx="14033" cy="50366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0A5CF89D-2F58-CB81-B17B-448F111B03B3}"/>
                </a:ext>
              </a:extLst>
            </p:cNvPr>
            <p:cNvCxnSpPr>
              <a:stCxn id="97" idx="2"/>
              <a:endCxn id="99" idx="0"/>
            </p:cNvCxnSpPr>
            <p:nvPr/>
          </p:nvCxnSpPr>
          <p:spPr>
            <a:xfrm flipH="1">
              <a:off x="3593736" y="3938944"/>
              <a:ext cx="852264" cy="510000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60CA30F9-0239-D34C-98AF-CF402F9E21C4}"/>
                </a:ext>
              </a:extLst>
            </p:cNvPr>
            <p:cNvCxnSpPr>
              <a:stCxn id="94" idx="2"/>
              <a:endCxn id="99" idx="0"/>
            </p:cNvCxnSpPr>
            <p:nvPr/>
          </p:nvCxnSpPr>
          <p:spPr>
            <a:xfrm>
              <a:off x="2054435" y="3938944"/>
              <a:ext cx="1539301" cy="509999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60B9B40-7F88-F653-0310-6958BC70FB15}"/>
              </a:ext>
            </a:extLst>
          </p:cNvPr>
          <p:cNvGrpSpPr>
            <a:grpSpLocks noChangeAspect="1"/>
          </p:cNvGrpSpPr>
          <p:nvPr/>
        </p:nvGrpSpPr>
        <p:grpSpPr>
          <a:xfrm>
            <a:off x="8926176" y="4149080"/>
            <a:ext cx="2354400" cy="1922918"/>
            <a:chOff x="5062023" y="2996952"/>
            <a:chExt cx="3254393" cy="26579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F556158-32BC-8B72-DB91-33A8C9301285}"/>
                </a:ext>
              </a:extLst>
            </p:cNvPr>
            <p:cNvSpPr/>
            <p:nvPr/>
          </p:nvSpPr>
          <p:spPr>
            <a:xfrm>
              <a:off x="563744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8B09753-CBC1-3344-58DA-B1728A520781}"/>
                </a:ext>
              </a:extLst>
            </p:cNvPr>
            <p:cNvSpPr/>
            <p:nvPr/>
          </p:nvSpPr>
          <p:spPr>
            <a:xfrm>
              <a:off x="6205085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156ECB2-FC86-A069-E2D4-447C5D202F17}"/>
                </a:ext>
              </a:extLst>
            </p:cNvPr>
            <p:cNvSpPr/>
            <p:nvPr/>
          </p:nvSpPr>
          <p:spPr>
            <a:xfrm>
              <a:off x="8117764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97A4C94-E5F7-4598-FD5C-660DDC9C9D4E}"/>
                </a:ext>
              </a:extLst>
            </p:cNvPr>
            <p:cNvSpPr/>
            <p:nvPr/>
          </p:nvSpPr>
          <p:spPr>
            <a:xfrm>
              <a:off x="7510657" y="4221088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20DE91A-E307-18F8-9276-4584F92A163E}"/>
                </a:ext>
              </a:extLst>
            </p:cNvPr>
            <p:cNvSpPr/>
            <p:nvPr/>
          </p:nvSpPr>
          <p:spPr>
            <a:xfrm>
              <a:off x="5062023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866233-7800-945D-D2C0-CA3BC0AF8797}"/>
                </a:ext>
              </a:extLst>
            </p:cNvPr>
            <p:cNvSpPr/>
            <p:nvPr/>
          </p:nvSpPr>
          <p:spPr>
            <a:xfrm>
              <a:off x="5641725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7A8F633-55A9-4421-2AA3-02910391489C}"/>
                </a:ext>
              </a:extLst>
            </p:cNvPr>
            <p:cNvSpPr/>
            <p:nvPr/>
          </p:nvSpPr>
          <p:spPr>
            <a:xfrm>
              <a:off x="6221427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BDCFE50-B816-F837-89A6-A44D1E86AEE4}"/>
                </a:ext>
              </a:extLst>
            </p:cNvPr>
            <p:cNvSpPr/>
            <p:nvPr/>
          </p:nvSpPr>
          <p:spPr>
            <a:xfrm>
              <a:off x="68011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406CD73-7719-5512-4704-69DD15E861B8}"/>
                </a:ext>
              </a:extLst>
            </p:cNvPr>
            <p:cNvSpPr/>
            <p:nvPr/>
          </p:nvSpPr>
          <p:spPr>
            <a:xfrm>
              <a:off x="7522629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CE25A99-1E70-0F7B-42B0-E243C3029B76}"/>
                </a:ext>
              </a:extLst>
            </p:cNvPr>
            <p:cNvSpPr/>
            <p:nvPr/>
          </p:nvSpPr>
          <p:spPr>
            <a:xfrm>
              <a:off x="8106702" y="4833345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7B3D012-6F18-105E-D440-6DBDC3D329C1}"/>
                </a:ext>
              </a:extLst>
            </p:cNvPr>
            <p:cNvSpPr/>
            <p:nvPr/>
          </p:nvSpPr>
          <p:spPr>
            <a:xfrm>
              <a:off x="6834175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902F58D-66E6-F383-8201-76BB7B8E3599}"/>
                </a:ext>
              </a:extLst>
            </p:cNvPr>
            <p:cNvSpPr/>
            <p:nvPr/>
          </p:nvSpPr>
          <p:spPr>
            <a:xfrm>
              <a:off x="7434861" y="5450736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FB8391CC-CB7B-1D19-10D3-E84C001A91E5}"/>
                </a:ext>
              </a:extLst>
            </p:cNvPr>
            <p:cNvCxnSpPr>
              <a:stCxn id="117" idx="2"/>
              <a:endCxn id="121" idx="0"/>
            </p:cNvCxnSpPr>
            <p:nvPr/>
          </p:nvCxnSpPr>
          <p:spPr>
            <a:xfrm flipH="1">
              <a:off x="5161349" y="4425264"/>
              <a:ext cx="57542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19CDD42A-54E1-9539-AB01-93F790195771}"/>
                </a:ext>
              </a:extLst>
            </p:cNvPr>
            <p:cNvCxnSpPr>
              <a:stCxn id="117" idx="2"/>
              <a:endCxn id="122" idx="0"/>
            </p:cNvCxnSpPr>
            <p:nvPr/>
          </p:nvCxnSpPr>
          <p:spPr>
            <a:xfrm>
              <a:off x="5736771" y="4425264"/>
              <a:ext cx="428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4A87B2F2-F1D1-07DA-17E8-862BA3EDFFF4}"/>
                </a:ext>
              </a:extLst>
            </p:cNvPr>
            <p:cNvCxnSpPr>
              <a:stCxn id="118" idx="2"/>
            </p:cNvCxnSpPr>
            <p:nvPr/>
          </p:nvCxnSpPr>
          <p:spPr>
            <a:xfrm flipH="1">
              <a:off x="5186428" y="4425264"/>
              <a:ext cx="1117983" cy="389257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CF4D0A15-FF61-4EC5-ABC0-B61E261CE851}"/>
                </a:ext>
              </a:extLst>
            </p:cNvPr>
            <p:cNvCxnSpPr>
              <a:stCxn id="118" idx="2"/>
              <a:endCxn id="122" idx="0"/>
            </p:cNvCxnSpPr>
            <p:nvPr/>
          </p:nvCxnSpPr>
          <p:spPr>
            <a:xfrm flipH="1">
              <a:off x="5741051" y="4425264"/>
              <a:ext cx="563360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D1C5BEF2-4A90-2998-92C4-4333DF2DAF3C}"/>
                </a:ext>
              </a:extLst>
            </p:cNvPr>
            <p:cNvCxnSpPr>
              <a:stCxn id="117" idx="2"/>
              <a:endCxn id="123" idx="0"/>
            </p:cNvCxnSpPr>
            <p:nvPr/>
          </p:nvCxnSpPr>
          <p:spPr>
            <a:xfrm>
              <a:off x="5736771" y="4425264"/>
              <a:ext cx="583983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337F571-D01E-253D-E0B2-E3CFCD488B59}"/>
                </a:ext>
              </a:extLst>
            </p:cNvPr>
            <p:cNvCxnSpPr>
              <a:stCxn id="117" idx="2"/>
              <a:endCxn id="124" idx="0"/>
            </p:cNvCxnSpPr>
            <p:nvPr/>
          </p:nvCxnSpPr>
          <p:spPr>
            <a:xfrm>
              <a:off x="5736771" y="4425264"/>
              <a:ext cx="116368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549E9A4-EC56-9934-4AAB-F85C35126899}"/>
                </a:ext>
              </a:extLst>
            </p:cNvPr>
            <p:cNvCxnSpPr>
              <a:stCxn id="118" idx="2"/>
              <a:endCxn id="123" idx="0"/>
            </p:cNvCxnSpPr>
            <p:nvPr/>
          </p:nvCxnSpPr>
          <p:spPr>
            <a:xfrm>
              <a:off x="6304411" y="4425264"/>
              <a:ext cx="1634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AC325A3F-1AB6-7F97-0FAD-AE4748B4D2DB}"/>
                </a:ext>
              </a:extLst>
            </p:cNvPr>
            <p:cNvCxnSpPr>
              <a:stCxn id="118" idx="2"/>
              <a:endCxn id="124" idx="0"/>
            </p:cNvCxnSpPr>
            <p:nvPr/>
          </p:nvCxnSpPr>
          <p:spPr>
            <a:xfrm>
              <a:off x="6304411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EB6F5378-1983-3BD0-8636-07DAD6636BE0}"/>
                </a:ext>
              </a:extLst>
            </p:cNvPr>
            <p:cNvCxnSpPr>
              <a:stCxn id="120" idx="2"/>
              <a:endCxn id="125" idx="0"/>
            </p:cNvCxnSpPr>
            <p:nvPr/>
          </p:nvCxnSpPr>
          <p:spPr>
            <a:xfrm>
              <a:off x="7609983" y="4425264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734D2261-EC3E-9AC1-A3FC-93DC1BFAA74C}"/>
                </a:ext>
              </a:extLst>
            </p:cNvPr>
            <p:cNvCxnSpPr>
              <a:stCxn id="119" idx="2"/>
              <a:endCxn id="125" idx="0"/>
            </p:cNvCxnSpPr>
            <p:nvPr/>
          </p:nvCxnSpPr>
          <p:spPr>
            <a:xfrm flipH="1">
              <a:off x="7621955" y="4425264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B68C29A9-F92B-A87D-1520-81991B7A77F7}"/>
                </a:ext>
              </a:extLst>
            </p:cNvPr>
            <p:cNvCxnSpPr>
              <a:stCxn id="120" idx="2"/>
              <a:endCxn id="126" idx="0"/>
            </p:cNvCxnSpPr>
            <p:nvPr/>
          </p:nvCxnSpPr>
          <p:spPr>
            <a:xfrm>
              <a:off x="7609983" y="4425264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7DA52249-CB5B-9855-4182-D9C7324D00D5}"/>
                </a:ext>
              </a:extLst>
            </p:cNvPr>
            <p:cNvCxnSpPr>
              <a:stCxn id="125" idx="2"/>
              <a:endCxn id="127" idx="0"/>
            </p:cNvCxnSpPr>
            <p:nvPr/>
          </p:nvCxnSpPr>
          <p:spPr>
            <a:xfrm flipH="1">
              <a:off x="6933501" y="5037521"/>
              <a:ext cx="68845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F800AA1F-87AA-1EC3-991E-6982E75A87A4}"/>
                </a:ext>
              </a:extLst>
            </p:cNvPr>
            <p:cNvCxnSpPr>
              <a:stCxn id="122" idx="2"/>
              <a:endCxn id="127" idx="0"/>
            </p:cNvCxnSpPr>
            <p:nvPr/>
          </p:nvCxnSpPr>
          <p:spPr>
            <a:xfrm>
              <a:off x="5741051" y="5037521"/>
              <a:ext cx="1192450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708D7625-2CEA-6106-2EC5-51D163599A72}"/>
                </a:ext>
              </a:extLst>
            </p:cNvPr>
            <p:cNvCxnSpPr>
              <a:stCxn id="119" idx="2"/>
              <a:endCxn id="126" idx="0"/>
            </p:cNvCxnSpPr>
            <p:nvPr/>
          </p:nvCxnSpPr>
          <p:spPr>
            <a:xfrm flipH="1">
              <a:off x="8206028" y="4425264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FF7E5FB2-6E71-29C8-6C6C-907B8C4481E7}"/>
                </a:ext>
              </a:extLst>
            </p:cNvPr>
            <p:cNvCxnSpPr>
              <a:stCxn id="126" idx="2"/>
              <a:endCxn id="128" idx="0"/>
            </p:cNvCxnSpPr>
            <p:nvPr/>
          </p:nvCxnSpPr>
          <p:spPr>
            <a:xfrm flipH="1">
              <a:off x="7534187" y="5037521"/>
              <a:ext cx="671841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7AF2A423-3DD8-F08E-F504-2BF44C7F49C5}"/>
                </a:ext>
              </a:extLst>
            </p:cNvPr>
            <p:cNvCxnSpPr>
              <a:stCxn id="123" idx="2"/>
              <a:endCxn id="128" idx="0"/>
            </p:cNvCxnSpPr>
            <p:nvPr/>
          </p:nvCxnSpPr>
          <p:spPr>
            <a:xfrm>
              <a:off x="6320753" y="5037521"/>
              <a:ext cx="1213434" cy="413214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D87F1BB-B795-CFD5-D245-A855B8EB13E1}"/>
                </a:ext>
              </a:extLst>
            </p:cNvPr>
            <p:cNvSpPr/>
            <p:nvPr/>
          </p:nvSpPr>
          <p:spPr>
            <a:xfrm>
              <a:off x="7109652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D61D751-8F67-0A23-638E-8D2D81B1CC2F}"/>
                </a:ext>
              </a:extLst>
            </p:cNvPr>
            <p:cNvSpPr/>
            <p:nvPr/>
          </p:nvSpPr>
          <p:spPr>
            <a:xfrm>
              <a:off x="6502545" y="2996952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A6E9815B-0F31-3DDB-4C09-60FBD38E5448}"/>
                </a:ext>
              </a:extLst>
            </p:cNvPr>
            <p:cNvSpPr/>
            <p:nvPr/>
          </p:nvSpPr>
          <p:spPr>
            <a:xfrm>
              <a:off x="6514517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4B2BEC37-E36D-2FE9-6E08-C55C0845EBC6}"/>
                </a:ext>
              </a:extLst>
            </p:cNvPr>
            <p:cNvSpPr/>
            <p:nvPr/>
          </p:nvSpPr>
          <p:spPr>
            <a:xfrm>
              <a:off x="7098590" y="3609209"/>
              <a:ext cx="198652" cy="204176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D3FE8C0C-2AF7-6422-B924-D9946748665D}"/>
                </a:ext>
              </a:extLst>
            </p:cNvPr>
            <p:cNvCxnSpPr>
              <a:stCxn id="146" idx="2"/>
              <a:endCxn id="147" idx="0"/>
            </p:cNvCxnSpPr>
            <p:nvPr/>
          </p:nvCxnSpPr>
          <p:spPr>
            <a:xfrm>
              <a:off x="6601871" y="3201128"/>
              <a:ext cx="11971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B53C542C-3BD0-F763-64AB-6272E68A5C8C}"/>
                </a:ext>
              </a:extLst>
            </p:cNvPr>
            <p:cNvCxnSpPr>
              <a:stCxn id="147" idx="2"/>
              <a:endCxn id="120" idx="0"/>
            </p:cNvCxnSpPr>
            <p:nvPr/>
          </p:nvCxnSpPr>
          <p:spPr>
            <a:xfrm>
              <a:off x="6613843" y="3813385"/>
              <a:ext cx="996140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0B9C1FBF-18BC-E117-BF0E-172FDF2C11B6}"/>
                </a:ext>
              </a:extLst>
            </p:cNvPr>
            <p:cNvCxnSpPr>
              <a:stCxn id="146" idx="2"/>
              <a:endCxn id="148" idx="0"/>
            </p:cNvCxnSpPr>
            <p:nvPr/>
          </p:nvCxnSpPr>
          <p:spPr>
            <a:xfrm>
              <a:off x="6601871" y="3201128"/>
              <a:ext cx="596044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B3DB2469-742E-92B4-A782-245473BAF635}"/>
                </a:ext>
              </a:extLst>
            </p:cNvPr>
            <p:cNvCxnSpPr>
              <a:stCxn id="145" idx="2"/>
              <a:endCxn id="148" idx="0"/>
            </p:cNvCxnSpPr>
            <p:nvPr/>
          </p:nvCxnSpPr>
          <p:spPr>
            <a:xfrm flipH="1">
              <a:off x="7197916" y="3201128"/>
              <a:ext cx="11062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1F6F2A57-1973-B554-639A-76159EA724DF}"/>
                </a:ext>
              </a:extLst>
            </p:cNvPr>
            <p:cNvCxnSpPr>
              <a:stCxn id="147" idx="2"/>
            </p:cNvCxnSpPr>
            <p:nvPr/>
          </p:nvCxnSpPr>
          <p:spPr>
            <a:xfrm flipH="1">
              <a:off x="6304411" y="3813385"/>
              <a:ext cx="30943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F042541B-2018-857B-E46C-71079067325C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C81063B9-D8D6-698A-7087-2B26992B1C8E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CD6719FC-49AD-3703-943A-7DE00344D97C}"/>
                </a:ext>
              </a:extLst>
            </p:cNvPr>
            <p:cNvCxnSpPr>
              <a:stCxn id="147" idx="2"/>
              <a:endCxn id="117" idx="0"/>
            </p:cNvCxnSpPr>
            <p:nvPr/>
          </p:nvCxnSpPr>
          <p:spPr>
            <a:xfrm flipH="1">
              <a:off x="5736771" y="3813385"/>
              <a:ext cx="877072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C7C48B90-A7C4-F5BF-1657-C69ACE81CC72}"/>
                </a:ext>
              </a:extLst>
            </p:cNvPr>
            <p:cNvCxnSpPr>
              <a:stCxn id="147" idx="2"/>
              <a:endCxn id="119" idx="0"/>
            </p:cNvCxnSpPr>
            <p:nvPr/>
          </p:nvCxnSpPr>
          <p:spPr>
            <a:xfrm>
              <a:off x="6613843" y="3813385"/>
              <a:ext cx="160324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589C9EEA-9089-944B-6991-86826206519A}"/>
                </a:ext>
              </a:extLst>
            </p:cNvPr>
            <p:cNvCxnSpPr>
              <a:stCxn id="148" idx="2"/>
              <a:endCxn id="120" idx="0"/>
            </p:cNvCxnSpPr>
            <p:nvPr/>
          </p:nvCxnSpPr>
          <p:spPr>
            <a:xfrm>
              <a:off x="7197916" y="3813385"/>
              <a:ext cx="412067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DD9C33E2-7A9F-EADA-D660-E0C2F079C31A}"/>
                </a:ext>
              </a:extLst>
            </p:cNvPr>
            <p:cNvCxnSpPr>
              <a:stCxn id="148" idx="2"/>
              <a:endCxn id="117" idx="0"/>
            </p:cNvCxnSpPr>
            <p:nvPr/>
          </p:nvCxnSpPr>
          <p:spPr>
            <a:xfrm flipH="1">
              <a:off x="5736771" y="3813385"/>
              <a:ext cx="146114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58F29B90-17CB-FEBE-F066-191C2966ADC0}"/>
                </a:ext>
              </a:extLst>
            </p:cNvPr>
            <p:cNvCxnSpPr>
              <a:stCxn id="148" idx="2"/>
              <a:endCxn id="118" idx="0"/>
            </p:cNvCxnSpPr>
            <p:nvPr/>
          </p:nvCxnSpPr>
          <p:spPr>
            <a:xfrm flipH="1">
              <a:off x="6304411" y="3813385"/>
              <a:ext cx="893505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8F2148BD-0202-AD96-98C7-B44B8A4750D8}"/>
                </a:ext>
              </a:extLst>
            </p:cNvPr>
            <p:cNvCxnSpPr>
              <a:stCxn id="148" idx="2"/>
              <a:endCxn id="119" idx="0"/>
            </p:cNvCxnSpPr>
            <p:nvPr/>
          </p:nvCxnSpPr>
          <p:spPr>
            <a:xfrm>
              <a:off x="7197916" y="3813385"/>
              <a:ext cx="1019174" cy="407703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B9FCA66F-DDB9-A159-FA25-4BCF5FCAC3F8}"/>
                </a:ext>
              </a:extLst>
            </p:cNvPr>
            <p:cNvCxnSpPr>
              <a:stCxn id="145" idx="2"/>
              <a:endCxn id="147" idx="0"/>
            </p:cNvCxnSpPr>
            <p:nvPr/>
          </p:nvCxnSpPr>
          <p:spPr>
            <a:xfrm flipH="1">
              <a:off x="6613843" y="3201128"/>
              <a:ext cx="595135" cy="408081"/>
            </a:xfrm>
            <a:prstGeom prst="straightConnector1">
              <a:avLst/>
            </a:prstGeom>
            <a:solidFill>
              <a:srgbClr val="FFFF99"/>
            </a:solidFill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8836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Genetic Variances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have an objective comparison of the genetic variances!</a:t>
            </a:r>
          </a:p>
          <a:p>
            <a:pPr lvl="1"/>
            <a:r>
              <a:rPr lang="en-GB" dirty="0"/>
              <a:t>define S, e.g.</a:t>
            </a:r>
          </a:p>
          <a:p>
            <a:pPr lvl="2"/>
            <a:r>
              <a:rPr lang="en-GB" dirty="0"/>
              <a:t>all data points</a:t>
            </a:r>
          </a:p>
          <a:p>
            <a:pPr lvl="2"/>
            <a:r>
              <a:rPr lang="en-GB" dirty="0"/>
              <a:t>all in relationship matrix</a:t>
            </a:r>
          </a:p>
          <a:p>
            <a:pPr lvl="2"/>
            <a:r>
              <a:rPr lang="en-GB" dirty="0"/>
              <a:t>selection candidates</a:t>
            </a:r>
          </a:p>
          <a:p>
            <a:pPr lvl="2"/>
            <a:r>
              <a:rPr lang="en-GB" dirty="0"/>
              <a:t>validation set!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3362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best model is one that predicts well</a:t>
            </a:r>
          </a:p>
          <a:p>
            <a:pPr lvl="1"/>
            <a:r>
              <a:rPr lang="en-GB" dirty="0"/>
              <a:t>not the one with the highest h</a:t>
            </a:r>
            <a:r>
              <a:rPr lang="en-GB" baseline="30000" dirty="0"/>
              <a:t>2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450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E24C-40E2-4279-B1EE-BF248A272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2B545-0636-466A-8DFB-04A9CBDBF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ACC3C-339F-4AFE-91FB-01694F89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CD34E-195A-469E-91DE-C2007B79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273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93B5-D691-41C7-93E9-D1D8E4953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…Lecture 9…</a:t>
            </a:r>
            <a:br>
              <a:rPr lang="en-GB" dirty="0"/>
            </a:br>
            <a:r>
              <a:rPr lang="en-GB" dirty="0"/>
              <a:t>Variances and Perspectives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EFB50-3F48-44E2-BABF-419492AA7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Part 2: </a:t>
            </a:r>
          </a:p>
          <a:p>
            <a:r>
              <a:rPr lang="en-GB" b="1" dirty="0"/>
              <a:t>A</a:t>
            </a:r>
            <a:r>
              <a:rPr lang="en-GB" dirty="0"/>
              <a:t> is from Ridge Regression too!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045EA-B60A-43CF-AEAA-F9EA07EC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F263-1A50-40BC-8099-2A671B133AE1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0708-16AD-4A94-9F52-69A65201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673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F42E-B53D-435F-8A47-092159E04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Van Raden G</a:t>
            </a:r>
            <a:r>
              <a:rPr lang="en-GB" baseline="-25000" dirty="0"/>
              <a:t>1</a:t>
            </a:r>
            <a:r>
              <a:rPr lang="en-GB" dirty="0"/>
              <a:t> &amp; G</a:t>
            </a:r>
            <a:r>
              <a:rPr lang="en-GB" baseline="-25000" dirty="0"/>
              <a:t>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A246-894C-4820-80C5-FA2E3C756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Derived from ridge regressions …</a:t>
            </a:r>
          </a:p>
          <a:p>
            <a:r>
              <a:rPr lang="en-GB" b="1" dirty="0"/>
              <a:t>G</a:t>
            </a:r>
            <a:r>
              <a:rPr lang="en-GB" baseline="-25000" dirty="0"/>
              <a:t>1</a:t>
            </a:r>
            <a:r>
              <a:rPr lang="en-GB" dirty="0"/>
              <a:t> derived via SNP BLUP 1:</a:t>
            </a:r>
            <a:endParaRPr lang="en-GB" baseline="-25000" dirty="0"/>
          </a:p>
          <a:p>
            <a:pPr lvl="2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random marker effects</a:t>
            </a:r>
          </a:p>
          <a:p>
            <a:pPr lvl="2" eaLnBrk="1" hangingPunct="1"/>
            <a:r>
              <a:rPr lang="en-GB" altLang="en-US" b="1" dirty="0"/>
              <a:t>b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/>
            <a:r>
              <a:rPr lang="en-GB" altLang="en-US" dirty="0"/>
              <a:t>covariates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dirty="0"/>
              <a:t> are allele counts 0,1,2  </a:t>
            </a:r>
          </a:p>
          <a:p>
            <a:r>
              <a:rPr lang="en-GB" b="1" dirty="0"/>
              <a:t>G</a:t>
            </a:r>
            <a:r>
              <a:rPr lang="en-GB" b="1" baseline="-25000" dirty="0"/>
              <a:t>2</a:t>
            </a:r>
            <a:r>
              <a:rPr lang="en-GB" dirty="0"/>
              <a:t> derived via SNP BLUP 2:</a:t>
            </a:r>
            <a:endParaRPr lang="en-GB" baseline="-25000" dirty="0"/>
          </a:p>
          <a:p>
            <a:pPr lvl="2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random marker effects</a:t>
            </a:r>
          </a:p>
          <a:p>
            <a:pPr lvl="2" eaLnBrk="1" hangingPunct="1"/>
            <a:r>
              <a:rPr lang="en-GB" altLang="en-US" b="1" dirty="0"/>
              <a:t>b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/>
            <a:r>
              <a:rPr lang="en-GB" altLang="en-US" dirty="0"/>
              <a:t>covariates</a:t>
            </a:r>
            <a:r>
              <a:rPr lang="en-GB" altLang="en-US" b="1" dirty="0"/>
              <a:t> W</a:t>
            </a:r>
            <a:r>
              <a:rPr lang="en-GB" altLang="en-US" baseline="-25000" dirty="0"/>
              <a:t>2</a:t>
            </a:r>
            <a:r>
              <a:rPr lang="en-GB" altLang="en-US" dirty="0"/>
              <a:t>: locus </a:t>
            </a:r>
            <a:r>
              <a:rPr lang="en-GB" altLang="en-US" i="1" dirty="0"/>
              <a:t>j</a:t>
            </a:r>
            <a:r>
              <a:rPr lang="en-GB" altLang="en-US" dirty="0"/>
              <a:t> counts scaled by               </a:t>
            </a:r>
          </a:p>
          <a:p>
            <a:endParaRPr lang="en-GB" altLang="en-US" b="1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66B64-5BC0-4F3B-8A13-E253F383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6E87E-848F-4278-ACA3-0F3943E3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1BC575FF-3AC5-43B2-B6C0-CF50A203D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924247"/>
              </p:ext>
            </p:extLst>
          </p:nvPr>
        </p:nvGraphicFramePr>
        <p:xfrm>
          <a:off x="7534097" y="1773039"/>
          <a:ext cx="26558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3" name="Equation" r:id="rId3" imgW="1066680" imgH="228600" progId="Equation.DSMT4">
                  <p:embed/>
                </p:oleObj>
              </mc:Choice>
              <mc:Fallback>
                <p:oleObj name="Equation" r:id="rId3" imgW="1066680" imgH="228600" progId="Equation.DSMT4">
                  <p:embed/>
                  <p:pic>
                    <p:nvPicPr>
                      <p:cNvPr id="327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4097" y="1773039"/>
                        <a:ext cx="265588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F4BE0BC-82DF-4C53-92E7-EF39046D4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414444"/>
              </p:ext>
            </p:extLst>
          </p:nvPr>
        </p:nvGraphicFramePr>
        <p:xfrm>
          <a:off x="7504114" y="3645024"/>
          <a:ext cx="27193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4" name="Equation" r:id="rId5" imgW="1091880" imgH="228600" progId="Equation.DSMT4">
                  <p:embed/>
                </p:oleObj>
              </mc:Choice>
              <mc:Fallback>
                <p:oleObj name="Equation" r:id="rId5" imgW="1091880" imgH="22860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1BC575FF-3AC5-43B2-B6C0-CF50A203D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4114" y="3645024"/>
                        <a:ext cx="2719387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27DBDB0-030C-4FC9-AF3A-A11490698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089443"/>
              </p:ext>
            </p:extLst>
          </p:nvPr>
        </p:nvGraphicFramePr>
        <p:xfrm>
          <a:off x="6913984" y="5165824"/>
          <a:ext cx="1270248" cy="423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Equation" r:id="rId7" imgW="838080" imgH="279360" progId="Equation.DSMT4">
                  <p:embed/>
                </p:oleObj>
              </mc:Choice>
              <mc:Fallback>
                <p:oleObj name="Equation" r:id="rId7" imgW="8380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13984" y="5165824"/>
                        <a:ext cx="1270248" cy="423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2311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0765F-D6C5-934C-F17C-FD481FE1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6351-CFF8-0474-24A8-F2A77264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Van Raden G</a:t>
            </a:r>
            <a:r>
              <a:rPr lang="en-GB" baseline="-25000" dirty="0"/>
              <a:t>1</a:t>
            </a:r>
            <a:r>
              <a:rPr lang="en-GB" dirty="0"/>
              <a:t> &amp; G</a:t>
            </a:r>
            <a:r>
              <a:rPr lang="en-GB" baseline="-25000" dirty="0"/>
              <a:t>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C7CCA-4743-8223-EAB9-8D6E4EC6C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Derived from ridge regressions …</a:t>
            </a:r>
          </a:p>
          <a:p>
            <a:r>
              <a:rPr lang="en-GB" b="1" dirty="0"/>
              <a:t>G</a:t>
            </a:r>
            <a:r>
              <a:rPr lang="en-GB" baseline="-25000" dirty="0"/>
              <a:t>1</a:t>
            </a:r>
            <a:r>
              <a:rPr lang="en-GB" dirty="0"/>
              <a:t> derived via SNP BLUP 1:</a:t>
            </a:r>
            <a:endParaRPr lang="en-GB" baseline="-25000" dirty="0"/>
          </a:p>
          <a:p>
            <a:pPr lvl="2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random marker effects</a:t>
            </a:r>
          </a:p>
          <a:p>
            <a:pPr lvl="2" eaLnBrk="1" hangingPunct="1"/>
            <a:r>
              <a:rPr lang="en-GB" altLang="en-US" b="1" dirty="0"/>
              <a:t>b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/>
            <a:r>
              <a:rPr lang="en-GB" altLang="en-US" dirty="0"/>
              <a:t>covariates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dirty="0"/>
              <a:t> are allele counts 0,1,2  </a:t>
            </a:r>
          </a:p>
          <a:p>
            <a:r>
              <a:rPr lang="en-GB" b="1" dirty="0"/>
              <a:t>G</a:t>
            </a:r>
            <a:r>
              <a:rPr lang="en-GB" b="1" baseline="-25000" dirty="0"/>
              <a:t>2</a:t>
            </a:r>
            <a:r>
              <a:rPr lang="en-GB" dirty="0"/>
              <a:t> derived via SNP BLUP 2:</a:t>
            </a:r>
            <a:endParaRPr lang="en-GB" baseline="-25000" dirty="0"/>
          </a:p>
          <a:p>
            <a:pPr lvl="2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random marker effects</a:t>
            </a:r>
          </a:p>
          <a:p>
            <a:pPr lvl="2" eaLnBrk="1" hangingPunct="1"/>
            <a:r>
              <a:rPr lang="en-GB" altLang="en-US" b="1" dirty="0"/>
              <a:t>b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/>
            <a:r>
              <a:rPr lang="en-GB" altLang="en-US" dirty="0"/>
              <a:t>covariates</a:t>
            </a:r>
            <a:r>
              <a:rPr lang="en-GB" altLang="en-US" b="1" dirty="0"/>
              <a:t> W</a:t>
            </a:r>
            <a:r>
              <a:rPr lang="en-GB" altLang="en-US" baseline="-25000" dirty="0"/>
              <a:t>2</a:t>
            </a:r>
            <a:r>
              <a:rPr lang="en-GB" altLang="en-US" dirty="0"/>
              <a:t>: locus </a:t>
            </a:r>
            <a:r>
              <a:rPr lang="en-GB" altLang="en-US" i="1" dirty="0"/>
              <a:t>j</a:t>
            </a:r>
            <a:r>
              <a:rPr lang="en-GB" altLang="en-US" dirty="0"/>
              <a:t> counts scaled by               </a:t>
            </a:r>
          </a:p>
          <a:p>
            <a:endParaRPr lang="en-GB" altLang="en-US" b="1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FA323-220B-39FD-645F-CEAAA7AB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13457-258D-BB84-BA5F-0DE94181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F6CFB89E-83AB-5A28-4E0C-4A1B96609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4097" y="1773039"/>
          <a:ext cx="26558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name="Equation" r:id="rId3" imgW="1066680" imgH="228600" progId="Equation.DSMT4">
                  <p:embed/>
                </p:oleObj>
              </mc:Choice>
              <mc:Fallback>
                <p:oleObj name="Equation" r:id="rId3" imgW="1066680" imgH="22860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1BC575FF-3AC5-43B2-B6C0-CF50A203D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4097" y="1773039"/>
                        <a:ext cx="265588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C73D242-808E-1401-0D1F-37D2E20526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4114" y="3645024"/>
          <a:ext cx="27193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8" name="Equation" r:id="rId5" imgW="1091880" imgH="228600" progId="Equation.DSMT4">
                  <p:embed/>
                </p:oleObj>
              </mc:Choice>
              <mc:Fallback>
                <p:oleObj name="Equation" r:id="rId5" imgW="1091880" imgH="228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F4BE0BC-82DF-4C53-92E7-EF39046D4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4114" y="3645024"/>
                        <a:ext cx="2719387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9D40BC1-4E4C-F97E-B66A-1C82B02166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3984" y="5165824"/>
          <a:ext cx="1270248" cy="423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9" name="Equation" r:id="rId7" imgW="838080" imgH="279360" progId="Equation.DSMT4">
                  <p:embed/>
                </p:oleObj>
              </mc:Choice>
              <mc:Fallback>
                <p:oleObj name="Equation" r:id="rId7" imgW="838080" imgH="2793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27DBDB0-030C-4FC9-AF3A-A114906989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13984" y="5165824"/>
                        <a:ext cx="1270248" cy="423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5FF85D3-459A-45CA-A388-60FD95D6E6B7}"/>
              </a:ext>
            </a:extLst>
          </p:cNvPr>
          <p:cNvSpPr/>
          <p:nvPr/>
        </p:nvSpPr>
        <p:spPr>
          <a:xfrm>
            <a:off x="1421459" y="733424"/>
            <a:ext cx="5832648" cy="92710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Classical ridge regression assumptions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3B8B1BB-60B0-4A3C-A976-C19693173065}"/>
              </a:ext>
            </a:extLst>
          </p:cNvPr>
          <p:cNvSpPr/>
          <p:nvPr/>
        </p:nvSpPr>
        <p:spPr>
          <a:xfrm>
            <a:off x="7683386" y="2384326"/>
            <a:ext cx="212814" cy="900658"/>
          </a:xfrm>
          <a:prstGeom prst="rightBrac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F31EDA3E-52F6-427E-8952-9B1EC052D4F7}"/>
              </a:ext>
            </a:extLst>
          </p:cNvPr>
          <p:cNvSpPr/>
          <p:nvPr/>
        </p:nvSpPr>
        <p:spPr>
          <a:xfrm>
            <a:off x="7608168" y="4220866"/>
            <a:ext cx="272607" cy="798730"/>
          </a:xfrm>
          <a:prstGeom prst="rightBrac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ED5F30FF-8572-4A2D-AAFB-8B272AE02CA7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254107" y="1196975"/>
            <a:ext cx="642093" cy="1637680"/>
          </a:xfrm>
          <a:prstGeom prst="curvedConnector3">
            <a:avLst>
              <a:gd name="adj1" fmla="val 182809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6614A006-F507-5D83-CB32-BF08DB058B80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7254107" y="1196975"/>
            <a:ext cx="626668" cy="3423256"/>
          </a:xfrm>
          <a:prstGeom prst="curvedConnector3">
            <a:avLst>
              <a:gd name="adj1" fmla="val 269692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839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5D0D-8BDA-48AC-A827-4614AA92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as a 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0B57-28A2-46C0-89D0-ED00B6DC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</a:t>
            </a:r>
            <a:r>
              <a:rPr lang="en-GB" dirty="0"/>
              <a:t> derived from regression:</a:t>
            </a:r>
            <a:endParaRPr lang="en-GB" baseline="-25000" dirty="0"/>
          </a:p>
          <a:p>
            <a:pPr lvl="2"/>
            <a:r>
              <a:rPr lang="en-GB" dirty="0"/>
              <a:t>where </a:t>
            </a:r>
            <a:r>
              <a:rPr lang="en-GB" b="1" dirty="0"/>
              <a:t>b </a:t>
            </a:r>
            <a:r>
              <a:rPr lang="en-GB" dirty="0"/>
              <a:t>is </a:t>
            </a:r>
            <a:r>
              <a:rPr lang="en-GB" i="1" dirty="0"/>
              <a:t>p </a:t>
            </a:r>
            <a:r>
              <a:rPr lang="en-GB" dirty="0"/>
              <a:t>x 1 vector of effects assumed</a:t>
            </a:r>
            <a:r>
              <a:rPr lang="en-GB" altLang="en-US" dirty="0"/>
              <a:t>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/>
            <a:r>
              <a:rPr lang="en-GB" i="1" dirty="0"/>
              <a:t>p </a:t>
            </a:r>
            <a:r>
              <a:rPr lang="en-GB" dirty="0"/>
              <a:t>is the number in pedigree </a:t>
            </a:r>
          </a:p>
          <a:p>
            <a:pPr lvl="2"/>
            <a:r>
              <a:rPr lang="en-GB" dirty="0"/>
              <a:t>with effects A</a:t>
            </a:r>
            <a:r>
              <a:rPr lang="en-GB" baseline="-25000" dirty="0"/>
              <a:t>i</a:t>
            </a:r>
            <a:r>
              <a:rPr lang="en-GB" dirty="0"/>
              <a:t>/√2 for </a:t>
            </a:r>
            <a:r>
              <a:rPr lang="en-GB" dirty="0" err="1"/>
              <a:t>i</a:t>
            </a:r>
            <a:r>
              <a:rPr lang="en-GB" dirty="0"/>
              <a:t> in base and </a:t>
            </a:r>
            <a:r>
              <a:rPr lang="en-GB" i="1" dirty="0"/>
              <a:t>a</a:t>
            </a:r>
            <a:r>
              <a:rPr lang="en-GB" baseline="-25000" dirty="0"/>
              <a:t>i</a:t>
            </a:r>
            <a:r>
              <a:rPr lang="en-GB" dirty="0"/>
              <a:t>√(1-F</a:t>
            </a:r>
            <a:r>
              <a:rPr lang="en-GB" baseline="-25000" dirty="0"/>
              <a:t>i</a:t>
            </a:r>
            <a:r>
              <a:rPr lang="en-GB" dirty="0"/>
              <a:t>) if not</a:t>
            </a:r>
          </a:p>
          <a:p>
            <a:pPr lvl="2"/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dirty="0"/>
              <a:t> is ½V</a:t>
            </a:r>
            <a:r>
              <a:rPr lang="en-GB" altLang="en-US" baseline="-25000" dirty="0"/>
              <a:t>A,0 </a:t>
            </a:r>
            <a:endParaRPr lang="en-GB" baseline="-25000" dirty="0"/>
          </a:p>
          <a:p>
            <a:pPr marL="914400" lvl="2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F9252-C34B-4DAC-8CE6-EDBFB4A5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525B-2E53-4CC3-8687-A2B0D1D0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04FB7C1-F636-462E-B9A7-C908EF28D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578098"/>
              </p:ext>
            </p:extLst>
          </p:nvPr>
        </p:nvGraphicFramePr>
        <p:xfrm>
          <a:off x="7326314" y="1311275"/>
          <a:ext cx="24987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1" name="Equation" r:id="rId3" imgW="1002960" imgH="203040" progId="Equation.DSMT4">
                  <p:embed/>
                </p:oleObj>
              </mc:Choice>
              <mc:Fallback>
                <p:oleObj name="Equation" r:id="rId3" imgW="1002960" imgH="20304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1BC575FF-3AC5-43B2-B6C0-CF50A203D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4" y="1311275"/>
                        <a:ext cx="24987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06127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5D0D-8BDA-48AC-A827-4614AA92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as a 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0B57-28A2-46C0-89D0-ED00B6DC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</a:t>
            </a:r>
            <a:r>
              <a:rPr lang="en-GB" dirty="0"/>
              <a:t> derived from regression:</a:t>
            </a:r>
            <a:endParaRPr lang="en-GB" baseline="-25000" dirty="0"/>
          </a:p>
          <a:p>
            <a:pPr lvl="2"/>
            <a:r>
              <a:rPr lang="en-GB" dirty="0"/>
              <a:t>where </a:t>
            </a:r>
            <a:r>
              <a:rPr lang="en-GB" b="1" dirty="0"/>
              <a:t>b </a:t>
            </a:r>
            <a:r>
              <a:rPr lang="en-GB" dirty="0"/>
              <a:t>is </a:t>
            </a:r>
            <a:r>
              <a:rPr lang="en-GB" i="1" dirty="0"/>
              <a:t>p </a:t>
            </a:r>
            <a:r>
              <a:rPr lang="en-GB" dirty="0"/>
              <a:t>x 1 vector of effects assumed</a:t>
            </a:r>
            <a:r>
              <a:rPr lang="en-GB" altLang="en-US" dirty="0"/>
              <a:t>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/>
            <a:r>
              <a:rPr lang="en-GB" i="1" dirty="0"/>
              <a:t>p </a:t>
            </a:r>
            <a:r>
              <a:rPr lang="en-GB" dirty="0"/>
              <a:t>is the number in pedigree </a:t>
            </a:r>
          </a:p>
          <a:p>
            <a:pPr lvl="2"/>
            <a:r>
              <a:rPr lang="en-GB" dirty="0"/>
              <a:t>with effects A</a:t>
            </a:r>
            <a:r>
              <a:rPr lang="en-GB" baseline="-25000" dirty="0"/>
              <a:t>i</a:t>
            </a:r>
            <a:r>
              <a:rPr lang="en-GB" dirty="0"/>
              <a:t>/√2 for </a:t>
            </a:r>
            <a:r>
              <a:rPr lang="en-GB" dirty="0" err="1"/>
              <a:t>i</a:t>
            </a:r>
            <a:r>
              <a:rPr lang="en-GB" dirty="0"/>
              <a:t> in base and </a:t>
            </a:r>
            <a:r>
              <a:rPr lang="en-GB" i="1" dirty="0"/>
              <a:t>a</a:t>
            </a:r>
            <a:r>
              <a:rPr lang="en-GB" baseline="-25000" dirty="0"/>
              <a:t>i</a:t>
            </a:r>
            <a:r>
              <a:rPr lang="en-GB" dirty="0"/>
              <a:t>√(1-F</a:t>
            </a:r>
            <a:r>
              <a:rPr lang="en-GB" baseline="-25000" dirty="0"/>
              <a:t>i</a:t>
            </a:r>
            <a:r>
              <a:rPr lang="en-GB" dirty="0"/>
              <a:t>) if not</a:t>
            </a:r>
          </a:p>
          <a:p>
            <a:pPr lvl="2"/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dirty="0"/>
              <a:t> is ½V</a:t>
            </a:r>
            <a:r>
              <a:rPr lang="en-GB" altLang="en-US" baseline="-25000" dirty="0"/>
              <a:t>A,0</a:t>
            </a:r>
            <a:r>
              <a:rPr lang="en-GB" altLang="en-US" dirty="0"/>
              <a:t> </a:t>
            </a:r>
          </a:p>
          <a:p>
            <a:pPr lvl="2"/>
            <a:r>
              <a:rPr lang="en-GB" dirty="0"/>
              <a:t>covariates </a:t>
            </a:r>
            <a:r>
              <a:rPr lang="en-GB" b="1" dirty="0"/>
              <a:t>R </a:t>
            </a:r>
            <a:r>
              <a:rPr lang="en-GB" dirty="0"/>
              <a:t>are scaled contributions to descendants</a:t>
            </a:r>
          </a:p>
          <a:p>
            <a:pPr lvl="3"/>
            <a:r>
              <a:rPr lang="en-GB" dirty="0"/>
              <a:t>analogous to the allele counts in SNP BLUP</a:t>
            </a:r>
          </a:p>
          <a:p>
            <a:pPr marL="914400" lvl="2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F9252-C34B-4DAC-8CE6-EDBFB4A5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525B-2E53-4CC3-8687-A2B0D1D0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04FB7C1-F636-462E-B9A7-C908EF28D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430065"/>
              </p:ext>
            </p:extLst>
          </p:nvPr>
        </p:nvGraphicFramePr>
        <p:xfrm>
          <a:off x="7326314" y="1311275"/>
          <a:ext cx="24987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3" imgW="1002960" imgH="203040" progId="Equation.DSMT4">
                  <p:embed/>
                </p:oleObj>
              </mc:Choice>
              <mc:Fallback>
                <p:oleObj name="Equation" r:id="rId3" imgW="1002960" imgH="20304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004FB7C1-F636-462E-B9A7-C908EF28DF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4" y="1311275"/>
                        <a:ext cx="24987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8129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/>
              <a:t>With IBD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AAAC-1F4C-4B6D-9D28-E4790ADE6EF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7770" y="2996953"/>
            <a:ext cx="3680198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Covariance of breeding values</a:t>
            </a:r>
          </a:p>
          <a:p>
            <a:r>
              <a:rPr lang="en-GB" sz="2000" dirty="0"/>
              <a:t>i.e. numerator </a:t>
            </a:r>
            <a:r>
              <a:rPr lang="en-GB" sz="2000" u="sng" dirty="0"/>
              <a:t>relationships</a:t>
            </a:r>
            <a:r>
              <a:rPr lang="en-GB" sz="2000" dirty="0"/>
              <a:t> </a:t>
            </a:r>
            <a:r>
              <a:rPr lang="en-GB" sz="2400" dirty="0" err="1"/>
              <a:t>a</a:t>
            </a:r>
            <a:r>
              <a:rPr lang="en-GB" sz="2400" baseline="-25000" dirty="0" err="1"/>
              <a:t>ij</a:t>
            </a:r>
            <a:endParaRPr lang="en-GB" sz="2400" u="sng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68008" y="692696"/>
            <a:ext cx="27144" cy="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Down Arrow 82"/>
          <p:cNvSpPr/>
          <p:nvPr/>
        </p:nvSpPr>
        <p:spPr>
          <a:xfrm>
            <a:off x="2999656" y="2636912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Down Arrow 83"/>
          <p:cNvSpPr/>
          <p:nvPr/>
        </p:nvSpPr>
        <p:spPr>
          <a:xfrm>
            <a:off x="3552300" y="3895278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/>
          <p:cNvSpPr txBox="1"/>
          <p:nvPr/>
        </p:nvSpPr>
        <p:spPr>
          <a:xfrm>
            <a:off x="2127770" y="4293096"/>
            <a:ext cx="3680198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IBD Relationship Matrix</a:t>
            </a:r>
          </a:p>
          <a:p>
            <a:pPr algn="ctr"/>
            <a:r>
              <a:rPr lang="en-GB" sz="2000" b="1" dirty="0"/>
              <a:t>g</a:t>
            </a:r>
            <a:r>
              <a:rPr lang="en-GB" sz="2000" dirty="0"/>
              <a:t> ~ MVN(0,V</a:t>
            </a:r>
            <a:r>
              <a:rPr lang="en-GB" sz="2000" baseline="-25000" dirty="0"/>
              <a:t>a</a:t>
            </a:r>
            <a:r>
              <a:rPr lang="en-GB" sz="2000" b="1" dirty="0"/>
              <a:t>A</a:t>
            </a:r>
            <a:r>
              <a:rPr lang="en-GB" sz="2000" dirty="0"/>
              <a:t>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83948" y="5517233"/>
            <a:ext cx="54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A</a:t>
            </a:r>
            <a:endParaRPr lang="en-GB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2153444" y="1196752"/>
            <a:ext cx="228637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Infinitesimal Model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4" y="1665374"/>
            <a:ext cx="1374992" cy="899530"/>
          </a:xfrm>
          <a:prstGeom prst="rect">
            <a:avLst/>
          </a:prstGeom>
        </p:spPr>
      </p:pic>
      <p:sp>
        <p:nvSpPr>
          <p:cNvPr id="37" name="Down Arrow 36"/>
          <p:cNvSpPr/>
          <p:nvPr/>
        </p:nvSpPr>
        <p:spPr>
          <a:xfrm flipH="1">
            <a:off x="4044752" y="5157192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CD66F8-9684-46F3-8791-9039E0258832}"/>
              </a:ext>
            </a:extLst>
          </p:cNvPr>
          <p:cNvSpPr txBox="1"/>
          <p:nvPr/>
        </p:nvSpPr>
        <p:spPr>
          <a:xfrm>
            <a:off x="3726576" y="1743577"/>
            <a:ext cx="2286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 </a:t>
            </a:r>
            <a:r>
              <a:rPr lang="en-GB" dirty="0"/>
              <a:t>= </a:t>
            </a:r>
            <a:r>
              <a:rPr lang="en-GB" b="1" dirty="0"/>
              <a:t>Rb</a:t>
            </a:r>
          </a:p>
          <a:p>
            <a:r>
              <a:rPr lang="en-GB" b="1" dirty="0"/>
              <a:t>b</a:t>
            </a:r>
            <a:r>
              <a:rPr lang="en-GB" dirty="0"/>
              <a:t> ~ MVN(0,½V</a:t>
            </a:r>
            <a:r>
              <a:rPr lang="en-GB" baseline="-25000" dirty="0"/>
              <a:t>A,0</a:t>
            </a:r>
            <a:r>
              <a:rPr lang="en-GB" b="1" dirty="0"/>
              <a:t>I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1890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/>
              <a:t>With IBD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AAAC-1F4C-4B6D-9D28-E4790ADE6EF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7770" y="2996953"/>
            <a:ext cx="3680198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Covariance of breeding values</a:t>
            </a:r>
          </a:p>
          <a:p>
            <a:r>
              <a:rPr lang="en-GB" sz="2000" dirty="0"/>
              <a:t>i.e. numerator </a:t>
            </a:r>
            <a:r>
              <a:rPr lang="en-GB" sz="2000" u="sng" dirty="0"/>
              <a:t>relationships</a:t>
            </a:r>
            <a:r>
              <a:rPr lang="en-GB" sz="2000" dirty="0"/>
              <a:t> </a:t>
            </a:r>
            <a:r>
              <a:rPr lang="en-GB" sz="2400" dirty="0" err="1"/>
              <a:t>a</a:t>
            </a:r>
            <a:r>
              <a:rPr lang="en-GB" sz="2400" baseline="-25000" dirty="0" err="1"/>
              <a:t>ij</a:t>
            </a:r>
            <a:endParaRPr lang="en-GB" sz="2400" u="sng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68008" y="692696"/>
            <a:ext cx="27144" cy="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7896280" y="3356992"/>
            <a:ext cx="2448192" cy="1884964"/>
            <a:chOff x="5220072" y="3128212"/>
            <a:chExt cx="2448192" cy="1884964"/>
          </a:xfrm>
        </p:grpSpPr>
        <p:sp>
          <p:nvSpPr>
            <p:cNvPr id="62" name="TextBox 61"/>
            <p:cNvSpPr txBox="1"/>
            <p:nvPr/>
          </p:nvSpPr>
          <p:spPr>
            <a:xfrm>
              <a:off x="6948264" y="3900396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84168" y="4548468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1808" y="3128212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59" name="Arc 58"/>
            <p:cNvSpPr/>
            <p:nvPr/>
          </p:nvSpPr>
          <p:spPr>
            <a:xfrm>
              <a:off x="6228184" y="3332680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220072" y="3856989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63" name="Arc 62"/>
            <p:cNvSpPr/>
            <p:nvPr/>
          </p:nvSpPr>
          <p:spPr>
            <a:xfrm flipH="1" flipV="1">
              <a:off x="5551748" y="3741836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Arc 63"/>
            <p:cNvSpPr/>
            <p:nvPr/>
          </p:nvSpPr>
          <p:spPr>
            <a:xfrm flipH="1">
              <a:off x="5580112" y="3332680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Arc 64"/>
            <p:cNvSpPr/>
            <p:nvPr/>
          </p:nvSpPr>
          <p:spPr>
            <a:xfrm flipV="1">
              <a:off x="6228184" y="3741957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3" name="Down Arrow 82"/>
          <p:cNvSpPr/>
          <p:nvPr/>
        </p:nvSpPr>
        <p:spPr>
          <a:xfrm>
            <a:off x="2999656" y="2636912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Down Arrow 83"/>
          <p:cNvSpPr/>
          <p:nvPr/>
        </p:nvSpPr>
        <p:spPr>
          <a:xfrm>
            <a:off x="3552300" y="3895278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/>
          <p:cNvSpPr txBox="1"/>
          <p:nvPr/>
        </p:nvSpPr>
        <p:spPr>
          <a:xfrm>
            <a:off x="2127770" y="4293096"/>
            <a:ext cx="3680198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IBD Relationship Matrix</a:t>
            </a:r>
          </a:p>
          <a:p>
            <a:pPr algn="ctr"/>
            <a:r>
              <a:rPr lang="en-GB" sz="2000" b="1" dirty="0"/>
              <a:t>g</a:t>
            </a:r>
            <a:r>
              <a:rPr lang="en-GB" sz="2000" dirty="0"/>
              <a:t> ~ MVN(0,V</a:t>
            </a:r>
            <a:r>
              <a:rPr lang="en-GB" sz="2000" baseline="-25000" dirty="0"/>
              <a:t>a</a:t>
            </a:r>
            <a:r>
              <a:rPr lang="en-GB" sz="2000" b="1" dirty="0"/>
              <a:t>A</a:t>
            </a:r>
            <a:r>
              <a:rPr lang="en-GB" sz="2000" dirty="0"/>
              <a:t>)</a:t>
            </a:r>
          </a:p>
        </p:txBody>
      </p:sp>
      <p:sp>
        <p:nvSpPr>
          <p:cNvPr id="86" name="Left-Right Arrow 85"/>
          <p:cNvSpPr/>
          <p:nvPr/>
        </p:nvSpPr>
        <p:spPr>
          <a:xfrm>
            <a:off x="4892360" y="5517232"/>
            <a:ext cx="1491673" cy="714516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A = 2K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951984" y="1196752"/>
            <a:ext cx="3960440" cy="1569660"/>
            <a:chOff x="4427984" y="1323864"/>
            <a:chExt cx="3960440" cy="1569660"/>
          </a:xfrm>
        </p:grpSpPr>
        <p:sp>
          <p:nvSpPr>
            <p:cNvPr id="9" name="TextBox 8"/>
            <p:cNvSpPr txBox="1"/>
            <p:nvPr/>
          </p:nvSpPr>
          <p:spPr>
            <a:xfrm>
              <a:off x="4427984" y="1323864"/>
              <a:ext cx="3960440" cy="15696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Measures of change in diversity from to a reference base</a:t>
              </a:r>
            </a:p>
            <a:p>
              <a:endParaRPr lang="en-GB" sz="2000" dirty="0"/>
            </a:p>
            <a:p>
              <a:endParaRPr lang="en-GB" dirty="0"/>
            </a:p>
            <a:p>
              <a:endParaRPr lang="en-GB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567630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654074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610852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524408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4183948" y="5517233"/>
            <a:ext cx="54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A</a:t>
            </a:r>
            <a:endParaRPr lang="en-GB" sz="3600" dirty="0"/>
          </a:p>
        </p:txBody>
      </p:sp>
      <p:sp>
        <p:nvSpPr>
          <p:cNvPr id="98" name="Down Arrow 97"/>
          <p:cNvSpPr/>
          <p:nvPr/>
        </p:nvSpPr>
        <p:spPr>
          <a:xfrm>
            <a:off x="8869288" y="2959174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2153444" y="1196752"/>
            <a:ext cx="228637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Infinitesimal Model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4" y="1665374"/>
            <a:ext cx="1374992" cy="899530"/>
          </a:xfrm>
          <a:prstGeom prst="rect">
            <a:avLst/>
          </a:prstGeom>
        </p:spPr>
      </p:pic>
      <p:sp>
        <p:nvSpPr>
          <p:cNvPr id="50" name="Down Arrow 49"/>
          <p:cNvSpPr/>
          <p:nvPr/>
        </p:nvSpPr>
        <p:spPr>
          <a:xfrm flipH="1">
            <a:off x="8869288" y="5301208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4" name="Group 53"/>
          <p:cNvGrpSpPr/>
          <p:nvPr/>
        </p:nvGrpSpPr>
        <p:grpSpPr>
          <a:xfrm>
            <a:off x="8811631" y="-1"/>
            <a:ext cx="1723221" cy="2276871"/>
            <a:chOff x="7287630" y="-1"/>
            <a:chExt cx="1723221" cy="2276871"/>
          </a:xfrm>
        </p:grpSpPr>
        <p:sp>
          <p:nvSpPr>
            <p:cNvPr id="55" name="TextBox 54"/>
            <p:cNvSpPr txBox="1"/>
            <p:nvPr/>
          </p:nvSpPr>
          <p:spPr>
            <a:xfrm>
              <a:off x="7287630" y="476672"/>
              <a:ext cx="1723221" cy="646331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Strictly additive traits</a:t>
              </a:r>
            </a:p>
          </p:txBody>
        </p:sp>
        <p:sp>
          <p:nvSpPr>
            <p:cNvPr id="56" name="Arc 55"/>
            <p:cNvSpPr/>
            <p:nvPr/>
          </p:nvSpPr>
          <p:spPr>
            <a:xfrm flipV="1">
              <a:off x="7740432" y="-1"/>
              <a:ext cx="1008032" cy="2276871"/>
            </a:xfrm>
            <a:prstGeom prst="arc">
              <a:avLst>
                <a:gd name="adj1" fmla="val 16118829"/>
                <a:gd name="adj2" fmla="val 0"/>
              </a:avLst>
            </a:prstGeom>
            <a:ln w="38100">
              <a:solidFill>
                <a:srgbClr val="FFC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456041" y="5517233"/>
            <a:ext cx="542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K</a:t>
            </a:r>
            <a:endParaRPr lang="en-GB" sz="3600" dirty="0"/>
          </a:p>
        </p:txBody>
      </p:sp>
      <p:sp>
        <p:nvSpPr>
          <p:cNvPr id="87" name="TextBox 86"/>
          <p:cNvSpPr txBox="1"/>
          <p:nvPr/>
        </p:nvSpPr>
        <p:spPr>
          <a:xfrm>
            <a:off x="7628664" y="5661249"/>
            <a:ext cx="271580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Kinship coefficients</a:t>
            </a:r>
            <a:r>
              <a:rPr lang="en-GB" dirty="0"/>
              <a:t> </a:t>
            </a:r>
            <a:r>
              <a:rPr lang="el-GR" sz="2400" dirty="0"/>
              <a:t>ϕ</a:t>
            </a:r>
            <a:r>
              <a:rPr lang="en-GB" sz="2400" baseline="-25000" dirty="0" err="1"/>
              <a:t>ij</a:t>
            </a:r>
            <a:endParaRPr lang="en-GB" sz="2400" dirty="0"/>
          </a:p>
        </p:txBody>
      </p:sp>
      <p:sp>
        <p:nvSpPr>
          <p:cNvPr id="95" name="Down Arrow 94"/>
          <p:cNvSpPr/>
          <p:nvPr/>
        </p:nvSpPr>
        <p:spPr>
          <a:xfrm rot="5400000" flipH="1">
            <a:off x="7067711" y="5731879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Down Arrow 36"/>
          <p:cNvSpPr/>
          <p:nvPr/>
        </p:nvSpPr>
        <p:spPr>
          <a:xfrm flipH="1">
            <a:off x="4044752" y="5157192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8" name="Group 37"/>
          <p:cNvGrpSpPr/>
          <p:nvPr/>
        </p:nvGrpSpPr>
        <p:grpSpPr>
          <a:xfrm>
            <a:off x="6178074" y="2104325"/>
            <a:ext cx="3590334" cy="461665"/>
            <a:chOff x="4654074" y="2159409"/>
            <a:chExt cx="3590334" cy="461665"/>
          </a:xfrm>
        </p:grpSpPr>
        <p:sp>
          <p:nvSpPr>
            <p:cNvPr id="40" name="TextBox 39"/>
            <p:cNvSpPr txBox="1"/>
            <p:nvPr/>
          </p:nvSpPr>
          <p:spPr>
            <a:xfrm>
              <a:off x="6567630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54074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10852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524408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0CD66F8-9684-46F3-8791-9039E0258832}"/>
              </a:ext>
            </a:extLst>
          </p:cNvPr>
          <p:cNvSpPr txBox="1"/>
          <p:nvPr/>
        </p:nvSpPr>
        <p:spPr>
          <a:xfrm>
            <a:off x="3719736" y="174207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 </a:t>
            </a:r>
            <a:r>
              <a:rPr lang="en-GB" dirty="0"/>
              <a:t>= </a:t>
            </a:r>
            <a:r>
              <a:rPr lang="en-GB" b="1" dirty="0"/>
              <a:t>Rb</a:t>
            </a:r>
          </a:p>
          <a:p>
            <a:r>
              <a:rPr lang="en-GB" b="1" dirty="0"/>
              <a:t>b</a:t>
            </a:r>
            <a:r>
              <a:rPr lang="en-GB" dirty="0"/>
              <a:t> ~ MVN(0,½V</a:t>
            </a:r>
            <a:r>
              <a:rPr lang="en-GB" baseline="-25000" dirty="0"/>
              <a:t>A,0</a:t>
            </a:r>
            <a:r>
              <a:rPr lang="en-GB" b="1" dirty="0"/>
              <a:t>I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5196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1665374"/>
            <a:ext cx="1374992" cy="8995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7520" y="1628801"/>
            <a:ext cx="3140168" cy="1115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…</a:t>
            </a:r>
            <a:r>
              <a:rPr lang="en-GB" dirty="0">
                <a:solidFill>
                  <a:schemeClr val="tx1"/>
                </a:solidFill>
              </a:rPr>
              <a:t> ridge regression on scaled base breeding values &amp; Mendelian sampling terms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/>
              <a:t>With IBD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AAAC-1F4C-4B6D-9D28-E4790ADE6EF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7770" y="2996953"/>
            <a:ext cx="3680198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Covariance of breeding values</a:t>
            </a:r>
          </a:p>
          <a:p>
            <a:r>
              <a:rPr lang="en-GB" sz="2000" dirty="0"/>
              <a:t>i.e. numerator </a:t>
            </a:r>
            <a:r>
              <a:rPr lang="en-GB" sz="2000" u="sng" dirty="0"/>
              <a:t>relationships</a:t>
            </a:r>
            <a:r>
              <a:rPr lang="en-GB" sz="2000" dirty="0"/>
              <a:t> </a:t>
            </a:r>
            <a:r>
              <a:rPr lang="en-GB" sz="2400" dirty="0" err="1"/>
              <a:t>a</a:t>
            </a:r>
            <a:r>
              <a:rPr lang="en-GB" sz="2400" baseline="-25000" dirty="0" err="1"/>
              <a:t>ij</a:t>
            </a:r>
            <a:endParaRPr lang="en-GB" sz="2400" u="sng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68008" y="692696"/>
            <a:ext cx="27144" cy="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7896280" y="3356992"/>
            <a:ext cx="2448192" cy="1884964"/>
            <a:chOff x="5220072" y="3128212"/>
            <a:chExt cx="2448192" cy="1884964"/>
          </a:xfrm>
        </p:grpSpPr>
        <p:sp>
          <p:nvSpPr>
            <p:cNvPr id="62" name="TextBox 61"/>
            <p:cNvSpPr txBox="1"/>
            <p:nvPr/>
          </p:nvSpPr>
          <p:spPr>
            <a:xfrm>
              <a:off x="6948264" y="3900396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84168" y="4548468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1808" y="3128212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59" name="Arc 58"/>
            <p:cNvSpPr/>
            <p:nvPr/>
          </p:nvSpPr>
          <p:spPr>
            <a:xfrm>
              <a:off x="6228184" y="3332680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220072" y="3856989"/>
              <a:ext cx="720000" cy="4647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63" name="Arc 62"/>
            <p:cNvSpPr/>
            <p:nvPr/>
          </p:nvSpPr>
          <p:spPr>
            <a:xfrm flipH="1" flipV="1">
              <a:off x="5551748" y="3741836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Arc 63"/>
            <p:cNvSpPr/>
            <p:nvPr/>
          </p:nvSpPr>
          <p:spPr>
            <a:xfrm flipH="1">
              <a:off x="5580112" y="3332680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Arc 64"/>
            <p:cNvSpPr/>
            <p:nvPr/>
          </p:nvSpPr>
          <p:spPr>
            <a:xfrm flipV="1">
              <a:off x="6228184" y="3741957"/>
              <a:ext cx="1080120" cy="1087119"/>
            </a:xfrm>
            <a:prstGeom prst="arc">
              <a:avLst/>
            </a:prstGeom>
            <a:ln w="825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3" name="Down Arrow 82"/>
          <p:cNvSpPr/>
          <p:nvPr/>
        </p:nvSpPr>
        <p:spPr>
          <a:xfrm>
            <a:off x="2999656" y="2636912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Down Arrow 83"/>
          <p:cNvSpPr/>
          <p:nvPr/>
        </p:nvSpPr>
        <p:spPr>
          <a:xfrm>
            <a:off x="3552300" y="3895278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/>
          <p:cNvSpPr txBox="1"/>
          <p:nvPr/>
        </p:nvSpPr>
        <p:spPr>
          <a:xfrm>
            <a:off x="2127770" y="4293096"/>
            <a:ext cx="3680198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IBD Relationship Matrix</a:t>
            </a:r>
          </a:p>
          <a:p>
            <a:pPr algn="ctr"/>
            <a:r>
              <a:rPr lang="en-GB" sz="2000" b="1" dirty="0"/>
              <a:t>g</a:t>
            </a:r>
            <a:r>
              <a:rPr lang="en-GB" sz="2000" dirty="0"/>
              <a:t> ~ MVN(0,V</a:t>
            </a:r>
            <a:r>
              <a:rPr lang="en-GB" sz="2000" baseline="-25000" dirty="0"/>
              <a:t>a</a:t>
            </a:r>
            <a:r>
              <a:rPr lang="en-GB" sz="2000" b="1" dirty="0"/>
              <a:t>A</a:t>
            </a:r>
            <a:r>
              <a:rPr lang="en-GB" sz="2000" dirty="0"/>
              <a:t>)</a:t>
            </a:r>
          </a:p>
        </p:txBody>
      </p:sp>
      <p:sp>
        <p:nvSpPr>
          <p:cNvPr id="86" name="Left-Right Arrow 85"/>
          <p:cNvSpPr/>
          <p:nvPr/>
        </p:nvSpPr>
        <p:spPr>
          <a:xfrm>
            <a:off x="4892360" y="5517232"/>
            <a:ext cx="1491673" cy="714516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A = 2K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951984" y="1196752"/>
            <a:ext cx="3960440" cy="1569660"/>
            <a:chOff x="4427984" y="1323864"/>
            <a:chExt cx="3960440" cy="1569660"/>
          </a:xfrm>
        </p:grpSpPr>
        <p:sp>
          <p:nvSpPr>
            <p:cNvPr id="9" name="TextBox 8"/>
            <p:cNvSpPr txBox="1"/>
            <p:nvPr/>
          </p:nvSpPr>
          <p:spPr>
            <a:xfrm>
              <a:off x="4427984" y="1323864"/>
              <a:ext cx="3960440" cy="15696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Measures of change in diversity from to a reference base</a:t>
              </a:r>
            </a:p>
            <a:p>
              <a:endParaRPr lang="en-GB" sz="2000" dirty="0"/>
            </a:p>
            <a:p>
              <a:endParaRPr lang="en-GB" dirty="0"/>
            </a:p>
            <a:p>
              <a:endParaRPr lang="en-GB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567630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654074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610852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524408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4183948" y="5517233"/>
            <a:ext cx="54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A</a:t>
            </a:r>
            <a:endParaRPr lang="en-GB" sz="3600" dirty="0"/>
          </a:p>
        </p:txBody>
      </p:sp>
      <p:sp>
        <p:nvSpPr>
          <p:cNvPr id="98" name="Down Arrow 97"/>
          <p:cNvSpPr/>
          <p:nvPr/>
        </p:nvSpPr>
        <p:spPr>
          <a:xfrm>
            <a:off x="8869288" y="2959174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2153444" y="1196752"/>
            <a:ext cx="228637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Infinitesimal Model</a:t>
            </a:r>
          </a:p>
        </p:txBody>
      </p:sp>
      <p:sp>
        <p:nvSpPr>
          <p:cNvPr id="50" name="Down Arrow 49"/>
          <p:cNvSpPr/>
          <p:nvPr/>
        </p:nvSpPr>
        <p:spPr>
          <a:xfrm flipH="1">
            <a:off x="8869288" y="5301208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4" name="Group 53"/>
          <p:cNvGrpSpPr/>
          <p:nvPr/>
        </p:nvGrpSpPr>
        <p:grpSpPr>
          <a:xfrm>
            <a:off x="8811631" y="-1"/>
            <a:ext cx="1723221" cy="2276871"/>
            <a:chOff x="7287630" y="-1"/>
            <a:chExt cx="1723221" cy="2276871"/>
          </a:xfrm>
        </p:grpSpPr>
        <p:sp>
          <p:nvSpPr>
            <p:cNvPr id="55" name="TextBox 54"/>
            <p:cNvSpPr txBox="1"/>
            <p:nvPr/>
          </p:nvSpPr>
          <p:spPr>
            <a:xfrm>
              <a:off x="7287630" y="476672"/>
              <a:ext cx="1723221" cy="646331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Strictly additive traits</a:t>
              </a:r>
            </a:p>
          </p:txBody>
        </p:sp>
        <p:sp>
          <p:nvSpPr>
            <p:cNvPr id="56" name="Arc 55"/>
            <p:cNvSpPr/>
            <p:nvPr/>
          </p:nvSpPr>
          <p:spPr>
            <a:xfrm flipV="1">
              <a:off x="7740432" y="-1"/>
              <a:ext cx="1008032" cy="2276871"/>
            </a:xfrm>
            <a:prstGeom prst="arc">
              <a:avLst>
                <a:gd name="adj1" fmla="val 16118829"/>
                <a:gd name="adj2" fmla="val 0"/>
              </a:avLst>
            </a:prstGeom>
            <a:ln w="38100">
              <a:solidFill>
                <a:srgbClr val="FFC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456041" y="5517233"/>
            <a:ext cx="542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K</a:t>
            </a:r>
            <a:endParaRPr lang="en-GB" sz="3600" dirty="0"/>
          </a:p>
        </p:txBody>
      </p:sp>
      <p:sp>
        <p:nvSpPr>
          <p:cNvPr id="87" name="TextBox 86"/>
          <p:cNvSpPr txBox="1"/>
          <p:nvPr/>
        </p:nvSpPr>
        <p:spPr>
          <a:xfrm>
            <a:off x="7628664" y="5661249"/>
            <a:ext cx="271580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Kinship coefficients</a:t>
            </a:r>
            <a:r>
              <a:rPr lang="en-GB" dirty="0"/>
              <a:t> </a:t>
            </a:r>
            <a:r>
              <a:rPr lang="el-GR" sz="2400" dirty="0"/>
              <a:t>ϕ</a:t>
            </a:r>
            <a:r>
              <a:rPr lang="en-GB" sz="2400" baseline="-25000" dirty="0" err="1"/>
              <a:t>ij</a:t>
            </a:r>
            <a:endParaRPr lang="en-GB" sz="2400" dirty="0"/>
          </a:p>
        </p:txBody>
      </p:sp>
      <p:sp>
        <p:nvSpPr>
          <p:cNvPr id="95" name="Down Arrow 94"/>
          <p:cNvSpPr/>
          <p:nvPr/>
        </p:nvSpPr>
        <p:spPr>
          <a:xfrm rot="5400000" flipH="1">
            <a:off x="7067711" y="5731879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Down Arrow 36"/>
          <p:cNvSpPr/>
          <p:nvPr/>
        </p:nvSpPr>
        <p:spPr>
          <a:xfrm flipH="1">
            <a:off x="4044752" y="5157192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8" name="Group 37"/>
          <p:cNvGrpSpPr/>
          <p:nvPr/>
        </p:nvGrpSpPr>
        <p:grpSpPr>
          <a:xfrm>
            <a:off x="6178074" y="2104325"/>
            <a:ext cx="3590334" cy="461665"/>
            <a:chOff x="4654074" y="2159409"/>
            <a:chExt cx="3590334" cy="461665"/>
          </a:xfrm>
        </p:grpSpPr>
        <p:sp>
          <p:nvSpPr>
            <p:cNvPr id="40" name="TextBox 39"/>
            <p:cNvSpPr txBox="1"/>
            <p:nvPr/>
          </p:nvSpPr>
          <p:spPr>
            <a:xfrm>
              <a:off x="6567630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54074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10852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524408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5634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/>
              <a:t>With IBS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AAAC-1F4C-4B6D-9D28-E4790ADE6EF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3266401"/>
            <a:ext cx="3672408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Covariance of breeding values</a:t>
            </a:r>
          </a:p>
          <a:p>
            <a:r>
              <a:rPr lang="en-GB" sz="2000" dirty="0"/>
              <a:t>i.e. </a:t>
            </a:r>
            <a:r>
              <a:rPr lang="en-GB" sz="2000" u="sng" dirty="0"/>
              <a:t>relationships</a:t>
            </a:r>
            <a:r>
              <a:rPr lang="en-GB" dirty="0"/>
              <a:t> </a:t>
            </a:r>
            <a:r>
              <a:rPr lang="en-GB" sz="2400" dirty="0" err="1"/>
              <a:t>g</a:t>
            </a:r>
            <a:r>
              <a:rPr lang="en-GB" sz="2400" baseline="-25000" dirty="0" err="1"/>
              <a:t>ij</a:t>
            </a:r>
            <a:endParaRPr lang="en-GB" sz="2400" u="sng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68008" y="692696"/>
            <a:ext cx="27144" cy="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91544" y="1242626"/>
            <a:ext cx="3598168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Model of gene/marker effects</a:t>
            </a:r>
          </a:p>
          <a:p>
            <a:r>
              <a:rPr lang="en-GB" dirty="0"/>
              <a:t>e.g. </a:t>
            </a:r>
          </a:p>
          <a:p>
            <a:r>
              <a:rPr lang="en-GB" b="1" dirty="0"/>
              <a:t>g </a:t>
            </a:r>
            <a:r>
              <a:rPr lang="en-GB" dirty="0"/>
              <a:t>= </a:t>
            </a:r>
            <a:r>
              <a:rPr lang="en-GB" b="1" dirty="0" err="1"/>
              <a:t>Wb</a:t>
            </a:r>
            <a:endParaRPr lang="en-GB" b="1" dirty="0"/>
          </a:p>
          <a:p>
            <a:r>
              <a:rPr lang="en-GB" sz="2000" b="1" dirty="0"/>
              <a:t>b</a:t>
            </a:r>
            <a:r>
              <a:rPr lang="en-GB" sz="2000" dirty="0"/>
              <a:t> ~ MVN(0,V</a:t>
            </a:r>
            <a:r>
              <a:rPr lang="en-GB" sz="2000" baseline="-25000" dirty="0"/>
              <a:t>b</a:t>
            </a:r>
            <a:r>
              <a:rPr lang="en-GB" sz="2000" b="1" dirty="0"/>
              <a:t>I</a:t>
            </a:r>
            <a:r>
              <a:rPr lang="en-GB" sz="2000" dirty="0"/>
              <a:t>)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4022862" y="1778878"/>
            <a:ext cx="1415044" cy="687884"/>
            <a:chOff x="2253182" y="1114292"/>
            <a:chExt cx="1415044" cy="687884"/>
          </a:xfrm>
        </p:grpSpPr>
        <p:grpSp>
          <p:nvGrpSpPr>
            <p:cNvPr id="69" name="Group 68"/>
            <p:cNvGrpSpPr/>
            <p:nvPr/>
          </p:nvGrpSpPr>
          <p:grpSpPr>
            <a:xfrm>
              <a:off x="2376084" y="1514176"/>
              <a:ext cx="1292142" cy="288000"/>
              <a:chOff x="2339752" y="1556735"/>
              <a:chExt cx="1292142" cy="2880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2339752" y="1700735"/>
                <a:ext cx="1292142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2446784" y="1556735"/>
                <a:ext cx="288032" cy="288000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3185953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/>
              <p:cNvSpPr>
                <a:spLocks noChangeAspect="1"/>
              </p:cNvSpPr>
              <p:nvPr/>
            </p:nvSpPr>
            <p:spPr>
              <a:xfrm>
                <a:off x="2791168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372185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2" name="Oval 81"/>
              <p:cNvSpPr>
                <a:spLocks noChangeAspect="1"/>
              </p:cNvSpPr>
              <p:nvPr/>
            </p:nvSpPr>
            <p:spPr>
              <a:xfrm>
                <a:off x="2940089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 rot="1429229">
              <a:off x="2253182" y="1114292"/>
              <a:ext cx="1205573" cy="159511"/>
              <a:chOff x="2253182" y="1114292"/>
              <a:chExt cx="1205573" cy="159511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 flipV="1">
                <a:off x="2253182" y="1194047"/>
                <a:ext cx="1205573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71"/>
              <p:cNvSpPr/>
              <p:nvPr/>
            </p:nvSpPr>
            <p:spPr>
              <a:xfrm>
                <a:off x="3267286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379478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3094147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951061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2494560" y="1134348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3" name="Down Arrow 82"/>
          <p:cNvSpPr/>
          <p:nvPr/>
        </p:nvSpPr>
        <p:spPr>
          <a:xfrm>
            <a:off x="3431704" y="274315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Down Arrow 83"/>
          <p:cNvSpPr/>
          <p:nvPr/>
        </p:nvSpPr>
        <p:spPr>
          <a:xfrm>
            <a:off x="3431704" y="414908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/>
          <p:cNvSpPr txBox="1"/>
          <p:nvPr/>
        </p:nvSpPr>
        <p:spPr>
          <a:xfrm>
            <a:off x="1991545" y="4581128"/>
            <a:ext cx="3435889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Relationship matrices</a:t>
            </a:r>
          </a:p>
          <a:p>
            <a:r>
              <a:rPr lang="en-GB" sz="2000" dirty="0"/>
              <a:t>e.g. Van </a:t>
            </a:r>
            <a:r>
              <a:rPr lang="en-GB" sz="2000" dirty="0" err="1"/>
              <a:t>Raden</a:t>
            </a:r>
            <a:r>
              <a:rPr lang="en-GB" sz="2000" dirty="0"/>
              <a:t> matrices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32716" y="5240289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 </a:t>
            </a:r>
            <a:r>
              <a:rPr lang="en-GB" sz="3600" b="1" dirty="0"/>
              <a:t>G</a:t>
            </a:r>
            <a:r>
              <a:rPr lang="en-GB" sz="3600" b="1" baseline="-25000" dirty="0"/>
              <a:t>1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670020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/>
              <a:t>With IBS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AAAC-1F4C-4B6D-9D28-E4790ADE6EF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3266401"/>
            <a:ext cx="3672408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Covariance of breeding values</a:t>
            </a:r>
          </a:p>
          <a:p>
            <a:r>
              <a:rPr lang="en-GB" sz="2000" dirty="0"/>
              <a:t>i.e. </a:t>
            </a:r>
            <a:r>
              <a:rPr lang="en-GB" sz="2000" u="sng" dirty="0"/>
              <a:t>relationships</a:t>
            </a:r>
            <a:r>
              <a:rPr lang="en-GB" dirty="0"/>
              <a:t> </a:t>
            </a:r>
            <a:r>
              <a:rPr lang="en-GB" sz="2400" dirty="0" err="1"/>
              <a:t>g</a:t>
            </a:r>
            <a:r>
              <a:rPr lang="en-GB" sz="2400" baseline="-25000" dirty="0" err="1"/>
              <a:t>ij</a:t>
            </a:r>
            <a:endParaRPr lang="en-GB" sz="2400" u="sng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68008" y="692696"/>
            <a:ext cx="27144" cy="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752264" y="5574432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/>
              <a:t>F</a:t>
            </a:r>
            <a:r>
              <a:rPr lang="en-GB" sz="2400" baseline="-25000" dirty="0" err="1"/>
              <a:t>het</a:t>
            </a:r>
            <a:endParaRPr lang="en-GB" sz="2400" dirty="0"/>
          </a:p>
        </p:txBody>
      </p:sp>
      <p:sp>
        <p:nvSpPr>
          <p:cNvPr id="57" name="TextBox 56"/>
          <p:cNvSpPr txBox="1"/>
          <p:nvPr/>
        </p:nvSpPr>
        <p:spPr>
          <a:xfrm>
            <a:off x="6096000" y="3573017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F</a:t>
            </a:r>
            <a:r>
              <a:rPr lang="en-GB" sz="2400" baseline="-25000" dirty="0"/>
              <a:t>IBD</a:t>
            </a:r>
            <a:endParaRPr lang="en-GB" sz="2400" dirty="0"/>
          </a:p>
        </p:txBody>
      </p:sp>
      <p:sp>
        <p:nvSpPr>
          <p:cNvPr id="59" name="Arc 58"/>
          <p:cNvSpPr/>
          <p:nvPr/>
        </p:nvSpPr>
        <p:spPr>
          <a:xfrm>
            <a:off x="7752184" y="3712986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6024072" y="5373217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/>
              <a:t>F</a:t>
            </a:r>
            <a:r>
              <a:rPr lang="en-GB" sz="2400" baseline="-25000" dirty="0" err="1"/>
              <a:t>drift</a:t>
            </a:r>
            <a:endParaRPr lang="en-GB" sz="2400" dirty="0"/>
          </a:p>
        </p:txBody>
      </p:sp>
      <p:sp>
        <p:nvSpPr>
          <p:cNvPr id="62" name="TextBox 61"/>
          <p:cNvSpPr txBox="1"/>
          <p:nvPr/>
        </p:nvSpPr>
        <p:spPr>
          <a:xfrm>
            <a:off x="9284922" y="4056075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bg1">
                    <a:lumMod val="65000"/>
                  </a:schemeClr>
                </a:solidFill>
              </a:rPr>
              <a:t>F</a:t>
            </a:r>
            <a:r>
              <a:rPr lang="en-GB" sz="2400" baseline="-25000" dirty="0" err="1">
                <a:solidFill>
                  <a:schemeClr val="bg1">
                    <a:lumMod val="65000"/>
                  </a:schemeClr>
                </a:solidFill>
              </a:rPr>
              <a:t>var</a:t>
            </a:r>
            <a:endParaRPr lang="en-GB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3" name="Arc 62"/>
          <p:cNvSpPr/>
          <p:nvPr/>
        </p:nvSpPr>
        <p:spPr>
          <a:xfrm flipH="1" flipV="1">
            <a:off x="7075748" y="4119463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c 63"/>
          <p:cNvSpPr/>
          <p:nvPr/>
        </p:nvSpPr>
        <p:spPr>
          <a:xfrm flipH="1">
            <a:off x="7104112" y="3712986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c 64"/>
          <p:cNvSpPr/>
          <p:nvPr/>
        </p:nvSpPr>
        <p:spPr>
          <a:xfrm flipV="1">
            <a:off x="7752184" y="4119583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Explosion 1 52"/>
          <p:cNvSpPr>
            <a:spLocks noChangeAspect="1"/>
          </p:cNvSpPr>
          <p:nvPr/>
        </p:nvSpPr>
        <p:spPr>
          <a:xfrm>
            <a:off x="7125351" y="3629068"/>
            <a:ext cx="1892738" cy="1816156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991544" y="1242626"/>
            <a:ext cx="3598168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Model of gene/marker effects</a:t>
            </a:r>
          </a:p>
          <a:p>
            <a:r>
              <a:rPr lang="en-GB" dirty="0"/>
              <a:t>e.g. </a:t>
            </a:r>
          </a:p>
          <a:p>
            <a:r>
              <a:rPr lang="en-GB" b="1" dirty="0"/>
              <a:t>g </a:t>
            </a:r>
            <a:r>
              <a:rPr lang="en-GB" dirty="0"/>
              <a:t>= </a:t>
            </a:r>
            <a:r>
              <a:rPr lang="en-GB" b="1" dirty="0" err="1"/>
              <a:t>Wb</a:t>
            </a:r>
            <a:endParaRPr lang="en-GB" b="1" dirty="0"/>
          </a:p>
          <a:p>
            <a:r>
              <a:rPr lang="en-GB" sz="2000" b="1" dirty="0"/>
              <a:t>b</a:t>
            </a:r>
            <a:r>
              <a:rPr lang="en-GB" sz="2000" dirty="0"/>
              <a:t> ~ MVN(0,V</a:t>
            </a:r>
            <a:r>
              <a:rPr lang="en-GB" sz="2000" baseline="-25000" dirty="0"/>
              <a:t>b</a:t>
            </a:r>
            <a:r>
              <a:rPr lang="en-GB" sz="2000" b="1" dirty="0"/>
              <a:t>I</a:t>
            </a:r>
            <a:r>
              <a:rPr lang="en-GB" sz="2000" dirty="0"/>
              <a:t>)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4022862" y="1778878"/>
            <a:ext cx="1415044" cy="687884"/>
            <a:chOff x="2253182" y="1114292"/>
            <a:chExt cx="1415044" cy="687884"/>
          </a:xfrm>
        </p:grpSpPr>
        <p:grpSp>
          <p:nvGrpSpPr>
            <p:cNvPr id="69" name="Group 68"/>
            <p:cNvGrpSpPr/>
            <p:nvPr/>
          </p:nvGrpSpPr>
          <p:grpSpPr>
            <a:xfrm>
              <a:off x="2376084" y="1514176"/>
              <a:ext cx="1292142" cy="288000"/>
              <a:chOff x="2339752" y="1556735"/>
              <a:chExt cx="1292142" cy="2880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2339752" y="1700735"/>
                <a:ext cx="1292142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2446784" y="1556735"/>
                <a:ext cx="288032" cy="288000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3185953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/>
              <p:cNvSpPr>
                <a:spLocks noChangeAspect="1"/>
              </p:cNvSpPr>
              <p:nvPr/>
            </p:nvSpPr>
            <p:spPr>
              <a:xfrm>
                <a:off x="2791168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372185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2" name="Oval 81"/>
              <p:cNvSpPr>
                <a:spLocks noChangeAspect="1"/>
              </p:cNvSpPr>
              <p:nvPr/>
            </p:nvSpPr>
            <p:spPr>
              <a:xfrm>
                <a:off x="2940089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 rot="1429229">
              <a:off x="2253182" y="1114292"/>
              <a:ext cx="1205573" cy="159511"/>
              <a:chOff x="2253182" y="1114292"/>
              <a:chExt cx="1205573" cy="159511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 flipV="1">
                <a:off x="2253182" y="1194047"/>
                <a:ext cx="1205573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71"/>
              <p:cNvSpPr/>
              <p:nvPr/>
            </p:nvSpPr>
            <p:spPr>
              <a:xfrm>
                <a:off x="3267286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379478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3094147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951061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2494560" y="1134348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3" name="Down Arrow 82"/>
          <p:cNvSpPr/>
          <p:nvPr/>
        </p:nvSpPr>
        <p:spPr>
          <a:xfrm>
            <a:off x="3431704" y="274315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Down Arrow 83"/>
          <p:cNvSpPr/>
          <p:nvPr/>
        </p:nvSpPr>
        <p:spPr>
          <a:xfrm>
            <a:off x="3431704" y="414908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/>
          <p:cNvSpPr txBox="1"/>
          <p:nvPr/>
        </p:nvSpPr>
        <p:spPr>
          <a:xfrm>
            <a:off x="1991545" y="4581128"/>
            <a:ext cx="3435889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Relationship matrices</a:t>
            </a:r>
          </a:p>
          <a:p>
            <a:r>
              <a:rPr lang="en-GB" sz="2000" dirty="0"/>
              <a:t>e.g. Van </a:t>
            </a:r>
            <a:r>
              <a:rPr lang="en-GB" sz="2000" dirty="0" err="1"/>
              <a:t>Raden</a:t>
            </a:r>
            <a:r>
              <a:rPr lang="en-GB" sz="2000" dirty="0"/>
              <a:t> matrices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32716" y="5240289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 </a:t>
            </a:r>
            <a:r>
              <a:rPr lang="en-GB" sz="3600" b="1" dirty="0"/>
              <a:t>G</a:t>
            </a:r>
            <a:r>
              <a:rPr lang="en-GB" sz="3600" b="1" baseline="-25000" dirty="0"/>
              <a:t>1</a:t>
            </a:r>
            <a:endParaRPr lang="en-GB" sz="3600" dirty="0"/>
          </a:p>
        </p:txBody>
      </p:sp>
      <p:sp>
        <p:nvSpPr>
          <p:cNvPr id="98" name="Down Arrow 97"/>
          <p:cNvSpPr/>
          <p:nvPr/>
        </p:nvSpPr>
        <p:spPr>
          <a:xfrm>
            <a:off x="7698668" y="2887166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6" name="Group 65"/>
          <p:cNvGrpSpPr/>
          <p:nvPr/>
        </p:nvGrpSpPr>
        <p:grpSpPr>
          <a:xfrm>
            <a:off x="8811631" y="-55086"/>
            <a:ext cx="1723221" cy="2276871"/>
            <a:chOff x="7287630" y="-1"/>
            <a:chExt cx="1723221" cy="2276871"/>
          </a:xfrm>
        </p:grpSpPr>
        <p:sp>
          <p:nvSpPr>
            <p:cNvPr id="67" name="TextBox 66"/>
            <p:cNvSpPr txBox="1"/>
            <p:nvPr/>
          </p:nvSpPr>
          <p:spPr>
            <a:xfrm>
              <a:off x="7287630" y="476672"/>
              <a:ext cx="1723221" cy="646331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Strictly additive traits</a:t>
              </a:r>
            </a:p>
          </p:txBody>
        </p:sp>
        <p:sp>
          <p:nvSpPr>
            <p:cNvPr id="87" name="Arc 86"/>
            <p:cNvSpPr/>
            <p:nvPr/>
          </p:nvSpPr>
          <p:spPr>
            <a:xfrm flipV="1">
              <a:off x="7740432" y="-1"/>
              <a:ext cx="1008032" cy="2276871"/>
            </a:xfrm>
            <a:prstGeom prst="arc">
              <a:avLst>
                <a:gd name="adj1" fmla="val 16118829"/>
                <a:gd name="adj2" fmla="val 0"/>
              </a:avLst>
            </a:prstGeom>
            <a:ln w="38100">
              <a:solidFill>
                <a:srgbClr val="FFC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5951984" y="1196752"/>
            <a:ext cx="3960440" cy="1569660"/>
            <a:chOff x="4427984" y="1323864"/>
            <a:chExt cx="3960440" cy="1569660"/>
          </a:xfrm>
        </p:grpSpPr>
        <p:sp>
          <p:nvSpPr>
            <p:cNvPr id="95" name="TextBox 94"/>
            <p:cNvSpPr txBox="1"/>
            <p:nvPr/>
          </p:nvSpPr>
          <p:spPr>
            <a:xfrm>
              <a:off x="4427984" y="1323864"/>
              <a:ext cx="3960440" cy="15696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Measures of change in diversity from to a reference base</a:t>
              </a:r>
            </a:p>
            <a:p>
              <a:endParaRPr lang="en-GB" sz="2000" dirty="0"/>
            </a:p>
            <a:p>
              <a:endParaRPr lang="en-GB" dirty="0"/>
            </a:p>
            <a:p>
              <a:endParaRPr lang="en-GB" dirty="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567630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654074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610852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524408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4692683" y="5393489"/>
            <a:ext cx="1189822" cy="390328"/>
          </a:xfrm>
          <a:custGeom>
            <a:avLst/>
            <a:gdLst>
              <a:gd name="connsiteX0" fmla="*/ 0 w 1101687"/>
              <a:gd name="connsiteY0" fmla="*/ 202497 h 375146"/>
              <a:gd name="connsiteX1" fmla="*/ 341523 w 1101687"/>
              <a:gd name="connsiteY1" fmla="*/ 4193 h 375146"/>
              <a:gd name="connsiteX2" fmla="*/ 804232 w 1101687"/>
              <a:gd name="connsiteY2" fmla="*/ 367750 h 375146"/>
              <a:gd name="connsiteX3" fmla="*/ 1090670 w 1101687"/>
              <a:gd name="connsiteY3" fmla="*/ 257581 h 375146"/>
              <a:gd name="connsiteX4" fmla="*/ 1090670 w 1101687"/>
              <a:gd name="connsiteY4" fmla="*/ 257581 h 375146"/>
              <a:gd name="connsiteX5" fmla="*/ 1101687 w 1101687"/>
              <a:gd name="connsiteY5" fmla="*/ 224530 h 375146"/>
              <a:gd name="connsiteX0" fmla="*/ 0 w 1090670"/>
              <a:gd name="connsiteY0" fmla="*/ 202497 h 375146"/>
              <a:gd name="connsiteX1" fmla="*/ 341523 w 1090670"/>
              <a:gd name="connsiteY1" fmla="*/ 4193 h 375146"/>
              <a:gd name="connsiteX2" fmla="*/ 804232 w 1090670"/>
              <a:gd name="connsiteY2" fmla="*/ 367750 h 375146"/>
              <a:gd name="connsiteX3" fmla="*/ 1090670 w 1090670"/>
              <a:gd name="connsiteY3" fmla="*/ 257581 h 375146"/>
              <a:gd name="connsiteX4" fmla="*/ 1090670 w 1090670"/>
              <a:gd name="connsiteY4" fmla="*/ 257581 h 375146"/>
              <a:gd name="connsiteX0" fmla="*/ 0 w 1189822"/>
              <a:gd name="connsiteY0" fmla="*/ 118528 h 390328"/>
              <a:gd name="connsiteX1" fmla="*/ 440675 w 1189822"/>
              <a:gd name="connsiteY1" fmla="*/ 19375 h 390328"/>
              <a:gd name="connsiteX2" fmla="*/ 903384 w 1189822"/>
              <a:gd name="connsiteY2" fmla="*/ 382932 h 390328"/>
              <a:gd name="connsiteX3" fmla="*/ 1189822 w 1189822"/>
              <a:gd name="connsiteY3" fmla="*/ 272763 h 390328"/>
              <a:gd name="connsiteX4" fmla="*/ 1189822 w 1189822"/>
              <a:gd name="connsiteY4" fmla="*/ 272763 h 39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822" h="390328">
                <a:moveTo>
                  <a:pt x="0" y="118528"/>
                </a:moveTo>
                <a:cubicBezTo>
                  <a:pt x="103742" y="5605"/>
                  <a:pt x="290111" y="-24692"/>
                  <a:pt x="440675" y="19375"/>
                </a:cubicBezTo>
                <a:cubicBezTo>
                  <a:pt x="591239" y="63442"/>
                  <a:pt x="778526" y="340701"/>
                  <a:pt x="903384" y="382932"/>
                </a:cubicBezTo>
                <a:cubicBezTo>
                  <a:pt x="1028242" y="425163"/>
                  <a:pt x="1189822" y="272763"/>
                  <a:pt x="1189822" y="272763"/>
                </a:cubicBezTo>
                <a:lnTo>
                  <a:pt x="1189822" y="272763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459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A325-557F-A24F-89C3-B589FF42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271A78-9CE0-88D1-A796-54A071C3464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/>
              <a:t>With IBS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40531-99BC-E561-226E-C2CC5436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AAAC-1F4C-4B6D-9D28-E4790ADE6EF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9E87D-3099-5839-BAA4-7E996650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BBB20-2C50-887D-D9DF-F5EA2478C23B}"/>
              </a:ext>
            </a:extLst>
          </p:cNvPr>
          <p:cNvSpPr txBox="1"/>
          <p:nvPr/>
        </p:nvSpPr>
        <p:spPr>
          <a:xfrm>
            <a:off x="1991544" y="3266401"/>
            <a:ext cx="3672408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Covariance of breeding values</a:t>
            </a:r>
          </a:p>
          <a:p>
            <a:r>
              <a:rPr lang="en-GB" sz="2000" dirty="0"/>
              <a:t>i.e. </a:t>
            </a:r>
            <a:r>
              <a:rPr lang="en-GB" sz="2000" u="sng" dirty="0"/>
              <a:t>relationships</a:t>
            </a:r>
            <a:r>
              <a:rPr lang="en-GB" dirty="0"/>
              <a:t> </a:t>
            </a:r>
            <a:r>
              <a:rPr lang="en-GB" sz="2400" dirty="0" err="1"/>
              <a:t>g</a:t>
            </a:r>
            <a:r>
              <a:rPr lang="en-GB" sz="2400" baseline="-25000" dirty="0" err="1"/>
              <a:t>ij</a:t>
            </a:r>
            <a:endParaRPr lang="en-GB" sz="2400" u="sng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30066D-D296-581A-E319-DF814D0847BE}"/>
              </a:ext>
            </a:extLst>
          </p:cNvPr>
          <p:cNvCxnSpPr/>
          <p:nvPr/>
        </p:nvCxnSpPr>
        <p:spPr>
          <a:xfrm>
            <a:off x="6168008" y="692696"/>
            <a:ext cx="27144" cy="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491B856-A2C0-086B-10E3-9FA69FBA82C3}"/>
              </a:ext>
            </a:extLst>
          </p:cNvPr>
          <p:cNvSpPr txBox="1"/>
          <p:nvPr/>
        </p:nvSpPr>
        <p:spPr>
          <a:xfrm>
            <a:off x="7752264" y="5574432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/>
              <a:t>F</a:t>
            </a:r>
            <a:r>
              <a:rPr lang="en-GB" sz="2400" baseline="-25000" dirty="0" err="1"/>
              <a:t>het</a:t>
            </a:r>
            <a:endParaRPr lang="en-GB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B37B82-1885-4161-E94F-8F3D4C423ABF}"/>
              </a:ext>
            </a:extLst>
          </p:cNvPr>
          <p:cNvSpPr txBox="1"/>
          <p:nvPr/>
        </p:nvSpPr>
        <p:spPr>
          <a:xfrm>
            <a:off x="6096000" y="3573017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F</a:t>
            </a:r>
            <a:r>
              <a:rPr lang="en-GB" sz="2400" baseline="-25000" dirty="0"/>
              <a:t>IBD</a:t>
            </a:r>
            <a:endParaRPr lang="en-GB" sz="2400" dirty="0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48D7455A-D816-F6A6-CB29-8349743A6385}"/>
              </a:ext>
            </a:extLst>
          </p:cNvPr>
          <p:cNvSpPr/>
          <p:nvPr/>
        </p:nvSpPr>
        <p:spPr>
          <a:xfrm>
            <a:off x="7752184" y="3712986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99B96C-5001-67D2-FFB4-0D0D42887F2F}"/>
              </a:ext>
            </a:extLst>
          </p:cNvPr>
          <p:cNvSpPr txBox="1"/>
          <p:nvPr/>
        </p:nvSpPr>
        <p:spPr>
          <a:xfrm>
            <a:off x="6024072" y="5373217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/>
              <a:t>F</a:t>
            </a:r>
            <a:r>
              <a:rPr lang="en-GB" sz="2400" baseline="-25000" dirty="0" err="1"/>
              <a:t>drift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07CE6B-6B23-0F1A-9F43-021001BC0B13}"/>
              </a:ext>
            </a:extLst>
          </p:cNvPr>
          <p:cNvSpPr txBox="1"/>
          <p:nvPr/>
        </p:nvSpPr>
        <p:spPr>
          <a:xfrm>
            <a:off x="9284922" y="4056075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bg1">
                    <a:lumMod val="65000"/>
                  </a:schemeClr>
                </a:solidFill>
              </a:rPr>
              <a:t>F</a:t>
            </a:r>
            <a:r>
              <a:rPr lang="en-GB" sz="2400" baseline="-25000" dirty="0" err="1">
                <a:solidFill>
                  <a:schemeClr val="bg1">
                    <a:lumMod val="65000"/>
                  </a:schemeClr>
                </a:solidFill>
              </a:rPr>
              <a:t>var</a:t>
            </a:r>
            <a:endParaRPr lang="en-GB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243D2A8D-6177-DCE1-F042-63DFEAF07D67}"/>
              </a:ext>
            </a:extLst>
          </p:cNvPr>
          <p:cNvSpPr/>
          <p:nvPr/>
        </p:nvSpPr>
        <p:spPr>
          <a:xfrm flipH="1" flipV="1">
            <a:off x="7075748" y="4119463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A6FA7450-CE3D-2D49-6FE2-DC664B7643C7}"/>
              </a:ext>
            </a:extLst>
          </p:cNvPr>
          <p:cNvSpPr/>
          <p:nvPr/>
        </p:nvSpPr>
        <p:spPr>
          <a:xfrm flipH="1">
            <a:off x="7104112" y="3712986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D08C579F-4AD7-A5AD-07F0-7D7BC6F5D836}"/>
              </a:ext>
            </a:extLst>
          </p:cNvPr>
          <p:cNvSpPr/>
          <p:nvPr/>
        </p:nvSpPr>
        <p:spPr>
          <a:xfrm flipV="1">
            <a:off x="7752184" y="4119583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Explosion 1 52">
            <a:extLst>
              <a:ext uri="{FF2B5EF4-FFF2-40B4-BE49-F238E27FC236}">
                <a16:creationId xmlns:a16="http://schemas.microsoft.com/office/drawing/2014/main" id="{032F0845-99C5-C8BA-C46F-F220FB4CAA1E}"/>
              </a:ext>
            </a:extLst>
          </p:cNvPr>
          <p:cNvSpPr>
            <a:spLocks noChangeAspect="1"/>
          </p:cNvSpPr>
          <p:nvPr/>
        </p:nvSpPr>
        <p:spPr>
          <a:xfrm>
            <a:off x="7125351" y="3629068"/>
            <a:ext cx="1892738" cy="1816156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4BBE1-B555-B882-15C4-805149D4342D}"/>
              </a:ext>
            </a:extLst>
          </p:cNvPr>
          <p:cNvSpPr txBox="1"/>
          <p:nvPr/>
        </p:nvSpPr>
        <p:spPr>
          <a:xfrm>
            <a:off x="1991544" y="1242626"/>
            <a:ext cx="3598168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Model of gene/marker effects</a:t>
            </a:r>
          </a:p>
          <a:p>
            <a:r>
              <a:rPr lang="en-GB" dirty="0"/>
              <a:t>e.g. </a:t>
            </a:r>
          </a:p>
          <a:p>
            <a:r>
              <a:rPr lang="en-GB" b="1" dirty="0"/>
              <a:t>g </a:t>
            </a:r>
            <a:r>
              <a:rPr lang="en-GB" dirty="0"/>
              <a:t>= </a:t>
            </a:r>
            <a:r>
              <a:rPr lang="en-GB" b="1" dirty="0" err="1"/>
              <a:t>Wb</a:t>
            </a:r>
            <a:endParaRPr lang="en-GB" b="1" dirty="0"/>
          </a:p>
          <a:p>
            <a:r>
              <a:rPr lang="en-GB" sz="2000" b="1" dirty="0"/>
              <a:t>b</a:t>
            </a:r>
            <a:r>
              <a:rPr lang="en-GB" sz="2000" dirty="0"/>
              <a:t> ~ MVN(0,V</a:t>
            </a:r>
            <a:r>
              <a:rPr lang="en-GB" sz="2000" baseline="-25000" dirty="0"/>
              <a:t>b</a:t>
            </a:r>
            <a:r>
              <a:rPr lang="en-GB" sz="2000" b="1" dirty="0"/>
              <a:t>I</a:t>
            </a:r>
            <a:r>
              <a:rPr lang="en-GB" sz="2000" dirty="0"/>
              <a:t>)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6984F1C-0808-A0F4-E80B-BC4CB3FDF31D}"/>
              </a:ext>
            </a:extLst>
          </p:cNvPr>
          <p:cNvGrpSpPr/>
          <p:nvPr/>
        </p:nvGrpSpPr>
        <p:grpSpPr>
          <a:xfrm>
            <a:off x="4022862" y="1778878"/>
            <a:ext cx="1415044" cy="687884"/>
            <a:chOff x="2253182" y="1114292"/>
            <a:chExt cx="1415044" cy="687884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4BA2C6E-3B1F-F99D-B86A-A714B15888F8}"/>
                </a:ext>
              </a:extLst>
            </p:cNvPr>
            <p:cNvGrpSpPr/>
            <p:nvPr/>
          </p:nvGrpSpPr>
          <p:grpSpPr>
            <a:xfrm>
              <a:off x="2376084" y="1514176"/>
              <a:ext cx="1292142" cy="288000"/>
              <a:chOff x="2339752" y="1556735"/>
              <a:chExt cx="1292142" cy="288000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B242554-B5C5-3129-E0B5-B63B5EC143DE}"/>
                  </a:ext>
                </a:extLst>
              </p:cNvPr>
              <p:cNvCxnSpPr/>
              <p:nvPr/>
            </p:nvCxnSpPr>
            <p:spPr>
              <a:xfrm>
                <a:off x="2339752" y="1700735"/>
                <a:ext cx="1292142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491B4F30-06D4-3538-D082-1AE1CE896CF1}"/>
                  </a:ext>
                </a:extLst>
              </p:cNvPr>
              <p:cNvSpPr/>
              <p:nvPr/>
            </p:nvSpPr>
            <p:spPr>
              <a:xfrm>
                <a:off x="2446784" y="1556735"/>
                <a:ext cx="288032" cy="288000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FD815C1-3E81-2241-578E-E5D084F9B8BC}"/>
                  </a:ext>
                </a:extLst>
              </p:cNvPr>
              <p:cNvSpPr/>
              <p:nvPr/>
            </p:nvSpPr>
            <p:spPr>
              <a:xfrm>
                <a:off x="3185953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7E15197-08C0-2287-347B-2D249A0897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91168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9B72237-99D6-74CC-90FD-B7D246244690}"/>
                  </a:ext>
                </a:extLst>
              </p:cNvPr>
              <p:cNvSpPr/>
              <p:nvPr/>
            </p:nvSpPr>
            <p:spPr>
              <a:xfrm>
                <a:off x="3372185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474F99F-20BD-3785-C751-B74C07A91D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40089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76EBFAD-3DE7-C196-25F0-9062545CCCE5}"/>
                </a:ext>
              </a:extLst>
            </p:cNvPr>
            <p:cNvGrpSpPr/>
            <p:nvPr/>
          </p:nvGrpSpPr>
          <p:grpSpPr>
            <a:xfrm rot="1429229">
              <a:off x="2253182" y="1114292"/>
              <a:ext cx="1205573" cy="159511"/>
              <a:chOff x="2253182" y="1114292"/>
              <a:chExt cx="1205573" cy="159511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A91FD3C6-B06F-824F-5E36-1FC2248A5E86}"/>
                  </a:ext>
                </a:extLst>
              </p:cNvPr>
              <p:cNvCxnSpPr/>
              <p:nvPr/>
            </p:nvCxnSpPr>
            <p:spPr>
              <a:xfrm flipV="1">
                <a:off x="2253182" y="1194047"/>
                <a:ext cx="1205573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37F3F65-6205-CEEB-4AC7-994B89771DAA}"/>
                  </a:ext>
                </a:extLst>
              </p:cNvPr>
              <p:cNvSpPr/>
              <p:nvPr/>
            </p:nvSpPr>
            <p:spPr>
              <a:xfrm>
                <a:off x="3267286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57CF841-4D07-5DB3-E593-29A124C7BDAE}"/>
                  </a:ext>
                </a:extLst>
              </p:cNvPr>
              <p:cNvSpPr/>
              <p:nvPr/>
            </p:nvSpPr>
            <p:spPr>
              <a:xfrm>
                <a:off x="2379478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A22C0F85-D1B6-174D-3698-5FCCCF512D81}"/>
                  </a:ext>
                </a:extLst>
              </p:cNvPr>
              <p:cNvSpPr/>
              <p:nvPr/>
            </p:nvSpPr>
            <p:spPr>
              <a:xfrm>
                <a:off x="3094147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28534E4D-097C-2614-6D14-B455674E8B65}"/>
                  </a:ext>
                </a:extLst>
              </p:cNvPr>
              <p:cNvSpPr/>
              <p:nvPr/>
            </p:nvSpPr>
            <p:spPr>
              <a:xfrm>
                <a:off x="2951061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EFC4090-1A13-E63F-4D69-A35CE28D21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560" y="1134348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3" name="Down Arrow 82">
            <a:extLst>
              <a:ext uri="{FF2B5EF4-FFF2-40B4-BE49-F238E27FC236}">
                <a16:creationId xmlns:a16="http://schemas.microsoft.com/office/drawing/2014/main" id="{5BDE5CAA-0C96-24AE-F99B-53FE23A6DBE4}"/>
              </a:ext>
            </a:extLst>
          </p:cNvPr>
          <p:cNvSpPr/>
          <p:nvPr/>
        </p:nvSpPr>
        <p:spPr>
          <a:xfrm>
            <a:off x="3431704" y="274315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Down Arrow 83">
            <a:extLst>
              <a:ext uri="{FF2B5EF4-FFF2-40B4-BE49-F238E27FC236}">
                <a16:creationId xmlns:a16="http://schemas.microsoft.com/office/drawing/2014/main" id="{2B9D952B-E9A5-2514-0238-060D8328AA7E}"/>
              </a:ext>
            </a:extLst>
          </p:cNvPr>
          <p:cNvSpPr/>
          <p:nvPr/>
        </p:nvSpPr>
        <p:spPr>
          <a:xfrm>
            <a:off x="3431704" y="414908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0B5FD7-E622-C410-0400-CF5F16DAC084}"/>
              </a:ext>
            </a:extLst>
          </p:cNvPr>
          <p:cNvSpPr txBox="1"/>
          <p:nvPr/>
        </p:nvSpPr>
        <p:spPr>
          <a:xfrm>
            <a:off x="1991545" y="4581128"/>
            <a:ext cx="3435889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Relationship matrices</a:t>
            </a:r>
          </a:p>
          <a:p>
            <a:r>
              <a:rPr lang="en-GB" sz="2000" dirty="0"/>
              <a:t>e.g. Van </a:t>
            </a:r>
            <a:r>
              <a:rPr lang="en-GB" sz="2000" dirty="0" err="1"/>
              <a:t>Raden</a:t>
            </a:r>
            <a:r>
              <a:rPr lang="en-GB" sz="2000" dirty="0"/>
              <a:t> matrices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A242945-7C7D-5178-8C72-39D42BABB4BF}"/>
              </a:ext>
            </a:extLst>
          </p:cNvPr>
          <p:cNvSpPr txBox="1"/>
          <p:nvPr/>
        </p:nvSpPr>
        <p:spPr>
          <a:xfrm>
            <a:off x="3532716" y="5240289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 </a:t>
            </a:r>
            <a:r>
              <a:rPr lang="en-GB" sz="3600" b="1" dirty="0"/>
              <a:t>G</a:t>
            </a:r>
            <a:r>
              <a:rPr lang="en-GB" sz="3600" b="1" baseline="-25000" dirty="0"/>
              <a:t>1</a:t>
            </a:r>
            <a:endParaRPr lang="en-GB" sz="3600" dirty="0"/>
          </a:p>
        </p:txBody>
      </p:sp>
      <p:sp>
        <p:nvSpPr>
          <p:cNvPr id="98" name="Down Arrow 97">
            <a:extLst>
              <a:ext uri="{FF2B5EF4-FFF2-40B4-BE49-F238E27FC236}">
                <a16:creationId xmlns:a16="http://schemas.microsoft.com/office/drawing/2014/main" id="{6A7F79CB-AAAD-B57E-FD3E-3728514DBFDC}"/>
              </a:ext>
            </a:extLst>
          </p:cNvPr>
          <p:cNvSpPr/>
          <p:nvPr/>
        </p:nvSpPr>
        <p:spPr>
          <a:xfrm>
            <a:off x="7698668" y="2887166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6F7CA84-484A-0E63-1D22-11F216698A92}"/>
              </a:ext>
            </a:extLst>
          </p:cNvPr>
          <p:cNvGrpSpPr/>
          <p:nvPr/>
        </p:nvGrpSpPr>
        <p:grpSpPr>
          <a:xfrm>
            <a:off x="8811631" y="-55086"/>
            <a:ext cx="1723221" cy="2276871"/>
            <a:chOff x="7287630" y="-1"/>
            <a:chExt cx="1723221" cy="2276871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D964473-CF12-6A98-6797-5CBA72825324}"/>
                </a:ext>
              </a:extLst>
            </p:cNvPr>
            <p:cNvSpPr txBox="1"/>
            <p:nvPr/>
          </p:nvSpPr>
          <p:spPr>
            <a:xfrm>
              <a:off x="7287630" y="476672"/>
              <a:ext cx="1723221" cy="646331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Strictly additive traits</a:t>
              </a:r>
            </a:p>
          </p:txBody>
        </p: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E52EA848-22EF-3A9E-396D-3712EF112775}"/>
                </a:ext>
              </a:extLst>
            </p:cNvPr>
            <p:cNvSpPr/>
            <p:nvPr/>
          </p:nvSpPr>
          <p:spPr>
            <a:xfrm flipV="1">
              <a:off x="7740432" y="-1"/>
              <a:ext cx="1008032" cy="2276871"/>
            </a:xfrm>
            <a:prstGeom prst="arc">
              <a:avLst>
                <a:gd name="adj1" fmla="val 16118829"/>
                <a:gd name="adj2" fmla="val 0"/>
              </a:avLst>
            </a:prstGeom>
            <a:ln w="38100">
              <a:solidFill>
                <a:srgbClr val="FFC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CC9A724-9E92-9096-20DB-DD530BB27076}"/>
              </a:ext>
            </a:extLst>
          </p:cNvPr>
          <p:cNvGrpSpPr/>
          <p:nvPr/>
        </p:nvGrpSpPr>
        <p:grpSpPr>
          <a:xfrm>
            <a:off x="5951984" y="1196752"/>
            <a:ext cx="3960440" cy="1569660"/>
            <a:chOff x="4427984" y="1323864"/>
            <a:chExt cx="3960440" cy="1569660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D3C4153-CAFB-1DCC-4CB4-8DDA905F72CB}"/>
                </a:ext>
              </a:extLst>
            </p:cNvPr>
            <p:cNvSpPr txBox="1"/>
            <p:nvPr/>
          </p:nvSpPr>
          <p:spPr>
            <a:xfrm>
              <a:off x="4427984" y="1323864"/>
              <a:ext cx="3960440" cy="15696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Measures of change in diversity from to a reference base</a:t>
              </a:r>
            </a:p>
            <a:p>
              <a:endParaRPr lang="en-GB" sz="2000" dirty="0"/>
            </a:p>
            <a:p>
              <a:endParaRPr lang="en-GB" dirty="0"/>
            </a:p>
            <a:p>
              <a:endParaRPr lang="en-GB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93DF5B3-A054-CAF1-34C2-B2021F3E0D29}"/>
                </a:ext>
              </a:extLst>
            </p:cNvPr>
            <p:cNvSpPr txBox="1"/>
            <p:nvPr/>
          </p:nvSpPr>
          <p:spPr>
            <a:xfrm>
              <a:off x="6567630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942B6D9-6686-DE14-F16F-87232E4AA1D0}"/>
                </a:ext>
              </a:extLst>
            </p:cNvPr>
            <p:cNvSpPr txBox="1"/>
            <p:nvPr/>
          </p:nvSpPr>
          <p:spPr>
            <a:xfrm>
              <a:off x="4654074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356600B-A534-C272-0124-4F3814B764D0}"/>
                </a:ext>
              </a:extLst>
            </p:cNvPr>
            <p:cNvSpPr txBox="1"/>
            <p:nvPr/>
          </p:nvSpPr>
          <p:spPr>
            <a:xfrm>
              <a:off x="5610852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4C13EED-830F-C325-8797-2DA4E9B9CC05}"/>
                </a:ext>
              </a:extLst>
            </p:cNvPr>
            <p:cNvSpPr txBox="1"/>
            <p:nvPr/>
          </p:nvSpPr>
          <p:spPr>
            <a:xfrm>
              <a:off x="7524408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A41BD29E-0729-669C-A39B-4CF743160066}"/>
              </a:ext>
            </a:extLst>
          </p:cNvPr>
          <p:cNvSpPr/>
          <p:nvPr/>
        </p:nvSpPr>
        <p:spPr>
          <a:xfrm>
            <a:off x="4692683" y="5393489"/>
            <a:ext cx="1189822" cy="390328"/>
          </a:xfrm>
          <a:custGeom>
            <a:avLst/>
            <a:gdLst>
              <a:gd name="connsiteX0" fmla="*/ 0 w 1101687"/>
              <a:gd name="connsiteY0" fmla="*/ 202497 h 375146"/>
              <a:gd name="connsiteX1" fmla="*/ 341523 w 1101687"/>
              <a:gd name="connsiteY1" fmla="*/ 4193 h 375146"/>
              <a:gd name="connsiteX2" fmla="*/ 804232 w 1101687"/>
              <a:gd name="connsiteY2" fmla="*/ 367750 h 375146"/>
              <a:gd name="connsiteX3" fmla="*/ 1090670 w 1101687"/>
              <a:gd name="connsiteY3" fmla="*/ 257581 h 375146"/>
              <a:gd name="connsiteX4" fmla="*/ 1090670 w 1101687"/>
              <a:gd name="connsiteY4" fmla="*/ 257581 h 375146"/>
              <a:gd name="connsiteX5" fmla="*/ 1101687 w 1101687"/>
              <a:gd name="connsiteY5" fmla="*/ 224530 h 375146"/>
              <a:gd name="connsiteX0" fmla="*/ 0 w 1090670"/>
              <a:gd name="connsiteY0" fmla="*/ 202497 h 375146"/>
              <a:gd name="connsiteX1" fmla="*/ 341523 w 1090670"/>
              <a:gd name="connsiteY1" fmla="*/ 4193 h 375146"/>
              <a:gd name="connsiteX2" fmla="*/ 804232 w 1090670"/>
              <a:gd name="connsiteY2" fmla="*/ 367750 h 375146"/>
              <a:gd name="connsiteX3" fmla="*/ 1090670 w 1090670"/>
              <a:gd name="connsiteY3" fmla="*/ 257581 h 375146"/>
              <a:gd name="connsiteX4" fmla="*/ 1090670 w 1090670"/>
              <a:gd name="connsiteY4" fmla="*/ 257581 h 375146"/>
              <a:gd name="connsiteX0" fmla="*/ 0 w 1189822"/>
              <a:gd name="connsiteY0" fmla="*/ 118528 h 390328"/>
              <a:gd name="connsiteX1" fmla="*/ 440675 w 1189822"/>
              <a:gd name="connsiteY1" fmla="*/ 19375 h 390328"/>
              <a:gd name="connsiteX2" fmla="*/ 903384 w 1189822"/>
              <a:gd name="connsiteY2" fmla="*/ 382932 h 390328"/>
              <a:gd name="connsiteX3" fmla="*/ 1189822 w 1189822"/>
              <a:gd name="connsiteY3" fmla="*/ 272763 h 390328"/>
              <a:gd name="connsiteX4" fmla="*/ 1189822 w 1189822"/>
              <a:gd name="connsiteY4" fmla="*/ 272763 h 39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822" h="390328">
                <a:moveTo>
                  <a:pt x="0" y="118528"/>
                </a:moveTo>
                <a:cubicBezTo>
                  <a:pt x="103742" y="5605"/>
                  <a:pt x="290111" y="-24692"/>
                  <a:pt x="440675" y="19375"/>
                </a:cubicBezTo>
                <a:cubicBezTo>
                  <a:pt x="591239" y="63442"/>
                  <a:pt x="778526" y="340701"/>
                  <a:pt x="903384" y="382932"/>
                </a:cubicBezTo>
                <a:cubicBezTo>
                  <a:pt x="1028242" y="425163"/>
                  <a:pt x="1189822" y="272763"/>
                  <a:pt x="1189822" y="272763"/>
                </a:cubicBezTo>
                <a:lnTo>
                  <a:pt x="1189822" y="272763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B21F1F-12AB-3DE6-8F54-02C51499CA6F}"/>
              </a:ext>
            </a:extLst>
          </p:cNvPr>
          <p:cNvSpPr/>
          <p:nvPr/>
        </p:nvSpPr>
        <p:spPr>
          <a:xfrm>
            <a:off x="152853" y="1929252"/>
            <a:ext cx="3140168" cy="1115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…</a:t>
            </a:r>
            <a:r>
              <a:rPr lang="en-GB" dirty="0">
                <a:solidFill>
                  <a:schemeClr val="tx1"/>
                </a:solidFill>
              </a:rPr>
              <a:t> ridge regression on allele counts</a:t>
            </a:r>
          </a:p>
        </p:txBody>
      </p:sp>
    </p:spTree>
    <p:extLst>
      <p:ext uri="{BB962C8B-B14F-4D97-AF65-F5344CB8AC3E}">
        <p14:creationId xmlns:p14="http://schemas.microsoft.com/office/powerpoint/2010/main" val="2315008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/>
              <a:t>With IBS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AAAC-1F4C-4B6D-9D28-E4790ADE6EF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3266401"/>
            <a:ext cx="3672408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Covariance of breeding values</a:t>
            </a:r>
          </a:p>
          <a:p>
            <a:r>
              <a:rPr lang="en-GB" sz="2000" dirty="0"/>
              <a:t>i.e. </a:t>
            </a:r>
            <a:r>
              <a:rPr lang="en-GB" sz="2000" u="sng" dirty="0"/>
              <a:t>relationships</a:t>
            </a:r>
            <a:r>
              <a:rPr lang="en-GB" dirty="0"/>
              <a:t> </a:t>
            </a:r>
            <a:r>
              <a:rPr lang="en-GB" sz="2400" dirty="0" err="1"/>
              <a:t>g</a:t>
            </a:r>
            <a:r>
              <a:rPr lang="en-GB" sz="2400" baseline="-25000" dirty="0" err="1"/>
              <a:t>ij</a:t>
            </a:r>
            <a:endParaRPr lang="en-GB" sz="2400" u="sng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68008" y="692696"/>
            <a:ext cx="27144" cy="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752264" y="5574432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/>
              <a:t>F</a:t>
            </a:r>
            <a:r>
              <a:rPr lang="en-GB" sz="2400" baseline="-25000" dirty="0" err="1"/>
              <a:t>het</a:t>
            </a:r>
            <a:endParaRPr lang="en-GB" sz="2400" dirty="0"/>
          </a:p>
        </p:txBody>
      </p:sp>
      <p:sp>
        <p:nvSpPr>
          <p:cNvPr id="57" name="TextBox 56"/>
          <p:cNvSpPr txBox="1"/>
          <p:nvPr/>
        </p:nvSpPr>
        <p:spPr>
          <a:xfrm>
            <a:off x="6096000" y="3573017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F</a:t>
            </a:r>
            <a:r>
              <a:rPr lang="en-GB" sz="2400" baseline="-25000" dirty="0"/>
              <a:t>IBD</a:t>
            </a:r>
            <a:endParaRPr lang="en-GB" sz="2400" dirty="0"/>
          </a:p>
        </p:txBody>
      </p:sp>
      <p:sp>
        <p:nvSpPr>
          <p:cNvPr id="59" name="Arc 58"/>
          <p:cNvSpPr/>
          <p:nvPr/>
        </p:nvSpPr>
        <p:spPr>
          <a:xfrm>
            <a:off x="7752184" y="3712986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6024072" y="5373217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/>
              <a:t>F</a:t>
            </a:r>
            <a:r>
              <a:rPr lang="en-GB" sz="2400" baseline="-25000" dirty="0" err="1"/>
              <a:t>drift</a:t>
            </a:r>
            <a:endParaRPr lang="en-GB" sz="2400" dirty="0"/>
          </a:p>
        </p:txBody>
      </p:sp>
      <p:sp>
        <p:nvSpPr>
          <p:cNvPr id="62" name="TextBox 61"/>
          <p:cNvSpPr txBox="1"/>
          <p:nvPr/>
        </p:nvSpPr>
        <p:spPr>
          <a:xfrm>
            <a:off x="9284922" y="4056075"/>
            <a:ext cx="72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bg1">
                    <a:lumMod val="65000"/>
                  </a:schemeClr>
                </a:solidFill>
              </a:rPr>
              <a:t>F</a:t>
            </a:r>
            <a:r>
              <a:rPr lang="en-GB" sz="2400" baseline="-25000" dirty="0" err="1">
                <a:solidFill>
                  <a:schemeClr val="bg1">
                    <a:lumMod val="65000"/>
                  </a:schemeClr>
                </a:solidFill>
              </a:rPr>
              <a:t>var</a:t>
            </a:r>
            <a:endParaRPr lang="en-GB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3" name="Arc 62"/>
          <p:cNvSpPr/>
          <p:nvPr/>
        </p:nvSpPr>
        <p:spPr>
          <a:xfrm flipH="1" flipV="1">
            <a:off x="7075748" y="4119463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c 63"/>
          <p:cNvSpPr/>
          <p:nvPr/>
        </p:nvSpPr>
        <p:spPr>
          <a:xfrm flipH="1">
            <a:off x="7104112" y="3712986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c 64"/>
          <p:cNvSpPr/>
          <p:nvPr/>
        </p:nvSpPr>
        <p:spPr>
          <a:xfrm flipV="1">
            <a:off x="7752184" y="4119583"/>
            <a:ext cx="1080120" cy="1080000"/>
          </a:xfrm>
          <a:prstGeom prst="arc">
            <a:avLst/>
          </a:prstGeom>
          <a:ln w="825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Explosion 1 52"/>
          <p:cNvSpPr>
            <a:spLocks noChangeAspect="1"/>
          </p:cNvSpPr>
          <p:nvPr/>
        </p:nvSpPr>
        <p:spPr>
          <a:xfrm>
            <a:off x="7125351" y="3629068"/>
            <a:ext cx="1892738" cy="1816156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991544" y="1242626"/>
            <a:ext cx="3598168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Model of gene/marker effects</a:t>
            </a:r>
          </a:p>
          <a:p>
            <a:r>
              <a:rPr lang="en-GB" dirty="0"/>
              <a:t>e.g. </a:t>
            </a:r>
          </a:p>
          <a:p>
            <a:r>
              <a:rPr lang="en-GB" b="1" dirty="0"/>
              <a:t>g </a:t>
            </a:r>
            <a:r>
              <a:rPr lang="en-GB" dirty="0"/>
              <a:t>= </a:t>
            </a:r>
            <a:r>
              <a:rPr lang="en-GB" b="1" dirty="0" err="1"/>
              <a:t>Wb</a:t>
            </a:r>
            <a:endParaRPr lang="en-GB" b="1" dirty="0"/>
          </a:p>
          <a:p>
            <a:r>
              <a:rPr lang="en-GB" sz="2000" b="1" dirty="0"/>
              <a:t>b</a:t>
            </a:r>
            <a:r>
              <a:rPr lang="en-GB" sz="2000" dirty="0"/>
              <a:t> ~ MVN(0,V</a:t>
            </a:r>
            <a:r>
              <a:rPr lang="en-GB" sz="2000" baseline="-25000" dirty="0"/>
              <a:t>b</a:t>
            </a:r>
            <a:r>
              <a:rPr lang="en-GB" sz="2000" b="1" dirty="0"/>
              <a:t>I</a:t>
            </a:r>
            <a:r>
              <a:rPr lang="en-GB" sz="2000" dirty="0"/>
              <a:t>)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4022862" y="1778878"/>
            <a:ext cx="1415044" cy="687884"/>
            <a:chOff x="2253182" y="1114292"/>
            <a:chExt cx="1415044" cy="687884"/>
          </a:xfrm>
        </p:grpSpPr>
        <p:grpSp>
          <p:nvGrpSpPr>
            <p:cNvPr id="69" name="Group 68"/>
            <p:cNvGrpSpPr/>
            <p:nvPr/>
          </p:nvGrpSpPr>
          <p:grpSpPr>
            <a:xfrm>
              <a:off x="2376084" y="1514176"/>
              <a:ext cx="1292142" cy="288000"/>
              <a:chOff x="2339752" y="1556735"/>
              <a:chExt cx="1292142" cy="2880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2339752" y="1700735"/>
                <a:ext cx="1292142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2446784" y="1556735"/>
                <a:ext cx="288032" cy="288000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3185953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/>
              <p:cNvSpPr>
                <a:spLocks noChangeAspect="1"/>
              </p:cNvSpPr>
              <p:nvPr/>
            </p:nvSpPr>
            <p:spPr>
              <a:xfrm>
                <a:off x="2791168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372185" y="1620980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2" name="Oval 81"/>
              <p:cNvSpPr>
                <a:spLocks noChangeAspect="1"/>
              </p:cNvSpPr>
              <p:nvPr/>
            </p:nvSpPr>
            <p:spPr>
              <a:xfrm>
                <a:off x="2940089" y="1641036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 rot="1429229">
              <a:off x="2253182" y="1114292"/>
              <a:ext cx="1205573" cy="159511"/>
              <a:chOff x="2253182" y="1114292"/>
              <a:chExt cx="1205573" cy="159511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 flipV="1">
                <a:off x="2253182" y="1194047"/>
                <a:ext cx="1205573" cy="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71"/>
              <p:cNvSpPr/>
              <p:nvPr/>
            </p:nvSpPr>
            <p:spPr>
              <a:xfrm>
                <a:off x="3267286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379478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3094147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951061" y="1114292"/>
                <a:ext cx="173139" cy="159511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2494560" y="1134348"/>
                <a:ext cx="129600" cy="119399"/>
              </a:xfrm>
              <a:prstGeom prst="ellipse">
                <a:avLst/>
              </a:prstGeom>
              <a:solidFill>
                <a:srgbClr val="DA0000"/>
              </a:solidFill>
              <a:ln>
                <a:solidFill>
                  <a:srgbClr val="DA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3" name="Down Arrow 82"/>
          <p:cNvSpPr/>
          <p:nvPr/>
        </p:nvSpPr>
        <p:spPr>
          <a:xfrm>
            <a:off x="3431704" y="274315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Down Arrow 83"/>
          <p:cNvSpPr/>
          <p:nvPr/>
        </p:nvSpPr>
        <p:spPr>
          <a:xfrm>
            <a:off x="3431704" y="4149080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/>
          <p:cNvSpPr txBox="1"/>
          <p:nvPr/>
        </p:nvSpPr>
        <p:spPr>
          <a:xfrm>
            <a:off x="1991545" y="4581128"/>
            <a:ext cx="3435889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Relationship matrices</a:t>
            </a:r>
          </a:p>
          <a:p>
            <a:r>
              <a:rPr lang="en-GB" sz="2000" dirty="0"/>
              <a:t>e.g. Van </a:t>
            </a:r>
            <a:r>
              <a:rPr lang="en-GB" sz="2000" dirty="0" err="1"/>
              <a:t>Raden</a:t>
            </a:r>
            <a:r>
              <a:rPr lang="en-GB" sz="2000" dirty="0"/>
              <a:t> matrices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32716" y="5240289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 </a:t>
            </a:r>
            <a:r>
              <a:rPr lang="en-GB" sz="3600" b="1" dirty="0"/>
              <a:t>G</a:t>
            </a:r>
            <a:r>
              <a:rPr lang="en-GB" sz="3600" b="1" baseline="-25000" dirty="0"/>
              <a:t>1</a:t>
            </a:r>
            <a:endParaRPr lang="en-GB" sz="3600" dirty="0"/>
          </a:p>
        </p:txBody>
      </p:sp>
      <p:sp>
        <p:nvSpPr>
          <p:cNvPr id="98" name="Down Arrow 97"/>
          <p:cNvSpPr/>
          <p:nvPr/>
        </p:nvSpPr>
        <p:spPr>
          <a:xfrm>
            <a:off x="7698668" y="2887166"/>
            <a:ext cx="467072" cy="32581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6" name="Group 65"/>
          <p:cNvGrpSpPr/>
          <p:nvPr/>
        </p:nvGrpSpPr>
        <p:grpSpPr>
          <a:xfrm>
            <a:off x="8811631" y="-55086"/>
            <a:ext cx="1723221" cy="2276871"/>
            <a:chOff x="7287630" y="-1"/>
            <a:chExt cx="1723221" cy="2276871"/>
          </a:xfrm>
        </p:grpSpPr>
        <p:sp>
          <p:nvSpPr>
            <p:cNvPr id="67" name="TextBox 66"/>
            <p:cNvSpPr txBox="1"/>
            <p:nvPr/>
          </p:nvSpPr>
          <p:spPr>
            <a:xfrm>
              <a:off x="7287630" y="476672"/>
              <a:ext cx="1723221" cy="646331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Strictly additive traits</a:t>
              </a:r>
            </a:p>
          </p:txBody>
        </p:sp>
        <p:sp>
          <p:nvSpPr>
            <p:cNvPr id="87" name="Arc 86"/>
            <p:cNvSpPr/>
            <p:nvPr/>
          </p:nvSpPr>
          <p:spPr>
            <a:xfrm flipV="1">
              <a:off x="7740432" y="-1"/>
              <a:ext cx="1008032" cy="2276871"/>
            </a:xfrm>
            <a:prstGeom prst="arc">
              <a:avLst>
                <a:gd name="adj1" fmla="val 16118829"/>
                <a:gd name="adj2" fmla="val 0"/>
              </a:avLst>
            </a:prstGeom>
            <a:ln w="38100">
              <a:solidFill>
                <a:srgbClr val="FFC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5951984" y="1196752"/>
            <a:ext cx="3960440" cy="1569660"/>
            <a:chOff x="4427984" y="1323864"/>
            <a:chExt cx="3960440" cy="1569660"/>
          </a:xfrm>
        </p:grpSpPr>
        <p:sp>
          <p:nvSpPr>
            <p:cNvPr id="95" name="TextBox 94"/>
            <p:cNvSpPr txBox="1"/>
            <p:nvPr/>
          </p:nvSpPr>
          <p:spPr>
            <a:xfrm>
              <a:off x="4427984" y="1323864"/>
              <a:ext cx="3960440" cy="156966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Measures of change in diversity from to a reference base</a:t>
              </a:r>
            </a:p>
            <a:p>
              <a:endParaRPr lang="en-GB" sz="2000" dirty="0"/>
            </a:p>
            <a:p>
              <a:endParaRPr lang="en-GB" dirty="0"/>
            </a:p>
            <a:p>
              <a:endParaRPr lang="en-GB" dirty="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567630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het</a:t>
              </a:r>
              <a:endParaRPr lang="en-GB" sz="2400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654074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F</a:t>
              </a:r>
              <a:r>
                <a:rPr lang="en-GB" sz="2400" baseline="-25000" dirty="0"/>
                <a:t>IBD</a:t>
              </a:r>
              <a:endParaRPr lang="en-GB" sz="2400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610852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F</a:t>
              </a:r>
              <a:r>
                <a:rPr lang="en-GB" sz="2400" baseline="-25000" dirty="0" err="1"/>
                <a:t>drift</a:t>
              </a:r>
              <a:endParaRPr lang="en-GB" sz="2400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524408" y="2159409"/>
              <a:ext cx="720000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400" dirty="0" err="1">
                  <a:solidFill>
                    <a:schemeClr val="bg1">
                      <a:lumMod val="65000"/>
                    </a:schemeClr>
                  </a:solidFill>
                </a:rPr>
                <a:t>F</a:t>
              </a:r>
              <a:r>
                <a:rPr lang="en-GB" sz="2400" baseline="-25000" dirty="0" err="1">
                  <a:solidFill>
                    <a:schemeClr val="bg1">
                      <a:lumMod val="65000"/>
                    </a:schemeClr>
                  </a:solidFill>
                </a:rPr>
                <a:t>var</a:t>
              </a:r>
              <a:endParaRPr lang="en-GB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4692683" y="5393489"/>
            <a:ext cx="1189822" cy="390328"/>
          </a:xfrm>
          <a:custGeom>
            <a:avLst/>
            <a:gdLst>
              <a:gd name="connsiteX0" fmla="*/ 0 w 1101687"/>
              <a:gd name="connsiteY0" fmla="*/ 202497 h 375146"/>
              <a:gd name="connsiteX1" fmla="*/ 341523 w 1101687"/>
              <a:gd name="connsiteY1" fmla="*/ 4193 h 375146"/>
              <a:gd name="connsiteX2" fmla="*/ 804232 w 1101687"/>
              <a:gd name="connsiteY2" fmla="*/ 367750 h 375146"/>
              <a:gd name="connsiteX3" fmla="*/ 1090670 w 1101687"/>
              <a:gd name="connsiteY3" fmla="*/ 257581 h 375146"/>
              <a:gd name="connsiteX4" fmla="*/ 1090670 w 1101687"/>
              <a:gd name="connsiteY4" fmla="*/ 257581 h 375146"/>
              <a:gd name="connsiteX5" fmla="*/ 1101687 w 1101687"/>
              <a:gd name="connsiteY5" fmla="*/ 224530 h 375146"/>
              <a:gd name="connsiteX0" fmla="*/ 0 w 1090670"/>
              <a:gd name="connsiteY0" fmla="*/ 202497 h 375146"/>
              <a:gd name="connsiteX1" fmla="*/ 341523 w 1090670"/>
              <a:gd name="connsiteY1" fmla="*/ 4193 h 375146"/>
              <a:gd name="connsiteX2" fmla="*/ 804232 w 1090670"/>
              <a:gd name="connsiteY2" fmla="*/ 367750 h 375146"/>
              <a:gd name="connsiteX3" fmla="*/ 1090670 w 1090670"/>
              <a:gd name="connsiteY3" fmla="*/ 257581 h 375146"/>
              <a:gd name="connsiteX4" fmla="*/ 1090670 w 1090670"/>
              <a:gd name="connsiteY4" fmla="*/ 257581 h 375146"/>
              <a:gd name="connsiteX0" fmla="*/ 0 w 1189822"/>
              <a:gd name="connsiteY0" fmla="*/ 118528 h 390328"/>
              <a:gd name="connsiteX1" fmla="*/ 440675 w 1189822"/>
              <a:gd name="connsiteY1" fmla="*/ 19375 h 390328"/>
              <a:gd name="connsiteX2" fmla="*/ 903384 w 1189822"/>
              <a:gd name="connsiteY2" fmla="*/ 382932 h 390328"/>
              <a:gd name="connsiteX3" fmla="*/ 1189822 w 1189822"/>
              <a:gd name="connsiteY3" fmla="*/ 272763 h 390328"/>
              <a:gd name="connsiteX4" fmla="*/ 1189822 w 1189822"/>
              <a:gd name="connsiteY4" fmla="*/ 272763 h 39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822" h="390328">
                <a:moveTo>
                  <a:pt x="0" y="118528"/>
                </a:moveTo>
                <a:cubicBezTo>
                  <a:pt x="103742" y="5605"/>
                  <a:pt x="290111" y="-24692"/>
                  <a:pt x="440675" y="19375"/>
                </a:cubicBezTo>
                <a:cubicBezTo>
                  <a:pt x="591239" y="63442"/>
                  <a:pt x="778526" y="340701"/>
                  <a:pt x="903384" y="382932"/>
                </a:cubicBezTo>
                <a:cubicBezTo>
                  <a:pt x="1028242" y="425163"/>
                  <a:pt x="1189822" y="272763"/>
                  <a:pt x="1189822" y="272763"/>
                </a:cubicBezTo>
                <a:lnTo>
                  <a:pt x="1189822" y="272763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617" y="1421586"/>
            <a:ext cx="4900190" cy="3294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6946" y="1234765"/>
            <a:ext cx="3231063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/>
              <a:t>Further Reading</a:t>
            </a:r>
          </a:p>
        </p:txBody>
      </p:sp>
    </p:spTree>
    <p:extLst>
      <p:ext uri="{BB962C8B-B14F-4D97-AF65-F5344CB8AC3E}">
        <p14:creationId xmlns:p14="http://schemas.microsoft.com/office/powerpoint/2010/main" val="421772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5D0D-8BDA-48AC-A827-4614AA92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0B57-28A2-46C0-89D0-ED00B6DC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Demonstrates </a:t>
            </a:r>
          </a:p>
          <a:p>
            <a:pPr lvl="1"/>
            <a:r>
              <a:rPr lang="en-GB" u="sng" dirty="0"/>
              <a:t>different perspectives</a:t>
            </a:r>
            <a:r>
              <a:rPr lang="en-GB" dirty="0"/>
              <a:t> of IBD &amp; IBS models</a:t>
            </a:r>
          </a:p>
          <a:p>
            <a:pPr lvl="1"/>
            <a:r>
              <a:rPr lang="en-GB" dirty="0"/>
              <a:t>different perspectives have consequences</a:t>
            </a:r>
          </a:p>
          <a:p>
            <a:pPr lvl="1"/>
            <a:r>
              <a:rPr lang="en-GB" dirty="0"/>
              <a:t>both coherent</a:t>
            </a:r>
          </a:p>
          <a:p>
            <a:pPr lvl="1"/>
            <a:r>
              <a:rPr lang="en-GB" dirty="0"/>
              <a:t>both reasonable in their own context</a:t>
            </a:r>
          </a:p>
          <a:p>
            <a:pPr marL="914400" lvl="2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F9252-C34B-4DAC-8CE6-EDBFB4A5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525B-2E53-4CC3-8687-A2B0D1D0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40429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67C3-4C7E-434C-BBC8-747F571B7119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46141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3EDE-3533-4CFC-A23C-4BCC24CED6D7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9 …</a:t>
            </a:r>
            <a:br>
              <a:rPr lang="en-GB" dirty="0"/>
            </a:br>
            <a:r>
              <a:rPr lang="en-GB" dirty="0"/>
              <a:t>Variances and Perspectives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r>
              <a:rPr lang="en-US" dirty="0"/>
              <a:t>Part 3: A quick look at reducing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16058732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Predictors &gt;&gt;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increasingly common problem</a:t>
            </a:r>
          </a:p>
          <a:p>
            <a:pPr lvl="1"/>
            <a:r>
              <a:rPr lang="en-GB" dirty="0"/>
              <a:t>e.g. 100,000s markers, 1000’s phenotypes</a:t>
            </a:r>
          </a:p>
          <a:p>
            <a:pPr lvl="1"/>
            <a:r>
              <a:rPr lang="en-GB" dirty="0"/>
              <a:t>‘</a:t>
            </a:r>
            <a:r>
              <a:rPr lang="en-GB" dirty="0" err="1"/>
              <a:t>omics</a:t>
            </a:r>
            <a:r>
              <a:rPr lang="en-GB" dirty="0"/>
              <a:t> data generates yet more 100,000s of expression data to fit the same ‘few’ phenotypes!</a:t>
            </a:r>
          </a:p>
          <a:p>
            <a:r>
              <a:rPr lang="en-GB" dirty="0"/>
              <a:t>Options </a:t>
            </a:r>
          </a:p>
          <a:p>
            <a:pPr lvl="1"/>
            <a:r>
              <a:rPr lang="en-GB" dirty="0"/>
              <a:t>shrinkage</a:t>
            </a:r>
          </a:p>
          <a:p>
            <a:pPr lvl="1"/>
            <a:r>
              <a:rPr lang="en-GB" dirty="0"/>
              <a:t>reduce dimensionality</a:t>
            </a:r>
          </a:p>
          <a:p>
            <a:pPr lvl="1"/>
            <a:r>
              <a:rPr lang="en-GB" dirty="0"/>
              <a:t>subset selection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D0F5-623F-4DBC-BCEC-14D5C6089214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</a:p>
        </p:txBody>
      </p:sp>
      <p:sp>
        <p:nvSpPr>
          <p:cNvPr id="6" name="Freeform 5"/>
          <p:cNvSpPr/>
          <p:nvPr/>
        </p:nvSpPr>
        <p:spPr>
          <a:xfrm>
            <a:off x="52392" y="4149079"/>
            <a:ext cx="6115615" cy="1279339"/>
          </a:xfrm>
          <a:custGeom>
            <a:avLst/>
            <a:gdLst>
              <a:gd name="connsiteX0" fmla="*/ 2122560 w 2180274"/>
              <a:gd name="connsiteY0" fmla="*/ 259307 h 927542"/>
              <a:gd name="connsiteX1" fmla="*/ 785079 w 2180274"/>
              <a:gd name="connsiteY1" fmla="*/ 136477 h 927542"/>
              <a:gd name="connsiteX2" fmla="*/ 7157 w 2180274"/>
              <a:gd name="connsiteY2" fmla="*/ 736979 h 927542"/>
              <a:gd name="connsiteX3" fmla="*/ 1221807 w 2180274"/>
              <a:gd name="connsiteY3" fmla="*/ 914400 h 927542"/>
              <a:gd name="connsiteX4" fmla="*/ 1235455 w 2180274"/>
              <a:gd name="connsiteY4" fmla="*/ 914400 h 927542"/>
              <a:gd name="connsiteX5" fmla="*/ 2177151 w 2180274"/>
              <a:gd name="connsiteY5" fmla="*/ 764274 h 927542"/>
              <a:gd name="connsiteX6" fmla="*/ 1481115 w 2180274"/>
              <a:gd name="connsiteY6" fmla="*/ 0 h 927542"/>
              <a:gd name="connsiteX0" fmla="*/ 2146690 w 2204404"/>
              <a:gd name="connsiteY0" fmla="*/ 259307 h 927542"/>
              <a:gd name="connsiteX1" fmla="*/ 512939 w 2204404"/>
              <a:gd name="connsiteY1" fmla="*/ 143829 h 927542"/>
              <a:gd name="connsiteX2" fmla="*/ 31287 w 2204404"/>
              <a:gd name="connsiteY2" fmla="*/ 736979 h 927542"/>
              <a:gd name="connsiteX3" fmla="*/ 1245937 w 2204404"/>
              <a:gd name="connsiteY3" fmla="*/ 914400 h 927542"/>
              <a:gd name="connsiteX4" fmla="*/ 1259585 w 2204404"/>
              <a:gd name="connsiteY4" fmla="*/ 914400 h 927542"/>
              <a:gd name="connsiteX5" fmla="*/ 2201281 w 2204404"/>
              <a:gd name="connsiteY5" fmla="*/ 764274 h 927542"/>
              <a:gd name="connsiteX6" fmla="*/ 1505245 w 2204404"/>
              <a:gd name="connsiteY6" fmla="*/ 0 h 927542"/>
              <a:gd name="connsiteX0" fmla="*/ 2146690 w 2204404"/>
              <a:gd name="connsiteY0" fmla="*/ 259307 h 915516"/>
              <a:gd name="connsiteX1" fmla="*/ 512939 w 2204404"/>
              <a:gd name="connsiteY1" fmla="*/ 143829 h 915516"/>
              <a:gd name="connsiteX2" fmla="*/ 31287 w 2204404"/>
              <a:gd name="connsiteY2" fmla="*/ 736979 h 915516"/>
              <a:gd name="connsiteX3" fmla="*/ 1245937 w 2204404"/>
              <a:gd name="connsiteY3" fmla="*/ 914400 h 915516"/>
              <a:gd name="connsiteX4" fmla="*/ 2201281 w 2204404"/>
              <a:gd name="connsiteY4" fmla="*/ 764274 h 915516"/>
              <a:gd name="connsiteX5" fmla="*/ 1505245 w 2204404"/>
              <a:gd name="connsiteY5" fmla="*/ 0 h 91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4404" h="915516">
                <a:moveTo>
                  <a:pt x="2146690" y="259307"/>
                </a:moveTo>
                <a:cubicBezTo>
                  <a:pt x="1654233" y="158086"/>
                  <a:pt x="865506" y="64217"/>
                  <a:pt x="512939" y="143829"/>
                </a:cubicBezTo>
                <a:cubicBezTo>
                  <a:pt x="160372" y="223441"/>
                  <a:pt x="-90879" y="608551"/>
                  <a:pt x="31287" y="736979"/>
                </a:cubicBezTo>
                <a:cubicBezTo>
                  <a:pt x="153453" y="865407"/>
                  <a:pt x="884271" y="909851"/>
                  <a:pt x="1245937" y="914400"/>
                </a:cubicBezTo>
                <a:cubicBezTo>
                  <a:pt x="1607603" y="918949"/>
                  <a:pt x="2158063" y="916674"/>
                  <a:pt x="2201281" y="764274"/>
                </a:cubicBezTo>
                <a:cubicBezTo>
                  <a:pt x="2242224" y="611874"/>
                  <a:pt x="1873734" y="305937"/>
                  <a:pt x="1505245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0439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Principal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Marker combinations with greatest variation</a:t>
            </a:r>
          </a:p>
          <a:p>
            <a:pPr lvl="1"/>
            <a:r>
              <a:rPr lang="en-GB" dirty="0"/>
              <a:t>i.e. principal components</a:t>
            </a:r>
          </a:p>
          <a:p>
            <a:pPr lvl="2"/>
            <a:r>
              <a:rPr lang="en-GB" dirty="0"/>
              <a:t>see handout</a:t>
            </a:r>
          </a:p>
          <a:p>
            <a:pPr lvl="2"/>
            <a:r>
              <a:rPr lang="en-GB" dirty="0"/>
              <a:t>linear combinations of allele counts of all loci</a:t>
            </a:r>
          </a:p>
          <a:p>
            <a:pPr lvl="1"/>
            <a:r>
              <a:rPr lang="en-GB" dirty="0"/>
              <a:t>orthogonal</a:t>
            </a:r>
          </a:p>
          <a:p>
            <a:pPr lvl="1"/>
            <a:r>
              <a:rPr lang="en-GB" dirty="0"/>
              <a:t>ordered to have diminishing variance</a:t>
            </a:r>
          </a:p>
          <a:p>
            <a:pPr lvl="1"/>
            <a:r>
              <a:rPr lang="en-GB" dirty="0"/>
              <a:t>‘directions’ that are most informative</a:t>
            </a:r>
          </a:p>
          <a:p>
            <a:pPr lvl="2"/>
            <a:r>
              <a:rPr lang="en-GB" dirty="0"/>
              <a:t>best estimated</a:t>
            </a:r>
          </a:p>
          <a:p>
            <a:pPr lvl="2"/>
            <a:r>
              <a:rPr lang="en-GB" b="1" dirty="0"/>
              <a:t>not</a:t>
            </a:r>
            <a:r>
              <a:rPr lang="en-GB" dirty="0"/>
              <a:t> </a:t>
            </a:r>
            <a:r>
              <a:rPr lang="en-GB" b="1" dirty="0"/>
              <a:t>necessarily</a:t>
            </a:r>
            <a:r>
              <a:rPr lang="en-GB" dirty="0"/>
              <a:t> most important for trait</a:t>
            </a:r>
          </a:p>
          <a:p>
            <a:r>
              <a:rPr lang="en-GB" dirty="0"/>
              <a:t>Singular Value Decomposition of </a:t>
            </a:r>
            <a:r>
              <a:rPr lang="en-GB" b="1" dirty="0"/>
              <a:t>W</a:t>
            </a:r>
            <a:r>
              <a:rPr lang="en-GB" dirty="0"/>
              <a:t> matrix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248400"/>
            <a:ext cx="2895600" cy="520148"/>
          </a:xfrm>
        </p:spPr>
        <p:txBody>
          <a:bodyPr/>
          <a:lstStyle/>
          <a:p>
            <a:r>
              <a:rPr lang="en-GB" dirty="0"/>
              <a:t>Lecture 9</a:t>
            </a:r>
          </a:p>
        </p:txBody>
      </p:sp>
    </p:spTree>
    <p:extLst>
      <p:ext uri="{BB962C8B-B14F-4D97-AF65-F5344CB8AC3E}">
        <p14:creationId xmlns:p14="http://schemas.microsoft.com/office/powerpoint/2010/main" val="42937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confident about the slope?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83F2-7222-4B97-9AC7-B6D21AFA543C}" type="datetime4">
              <a:rPr lang="en-GB" smtClean="0"/>
              <a:pPr>
                <a:defRPr/>
              </a:pPr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7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0" y="2060848"/>
            <a:ext cx="0" cy="3384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294581" y="3252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688836" y="3108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245983" y="29837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6726871" y="2780928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529645" y="412219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5972216" y="41437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870848" y="334054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7342820" y="278115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038020" y="27809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7447116" y="3324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687035" y="235384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836074" y="306837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6240" y="24943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25591" y="35730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5142081" y="414968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4467835" y="422110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751744" y="462596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655840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5591944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6344412" y="394549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112224" y="198867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4223792" y="472516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342820" y="225089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7044005" y="3789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5811445" y="352179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294481" y="45811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184233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6599381" y="35568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3189894" y="2132676"/>
            <a:ext cx="2258035" cy="331254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7320137" y="1772816"/>
            <a:ext cx="2258035" cy="331254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2927648" y="3717032"/>
            <a:ext cx="64807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71664" y="5631632"/>
            <a:ext cx="5328592" cy="461665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Narrow spread of x’s – small variance</a:t>
            </a:r>
          </a:p>
        </p:txBody>
      </p:sp>
    </p:spTree>
    <p:extLst>
      <p:ext uri="{BB962C8B-B14F-4D97-AF65-F5344CB8AC3E}">
        <p14:creationId xmlns:p14="http://schemas.microsoft.com/office/powerpoint/2010/main" val="3023509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confident about the slope?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83F2-7222-4B97-9AC7-B6D21AFA543C}" type="datetime4">
              <a:rPr lang="en-GB" smtClean="0"/>
              <a:pPr>
                <a:defRPr/>
              </a:pPr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11" name="Oval 10"/>
          <p:cNvSpPr/>
          <p:nvPr/>
        </p:nvSpPr>
        <p:spPr>
          <a:xfrm>
            <a:off x="6294581" y="3252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688836" y="3108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245983" y="29837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6726871" y="29515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529645" y="412219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5972216" y="41437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870848" y="334054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7342820" y="278115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038020" y="25099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7447116" y="3324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687035" y="235384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836074" y="306837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6240" y="24943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25591" y="35730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5142081" y="414968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4467835" y="422110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751744" y="462596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655840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5591944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6344412" y="394549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112224" y="198867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4223792" y="472516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342820" y="225089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7044005" y="3789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5811445" y="352179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294481" y="45811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184233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6599381" y="35568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5486296" y="2132676"/>
            <a:ext cx="1761832" cy="2736484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116232" y="2132676"/>
            <a:ext cx="0" cy="3384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71664" y="5631632"/>
            <a:ext cx="5328592" cy="461665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Wide spread of x’s – large variance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927648" y="3717032"/>
            <a:ext cx="64807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9085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04DB-5D06-4876-8C26-632D15645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Covariates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5E71D-CF9E-484A-8BE1-57015853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5F61-F35D-4683-9818-A4CD7486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7D17C96-42F9-4FC3-9EDA-19F566A79073}"/>
              </a:ext>
            </a:extLst>
          </p:cNvPr>
          <p:cNvGraphicFramePr/>
          <p:nvPr/>
        </p:nvGraphicFramePr>
        <p:xfrm>
          <a:off x="3935909" y="1269000"/>
          <a:ext cx="504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B6DF5-C945-4A82-9C50-93138674F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1196976"/>
            <a:ext cx="8785225" cy="49688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7F7B9-3417-4367-A75E-E962DCA5709E}"/>
              </a:ext>
            </a:extLst>
          </p:cNvPr>
          <p:cNvSpPr txBox="1"/>
          <p:nvPr/>
        </p:nvSpPr>
        <p:spPr>
          <a:xfrm flipH="1">
            <a:off x="8033482" y="3933056"/>
            <a:ext cx="163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Covariate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2F3D5-6ABE-41B8-9707-B8000C754990}"/>
              </a:ext>
            </a:extLst>
          </p:cNvPr>
          <p:cNvSpPr txBox="1"/>
          <p:nvPr/>
        </p:nvSpPr>
        <p:spPr>
          <a:xfrm flipH="1">
            <a:off x="5735960" y="1412776"/>
            <a:ext cx="163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Covariate B</a:t>
            </a:r>
          </a:p>
        </p:txBody>
      </p:sp>
    </p:spTree>
    <p:extLst>
      <p:ext uri="{BB962C8B-B14F-4D97-AF65-F5344CB8AC3E}">
        <p14:creationId xmlns:p14="http://schemas.microsoft.com/office/powerpoint/2010/main" val="19052071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04DB-5D06-4876-8C26-632D15645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dimensions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5E71D-CF9E-484A-8BE1-57015853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5F61-F35D-4683-9818-A4CD7486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7D17C96-42F9-4FC3-9EDA-19F566A79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0843280"/>
              </p:ext>
            </p:extLst>
          </p:nvPr>
        </p:nvGraphicFramePr>
        <p:xfrm>
          <a:off x="3935909" y="1269000"/>
          <a:ext cx="504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5B0FD9-9B80-44AC-B915-E3C51954D5C5}"/>
              </a:ext>
            </a:extLst>
          </p:cNvPr>
          <p:cNvCxnSpPr/>
          <p:nvPr/>
        </p:nvCxnSpPr>
        <p:spPr>
          <a:xfrm flipV="1">
            <a:off x="5303912" y="2708920"/>
            <a:ext cx="2160240" cy="2160240"/>
          </a:xfrm>
          <a:prstGeom prst="straightConnector1">
            <a:avLst/>
          </a:prstGeom>
          <a:ln w="698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B6DF5-C945-4A82-9C50-93138674F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1196976"/>
            <a:ext cx="8785225" cy="4968875"/>
          </a:xfrm>
        </p:spPr>
        <p:txBody>
          <a:bodyPr/>
          <a:lstStyle/>
          <a:p>
            <a:r>
              <a:rPr lang="en-GB" dirty="0"/>
              <a:t>PC1</a:t>
            </a:r>
          </a:p>
          <a:p>
            <a:pPr lvl="1"/>
            <a:r>
              <a:rPr lang="en-GB" dirty="0"/>
              <a:t>greatest variation</a:t>
            </a:r>
          </a:p>
        </p:txBody>
      </p:sp>
    </p:spTree>
    <p:extLst>
      <p:ext uri="{BB962C8B-B14F-4D97-AF65-F5344CB8AC3E}">
        <p14:creationId xmlns:p14="http://schemas.microsoft.com/office/powerpoint/2010/main" val="19634202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04DB-5D06-4876-8C26-632D15645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B6DF5-C945-4A82-9C50-93138674F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PC2</a:t>
            </a:r>
          </a:p>
          <a:p>
            <a:pPr lvl="1"/>
            <a:r>
              <a:rPr lang="en-GB" dirty="0"/>
              <a:t>orthogonal to previous</a:t>
            </a:r>
          </a:p>
          <a:p>
            <a:pPr lvl="1"/>
            <a:r>
              <a:rPr lang="en-GB" dirty="0"/>
              <a:t>greatest variation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5E71D-CF9E-484A-8BE1-57015853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5F61-F35D-4683-9818-A4CD7486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7D17C96-42F9-4FC3-9EDA-19F566A79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4439393"/>
              </p:ext>
            </p:extLst>
          </p:nvPr>
        </p:nvGraphicFramePr>
        <p:xfrm>
          <a:off x="3935909" y="1269000"/>
          <a:ext cx="504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5B0FD9-9B80-44AC-B915-E3C51954D5C5}"/>
              </a:ext>
            </a:extLst>
          </p:cNvPr>
          <p:cNvCxnSpPr/>
          <p:nvPr/>
        </p:nvCxnSpPr>
        <p:spPr>
          <a:xfrm flipV="1">
            <a:off x="5303912" y="2708920"/>
            <a:ext cx="2160240" cy="2160240"/>
          </a:xfrm>
          <a:prstGeom prst="straightConnector1">
            <a:avLst/>
          </a:prstGeom>
          <a:ln w="698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A00889-9F5F-433A-B3CD-F3145F0BA2D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16352" y="3132585"/>
            <a:ext cx="1143744" cy="1160512"/>
          </a:xfrm>
          <a:prstGeom prst="straightConnector1">
            <a:avLst/>
          </a:prstGeom>
          <a:ln w="698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0853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Principal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r>
              <a:rPr lang="en-GB" dirty="0"/>
              <a:t>Have minimum(</a:t>
            </a:r>
            <a:r>
              <a:rPr lang="en-GB" dirty="0" err="1"/>
              <a:t>m,n</a:t>
            </a:r>
            <a:r>
              <a:rPr lang="en-GB" dirty="0"/>
              <a:t>) components</a:t>
            </a:r>
          </a:p>
          <a:p>
            <a:r>
              <a:rPr lang="en-GB" i="1" dirty="0"/>
              <a:t>Assume</a:t>
            </a:r>
            <a:r>
              <a:rPr lang="en-GB" dirty="0"/>
              <a:t> first t explain most variation in phenotypes!</a:t>
            </a:r>
          </a:p>
          <a:p>
            <a:pPr lvl="1"/>
            <a:r>
              <a:rPr lang="en-GB" dirty="0"/>
              <a:t>i.e. as well as variation in markers</a:t>
            </a:r>
          </a:p>
          <a:p>
            <a:pPr lvl="1"/>
            <a:r>
              <a:rPr lang="en-GB" dirty="0"/>
              <a:t>choose t &lt; minimum (</a:t>
            </a:r>
            <a:r>
              <a:rPr lang="en-GB" dirty="0" err="1"/>
              <a:t>m,n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by validation</a:t>
            </a:r>
          </a:p>
          <a:p>
            <a:r>
              <a:rPr lang="en-GB" dirty="0"/>
              <a:t>Treat as random effects and approximate </a:t>
            </a:r>
            <a:r>
              <a:rPr lang="en-GB" b="1" dirty="0"/>
              <a:t>G</a:t>
            </a:r>
          </a:p>
          <a:p>
            <a:pPr lvl="1"/>
            <a:r>
              <a:rPr lang="en-GB" dirty="0"/>
              <a:t>reduce computation</a:t>
            </a:r>
          </a:p>
          <a:p>
            <a:r>
              <a:rPr lang="en-GB" dirty="0"/>
              <a:t>Fit as fixed effects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/>
          <a:p>
            <a:fld id="{6C697B8B-A4F5-476F-A680-8191BD338EC5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/>
          <a:p>
            <a:r>
              <a:rPr lang="en-GB" dirty="0"/>
              <a:t>Lecture 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254C17-B19D-4F6A-B1EE-B36AEEBD3F66}"/>
              </a:ext>
            </a:extLst>
          </p:cNvPr>
          <p:cNvSpPr/>
          <p:nvPr/>
        </p:nvSpPr>
        <p:spPr>
          <a:xfrm>
            <a:off x="8256240" y="1127643"/>
            <a:ext cx="2088232" cy="71129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  <a:p>
            <a:pPr algn="ctr"/>
            <a:r>
              <a:rPr lang="en-GB" i="1" dirty="0"/>
              <a:t>m </a:t>
            </a:r>
            <a:r>
              <a:rPr lang="en-GB" dirty="0"/>
              <a:t>= # markers</a:t>
            </a:r>
          </a:p>
          <a:p>
            <a:pPr algn="ctr"/>
            <a:r>
              <a:rPr lang="en-GB" i="1" dirty="0"/>
              <a:t>n </a:t>
            </a:r>
            <a:r>
              <a:rPr lang="en-GB" dirty="0"/>
              <a:t>= # individuals</a:t>
            </a:r>
            <a:endParaRPr lang="en-GB" i="1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85789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Least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Another procedure to reduce dimensionality</a:t>
            </a:r>
          </a:p>
          <a:p>
            <a:r>
              <a:rPr lang="en-GB" dirty="0"/>
              <a:t>Uses (co)variances of </a:t>
            </a:r>
            <a:r>
              <a:rPr lang="en-GB" b="1" dirty="0"/>
              <a:t>y</a:t>
            </a:r>
            <a:r>
              <a:rPr lang="en-GB" dirty="0"/>
              <a:t> with covariates </a:t>
            </a:r>
            <a:r>
              <a:rPr lang="en-GB" b="1" dirty="0"/>
              <a:t>W</a:t>
            </a:r>
            <a:r>
              <a:rPr lang="en-GB" baseline="-25000" dirty="0"/>
              <a:t>2</a:t>
            </a:r>
            <a:endParaRPr lang="en-GB" dirty="0"/>
          </a:p>
          <a:p>
            <a:r>
              <a:rPr lang="en-GB" dirty="0"/>
              <a:t>Set of components </a:t>
            </a:r>
          </a:p>
          <a:p>
            <a:pPr lvl="1"/>
            <a:r>
              <a:rPr lang="en-GB" dirty="0"/>
              <a:t>c.f. Principal Components</a:t>
            </a:r>
          </a:p>
          <a:p>
            <a:r>
              <a:rPr lang="en-GB" dirty="0"/>
              <a:t>Fit reduced number as fixed effects</a:t>
            </a:r>
          </a:p>
          <a:p>
            <a:r>
              <a:rPr lang="en-GB" dirty="0"/>
              <a:t>All traits may not have same components!</a:t>
            </a:r>
          </a:p>
          <a:p>
            <a:r>
              <a:rPr lang="en-GB" dirty="0"/>
              <a:t>PLS is a valued technique in some problems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6341-7326-4AF3-807A-B9A487AE028D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53849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Reducing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Empirically fixed PC regression and PLS not as effective as shrinkage e.g. (e.g. </a:t>
            </a:r>
            <a:r>
              <a:rPr lang="en-GB" b="1" dirty="0"/>
              <a:t>G</a:t>
            </a:r>
            <a:r>
              <a:rPr lang="en-GB" dirty="0"/>
              <a:t>)</a:t>
            </a:r>
            <a:endParaRPr lang="en-GB" b="1" dirty="0"/>
          </a:p>
          <a:p>
            <a:pPr lvl="1"/>
            <a:r>
              <a:rPr lang="en-GB" dirty="0"/>
              <a:t>see Solberg et al. (2009)</a:t>
            </a:r>
            <a:endParaRPr lang="en-GB" b="1" dirty="0"/>
          </a:p>
          <a:p>
            <a:r>
              <a:rPr lang="en-GB" dirty="0"/>
              <a:t>Renewed can simplify computation of EBV treating PC as random and approximating </a:t>
            </a:r>
            <a:r>
              <a:rPr lang="en-GB" b="1" dirty="0"/>
              <a:t>G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i.e. shrinkage, but reduced dimensionality</a:t>
            </a:r>
          </a:p>
          <a:p>
            <a:pPr lvl="1"/>
            <a:r>
              <a:rPr lang="en-GB" dirty="0"/>
              <a:t>for computational efficiency with huge data</a:t>
            </a:r>
          </a:p>
          <a:p>
            <a:r>
              <a:rPr lang="en-GB" dirty="0"/>
              <a:t>Require all the SNP genotypes to obtain PC!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15974-2C09-4336-A186-9AD977372E87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63888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Subsets of 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Lasso</a:t>
            </a:r>
          </a:p>
          <a:p>
            <a:r>
              <a:rPr lang="en-GB" dirty="0"/>
              <a:t>Bayes B … Lecture 10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15974-2C09-4336-A186-9AD977372E87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88228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Handouts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/>
              <a:t>Optional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‘principal_components.pdf’</a:t>
            </a:r>
          </a:p>
          <a:p>
            <a:pPr lvl="1"/>
            <a:r>
              <a:rPr lang="en-GB" dirty="0"/>
              <a:t>details now beyond the scope of the course</a:t>
            </a:r>
          </a:p>
          <a:p>
            <a:pPr lvl="2"/>
            <a:r>
              <a:rPr lang="en-GB" dirty="0"/>
              <a:t>other things take their place!</a:t>
            </a:r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22540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16088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A670-7101-4D50-A9C8-8ED2FB2A9E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…Lecture 9…</a:t>
            </a:r>
            <a:br>
              <a:rPr lang="en-GB" dirty="0"/>
            </a:br>
            <a:r>
              <a:rPr lang="en-GB" dirty="0"/>
              <a:t>Variances and Perspectives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0AA65-38FF-43C1-BB82-3D9A9C017C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Part 4: Factors affecting accuracy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F961B-276D-4219-8332-E8BD16EB4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F263-1A50-40BC-8099-2A671B133AE1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CAB3-529C-4609-96F0-21E7169F7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03238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8" y="227013"/>
            <a:ext cx="8785225" cy="927100"/>
          </a:xfrm>
        </p:spPr>
        <p:txBody>
          <a:bodyPr/>
          <a:lstStyle/>
          <a:p>
            <a:pPr eaLnBrk="1" hangingPunct="1"/>
            <a:r>
              <a:rPr lang="en-GB"/>
              <a:t>Accuracy Criterion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Accuracy of evaluation,</a:t>
            </a:r>
          </a:p>
          <a:p>
            <a:pPr eaLnBrk="1" hangingPunct="1"/>
            <a:r>
              <a:rPr lang="en-GB" dirty="0"/>
              <a:t>Correlation of     with     where </a:t>
            </a:r>
          </a:p>
          <a:p>
            <a:pPr lvl="1" eaLnBrk="1" hangingPunct="1"/>
            <a:r>
              <a:rPr lang="en-GB" dirty="0"/>
              <a:t>    is true breeding value</a:t>
            </a:r>
          </a:p>
          <a:p>
            <a:pPr lvl="1" eaLnBrk="1" hangingPunct="1"/>
            <a:r>
              <a:rPr lang="en-GB" dirty="0"/>
              <a:t>    is estimate of breeding value from markers</a:t>
            </a:r>
          </a:p>
          <a:p>
            <a:pPr eaLnBrk="1" hangingPunct="1"/>
            <a:r>
              <a:rPr lang="en-GB" dirty="0"/>
              <a:t>What is needed to predict accuracy for a new species and trait?</a:t>
            </a:r>
          </a:p>
        </p:txBody>
      </p:sp>
      <p:sp>
        <p:nvSpPr>
          <p:cNvPr id="7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070709"/>
              </p:ext>
            </p:extLst>
          </p:nvPr>
        </p:nvGraphicFramePr>
        <p:xfrm>
          <a:off x="4511824" y="1868488"/>
          <a:ext cx="3905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4" name="Equation" r:id="rId3" imgW="139680" imgH="177480" progId="Equation.DSMT4">
                  <p:embed/>
                </p:oleObj>
              </mc:Choice>
              <mc:Fallback>
                <p:oleObj name="Equation" r:id="rId3" imgW="139680" imgH="17748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1868488"/>
                        <a:ext cx="390525" cy="512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127918"/>
              </p:ext>
            </p:extLst>
          </p:nvPr>
        </p:nvGraphicFramePr>
        <p:xfrm>
          <a:off x="3215680" y="1771650"/>
          <a:ext cx="4127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5" name="Equation" r:id="rId5" imgW="139680" imgH="215640" progId="Equation.DSMT4">
                  <p:embed/>
                </p:oleObj>
              </mc:Choice>
              <mc:Fallback>
                <p:oleObj name="Equation" r:id="rId5" imgW="139680" imgH="21564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1771650"/>
                        <a:ext cx="412750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848383"/>
              </p:ext>
            </p:extLst>
          </p:nvPr>
        </p:nvGraphicFramePr>
        <p:xfrm>
          <a:off x="1055440" y="2838450"/>
          <a:ext cx="4127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6" name="Equation" r:id="rId7" imgW="139680" imgH="215640" progId="Equation.DSMT4">
                  <p:embed/>
                </p:oleObj>
              </mc:Choice>
              <mc:Fallback>
                <p:oleObj name="Equation" r:id="rId7" imgW="139680" imgH="21564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2838450"/>
                        <a:ext cx="412750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174037"/>
              </p:ext>
            </p:extLst>
          </p:nvPr>
        </p:nvGraphicFramePr>
        <p:xfrm>
          <a:off x="1055440" y="2381250"/>
          <a:ext cx="3905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Equation" r:id="rId9" imgW="139680" imgH="177480" progId="Equation.DSMT4">
                  <p:embed/>
                </p:oleObj>
              </mc:Choice>
              <mc:Fallback>
                <p:oleObj name="Equation" r:id="rId9" imgW="139680" imgH="17748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2381250"/>
                        <a:ext cx="390525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33220"/>
              </p:ext>
            </p:extLst>
          </p:nvPr>
        </p:nvGraphicFramePr>
        <p:xfrm>
          <a:off x="6422142" y="1196976"/>
          <a:ext cx="681970" cy="719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8" name="Equation" r:id="rId11" imgW="228600" imgH="241200" progId="Equation.DSMT4">
                  <p:embed/>
                </p:oleObj>
              </mc:Choice>
              <mc:Fallback>
                <p:oleObj name="Equation" r:id="rId11" imgW="228600" imgH="241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22142" y="1196976"/>
                        <a:ext cx="681970" cy="719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54426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Factors for Accuracy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cs typeface="Arial" charset="0"/>
            </a:endParaRP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1774826" y="1989139"/>
            <a:ext cx="2449513" cy="1152525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dirty="0"/>
              <a:t>Phenotypes</a:t>
            </a:r>
          </a:p>
        </p:txBody>
      </p:sp>
      <p:sp>
        <p:nvSpPr>
          <p:cNvPr id="27653" name="Oval 8"/>
          <p:cNvSpPr>
            <a:spLocks noChangeAspect="1" noChangeArrowheads="1"/>
          </p:cNvSpPr>
          <p:nvPr/>
        </p:nvSpPr>
        <p:spPr bwMode="auto">
          <a:xfrm>
            <a:off x="5448300" y="3716338"/>
            <a:ext cx="1295400" cy="1295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/>
              <a:t>Methodology</a:t>
            </a:r>
          </a:p>
        </p:txBody>
      </p:sp>
      <p:sp>
        <p:nvSpPr>
          <p:cNvPr id="27654" name="Oval 9"/>
          <p:cNvSpPr>
            <a:spLocks noChangeAspect="1" noChangeArrowheads="1"/>
          </p:cNvSpPr>
          <p:nvPr/>
        </p:nvSpPr>
        <p:spPr bwMode="auto">
          <a:xfrm>
            <a:off x="5448300" y="5446713"/>
            <a:ext cx="1295400" cy="1295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/>
              <a:t>Accuracy</a:t>
            </a:r>
          </a:p>
        </p:txBody>
      </p:sp>
      <p:sp>
        <p:nvSpPr>
          <p:cNvPr id="27655" name="AutoShape 13"/>
          <p:cNvSpPr>
            <a:spLocks noChangeArrowheads="1"/>
          </p:cNvSpPr>
          <p:nvPr/>
        </p:nvSpPr>
        <p:spPr bwMode="auto">
          <a:xfrm>
            <a:off x="5808663" y="5086350"/>
            <a:ext cx="576262" cy="2873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56" name="Oval 17"/>
          <p:cNvSpPr>
            <a:spLocks noChangeArrowheads="1"/>
          </p:cNvSpPr>
          <p:nvPr/>
        </p:nvSpPr>
        <p:spPr bwMode="auto">
          <a:xfrm>
            <a:off x="7967663" y="1989139"/>
            <a:ext cx="2449512" cy="1152525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Genome Data</a:t>
            </a:r>
          </a:p>
        </p:txBody>
      </p:sp>
      <p:sp>
        <p:nvSpPr>
          <p:cNvPr id="27657" name="Text Box 18"/>
          <p:cNvSpPr txBox="1">
            <a:spLocks noChangeArrowheads="1"/>
          </p:cNvSpPr>
          <p:nvPr/>
        </p:nvSpPr>
        <p:spPr bwMode="auto">
          <a:xfrm>
            <a:off x="4295776" y="2997201"/>
            <a:ext cx="79216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GB" sz="4800" b="1">
                <a:solidFill>
                  <a:srgbClr val="FF9966"/>
                </a:solidFill>
              </a:rPr>
              <a:t>?</a:t>
            </a:r>
          </a:p>
        </p:txBody>
      </p:sp>
      <p:sp>
        <p:nvSpPr>
          <p:cNvPr id="27658" name="Text Box 19"/>
          <p:cNvSpPr txBox="1">
            <a:spLocks noChangeArrowheads="1"/>
          </p:cNvSpPr>
          <p:nvPr/>
        </p:nvSpPr>
        <p:spPr bwMode="auto">
          <a:xfrm>
            <a:off x="7175501" y="2997201"/>
            <a:ext cx="79216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GB" sz="4800" b="1">
                <a:solidFill>
                  <a:srgbClr val="FF9966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689307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Factors for Accuracy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67B49F-6042-4106-A4E9-1DF9162B1622}"/>
              </a:ext>
            </a:extLst>
          </p:cNvPr>
          <p:cNvGrpSpPr/>
          <p:nvPr/>
        </p:nvGrpSpPr>
        <p:grpSpPr>
          <a:xfrm>
            <a:off x="1775520" y="1917403"/>
            <a:ext cx="8642350" cy="4824413"/>
            <a:chOff x="251520" y="1917402"/>
            <a:chExt cx="8642350" cy="4824413"/>
          </a:xfrm>
        </p:grpSpPr>
        <p:sp>
          <p:nvSpPr>
            <p:cNvPr id="29701" name="Oval 4"/>
            <p:cNvSpPr>
              <a:spLocks noChangeArrowheads="1"/>
            </p:cNvSpPr>
            <p:nvPr/>
          </p:nvSpPr>
          <p:spPr bwMode="auto">
            <a:xfrm>
              <a:off x="251520" y="1988840"/>
              <a:ext cx="2449513" cy="1152525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/>
                <a:t>Phenotypes</a:t>
              </a:r>
            </a:p>
          </p:txBody>
        </p:sp>
        <p:grpSp>
          <p:nvGrpSpPr>
            <p:cNvPr id="29702" name="Group 5"/>
            <p:cNvGrpSpPr>
              <a:grpSpLocks/>
            </p:cNvGrpSpPr>
            <p:nvPr/>
          </p:nvGrpSpPr>
          <p:grpSpPr bwMode="auto">
            <a:xfrm>
              <a:off x="1080195" y="1917402"/>
              <a:ext cx="3381376" cy="3743325"/>
              <a:chOff x="680" y="1178"/>
              <a:chExt cx="2130" cy="2358"/>
            </a:xfrm>
          </p:grpSpPr>
          <p:sp>
            <p:nvSpPr>
              <p:cNvPr id="29727" name="Oval 6"/>
              <p:cNvSpPr>
                <a:spLocks noChangeAspect="1" noChangeArrowheads="1"/>
              </p:cNvSpPr>
              <p:nvPr/>
            </p:nvSpPr>
            <p:spPr bwMode="auto">
              <a:xfrm>
                <a:off x="1337" y="1949"/>
                <a:ext cx="816" cy="816"/>
              </a:xfrm>
              <a:prstGeom prst="ellipse">
                <a:avLst/>
              </a:prstGeom>
              <a:solidFill>
                <a:srgbClr val="FFCC99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600" dirty="0"/>
                  <a:t>Heritability</a:t>
                </a:r>
              </a:p>
              <a:p>
                <a:pPr algn="ctr"/>
                <a:r>
                  <a:rPr lang="en-GB" sz="1600" dirty="0"/>
                  <a:t>(h</a:t>
                </a:r>
                <a:r>
                  <a:rPr lang="en-GB" sz="1600" baseline="30000" dirty="0"/>
                  <a:t>2</a:t>
                </a:r>
                <a:r>
                  <a:rPr lang="en-GB" sz="1600" dirty="0"/>
                  <a:t>)</a:t>
                </a:r>
              </a:p>
            </p:txBody>
          </p:sp>
          <p:sp>
            <p:nvSpPr>
              <p:cNvPr id="29728" name="Oval 7"/>
              <p:cNvSpPr>
                <a:spLocks noChangeAspect="1" noChangeArrowheads="1"/>
              </p:cNvSpPr>
              <p:nvPr/>
            </p:nvSpPr>
            <p:spPr bwMode="auto">
              <a:xfrm>
                <a:off x="1994" y="1178"/>
                <a:ext cx="816" cy="816"/>
              </a:xfrm>
              <a:prstGeom prst="ellipse">
                <a:avLst/>
              </a:prstGeom>
              <a:solidFill>
                <a:srgbClr val="FFCC99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600" dirty="0"/>
                  <a:t>Genetic </a:t>
                </a:r>
              </a:p>
              <a:p>
                <a:pPr algn="ctr"/>
                <a:r>
                  <a:rPr lang="en-GB" sz="1600" dirty="0"/>
                  <a:t>Architecture</a:t>
                </a:r>
              </a:p>
            </p:txBody>
          </p:sp>
          <p:sp>
            <p:nvSpPr>
              <p:cNvPr id="29729" name="Oval 8"/>
              <p:cNvSpPr>
                <a:spLocks noChangeAspect="1" noChangeArrowheads="1"/>
              </p:cNvSpPr>
              <p:nvPr/>
            </p:nvSpPr>
            <p:spPr bwMode="auto">
              <a:xfrm>
                <a:off x="680" y="2720"/>
                <a:ext cx="816" cy="816"/>
              </a:xfrm>
              <a:prstGeom prst="ellipse">
                <a:avLst/>
              </a:prstGeom>
              <a:solidFill>
                <a:srgbClr val="FFCC99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600" dirty="0"/>
                  <a:t>Number </a:t>
                </a:r>
              </a:p>
              <a:p>
                <a:pPr algn="ctr"/>
                <a:r>
                  <a:rPr lang="en-GB" sz="1600" dirty="0"/>
                  <a:t>Records</a:t>
                </a:r>
              </a:p>
              <a:p>
                <a:pPr algn="ctr"/>
                <a:r>
                  <a:rPr lang="en-GB" sz="1600" dirty="0"/>
                  <a:t>(N)</a:t>
                </a:r>
              </a:p>
            </p:txBody>
          </p:sp>
        </p:grpSp>
        <p:sp>
          <p:nvSpPr>
            <p:cNvPr id="29703" name="Oval 9"/>
            <p:cNvSpPr>
              <a:spLocks noChangeAspect="1" noChangeArrowheads="1"/>
            </p:cNvSpPr>
            <p:nvPr/>
          </p:nvSpPr>
          <p:spPr bwMode="auto">
            <a:xfrm>
              <a:off x="3924995" y="3716040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Methodology</a:t>
              </a:r>
            </a:p>
          </p:txBody>
        </p:sp>
        <p:sp>
          <p:nvSpPr>
            <p:cNvPr id="29704" name="Oval 10"/>
            <p:cNvSpPr>
              <a:spLocks noChangeAspect="1" noChangeArrowheads="1"/>
            </p:cNvSpPr>
            <p:nvPr/>
          </p:nvSpPr>
          <p:spPr bwMode="auto">
            <a:xfrm>
              <a:off x="3924995" y="5446415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Accuracy</a:t>
              </a:r>
            </a:p>
          </p:txBody>
        </p:sp>
        <p:grpSp>
          <p:nvGrpSpPr>
            <p:cNvPr id="29705" name="Group 11"/>
            <p:cNvGrpSpPr>
              <a:grpSpLocks/>
            </p:cNvGrpSpPr>
            <p:nvPr/>
          </p:nvGrpSpPr>
          <p:grpSpPr bwMode="auto">
            <a:xfrm>
              <a:off x="540445" y="2052340"/>
              <a:ext cx="2671763" cy="2606675"/>
              <a:chOff x="335" y="1293"/>
              <a:chExt cx="1683" cy="1642"/>
            </a:xfrm>
          </p:grpSpPr>
          <p:sp>
            <p:nvSpPr>
              <p:cNvPr id="29724" name="Freeform 12"/>
              <p:cNvSpPr>
                <a:spLocks/>
              </p:cNvSpPr>
              <p:nvPr/>
            </p:nvSpPr>
            <p:spPr bwMode="auto">
              <a:xfrm>
                <a:off x="335" y="1979"/>
                <a:ext cx="375" cy="956"/>
              </a:xfrm>
              <a:custGeom>
                <a:avLst/>
                <a:gdLst>
                  <a:gd name="T0" fmla="*/ 141 w 375"/>
                  <a:gd name="T1" fmla="*/ 0 h 956"/>
                  <a:gd name="T2" fmla="*/ 12 w 375"/>
                  <a:gd name="T3" fmla="*/ 278 h 956"/>
                  <a:gd name="T4" fmla="*/ 67 w 375"/>
                  <a:gd name="T5" fmla="*/ 696 h 956"/>
                  <a:gd name="T6" fmla="*/ 375 w 375"/>
                  <a:gd name="T7" fmla="*/ 956 h 9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5"/>
                  <a:gd name="T13" fmla="*/ 0 h 956"/>
                  <a:gd name="T14" fmla="*/ 375 w 375"/>
                  <a:gd name="T15" fmla="*/ 956 h 9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5" h="956">
                    <a:moveTo>
                      <a:pt x="141" y="0"/>
                    </a:moveTo>
                    <a:cubicBezTo>
                      <a:pt x="120" y="46"/>
                      <a:pt x="24" y="162"/>
                      <a:pt x="12" y="278"/>
                    </a:cubicBezTo>
                    <a:cubicBezTo>
                      <a:pt x="0" y="394"/>
                      <a:pt x="7" y="583"/>
                      <a:pt x="67" y="696"/>
                    </a:cubicBezTo>
                    <a:cubicBezTo>
                      <a:pt x="127" y="809"/>
                      <a:pt x="311" y="902"/>
                      <a:pt x="375" y="956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25" name="Freeform 13"/>
              <p:cNvSpPr>
                <a:spLocks/>
              </p:cNvSpPr>
              <p:nvPr/>
            </p:nvSpPr>
            <p:spPr bwMode="auto">
              <a:xfrm>
                <a:off x="1020" y="2024"/>
                <a:ext cx="274" cy="321"/>
              </a:xfrm>
              <a:custGeom>
                <a:avLst/>
                <a:gdLst>
                  <a:gd name="T0" fmla="*/ 0 w 274"/>
                  <a:gd name="T1" fmla="*/ 0 h 321"/>
                  <a:gd name="T2" fmla="*/ 48 w 274"/>
                  <a:gd name="T3" fmla="*/ 268 h 321"/>
                  <a:gd name="T4" fmla="*/ 274 w 274"/>
                  <a:gd name="T5" fmla="*/ 319 h 321"/>
                  <a:gd name="T6" fmla="*/ 0 60000 65536"/>
                  <a:gd name="T7" fmla="*/ 0 60000 65536"/>
                  <a:gd name="T8" fmla="*/ 0 60000 65536"/>
                  <a:gd name="T9" fmla="*/ 0 w 274"/>
                  <a:gd name="T10" fmla="*/ 0 h 321"/>
                  <a:gd name="T11" fmla="*/ 274 w 274"/>
                  <a:gd name="T12" fmla="*/ 321 h 3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4" h="321">
                    <a:moveTo>
                      <a:pt x="0" y="0"/>
                    </a:moveTo>
                    <a:cubicBezTo>
                      <a:pt x="8" y="45"/>
                      <a:pt x="2" y="215"/>
                      <a:pt x="48" y="268"/>
                    </a:cubicBezTo>
                    <a:cubicBezTo>
                      <a:pt x="94" y="321"/>
                      <a:pt x="227" y="309"/>
                      <a:pt x="274" y="319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26" name="Freeform 14"/>
              <p:cNvSpPr>
                <a:spLocks/>
              </p:cNvSpPr>
              <p:nvPr/>
            </p:nvSpPr>
            <p:spPr bwMode="auto">
              <a:xfrm>
                <a:off x="1562" y="1293"/>
                <a:ext cx="456" cy="96"/>
              </a:xfrm>
              <a:custGeom>
                <a:avLst/>
                <a:gdLst>
                  <a:gd name="T0" fmla="*/ 0 w 418"/>
                  <a:gd name="T1" fmla="*/ 88 h 96"/>
                  <a:gd name="T2" fmla="*/ 229 w 418"/>
                  <a:gd name="T3" fmla="*/ 1 h 96"/>
                  <a:gd name="T4" fmla="*/ 418 w 418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418"/>
                  <a:gd name="T10" fmla="*/ 0 h 96"/>
                  <a:gd name="T11" fmla="*/ 418 w 418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8" h="96">
                    <a:moveTo>
                      <a:pt x="0" y="88"/>
                    </a:moveTo>
                    <a:cubicBezTo>
                      <a:pt x="37" y="74"/>
                      <a:pt x="159" y="0"/>
                      <a:pt x="229" y="1"/>
                    </a:cubicBezTo>
                    <a:cubicBezTo>
                      <a:pt x="299" y="2"/>
                      <a:pt x="379" y="76"/>
                      <a:pt x="418" y="96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9706" name="AutoShape 15"/>
            <p:cNvSpPr>
              <a:spLocks noChangeArrowheads="1"/>
            </p:cNvSpPr>
            <p:nvPr/>
          </p:nvSpPr>
          <p:spPr bwMode="auto">
            <a:xfrm>
              <a:off x="4285358" y="5086052"/>
              <a:ext cx="576262" cy="28733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CC00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9707" name="Group 16"/>
            <p:cNvGrpSpPr>
              <a:grpSpLocks/>
            </p:cNvGrpSpPr>
            <p:nvPr/>
          </p:nvGrpSpPr>
          <p:grpSpPr bwMode="auto">
            <a:xfrm>
              <a:off x="2412108" y="3212802"/>
              <a:ext cx="1873250" cy="1655763"/>
              <a:chOff x="1519" y="2024"/>
              <a:chExt cx="1180" cy="1043"/>
            </a:xfrm>
          </p:grpSpPr>
          <p:sp>
            <p:nvSpPr>
              <p:cNvPr id="29721" name="Line 17"/>
              <p:cNvSpPr>
                <a:spLocks noChangeShapeType="1"/>
              </p:cNvSpPr>
              <p:nvPr/>
            </p:nvSpPr>
            <p:spPr bwMode="auto">
              <a:xfrm flipV="1">
                <a:off x="1519" y="2840"/>
                <a:ext cx="907" cy="22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22" name="Line 18"/>
              <p:cNvSpPr>
                <a:spLocks noChangeShapeType="1"/>
              </p:cNvSpPr>
              <p:nvPr/>
            </p:nvSpPr>
            <p:spPr bwMode="auto">
              <a:xfrm>
                <a:off x="2200" y="2478"/>
                <a:ext cx="272" cy="9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23" name="Line 19"/>
              <p:cNvSpPr>
                <a:spLocks noChangeShapeType="1"/>
              </p:cNvSpPr>
              <p:nvPr/>
            </p:nvSpPr>
            <p:spPr bwMode="auto">
              <a:xfrm>
                <a:off x="2562" y="2024"/>
                <a:ext cx="137" cy="31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9708" name="Oval 20"/>
            <p:cNvSpPr>
              <a:spLocks noChangeArrowheads="1"/>
            </p:cNvSpPr>
            <p:nvPr/>
          </p:nvSpPr>
          <p:spPr bwMode="auto">
            <a:xfrm>
              <a:off x="6444358" y="1988840"/>
              <a:ext cx="2449512" cy="1152525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/>
                <a:t>Genome Data</a:t>
              </a:r>
            </a:p>
          </p:txBody>
        </p:sp>
        <p:sp>
          <p:nvSpPr>
            <p:cNvPr id="29718" name="Oval 22"/>
            <p:cNvSpPr>
              <a:spLocks noChangeAspect="1" noChangeArrowheads="1"/>
            </p:cNvSpPr>
            <p:nvPr/>
          </p:nvSpPr>
          <p:spPr bwMode="auto">
            <a:xfrm flipH="1">
              <a:off x="5757666" y="3141365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Number </a:t>
              </a:r>
            </a:p>
            <a:p>
              <a:pPr algn="ctr"/>
              <a:r>
                <a:rPr lang="en-GB" sz="1600"/>
                <a:t>Markers</a:t>
              </a:r>
            </a:p>
          </p:txBody>
        </p:sp>
        <p:sp>
          <p:nvSpPr>
            <p:cNvPr id="29719" name="Oval 23"/>
            <p:cNvSpPr>
              <a:spLocks noChangeAspect="1" noChangeArrowheads="1"/>
            </p:cNvSpPr>
            <p:nvPr/>
          </p:nvSpPr>
          <p:spPr bwMode="auto">
            <a:xfrm flipH="1">
              <a:off x="4714678" y="1917402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Population</a:t>
              </a:r>
            </a:p>
            <a:p>
              <a:pPr algn="ctr"/>
              <a:r>
                <a:rPr lang="en-GB" sz="1600"/>
                <a:t>Genome</a:t>
              </a:r>
            </a:p>
            <a:p>
              <a:pPr algn="ctr"/>
              <a:r>
                <a:rPr lang="en-GB" sz="1600"/>
                <a:t>Structure</a:t>
              </a:r>
            </a:p>
          </p:txBody>
        </p:sp>
        <p:sp>
          <p:nvSpPr>
            <p:cNvPr id="29720" name="Oval 24"/>
            <p:cNvSpPr>
              <a:spLocks noChangeAspect="1" noChangeArrowheads="1"/>
            </p:cNvSpPr>
            <p:nvPr/>
          </p:nvSpPr>
          <p:spPr bwMode="auto">
            <a:xfrm flipH="1">
              <a:off x="6800653" y="4365327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Marker</a:t>
              </a:r>
            </a:p>
            <a:p>
              <a:pPr algn="ctr"/>
              <a:r>
                <a:rPr lang="en-GB" sz="1600"/>
                <a:t>Selection</a:t>
              </a:r>
            </a:p>
          </p:txBody>
        </p:sp>
        <p:sp>
          <p:nvSpPr>
            <p:cNvPr id="39" name="Oval 22">
              <a:extLst>
                <a:ext uri="{FF2B5EF4-FFF2-40B4-BE49-F238E27FC236}">
                  <a16:creationId xmlns:a16="http://schemas.microsoft.com/office/drawing/2014/main" id="{C4F182A4-BC8A-4117-A769-51C8991AB0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5757666" y="3141365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Number </a:t>
              </a:r>
            </a:p>
            <a:p>
              <a:pPr algn="ctr"/>
              <a:r>
                <a:rPr lang="en-GB" sz="1600" dirty="0"/>
                <a:t>Markers</a:t>
              </a:r>
            </a:p>
            <a:p>
              <a:pPr algn="ctr"/>
              <a:r>
                <a:rPr lang="en-GB" sz="1600" dirty="0"/>
                <a:t>(m)</a:t>
              </a:r>
            </a:p>
          </p:txBody>
        </p:sp>
        <p:grpSp>
          <p:nvGrpSpPr>
            <p:cNvPr id="29710" name="Group 25"/>
            <p:cNvGrpSpPr>
              <a:grpSpLocks/>
            </p:cNvGrpSpPr>
            <p:nvPr/>
          </p:nvGrpSpPr>
          <p:grpSpPr bwMode="auto">
            <a:xfrm flipH="1">
              <a:off x="4860033" y="3212802"/>
              <a:ext cx="1873250" cy="1655763"/>
              <a:chOff x="1519" y="2024"/>
              <a:chExt cx="1180" cy="1043"/>
            </a:xfrm>
          </p:grpSpPr>
          <p:sp>
            <p:nvSpPr>
              <p:cNvPr id="29715" name="Line 26"/>
              <p:cNvSpPr>
                <a:spLocks noChangeShapeType="1"/>
              </p:cNvSpPr>
              <p:nvPr/>
            </p:nvSpPr>
            <p:spPr bwMode="auto">
              <a:xfrm flipV="1">
                <a:off x="1519" y="2840"/>
                <a:ext cx="907" cy="22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16" name="Line 27"/>
              <p:cNvSpPr>
                <a:spLocks noChangeShapeType="1"/>
              </p:cNvSpPr>
              <p:nvPr/>
            </p:nvSpPr>
            <p:spPr bwMode="auto">
              <a:xfrm>
                <a:off x="2200" y="2478"/>
                <a:ext cx="272" cy="9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17" name="Line 28"/>
              <p:cNvSpPr>
                <a:spLocks noChangeShapeType="1"/>
              </p:cNvSpPr>
              <p:nvPr/>
            </p:nvSpPr>
            <p:spPr bwMode="auto">
              <a:xfrm>
                <a:off x="2562" y="2024"/>
                <a:ext cx="137" cy="31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9711" name="Group 29"/>
            <p:cNvGrpSpPr>
              <a:grpSpLocks/>
            </p:cNvGrpSpPr>
            <p:nvPr/>
          </p:nvGrpSpPr>
          <p:grpSpPr bwMode="auto">
            <a:xfrm flipH="1">
              <a:off x="5941120" y="2045990"/>
              <a:ext cx="2671763" cy="2606675"/>
              <a:chOff x="335" y="1293"/>
              <a:chExt cx="1683" cy="1642"/>
            </a:xfrm>
          </p:grpSpPr>
          <p:sp>
            <p:nvSpPr>
              <p:cNvPr id="29712" name="Freeform 30"/>
              <p:cNvSpPr>
                <a:spLocks/>
              </p:cNvSpPr>
              <p:nvPr/>
            </p:nvSpPr>
            <p:spPr bwMode="auto">
              <a:xfrm>
                <a:off x="335" y="1979"/>
                <a:ext cx="375" cy="956"/>
              </a:xfrm>
              <a:custGeom>
                <a:avLst/>
                <a:gdLst>
                  <a:gd name="T0" fmla="*/ 141 w 375"/>
                  <a:gd name="T1" fmla="*/ 0 h 956"/>
                  <a:gd name="T2" fmla="*/ 12 w 375"/>
                  <a:gd name="T3" fmla="*/ 278 h 956"/>
                  <a:gd name="T4" fmla="*/ 67 w 375"/>
                  <a:gd name="T5" fmla="*/ 696 h 956"/>
                  <a:gd name="T6" fmla="*/ 375 w 375"/>
                  <a:gd name="T7" fmla="*/ 956 h 9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5"/>
                  <a:gd name="T13" fmla="*/ 0 h 956"/>
                  <a:gd name="T14" fmla="*/ 375 w 375"/>
                  <a:gd name="T15" fmla="*/ 956 h 9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5" h="956">
                    <a:moveTo>
                      <a:pt x="141" y="0"/>
                    </a:moveTo>
                    <a:cubicBezTo>
                      <a:pt x="120" y="46"/>
                      <a:pt x="24" y="162"/>
                      <a:pt x="12" y="278"/>
                    </a:cubicBezTo>
                    <a:cubicBezTo>
                      <a:pt x="0" y="394"/>
                      <a:pt x="7" y="583"/>
                      <a:pt x="67" y="696"/>
                    </a:cubicBezTo>
                    <a:cubicBezTo>
                      <a:pt x="127" y="809"/>
                      <a:pt x="311" y="902"/>
                      <a:pt x="375" y="956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13" name="Freeform 31"/>
              <p:cNvSpPr>
                <a:spLocks/>
              </p:cNvSpPr>
              <p:nvPr/>
            </p:nvSpPr>
            <p:spPr bwMode="auto">
              <a:xfrm>
                <a:off x="1020" y="2024"/>
                <a:ext cx="274" cy="321"/>
              </a:xfrm>
              <a:custGeom>
                <a:avLst/>
                <a:gdLst>
                  <a:gd name="T0" fmla="*/ 0 w 274"/>
                  <a:gd name="T1" fmla="*/ 0 h 321"/>
                  <a:gd name="T2" fmla="*/ 48 w 274"/>
                  <a:gd name="T3" fmla="*/ 268 h 321"/>
                  <a:gd name="T4" fmla="*/ 274 w 274"/>
                  <a:gd name="T5" fmla="*/ 319 h 321"/>
                  <a:gd name="T6" fmla="*/ 0 60000 65536"/>
                  <a:gd name="T7" fmla="*/ 0 60000 65536"/>
                  <a:gd name="T8" fmla="*/ 0 60000 65536"/>
                  <a:gd name="T9" fmla="*/ 0 w 274"/>
                  <a:gd name="T10" fmla="*/ 0 h 321"/>
                  <a:gd name="T11" fmla="*/ 274 w 274"/>
                  <a:gd name="T12" fmla="*/ 321 h 3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4" h="321">
                    <a:moveTo>
                      <a:pt x="0" y="0"/>
                    </a:moveTo>
                    <a:cubicBezTo>
                      <a:pt x="8" y="45"/>
                      <a:pt x="2" y="215"/>
                      <a:pt x="48" y="268"/>
                    </a:cubicBezTo>
                    <a:cubicBezTo>
                      <a:pt x="94" y="321"/>
                      <a:pt x="227" y="309"/>
                      <a:pt x="274" y="319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14" name="Freeform 32"/>
              <p:cNvSpPr>
                <a:spLocks/>
              </p:cNvSpPr>
              <p:nvPr/>
            </p:nvSpPr>
            <p:spPr bwMode="auto">
              <a:xfrm>
                <a:off x="1562" y="1293"/>
                <a:ext cx="456" cy="96"/>
              </a:xfrm>
              <a:custGeom>
                <a:avLst/>
                <a:gdLst>
                  <a:gd name="T0" fmla="*/ 0 w 418"/>
                  <a:gd name="T1" fmla="*/ 88 h 96"/>
                  <a:gd name="T2" fmla="*/ 229 w 418"/>
                  <a:gd name="T3" fmla="*/ 1 h 96"/>
                  <a:gd name="T4" fmla="*/ 418 w 418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418"/>
                  <a:gd name="T10" fmla="*/ 0 h 96"/>
                  <a:gd name="T11" fmla="*/ 418 w 418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8" h="96">
                    <a:moveTo>
                      <a:pt x="0" y="88"/>
                    </a:moveTo>
                    <a:cubicBezTo>
                      <a:pt x="37" y="74"/>
                      <a:pt x="159" y="0"/>
                      <a:pt x="229" y="1"/>
                    </a:cubicBezTo>
                    <a:cubicBezTo>
                      <a:pt x="299" y="2"/>
                      <a:pt x="379" y="76"/>
                      <a:pt x="418" y="96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7" name="Oval 9">
              <a:extLst>
                <a:ext uri="{FF2B5EF4-FFF2-40B4-BE49-F238E27FC236}">
                  <a16:creationId xmlns:a16="http://schemas.microsoft.com/office/drawing/2014/main" id="{F1F68057-F1DD-4EB3-9CD6-996CAE67D7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4994" y="3716040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Methodology</a:t>
              </a:r>
            </a:p>
          </p:txBody>
        </p:sp>
        <p:sp>
          <p:nvSpPr>
            <p:cNvPr id="38" name="Oval 10">
              <a:extLst>
                <a:ext uri="{FF2B5EF4-FFF2-40B4-BE49-F238E27FC236}">
                  <a16:creationId xmlns:a16="http://schemas.microsoft.com/office/drawing/2014/main" id="{20002B4F-3F06-4AB2-86E8-DDE8214C84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4994" y="5446415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Accuracy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9917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Factors for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01CE0-F002-48E5-952F-9E904F24C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0C0581-AA57-4456-8573-76BF757C5999}"/>
              </a:ext>
            </a:extLst>
          </p:cNvPr>
          <p:cNvGrpSpPr/>
          <p:nvPr/>
        </p:nvGrpSpPr>
        <p:grpSpPr>
          <a:xfrm>
            <a:off x="1774824" y="1916832"/>
            <a:ext cx="8642352" cy="4824413"/>
            <a:chOff x="250823" y="1916832"/>
            <a:chExt cx="8642352" cy="4824413"/>
          </a:xfrm>
        </p:grpSpPr>
        <p:sp>
          <p:nvSpPr>
            <p:cNvPr id="29701" name="Oval 4"/>
            <p:cNvSpPr>
              <a:spLocks noChangeArrowheads="1"/>
            </p:cNvSpPr>
            <p:nvPr/>
          </p:nvSpPr>
          <p:spPr bwMode="auto">
            <a:xfrm>
              <a:off x="250823" y="1988270"/>
              <a:ext cx="2449513" cy="1152525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/>
                <a:t>Phenotypes</a:t>
              </a:r>
            </a:p>
          </p:txBody>
        </p:sp>
        <p:sp>
          <p:nvSpPr>
            <p:cNvPr id="29727" name="Oval 6"/>
            <p:cNvSpPr>
              <a:spLocks noChangeAspect="1" noChangeArrowheads="1"/>
            </p:cNvSpPr>
            <p:nvPr/>
          </p:nvSpPr>
          <p:spPr bwMode="auto">
            <a:xfrm>
              <a:off x="2122486" y="3140795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Heritability</a:t>
              </a:r>
            </a:p>
            <a:p>
              <a:pPr algn="ctr"/>
              <a:r>
                <a:rPr lang="en-GB" sz="1600" dirty="0"/>
                <a:t>(h</a:t>
              </a:r>
              <a:r>
                <a:rPr lang="en-GB" sz="1600" baseline="30000" dirty="0"/>
                <a:t>2</a:t>
              </a:r>
              <a:r>
                <a:rPr lang="en-GB" sz="1600" dirty="0"/>
                <a:t>)</a:t>
              </a:r>
            </a:p>
          </p:txBody>
        </p:sp>
        <p:sp>
          <p:nvSpPr>
            <p:cNvPr id="29728" name="Oval 7"/>
            <p:cNvSpPr>
              <a:spLocks noChangeAspect="1" noChangeArrowheads="1"/>
            </p:cNvSpPr>
            <p:nvPr/>
          </p:nvSpPr>
          <p:spPr bwMode="auto">
            <a:xfrm>
              <a:off x="3165473" y="1916832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Genetic 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Architecture</a:t>
              </a:r>
            </a:p>
          </p:txBody>
        </p:sp>
        <p:sp>
          <p:nvSpPr>
            <p:cNvPr id="29729" name="Oval 8"/>
            <p:cNvSpPr>
              <a:spLocks noChangeAspect="1" noChangeArrowheads="1"/>
            </p:cNvSpPr>
            <p:nvPr/>
          </p:nvSpPr>
          <p:spPr bwMode="auto">
            <a:xfrm>
              <a:off x="1079498" y="4364757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Number </a:t>
              </a:r>
            </a:p>
            <a:p>
              <a:pPr algn="ctr"/>
              <a:r>
                <a:rPr lang="en-GB" sz="1600" dirty="0"/>
                <a:t>Records</a:t>
              </a:r>
            </a:p>
            <a:p>
              <a:pPr algn="ctr"/>
              <a:r>
                <a:rPr lang="en-GB" sz="1600" dirty="0"/>
                <a:t>(N)</a:t>
              </a:r>
            </a:p>
          </p:txBody>
        </p:sp>
        <p:sp>
          <p:nvSpPr>
            <p:cNvPr id="29703" name="Oval 9"/>
            <p:cNvSpPr>
              <a:spLocks noChangeAspect="1" noChangeArrowheads="1"/>
            </p:cNvSpPr>
            <p:nvPr/>
          </p:nvSpPr>
          <p:spPr bwMode="auto">
            <a:xfrm>
              <a:off x="3924298" y="3715470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Methodology</a:t>
              </a:r>
            </a:p>
          </p:txBody>
        </p:sp>
        <p:sp>
          <p:nvSpPr>
            <p:cNvPr id="29704" name="Oval 10"/>
            <p:cNvSpPr>
              <a:spLocks noChangeAspect="1" noChangeArrowheads="1"/>
            </p:cNvSpPr>
            <p:nvPr/>
          </p:nvSpPr>
          <p:spPr bwMode="auto">
            <a:xfrm>
              <a:off x="3924298" y="5445845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Accuracy</a:t>
              </a:r>
            </a:p>
          </p:txBody>
        </p:sp>
        <p:sp>
          <p:nvSpPr>
            <p:cNvPr id="29724" name="Freeform 12"/>
            <p:cNvSpPr>
              <a:spLocks/>
            </p:cNvSpPr>
            <p:nvPr/>
          </p:nvSpPr>
          <p:spPr bwMode="auto">
            <a:xfrm>
              <a:off x="538164" y="3135672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5" name="Freeform 13"/>
            <p:cNvSpPr>
              <a:spLocks/>
            </p:cNvSpPr>
            <p:nvPr/>
          </p:nvSpPr>
          <p:spPr bwMode="auto">
            <a:xfrm>
              <a:off x="1625602" y="3207110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7342CB8C-0E37-4E75-A7B9-8FCE79F85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784" y="2060848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06" name="AutoShape 15"/>
            <p:cNvSpPr>
              <a:spLocks noChangeArrowheads="1"/>
            </p:cNvSpPr>
            <p:nvPr/>
          </p:nvSpPr>
          <p:spPr bwMode="auto">
            <a:xfrm>
              <a:off x="4284661" y="5085482"/>
              <a:ext cx="576262" cy="28733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CC00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21" name="Line 17"/>
            <p:cNvSpPr>
              <a:spLocks noChangeShapeType="1"/>
            </p:cNvSpPr>
            <p:nvPr/>
          </p:nvSpPr>
          <p:spPr bwMode="auto">
            <a:xfrm flipV="1">
              <a:off x="2411409" y="4507632"/>
              <a:ext cx="1439863" cy="360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2" name="Line 18"/>
            <p:cNvSpPr>
              <a:spLocks noChangeShapeType="1"/>
            </p:cNvSpPr>
            <p:nvPr/>
          </p:nvSpPr>
          <p:spPr bwMode="auto">
            <a:xfrm>
              <a:off x="3493346" y="3934545"/>
              <a:ext cx="431800" cy="1444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Line 19">
              <a:extLst>
                <a:ext uri="{FF2B5EF4-FFF2-40B4-BE49-F238E27FC236}">
                  <a16:creationId xmlns:a16="http://schemas.microsoft.com/office/drawing/2014/main" id="{7888928F-16AE-45DA-AFAE-EA91ED4CE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173" y="3213820"/>
              <a:ext cx="217488" cy="503238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708" name="Oval 20"/>
            <p:cNvSpPr>
              <a:spLocks noChangeArrowheads="1"/>
            </p:cNvSpPr>
            <p:nvPr/>
          </p:nvSpPr>
          <p:spPr bwMode="auto">
            <a:xfrm>
              <a:off x="6443663" y="1988270"/>
              <a:ext cx="2449512" cy="11525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solidFill>
                    <a:schemeClr val="bg1">
                      <a:lumMod val="50000"/>
                    </a:schemeClr>
                  </a:solidFill>
                </a:rPr>
                <a:t>Genome Data</a:t>
              </a:r>
            </a:p>
          </p:txBody>
        </p:sp>
        <p:grpSp>
          <p:nvGrpSpPr>
            <p:cNvPr id="29709" name="Group 21"/>
            <p:cNvGrpSpPr>
              <a:grpSpLocks/>
            </p:cNvGrpSpPr>
            <p:nvPr/>
          </p:nvGrpSpPr>
          <p:grpSpPr bwMode="auto">
            <a:xfrm flipH="1">
              <a:off x="4719636" y="1916832"/>
              <a:ext cx="3381375" cy="3743325"/>
              <a:chOff x="680" y="1178"/>
              <a:chExt cx="2130" cy="2358"/>
            </a:xfrm>
          </p:grpSpPr>
          <p:sp>
            <p:nvSpPr>
              <p:cNvPr id="29718" name="Oval 22"/>
              <p:cNvSpPr>
                <a:spLocks noChangeAspect="1" noChangeArrowheads="1"/>
              </p:cNvSpPr>
              <p:nvPr/>
            </p:nvSpPr>
            <p:spPr bwMode="auto">
              <a:xfrm>
                <a:off x="1337" y="1949"/>
                <a:ext cx="816" cy="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</a:rPr>
                  <a:t>Number </a:t>
                </a:r>
              </a:p>
              <a:p>
                <a:pPr algn="ctr"/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</a:rPr>
                  <a:t>Markers</a:t>
                </a:r>
              </a:p>
              <a:p>
                <a:pPr algn="ctr"/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</a:rPr>
                  <a:t>(m)</a:t>
                </a:r>
              </a:p>
            </p:txBody>
          </p:sp>
          <p:sp>
            <p:nvSpPr>
              <p:cNvPr id="29719" name="Oval 23"/>
              <p:cNvSpPr>
                <a:spLocks noChangeAspect="1" noChangeArrowheads="1"/>
              </p:cNvSpPr>
              <p:nvPr/>
            </p:nvSpPr>
            <p:spPr bwMode="auto">
              <a:xfrm>
                <a:off x="1994" y="1178"/>
                <a:ext cx="816" cy="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</a:rPr>
                  <a:t>Population</a:t>
                </a:r>
              </a:p>
              <a:p>
                <a:pPr algn="ctr"/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</a:rPr>
                  <a:t>Genome</a:t>
                </a:r>
              </a:p>
              <a:p>
                <a:pPr algn="ctr"/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</a:rPr>
                  <a:t>Structure</a:t>
                </a:r>
              </a:p>
            </p:txBody>
          </p:sp>
          <p:sp>
            <p:nvSpPr>
              <p:cNvPr id="29720" name="Oval 24"/>
              <p:cNvSpPr>
                <a:spLocks noChangeAspect="1" noChangeArrowheads="1"/>
              </p:cNvSpPr>
              <p:nvPr/>
            </p:nvSpPr>
            <p:spPr bwMode="auto">
              <a:xfrm>
                <a:off x="680" y="2720"/>
                <a:ext cx="816" cy="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600">
                    <a:solidFill>
                      <a:schemeClr val="bg1">
                        <a:lumMod val="50000"/>
                      </a:schemeClr>
                    </a:solidFill>
                  </a:rPr>
                  <a:t>Marker</a:t>
                </a:r>
              </a:p>
              <a:p>
                <a:pPr algn="ctr"/>
                <a:r>
                  <a:rPr lang="en-GB" sz="1600">
                    <a:solidFill>
                      <a:schemeClr val="bg1">
                        <a:lumMod val="50000"/>
                      </a:schemeClr>
                    </a:solidFill>
                  </a:rPr>
                  <a:t>Selection</a:t>
                </a:r>
              </a:p>
            </p:txBody>
          </p:sp>
        </p:grpSp>
        <p:sp>
          <p:nvSpPr>
            <p:cNvPr id="49" name="Line 26">
              <a:extLst>
                <a:ext uri="{FF2B5EF4-FFF2-40B4-BE49-F238E27FC236}">
                  <a16:creationId xmlns:a16="http://schemas.microsoft.com/office/drawing/2014/main" id="{B4984E96-F2AD-4696-B0C6-7C3FD20D7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92723" y="4509120"/>
              <a:ext cx="1439863" cy="360363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CD98C715-B816-43B1-B1CC-670E242EA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3346" y="3933056"/>
              <a:ext cx="431800" cy="144463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Line 28">
              <a:extLst>
                <a:ext uri="{FF2B5EF4-FFF2-40B4-BE49-F238E27FC236}">
                  <a16:creationId xmlns:a16="http://schemas.microsoft.com/office/drawing/2014/main" id="{A802CCA0-F7BA-47BE-817D-E12EBD3108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0032" y="3213820"/>
              <a:ext cx="217488" cy="503238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5F2394DA-FB9D-4E18-B3AB-F9F0A26EA91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11849" y="2060848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FEF1DB21-7DAF-4FF7-8CB4-084D44104F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009135" y="3135672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39712C7-9B38-4BF7-B7F3-6BBD550442B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092280" y="3207110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378385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322E-F552-4E23-962C-5C4047EB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as f(h</a:t>
            </a:r>
            <a:r>
              <a:rPr lang="en-GB" baseline="30000" dirty="0"/>
              <a:t>2</a:t>
            </a:r>
            <a:r>
              <a:rPr lang="en-GB" dirty="0"/>
              <a:t>,N)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E81C2-46CE-4C10-AA04-741084246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Published formulae predict    </a:t>
            </a:r>
          </a:p>
          <a:p>
            <a:pPr lvl="1"/>
            <a:r>
              <a:rPr lang="en-GB" dirty="0"/>
              <a:t>c.f. shrinkage, amount of genetic information</a:t>
            </a:r>
          </a:p>
          <a:p>
            <a:pPr lvl="1"/>
            <a:r>
              <a:rPr lang="en-GB" dirty="0"/>
              <a:t>h</a:t>
            </a:r>
            <a:r>
              <a:rPr lang="en-GB" baseline="30000" dirty="0"/>
              <a:t>2</a:t>
            </a:r>
            <a:r>
              <a:rPr lang="en-GB" dirty="0"/>
              <a:t> richness/record, N number of records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74D2A-B7BB-40EE-A288-281DD919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A21EE-B220-4F41-B36A-85C5A6FE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526246-C483-D14B-5C5D-2766BDF62A1E}"/>
              </a:ext>
            </a:extLst>
          </p:cNvPr>
          <p:cNvGrpSpPr/>
          <p:nvPr/>
        </p:nvGrpSpPr>
        <p:grpSpPr>
          <a:xfrm>
            <a:off x="5951984" y="1170295"/>
            <a:ext cx="2503488" cy="757238"/>
            <a:chOff x="5951984" y="1170295"/>
            <a:chExt cx="2503488" cy="757238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AEFF979A-BF3E-42EB-88CE-3B259A3360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1145549"/>
                </p:ext>
              </p:extLst>
            </p:nvPr>
          </p:nvGraphicFramePr>
          <p:xfrm>
            <a:off x="5951984" y="1170295"/>
            <a:ext cx="2503488" cy="757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3" name="Equation" r:id="rId3" imgW="838080" imgH="253800" progId="Equation.DSMT4">
                    <p:embed/>
                  </p:oleObj>
                </mc:Choice>
                <mc:Fallback>
                  <p:oleObj name="Equation" r:id="rId3" imgW="838080" imgH="253800" progId="Equation.DSMT4">
                    <p:embed/>
                    <p:pic>
                      <p:nvPicPr>
                        <p:cNvPr id="2" name="Object 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51984" y="1170295"/>
                          <a:ext cx="2503488" cy="757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11" name="TextBox 10">
              <a:extLst>
                <a:ext uri="{FF2B5EF4-FFF2-40B4-BE49-F238E27FC236}">
                  <a16:creationId xmlns:a16="http://schemas.microsoft.com/office/drawing/2014/main" id="{53624BBB-0A9B-43AD-7830-B34879D550AB}"/>
                </a:ext>
              </a:extLst>
            </p:cNvPr>
            <p:cNvSpPr txBox="1"/>
            <p:nvPr/>
          </p:nvSpPr>
          <p:spPr>
            <a:xfrm>
              <a:off x="6600056" y="1216901"/>
              <a:ext cx="504056" cy="64633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GB" sz="3600" dirty="0"/>
                <a:t>~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73669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015880" y="5534307"/>
            <a:ext cx="5040560" cy="360000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in Humans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3D7-F25E-4CD4-A433-5D0EB803E1A3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306" y="1221897"/>
            <a:ext cx="6357031" cy="424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3512" y="5534308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20% QTN included in markers.  Simulated from HAPMA2 CEU human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1864" y="363417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30000" dirty="0"/>
              <a:t>2</a:t>
            </a:r>
            <a:r>
              <a:rPr lang="en-GB" dirty="0"/>
              <a:t> =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1864" y="2707363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30000" dirty="0"/>
              <a:t>2</a:t>
            </a:r>
            <a:r>
              <a:rPr lang="en-GB" dirty="0"/>
              <a:t> = 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1864" y="214041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30000" dirty="0"/>
              <a:t>2</a:t>
            </a:r>
            <a:r>
              <a:rPr lang="en-GB" dirty="0"/>
              <a:t> = 0.7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121" y="1196752"/>
            <a:ext cx="20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Maximal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547" y="1221897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Correlation with </a:t>
            </a:r>
            <a:r>
              <a:rPr lang="en-GB" u="sng" dirty="0"/>
              <a:t>phenotype</a:t>
            </a:r>
          </a:p>
        </p:txBody>
      </p:sp>
      <p:cxnSp>
        <p:nvCxnSpPr>
          <p:cNvPr id="13" name="Straight Arrow Connector 12"/>
          <p:cNvCxnSpPr>
            <a:stCxn id="10" idx="1"/>
          </p:cNvCxnSpPr>
          <p:nvPr/>
        </p:nvCxnSpPr>
        <p:spPr>
          <a:xfrm flipH="1">
            <a:off x="6960096" y="1381419"/>
            <a:ext cx="216024" cy="265855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1"/>
          </p:cNvCxnSpPr>
          <p:nvPr/>
        </p:nvCxnSpPr>
        <p:spPr>
          <a:xfrm flipH="1">
            <a:off x="5952430" y="1381419"/>
            <a:ext cx="1223691" cy="776409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</p:cNvCxnSpPr>
          <p:nvPr/>
        </p:nvCxnSpPr>
        <p:spPr>
          <a:xfrm flipH="1">
            <a:off x="7151396" y="1381419"/>
            <a:ext cx="24725" cy="177802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96076" y="5857528"/>
            <a:ext cx="2736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From </a:t>
            </a:r>
            <a:r>
              <a:rPr lang="en-GB" sz="1400" dirty="0" err="1"/>
              <a:t>Canela-Xandri</a:t>
            </a:r>
            <a:r>
              <a:rPr lang="en-GB" sz="1400" dirty="0"/>
              <a:t> et al. 2015</a:t>
            </a:r>
          </a:p>
        </p:txBody>
      </p:sp>
    </p:spTree>
    <p:extLst>
      <p:ext uri="{BB962C8B-B14F-4D97-AF65-F5344CB8AC3E}">
        <p14:creationId xmlns:p14="http://schemas.microsoft.com/office/powerpoint/2010/main" val="31744613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E39E-8579-4573-BE2D-0AD2B2D0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&amp; h</a:t>
            </a:r>
            <a:r>
              <a:rPr lang="en-GB" baseline="30000" dirty="0"/>
              <a:t>2</a:t>
            </a:r>
            <a:r>
              <a:rPr lang="en-GB" dirty="0"/>
              <a:t>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3B354-6981-4181-A174-8B061DBD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F41F8-6270-461E-8B65-0B74DC473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372EB-92B4-4BCB-A2A8-C09E0633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810" y="1423463"/>
            <a:ext cx="7168939" cy="4308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3A27A6-8FDB-4B85-A7D9-FA12B2A026AE}"/>
              </a:ext>
            </a:extLst>
          </p:cNvPr>
          <p:cNvSpPr txBox="1"/>
          <p:nvPr/>
        </p:nvSpPr>
        <p:spPr>
          <a:xfrm>
            <a:off x="6023992" y="5642084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h</a:t>
            </a:r>
            <a:r>
              <a:rPr lang="en-GB" sz="2800" b="1" baseline="30000" dirty="0"/>
              <a:t>2</a:t>
            </a:r>
            <a:r>
              <a:rPr lang="en-GB" sz="2800" b="1" dirty="0"/>
              <a:t>N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2B5CE73-81BC-411E-9D20-82CC2E63C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062283"/>
              </p:ext>
            </p:extLst>
          </p:nvPr>
        </p:nvGraphicFramePr>
        <p:xfrm>
          <a:off x="2211116" y="2421830"/>
          <a:ext cx="6445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Equation" r:id="rId4" imgW="215640" imgH="241200" progId="Equation.DSMT4">
                  <p:embed/>
                </p:oleObj>
              </mc:Choice>
              <mc:Fallback>
                <p:oleObj name="Equation" r:id="rId4" imgW="21564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2B5CE73-81BC-411E-9D20-82CC2E63C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11116" y="2421830"/>
                        <a:ext cx="644525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06372BC-3458-4F78-862D-33DF88FB484B}"/>
              </a:ext>
            </a:extLst>
          </p:cNvPr>
          <p:cNvSpPr txBox="1"/>
          <p:nvPr/>
        </p:nvSpPr>
        <p:spPr>
          <a:xfrm>
            <a:off x="8112224" y="357795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30000" dirty="0"/>
              <a:t>2</a:t>
            </a:r>
            <a:r>
              <a:rPr lang="en-GB" dirty="0"/>
              <a:t> = 0.2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6FDCF1-72FB-498F-8F55-1091133708CE}"/>
              </a:ext>
            </a:extLst>
          </p:cNvPr>
          <p:cNvSpPr txBox="1"/>
          <p:nvPr/>
        </p:nvSpPr>
        <p:spPr>
          <a:xfrm>
            <a:off x="8112224" y="3171523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30000" dirty="0"/>
              <a:t>2</a:t>
            </a:r>
            <a:r>
              <a:rPr lang="en-GB" dirty="0"/>
              <a:t> = 0.5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FFD9A5-87DB-4F36-81E7-4A4042228BEF}"/>
              </a:ext>
            </a:extLst>
          </p:cNvPr>
          <p:cNvSpPr txBox="1"/>
          <p:nvPr/>
        </p:nvSpPr>
        <p:spPr>
          <a:xfrm>
            <a:off x="8112224" y="278139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</a:t>
            </a:r>
            <a:r>
              <a:rPr lang="en-GB" baseline="30000" dirty="0"/>
              <a:t>2</a:t>
            </a:r>
            <a:r>
              <a:rPr lang="en-GB" dirty="0"/>
              <a:t> = 0.7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284254-65C2-495E-B12E-3BE544E350A9}"/>
              </a:ext>
            </a:extLst>
          </p:cNvPr>
          <p:cNvSpPr/>
          <p:nvPr/>
        </p:nvSpPr>
        <p:spPr>
          <a:xfrm>
            <a:off x="9168509" y="2905223"/>
            <a:ext cx="144016" cy="144000"/>
          </a:xfrm>
          <a:prstGeom prst="ellipse">
            <a:avLst/>
          </a:prstGeom>
          <a:solidFill>
            <a:srgbClr val="C09001"/>
          </a:solidFill>
          <a:ln>
            <a:solidFill>
              <a:srgbClr val="BF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FB3CE05-0A61-43C0-B0F9-81FF6D783369}"/>
              </a:ext>
            </a:extLst>
          </p:cNvPr>
          <p:cNvSpPr/>
          <p:nvPr/>
        </p:nvSpPr>
        <p:spPr>
          <a:xfrm>
            <a:off x="9168509" y="3270574"/>
            <a:ext cx="144016" cy="144000"/>
          </a:xfrm>
          <a:prstGeom prst="ellipse">
            <a:avLst/>
          </a:prstGeom>
          <a:solidFill>
            <a:srgbClr val="C00202"/>
          </a:solidFill>
          <a:ln>
            <a:solidFill>
              <a:srgbClr val="C002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E11442-9FA8-40B6-BFBC-BECA136543EF}"/>
              </a:ext>
            </a:extLst>
          </p:cNvPr>
          <p:cNvSpPr/>
          <p:nvPr/>
        </p:nvSpPr>
        <p:spPr>
          <a:xfrm>
            <a:off x="9168509" y="3645772"/>
            <a:ext cx="144016" cy="1440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925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Information leads to GWAS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3D7-F25E-4CD4-A433-5D0EB803E1A3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704" y="1885308"/>
            <a:ext cx="5597798" cy="3991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24774" y="1312546"/>
            <a:ext cx="6804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h</a:t>
            </a:r>
            <a:r>
              <a:rPr lang="en-GB" sz="2400" i="1" baseline="30000" dirty="0"/>
              <a:t>2</a:t>
            </a:r>
            <a:r>
              <a:rPr lang="en-GB" sz="2400" dirty="0"/>
              <a:t> = 0.2,   20% of QTN genotyped, Ne very large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5520" y="2276872"/>
            <a:ext cx="16561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Correlation of</a:t>
            </a:r>
          </a:p>
          <a:p>
            <a:pPr algn="ctr"/>
            <a:r>
              <a:rPr lang="en-GB" sz="2000" dirty="0"/>
              <a:t>with</a:t>
            </a:r>
          </a:p>
          <a:p>
            <a:r>
              <a:rPr lang="en-GB" dirty="0"/>
              <a:t> 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21026"/>
              </p:ext>
            </p:extLst>
          </p:nvPr>
        </p:nvGraphicFramePr>
        <p:xfrm>
          <a:off x="2048523" y="2790770"/>
          <a:ext cx="290264" cy="493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name="Equation" r:id="rId5" imgW="126720" imgH="215640" progId="Equation.DSMT4">
                  <p:embed/>
                </p:oleObj>
              </mc:Choice>
              <mc:Fallback>
                <p:oleObj name="Equation" r:id="rId5" imgW="126720" imgH="21564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48523" y="2790770"/>
                        <a:ext cx="290264" cy="493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470971"/>
              </p:ext>
            </p:extLst>
          </p:nvPr>
        </p:nvGraphicFramePr>
        <p:xfrm>
          <a:off x="2901951" y="2878584"/>
          <a:ext cx="290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Equation" r:id="rId7" imgW="126720" imgH="177480" progId="Equation.DSMT4">
                  <p:embed/>
                </p:oleObj>
              </mc:Choice>
              <mc:Fallback>
                <p:oleObj name="Equation" r:id="rId7" imgW="126720" imgH="17748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1951" y="2878584"/>
                        <a:ext cx="2905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20496" y="1628800"/>
            <a:ext cx="1440000" cy="369332"/>
          </a:xfrm>
          <a:prstGeom prst="rect">
            <a:avLst/>
          </a:prstGeom>
          <a:solidFill>
            <a:srgbClr val="FF9999"/>
          </a:solidFill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1,000 QTN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0496" y="2090465"/>
            <a:ext cx="14400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10,000 QTN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92324" y="5877273"/>
            <a:ext cx="3096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Canela-Xandri</a:t>
            </a:r>
            <a:r>
              <a:rPr lang="en-GB" sz="1400" dirty="0"/>
              <a:t> et al. 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8355" y="1700808"/>
            <a:ext cx="2232248" cy="369332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i.e. causal variants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224" y="5229200"/>
            <a:ext cx="1277318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470,000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3512" y="3429001"/>
            <a:ext cx="1368152" cy="369115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for the 20%</a:t>
            </a:r>
          </a:p>
        </p:txBody>
      </p:sp>
    </p:spTree>
    <p:extLst>
      <p:ext uri="{BB962C8B-B14F-4D97-AF65-F5344CB8AC3E}">
        <p14:creationId xmlns:p14="http://schemas.microsoft.com/office/powerpoint/2010/main" val="1133912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D595-83A8-4570-9965-7CDED017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A49E5-B997-4DE1-82D9-8C5DFB40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451B2-96BD-4741-9D3F-533DFD38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7017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Factors for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325F7-F84C-4B24-B880-AF7D7C450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1B1EFC-E567-4F6F-A4A1-D4816609CE64}"/>
              </a:ext>
            </a:extLst>
          </p:cNvPr>
          <p:cNvGrpSpPr/>
          <p:nvPr/>
        </p:nvGrpSpPr>
        <p:grpSpPr>
          <a:xfrm>
            <a:off x="1774824" y="1916832"/>
            <a:ext cx="8642352" cy="4824413"/>
            <a:chOff x="250823" y="1916832"/>
            <a:chExt cx="8642352" cy="4824413"/>
          </a:xfrm>
        </p:grpSpPr>
        <p:sp>
          <p:nvSpPr>
            <p:cNvPr id="29701" name="Oval 4"/>
            <p:cNvSpPr>
              <a:spLocks noChangeArrowheads="1"/>
            </p:cNvSpPr>
            <p:nvPr/>
          </p:nvSpPr>
          <p:spPr bwMode="auto">
            <a:xfrm>
              <a:off x="250823" y="1988270"/>
              <a:ext cx="2449513" cy="1152525"/>
            </a:xfrm>
            <a:prstGeom prst="ellipse">
              <a:avLst/>
            </a:prstGeom>
            <a:solidFill>
              <a:srgbClr val="D9D9D9"/>
            </a:solidFill>
            <a:ln w="9525">
              <a:solidFill>
                <a:srgbClr val="C9C9C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solidFill>
                    <a:srgbClr val="8F8F8F"/>
                  </a:solidFill>
                </a:rPr>
                <a:t>Phenotypes</a:t>
              </a:r>
            </a:p>
          </p:txBody>
        </p:sp>
        <p:sp>
          <p:nvSpPr>
            <p:cNvPr id="29727" name="Oval 6"/>
            <p:cNvSpPr>
              <a:spLocks noChangeAspect="1" noChangeArrowheads="1"/>
            </p:cNvSpPr>
            <p:nvPr/>
          </p:nvSpPr>
          <p:spPr bwMode="auto">
            <a:xfrm>
              <a:off x="2122486" y="3140795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B7B7B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Heritability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(h</a:t>
              </a:r>
              <a:r>
                <a:rPr lang="en-GB" sz="1600" baseline="30000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</p:txBody>
        </p:sp>
        <p:sp>
          <p:nvSpPr>
            <p:cNvPr id="29728" name="Oval 7"/>
            <p:cNvSpPr>
              <a:spLocks noChangeAspect="1" noChangeArrowheads="1"/>
            </p:cNvSpPr>
            <p:nvPr/>
          </p:nvSpPr>
          <p:spPr bwMode="auto">
            <a:xfrm>
              <a:off x="3165473" y="1916832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Genetic 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Architecture</a:t>
              </a:r>
            </a:p>
          </p:txBody>
        </p:sp>
        <p:sp>
          <p:nvSpPr>
            <p:cNvPr id="29729" name="Oval 8"/>
            <p:cNvSpPr>
              <a:spLocks noChangeAspect="1" noChangeArrowheads="1"/>
            </p:cNvSpPr>
            <p:nvPr/>
          </p:nvSpPr>
          <p:spPr bwMode="auto">
            <a:xfrm>
              <a:off x="1079498" y="4364757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CACAC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Number 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Records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(N)</a:t>
              </a:r>
            </a:p>
          </p:txBody>
        </p:sp>
        <p:sp>
          <p:nvSpPr>
            <p:cNvPr id="29703" name="Oval 9"/>
            <p:cNvSpPr>
              <a:spLocks noChangeAspect="1" noChangeArrowheads="1"/>
            </p:cNvSpPr>
            <p:nvPr/>
          </p:nvSpPr>
          <p:spPr bwMode="auto">
            <a:xfrm>
              <a:off x="3924298" y="3715470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Methodology</a:t>
              </a:r>
            </a:p>
          </p:txBody>
        </p:sp>
        <p:sp>
          <p:nvSpPr>
            <p:cNvPr id="29704" name="Oval 10"/>
            <p:cNvSpPr>
              <a:spLocks noChangeAspect="1" noChangeArrowheads="1"/>
            </p:cNvSpPr>
            <p:nvPr/>
          </p:nvSpPr>
          <p:spPr bwMode="auto">
            <a:xfrm>
              <a:off x="3924298" y="5445845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Accuracy</a:t>
              </a:r>
            </a:p>
          </p:txBody>
        </p:sp>
        <p:sp>
          <p:nvSpPr>
            <p:cNvPr id="29724" name="Freeform 12"/>
            <p:cNvSpPr>
              <a:spLocks/>
            </p:cNvSpPr>
            <p:nvPr/>
          </p:nvSpPr>
          <p:spPr bwMode="auto">
            <a:xfrm>
              <a:off x="539748" y="3140795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rgbClr val="BFBFB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5" name="Freeform 13"/>
            <p:cNvSpPr>
              <a:spLocks/>
            </p:cNvSpPr>
            <p:nvPr/>
          </p:nvSpPr>
          <p:spPr bwMode="auto">
            <a:xfrm>
              <a:off x="1627186" y="3212233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rgbClr val="BFBFB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6" name="Freeform 14"/>
            <p:cNvSpPr>
              <a:spLocks/>
            </p:cNvSpPr>
            <p:nvPr/>
          </p:nvSpPr>
          <p:spPr bwMode="auto">
            <a:xfrm>
              <a:off x="2487611" y="2051770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7342CB8C-0E37-4E75-A7B9-8FCE79F85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786" y="2053358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06" name="AutoShape 15"/>
            <p:cNvSpPr>
              <a:spLocks noChangeArrowheads="1"/>
            </p:cNvSpPr>
            <p:nvPr/>
          </p:nvSpPr>
          <p:spPr bwMode="auto">
            <a:xfrm>
              <a:off x="4284661" y="5085482"/>
              <a:ext cx="576262" cy="28733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CC00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21" name="Line 17"/>
            <p:cNvSpPr>
              <a:spLocks noChangeShapeType="1"/>
            </p:cNvSpPr>
            <p:nvPr/>
          </p:nvSpPr>
          <p:spPr bwMode="auto">
            <a:xfrm flipV="1">
              <a:off x="2411411" y="4507632"/>
              <a:ext cx="1439863" cy="360363"/>
            </a:xfrm>
            <a:prstGeom prst="line">
              <a:avLst/>
            </a:prstGeom>
            <a:noFill/>
            <a:ln w="57150">
              <a:solidFill>
                <a:srgbClr val="BFBFB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2" name="Line 18"/>
            <p:cNvSpPr>
              <a:spLocks noChangeShapeType="1"/>
            </p:cNvSpPr>
            <p:nvPr/>
          </p:nvSpPr>
          <p:spPr bwMode="auto">
            <a:xfrm>
              <a:off x="3492499" y="3932957"/>
              <a:ext cx="431800" cy="144463"/>
            </a:xfrm>
            <a:prstGeom prst="line">
              <a:avLst/>
            </a:prstGeom>
            <a:noFill/>
            <a:ln w="57150">
              <a:solidFill>
                <a:srgbClr val="BFBFB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Line 19">
              <a:extLst>
                <a:ext uri="{FF2B5EF4-FFF2-40B4-BE49-F238E27FC236}">
                  <a16:creationId xmlns:a16="http://schemas.microsoft.com/office/drawing/2014/main" id="{7888928F-16AE-45DA-AFAE-EA91ED4CE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480" y="3213820"/>
              <a:ext cx="217488" cy="503238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708" name="Oval 20"/>
            <p:cNvSpPr>
              <a:spLocks noChangeArrowheads="1"/>
            </p:cNvSpPr>
            <p:nvPr/>
          </p:nvSpPr>
          <p:spPr bwMode="auto">
            <a:xfrm>
              <a:off x="6443663" y="1988270"/>
              <a:ext cx="2449512" cy="1152525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4245D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/>
                <a:t>Genome Data</a:t>
              </a:r>
            </a:p>
          </p:txBody>
        </p:sp>
        <p:sp>
          <p:nvSpPr>
            <p:cNvPr id="29718" name="Oval 22"/>
            <p:cNvSpPr>
              <a:spLocks noChangeAspect="1" noChangeArrowheads="1"/>
            </p:cNvSpPr>
            <p:nvPr/>
          </p:nvSpPr>
          <p:spPr bwMode="auto">
            <a:xfrm flipH="1">
              <a:off x="5762624" y="3140796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Number 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Markers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(m)</a:t>
              </a:r>
            </a:p>
          </p:txBody>
        </p:sp>
        <p:sp>
          <p:nvSpPr>
            <p:cNvPr id="29719" name="Oval 23"/>
            <p:cNvSpPr>
              <a:spLocks noChangeAspect="1" noChangeArrowheads="1"/>
            </p:cNvSpPr>
            <p:nvPr/>
          </p:nvSpPr>
          <p:spPr bwMode="auto">
            <a:xfrm flipH="1">
              <a:off x="4719636" y="1916833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624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Population</a:t>
              </a:r>
            </a:p>
            <a:p>
              <a:pPr algn="ctr"/>
              <a:r>
                <a:rPr lang="en-GB" sz="1600" dirty="0"/>
                <a:t>Genome</a:t>
              </a:r>
            </a:p>
            <a:p>
              <a:pPr algn="ctr"/>
              <a:r>
                <a:rPr lang="en-GB" sz="1600" dirty="0"/>
                <a:t>Structure</a:t>
              </a:r>
            </a:p>
          </p:txBody>
        </p:sp>
        <p:sp>
          <p:nvSpPr>
            <p:cNvPr id="29720" name="Oval 24"/>
            <p:cNvSpPr>
              <a:spLocks noChangeAspect="1" noChangeArrowheads="1"/>
            </p:cNvSpPr>
            <p:nvPr/>
          </p:nvSpPr>
          <p:spPr bwMode="auto">
            <a:xfrm flipH="1">
              <a:off x="6805611" y="4364759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>
                  <a:solidFill>
                    <a:schemeClr val="bg1">
                      <a:lumMod val="50000"/>
                    </a:schemeClr>
                  </a:solidFill>
                </a:rPr>
                <a:t>Marker</a:t>
              </a:r>
            </a:p>
            <a:p>
              <a:pPr algn="ctr"/>
              <a:r>
                <a:rPr lang="en-GB" sz="1600">
                  <a:solidFill>
                    <a:schemeClr val="bg1">
                      <a:lumMod val="50000"/>
                    </a:schemeClr>
                  </a:solidFill>
                </a:rPr>
                <a:t>Selection</a:t>
              </a:r>
            </a:p>
          </p:txBody>
        </p:sp>
        <p:sp>
          <p:nvSpPr>
            <p:cNvPr id="29717" name="Line 28"/>
            <p:cNvSpPr>
              <a:spLocks noChangeShapeType="1"/>
            </p:cNvSpPr>
            <p:nvPr/>
          </p:nvSpPr>
          <p:spPr bwMode="auto">
            <a:xfrm flipH="1">
              <a:off x="4859333" y="3212232"/>
              <a:ext cx="217488" cy="5032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FB74DE0B-0067-4041-973A-9A3385CC6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1396" y="3209057"/>
              <a:ext cx="217488" cy="5032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Line 28">
              <a:extLst>
                <a:ext uri="{FF2B5EF4-FFF2-40B4-BE49-F238E27FC236}">
                  <a16:creationId xmlns:a16="http://schemas.microsoft.com/office/drawing/2014/main" id="{BACCF424-9ECC-4AB0-98C8-5DBD19E90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9808" y="3212232"/>
              <a:ext cx="217488" cy="5032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Line 26">
              <a:extLst>
                <a:ext uri="{FF2B5EF4-FFF2-40B4-BE49-F238E27FC236}">
                  <a16:creationId xmlns:a16="http://schemas.microsoft.com/office/drawing/2014/main" id="{B4984E96-F2AD-4696-B0C6-7C3FD20D7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92722" y="4509120"/>
              <a:ext cx="1439863" cy="360363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CD98C715-B816-43B1-B1CC-670E242EA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0320" y="3933825"/>
              <a:ext cx="431800" cy="144463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Line 28">
              <a:extLst>
                <a:ext uri="{FF2B5EF4-FFF2-40B4-BE49-F238E27FC236}">
                  <a16:creationId xmlns:a16="http://schemas.microsoft.com/office/drawing/2014/main" id="{A802CCA0-F7BA-47BE-817D-E12EBD3108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2983" y="3213820"/>
              <a:ext cx="217488" cy="5032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714" name="Freeform 32"/>
            <p:cNvSpPr>
              <a:spLocks/>
            </p:cNvSpPr>
            <p:nvPr/>
          </p:nvSpPr>
          <p:spPr bwMode="auto">
            <a:xfrm flipH="1">
              <a:off x="5940423" y="2045420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C77221F6-4AD5-4255-AD40-F51709EDB8A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38835" y="2048595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5F2394DA-FB9D-4E18-B3AB-F9F0A26EA91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42010" y="2050183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FEF1DB21-7DAF-4FF7-8CB4-084D44104F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009135" y="3137620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39712C7-9B38-4BF7-B7F3-6BBD550442B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089353" y="3207470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35" name="Picture 60" descr="TzeenieWheenie_red_green_OK_not_OK_Icons_3.png">
            <a:extLst>
              <a:ext uri="{FF2B5EF4-FFF2-40B4-BE49-F238E27FC236}">
                <a16:creationId xmlns:a16="http://schemas.microsoft.com/office/drawing/2014/main" id="{FB7C5C87-6560-48F2-89A3-68D7CFC87D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261" y="4226142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60" descr="TzeenieWheenie_red_green_OK_not_OK_Icons_3.png">
            <a:extLst>
              <a:ext uri="{FF2B5EF4-FFF2-40B4-BE49-F238E27FC236}">
                <a16:creationId xmlns:a16="http://schemas.microsoft.com/office/drawing/2014/main" id="{9094256A-90FE-4CD2-AA7F-F507E2CA6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275" y="3212232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68488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EBCE-6B4F-4624-9092-E366CED8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for all species?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31DF-09AA-452C-B366-EBCE47A0C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Markers must capture genetic variation</a:t>
            </a:r>
          </a:p>
          <a:p>
            <a:pPr lvl="1"/>
            <a:r>
              <a:rPr lang="en-GB" dirty="0"/>
              <a:t>must predict a nearby QTL genotypes</a:t>
            </a:r>
          </a:p>
          <a:p>
            <a:pPr lvl="1"/>
            <a:r>
              <a:rPr lang="en-GB" dirty="0"/>
              <a:t>will depend on extent of LD</a:t>
            </a:r>
          </a:p>
          <a:p>
            <a:pPr lvl="2"/>
            <a:r>
              <a:rPr lang="en-GB" dirty="0"/>
              <a:t>LD can extend relatively long distance </a:t>
            </a:r>
          </a:p>
          <a:p>
            <a:pPr lvl="3"/>
            <a:r>
              <a:rPr lang="en-GB" dirty="0"/>
              <a:t>e.g. dogs, dairy cattle </a:t>
            </a:r>
          </a:p>
          <a:p>
            <a:pPr lvl="2"/>
            <a:r>
              <a:rPr lang="en-GB" dirty="0"/>
              <a:t>… or short</a:t>
            </a:r>
          </a:p>
          <a:p>
            <a:pPr lvl="3"/>
            <a:r>
              <a:rPr lang="en-GB" dirty="0"/>
              <a:t>e.g. humans</a:t>
            </a:r>
          </a:p>
          <a:p>
            <a:pPr lvl="3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FB90-1C8C-40E1-AED9-57298CE2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1FDA-046B-41CE-ABFE-6426496E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23FCDF-10D0-4554-A866-3D2F7488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7" y="4149080"/>
            <a:ext cx="3960000" cy="1813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6D52CB-8C6A-42DD-8CA4-67FD792B3F5D}"/>
              </a:ext>
            </a:extLst>
          </p:cNvPr>
          <p:cNvSpPr txBox="1"/>
          <p:nvPr/>
        </p:nvSpPr>
        <p:spPr>
          <a:xfrm>
            <a:off x="6528046" y="3798956"/>
            <a:ext cx="39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Equine population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BDDF2C-A965-4598-8D20-4D8642C28F0A}"/>
              </a:ext>
            </a:extLst>
          </p:cNvPr>
          <p:cNvGrpSpPr/>
          <p:nvPr/>
        </p:nvGrpSpPr>
        <p:grpSpPr>
          <a:xfrm>
            <a:off x="6528612" y="3857424"/>
            <a:ext cx="3960000" cy="2163864"/>
            <a:chOff x="5004612" y="3857424"/>
            <a:chExt cx="3960000" cy="21638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06472E-F6C7-4B8F-A838-308C12864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612" y="4207548"/>
              <a:ext cx="3960000" cy="18137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1395A1-8C37-4544-AE7C-C35B97D73ADC}"/>
                </a:ext>
              </a:extLst>
            </p:cNvPr>
            <p:cNvSpPr txBox="1"/>
            <p:nvPr/>
          </p:nvSpPr>
          <p:spPr>
            <a:xfrm>
              <a:off x="5004612" y="3857424"/>
              <a:ext cx="39600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Equine population (Ne=103)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10408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EBCE-6B4F-4624-9092-E366CED8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for all species?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31DF-09AA-452C-B366-EBCE47A0C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 (approximately) ‘number of independent segments’, Me</a:t>
            </a:r>
          </a:p>
          <a:p>
            <a:r>
              <a:rPr lang="en-GB" dirty="0"/>
              <a:t>Me ~ f(Ne, #chromosomes …)</a:t>
            </a:r>
          </a:p>
          <a:p>
            <a:pPr lvl="1"/>
            <a:r>
              <a:rPr lang="en-GB" dirty="0"/>
              <a:t>c.f. number of beans in the bean bag</a:t>
            </a:r>
          </a:p>
          <a:p>
            <a:pPr lvl="1"/>
            <a:r>
              <a:rPr lang="en-GB" dirty="0"/>
              <a:t>e.g. dogs Ne ~ 100, Me ~ 650</a:t>
            </a:r>
          </a:p>
          <a:p>
            <a:pPr lvl="3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FB90-1C8C-40E1-AED9-57298CE2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1FDA-046B-41CE-ABFE-6426496E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23FCDF-10D0-4554-A866-3D2F7488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7" y="4149080"/>
            <a:ext cx="3960000" cy="1813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6D52CB-8C6A-42DD-8CA4-67FD792B3F5D}"/>
              </a:ext>
            </a:extLst>
          </p:cNvPr>
          <p:cNvSpPr txBox="1"/>
          <p:nvPr/>
        </p:nvSpPr>
        <p:spPr>
          <a:xfrm>
            <a:off x="6528046" y="3798956"/>
            <a:ext cx="39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Equine population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BDDF2C-A965-4598-8D20-4D8642C28F0A}"/>
              </a:ext>
            </a:extLst>
          </p:cNvPr>
          <p:cNvGrpSpPr/>
          <p:nvPr/>
        </p:nvGrpSpPr>
        <p:grpSpPr>
          <a:xfrm>
            <a:off x="6528612" y="3857424"/>
            <a:ext cx="3960000" cy="2163864"/>
            <a:chOff x="5004612" y="3857424"/>
            <a:chExt cx="3960000" cy="21638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06472E-F6C7-4B8F-A838-308C12864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612" y="4207548"/>
              <a:ext cx="3960000" cy="18137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1395A1-8C37-4544-AE7C-C35B97D73ADC}"/>
                </a:ext>
              </a:extLst>
            </p:cNvPr>
            <p:cNvSpPr txBox="1"/>
            <p:nvPr/>
          </p:nvSpPr>
          <p:spPr>
            <a:xfrm>
              <a:off x="5004612" y="3857424"/>
              <a:ext cx="39600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Equine population (Ne=103)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5254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CBCE0A-86E7-4ABC-AFF9-73D79F49C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398" y="1753200"/>
            <a:ext cx="7174042" cy="4309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4DEBCE-6B4F-4624-9092-E366CED8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for all species?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31DF-09AA-452C-B366-EBCE47A0C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‘information per bean’  </a:t>
            </a:r>
            <a:r>
              <a:rPr lang="el-GR" i="1" dirty="0"/>
              <a:t>λ</a:t>
            </a:r>
            <a:r>
              <a:rPr lang="en-GB" dirty="0"/>
              <a:t> =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i="1" dirty="0"/>
              <a:t>N/Me</a:t>
            </a:r>
          </a:p>
          <a:p>
            <a:pPr lvl="3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FB90-1C8C-40E1-AED9-57298CE2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1FDA-046B-41CE-ABFE-6426496E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7D6B3244-4424-4A88-948D-E6E1832EB0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33453"/>
              </p:ext>
            </p:extLst>
          </p:nvPr>
        </p:nvGraphicFramePr>
        <p:xfrm>
          <a:off x="2211116" y="2421830"/>
          <a:ext cx="6445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0" name="Equation" r:id="rId4" imgW="215640" imgH="241200" progId="Equation.DSMT4">
                  <p:embed/>
                </p:oleObj>
              </mc:Choice>
              <mc:Fallback>
                <p:oleObj name="Equation" r:id="rId4" imgW="21564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2B5CE73-81BC-411E-9D20-82CC2E63C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11116" y="2421830"/>
                        <a:ext cx="644525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3493464-1E1F-4C01-B24E-1D2CCE58B20C}"/>
              </a:ext>
            </a:extLst>
          </p:cNvPr>
          <p:cNvSpPr/>
          <p:nvPr/>
        </p:nvSpPr>
        <p:spPr>
          <a:xfrm>
            <a:off x="3363368" y="5661026"/>
            <a:ext cx="6621065" cy="288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7C058F2D-ADB0-469B-97C1-9A53FB66A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742677"/>
              </p:ext>
            </p:extLst>
          </p:nvPr>
        </p:nvGraphicFramePr>
        <p:xfrm>
          <a:off x="4079776" y="5533535"/>
          <a:ext cx="498828" cy="55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name="Equation" r:id="rId6" imgW="139680" imgH="177480" progId="Equation.DSMT4">
                  <p:embed/>
                </p:oleObj>
              </mc:Choice>
              <mc:Fallback>
                <p:oleObj name="Equation" r:id="rId6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79776" y="5533535"/>
                        <a:ext cx="498828" cy="55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1BC42A-B1DD-49DD-8C99-44FE88072E48}"/>
              </a:ext>
            </a:extLst>
          </p:cNvPr>
          <p:cNvCxnSpPr>
            <a:cxnSpLocks/>
          </p:cNvCxnSpPr>
          <p:nvPr/>
        </p:nvCxnSpPr>
        <p:spPr>
          <a:xfrm>
            <a:off x="4648201" y="5805041"/>
            <a:ext cx="45842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504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CBCE0A-86E7-4ABC-AFF9-73D79F49C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398" y="1753200"/>
            <a:ext cx="7174042" cy="4309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4DEBCE-6B4F-4624-9092-E366CED8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for all species?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31DF-09AA-452C-B366-EBCE47A0C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‘information per bean’  </a:t>
            </a:r>
            <a:r>
              <a:rPr lang="el-GR" i="1" dirty="0"/>
              <a:t>λ</a:t>
            </a:r>
            <a:r>
              <a:rPr lang="en-GB" dirty="0"/>
              <a:t> =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i="1" dirty="0"/>
              <a:t>N/Me</a:t>
            </a:r>
          </a:p>
          <a:p>
            <a:pPr lvl="3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FB90-1C8C-40E1-AED9-57298CE2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1FDA-046B-41CE-ABFE-6426496E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7D6B3244-4424-4A88-948D-E6E1832EB0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1116" y="2421830"/>
          <a:ext cx="6445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3" name="Equation" r:id="rId4" imgW="215640" imgH="241200" progId="Equation.DSMT4">
                  <p:embed/>
                </p:oleObj>
              </mc:Choice>
              <mc:Fallback>
                <p:oleObj name="Equation" r:id="rId4" imgW="215640" imgH="2412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7D6B3244-4424-4A88-948D-E6E1832EB0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11116" y="2421830"/>
                        <a:ext cx="644525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3493464-1E1F-4C01-B24E-1D2CCE58B20C}"/>
              </a:ext>
            </a:extLst>
          </p:cNvPr>
          <p:cNvSpPr/>
          <p:nvPr/>
        </p:nvSpPr>
        <p:spPr>
          <a:xfrm>
            <a:off x="3363368" y="5661026"/>
            <a:ext cx="6621065" cy="2882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7C058F2D-ADB0-469B-97C1-9A53FB66A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776" y="5533535"/>
          <a:ext cx="498828" cy="55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4" name="Equation" r:id="rId6" imgW="139680" imgH="177480" progId="Equation.DSMT4">
                  <p:embed/>
                </p:oleObj>
              </mc:Choice>
              <mc:Fallback>
                <p:oleObj name="Equation" r:id="rId6" imgW="139680" imgH="1774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7C058F2D-ADB0-469B-97C1-9A53FB66AF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79776" y="5533535"/>
                        <a:ext cx="498828" cy="55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1BC42A-B1DD-49DD-8C99-44FE88072E48}"/>
              </a:ext>
            </a:extLst>
          </p:cNvPr>
          <p:cNvCxnSpPr>
            <a:cxnSpLocks/>
          </p:cNvCxnSpPr>
          <p:nvPr/>
        </p:nvCxnSpPr>
        <p:spPr>
          <a:xfrm>
            <a:off x="4648201" y="5805041"/>
            <a:ext cx="45842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310ADBB-F852-4353-AE63-D0E9942A537E}"/>
              </a:ext>
            </a:extLst>
          </p:cNvPr>
          <p:cNvGrpSpPr/>
          <p:nvPr/>
        </p:nvGrpSpPr>
        <p:grpSpPr>
          <a:xfrm>
            <a:off x="5159896" y="4059320"/>
            <a:ext cx="4392488" cy="1089530"/>
            <a:chOff x="5159896" y="4059320"/>
            <a:chExt cx="4392488" cy="10895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32AA98-CE3E-4A86-B5CB-0BDA62E790E4}"/>
                </a:ext>
              </a:extLst>
            </p:cNvPr>
            <p:cNvSpPr txBox="1"/>
            <p:nvPr/>
          </p:nvSpPr>
          <p:spPr>
            <a:xfrm>
              <a:off x="5159896" y="4059321"/>
              <a:ext cx="4392488" cy="1089529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txBody>
            <a:bodyPr wrap="square">
              <a:spAutoFit/>
            </a:bodyPr>
            <a:lstStyle/>
            <a:p>
              <a:pPr marL="0" lvl="1" algn="ctr">
                <a:lnSpc>
                  <a:spcPct val="90000"/>
                </a:lnSpc>
              </a:pPr>
              <a:endParaRPr lang="en-GB" sz="2400" dirty="0"/>
            </a:p>
            <a:p>
              <a:pPr lvl="1" algn="ctr" eaLnBrk="1" hangingPunct="1">
                <a:lnSpc>
                  <a:spcPct val="90000"/>
                </a:lnSpc>
                <a:buFont typeface="Arial" charset="0"/>
                <a:buNone/>
              </a:pPr>
              <a:endParaRPr lang="en-GB" sz="2400" dirty="0"/>
            </a:p>
            <a:p>
              <a:pPr algn="ctr">
                <a:lnSpc>
                  <a:spcPct val="90000"/>
                </a:lnSpc>
              </a:pPr>
              <a:r>
                <a:rPr lang="en-GB" sz="2400" dirty="0"/>
                <a:t>Daetwyler </a:t>
              </a:r>
              <a:r>
                <a:rPr lang="en-GB" sz="2400" i="1" dirty="0"/>
                <a:t>et al.</a:t>
              </a:r>
              <a:r>
                <a:rPr lang="en-GB" sz="2400" dirty="0"/>
                <a:t> 2008, 2010 </a:t>
              </a:r>
              <a:endParaRPr lang="en-GB" dirty="0"/>
            </a:p>
          </p:txBody>
        </p:sp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31ACC830-7FE8-4CCA-9937-18089A1461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3897827"/>
                </p:ext>
              </p:extLst>
            </p:nvPr>
          </p:nvGraphicFramePr>
          <p:xfrm>
            <a:off x="6096000" y="4059320"/>
            <a:ext cx="2736304" cy="652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95" name="Equation" r:id="rId8" imgW="1117440" imgH="266400" progId="Equation.DSMT4">
                    <p:embed/>
                  </p:oleObj>
                </mc:Choice>
                <mc:Fallback>
                  <p:oleObj name="Equation" r:id="rId8" imgW="1117440" imgH="266400" progId="Equation.DSMT4">
                    <p:embed/>
                    <p:pic>
                      <p:nvPicPr>
                        <p:cNvPr id="20" name="Object 19">
                          <a:extLst>
                            <a:ext uri="{FF2B5EF4-FFF2-40B4-BE49-F238E27FC236}">
                              <a16:creationId xmlns:a16="http://schemas.microsoft.com/office/drawing/2014/main" id="{7E4C3626-89A3-4AC4-AC0B-6DD6C429D8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096000" y="4059320"/>
                          <a:ext cx="2736304" cy="6524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003395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513A-FFE1-4F71-A3EA-5ED690F1E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82EDC-7B71-44C2-89F1-B13D68E43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0FC04-76E0-4109-BF59-78E66D94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7B8B-A4F5-476F-A680-8191BD338EC5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3E4C3-51A5-4504-B68B-1989B4AF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79916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Factors for Accuracy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2D1CC-2421-4E80-A6FB-D935FC8C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67F715-23D1-4FA6-AA56-1D74F130566D}"/>
              </a:ext>
            </a:extLst>
          </p:cNvPr>
          <p:cNvGrpSpPr/>
          <p:nvPr/>
        </p:nvGrpSpPr>
        <p:grpSpPr>
          <a:xfrm>
            <a:off x="1774824" y="1916833"/>
            <a:ext cx="8642352" cy="4824413"/>
            <a:chOff x="250824" y="1916832"/>
            <a:chExt cx="8642352" cy="4824413"/>
          </a:xfrm>
        </p:grpSpPr>
        <p:sp>
          <p:nvSpPr>
            <p:cNvPr id="29701" name="Oval 4"/>
            <p:cNvSpPr>
              <a:spLocks noChangeArrowheads="1"/>
            </p:cNvSpPr>
            <p:nvPr/>
          </p:nvSpPr>
          <p:spPr bwMode="auto">
            <a:xfrm>
              <a:off x="250824" y="1988270"/>
              <a:ext cx="2449513" cy="1152525"/>
            </a:xfrm>
            <a:prstGeom prst="ellipse">
              <a:avLst/>
            </a:prstGeom>
            <a:solidFill>
              <a:srgbClr val="D9D9D9"/>
            </a:solidFill>
            <a:ln w="9525">
              <a:solidFill>
                <a:srgbClr val="C9C9C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solidFill>
                    <a:srgbClr val="8F8F8F"/>
                  </a:solidFill>
                </a:rPr>
                <a:t>Phenotypes</a:t>
              </a:r>
            </a:p>
          </p:txBody>
        </p:sp>
        <p:sp>
          <p:nvSpPr>
            <p:cNvPr id="29727" name="Oval 6"/>
            <p:cNvSpPr>
              <a:spLocks noChangeAspect="1" noChangeArrowheads="1"/>
            </p:cNvSpPr>
            <p:nvPr/>
          </p:nvSpPr>
          <p:spPr bwMode="auto">
            <a:xfrm>
              <a:off x="2122487" y="3140795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B7B7B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Heritability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(h</a:t>
              </a:r>
              <a:r>
                <a:rPr lang="en-GB" sz="1600" baseline="30000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</p:txBody>
        </p:sp>
        <p:sp>
          <p:nvSpPr>
            <p:cNvPr id="29728" name="Oval 7"/>
            <p:cNvSpPr>
              <a:spLocks noChangeAspect="1" noChangeArrowheads="1"/>
            </p:cNvSpPr>
            <p:nvPr/>
          </p:nvSpPr>
          <p:spPr bwMode="auto">
            <a:xfrm>
              <a:off x="3165474" y="1916832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Genetic 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Architecture</a:t>
              </a:r>
            </a:p>
          </p:txBody>
        </p:sp>
        <p:sp>
          <p:nvSpPr>
            <p:cNvPr id="29729" name="Oval 8"/>
            <p:cNvSpPr>
              <a:spLocks noChangeAspect="1" noChangeArrowheads="1"/>
            </p:cNvSpPr>
            <p:nvPr/>
          </p:nvSpPr>
          <p:spPr bwMode="auto">
            <a:xfrm>
              <a:off x="1079499" y="4364757"/>
              <a:ext cx="1295400" cy="1295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CACAC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Number 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Records</a:t>
              </a:r>
            </a:p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(N)</a:t>
              </a:r>
            </a:p>
          </p:txBody>
        </p:sp>
        <p:sp>
          <p:nvSpPr>
            <p:cNvPr id="29703" name="Oval 9"/>
            <p:cNvSpPr>
              <a:spLocks noChangeAspect="1" noChangeArrowheads="1"/>
            </p:cNvSpPr>
            <p:nvPr/>
          </p:nvSpPr>
          <p:spPr bwMode="auto">
            <a:xfrm>
              <a:off x="3924299" y="3715470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Methodology</a:t>
              </a:r>
            </a:p>
          </p:txBody>
        </p:sp>
        <p:sp>
          <p:nvSpPr>
            <p:cNvPr id="29704" name="Oval 10"/>
            <p:cNvSpPr>
              <a:spLocks noChangeAspect="1" noChangeArrowheads="1"/>
            </p:cNvSpPr>
            <p:nvPr/>
          </p:nvSpPr>
          <p:spPr bwMode="auto">
            <a:xfrm>
              <a:off x="3924299" y="5445845"/>
              <a:ext cx="1295400" cy="1295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/>
                <a:t>Accuracy</a:t>
              </a:r>
            </a:p>
          </p:txBody>
        </p:sp>
        <p:sp>
          <p:nvSpPr>
            <p:cNvPr id="29724" name="Freeform 12"/>
            <p:cNvSpPr>
              <a:spLocks/>
            </p:cNvSpPr>
            <p:nvPr/>
          </p:nvSpPr>
          <p:spPr bwMode="auto">
            <a:xfrm>
              <a:off x="539749" y="3140795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rgbClr val="BFBFB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5" name="Freeform 13"/>
            <p:cNvSpPr>
              <a:spLocks/>
            </p:cNvSpPr>
            <p:nvPr/>
          </p:nvSpPr>
          <p:spPr bwMode="auto">
            <a:xfrm>
              <a:off x="1627187" y="3212233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rgbClr val="BFBFB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7342CB8C-0E37-4E75-A7B9-8FCE79F85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784" y="2052464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chemeClr val="bg1">
                  <a:lumMod val="75000"/>
                </a:schemeClr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06" name="AutoShape 15"/>
            <p:cNvSpPr>
              <a:spLocks noChangeArrowheads="1"/>
            </p:cNvSpPr>
            <p:nvPr/>
          </p:nvSpPr>
          <p:spPr bwMode="auto">
            <a:xfrm>
              <a:off x="4284662" y="5085482"/>
              <a:ext cx="576262" cy="28733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CC00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21" name="Line 17"/>
            <p:cNvSpPr>
              <a:spLocks noChangeShapeType="1"/>
            </p:cNvSpPr>
            <p:nvPr/>
          </p:nvSpPr>
          <p:spPr bwMode="auto">
            <a:xfrm flipV="1">
              <a:off x="2411412" y="4507632"/>
              <a:ext cx="1439863" cy="360363"/>
            </a:xfrm>
            <a:prstGeom prst="line">
              <a:avLst/>
            </a:prstGeom>
            <a:noFill/>
            <a:ln w="57150">
              <a:solidFill>
                <a:srgbClr val="BFBFB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2" name="Line 18"/>
            <p:cNvSpPr>
              <a:spLocks noChangeShapeType="1"/>
            </p:cNvSpPr>
            <p:nvPr/>
          </p:nvSpPr>
          <p:spPr bwMode="auto">
            <a:xfrm>
              <a:off x="3492500" y="3932957"/>
              <a:ext cx="431800" cy="144463"/>
            </a:xfrm>
            <a:prstGeom prst="line">
              <a:avLst/>
            </a:prstGeom>
            <a:noFill/>
            <a:ln w="57150">
              <a:solidFill>
                <a:srgbClr val="BFBFB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Line 19">
              <a:extLst>
                <a:ext uri="{FF2B5EF4-FFF2-40B4-BE49-F238E27FC236}">
                  <a16:creationId xmlns:a16="http://schemas.microsoft.com/office/drawing/2014/main" id="{7888928F-16AE-45DA-AFAE-EA91ED4CE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480" y="3213820"/>
              <a:ext cx="217488" cy="503238"/>
            </a:xfrm>
            <a:prstGeom prst="lin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708" name="Oval 20"/>
            <p:cNvSpPr>
              <a:spLocks noChangeArrowheads="1"/>
            </p:cNvSpPr>
            <p:nvPr/>
          </p:nvSpPr>
          <p:spPr bwMode="auto">
            <a:xfrm>
              <a:off x="6443664" y="1988270"/>
              <a:ext cx="2449512" cy="1152525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4245D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/>
                <a:t>Genome Data</a:t>
              </a:r>
            </a:p>
          </p:txBody>
        </p:sp>
        <p:sp>
          <p:nvSpPr>
            <p:cNvPr id="29718" name="Oval 22"/>
            <p:cNvSpPr>
              <a:spLocks noChangeAspect="1" noChangeArrowheads="1"/>
            </p:cNvSpPr>
            <p:nvPr/>
          </p:nvSpPr>
          <p:spPr bwMode="auto">
            <a:xfrm flipH="1">
              <a:off x="5762624" y="3140796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9D7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Number </a:t>
              </a:r>
            </a:p>
            <a:p>
              <a:pPr algn="ctr"/>
              <a:r>
                <a:rPr lang="en-GB" sz="1600" dirty="0"/>
                <a:t>Markers</a:t>
              </a:r>
            </a:p>
            <a:p>
              <a:pPr algn="ctr"/>
              <a:r>
                <a:rPr lang="en-GB" sz="1600" dirty="0"/>
                <a:t>(m)</a:t>
              </a:r>
            </a:p>
          </p:txBody>
        </p:sp>
        <p:sp>
          <p:nvSpPr>
            <p:cNvPr id="29719" name="Oval 23"/>
            <p:cNvSpPr>
              <a:spLocks noChangeAspect="1" noChangeArrowheads="1"/>
            </p:cNvSpPr>
            <p:nvPr/>
          </p:nvSpPr>
          <p:spPr bwMode="auto">
            <a:xfrm flipH="1">
              <a:off x="4719636" y="1916833"/>
              <a:ext cx="1295400" cy="1295400"/>
            </a:xfrm>
            <a:prstGeom prst="ellipse">
              <a:avLst/>
            </a:prstGeom>
            <a:solidFill>
              <a:srgbClr val="D9D9D9"/>
            </a:solidFill>
            <a:ln w="9525">
              <a:solidFill>
                <a:srgbClr val="C6C6C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rgbClr val="8F8F8F"/>
                  </a:solidFill>
                </a:rPr>
                <a:t>Population</a:t>
              </a:r>
            </a:p>
            <a:p>
              <a:pPr algn="ctr"/>
              <a:r>
                <a:rPr lang="en-GB" sz="1600" dirty="0">
                  <a:solidFill>
                    <a:srgbClr val="8F8F8F"/>
                  </a:solidFill>
                </a:rPr>
                <a:t>Genome</a:t>
              </a:r>
            </a:p>
            <a:p>
              <a:pPr algn="ctr"/>
              <a:r>
                <a:rPr lang="en-GB" sz="1600" dirty="0">
                  <a:solidFill>
                    <a:srgbClr val="7F7F7F"/>
                  </a:solidFill>
                </a:rPr>
                <a:t>Structure</a:t>
              </a:r>
            </a:p>
          </p:txBody>
        </p:sp>
        <p:sp>
          <p:nvSpPr>
            <p:cNvPr id="29720" name="Oval 24"/>
            <p:cNvSpPr>
              <a:spLocks noChangeAspect="1" noChangeArrowheads="1"/>
            </p:cNvSpPr>
            <p:nvPr/>
          </p:nvSpPr>
          <p:spPr bwMode="auto">
            <a:xfrm flipH="1">
              <a:off x="6810374" y="4364759"/>
              <a:ext cx="1295400" cy="12954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rgbClr val="FF9D7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600" dirty="0"/>
                <a:t>Marker</a:t>
              </a:r>
            </a:p>
            <a:p>
              <a:pPr algn="ctr"/>
              <a:r>
                <a:rPr lang="en-GB" sz="1600" dirty="0"/>
                <a:t>Selection</a:t>
              </a:r>
            </a:p>
          </p:txBody>
        </p:sp>
        <p:sp>
          <p:nvSpPr>
            <p:cNvPr id="29715" name="Line 26"/>
            <p:cNvSpPr>
              <a:spLocks noChangeShapeType="1"/>
            </p:cNvSpPr>
            <p:nvPr/>
          </p:nvSpPr>
          <p:spPr bwMode="auto">
            <a:xfrm flipH="1" flipV="1">
              <a:off x="5292722" y="4507632"/>
              <a:ext cx="1439863" cy="360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16" name="Line 27"/>
            <p:cNvSpPr>
              <a:spLocks noChangeShapeType="1"/>
            </p:cNvSpPr>
            <p:nvPr/>
          </p:nvSpPr>
          <p:spPr bwMode="auto">
            <a:xfrm flipH="1">
              <a:off x="5219697" y="3932957"/>
              <a:ext cx="431800" cy="1444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F6C0F345-3664-492A-B9B9-A47E45AF03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4784" y="4504457"/>
              <a:ext cx="1439863" cy="360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FDC3DFE2-39C0-46F2-AC6F-D39DC1D18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1759" y="3929782"/>
              <a:ext cx="431800" cy="1444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Line 26">
              <a:extLst>
                <a:ext uri="{FF2B5EF4-FFF2-40B4-BE49-F238E27FC236}">
                  <a16:creationId xmlns:a16="http://schemas.microsoft.com/office/drawing/2014/main" id="{5B567217-2383-4BFF-9B8D-C9DA4C440B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3197" y="4507632"/>
              <a:ext cx="1439863" cy="360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F3685E38-754F-4350-89AE-DF7992F50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0172" y="3932957"/>
              <a:ext cx="431800" cy="1444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Line 26">
              <a:extLst>
                <a:ext uri="{FF2B5EF4-FFF2-40B4-BE49-F238E27FC236}">
                  <a16:creationId xmlns:a16="http://schemas.microsoft.com/office/drawing/2014/main" id="{B4984E96-F2AD-4696-B0C6-7C3FD20D7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6372" y="4507632"/>
              <a:ext cx="1439863" cy="360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CD98C715-B816-43B1-B1CC-670E242EA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3347" y="3934545"/>
              <a:ext cx="431800" cy="1444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Line 28">
              <a:extLst>
                <a:ext uri="{FF2B5EF4-FFF2-40B4-BE49-F238E27FC236}">
                  <a16:creationId xmlns:a16="http://schemas.microsoft.com/office/drawing/2014/main" id="{A802CCA0-F7BA-47BE-817D-E12EBD3108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0032" y="3213820"/>
              <a:ext cx="217488" cy="503238"/>
            </a:xfrm>
            <a:prstGeom prst="line">
              <a:avLst/>
            </a:prstGeom>
            <a:noFill/>
            <a:ln w="57150">
              <a:solidFill>
                <a:srgbClr val="BFBFB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712" name="Freeform 30"/>
            <p:cNvSpPr>
              <a:spLocks/>
            </p:cNvSpPr>
            <p:nvPr/>
          </p:nvSpPr>
          <p:spPr bwMode="auto">
            <a:xfrm flipH="1">
              <a:off x="8016874" y="3134445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13" name="Freeform 31"/>
            <p:cNvSpPr>
              <a:spLocks/>
            </p:cNvSpPr>
            <p:nvPr/>
          </p:nvSpPr>
          <p:spPr bwMode="auto">
            <a:xfrm flipH="1">
              <a:off x="7089774" y="3205883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602F290F-687F-44F7-B3A6-23F43DC536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008937" y="3131270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71ED184C-75BA-4111-A04A-09A7B7F080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081836" y="3202708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7C0EA1F4-A6DA-4AAA-AE95-F155396DBE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007349" y="3134445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151CC399-3702-4A74-8E22-60EB41F4EB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080249" y="3205883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5F2394DA-FB9D-4E18-B3AB-F9F0A26EA91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42011" y="2052464"/>
              <a:ext cx="723900" cy="152400"/>
            </a:xfrm>
            <a:custGeom>
              <a:avLst/>
              <a:gdLst>
                <a:gd name="T0" fmla="*/ 0 w 418"/>
                <a:gd name="T1" fmla="*/ 88 h 96"/>
                <a:gd name="T2" fmla="*/ 229 w 418"/>
                <a:gd name="T3" fmla="*/ 1 h 96"/>
                <a:gd name="T4" fmla="*/ 418 w 418"/>
                <a:gd name="T5" fmla="*/ 96 h 96"/>
                <a:gd name="T6" fmla="*/ 0 60000 65536"/>
                <a:gd name="T7" fmla="*/ 0 60000 65536"/>
                <a:gd name="T8" fmla="*/ 0 60000 65536"/>
                <a:gd name="T9" fmla="*/ 0 w 418"/>
                <a:gd name="T10" fmla="*/ 0 h 96"/>
                <a:gd name="T11" fmla="*/ 418 w 41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96">
                  <a:moveTo>
                    <a:pt x="0" y="88"/>
                  </a:moveTo>
                  <a:cubicBezTo>
                    <a:pt x="37" y="74"/>
                    <a:pt x="159" y="0"/>
                    <a:pt x="229" y="1"/>
                  </a:cubicBezTo>
                  <a:cubicBezTo>
                    <a:pt x="299" y="2"/>
                    <a:pt x="379" y="76"/>
                    <a:pt x="418" y="96"/>
                  </a:cubicBezTo>
                </a:path>
              </a:pathLst>
            </a:custGeom>
            <a:noFill/>
            <a:ln w="57150" cmpd="sng">
              <a:solidFill>
                <a:srgbClr val="BFBFB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FEF1DB21-7DAF-4FF7-8CB4-084D44104F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010524" y="3136033"/>
              <a:ext cx="595313" cy="1517650"/>
            </a:xfrm>
            <a:custGeom>
              <a:avLst/>
              <a:gdLst>
                <a:gd name="T0" fmla="*/ 141 w 375"/>
                <a:gd name="T1" fmla="*/ 0 h 956"/>
                <a:gd name="T2" fmla="*/ 12 w 375"/>
                <a:gd name="T3" fmla="*/ 278 h 956"/>
                <a:gd name="T4" fmla="*/ 67 w 375"/>
                <a:gd name="T5" fmla="*/ 696 h 956"/>
                <a:gd name="T6" fmla="*/ 375 w 375"/>
                <a:gd name="T7" fmla="*/ 956 h 9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56"/>
                <a:gd name="T14" fmla="*/ 375 w 375"/>
                <a:gd name="T15" fmla="*/ 956 h 9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56">
                  <a:moveTo>
                    <a:pt x="141" y="0"/>
                  </a:moveTo>
                  <a:cubicBezTo>
                    <a:pt x="120" y="46"/>
                    <a:pt x="24" y="162"/>
                    <a:pt x="12" y="278"/>
                  </a:cubicBezTo>
                  <a:cubicBezTo>
                    <a:pt x="0" y="394"/>
                    <a:pt x="7" y="583"/>
                    <a:pt x="67" y="696"/>
                  </a:cubicBezTo>
                  <a:cubicBezTo>
                    <a:pt x="127" y="809"/>
                    <a:pt x="311" y="902"/>
                    <a:pt x="375" y="95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39712C7-9B38-4BF7-B7F3-6BBD550442B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083424" y="3207470"/>
              <a:ext cx="434975" cy="509588"/>
            </a:xfrm>
            <a:custGeom>
              <a:avLst/>
              <a:gdLst>
                <a:gd name="T0" fmla="*/ 0 w 274"/>
                <a:gd name="T1" fmla="*/ 0 h 321"/>
                <a:gd name="T2" fmla="*/ 48 w 274"/>
                <a:gd name="T3" fmla="*/ 268 h 321"/>
                <a:gd name="T4" fmla="*/ 274 w 274"/>
                <a:gd name="T5" fmla="*/ 319 h 321"/>
                <a:gd name="T6" fmla="*/ 0 60000 65536"/>
                <a:gd name="T7" fmla="*/ 0 60000 65536"/>
                <a:gd name="T8" fmla="*/ 0 60000 65536"/>
                <a:gd name="T9" fmla="*/ 0 w 274"/>
                <a:gd name="T10" fmla="*/ 0 h 321"/>
                <a:gd name="T11" fmla="*/ 274 w 274"/>
                <a:gd name="T12" fmla="*/ 321 h 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321">
                  <a:moveTo>
                    <a:pt x="0" y="0"/>
                  </a:moveTo>
                  <a:cubicBezTo>
                    <a:pt x="8" y="45"/>
                    <a:pt x="2" y="215"/>
                    <a:pt x="48" y="268"/>
                  </a:cubicBezTo>
                  <a:cubicBezTo>
                    <a:pt x="94" y="321"/>
                    <a:pt x="227" y="309"/>
                    <a:pt x="274" y="319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40" name="Picture 60" descr="TzeenieWheenie_red_green_OK_not_OK_Icons_3.png">
            <a:extLst>
              <a:ext uri="{FF2B5EF4-FFF2-40B4-BE49-F238E27FC236}">
                <a16:creationId xmlns:a16="http://schemas.microsoft.com/office/drawing/2014/main" id="{5EA4EF5F-1F35-4009-AB56-3E149451DC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261" y="4226142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60" descr="TzeenieWheenie_red_green_OK_not_OK_Icons_3.png">
            <a:extLst>
              <a:ext uri="{FF2B5EF4-FFF2-40B4-BE49-F238E27FC236}">
                <a16:creationId xmlns:a16="http://schemas.microsoft.com/office/drawing/2014/main" id="{C41198D9-ECCD-4CBE-A41A-772289A7FB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337" y="3212233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60" descr="TzeenieWheenie_red_green_OK_not_OK_Icons_3.png">
            <a:extLst>
              <a:ext uri="{FF2B5EF4-FFF2-40B4-BE49-F238E27FC236}">
                <a16:creationId xmlns:a16="http://schemas.microsoft.com/office/drawing/2014/main" id="{1951C2CB-E5EB-4548-8346-66D9AC85EF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350" y="1862425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67964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Factors</a:t>
            </a:r>
          </a:p>
        </p:txBody>
      </p:sp>
      <p:sp>
        <p:nvSpPr>
          <p:cNvPr id="3481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Accuracy, </a:t>
            </a:r>
          </a:p>
          <a:p>
            <a:pPr marL="0" indent="0">
              <a:buNone/>
            </a:pPr>
            <a:r>
              <a:rPr lang="en-GB" dirty="0"/>
              <a:t>    </a:t>
            </a:r>
          </a:p>
          <a:p>
            <a:pPr lvl="1"/>
            <a:r>
              <a:rPr lang="en-GB" dirty="0"/>
              <a:t>where </a:t>
            </a:r>
            <a:r>
              <a:rPr lang="en-GB" i="1" dirty="0"/>
              <a:t>g(M)</a:t>
            </a:r>
            <a:r>
              <a:rPr lang="en-GB" dirty="0"/>
              <a:t> is the true ‘marker-accessible’ breeding value</a:t>
            </a:r>
          </a:p>
          <a:p>
            <a:pPr lvl="2"/>
            <a:r>
              <a:rPr lang="en-GB" dirty="0"/>
              <a:t>i.e. EBV from unlimited data using the markers         </a:t>
            </a:r>
          </a:p>
          <a:p>
            <a:pPr lvl="1"/>
            <a:r>
              <a:rPr lang="en-GB" dirty="0"/>
              <a:t>           is accuracy of EBV for </a:t>
            </a:r>
            <a:r>
              <a:rPr lang="en-GB" i="1" dirty="0"/>
              <a:t>g(M)</a:t>
            </a:r>
          </a:p>
          <a:p>
            <a:pPr lvl="1" eaLnBrk="1" hangingPunct="1"/>
            <a:r>
              <a:rPr lang="en-GB" dirty="0"/>
              <a:t>           is genetic correlation of </a:t>
            </a:r>
            <a:r>
              <a:rPr lang="en-GB" i="1" dirty="0"/>
              <a:t>g(M) </a:t>
            </a:r>
            <a:r>
              <a:rPr lang="en-GB" dirty="0"/>
              <a:t>and </a:t>
            </a:r>
            <a:r>
              <a:rPr lang="en-GB" i="1" dirty="0"/>
              <a:t>g</a:t>
            </a:r>
          </a:p>
          <a:p>
            <a:pPr lvl="2"/>
            <a:r>
              <a:rPr lang="en-GB" dirty="0"/>
              <a:t>if we have sequence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055440" y="3717032"/>
          <a:ext cx="96678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0" name="Equation" r:id="rId3" imgW="380880" imgH="241200" progId="Equation.DSMT4">
                  <p:embed/>
                </p:oleObj>
              </mc:Choice>
              <mc:Fallback>
                <p:oleObj name="Equation" r:id="rId3" imgW="380880" imgH="2412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5440" y="3717032"/>
                        <a:ext cx="966788" cy="611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055440" y="3212976"/>
          <a:ext cx="9667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1" name="Equation" r:id="rId5" imgW="380880" imgH="241200" progId="Equation.DSMT4">
                  <p:embed/>
                </p:oleObj>
              </mc:Choice>
              <mc:Fallback>
                <p:oleObj name="Equation" r:id="rId5" imgW="380880" imgH="2412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5440" y="3212976"/>
                        <a:ext cx="966787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DE42EB0-9A43-487A-BD6A-16C8E3405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3632" y="1136650"/>
          <a:ext cx="38576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2" name="Equation" r:id="rId7" imgW="1091880" imgH="241200" progId="Equation.DSMT4">
                  <p:embed/>
                </p:oleObj>
              </mc:Choice>
              <mc:Fallback>
                <p:oleObj name="Equation" r:id="rId7" imgW="1091880" imgH="2412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DE42EB0-9A43-487A-BD6A-16C8E34052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3632" y="1136650"/>
                        <a:ext cx="3857625" cy="852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8B15E3B-BB58-4A9D-97B3-FF22B7351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808" y="4293096"/>
          <a:ext cx="15478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3" name="Equation" r:id="rId9" imgW="609480" imgH="241200" progId="Equation.DSMT4">
                  <p:embed/>
                </p:oleObj>
              </mc:Choice>
              <mc:Fallback>
                <p:oleObj name="Equation" r:id="rId9" imgW="609480" imgH="241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8B15E3B-BB58-4A9D-97B3-FF22B7351A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67808" y="4293096"/>
                        <a:ext cx="1547812" cy="611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5862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Marker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extreme example with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575623" y="3563726"/>
            <a:ext cx="216024" cy="661555"/>
            <a:chOff x="1844413" y="1831341"/>
            <a:chExt cx="216024" cy="661555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2051720" y="2132856"/>
              <a:ext cx="0" cy="360040"/>
            </a:xfrm>
            <a:prstGeom prst="line">
              <a:avLst/>
            </a:prstGeom>
            <a:ln w="381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844413" y="1831341"/>
              <a:ext cx="2160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000099"/>
                  </a:solidFill>
                </a:rPr>
                <a:t>Q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34780" y="3559246"/>
            <a:ext cx="216024" cy="661555"/>
            <a:chOff x="1844413" y="1831341"/>
            <a:chExt cx="216024" cy="66155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51720" y="2132856"/>
              <a:ext cx="0" cy="360040"/>
            </a:xfrm>
            <a:prstGeom prst="line">
              <a:avLst/>
            </a:prstGeom>
            <a:ln w="381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844413" y="1831341"/>
              <a:ext cx="2160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000099"/>
                  </a:solidFill>
                </a:rPr>
                <a:t>Q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129782" y="4927686"/>
            <a:ext cx="2534171" cy="661555"/>
            <a:chOff x="1605781" y="4927685"/>
            <a:chExt cx="2534171" cy="661555"/>
          </a:xfrm>
        </p:grpSpPr>
        <p:grpSp>
          <p:nvGrpSpPr>
            <p:cNvPr id="13" name="Group 12"/>
            <p:cNvGrpSpPr/>
            <p:nvPr/>
          </p:nvGrpSpPr>
          <p:grpSpPr>
            <a:xfrm>
              <a:off x="1619672" y="5364544"/>
              <a:ext cx="2520280" cy="152400"/>
              <a:chOff x="1691680" y="5004792"/>
              <a:chExt cx="2520280" cy="152400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1691680" y="500479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1691680" y="515719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>
              <a:off x="1605781" y="4927685"/>
              <a:ext cx="216024" cy="661555"/>
              <a:chOff x="1844413" y="1831341"/>
              <a:chExt cx="216024" cy="661555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764110" y="4927685"/>
              <a:ext cx="216024" cy="661555"/>
              <a:chOff x="1844413" y="1831341"/>
              <a:chExt cx="216024" cy="661555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2331035" y="4927685"/>
              <a:ext cx="216024" cy="661555"/>
              <a:chOff x="1844413" y="1831341"/>
              <a:chExt cx="216024" cy="661555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072862" y="2191093"/>
            <a:ext cx="2591090" cy="1003698"/>
            <a:chOff x="1548862" y="2191093"/>
            <a:chExt cx="2591090" cy="1003698"/>
          </a:xfrm>
        </p:grpSpPr>
        <p:grpSp>
          <p:nvGrpSpPr>
            <p:cNvPr id="15" name="Group 14"/>
            <p:cNvGrpSpPr/>
            <p:nvPr/>
          </p:nvGrpSpPr>
          <p:grpSpPr>
            <a:xfrm>
              <a:off x="1619672" y="2636624"/>
              <a:ext cx="2520280" cy="152400"/>
              <a:chOff x="1691680" y="2276872"/>
              <a:chExt cx="2520280" cy="1524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>
                <a:off x="1691680" y="227687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242927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1772405" y="2191093"/>
              <a:ext cx="216024" cy="661555"/>
              <a:chOff x="1844413" y="1831341"/>
              <a:chExt cx="216024" cy="66155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2123728" y="2191093"/>
              <a:ext cx="216024" cy="661555"/>
              <a:chOff x="1844413" y="1831341"/>
              <a:chExt cx="216024" cy="661555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3347864" y="2191093"/>
              <a:ext cx="216024" cy="661555"/>
              <a:chOff x="1844413" y="1831341"/>
              <a:chExt cx="216024" cy="661555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2051720" y="2568584"/>
              <a:ext cx="216024" cy="626207"/>
              <a:chOff x="3015619" y="2218347"/>
              <a:chExt cx="216024" cy="626207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555776" y="2560425"/>
              <a:ext cx="216024" cy="626207"/>
              <a:chOff x="3015619" y="2218347"/>
              <a:chExt cx="216024" cy="626207"/>
            </a:xfrm>
          </p:grpSpPr>
          <p:cxnSp>
            <p:nvCxnSpPr>
              <p:cNvPr id="48" name="Straight Connector 47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2987824" y="2555847"/>
              <a:ext cx="216024" cy="626207"/>
              <a:chOff x="3015619" y="2218347"/>
              <a:chExt cx="216024" cy="626207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1548862" y="2556732"/>
              <a:ext cx="216024" cy="626207"/>
              <a:chOff x="3015619" y="2218347"/>
              <a:chExt cx="216024" cy="626207"/>
            </a:xfrm>
          </p:grpSpPr>
          <p:cxnSp>
            <p:nvCxnSpPr>
              <p:cNvPr id="57" name="Straight Connector 56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3419872" y="2564616"/>
              <a:ext cx="216024" cy="626207"/>
              <a:chOff x="3015619" y="2218347"/>
              <a:chExt cx="216024" cy="626207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3851920" y="2564616"/>
              <a:ext cx="216024" cy="626207"/>
              <a:chOff x="3015619" y="2218347"/>
              <a:chExt cx="216024" cy="626207"/>
            </a:xfrm>
          </p:grpSpPr>
          <p:cxnSp>
            <p:nvCxnSpPr>
              <p:cNvPr id="63" name="Straight Connector 62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071664" y="3941896"/>
            <a:ext cx="2592288" cy="638944"/>
            <a:chOff x="1547664" y="3941896"/>
            <a:chExt cx="2592288" cy="638944"/>
          </a:xfrm>
        </p:grpSpPr>
        <p:grpSp>
          <p:nvGrpSpPr>
            <p:cNvPr id="14" name="Group 13"/>
            <p:cNvGrpSpPr/>
            <p:nvPr/>
          </p:nvGrpSpPr>
          <p:grpSpPr>
            <a:xfrm>
              <a:off x="1619672" y="4000584"/>
              <a:ext cx="2520280" cy="152400"/>
              <a:chOff x="1691680" y="3636640"/>
              <a:chExt cx="2520280" cy="15240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1691680" y="3636640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691680" y="3789040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2050522" y="3954633"/>
              <a:ext cx="216024" cy="626207"/>
              <a:chOff x="3015619" y="2218347"/>
              <a:chExt cx="216024" cy="626207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2554578" y="3946474"/>
              <a:ext cx="216024" cy="626207"/>
              <a:chOff x="3015619" y="2218347"/>
              <a:chExt cx="216024" cy="626207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2986626" y="3941896"/>
              <a:ext cx="216024" cy="626207"/>
              <a:chOff x="3015619" y="2218347"/>
              <a:chExt cx="216024" cy="626207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1547664" y="3942781"/>
              <a:ext cx="216024" cy="626207"/>
              <a:chOff x="3015619" y="2218347"/>
              <a:chExt cx="216024" cy="626207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3418674" y="3950665"/>
              <a:ext cx="216024" cy="626207"/>
              <a:chOff x="3015619" y="2218347"/>
              <a:chExt cx="216024" cy="626207"/>
            </a:xfrm>
          </p:grpSpPr>
          <p:cxnSp>
            <p:nvCxnSpPr>
              <p:cNvPr id="78" name="Straight Connector 77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3850722" y="3950665"/>
              <a:ext cx="216024" cy="626207"/>
              <a:chOff x="3015619" y="2218347"/>
              <a:chExt cx="216024" cy="626207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</p:grpSp>
      <p:sp>
        <p:nvSpPr>
          <p:cNvPr id="83" name="Right Brace 82"/>
          <p:cNvSpPr/>
          <p:nvPr/>
        </p:nvSpPr>
        <p:spPr>
          <a:xfrm>
            <a:off x="6168008" y="2191094"/>
            <a:ext cx="216024" cy="238577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/>
          <p:cNvSpPr txBox="1"/>
          <p:nvPr/>
        </p:nvSpPr>
        <p:spPr>
          <a:xfrm>
            <a:off x="6610749" y="3048824"/>
            <a:ext cx="2503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‘Marker accessible’ variation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0056" y="5086926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Markers cannot capture this variation by linkage</a:t>
            </a:r>
          </a:p>
        </p:txBody>
      </p:sp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36BD772F-5FE8-4091-ABCD-A082899FA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936" y="1233036"/>
          <a:ext cx="15478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9"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86" name="Object 85">
                        <a:extLst>
                          <a:ext uri="{FF2B5EF4-FFF2-40B4-BE49-F238E27FC236}">
                            <a16:creationId xmlns:a16="http://schemas.microsoft.com/office/drawing/2014/main" id="{36BD772F-5FE8-4091-ABCD-A082899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9936" y="1233036"/>
                        <a:ext cx="1547812" cy="611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05248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2E5A-73EC-42EB-9D31-BB275E95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Variance?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6EB0-E1B4-4D7F-89A1-B85F51DCD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dirty="0"/>
              <a:t>Data from USDA genomic evaluations</a:t>
            </a:r>
          </a:p>
          <a:p>
            <a:pPr lvl="1"/>
            <a:r>
              <a:rPr lang="en-GB" sz="2000" dirty="0"/>
              <a:t>net dairy merit</a:t>
            </a:r>
          </a:p>
          <a:p>
            <a:r>
              <a:rPr lang="en-GB" sz="2400" dirty="0"/>
              <a:t>What is asymptotic accuracy?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2928-A9A6-41F3-B4F7-76BFCCA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DC2E-9C81-4589-A73A-A3C88CAF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graphicFrame>
        <p:nvGraphicFramePr>
          <p:cNvPr id="7" name="Object 50">
            <a:extLst>
              <a:ext uri="{FF2B5EF4-FFF2-40B4-BE49-F238E27FC236}">
                <a16:creationId xmlns:a16="http://schemas.microsoft.com/office/drawing/2014/main" id="{E7753435-F227-4512-8A09-BE4E07EA257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300000" y="1260000"/>
          <a:ext cx="5245200" cy="475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6" name="Chart" r:id="rId3" imgW="2867025" imgH="2914650" progId="Excel.Chart.8">
                  <p:embed/>
                </p:oleObj>
              </mc:Choice>
              <mc:Fallback>
                <p:oleObj name="Chart" r:id="rId3" imgW="2867025" imgH="2914650" progId="Excel.Chart.8">
                  <p:embed/>
                  <p:pic>
                    <p:nvPicPr>
                      <p:cNvPr id="7" name="Object 50">
                        <a:extLst>
                          <a:ext uri="{FF2B5EF4-FFF2-40B4-BE49-F238E27FC236}">
                            <a16:creationId xmlns:a16="http://schemas.microsoft.com/office/drawing/2014/main" id="{E7753435-F227-4512-8A09-BE4E07EA2572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000" y="1260000"/>
                        <a:ext cx="5245200" cy="4752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8">
            <a:extLst>
              <a:ext uri="{FF2B5EF4-FFF2-40B4-BE49-F238E27FC236}">
                <a16:creationId xmlns:a16="http://schemas.microsoft.com/office/drawing/2014/main" id="{08616936-4C19-4347-8BF0-40613ABE0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504" y="3789040"/>
          <a:ext cx="3000623" cy="2000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7" name="Worksheet" r:id="rId5" imgW="1228725" imgH="819150" progId="Excel.Sheet.8">
                  <p:embed/>
                </p:oleObj>
              </mc:Choice>
              <mc:Fallback>
                <p:oleObj name="Worksheet" r:id="rId5" imgW="1228725" imgH="819150" progId="Excel.Sheet.8">
                  <p:embed/>
                  <p:pic>
                    <p:nvPicPr>
                      <p:cNvPr id="8" name="Object 48">
                        <a:extLst>
                          <a:ext uri="{FF2B5EF4-FFF2-40B4-BE49-F238E27FC236}">
                            <a16:creationId xmlns:a16="http://schemas.microsoft.com/office/drawing/2014/main" id="{08616936-4C19-4347-8BF0-40613ABE0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3789040"/>
                        <a:ext cx="3000623" cy="2000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44587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2E5A-73EC-42EB-9D31-BB275E95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Variance?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6EB0-E1B4-4D7F-89A1-B85F51DCD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dirty="0"/>
              <a:t>Data from USDA genomic evaluations</a:t>
            </a:r>
          </a:p>
          <a:p>
            <a:pPr lvl="1"/>
            <a:r>
              <a:rPr lang="en-GB" sz="2000" dirty="0"/>
              <a:t>net dairy merit</a:t>
            </a:r>
          </a:p>
          <a:p>
            <a:r>
              <a:rPr lang="en-GB" sz="2400" dirty="0"/>
              <a:t>What is asymptotic accuracy?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2928-A9A6-41F3-B4F7-76BFCCA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DC2E-9C81-4589-A73A-A3C88CAF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graphicFrame>
        <p:nvGraphicFramePr>
          <p:cNvPr id="7" name="Object 50">
            <a:extLst>
              <a:ext uri="{FF2B5EF4-FFF2-40B4-BE49-F238E27FC236}">
                <a16:creationId xmlns:a16="http://schemas.microsoft.com/office/drawing/2014/main" id="{E7753435-F227-4512-8A09-BE4E07EA257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99999" y="1260000"/>
          <a:ext cx="5245200" cy="475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0" name="Chart" r:id="rId3" imgW="2867025" imgH="2914650" progId="Excel.Chart.8">
                  <p:embed/>
                </p:oleObj>
              </mc:Choice>
              <mc:Fallback>
                <p:oleObj name="Chart" r:id="rId3" imgW="2867025" imgH="2914650" progId="Excel.Chart.8">
                  <p:embed/>
                  <p:pic>
                    <p:nvPicPr>
                      <p:cNvPr id="7" name="Object 50">
                        <a:extLst>
                          <a:ext uri="{FF2B5EF4-FFF2-40B4-BE49-F238E27FC236}">
                            <a16:creationId xmlns:a16="http://schemas.microsoft.com/office/drawing/2014/main" id="{E7753435-F227-4512-8A09-BE4E07EA2572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999" y="1260000"/>
                        <a:ext cx="5245200" cy="4752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8">
            <a:extLst>
              <a:ext uri="{FF2B5EF4-FFF2-40B4-BE49-F238E27FC236}">
                <a16:creationId xmlns:a16="http://schemas.microsoft.com/office/drawing/2014/main" id="{08616936-4C19-4347-8BF0-40613ABE0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504" y="3789040"/>
          <a:ext cx="3000623" cy="2000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1" name="Worksheet" r:id="rId5" imgW="1228725" imgH="819150" progId="Excel.Sheet.8">
                  <p:embed/>
                </p:oleObj>
              </mc:Choice>
              <mc:Fallback>
                <p:oleObj name="Worksheet" r:id="rId5" imgW="1228725" imgH="819150" progId="Excel.Sheet.8">
                  <p:embed/>
                  <p:pic>
                    <p:nvPicPr>
                      <p:cNvPr id="8" name="Object 48">
                        <a:extLst>
                          <a:ext uri="{FF2B5EF4-FFF2-40B4-BE49-F238E27FC236}">
                            <a16:creationId xmlns:a16="http://schemas.microsoft.com/office/drawing/2014/main" id="{08616936-4C19-4347-8BF0-40613ABE0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3789040"/>
                        <a:ext cx="3000623" cy="2000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eform 1">
            <a:extLst>
              <a:ext uri="{FF2B5EF4-FFF2-40B4-BE49-F238E27FC236}">
                <a16:creationId xmlns:a16="http://schemas.microsoft.com/office/drawing/2014/main" id="{81A5942C-D3D8-4E75-B655-0FBE9F0B1A6D}"/>
              </a:ext>
            </a:extLst>
          </p:cNvPr>
          <p:cNvSpPr/>
          <p:nvPr/>
        </p:nvSpPr>
        <p:spPr>
          <a:xfrm>
            <a:off x="7104113" y="4725808"/>
            <a:ext cx="4320478" cy="1223472"/>
          </a:xfrm>
          <a:custGeom>
            <a:avLst/>
            <a:gdLst>
              <a:gd name="connsiteX0" fmla="*/ 3777515 w 3777515"/>
              <a:gd name="connsiteY0" fmla="*/ 207264 h 1087897"/>
              <a:gd name="connsiteX1" fmla="*/ 3192299 w 3777515"/>
              <a:gd name="connsiteY1" fmla="*/ 0 h 1087897"/>
              <a:gd name="connsiteX2" fmla="*/ 266219 w 3777515"/>
              <a:gd name="connsiteY2" fmla="*/ 207264 h 1087897"/>
              <a:gd name="connsiteX3" fmla="*/ 473483 w 3777515"/>
              <a:gd name="connsiteY3" fmla="*/ 1036320 h 1087897"/>
              <a:gd name="connsiteX4" fmla="*/ 3253259 w 3777515"/>
              <a:gd name="connsiteY4" fmla="*/ 999744 h 1087897"/>
              <a:gd name="connsiteX5" fmla="*/ 3326411 w 3777515"/>
              <a:gd name="connsiteY5" fmla="*/ 999744 h 1087897"/>
              <a:gd name="connsiteX6" fmla="*/ 3704363 w 3777515"/>
              <a:gd name="connsiteY6" fmla="*/ 792480 h 1087897"/>
              <a:gd name="connsiteX7" fmla="*/ 3704363 w 3777515"/>
              <a:gd name="connsiteY7" fmla="*/ 792480 h 1087897"/>
              <a:gd name="connsiteX8" fmla="*/ 3070379 w 3777515"/>
              <a:gd name="connsiteY8" fmla="*/ 377952 h 1087897"/>
              <a:gd name="connsiteX9" fmla="*/ 3460523 w 3777515"/>
              <a:gd name="connsiteY9" fmla="*/ 316992 h 1087897"/>
              <a:gd name="connsiteX0" fmla="*/ 3777515 w 3777515"/>
              <a:gd name="connsiteY0" fmla="*/ 341543 h 1222176"/>
              <a:gd name="connsiteX1" fmla="*/ 3192299 w 3777515"/>
              <a:gd name="connsiteY1" fmla="*/ 134279 h 1222176"/>
              <a:gd name="connsiteX2" fmla="*/ 266219 w 3777515"/>
              <a:gd name="connsiteY2" fmla="*/ 341543 h 1222176"/>
              <a:gd name="connsiteX3" fmla="*/ 473483 w 3777515"/>
              <a:gd name="connsiteY3" fmla="*/ 1170599 h 1222176"/>
              <a:gd name="connsiteX4" fmla="*/ 3253259 w 3777515"/>
              <a:gd name="connsiteY4" fmla="*/ 1134023 h 1222176"/>
              <a:gd name="connsiteX5" fmla="*/ 3326411 w 3777515"/>
              <a:gd name="connsiteY5" fmla="*/ 1134023 h 1222176"/>
              <a:gd name="connsiteX6" fmla="*/ 3704363 w 3777515"/>
              <a:gd name="connsiteY6" fmla="*/ 926759 h 1222176"/>
              <a:gd name="connsiteX7" fmla="*/ 3704363 w 3777515"/>
              <a:gd name="connsiteY7" fmla="*/ 926759 h 1222176"/>
              <a:gd name="connsiteX8" fmla="*/ 3070379 w 3777515"/>
              <a:gd name="connsiteY8" fmla="*/ 512231 h 1222176"/>
              <a:gd name="connsiteX9" fmla="*/ 2850923 w 3777515"/>
              <a:gd name="connsiteY9" fmla="*/ 167 h 1222176"/>
              <a:gd name="connsiteX0" fmla="*/ 3777515 w 3786981"/>
              <a:gd name="connsiteY0" fmla="*/ 341510 h 1222143"/>
              <a:gd name="connsiteX1" fmla="*/ 3192299 w 3786981"/>
              <a:gd name="connsiteY1" fmla="*/ 134246 h 1222143"/>
              <a:gd name="connsiteX2" fmla="*/ 266219 w 3786981"/>
              <a:gd name="connsiteY2" fmla="*/ 341510 h 1222143"/>
              <a:gd name="connsiteX3" fmla="*/ 473483 w 3786981"/>
              <a:gd name="connsiteY3" fmla="*/ 1170566 h 1222143"/>
              <a:gd name="connsiteX4" fmla="*/ 3253259 w 3786981"/>
              <a:gd name="connsiteY4" fmla="*/ 1133990 h 1222143"/>
              <a:gd name="connsiteX5" fmla="*/ 3326411 w 3786981"/>
              <a:gd name="connsiteY5" fmla="*/ 1133990 h 1222143"/>
              <a:gd name="connsiteX6" fmla="*/ 3704363 w 3786981"/>
              <a:gd name="connsiteY6" fmla="*/ 926726 h 1222143"/>
              <a:gd name="connsiteX7" fmla="*/ 3704363 w 3786981"/>
              <a:gd name="connsiteY7" fmla="*/ 926726 h 1222143"/>
              <a:gd name="connsiteX8" fmla="*/ 3728747 w 3786981"/>
              <a:gd name="connsiteY8" fmla="*/ 609734 h 1222143"/>
              <a:gd name="connsiteX9" fmla="*/ 2850923 w 3786981"/>
              <a:gd name="connsiteY9" fmla="*/ 134 h 1222143"/>
              <a:gd name="connsiteX0" fmla="*/ 3777515 w 3786981"/>
              <a:gd name="connsiteY0" fmla="*/ 341510 h 1222143"/>
              <a:gd name="connsiteX1" fmla="*/ 3192299 w 3786981"/>
              <a:gd name="connsiteY1" fmla="*/ 134246 h 1222143"/>
              <a:gd name="connsiteX2" fmla="*/ 266219 w 3786981"/>
              <a:gd name="connsiteY2" fmla="*/ 341510 h 1222143"/>
              <a:gd name="connsiteX3" fmla="*/ 473483 w 3786981"/>
              <a:gd name="connsiteY3" fmla="*/ 1170566 h 1222143"/>
              <a:gd name="connsiteX4" fmla="*/ 3253259 w 3786981"/>
              <a:gd name="connsiteY4" fmla="*/ 1133990 h 1222143"/>
              <a:gd name="connsiteX5" fmla="*/ 3326411 w 3786981"/>
              <a:gd name="connsiteY5" fmla="*/ 1133990 h 1222143"/>
              <a:gd name="connsiteX6" fmla="*/ 3704363 w 3786981"/>
              <a:gd name="connsiteY6" fmla="*/ 926726 h 1222143"/>
              <a:gd name="connsiteX7" fmla="*/ 3704363 w 3786981"/>
              <a:gd name="connsiteY7" fmla="*/ 926726 h 1222143"/>
              <a:gd name="connsiteX8" fmla="*/ 3728747 w 3786981"/>
              <a:gd name="connsiteY8" fmla="*/ 609734 h 1222143"/>
              <a:gd name="connsiteX9" fmla="*/ 2850923 w 3786981"/>
              <a:gd name="connsiteY9" fmla="*/ 134 h 1222143"/>
              <a:gd name="connsiteX0" fmla="*/ 3777515 w 3786981"/>
              <a:gd name="connsiteY0" fmla="*/ 341510 h 1222143"/>
              <a:gd name="connsiteX1" fmla="*/ 3192299 w 3786981"/>
              <a:gd name="connsiteY1" fmla="*/ 134246 h 1222143"/>
              <a:gd name="connsiteX2" fmla="*/ 266219 w 3786981"/>
              <a:gd name="connsiteY2" fmla="*/ 341510 h 1222143"/>
              <a:gd name="connsiteX3" fmla="*/ 473483 w 3786981"/>
              <a:gd name="connsiteY3" fmla="*/ 1170566 h 1222143"/>
              <a:gd name="connsiteX4" fmla="*/ 3253259 w 3786981"/>
              <a:gd name="connsiteY4" fmla="*/ 1133990 h 1222143"/>
              <a:gd name="connsiteX5" fmla="*/ 3326411 w 3786981"/>
              <a:gd name="connsiteY5" fmla="*/ 1133990 h 1222143"/>
              <a:gd name="connsiteX6" fmla="*/ 3704363 w 3786981"/>
              <a:gd name="connsiteY6" fmla="*/ 926726 h 1222143"/>
              <a:gd name="connsiteX7" fmla="*/ 3704363 w 3786981"/>
              <a:gd name="connsiteY7" fmla="*/ 926726 h 1222143"/>
              <a:gd name="connsiteX8" fmla="*/ 3728747 w 3786981"/>
              <a:gd name="connsiteY8" fmla="*/ 609734 h 1222143"/>
              <a:gd name="connsiteX9" fmla="*/ 2850923 w 3786981"/>
              <a:gd name="connsiteY9" fmla="*/ 134 h 1222143"/>
              <a:gd name="connsiteX0" fmla="*/ 3777515 w 3786981"/>
              <a:gd name="connsiteY0" fmla="*/ 341510 h 1222143"/>
              <a:gd name="connsiteX1" fmla="*/ 3192299 w 3786981"/>
              <a:gd name="connsiteY1" fmla="*/ 134246 h 1222143"/>
              <a:gd name="connsiteX2" fmla="*/ 266219 w 3786981"/>
              <a:gd name="connsiteY2" fmla="*/ 341510 h 1222143"/>
              <a:gd name="connsiteX3" fmla="*/ 473483 w 3786981"/>
              <a:gd name="connsiteY3" fmla="*/ 1170566 h 1222143"/>
              <a:gd name="connsiteX4" fmla="*/ 3253259 w 3786981"/>
              <a:gd name="connsiteY4" fmla="*/ 1133990 h 1222143"/>
              <a:gd name="connsiteX5" fmla="*/ 3326411 w 3786981"/>
              <a:gd name="connsiteY5" fmla="*/ 1133990 h 1222143"/>
              <a:gd name="connsiteX6" fmla="*/ 3704363 w 3786981"/>
              <a:gd name="connsiteY6" fmla="*/ 926726 h 1222143"/>
              <a:gd name="connsiteX7" fmla="*/ 3704363 w 3786981"/>
              <a:gd name="connsiteY7" fmla="*/ 926726 h 1222143"/>
              <a:gd name="connsiteX8" fmla="*/ 3728747 w 3786981"/>
              <a:gd name="connsiteY8" fmla="*/ 609734 h 1222143"/>
              <a:gd name="connsiteX9" fmla="*/ 2850923 w 3786981"/>
              <a:gd name="connsiteY9" fmla="*/ 134 h 1222143"/>
              <a:gd name="connsiteX0" fmla="*/ 3781112 w 3790578"/>
              <a:gd name="connsiteY0" fmla="*/ 341510 h 1228854"/>
              <a:gd name="connsiteX1" fmla="*/ 3195896 w 3790578"/>
              <a:gd name="connsiteY1" fmla="*/ 134246 h 1228854"/>
              <a:gd name="connsiteX2" fmla="*/ 269816 w 3790578"/>
              <a:gd name="connsiteY2" fmla="*/ 341510 h 1228854"/>
              <a:gd name="connsiteX3" fmla="*/ 477080 w 3790578"/>
              <a:gd name="connsiteY3" fmla="*/ 1170566 h 1228854"/>
              <a:gd name="connsiteX4" fmla="*/ 3330008 w 3790578"/>
              <a:gd name="connsiteY4" fmla="*/ 1133990 h 1228854"/>
              <a:gd name="connsiteX5" fmla="*/ 3707960 w 3790578"/>
              <a:gd name="connsiteY5" fmla="*/ 926726 h 1228854"/>
              <a:gd name="connsiteX6" fmla="*/ 3707960 w 3790578"/>
              <a:gd name="connsiteY6" fmla="*/ 926726 h 1228854"/>
              <a:gd name="connsiteX7" fmla="*/ 3732344 w 3790578"/>
              <a:gd name="connsiteY7" fmla="*/ 609734 h 1228854"/>
              <a:gd name="connsiteX8" fmla="*/ 2854520 w 3790578"/>
              <a:gd name="connsiteY8" fmla="*/ 134 h 1228854"/>
              <a:gd name="connsiteX0" fmla="*/ 3800385 w 3809851"/>
              <a:gd name="connsiteY0" fmla="*/ 341510 h 1189922"/>
              <a:gd name="connsiteX1" fmla="*/ 3215169 w 3809851"/>
              <a:gd name="connsiteY1" fmla="*/ 134246 h 1189922"/>
              <a:gd name="connsiteX2" fmla="*/ 289089 w 3809851"/>
              <a:gd name="connsiteY2" fmla="*/ 341510 h 1189922"/>
              <a:gd name="connsiteX3" fmla="*/ 496353 w 3809851"/>
              <a:gd name="connsiteY3" fmla="*/ 1170566 h 1189922"/>
              <a:gd name="connsiteX4" fmla="*/ 3727233 w 3809851"/>
              <a:gd name="connsiteY4" fmla="*/ 926726 h 1189922"/>
              <a:gd name="connsiteX5" fmla="*/ 3727233 w 3809851"/>
              <a:gd name="connsiteY5" fmla="*/ 926726 h 1189922"/>
              <a:gd name="connsiteX6" fmla="*/ 3751617 w 3809851"/>
              <a:gd name="connsiteY6" fmla="*/ 609734 h 1189922"/>
              <a:gd name="connsiteX7" fmla="*/ 2873793 w 3809851"/>
              <a:gd name="connsiteY7" fmla="*/ 134 h 1189922"/>
              <a:gd name="connsiteX0" fmla="*/ 3800385 w 3809078"/>
              <a:gd name="connsiteY0" fmla="*/ 341510 h 1189922"/>
              <a:gd name="connsiteX1" fmla="*/ 3215169 w 3809078"/>
              <a:gd name="connsiteY1" fmla="*/ 134246 h 1189922"/>
              <a:gd name="connsiteX2" fmla="*/ 289089 w 3809078"/>
              <a:gd name="connsiteY2" fmla="*/ 341510 h 1189922"/>
              <a:gd name="connsiteX3" fmla="*/ 496353 w 3809078"/>
              <a:gd name="connsiteY3" fmla="*/ 1170566 h 1189922"/>
              <a:gd name="connsiteX4" fmla="*/ 3727233 w 3809078"/>
              <a:gd name="connsiteY4" fmla="*/ 926726 h 1189922"/>
              <a:gd name="connsiteX5" fmla="*/ 3727233 w 3809078"/>
              <a:gd name="connsiteY5" fmla="*/ 926726 h 1189922"/>
              <a:gd name="connsiteX6" fmla="*/ 3751617 w 3809078"/>
              <a:gd name="connsiteY6" fmla="*/ 609734 h 1189922"/>
              <a:gd name="connsiteX7" fmla="*/ 2873793 w 3809078"/>
              <a:gd name="connsiteY7" fmla="*/ 134 h 1189922"/>
              <a:gd name="connsiteX0" fmla="*/ 3800385 w 3915706"/>
              <a:gd name="connsiteY0" fmla="*/ 341521 h 1188181"/>
              <a:gd name="connsiteX1" fmla="*/ 3215169 w 3915706"/>
              <a:gd name="connsiteY1" fmla="*/ 134257 h 1188181"/>
              <a:gd name="connsiteX2" fmla="*/ 289089 w 3915706"/>
              <a:gd name="connsiteY2" fmla="*/ 341521 h 1188181"/>
              <a:gd name="connsiteX3" fmla="*/ 496353 w 3915706"/>
              <a:gd name="connsiteY3" fmla="*/ 1170577 h 1188181"/>
              <a:gd name="connsiteX4" fmla="*/ 3727233 w 3915706"/>
              <a:gd name="connsiteY4" fmla="*/ 926737 h 1188181"/>
              <a:gd name="connsiteX5" fmla="*/ 3505090 w 3915706"/>
              <a:gd name="connsiteY5" fmla="*/ 1159211 h 1188181"/>
              <a:gd name="connsiteX6" fmla="*/ 3751617 w 3915706"/>
              <a:gd name="connsiteY6" fmla="*/ 609745 h 1188181"/>
              <a:gd name="connsiteX7" fmla="*/ 2873793 w 3915706"/>
              <a:gd name="connsiteY7" fmla="*/ 145 h 1188181"/>
              <a:gd name="connsiteX0" fmla="*/ 3788921 w 3788921"/>
              <a:gd name="connsiteY0" fmla="*/ 341521 h 1252753"/>
              <a:gd name="connsiteX1" fmla="*/ 3203705 w 3788921"/>
              <a:gd name="connsiteY1" fmla="*/ 134257 h 1252753"/>
              <a:gd name="connsiteX2" fmla="*/ 277625 w 3788921"/>
              <a:gd name="connsiteY2" fmla="*/ 341521 h 1252753"/>
              <a:gd name="connsiteX3" fmla="*/ 484889 w 3788921"/>
              <a:gd name="connsiteY3" fmla="*/ 1170577 h 1252753"/>
              <a:gd name="connsiteX4" fmla="*/ 3493626 w 3788921"/>
              <a:gd name="connsiteY4" fmla="*/ 1159211 h 1252753"/>
              <a:gd name="connsiteX5" fmla="*/ 3740153 w 3788921"/>
              <a:gd name="connsiteY5" fmla="*/ 609745 h 1252753"/>
              <a:gd name="connsiteX6" fmla="*/ 2862329 w 3788921"/>
              <a:gd name="connsiteY6" fmla="*/ 145 h 1252753"/>
              <a:gd name="connsiteX0" fmla="*/ 3787613 w 3787613"/>
              <a:gd name="connsiteY0" fmla="*/ 341519 h 1233622"/>
              <a:gd name="connsiteX1" fmla="*/ 3202397 w 3787613"/>
              <a:gd name="connsiteY1" fmla="*/ 134255 h 1233622"/>
              <a:gd name="connsiteX2" fmla="*/ 276317 w 3787613"/>
              <a:gd name="connsiteY2" fmla="*/ 341519 h 1233622"/>
              <a:gd name="connsiteX3" fmla="*/ 483581 w 3787613"/>
              <a:gd name="connsiteY3" fmla="*/ 1170575 h 1233622"/>
              <a:gd name="connsiteX4" fmla="*/ 3466488 w 3787613"/>
              <a:gd name="connsiteY4" fmla="*/ 1112714 h 1233622"/>
              <a:gd name="connsiteX5" fmla="*/ 3738845 w 3787613"/>
              <a:gd name="connsiteY5" fmla="*/ 609743 h 1233622"/>
              <a:gd name="connsiteX6" fmla="*/ 2861021 w 3787613"/>
              <a:gd name="connsiteY6" fmla="*/ 143 h 1233622"/>
              <a:gd name="connsiteX0" fmla="*/ 3787613 w 3787613"/>
              <a:gd name="connsiteY0" fmla="*/ 341519 h 1233622"/>
              <a:gd name="connsiteX1" fmla="*/ 3202397 w 3787613"/>
              <a:gd name="connsiteY1" fmla="*/ 134255 h 1233622"/>
              <a:gd name="connsiteX2" fmla="*/ 276317 w 3787613"/>
              <a:gd name="connsiteY2" fmla="*/ 341519 h 1233622"/>
              <a:gd name="connsiteX3" fmla="*/ 483581 w 3787613"/>
              <a:gd name="connsiteY3" fmla="*/ 1170575 h 1233622"/>
              <a:gd name="connsiteX4" fmla="*/ 3466488 w 3787613"/>
              <a:gd name="connsiteY4" fmla="*/ 1112714 h 1233622"/>
              <a:gd name="connsiteX5" fmla="*/ 3738845 w 3787613"/>
              <a:gd name="connsiteY5" fmla="*/ 609743 h 1233622"/>
              <a:gd name="connsiteX6" fmla="*/ 2861021 w 3787613"/>
              <a:gd name="connsiteY6" fmla="*/ 143 h 1233622"/>
              <a:gd name="connsiteX0" fmla="*/ 3778863 w 3778863"/>
              <a:gd name="connsiteY0" fmla="*/ 341519 h 1233622"/>
              <a:gd name="connsiteX1" fmla="*/ 3193647 w 3778863"/>
              <a:gd name="connsiteY1" fmla="*/ 134255 h 1233622"/>
              <a:gd name="connsiteX2" fmla="*/ 267567 w 3778863"/>
              <a:gd name="connsiteY2" fmla="*/ 341519 h 1233622"/>
              <a:gd name="connsiteX3" fmla="*/ 474831 w 3778863"/>
              <a:gd name="connsiteY3" fmla="*/ 1170575 h 1233622"/>
              <a:gd name="connsiteX4" fmla="*/ 3282090 w 3778863"/>
              <a:gd name="connsiteY4" fmla="*/ 1112714 h 1233622"/>
              <a:gd name="connsiteX5" fmla="*/ 3730095 w 3778863"/>
              <a:gd name="connsiteY5" fmla="*/ 609743 h 1233622"/>
              <a:gd name="connsiteX6" fmla="*/ 2852271 w 3778863"/>
              <a:gd name="connsiteY6" fmla="*/ 143 h 1233622"/>
              <a:gd name="connsiteX0" fmla="*/ 3776086 w 3776086"/>
              <a:gd name="connsiteY0" fmla="*/ 341517 h 1223472"/>
              <a:gd name="connsiteX1" fmla="*/ 3190870 w 3776086"/>
              <a:gd name="connsiteY1" fmla="*/ 134253 h 1223472"/>
              <a:gd name="connsiteX2" fmla="*/ 264790 w 3776086"/>
              <a:gd name="connsiteY2" fmla="*/ 341517 h 1223472"/>
              <a:gd name="connsiteX3" fmla="*/ 472054 w 3776086"/>
              <a:gd name="connsiteY3" fmla="*/ 1170573 h 1223472"/>
              <a:gd name="connsiteX4" fmla="*/ 3222486 w 3776086"/>
              <a:gd name="connsiteY4" fmla="*/ 1081715 h 1223472"/>
              <a:gd name="connsiteX5" fmla="*/ 3727318 w 3776086"/>
              <a:gd name="connsiteY5" fmla="*/ 609741 h 1223472"/>
              <a:gd name="connsiteX6" fmla="*/ 2849494 w 3776086"/>
              <a:gd name="connsiteY6" fmla="*/ 141 h 122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76086" h="1223472">
                <a:moveTo>
                  <a:pt x="3776086" y="341517"/>
                </a:moveTo>
                <a:cubicBezTo>
                  <a:pt x="3776086" y="237885"/>
                  <a:pt x="3776086" y="134253"/>
                  <a:pt x="3190870" y="134253"/>
                </a:cubicBezTo>
                <a:cubicBezTo>
                  <a:pt x="2605654" y="134253"/>
                  <a:pt x="717926" y="168797"/>
                  <a:pt x="264790" y="341517"/>
                </a:cubicBezTo>
                <a:cubicBezTo>
                  <a:pt x="-188346" y="514237"/>
                  <a:pt x="-20895" y="1047207"/>
                  <a:pt x="472054" y="1170573"/>
                </a:cubicBezTo>
                <a:cubicBezTo>
                  <a:pt x="965003" y="1293939"/>
                  <a:pt x="2679942" y="1175187"/>
                  <a:pt x="3222486" y="1081715"/>
                </a:cubicBezTo>
                <a:cubicBezTo>
                  <a:pt x="3222486" y="1081715"/>
                  <a:pt x="3789483" y="790003"/>
                  <a:pt x="3727318" y="609741"/>
                </a:cubicBezTo>
                <a:cubicBezTo>
                  <a:pt x="3665153" y="429479"/>
                  <a:pt x="2634102" y="-9003"/>
                  <a:pt x="2849494" y="141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6690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2E5A-73EC-42EB-9D31-BB275E95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Variance?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6EB0-E1B4-4D7F-89A1-B85F51DCD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dirty="0"/>
              <a:t>Data from USDA genomic evaluation</a:t>
            </a:r>
          </a:p>
          <a:p>
            <a:pPr lvl="1"/>
            <a:r>
              <a:rPr lang="en-GB" sz="2000" dirty="0"/>
              <a:t>net dairy merit</a:t>
            </a:r>
            <a:endParaRPr lang="en-GB" sz="1600" dirty="0"/>
          </a:p>
          <a:p>
            <a:r>
              <a:rPr lang="en-GB" sz="2400" dirty="0"/>
              <a:t>Daetwyler et al predict</a:t>
            </a:r>
          </a:p>
          <a:p>
            <a:pPr marL="0" indent="0">
              <a:buNone/>
            </a:pPr>
            <a:endParaRPr lang="en-GB" sz="2400" dirty="0"/>
          </a:p>
          <a:p>
            <a:pPr lvl="1" indent="-342900"/>
            <a:endParaRPr lang="en-GB" sz="2000" dirty="0"/>
          </a:p>
          <a:p>
            <a:pPr lvl="1" indent="-342900"/>
            <a:r>
              <a:rPr lang="en-GB" dirty="0"/>
              <a:t>i.e. a straight line</a:t>
            </a:r>
          </a:p>
          <a:p>
            <a:pPr lvl="1" indent="-342900"/>
            <a:r>
              <a:rPr lang="en-GB" dirty="0"/>
              <a:t>           called ‘reliability’</a:t>
            </a:r>
          </a:p>
          <a:p>
            <a:pPr lvl="1" indent="-342900"/>
            <a:r>
              <a:rPr lang="en-GB" dirty="0"/>
              <a:t>‘</a:t>
            </a:r>
            <a:r>
              <a:rPr lang="el-GR" dirty="0"/>
              <a:t>α</a:t>
            </a:r>
            <a:r>
              <a:rPr lang="en-GB" dirty="0"/>
              <a:t>’ is 1/’fraction V</a:t>
            </a:r>
            <a:r>
              <a:rPr lang="en-GB" baseline="-25000" dirty="0"/>
              <a:t>g </a:t>
            </a:r>
            <a:r>
              <a:rPr lang="en-GB" dirty="0"/>
              <a:t>captured’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2928-A9A6-41F3-B4F7-76BFCCA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DC2E-9C81-4589-A73A-A3C88CAF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B29AE16-9FE0-46D2-91D3-250924BDE3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B5C56C0-12B7-4CCB-AEE3-A226A4BED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000" y="1260000"/>
          <a:ext cx="5249932" cy="47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3" name="Chart" r:id="rId3" imgW="3219450" imgH="2914650" progId="Excel.Chart.8">
                  <p:embed/>
                </p:oleObj>
              </mc:Choice>
              <mc:Fallback>
                <p:oleObj name="Chart" r:id="rId3" imgW="3219450" imgH="2914650" progId="Excel.Chart.8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B5C56C0-12B7-4CCB-AEE3-A226A4BEDF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000" y="1260000"/>
                        <a:ext cx="5249932" cy="475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9D183738-3D1E-459B-AC17-F67B8B258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9496" y="2565722"/>
          <a:ext cx="29225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name="Equation" r:id="rId5" imgW="1473120" imgH="253800" progId="Equation.DSMT4">
                  <p:embed/>
                </p:oleObj>
              </mc:Choice>
              <mc:Fallback>
                <p:oleObj name="Equation" r:id="rId5" imgW="1473120" imgH="2538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9D183738-3D1E-459B-AC17-F67B8B258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59496" y="2565722"/>
                        <a:ext cx="2922588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FDD27E72-F72A-4D34-A5E9-882C5262EF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688" y="3644900"/>
          <a:ext cx="8636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name="Equation" r:id="rId7" imgW="393480" imgH="253800" progId="Equation.DSMT4">
                  <p:embed/>
                </p:oleObj>
              </mc:Choice>
              <mc:Fallback>
                <p:oleObj name="Equation" r:id="rId7" imgW="393480" imgH="2538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FDD27E72-F72A-4D34-A5E9-882C5262E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55688" y="3644900"/>
                        <a:ext cx="8636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08643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2E5A-73EC-42EB-9D31-BB275E95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Variance?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6EB0-E1B4-4D7F-89A1-B85F51DCD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dirty="0"/>
              <a:t>Data from USDA genomic evaluation</a:t>
            </a:r>
          </a:p>
          <a:p>
            <a:pPr lvl="1"/>
            <a:r>
              <a:rPr lang="en-GB" sz="2000" dirty="0"/>
              <a:t>net dairy merit</a:t>
            </a:r>
            <a:endParaRPr lang="en-GB" sz="1600" dirty="0"/>
          </a:p>
          <a:p>
            <a:r>
              <a:rPr lang="en-GB" sz="2400" dirty="0"/>
              <a:t>Daetwyler et al predict</a:t>
            </a:r>
          </a:p>
          <a:p>
            <a:pPr marL="0" indent="0">
              <a:buNone/>
            </a:pPr>
            <a:endParaRPr lang="en-GB" sz="2400" dirty="0"/>
          </a:p>
          <a:p>
            <a:pPr lvl="1" indent="-342900"/>
            <a:endParaRPr lang="en-GB" sz="2000" dirty="0"/>
          </a:p>
          <a:p>
            <a:pPr lvl="1" indent="-342900"/>
            <a:r>
              <a:rPr lang="en-GB" dirty="0"/>
              <a:t>i.e. a straight line</a:t>
            </a:r>
          </a:p>
          <a:p>
            <a:pPr lvl="1" indent="-342900"/>
            <a:r>
              <a:rPr lang="en-GB" dirty="0"/>
              <a:t>           called ‘reliability’</a:t>
            </a:r>
          </a:p>
          <a:p>
            <a:pPr lvl="1" indent="-342900"/>
            <a:r>
              <a:rPr lang="en-GB" dirty="0"/>
              <a:t>‘</a:t>
            </a:r>
            <a:r>
              <a:rPr lang="el-GR" dirty="0"/>
              <a:t>α</a:t>
            </a:r>
            <a:r>
              <a:rPr lang="en-GB" dirty="0"/>
              <a:t>’ is 1/’fraction V</a:t>
            </a:r>
            <a:r>
              <a:rPr lang="en-GB" baseline="-25000" dirty="0"/>
              <a:t>g </a:t>
            </a:r>
            <a:r>
              <a:rPr lang="en-GB" dirty="0"/>
              <a:t>captured’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2928-A9A6-41F3-B4F7-76BFCCA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DC2E-9C81-4589-A73A-A3C88CAF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B29AE16-9FE0-46D2-91D3-250924BDE3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B5C56C0-12B7-4CCB-AEE3-A226A4BED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000" y="1260000"/>
          <a:ext cx="5249932" cy="47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6" name="Chart" r:id="rId3" imgW="3219450" imgH="2914650" progId="Excel.Chart.8">
                  <p:embed/>
                </p:oleObj>
              </mc:Choice>
              <mc:Fallback>
                <p:oleObj name="Chart" r:id="rId3" imgW="3219450" imgH="2914650" progId="Excel.Chart.8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B5C56C0-12B7-4CCB-AEE3-A226A4BEDF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000" y="1260000"/>
                        <a:ext cx="5249932" cy="475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9D183738-3D1E-459B-AC17-F67B8B258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9496" y="2565722"/>
          <a:ext cx="29225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7" name="Equation" r:id="rId5" imgW="1473120" imgH="253800" progId="Equation.DSMT4">
                  <p:embed/>
                </p:oleObj>
              </mc:Choice>
              <mc:Fallback>
                <p:oleObj name="Equation" r:id="rId5" imgW="1473120" imgH="2538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9D183738-3D1E-459B-AC17-F67B8B258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59496" y="2565722"/>
                        <a:ext cx="2922588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FDD27E72-F72A-4D34-A5E9-882C5262EF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688" y="3644900"/>
          <a:ext cx="8636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8" name="Equation" r:id="rId7" imgW="393480" imgH="253800" progId="Equation.DSMT4">
                  <p:embed/>
                </p:oleObj>
              </mc:Choice>
              <mc:Fallback>
                <p:oleObj name="Equation" r:id="rId7" imgW="393480" imgH="2538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FDD27E72-F72A-4D34-A5E9-882C5262E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55688" y="3644900"/>
                        <a:ext cx="863600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99C527F-B4A9-4435-B147-AF21E85D7D25}"/>
              </a:ext>
            </a:extLst>
          </p:cNvPr>
          <p:cNvSpPr txBox="1"/>
          <p:nvPr/>
        </p:nvSpPr>
        <p:spPr>
          <a:xfrm>
            <a:off x="2207568" y="5013176"/>
            <a:ext cx="3426645" cy="100642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lvl="1" algn="ctr">
              <a:lnSpc>
                <a:spcPct val="90000"/>
              </a:lnSpc>
            </a:pPr>
            <a:endParaRPr lang="en-GB" dirty="0"/>
          </a:p>
          <a:p>
            <a:pPr algn="ctr">
              <a:lnSpc>
                <a:spcPct val="90000"/>
              </a:lnSpc>
            </a:pPr>
            <a:endParaRPr lang="en-GB" sz="1400" dirty="0"/>
          </a:p>
          <a:p>
            <a:pPr algn="ctr">
              <a:lnSpc>
                <a:spcPct val="90000"/>
              </a:lnSpc>
            </a:pPr>
            <a:endParaRPr lang="en-GB" sz="1400" dirty="0"/>
          </a:p>
          <a:p>
            <a:pPr algn="ctr">
              <a:lnSpc>
                <a:spcPct val="90000"/>
              </a:lnSpc>
            </a:pPr>
            <a:r>
              <a:rPr lang="en-GB" sz="2000" dirty="0"/>
              <a:t>Daetwyler </a:t>
            </a:r>
            <a:r>
              <a:rPr lang="en-GB" sz="2000" i="1" dirty="0"/>
              <a:t>et al.</a:t>
            </a:r>
            <a:r>
              <a:rPr lang="en-GB" sz="2000" dirty="0"/>
              <a:t> 2008, 2010 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89AB07EA-5352-4B6C-A6E7-E18552B64C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9656" y="5157960"/>
          <a:ext cx="2110594" cy="5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9" name="Equation" r:id="rId9" imgW="1117440" imgH="266400" progId="Equation.DSMT4">
                  <p:embed/>
                </p:oleObj>
              </mc:Choice>
              <mc:Fallback>
                <p:oleObj name="Equation" r:id="rId9" imgW="1117440" imgH="2664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89AB07EA-5352-4B6C-A6E7-E18552B64C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9656" y="5157960"/>
                        <a:ext cx="2110594" cy="50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08347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2E5A-73EC-42EB-9D31-BB275E95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Variance?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6EB0-E1B4-4D7F-89A1-B85F51DCD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dirty="0"/>
              <a:t>Data from USDA genomic evaluation</a:t>
            </a:r>
          </a:p>
          <a:p>
            <a:pPr lvl="1"/>
            <a:r>
              <a:rPr lang="en-GB" sz="2000" dirty="0"/>
              <a:t>net dairy merit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Intercept 1.244 </a:t>
            </a:r>
          </a:p>
          <a:p>
            <a:pPr lvl="1"/>
            <a:r>
              <a:rPr lang="en-GB" sz="2000" dirty="0"/>
              <a:t>s.e. 0.053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Estimated ultimate         = 0.80</a:t>
            </a:r>
          </a:p>
          <a:p>
            <a:pPr lvl="1"/>
            <a:r>
              <a:rPr lang="en-GB" sz="2000" dirty="0"/>
              <a:t>s.e. 0.034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2928-A9A6-41F3-B4F7-76BFCCA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DC2E-9C81-4589-A73A-A3C88CAF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B29AE16-9FE0-46D2-91D3-250924BDE3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B5C56C0-12B7-4CCB-AEE3-A226A4BED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000" y="1260000"/>
          <a:ext cx="5249932" cy="47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1" name="Chart" r:id="rId3" imgW="3219450" imgH="2914650" progId="Excel.Chart.8">
                  <p:embed/>
                </p:oleObj>
              </mc:Choice>
              <mc:Fallback>
                <p:oleObj name="Chart" r:id="rId3" imgW="3219450" imgH="2914650" progId="Excel.Chart.8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B5C56C0-12B7-4CCB-AEE3-A226A4BEDF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000" y="1260000"/>
                        <a:ext cx="5249932" cy="475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9D183738-3D1E-459B-AC17-F67B8B258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9496" y="2204864"/>
          <a:ext cx="29225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2" name="Equation" r:id="rId5" imgW="1473120" imgH="253800" progId="Equation.DSMT4">
                  <p:embed/>
                </p:oleObj>
              </mc:Choice>
              <mc:Fallback>
                <p:oleObj name="Equation" r:id="rId5" imgW="1473120" imgH="2538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9D183738-3D1E-459B-AC17-F67B8B258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59496" y="2204864"/>
                        <a:ext cx="2922588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FDD27E72-F72A-4D34-A5E9-882C5262EF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688" y="4077072"/>
          <a:ext cx="6127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3" name="Equation" r:id="rId7" imgW="279360" imgH="253800" progId="Equation.DSMT4">
                  <p:embed/>
                </p:oleObj>
              </mc:Choice>
              <mc:Fallback>
                <p:oleObj name="Equation" r:id="rId7" imgW="279360" imgH="2538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FDD27E72-F72A-4D34-A5E9-882C5262E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87688" y="4077072"/>
                        <a:ext cx="612775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76948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2E5A-73EC-42EB-9D31-BB275E95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Variance?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6EB0-E1B4-4D7F-89A1-B85F51DCD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dirty="0"/>
              <a:t>Data from USDA genomic evaluations</a:t>
            </a:r>
          </a:p>
          <a:p>
            <a:pPr lvl="1"/>
            <a:r>
              <a:rPr lang="en-GB" sz="2000" dirty="0"/>
              <a:t>net dairy merit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Max accuracy ~ 0.9</a:t>
            </a:r>
          </a:p>
          <a:p>
            <a:pPr lvl="1"/>
            <a:r>
              <a:rPr lang="en-GB" dirty="0"/>
              <a:t>up to 0.93</a:t>
            </a:r>
          </a:p>
          <a:p>
            <a:endParaRPr lang="en-GB" sz="2400" dirty="0"/>
          </a:p>
          <a:p>
            <a:r>
              <a:rPr lang="en-GB" sz="2400" dirty="0"/>
              <a:t>Attribute of a chip</a:t>
            </a:r>
          </a:p>
          <a:p>
            <a:pPr lvl="1"/>
            <a:r>
              <a:rPr lang="en-GB" dirty="0"/>
              <a:t>expectation for a trait</a:t>
            </a:r>
          </a:p>
          <a:p>
            <a:pPr lvl="1"/>
            <a:r>
              <a:rPr lang="en-GB" dirty="0"/>
              <a:t>traits will vary </a:t>
            </a:r>
          </a:p>
          <a:p>
            <a:pPr lvl="2"/>
            <a:r>
              <a:rPr lang="en-GB" dirty="0"/>
              <a:t>e.g. if trait  1SNP </a:t>
            </a:r>
            <a:r>
              <a:rPr lang="en-GB" u="sng" dirty="0"/>
              <a:t>on chip</a:t>
            </a:r>
            <a:r>
              <a:rPr lang="en-GB" dirty="0"/>
              <a:t>, r = 1</a:t>
            </a:r>
          </a:p>
          <a:p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2928-A9A6-41F3-B4F7-76BFCCA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DC2E-9C81-4589-A73A-A3C88CAF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graphicFrame>
        <p:nvGraphicFramePr>
          <p:cNvPr id="7" name="Object 50">
            <a:extLst>
              <a:ext uri="{FF2B5EF4-FFF2-40B4-BE49-F238E27FC236}">
                <a16:creationId xmlns:a16="http://schemas.microsoft.com/office/drawing/2014/main" id="{E7753435-F227-4512-8A09-BE4E07EA257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300000" y="1260000"/>
          <a:ext cx="5245200" cy="475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7" name="Chart" r:id="rId3" imgW="2867025" imgH="2914650" progId="Excel.Chart.8">
                  <p:embed/>
                </p:oleObj>
              </mc:Choice>
              <mc:Fallback>
                <p:oleObj name="Chart" r:id="rId3" imgW="2867025" imgH="2914650" progId="Excel.Chart.8">
                  <p:embed/>
                  <p:pic>
                    <p:nvPicPr>
                      <p:cNvPr id="7" name="Object 50">
                        <a:extLst>
                          <a:ext uri="{FF2B5EF4-FFF2-40B4-BE49-F238E27FC236}">
                            <a16:creationId xmlns:a16="http://schemas.microsoft.com/office/drawing/2014/main" id="{E7753435-F227-4512-8A09-BE4E07EA2572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000" y="1260000"/>
                        <a:ext cx="5245200" cy="4752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6">
            <a:extLst>
              <a:ext uri="{FF2B5EF4-FFF2-40B4-BE49-F238E27FC236}">
                <a16:creationId xmlns:a16="http://schemas.microsoft.com/office/drawing/2014/main" id="{F7CAE4DC-3F20-4B13-BA34-6CF37F7C1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0136" y="1988840"/>
            <a:ext cx="38164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86551A2D-416E-4409-BF7D-5654BA5B9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000" y="1984255"/>
            <a:ext cx="1020136" cy="458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305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3E07FE9-3A3D-46CD-8681-68CC09D7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GB" sz="2800" dirty="0"/>
              <a:t>Left-most 13 points,</a:t>
            </a:r>
          </a:p>
          <a:p>
            <a:pPr marL="857250" lvl="1" indent="-457200"/>
            <a:r>
              <a:rPr lang="en-GB" sz="2400" dirty="0"/>
              <a:t>avoid influence extreme right</a:t>
            </a:r>
          </a:p>
          <a:p>
            <a:pPr marL="457200" indent="-457200"/>
            <a:r>
              <a:rPr lang="en-GB" sz="2800" dirty="0"/>
              <a:t>Straight line is a good fit</a:t>
            </a:r>
          </a:p>
          <a:p>
            <a:pPr marL="457200" indent="-457200"/>
            <a:r>
              <a:rPr lang="en-GB" sz="2800" dirty="0"/>
              <a:t>Intercept 1.30</a:t>
            </a:r>
          </a:p>
          <a:p>
            <a:pPr marL="857250" lvl="1" indent="-457200"/>
            <a:r>
              <a:rPr lang="en-GB" sz="2400" dirty="0"/>
              <a:t>max accuracy =1/√1.3 ~ 0.88</a:t>
            </a:r>
          </a:p>
          <a:p>
            <a:pPr marL="457200" indent="-457200"/>
            <a:r>
              <a:rPr lang="en-GB" sz="2800" dirty="0"/>
              <a:t>Issues?</a:t>
            </a:r>
          </a:p>
          <a:p>
            <a:pPr marL="457200" indent="-457200"/>
            <a:endParaRPr lang="en-GB" sz="28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B04CE59-5EC2-437C-BC2B-5412311E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Canela-Xandri</a:t>
            </a:r>
            <a:r>
              <a:rPr lang="en-GB" dirty="0"/>
              <a:t> Simulations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E0000-5523-4030-98FA-CB78ECFA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BC40F9-18F9-4C70-86C1-AB280808497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554" t="1191" r="1599" b="305"/>
          <a:stretch/>
        </p:blipFill>
        <p:spPr>
          <a:xfrm>
            <a:off x="5303912" y="1833736"/>
            <a:ext cx="6552728" cy="425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110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6E6576-218F-4E86-9484-1215C0A9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410" y="1268760"/>
            <a:ext cx="6236975" cy="3746336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3E07FE9-3A3D-46CD-8681-68CC09D7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Left-most 13 points,</a:t>
            </a:r>
          </a:p>
          <a:p>
            <a:pPr marL="857250" lvl="1" indent="-457200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avoid influence extreme right</a:t>
            </a:r>
          </a:p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Straight line is a good fit</a:t>
            </a:r>
          </a:p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Intercept 1.30</a:t>
            </a:r>
          </a:p>
          <a:p>
            <a:pPr marL="857250" lvl="1" indent="-457200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max accuracy =1/√1.3 ~ 0.88</a:t>
            </a:r>
          </a:p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Issues?</a:t>
            </a:r>
          </a:p>
          <a:p>
            <a:pPr marL="457200" indent="-457200"/>
            <a:endParaRPr lang="en-GB" sz="28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B04CE59-5EC2-437C-BC2B-5412311E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Canela-Xandri</a:t>
            </a:r>
            <a:r>
              <a:rPr lang="en-GB" dirty="0"/>
              <a:t> Simulations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E0000-5523-4030-98FA-CB78ECFA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7C0987-618D-4F8D-956B-8EAC38F41D6A}"/>
              </a:ext>
            </a:extLst>
          </p:cNvPr>
          <p:cNvCxnSpPr/>
          <p:nvPr/>
        </p:nvCxnSpPr>
        <p:spPr>
          <a:xfrm>
            <a:off x="5402639" y="1543893"/>
            <a:ext cx="67032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1BC40F9-18F9-4C70-86C1-AB28080849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l="554" t="1191" r="1599" b="305"/>
          <a:stretch/>
        </p:blipFill>
        <p:spPr>
          <a:xfrm>
            <a:off x="983432" y="3652591"/>
            <a:ext cx="4232801" cy="27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706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6E6576-218F-4E86-9484-1215C0A9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410" y="1268760"/>
            <a:ext cx="6236975" cy="3746336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3E07FE9-3A3D-46CD-8681-68CC09D7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Left-most 13 points,</a:t>
            </a:r>
          </a:p>
          <a:p>
            <a:pPr marL="857250" lvl="1" indent="-457200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avoid influence extreme right</a:t>
            </a:r>
          </a:p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Straight line is a good fit</a:t>
            </a:r>
          </a:p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Intercept 1.30</a:t>
            </a:r>
          </a:p>
          <a:p>
            <a:pPr marL="857250" lvl="1" indent="-457200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max accuracy =1/√1.3 ~ 0.88</a:t>
            </a:r>
          </a:p>
          <a:p>
            <a:pPr marL="457200" indent="-457200"/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Issues?</a:t>
            </a:r>
          </a:p>
          <a:p>
            <a:pPr marL="457200" indent="-457200"/>
            <a:endParaRPr lang="en-GB" sz="28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B04CE59-5EC2-437C-BC2B-5412311E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Canela-Xandri</a:t>
            </a:r>
            <a:r>
              <a:rPr lang="en-GB" dirty="0"/>
              <a:t> Simulations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E0000-5523-4030-98FA-CB78ECFA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7C0987-618D-4F8D-956B-8EAC38F41D6A}"/>
              </a:ext>
            </a:extLst>
          </p:cNvPr>
          <p:cNvCxnSpPr/>
          <p:nvPr/>
        </p:nvCxnSpPr>
        <p:spPr>
          <a:xfrm>
            <a:off x="5402639" y="1543893"/>
            <a:ext cx="67032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1BC40F9-18F9-4C70-86C1-AB28080849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l="554" t="1191" r="1599" b="305"/>
          <a:stretch/>
        </p:blipFill>
        <p:spPr>
          <a:xfrm>
            <a:off x="983432" y="3652591"/>
            <a:ext cx="4232801" cy="27515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68FEE9-ECED-4F89-B429-1E9CA0011069}"/>
              </a:ext>
            </a:extLst>
          </p:cNvPr>
          <p:cNvSpPr txBox="1"/>
          <p:nvPr/>
        </p:nvSpPr>
        <p:spPr>
          <a:xfrm>
            <a:off x="7320136" y="5290229"/>
            <a:ext cx="3456384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The earlier fit is affected by the assumption of max accuracy =1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9F5980-8DBD-4A86-ACFC-651962417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0" y="2563604"/>
            <a:ext cx="4437738" cy="266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12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Marker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extreme 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10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575623" y="3563726"/>
            <a:ext cx="216024" cy="661555"/>
            <a:chOff x="1844413" y="1831341"/>
            <a:chExt cx="216024" cy="661555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2051720" y="2132856"/>
              <a:ext cx="0" cy="360040"/>
            </a:xfrm>
            <a:prstGeom prst="line">
              <a:avLst/>
            </a:prstGeom>
            <a:ln w="381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844413" y="1831341"/>
              <a:ext cx="2160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000099"/>
                  </a:solidFill>
                </a:rPr>
                <a:t>Q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34780" y="3559246"/>
            <a:ext cx="216024" cy="661555"/>
            <a:chOff x="1844413" y="1831341"/>
            <a:chExt cx="216024" cy="66155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51720" y="2132856"/>
              <a:ext cx="0" cy="360040"/>
            </a:xfrm>
            <a:prstGeom prst="line">
              <a:avLst/>
            </a:prstGeom>
            <a:ln w="381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844413" y="1831341"/>
              <a:ext cx="2160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000099"/>
                  </a:solidFill>
                </a:rPr>
                <a:t>Q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129782" y="4927686"/>
            <a:ext cx="2534171" cy="661555"/>
            <a:chOff x="1605781" y="4927685"/>
            <a:chExt cx="2534171" cy="661555"/>
          </a:xfrm>
        </p:grpSpPr>
        <p:grpSp>
          <p:nvGrpSpPr>
            <p:cNvPr id="13" name="Group 12"/>
            <p:cNvGrpSpPr/>
            <p:nvPr/>
          </p:nvGrpSpPr>
          <p:grpSpPr>
            <a:xfrm>
              <a:off x="1619672" y="5364544"/>
              <a:ext cx="2520280" cy="152400"/>
              <a:chOff x="1691680" y="5004792"/>
              <a:chExt cx="2520280" cy="152400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1691680" y="500479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1691680" y="515719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>
              <a:off x="1605781" y="4927685"/>
              <a:ext cx="216024" cy="661555"/>
              <a:chOff x="1844413" y="1831341"/>
              <a:chExt cx="216024" cy="661555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764110" y="4927685"/>
              <a:ext cx="216024" cy="661555"/>
              <a:chOff x="1844413" y="1831341"/>
              <a:chExt cx="216024" cy="661555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2331035" y="4927685"/>
              <a:ext cx="216024" cy="661555"/>
              <a:chOff x="1844413" y="1831341"/>
              <a:chExt cx="216024" cy="661555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072862" y="2191093"/>
            <a:ext cx="2591090" cy="1003698"/>
            <a:chOff x="1548862" y="2191093"/>
            <a:chExt cx="2591090" cy="1003698"/>
          </a:xfrm>
        </p:grpSpPr>
        <p:grpSp>
          <p:nvGrpSpPr>
            <p:cNvPr id="15" name="Group 14"/>
            <p:cNvGrpSpPr/>
            <p:nvPr/>
          </p:nvGrpSpPr>
          <p:grpSpPr>
            <a:xfrm>
              <a:off x="1619672" y="2636624"/>
              <a:ext cx="2520280" cy="152400"/>
              <a:chOff x="1691680" y="2276872"/>
              <a:chExt cx="2520280" cy="1524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>
                <a:off x="1691680" y="227687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2429272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1772405" y="2191093"/>
              <a:ext cx="216024" cy="661555"/>
              <a:chOff x="1844413" y="1831341"/>
              <a:chExt cx="216024" cy="66155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2123728" y="2191093"/>
              <a:ext cx="216024" cy="661555"/>
              <a:chOff x="1844413" y="1831341"/>
              <a:chExt cx="216024" cy="661555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3347864" y="2191093"/>
              <a:ext cx="216024" cy="661555"/>
              <a:chOff x="1844413" y="1831341"/>
              <a:chExt cx="216024" cy="661555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2051720" y="2132856"/>
                <a:ext cx="0" cy="360040"/>
              </a:xfrm>
              <a:prstGeom prst="line">
                <a:avLst/>
              </a:prstGeom>
              <a:ln w="38100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1844413" y="1831341"/>
                <a:ext cx="2160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0099"/>
                    </a:solidFill>
                  </a:rPr>
                  <a:t>Q</a:t>
                </a: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2051720" y="2568584"/>
              <a:ext cx="216024" cy="626207"/>
              <a:chOff x="3015619" y="2218347"/>
              <a:chExt cx="216024" cy="626207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555776" y="2560425"/>
              <a:ext cx="216024" cy="626207"/>
              <a:chOff x="3015619" y="2218347"/>
              <a:chExt cx="216024" cy="626207"/>
            </a:xfrm>
          </p:grpSpPr>
          <p:cxnSp>
            <p:nvCxnSpPr>
              <p:cNvPr id="48" name="Straight Connector 47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2987824" y="2555847"/>
              <a:ext cx="216024" cy="626207"/>
              <a:chOff x="3015619" y="2218347"/>
              <a:chExt cx="216024" cy="626207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1548862" y="2556732"/>
              <a:ext cx="216024" cy="626207"/>
              <a:chOff x="3015619" y="2218347"/>
              <a:chExt cx="216024" cy="626207"/>
            </a:xfrm>
          </p:grpSpPr>
          <p:cxnSp>
            <p:nvCxnSpPr>
              <p:cNvPr id="57" name="Straight Connector 56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3419872" y="2564616"/>
              <a:ext cx="216024" cy="626207"/>
              <a:chOff x="3015619" y="2218347"/>
              <a:chExt cx="216024" cy="626207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3851920" y="2564616"/>
              <a:ext cx="216024" cy="626207"/>
              <a:chOff x="3015619" y="2218347"/>
              <a:chExt cx="216024" cy="626207"/>
            </a:xfrm>
          </p:grpSpPr>
          <p:cxnSp>
            <p:nvCxnSpPr>
              <p:cNvPr id="63" name="Straight Connector 62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071664" y="3941896"/>
            <a:ext cx="2592288" cy="638944"/>
            <a:chOff x="1547664" y="3941896"/>
            <a:chExt cx="2592288" cy="638944"/>
          </a:xfrm>
        </p:grpSpPr>
        <p:grpSp>
          <p:nvGrpSpPr>
            <p:cNvPr id="14" name="Group 13"/>
            <p:cNvGrpSpPr/>
            <p:nvPr/>
          </p:nvGrpSpPr>
          <p:grpSpPr>
            <a:xfrm>
              <a:off x="1619672" y="4000584"/>
              <a:ext cx="2520280" cy="152400"/>
              <a:chOff x="1691680" y="3636640"/>
              <a:chExt cx="2520280" cy="15240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1691680" y="3636640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691680" y="3789040"/>
                <a:ext cx="25202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2050522" y="3954633"/>
              <a:ext cx="216024" cy="626207"/>
              <a:chOff x="3015619" y="2218347"/>
              <a:chExt cx="216024" cy="626207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2554578" y="3946474"/>
              <a:ext cx="216024" cy="626207"/>
              <a:chOff x="3015619" y="2218347"/>
              <a:chExt cx="216024" cy="626207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2986626" y="3941896"/>
              <a:ext cx="216024" cy="626207"/>
              <a:chOff x="3015619" y="2218347"/>
              <a:chExt cx="216024" cy="626207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1547664" y="3942781"/>
              <a:ext cx="216024" cy="626207"/>
              <a:chOff x="3015619" y="2218347"/>
              <a:chExt cx="216024" cy="626207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3418674" y="3950665"/>
              <a:ext cx="216024" cy="626207"/>
              <a:chOff x="3015619" y="2218347"/>
              <a:chExt cx="216024" cy="626207"/>
            </a:xfrm>
          </p:grpSpPr>
          <p:cxnSp>
            <p:nvCxnSpPr>
              <p:cNvPr id="78" name="Straight Connector 77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3850722" y="3950665"/>
              <a:ext cx="216024" cy="626207"/>
              <a:chOff x="3015619" y="2218347"/>
              <a:chExt cx="216024" cy="626207"/>
            </a:xfrm>
          </p:grpSpPr>
          <p:cxnSp>
            <p:nvCxnSpPr>
              <p:cNvPr id="81" name="Straight Connector 80"/>
              <p:cNvCxnSpPr/>
              <p:nvPr/>
            </p:nvCxnSpPr>
            <p:spPr>
              <a:xfrm>
                <a:off x="3195131" y="2218347"/>
                <a:ext cx="0" cy="3600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/>
              <p:cNvSpPr txBox="1"/>
              <p:nvPr/>
            </p:nvSpPr>
            <p:spPr>
              <a:xfrm>
                <a:off x="3015619" y="247522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00000"/>
                    </a:solidFill>
                  </a:rPr>
                  <a:t>M</a:t>
                </a:r>
              </a:p>
            </p:txBody>
          </p:sp>
        </p:grpSp>
      </p:grpSp>
      <p:sp>
        <p:nvSpPr>
          <p:cNvPr id="83" name="Right Brace 82"/>
          <p:cNvSpPr/>
          <p:nvPr/>
        </p:nvSpPr>
        <p:spPr>
          <a:xfrm>
            <a:off x="6167409" y="2191094"/>
            <a:ext cx="216024" cy="238577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/>
          <p:cNvSpPr txBox="1"/>
          <p:nvPr/>
        </p:nvSpPr>
        <p:spPr>
          <a:xfrm>
            <a:off x="6610749" y="3048824"/>
            <a:ext cx="2503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‘Marker accessible’ variation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0056" y="5086926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Markers cannot capture this variation by linkage</a:t>
            </a:r>
          </a:p>
        </p:txBody>
      </p:sp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36BD772F-5FE8-4091-ABCD-A082899FA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8008" y="1233036"/>
          <a:ext cx="15478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2"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86" name="Object 85">
                        <a:extLst>
                          <a:ext uri="{FF2B5EF4-FFF2-40B4-BE49-F238E27FC236}">
                            <a16:creationId xmlns:a16="http://schemas.microsoft.com/office/drawing/2014/main" id="{36BD772F-5FE8-4091-ABCD-A082899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8" y="1233036"/>
                        <a:ext cx="1547812" cy="611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F636156B-798E-4A9E-9E88-0291A7F86233}"/>
              </a:ext>
            </a:extLst>
          </p:cNvPr>
          <p:cNvGrpSpPr/>
          <p:nvPr/>
        </p:nvGrpSpPr>
        <p:grpSpPr>
          <a:xfrm>
            <a:off x="2819039" y="2307943"/>
            <a:ext cx="7128787" cy="962161"/>
            <a:chOff x="1331645" y="3573016"/>
            <a:chExt cx="7128787" cy="96216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F28CDC0-2F78-4278-91D5-AFEB00B30900}"/>
                </a:ext>
              </a:extLst>
            </p:cNvPr>
            <p:cNvSpPr/>
            <p:nvPr/>
          </p:nvSpPr>
          <p:spPr>
            <a:xfrm>
              <a:off x="1331645" y="3573016"/>
              <a:ext cx="7128787" cy="96216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b="1" dirty="0"/>
                <a:t>We assume             is high!</a:t>
              </a:r>
              <a:r>
                <a:rPr lang="en-GB" dirty="0"/>
                <a:t> </a:t>
              </a:r>
            </a:p>
          </p:txBody>
        </p:sp>
        <p:graphicFrame>
          <p:nvGraphicFramePr>
            <p:cNvPr id="87" name="Object 86">
              <a:extLst>
                <a:ext uri="{FF2B5EF4-FFF2-40B4-BE49-F238E27FC236}">
                  <a16:creationId xmlns:a16="http://schemas.microsoft.com/office/drawing/2014/main" id="{547EEAED-68DB-4414-AF62-DC5451ABE4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97802" y="3780970"/>
            <a:ext cx="966788" cy="611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3" name="Equation" r:id="rId5" imgW="380880" imgH="241200" progId="Equation.DSMT4">
                    <p:embed/>
                  </p:oleObj>
                </mc:Choice>
                <mc:Fallback>
                  <p:oleObj name="Equation" r:id="rId5" imgW="380880" imgH="241200" progId="Equation.DSMT4">
                    <p:embed/>
                    <p:pic>
                      <p:nvPicPr>
                        <p:cNvPr id="87" name="Object 86">
                          <a:extLst>
                            <a:ext uri="{FF2B5EF4-FFF2-40B4-BE49-F238E27FC236}">
                              <a16:creationId xmlns:a16="http://schemas.microsoft.com/office/drawing/2014/main" id="{547EEAED-68DB-4414-AF62-DC5451ABE4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97802" y="3780970"/>
                          <a:ext cx="966788" cy="6111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8018591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75078" y="1331477"/>
            <a:ext cx="85693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Hip dysplasia in Labrador Retrievers </a:t>
            </a:r>
          </a:p>
          <a:p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i="1" dirty="0"/>
              <a:t> </a:t>
            </a:r>
            <a:r>
              <a:rPr lang="en-GB" dirty="0"/>
              <a:t>= 0.35</a:t>
            </a:r>
          </a:p>
          <a:p>
            <a:r>
              <a:rPr lang="en-GB" i="1" dirty="0"/>
              <a:t>N</a:t>
            </a:r>
            <a:r>
              <a:rPr lang="en-GB" i="1" baseline="-25000" dirty="0"/>
              <a:t>e</a:t>
            </a:r>
            <a:r>
              <a:rPr lang="en-GB" dirty="0"/>
              <a:t> ≈ 100</a:t>
            </a:r>
          </a:p>
          <a:p>
            <a:r>
              <a:rPr lang="en-GB" i="1" dirty="0"/>
              <a:t>L</a:t>
            </a:r>
            <a:r>
              <a:rPr lang="en-GB" dirty="0"/>
              <a:t> ≈ 25M</a:t>
            </a:r>
          </a:p>
          <a:p>
            <a:r>
              <a:rPr lang="en-GB" i="1" dirty="0"/>
              <a:t>N = </a:t>
            </a:r>
            <a:r>
              <a:rPr lang="en-GB" dirty="0"/>
              <a:t>1179</a:t>
            </a:r>
          </a:p>
          <a:p>
            <a:r>
              <a:rPr lang="en-GB" i="1" dirty="0"/>
              <a:t>m </a:t>
            </a:r>
            <a:r>
              <a:rPr lang="en-GB" dirty="0"/>
              <a:t>= 106,000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6158" y="3475021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Accuracy</a:t>
            </a:r>
          </a:p>
          <a:p>
            <a:r>
              <a:rPr lang="en-GB" dirty="0"/>
              <a:t>(by cross-validation)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703389" y="123635"/>
            <a:ext cx="8785225" cy="927100"/>
          </a:xfrm>
        </p:spPr>
        <p:txBody>
          <a:bodyPr/>
          <a:lstStyle/>
          <a:p>
            <a:r>
              <a:rPr lang="en-GB" dirty="0"/>
              <a:t>Accuracy as f(</a:t>
            </a:r>
            <a:r>
              <a:rPr lang="en-GB" i="1" dirty="0"/>
              <a:t>m</a:t>
            </a:r>
            <a:r>
              <a:rPr lang="en-GB" dirty="0"/>
              <a:t>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3D7-F25E-4CD4-A433-5D0EB803E1A3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3388" y="5661249"/>
            <a:ext cx="3324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From Sanchez-</a:t>
            </a:r>
            <a:r>
              <a:rPr lang="en-GB" sz="1400" dirty="0" err="1"/>
              <a:t>Molano</a:t>
            </a:r>
            <a:r>
              <a:rPr lang="en-GB" sz="1400" dirty="0"/>
              <a:t> et al. 2015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462DDF7-DEDE-4FDF-811C-1F8425C077F0}"/>
              </a:ext>
            </a:extLst>
          </p:cNvPr>
          <p:cNvGrpSpPr/>
          <p:nvPr/>
        </p:nvGrpSpPr>
        <p:grpSpPr>
          <a:xfrm>
            <a:off x="4648200" y="1920105"/>
            <a:ext cx="4495800" cy="4057650"/>
            <a:chOff x="3124200" y="1920105"/>
            <a:chExt cx="4495800" cy="40576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C138535-E29A-489A-8DF7-9701921A49A0}"/>
                </a:ext>
              </a:extLst>
            </p:cNvPr>
            <p:cNvGrpSpPr/>
            <p:nvPr/>
          </p:nvGrpSpPr>
          <p:grpSpPr>
            <a:xfrm>
              <a:off x="3124200" y="1920105"/>
              <a:ext cx="4495800" cy="4057650"/>
              <a:chOff x="3124200" y="1920105"/>
              <a:chExt cx="4495800" cy="4057650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24200" y="1920105"/>
                <a:ext cx="4495800" cy="4057650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5220072" y="2520876"/>
                <a:ext cx="1059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Random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EB78D8D-BD01-4C62-84F0-C35B3713A141}"/>
                  </a:ext>
                </a:extLst>
              </p:cNvPr>
              <p:cNvSpPr/>
              <p:nvPr/>
            </p:nvSpPr>
            <p:spPr>
              <a:xfrm>
                <a:off x="4211960" y="3096940"/>
                <a:ext cx="3240360" cy="6109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DF4B6A3-6B7D-4360-A2BF-95E83AB3B300}"/>
                  </a:ext>
                </a:extLst>
              </p:cNvPr>
              <p:cNvSpPr/>
              <p:nvPr/>
            </p:nvSpPr>
            <p:spPr>
              <a:xfrm>
                <a:off x="7020272" y="3024932"/>
                <a:ext cx="432048" cy="720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1A3C052-05B4-41A1-87F9-12A1243B829E}"/>
                  </a:ext>
                </a:extLst>
              </p:cNvPr>
              <p:cNvSpPr/>
              <p:nvPr/>
            </p:nvSpPr>
            <p:spPr>
              <a:xfrm>
                <a:off x="4067944" y="3469462"/>
                <a:ext cx="432048" cy="720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438BC-28F5-4B60-9A46-31493E5C0083}"/>
                  </a:ext>
                </a:extLst>
              </p:cNvPr>
              <p:cNvSpPr/>
              <p:nvPr/>
            </p:nvSpPr>
            <p:spPr>
              <a:xfrm>
                <a:off x="3788296" y="3426470"/>
                <a:ext cx="207640" cy="859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E73050-BC89-48D5-AEA7-E408E926C42C}"/>
                  </a:ext>
                </a:extLst>
              </p:cNvPr>
              <p:cNvSpPr/>
              <p:nvPr/>
            </p:nvSpPr>
            <p:spPr>
              <a:xfrm>
                <a:off x="3131840" y="1920105"/>
                <a:ext cx="483262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0.5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9E1875E-F51D-4601-BA26-F00536E1D0BA}"/>
                  </a:ext>
                </a:extLst>
              </p:cNvPr>
              <p:cNvSpPr/>
              <p:nvPr/>
            </p:nvSpPr>
            <p:spPr>
              <a:xfrm>
                <a:off x="3124200" y="2520876"/>
                <a:ext cx="562910" cy="23042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AC766BF-6317-4C4A-8B5E-97EF7BD4E500}"/>
                  </a:ext>
                </a:extLst>
              </p:cNvPr>
              <p:cNvSpPr/>
              <p:nvPr/>
            </p:nvSpPr>
            <p:spPr>
              <a:xfrm>
                <a:off x="3150000" y="5041650"/>
                <a:ext cx="482400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0.0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AF01BB-8BF9-4D82-82BC-08EBFBEE22C4}"/>
                  </a:ext>
                </a:extLst>
              </p:cNvPr>
              <p:cNvSpPr/>
              <p:nvPr/>
            </p:nvSpPr>
            <p:spPr>
              <a:xfrm>
                <a:off x="3131840" y="2544414"/>
                <a:ext cx="483262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0.4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34981B7-9A57-406A-9799-68314BF42C5C}"/>
                  </a:ext>
                </a:extLst>
              </p:cNvPr>
              <p:cNvSpPr/>
              <p:nvPr/>
            </p:nvSpPr>
            <p:spPr>
              <a:xfrm>
                <a:off x="3131840" y="3168723"/>
                <a:ext cx="514566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0.3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E14211F-016C-4A4C-AAF9-DD8F049549F8}"/>
                  </a:ext>
                </a:extLst>
              </p:cNvPr>
              <p:cNvSpPr/>
              <p:nvPr/>
            </p:nvSpPr>
            <p:spPr>
              <a:xfrm>
                <a:off x="3131840" y="3793032"/>
                <a:ext cx="483262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0.2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784AB77-4406-40F6-B16E-7817889B0B91}"/>
                  </a:ext>
                </a:extLst>
              </p:cNvPr>
              <p:cNvSpPr/>
              <p:nvPr/>
            </p:nvSpPr>
            <p:spPr>
              <a:xfrm>
                <a:off x="3131840" y="4417341"/>
                <a:ext cx="483262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0.1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F4EFAC-E018-4249-82F9-CFEC8535B209}"/>
                  </a:ext>
                </a:extLst>
              </p:cNvPr>
              <p:cNvSpPr/>
              <p:nvPr/>
            </p:nvSpPr>
            <p:spPr>
              <a:xfrm>
                <a:off x="4141276" y="5715972"/>
                <a:ext cx="3168352" cy="23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% of SNPS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07B46B4-7C32-4E13-BD23-D1280DC5A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8746" y="2697013"/>
                <a:ext cx="7200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E0A0F50-B84E-495F-965D-A57817D04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8746" y="3943839"/>
                <a:ext cx="7200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E017AF6-E1DD-4139-9749-89523B85C3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8746" y="4567252"/>
                <a:ext cx="7200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9C3106D-B2AF-4DD6-BDCB-E9A101B7EA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8746" y="5190665"/>
                <a:ext cx="7200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7137E4E-7BF3-4FD5-8FDF-FA3219C2A9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600" y="3320426"/>
                <a:ext cx="7200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AA0132D-1FE9-40AA-8133-49FB52FD39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600" y="2073600"/>
                <a:ext cx="7200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5FF4E1C-7813-4762-A937-E0FCBA4BFB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1106" y="5190665"/>
                <a:ext cx="7200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304DBA6-6882-4B35-8457-234F35A88FF5}"/>
                  </a:ext>
                </a:extLst>
              </p:cNvPr>
              <p:cNvSpPr/>
              <p:nvPr/>
            </p:nvSpPr>
            <p:spPr>
              <a:xfrm>
                <a:off x="3150000" y="1920105"/>
                <a:ext cx="482400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0.5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74A87D8-3CC0-4100-8ABE-FEA285A36644}"/>
                  </a:ext>
                </a:extLst>
              </p:cNvPr>
              <p:cNvSpPr/>
              <p:nvPr/>
            </p:nvSpPr>
            <p:spPr>
              <a:xfrm>
                <a:off x="3150000" y="2544414"/>
                <a:ext cx="482400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0.4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17098ED-3DB6-4277-9759-7A240E6A2797}"/>
                  </a:ext>
                </a:extLst>
              </p:cNvPr>
              <p:cNvSpPr/>
              <p:nvPr/>
            </p:nvSpPr>
            <p:spPr>
              <a:xfrm>
                <a:off x="3150000" y="3168723"/>
                <a:ext cx="482400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0.3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6317814-3DDA-4AA3-B9AE-A8108989A7B8}"/>
                  </a:ext>
                </a:extLst>
              </p:cNvPr>
              <p:cNvSpPr/>
              <p:nvPr/>
            </p:nvSpPr>
            <p:spPr>
              <a:xfrm>
                <a:off x="3150000" y="3793032"/>
                <a:ext cx="482400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0.2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89C533C-39A0-4BDE-94E9-258B32157503}"/>
                  </a:ext>
                </a:extLst>
              </p:cNvPr>
              <p:cNvSpPr/>
              <p:nvPr/>
            </p:nvSpPr>
            <p:spPr>
              <a:xfrm>
                <a:off x="3150000" y="4417341"/>
                <a:ext cx="482400" cy="529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chemeClr val="tx1"/>
                    </a:solidFill>
                  </a:rPr>
                  <a:t>0.1</a:t>
                </a:r>
              </a:p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D6907A8-23C3-43AB-B1B0-FED3317AEC68}"/>
                  </a:ext>
                </a:extLst>
              </p:cNvPr>
              <p:cNvSpPr/>
              <p:nvPr/>
            </p:nvSpPr>
            <p:spPr>
              <a:xfrm>
                <a:off x="3642610" y="2556361"/>
                <a:ext cx="72008" cy="94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9568893-2883-4D9E-B5CA-2415E13F14BB}"/>
                  </a:ext>
                </a:extLst>
              </p:cNvPr>
              <p:cNvSpPr/>
              <p:nvPr/>
            </p:nvSpPr>
            <p:spPr>
              <a:xfrm>
                <a:off x="3808972" y="2708237"/>
                <a:ext cx="72008" cy="94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F191B3D-C2C0-4E8F-AE2E-EAB93D3ABE55}"/>
                  </a:ext>
                </a:extLst>
              </p:cNvPr>
              <p:cNvSpPr/>
              <p:nvPr/>
            </p:nvSpPr>
            <p:spPr>
              <a:xfrm>
                <a:off x="3642457" y="3077908"/>
                <a:ext cx="72008" cy="94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DCF6EC4-D787-4414-9375-F08229E93646}"/>
                  </a:ext>
                </a:extLst>
              </p:cNvPr>
              <p:cNvSpPr/>
              <p:nvPr/>
            </p:nvSpPr>
            <p:spPr>
              <a:xfrm>
                <a:off x="3642457" y="3585726"/>
                <a:ext cx="72008" cy="94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E130F3B-EFB3-4699-AF22-9AC4A4B09833}"/>
                  </a:ext>
                </a:extLst>
              </p:cNvPr>
              <p:cNvSpPr/>
              <p:nvPr/>
            </p:nvSpPr>
            <p:spPr>
              <a:xfrm>
                <a:off x="3643200" y="4089809"/>
                <a:ext cx="72008" cy="94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BAD7449-6BF8-498A-925B-81A5658C7210}"/>
                  </a:ext>
                </a:extLst>
              </p:cNvPr>
              <p:cNvSpPr/>
              <p:nvPr/>
            </p:nvSpPr>
            <p:spPr>
              <a:xfrm>
                <a:off x="3643200" y="4615905"/>
                <a:ext cx="72008" cy="94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11A237-96A4-412D-9EA0-81288932BABB}"/>
                </a:ext>
              </a:extLst>
            </p:cNvPr>
            <p:cNvSpPr/>
            <p:nvPr/>
          </p:nvSpPr>
          <p:spPr>
            <a:xfrm>
              <a:off x="3779013" y="5471070"/>
              <a:ext cx="288000" cy="1996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AD3A0FA-EE81-4405-84CA-8FC60D2DC232}"/>
                </a:ext>
              </a:extLst>
            </p:cNvPr>
            <p:cNvSpPr/>
            <p:nvPr/>
          </p:nvSpPr>
          <p:spPr>
            <a:xfrm>
              <a:off x="3795600" y="4242209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1908847-FAFB-421C-AB39-2072A2C432BC}"/>
                </a:ext>
              </a:extLst>
            </p:cNvPr>
            <p:cNvSpPr/>
            <p:nvPr/>
          </p:nvSpPr>
          <p:spPr>
            <a:xfrm>
              <a:off x="3948000" y="4394609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3A805F4-A81A-40A0-AB8D-5A460DD60551}"/>
                </a:ext>
              </a:extLst>
            </p:cNvPr>
            <p:cNvSpPr/>
            <p:nvPr/>
          </p:nvSpPr>
          <p:spPr>
            <a:xfrm>
              <a:off x="4100400" y="4547009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F77A4D1-829C-4D77-8BF3-384283D38821}"/>
                </a:ext>
              </a:extLst>
            </p:cNvPr>
            <p:cNvSpPr/>
            <p:nvPr/>
          </p:nvSpPr>
          <p:spPr>
            <a:xfrm>
              <a:off x="7020272" y="5472000"/>
              <a:ext cx="591024" cy="2357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40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8A56602-AE46-4B5D-8A83-290AD2978BC4}"/>
                </a:ext>
              </a:extLst>
            </p:cNvPr>
            <p:cNvSpPr/>
            <p:nvPr/>
          </p:nvSpPr>
          <p:spPr>
            <a:xfrm>
              <a:off x="6192000" y="5472000"/>
              <a:ext cx="591024" cy="2357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400" dirty="0">
                  <a:solidFill>
                    <a:schemeClr val="tx1"/>
                  </a:solidFill>
                </a:rPr>
                <a:t>75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A904CA2-3DB0-4BE3-897E-AA2BBB65792B}"/>
                </a:ext>
              </a:extLst>
            </p:cNvPr>
            <p:cNvSpPr/>
            <p:nvPr/>
          </p:nvSpPr>
          <p:spPr>
            <a:xfrm>
              <a:off x="5330688" y="5451679"/>
              <a:ext cx="591024" cy="2357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3E6F58-6E5C-48C2-BFD5-B99A8F16DE60}"/>
                </a:ext>
              </a:extLst>
            </p:cNvPr>
            <p:cNvSpPr/>
            <p:nvPr/>
          </p:nvSpPr>
          <p:spPr>
            <a:xfrm>
              <a:off x="4392000" y="5472000"/>
              <a:ext cx="591024" cy="2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5868CE6-FFBD-46FE-BF49-544A86019955}"/>
                </a:ext>
              </a:extLst>
            </p:cNvPr>
            <p:cNvSpPr/>
            <p:nvPr/>
          </p:nvSpPr>
          <p:spPr>
            <a:xfrm>
              <a:off x="3996000" y="5472000"/>
              <a:ext cx="468000" cy="2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4287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Accuracy </a:t>
            </a:r>
            <a:r>
              <a:rPr lang="en-GB" dirty="0"/>
              <a:t>as f(</a:t>
            </a:r>
            <a:r>
              <a:rPr lang="en-GB" i="1" dirty="0"/>
              <a:t>m</a:t>
            </a:r>
            <a:r>
              <a:rPr lang="en-GB" dirty="0"/>
              <a:t>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3D7-F25E-4CD4-A433-5D0EB803E1A3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1780327" y="1331402"/>
            <a:ext cx="85693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Hip dysplasia in Labrador Retrievers </a:t>
            </a:r>
          </a:p>
          <a:p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i="1" dirty="0"/>
              <a:t> </a:t>
            </a:r>
            <a:r>
              <a:rPr lang="en-GB" dirty="0"/>
              <a:t>= 0.35</a:t>
            </a:r>
          </a:p>
          <a:p>
            <a:r>
              <a:rPr lang="en-GB" i="1" dirty="0"/>
              <a:t>N</a:t>
            </a:r>
            <a:r>
              <a:rPr lang="en-GB" i="1" baseline="-25000" dirty="0"/>
              <a:t>e</a:t>
            </a:r>
            <a:r>
              <a:rPr lang="en-GB" dirty="0"/>
              <a:t> ≈ 100</a:t>
            </a:r>
          </a:p>
          <a:p>
            <a:r>
              <a:rPr lang="en-GB" i="1" dirty="0"/>
              <a:t>L</a:t>
            </a:r>
            <a:r>
              <a:rPr lang="en-GB" dirty="0"/>
              <a:t> ≈ 25M</a:t>
            </a:r>
          </a:p>
          <a:p>
            <a:r>
              <a:rPr lang="en-GB" i="1" dirty="0"/>
              <a:t>N = </a:t>
            </a:r>
            <a:r>
              <a:rPr lang="en-GB" dirty="0"/>
              <a:t>1179</a:t>
            </a:r>
          </a:p>
          <a:p>
            <a:r>
              <a:rPr lang="en-GB" i="1" dirty="0"/>
              <a:t>m </a:t>
            </a:r>
            <a:r>
              <a:rPr lang="en-GB" dirty="0"/>
              <a:t>= 106,000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3388" y="5661249"/>
            <a:ext cx="3324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From Sanchez-</a:t>
            </a:r>
            <a:r>
              <a:rPr lang="en-GB" sz="1400" dirty="0" err="1"/>
              <a:t>Molano</a:t>
            </a:r>
            <a:r>
              <a:rPr lang="en-GB" sz="1400" dirty="0"/>
              <a:t> et al. 2015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08DA59-0EF2-4347-89C1-C77275B36E06}"/>
              </a:ext>
            </a:extLst>
          </p:cNvPr>
          <p:cNvGrpSpPr/>
          <p:nvPr/>
        </p:nvGrpSpPr>
        <p:grpSpPr>
          <a:xfrm>
            <a:off x="4648200" y="1920105"/>
            <a:ext cx="4495800" cy="4057650"/>
            <a:chOff x="3124200" y="1920105"/>
            <a:chExt cx="4495800" cy="405765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5EEE04D-C484-403B-BFCC-11A00019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200" y="1920105"/>
              <a:ext cx="4495800" cy="40576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A61D65D-C03A-4C85-B3E0-58FCE6EE7380}"/>
                </a:ext>
              </a:extLst>
            </p:cNvPr>
            <p:cNvSpPr txBox="1"/>
            <p:nvPr/>
          </p:nvSpPr>
          <p:spPr>
            <a:xfrm>
              <a:off x="5220072" y="2520876"/>
              <a:ext cx="10597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Random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7E13CD2-5C50-4CAC-BDFC-F6310BD2E289}"/>
                </a:ext>
              </a:extLst>
            </p:cNvPr>
            <p:cNvSpPr/>
            <p:nvPr/>
          </p:nvSpPr>
          <p:spPr>
            <a:xfrm>
              <a:off x="3131840" y="1920105"/>
              <a:ext cx="483262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0.5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09408D8-130F-4681-8592-DC0DA2EFDB32}"/>
                </a:ext>
              </a:extLst>
            </p:cNvPr>
            <p:cNvSpPr/>
            <p:nvPr/>
          </p:nvSpPr>
          <p:spPr>
            <a:xfrm>
              <a:off x="3124200" y="2520876"/>
              <a:ext cx="562910" cy="23042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430821B-A526-424C-BBD1-ADAF642E5634}"/>
                </a:ext>
              </a:extLst>
            </p:cNvPr>
            <p:cNvSpPr/>
            <p:nvPr/>
          </p:nvSpPr>
          <p:spPr>
            <a:xfrm>
              <a:off x="3150000" y="5041650"/>
              <a:ext cx="482400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0.0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4B14558-A01C-4E1E-868F-517243A20E67}"/>
                </a:ext>
              </a:extLst>
            </p:cNvPr>
            <p:cNvSpPr/>
            <p:nvPr/>
          </p:nvSpPr>
          <p:spPr>
            <a:xfrm>
              <a:off x="3131840" y="2544414"/>
              <a:ext cx="483262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0.4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6FE4B59-39F3-4FFA-9FB0-D0402ADA4345}"/>
                </a:ext>
              </a:extLst>
            </p:cNvPr>
            <p:cNvSpPr/>
            <p:nvPr/>
          </p:nvSpPr>
          <p:spPr>
            <a:xfrm>
              <a:off x="3131840" y="3168723"/>
              <a:ext cx="514566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0.3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3A354C-F6A5-49C5-9C27-D3CBA4EB8A89}"/>
                </a:ext>
              </a:extLst>
            </p:cNvPr>
            <p:cNvSpPr/>
            <p:nvPr/>
          </p:nvSpPr>
          <p:spPr>
            <a:xfrm>
              <a:off x="3131840" y="3793032"/>
              <a:ext cx="483262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0.2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BE2C27A-6CC3-4998-BF92-75D492F1A931}"/>
                </a:ext>
              </a:extLst>
            </p:cNvPr>
            <p:cNvSpPr/>
            <p:nvPr/>
          </p:nvSpPr>
          <p:spPr>
            <a:xfrm>
              <a:off x="3131840" y="4417341"/>
              <a:ext cx="483262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0.1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DAC69ED-6AFE-4F6B-ADE6-F8C314A6BB05}"/>
                </a:ext>
              </a:extLst>
            </p:cNvPr>
            <p:cNvSpPr/>
            <p:nvPr/>
          </p:nvSpPr>
          <p:spPr>
            <a:xfrm>
              <a:off x="4141276" y="5715972"/>
              <a:ext cx="3168352" cy="235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% of SNPS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954998C-7F2E-4AFC-87F9-095822379B57}"/>
                </a:ext>
              </a:extLst>
            </p:cNvPr>
            <p:cNvCxnSpPr>
              <a:cxnSpLocks/>
            </p:cNvCxnSpPr>
            <p:nvPr/>
          </p:nvCxnSpPr>
          <p:spPr>
            <a:xfrm>
              <a:off x="3658746" y="2697013"/>
              <a:ext cx="720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9CE7B94-7B33-4986-8F96-B9FBEC15F1EC}"/>
                </a:ext>
              </a:extLst>
            </p:cNvPr>
            <p:cNvCxnSpPr>
              <a:cxnSpLocks/>
            </p:cNvCxnSpPr>
            <p:nvPr/>
          </p:nvCxnSpPr>
          <p:spPr>
            <a:xfrm>
              <a:off x="3658746" y="3943839"/>
              <a:ext cx="720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C8B55E2-5A34-4FC5-85D9-2D4068FBDD83}"/>
                </a:ext>
              </a:extLst>
            </p:cNvPr>
            <p:cNvCxnSpPr>
              <a:cxnSpLocks/>
            </p:cNvCxnSpPr>
            <p:nvPr/>
          </p:nvCxnSpPr>
          <p:spPr>
            <a:xfrm>
              <a:off x="3658746" y="4567252"/>
              <a:ext cx="720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FA63EEE-2874-43D9-9B85-B6EEF8741A10}"/>
                </a:ext>
              </a:extLst>
            </p:cNvPr>
            <p:cNvCxnSpPr>
              <a:cxnSpLocks/>
            </p:cNvCxnSpPr>
            <p:nvPr/>
          </p:nvCxnSpPr>
          <p:spPr>
            <a:xfrm>
              <a:off x="3658746" y="5190665"/>
              <a:ext cx="720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0AEADE-582D-40D2-A8EA-F08A6C1A26B6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3320426"/>
              <a:ext cx="720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D27967E-AC07-419F-9287-323DD9CEF571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2073600"/>
              <a:ext cx="720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41DAD40-9E7B-4BBA-A67B-9F0122015876}"/>
                </a:ext>
              </a:extLst>
            </p:cNvPr>
            <p:cNvCxnSpPr>
              <a:cxnSpLocks/>
            </p:cNvCxnSpPr>
            <p:nvPr/>
          </p:nvCxnSpPr>
          <p:spPr>
            <a:xfrm>
              <a:off x="3651106" y="5190665"/>
              <a:ext cx="720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F4E67EB-A2BE-4EB1-BB3F-9CB49E210C2C}"/>
                </a:ext>
              </a:extLst>
            </p:cNvPr>
            <p:cNvSpPr/>
            <p:nvPr/>
          </p:nvSpPr>
          <p:spPr>
            <a:xfrm>
              <a:off x="3150000" y="1920105"/>
              <a:ext cx="482400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0.5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2208214-98E0-49F0-A1DA-856F1ADC2427}"/>
                </a:ext>
              </a:extLst>
            </p:cNvPr>
            <p:cNvSpPr/>
            <p:nvPr/>
          </p:nvSpPr>
          <p:spPr>
            <a:xfrm>
              <a:off x="3150000" y="2544414"/>
              <a:ext cx="482400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0.4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F1DC554-F313-4433-BC4F-65E55775DE12}"/>
                </a:ext>
              </a:extLst>
            </p:cNvPr>
            <p:cNvSpPr/>
            <p:nvPr/>
          </p:nvSpPr>
          <p:spPr>
            <a:xfrm>
              <a:off x="3150000" y="3168723"/>
              <a:ext cx="482400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0.3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CA0D2E7-E100-4140-9983-742997D21406}"/>
                </a:ext>
              </a:extLst>
            </p:cNvPr>
            <p:cNvSpPr/>
            <p:nvPr/>
          </p:nvSpPr>
          <p:spPr>
            <a:xfrm>
              <a:off x="3150000" y="3793032"/>
              <a:ext cx="482400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0.2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2D43360-CE8E-4D91-92D4-FD3F63DFEA9C}"/>
                </a:ext>
              </a:extLst>
            </p:cNvPr>
            <p:cNvSpPr/>
            <p:nvPr/>
          </p:nvSpPr>
          <p:spPr>
            <a:xfrm>
              <a:off x="3150000" y="4417341"/>
              <a:ext cx="482400" cy="529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0.1</a:t>
              </a:r>
            </a:p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772E4D2-6387-4CAA-9D86-5E43608000EB}"/>
                </a:ext>
              </a:extLst>
            </p:cNvPr>
            <p:cNvSpPr/>
            <p:nvPr/>
          </p:nvSpPr>
          <p:spPr>
            <a:xfrm>
              <a:off x="3642610" y="2556361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84F3FAB-3A15-45E1-A1B8-867CD46A6E43}"/>
                </a:ext>
              </a:extLst>
            </p:cNvPr>
            <p:cNvSpPr/>
            <p:nvPr/>
          </p:nvSpPr>
          <p:spPr>
            <a:xfrm>
              <a:off x="3808972" y="2708237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D2D9A68-2D69-4FA7-BBAF-88024ED6FCC2}"/>
                </a:ext>
              </a:extLst>
            </p:cNvPr>
            <p:cNvSpPr/>
            <p:nvPr/>
          </p:nvSpPr>
          <p:spPr>
            <a:xfrm>
              <a:off x="3642457" y="3077908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583158C-F74D-49E2-8C02-73AFBFA23B69}"/>
                </a:ext>
              </a:extLst>
            </p:cNvPr>
            <p:cNvSpPr/>
            <p:nvPr/>
          </p:nvSpPr>
          <p:spPr>
            <a:xfrm>
              <a:off x="3642457" y="3585726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D309AD-62E2-436A-B7F4-AA7970E211DB}"/>
                </a:ext>
              </a:extLst>
            </p:cNvPr>
            <p:cNvSpPr/>
            <p:nvPr/>
          </p:nvSpPr>
          <p:spPr>
            <a:xfrm>
              <a:off x="3643200" y="4089809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CBF498B-1DB9-4D39-B723-8B4D8510154F}"/>
                </a:ext>
              </a:extLst>
            </p:cNvPr>
            <p:cNvSpPr/>
            <p:nvPr/>
          </p:nvSpPr>
          <p:spPr>
            <a:xfrm>
              <a:off x="3643200" y="4615905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9D589B2-6EBF-442A-B0E7-C086F91D945C}"/>
                </a:ext>
              </a:extLst>
            </p:cNvPr>
            <p:cNvSpPr/>
            <p:nvPr/>
          </p:nvSpPr>
          <p:spPr>
            <a:xfrm>
              <a:off x="3779013" y="5471070"/>
              <a:ext cx="288000" cy="1996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4B9B32-5A50-4A78-8279-C0DDD3FCE76F}"/>
                </a:ext>
              </a:extLst>
            </p:cNvPr>
            <p:cNvSpPr/>
            <p:nvPr/>
          </p:nvSpPr>
          <p:spPr>
            <a:xfrm>
              <a:off x="3795600" y="4242209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09F809-8B1A-460D-BCDA-4EB5D4E91E07}"/>
                </a:ext>
              </a:extLst>
            </p:cNvPr>
            <p:cNvSpPr/>
            <p:nvPr/>
          </p:nvSpPr>
          <p:spPr>
            <a:xfrm>
              <a:off x="3948000" y="4394609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96FAE4-81A1-4E36-BC5E-9184354B5220}"/>
                </a:ext>
              </a:extLst>
            </p:cNvPr>
            <p:cNvSpPr/>
            <p:nvPr/>
          </p:nvSpPr>
          <p:spPr>
            <a:xfrm>
              <a:off x="4100400" y="4547009"/>
              <a:ext cx="72008" cy="94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280590-0029-47FB-B032-227EDE97FFE2}"/>
                </a:ext>
              </a:extLst>
            </p:cNvPr>
            <p:cNvSpPr/>
            <p:nvPr/>
          </p:nvSpPr>
          <p:spPr>
            <a:xfrm>
              <a:off x="7020272" y="5472000"/>
              <a:ext cx="591024" cy="2357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40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9AB934D-8150-4FD3-9DCF-3957F777A8CF}"/>
                </a:ext>
              </a:extLst>
            </p:cNvPr>
            <p:cNvSpPr/>
            <p:nvPr/>
          </p:nvSpPr>
          <p:spPr>
            <a:xfrm>
              <a:off x="6192000" y="5472000"/>
              <a:ext cx="591024" cy="2357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400" dirty="0">
                  <a:solidFill>
                    <a:schemeClr val="tx1"/>
                  </a:solidFill>
                </a:rPr>
                <a:t>75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97C0566-FC62-421E-A410-F1C0FB059FA1}"/>
                </a:ext>
              </a:extLst>
            </p:cNvPr>
            <p:cNvSpPr/>
            <p:nvPr/>
          </p:nvSpPr>
          <p:spPr>
            <a:xfrm>
              <a:off x="5330688" y="5451679"/>
              <a:ext cx="591024" cy="2357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A481D5-798E-4705-81ED-381C0AD7F068}"/>
                </a:ext>
              </a:extLst>
            </p:cNvPr>
            <p:cNvSpPr/>
            <p:nvPr/>
          </p:nvSpPr>
          <p:spPr>
            <a:xfrm>
              <a:off x="4392000" y="5472000"/>
              <a:ext cx="591024" cy="2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B5FB48-B065-47C9-8522-0B7B128FC967}"/>
                </a:ext>
              </a:extLst>
            </p:cNvPr>
            <p:cNvSpPr/>
            <p:nvPr/>
          </p:nvSpPr>
          <p:spPr>
            <a:xfrm>
              <a:off x="3996000" y="5472000"/>
              <a:ext cx="468000" cy="2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85883" y="3363630"/>
              <a:ext cx="10597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GWAS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3608418" y="3321130"/>
              <a:ext cx="529519" cy="826791"/>
            </a:xfrm>
            <a:custGeom>
              <a:avLst/>
              <a:gdLst>
                <a:gd name="connsiteX0" fmla="*/ 400164 w 529519"/>
                <a:gd name="connsiteY0" fmla="*/ 789052 h 826791"/>
                <a:gd name="connsiteX1" fmla="*/ 39946 w 529519"/>
                <a:gd name="connsiteY1" fmla="*/ 585852 h 826791"/>
                <a:gd name="connsiteX2" fmla="*/ 30709 w 529519"/>
                <a:gd name="connsiteY2" fmla="*/ 197925 h 826791"/>
                <a:gd name="connsiteX3" fmla="*/ 233909 w 529519"/>
                <a:gd name="connsiteY3" fmla="*/ 3961 h 826791"/>
                <a:gd name="connsiteX4" fmla="*/ 437109 w 529519"/>
                <a:gd name="connsiteY4" fmla="*/ 87088 h 826791"/>
                <a:gd name="connsiteX5" fmla="*/ 529473 w 529519"/>
                <a:gd name="connsiteY5" fmla="*/ 317997 h 826791"/>
                <a:gd name="connsiteX6" fmla="*/ 446346 w 529519"/>
                <a:gd name="connsiteY6" fmla="*/ 696688 h 826791"/>
                <a:gd name="connsiteX7" fmla="*/ 243146 w 529519"/>
                <a:gd name="connsiteY7" fmla="*/ 807525 h 826791"/>
                <a:gd name="connsiteX8" fmla="*/ 169255 w 529519"/>
                <a:gd name="connsiteY8" fmla="*/ 825997 h 8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9519" h="826791">
                  <a:moveTo>
                    <a:pt x="400164" y="789052"/>
                  </a:moveTo>
                  <a:cubicBezTo>
                    <a:pt x="250843" y="736712"/>
                    <a:pt x="101522" y="684373"/>
                    <a:pt x="39946" y="585852"/>
                  </a:cubicBezTo>
                  <a:cubicBezTo>
                    <a:pt x="-21630" y="487331"/>
                    <a:pt x="-1618" y="294907"/>
                    <a:pt x="30709" y="197925"/>
                  </a:cubicBezTo>
                  <a:cubicBezTo>
                    <a:pt x="63036" y="100943"/>
                    <a:pt x="166176" y="22434"/>
                    <a:pt x="233909" y="3961"/>
                  </a:cubicBezTo>
                  <a:cubicBezTo>
                    <a:pt x="301642" y="-14512"/>
                    <a:pt x="387848" y="34749"/>
                    <a:pt x="437109" y="87088"/>
                  </a:cubicBezTo>
                  <a:cubicBezTo>
                    <a:pt x="486370" y="139427"/>
                    <a:pt x="527934" y="216397"/>
                    <a:pt x="529473" y="317997"/>
                  </a:cubicBezTo>
                  <a:cubicBezTo>
                    <a:pt x="531013" y="419597"/>
                    <a:pt x="494067" y="615100"/>
                    <a:pt x="446346" y="696688"/>
                  </a:cubicBezTo>
                  <a:cubicBezTo>
                    <a:pt x="398625" y="778276"/>
                    <a:pt x="289328" y="785974"/>
                    <a:pt x="243146" y="807525"/>
                  </a:cubicBezTo>
                  <a:cubicBezTo>
                    <a:pt x="196964" y="829076"/>
                    <a:pt x="183109" y="827536"/>
                    <a:pt x="169255" y="825997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4276265" y="2845413"/>
              <a:ext cx="529519" cy="826791"/>
            </a:xfrm>
            <a:custGeom>
              <a:avLst/>
              <a:gdLst>
                <a:gd name="connsiteX0" fmla="*/ 400164 w 529519"/>
                <a:gd name="connsiteY0" fmla="*/ 789052 h 826791"/>
                <a:gd name="connsiteX1" fmla="*/ 39946 w 529519"/>
                <a:gd name="connsiteY1" fmla="*/ 585852 h 826791"/>
                <a:gd name="connsiteX2" fmla="*/ 30709 w 529519"/>
                <a:gd name="connsiteY2" fmla="*/ 197925 h 826791"/>
                <a:gd name="connsiteX3" fmla="*/ 233909 w 529519"/>
                <a:gd name="connsiteY3" fmla="*/ 3961 h 826791"/>
                <a:gd name="connsiteX4" fmla="*/ 437109 w 529519"/>
                <a:gd name="connsiteY4" fmla="*/ 87088 h 826791"/>
                <a:gd name="connsiteX5" fmla="*/ 529473 w 529519"/>
                <a:gd name="connsiteY5" fmla="*/ 317997 h 826791"/>
                <a:gd name="connsiteX6" fmla="*/ 446346 w 529519"/>
                <a:gd name="connsiteY6" fmla="*/ 696688 h 826791"/>
                <a:gd name="connsiteX7" fmla="*/ 243146 w 529519"/>
                <a:gd name="connsiteY7" fmla="*/ 807525 h 826791"/>
                <a:gd name="connsiteX8" fmla="*/ 169255 w 529519"/>
                <a:gd name="connsiteY8" fmla="*/ 825997 h 8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9519" h="826791">
                  <a:moveTo>
                    <a:pt x="400164" y="789052"/>
                  </a:moveTo>
                  <a:cubicBezTo>
                    <a:pt x="250843" y="736712"/>
                    <a:pt x="101522" y="684373"/>
                    <a:pt x="39946" y="585852"/>
                  </a:cubicBezTo>
                  <a:cubicBezTo>
                    <a:pt x="-21630" y="487331"/>
                    <a:pt x="-1618" y="294907"/>
                    <a:pt x="30709" y="197925"/>
                  </a:cubicBezTo>
                  <a:cubicBezTo>
                    <a:pt x="63036" y="100943"/>
                    <a:pt x="166176" y="22434"/>
                    <a:pt x="233909" y="3961"/>
                  </a:cubicBezTo>
                  <a:cubicBezTo>
                    <a:pt x="301642" y="-14512"/>
                    <a:pt x="387848" y="34749"/>
                    <a:pt x="437109" y="87088"/>
                  </a:cubicBezTo>
                  <a:cubicBezTo>
                    <a:pt x="486370" y="139427"/>
                    <a:pt x="527934" y="216397"/>
                    <a:pt x="529473" y="317997"/>
                  </a:cubicBezTo>
                  <a:cubicBezTo>
                    <a:pt x="531013" y="419597"/>
                    <a:pt x="494067" y="615100"/>
                    <a:pt x="446346" y="696688"/>
                  </a:cubicBezTo>
                  <a:cubicBezTo>
                    <a:pt x="398625" y="778276"/>
                    <a:pt x="289328" y="785974"/>
                    <a:pt x="243146" y="807525"/>
                  </a:cubicBezTo>
                  <a:cubicBezTo>
                    <a:pt x="196964" y="829076"/>
                    <a:pt x="183109" y="827536"/>
                    <a:pt x="169255" y="825997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DB0A7DD6-8D23-457E-9CAE-88BAD6ECE3C5}"/>
              </a:ext>
            </a:extLst>
          </p:cNvPr>
          <p:cNvSpPr txBox="1"/>
          <p:nvPr/>
        </p:nvSpPr>
        <p:spPr>
          <a:xfrm>
            <a:off x="2426158" y="3475021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Accuracy</a:t>
            </a:r>
          </a:p>
          <a:p>
            <a:r>
              <a:rPr lang="en-GB" dirty="0"/>
              <a:t>(by cross-validation)</a:t>
            </a:r>
          </a:p>
        </p:txBody>
      </p:sp>
    </p:spTree>
    <p:extLst>
      <p:ext uri="{BB962C8B-B14F-4D97-AF65-F5344CB8AC3E}">
        <p14:creationId xmlns:p14="http://schemas.microsoft.com/office/powerpoint/2010/main" val="17371622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 26">
            <a:extLst>
              <a:ext uri="{FF2B5EF4-FFF2-40B4-BE49-F238E27FC236}">
                <a16:creationId xmlns:a16="http://schemas.microsoft.com/office/drawing/2014/main" id="{B4984E96-F2AD-4696-B0C6-7C3FD20D7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10372" y="4507633"/>
            <a:ext cx="1439863" cy="360363"/>
          </a:xfrm>
          <a:prstGeom prst="line">
            <a:avLst/>
          </a:prstGeom>
          <a:noFill/>
          <a:ln w="57150" cmpd="sng">
            <a:solidFill>
              <a:schemeClr val="bg1">
                <a:lumMod val="75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" name="Line 27">
            <a:extLst>
              <a:ext uri="{FF2B5EF4-FFF2-40B4-BE49-F238E27FC236}">
                <a16:creationId xmlns:a16="http://schemas.microsoft.com/office/drawing/2014/main" id="{CD98C715-B816-43B1-B1CC-670E242EA4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7347" y="3934546"/>
            <a:ext cx="431800" cy="144463"/>
          </a:xfrm>
          <a:prstGeom prst="line">
            <a:avLst/>
          </a:prstGeom>
          <a:noFill/>
          <a:ln w="57150" cmpd="sng">
            <a:solidFill>
              <a:schemeClr val="bg1">
                <a:lumMod val="75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3" name="Freeform 30">
            <a:extLst>
              <a:ext uri="{FF2B5EF4-FFF2-40B4-BE49-F238E27FC236}">
                <a16:creationId xmlns:a16="http://schemas.microsoft.com/office/drawing/2014/main" id="{FEF1DB21-7DAF-4FF7-8CB4-084D44104F7A}"/>
              </a:ext>
            </a:extLst>
          </p:cNvPr>
          <p:cNvSpPr>
            <a:spLocks/>
          </p:cNvSpPr>
          <p:nvPr/>
        </p:nvSpPr>
        <p:spPr bwMode="auto">
          <a:xfrm flipH="1">
            <a:off x="9534524" y="3136034"/>
            <a:ext cx="595313" cy="1517650"/>
          </a:xfrm>
          <a:custGeom>
            <a:avLst/>
            <a:gdLst>
              <a:gd name="T0" fmla="*/ 141 w 375"/>
              <a:gd name="T1" fmla="*/ 0 h 956"/>
              <a:gd name="T2" fmla="*/ 12 w 375"/>
              <a:gd name="T3" fmla="*/ 278 h 956"/>
              <a:gd name="T4" fmla="*/ 67 w 375"/>
              <a:gd name="T5" fmla="*/ 696 h 956"/>
              <a:gd name="T6" fmla="*/ 375 w 375"/>
              <a:gd name="T7" fmla="*/ 956 h 956"/>
              <a:gd name="T8" fmla="*/ 0 60000 65536"/>
              <a:gd name="T9" fmla="*/ 0 60000 65536"/>
              <a:gd name="T10" fmla="*/ 0 60000 65536"/>
              <a:gd name="T11" fmla="*/ 0 60000 65536"/>
              <a:gd name="T12" fmla="*/ 0 w 375"/>
              <a:gd name="T13" fmla="*/ 0 h 956"/>
              <a:gd name="T14" fmla="*/ 375 w 375"/>
              <a:gd name="T15" fmla="*/ 956 h 9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5" h="956">
                <a:moveTo>
                  <a:pt x="141" y="0"/>
                </a:moveTo>
                <a:cubicBezTo>
                  <a:pt x="120" y="46"/>
                  <a:pt x="24" y="162"/>
                  <a:pt x="12" y="278"/>
                </a:cubicBezTo>
                <a:cubicBezTo>
                  <a:pt x="0" y="394"/>
                  <a:pt x="7" y="583"/>
                  <a:pt x="67" y="696"/>
                </a:cubicBezTo>
                <a:cubicBezTo>
                  <a:pt x="127" y="809"/>
                  <a:pt x="311" y="902"/>
                  <a:pt x="375" y="956"/>
                </a:cubicBezTo>
              </a:path>
            </a:pathLst>
          </a:custGeom>
          <a:noFill/>
          <a:ln w="57150" cmpd="sng">
            <a:solidFill>
              <a:schemeClr val="bg1">
                <a:lumMod val="75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39712C7-9B38-4BF7-B7F3-6BBD550442BE}"/>
              </a:ext>
            </a:extLst>
          </p:cNvPr>
          <p:cNvSpPr>
            <a:spLocks/>
          </p:cNvSpPr>
          <p:nvPr/>
        </p:nvSpPr>
        <p:spPr bwMode="auto">
          <a:xfrm flipH="1">
            <a:off x="8607424" y="3207471"/>
            <a:ext cx="434975" cy="509588"/>
          </a:xfrm>
          <a:custGeom>
            <a:avLst/>
            <a:gdLst>
              <a:gd name="T0" fmla="*/ 0 w 274"/>
              <a:gd name="T1" fmla="*/ 0 h 321"/>
              <a:gd name="T2" fmla="*/ 48 w 274"/>
              <a:gd name="T3" fmla="*/ 268 h 321"/>
              <a:gd name="T4" fmla="*/ 274 w 274"/>
              <a:gd name="T5" fmla="*/ 319 h 321"/>
              <a:gd name="T6" fmla="*/ 0 60000 65536"/>
              <a:gd name="T7" fmla="*/ 0 60000 65536"/>
              <a:gd name="T8" fmla="*/ 0 60000 65536"/>
              <a:gd name="T9" fmla="*/ 0 w 274"/>
              <a:gd name="T10" fmla="*/ 0 h 321"/>
              <a:gd name="T11" fmla="*/ 274 w 274"/>
              <a:gd name="T12" fmla="*/ 321 h 3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4" h="321">
                <a:moveTo>
                  <a:pt x="0" y="0"/>
                </a:moveTo>
                <a:cubicBezTo>
                  <a:pt x="8" y="45"/>
                  <a:pt x="2" y="215"/>
                  <a:pt x="48" y="268"/>
                </a:cubicBezTo>
                <a:cubicBezTo>
                  <a:pt x="94" y="321"/>
                  <a:pt x="227" y="309"/>
                  <a:pt x="274" y="319"/>
                </a:cubicBezTo>
              </a:path>
            </a:pathLst>
          </a:custGeom>
          <a:noFill/>
          <a:ln w="57150" cmpd="sng">
            <a:solidFill>
              <a:schemeClr val="bg1">
                <a:lumMod val="75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Factors for Accuracy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7B260-B05A-4AFE-949A-B8CDD13F8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9701" name="Oval 4"/>
          <p:cNvSpPr>
            <a:spLocks noChangeArrowheads="1"/>
          </p:cNvSpPr>
          <p:nvPr/>
        </p:nvSpPr>
        <p:spPr bwMode="auto">
          <a:xfrm>
            <a:off x="1774824" y="1988271"/>
            <a:ext cx="2449513" cy="1152525"/>
          </a:xfrm>
          <a:prstGeom prst="ellipse">
            <a:avLst/>
          </a:prstGeom>
          <a:solidFill>
            <a:srgbClr val="D9D9D9"/>
          </a:solidFill>
          <a:ln w="9525">
            <a:solidFill>
              <a:srgbClr val="C9C9C9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dirty="0">
                <a:solidFill>
                  <a:srgbClr val="8F8F8F"/>
                </a:solidFill>
              </a:rPr>
              <a:t>Phenotypes</a:t>
            </a:r>
          </a:p>
        </p:txBody>
      </p:sp>
      <p:sp>
        <p:nvSpPr>
          <p:cNvPr id="29727" name="Oval 6"/>
          <p:cNvSpPr>
            <a:spLocks noChangeAspect="1" noChangeArrowheads="1"/>
          </p:cNvSpPr>
          <p:nvPr/>
        </p:nvSpPr>
        <p:spPr bwMode="auto">
          <a:xfrm>
            <a:off x="3646487" y="3140796"/>
            <a:ext cx="1295400" cy="1295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B7B7B7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Heritability</a:t>
            </a:r>
          </a:p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(h</a:t>
            </a:r>
            <a:r>
              <a:rPr lang="en-GB" sz="1600" baseline="30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728" name="Oval 7"/>
          <p:cNvSpPr>
            <a:spLocks noChangeAspect="1" noChangeArrowheads="1"/>
          </p:cNvSpPr>
          <p:nvPr/>
        </p:nvSpPr>
        <p:spPr bwMode="auto">
          <a:xfrm>
            <a:off x="4690269" y="1916833"/>
            <a:ext cx="1295400" cy="1295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dirty="0"/>
              <a:t>Genetic </a:t>
            </a:r>
          </a:p>
          <a:p>
            <a:pPr algn="ctr"/>
            <a:r>
              <a:rPr lang="en-GB" sz="1600" dirty="0"/>
              <a:t>Architecture</a:t>
            </a:r>
          </a:p>
        </p:txBody>
      </p:sp>
      <p:sp>
        <p:nvSpPr>
          <p:cNvPr id="29729" name="Oval 8"/>
          <p:cNvSpPr>
            <a:spLocks noChangeAspect="1" noChangeArrowheads="1"/>
          </p:cNvSpPr>
          <p:nvPr/>
        </p:nvSpPr>
        <p:spPr bwMode="auto">
          <a:xfrm>
            <a:off x="2603499" y="4364758"/>
            <a:ext cx="1295400" cy="1295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ACACA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Number </a:t>
            </a:r>
          </a:p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Records</a:t>
            </a:r>
          </a:p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(N)</a:t>
            </a:r>
          </a:p>
        </p:txBody>
      </p:sp>
      <p:sp>
        <p:nvSpPr>
          <p:cNvPr id="29703" name="Oval 9"/>
          <p:cNvSpPr>
            <a:spLocks noChangeAspect="1" noChangeArrowheads="1"/>
          </p:cNvSpPr>
          <p:nvPr/>
        </p:nvSpPr>
        <p:spPr bwMode="auto">
          <a:xfrm>
            <a:off x="5448299" y="3715471"/>
            <a:ext cx="1295400" cy="1295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/>
              <a:t>Methodology</a:t>
            </a:r>
          </a:p>
        </p:txBody>
      </p:sp>
      <p:sp>
        <p:nvSpPr>
          <p:cNvPr id="29704" name="Oval 10"/>
          <p:cNvSpPr>
            <a:spLocks noChangeAspect="1" noChangeArrowheads="1"/>
          </p:cNvSpPr>
          <p:nvPr/>
        </p:nvSpPr>
        <p:spPr bwMode="auto">
          <a:xfrm>
            <a:off x="5448299" y="5445846"/>
            <a:ext cx="1295400" cy="1295400"/>
          </a:xfrm>
          <a:prstGeom prst="ellipse">
            <a:avLst/>
          </a:prstGeom>
          <a:solidFill>
            <a:srgbClr val="FFCC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/>
              <a:t>Accuracy</a:t>
            </a:r>
          </a:p>
        </p:txBody>
      </p:sp>
      <p:sp>
        <p:nvSpPr>
          <p:cNvPr id="29724" name="Freeform 12"/>
          <p:cNvSpPr>
            <a:spLocks/>
          </p:cNvSpPr>
          <p:nvPr/>
        </p:nvSpPr>
        <p:spPr bwMode="auto">
          <a:xfrm>
            <a:off x="2063749" y="3140796"/>
            <a:ext cx="595313" cy="1517650"/>
          </a:xfrm>
          <a:custGeom>
            <a:avLst/>
            <a:gdLst>
              <a:gd name="T0" fmla="*/ 141 w 375"/>
              <a:gd name="T1" fmla="*/ 0 h 956"/>
              <a:gd name="T2" fmla="*/ 12 w 375"/>
              <a:gd name="T3" fmla="*/ 278 h 956"/>
              <a:gd name="T4" fmla="*/ 67 w 375"/>
              <a:gd name="T5" fmla="*/ 696 h 956"/>
              <a:gd name="T6" fmla="*/ 375 w 375"/>
              <a:gd name="T7" fmla="*/ 956 h 956"/>
              <a:gd name="T8" fmla="*/ 0 60000 65536"/>
              <a:gd name="T9" fmla="*/ 0 60000 65536"/>
              <a:gd name="T10" fmla="*/ 0 60000 65536"/>
              <a:gd name="T11" fmla="*/ 0 60000 65536"/>
              <a:gd name="T12" fmla="*/ 0 w 375"/>
              <a:gd name="T13" fmla="*/ 0 h 956"/>
              <a:gd name="T14" fmla="*/ 375 w 375"/>
              <a:gd name="T15" fmla="*/ 956 h 9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5" h="956">
                <a:moveTo>
                  <a:pt x="141" y="0"/>
                </a:moveTo>
                <a:cubicBezTo>
                  <a:pt x="120" y="46"/>
                  <a:pt x="24" y="162"/>
                  <a:pt x="12" y="278"/>
                </a:cubicBezTo>
                <a:cubicBezTo>
                  <a:pt x="0" y="394"/>
                  <a:pt x="7" y="583"/>
                  <a:pt x="67" y="696"/>
                </a:cubicBezTo>
                <a:cubicBezTo>
                  <a:pt x="127" y="809"/>
                  <a:pt x="311" y="902"/>
                  <a:pt x="375" y="956"/>
                </a:cubicBezTo>
              </a:path>
            </a:pathLst>
          </a:custGeom>
          <a:noFill/>
          <a:ln w="57150" cmpd="sng">
            <a:solidFill>
              <a:srgbClr val="BFBFB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25" name="Freeform 13"/>
          <p:cNvSpPr>
            <a:spLocks/>
          </p:cNvSpPr>
          <p:nvPr/>
        </p:nvSpPr>
        <p:spPr bwMode="auto">
          <a:xfrm>
            <a:off x="3151187" y="3212234"/>
            <a:ext cx="434975" cy="509588"/>
          </a:xfrm>
          <a:custGeom>
            <a:avLst/>
            <a:gdLst>
              <a:gd name="T0" fmla="*/ 0 w 274"/>
              <a:gd name="T1" fmla="*/ 0 h 321"/>
              <a:gd name="T2" fmla="*/ 48 w 274"/>
              <a:gd name="T3" fmla="*/ 268 h 321"/>
              <a:gd name="T4" fmla="*/ 274 w 274"/>
              <a:gd name="T5" fmla="*/ 319 h 321"/>
              <a:gd name="T6" fmla="*/ 0 60000 65536"/>
              <a:gd name="T7" fmla="*/ 0 60000 65536"/>
              <a:gd name="T8" fmla="*/ 0 60000 65536"/>
              <a:gd name="T9" fmla="*/ 0 w 274"/>
              <a:gd name="T10" fmla="*/ 0 h 321"/>
              <a:gd name="T11" fmla="*/ 274 w 274"/>
              <a:gd name="T12" fmla="*/ 321 h 3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4" h="321">
                <a:moveTo>
                  <a:pt x="0" y="0"/>
                </a:moveTo>
                <a:cubicBezTo>
                  <a:pt x="8" y="45"/>
                  <a:pt x="2" y="215"/>
                  <a:pt x="48" y="268"/>
                </a:cubicBezTo>
                <a:cubicBezTo>
                  <a:pt x="94" y="321"/>
                  <a:pt x="227" y="309"/>
                  <a:pt x="274" y="319"/>
                </a:cubicBezTo>
              </a:path>
            </a:pathLst>
          </a:custGeom>
          <a:noFill/>
          <a:ln w="57150" cmpd="sng">
            <a:solidFill>
              <a:srgbClr val="BFBFB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7342CB8C-0E37-4E75-A7B9-8FCE79F85C67}"/>
              </a:ext>
            </a:extLst>
          </p:cNvPr>
          <p:cNvSpPr>
            <a:spLocks/>
          </p:cNvSpPr>
          <p:nvPr/>
        </p:nvSpPr>
        <p:spPr bwMode="auto">
          <a:xfrm>
            <a:off x="4015121" y="2052465"/>
            <a:ext cx="723900" cy="152400"/>
          </a:xfrm>
          <a:custGeom>
            <a:avLst/>
            <a:gdLst>
              <a:gd name="T0" fmla="*/ 0 w 418"/>
              <a:gd name="T1" fmla="*/ 88 h 96"/>
              <a:gd name="T2" fmla="*/ 229 w 418"/>
              <a:gd name="T3" fmla="*/ 1 h 96"/>
              <a:gd name="T4" fmla="*/ 418 w 418"/>
              <a:gd name="T5" fmla="*/ 96 h 96"/>
              <a:gd name="T6" fmla="*/ 0 60000 65536"/>
              <a:gd name="T7" fmla="*/ 0 60000 65536"/>
              <a:gd name="T8" fmla="*/ 0 60000 65536"/>
              <a:gd name="T9" fmla="*/ 0 w 418"/>
              <a:gd name="T10" fmla="*/ 0 h 96"/>
              <a:gd name="T11" fmla="*/ 418 w 418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8" h="96">
                <a:moveTo>
                  <a:pt x="0" y="88"/>
                </a:moveTo>
                <a:cubicBezTo>
                  <a:pt x="37" y="74"/>
                  <a:pt x="159" y="0"/>
                  <a:pt x="229" y="1"/>
                </a:cubicBezTo>
                <a:cubicBezTo>
                  <a:pt x="299" y="2"/>
                  <a:pt x="379" y="76"/>
                  <a:pt x="418" y="96"/>
                </a:cubicBezTo>
              </a:path>
            </a:pathLst>
          </a:custGeom>
          <a:noFill/>
          <a:ln w="57150" cmpd="sng">
            <a:solidFill>
              <a:schemeClr val="bg1">
                <a:lumMod val="75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06" name="AutoShape 15"/>
          <p:cNvSpPr>
            <a:spLocks noChangeArrowheads="1"/>
          </p:cNvSpPr>
          <p:nvPr/>
        </p:nvSpPr>
        <p:spPr bwMode="auto">
          <a:xfrm>
            <a:off x="5808662" y="5085483"/>
            <a:ext cx="576262" cy="2873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9721" name="Line 17"/>
          <p:cNvSpPr>
            <a:spLocks noChangeShapeType="1"/>
          </p:cNvSpPr>
          <p:nvPr/>
        </p:nvSpPr>
        <p:spPr bwMode="auto">
          <a:xfrm flipV="1">
            <a:off x="3935412" y="4507633"/>
            <a:ext cx="1439863" cy="360363"/>
          </a:xfrm>
          <a:prstGeom prst="line">
            <a:avLst/>
          </a:prstGeom>
          <a:noFill/>
          <a:ln w="57150">
            <a:solidFill>
              <a:srgbClr val="BFBFB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22" name="Line 18"/>
          <p:cNvSpPr>
            <a:spLocks noChangeShapeType="1"/>
          </p:cNvSpPr>
          <p:nvPr/>
        </p:nvSpPr>
        <p:spPr bwMode="auto">
          <a:xfrm>
            <a:off x="5016500" y="3932958"/>
            <a:ext cx="431800" cy="144463"/>
          </a:xfrm>
          <a:prstGeom prst="line">
            <a:avLst/>
          </a:prstGeom>
          <a:noFill/>
          <a:ln w="57150">
            <a:solidFill>
              <a:srgbClr val="BFBFB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7888928F-16AE-45DA-AFAE-EA91ED4CE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0678" y="3213821"/>
            <a:ext cx="217488" cy="5032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29708" name="Oval 20"/>
          <p:cNvSpPr>
            <a:spLocks noChangeArrowheads="1"/>
          </p:cNvSpPr>
          <p:nvPr/>
        </p:nvSpPr>
        <p:spPr bwMode="auto">
          <a:xfrm>
            <a:off x="7967664" y="1988271"/>
            <a:ext cx="2449512" cy="1152525"/>
          </a:xfrm>
          <a:prstGeom prst="ellipse">
            <a:avLst/>
          </a:prstGeom>
          <a:solidFill>
            <a:srgbClr val="99CCFF"/>
          </a:solidFill>
          <a:ln w="9525">
            <a:solidFill>
              <a:srgbClr val="4245D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dirty="0"/>
              <a:t>Genome Data</a:t>
            </a:r>
          </a:p>
        </p:txBody>
      </p:sp>
      <p:sp>
        <p:nvSpPr>
          <p:cNvPr id="29718" name="Oval 22"/>
          <p:cNvSpPr>
            <a:spLocks noChangeAspect="1" noChangeArrowheads="1"/>
          </p:cNvSpPr>
          <p:nvPr/>
        </p:nvSpPr>
        <p:spPr bwMode="auto">
          <a:xfrm flipH="1">
            <a:off x="7286130" y="3140796"/>
            <a:ext cx="1295400" cy="1295400"/>
          </a:xfrm>
          <a:prstGeom prst="ellipse">
            <a:avLst/>
          </a:prstGeom>
          <a:solidFill>
            <a:srgbClr val="D9D9D9"/>
          </a:solidFill>
          <a:ln w="9525">
            <a:solidFill>
              <a:srgbClr val="C6C6C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dirty="0">
                <a:solidFill>
                  <a:srgbClr val="8F8F8F"/>
                </a:solidFill>
              </a:rPr>
              <a:t>Number </a:t>
            </a:r>
          </a:p>
          <a:p>
            <a:pPr algn="ctr"/>
            <a:r>
              <a:rPr lang="en-GB" sz="1600" dirty="0">
                <a:solidFill>
                  <a:srgbClr val="8F8F8F"/>
                </a:solidFill>
              </a:rPr>
              <a:t>Markers</a:t>
            </a:r>
          </a:p>
          <a:p>
            <a:pPr algn="ctr"/>
            <a:r>
              <a:rPr lang="en-GB" sz="1600" dirty="0">
                <a:solidFill>
                  <a:srgbClr val="8F8F8F"/>
                </a:solidFill>
              </a:rPr>
              <a:t>(m)</a:t>
            </a:r>
          </a:p>
        </p:txBody>
      </p:sp>
      <p:sp>
        <p:nvSpPr>
          <p:cNvPr id="29719" name="Oval 23"/>
          <p:cNvSpPr>
            <a:spLocks noChangeAspect="1" noChangeArrowheads="1"/>
          </p:cNvSpPr>
          <p:nvPr/>
        </p:nvSpPr>
        <p:spPr bwMode="auto">
          <a:xfrm flipH="1">
            <a:off x="6243636" y="1916834"/>
            <a:ext cx="1295400" cy="1295400"/>
          </a:xfrm>
          <a:prstGeom prst="ellipse">
            <a:avLst/>
          </a:prstGeom>
          <a:solidFill>
            <a:srgbClr val="D9D9D9"/>
          </a:solidFill>
          <a:ln w="9525">
            <a:solidFill>
              <a:srgbClr val="C6C6C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dirty="0">
                <a:solidFill>
                  <a:srgbClr val="8F8F8F"/>
                </a:solidFill>
              </a:rPr>
              <a:t>Population</a:t>
            </a:r>
          </a:p>
          <a:p>
            <a:pPr algn="ctr"/>
            <a:r>
              <a:rPr lang="en-GB" sz="1600" dirty="0">
                <a:solidFill>
                  <a:srgbClr val="8F8F8F"/>
                </a:solidFill>
              </a:rPr>
              <a:t>Genome</a:t>
            </a:r>
          </a:p>
          <a:p>
            <a:pPr algn="ctr"/>
            <a:r>
              <a:rPr lang="en-GB" sz="1600" dirty="0">
                <a:solidFill>
                  <a:srgbClr val="7F7F7F"/>
                </a:solidFill>
              </a:rPr>
              <a:t>Structure</a:t>
            </a:r>
          </a:p>
        </p:txBody>
      </p:sp>
      <p:sp>
        <p:nvSpPr>
          <p:cNvPr id="29720" name="Oval 24"/>
          <p:cNvSpPr>
            <a:spLocks noChangeAspect="1" noChangeArrowheads="1"/>
          </p:cNvSpPr>
          <p:nvPr/>
        </p:nvSpPr>
        <p:spPr bwMode="auto">
          <a:xfrm flipH="1">
            <a:off x="8334374" y="4364760"/>
            <a:ext cx="1295400" cy="1295400"/>
          </a:xfrm>
          <a:prstGeom prst="ellipse">
            <a:avLst/>
          </a:prstGeom>
          <a:solidFill>
            <a:srgbClr val="D9D9D9"/>
          </a:solidFill>
          <a:ln w="9525">
            <a:solidFill>
              <a:srgbClr val="C6C6C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dirty="0">
                <a:solidFill>
                  <a:srgbClr val="8F8F8F"/>
                </a:solidFill>
              </a:rPr>
              <a:t>Marker</a:t>
            </a:r>
          </a:p>
          <a:p>
            <a:pPr algn="ctr"/>
            <a:r>
              <a:rPr lang="en-GB" sz="1600" dirty="0">
                <a:solidFill>
                  <a:srgbClr val="8F8F8F"/>
                </a:solidFill>
              </a:rPr>
              <a:t>Selection</a:t>
            </a:r>
          </a:p>
        </p:txBody>
      </p:sp>
      <p:sp>
        <p:nvSpPr>
          <p:cNvPr id="51" name="Line 28">
            <a:extLst>
              <a:ext uri="{FF2B5EF4-FFF2-40B4-BE49-F238E27FC236}">
                <a16:creationId xmlns:a16="http://schemas.microsoft.com/office/drawing/2014/main" id="{A802CCA0-F7BA-47BE-817D-E12EBD3108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4032" y="3213821"/>
            <a:ext cx="217488" cy="503238"/>
          </a:xfrm>
          <a:prstGeom prst="line">
            <a:avLst/>
          </a:prstGeom>
          <a:noFill/>
          <a:ln w="57150">
            <a:solidFill>
              <a:srgbClr val="BFBFB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2" name="Freeform 32">
            <a:extLst>
              <a:ext uri="{FF2B5EF4-FFF2-40B4-BE49-F238E27FC236}">
                <a16:creationId xmlns:a16="http://schemas.microsoft.com/office/drawing/2014/main" id="{5F2394DA-FB9D-4E18-B3AB-F9F0A26EA913}"/>
              </a:ext>
            </a:extLst>
          </p:cNvPr>
          <p:cNvSpPr>
            <a:spLocks/>
          </p:cNvSpPr>
          <p:nvPr/>
        </p:nvSpPr>
        <p:spPr bwMode="auto">
          <a:xfrm flipH="1">
            <a:off x="7466011" y="2052465"/>
            <a:ext cx="723900" cy="152400"/>
          </a:xfrm>
          <a:custGeom>
            <a:avLst/>
            <a:gdLst>
              <a:gd name="T0" fmla="*/ 0 w 418"/>
              <a:gd name="T1" fmla="*/ 88 h 96"/>
              <a:gd name="T2" fmla="*/ 229 w 418"/>
              <a:gd name="T3" fmla="*/ 1 h 96"/>
              <a:gd name="T4" fmla="*/ 418 w 418"/>
              <a:gd name="T5" fmla="*/ 96 h 96"/>
              <a:gd name="T6" fmla="*/ 0 60000 65536"/>
              <a:gd name="T7" fmla="*/ 0 60000 65536"/>
              <a:gd name="T8" fmla="*/ 0 60000 65536"/>
              <a:gd name="T9" fmla="*/ 0 w 418"/>
              <a:gd name="T10" fmla="*/ 0 h 96"/>
              <a:gd name="T11" fmla="*/ 418 w 418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8" h="96">
                <a:moveTo>
                  <a:pt x="0" y="88"/>
                </a:moveTo>
                <a:cubicBezTo>
                  <a:pt x="37" y="74"/>
                  <a:pt x="159" y="0"/>
                  <a:pt x="229" y="1"/>
                </a:cubicBezTo>
                <a:cubicBezTo>
                  <a:pt x="299" y="2"/>
                  <a:pt x="379" y="76"/>
                  <a:pt x="418" y="96"/>
                </a:cubicBezTo>
              </a:path>
            </a:pathLst>
          </a:custGeom>
          <a:noFill/>
          <a:ln w="57150" cmpd="sng">
            <a:solidFill>
              <a:srgbClr val="BFBFB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40" name="Picture 60" descr="TzeenieWheenie_red_green_OK_not_OK_Icons_3.png">
            <a:extLst>
              <a:ext uri="{FF2B5EF4-FFF2-40B4-BE49-F238E27FC236}">
                <a16:creationId xmlns:a16="http://schemas.microsoft.com/office/drawing/2014/main" id="{5EA4EF5F-1F35-4009-AB56-3E149451DC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261" y="4226142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60" descr="TzeenieWheenie_red_green_OK_not_OK_Icons_3.png">
            <a:extLst>
              <a:ext uri="{FF2B5EF4-FFF2-40B4-BE49-F238E27FC236}">
                <a16:creationId xmlns:a16="http://schemas.microsoft.com/office/drawing/2014/main" id="{C41198D9-ECCD-4CBE-A41A-772289A7FB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337" y="3212233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60" descr="TzeenieWheenie_red_green_OK_not_OK_Icons_3.png">
            <a:extLst>
              <a:ext uri="{FF2B5EF4-FFF2-40B4-BE49-F238E27FC236}">
                <a16:creationId xmlns:a16="http://schemas.microsoft.com/office/drawing/2014/main" id="{1951C2CB-E5EB-4548-8346-66D9AC85EF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349" y="1862424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60" descr="TzeenieWheenie_red_green_OK_not_OK_Icons_3.png">
            <a:extLst>
              <a:ext uri="{FF2B5EF4-FFF2-40B4-BE49-F238E27FC236}">
                <a16:creationId xmlns:a16="http://schemas.microsoft.com/office/drawing/2014/main" id="{5C3AB4F9-89D5-4AEC-8289-05E32792A6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723" y="3134384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60" descr="TzeenieWheenie_red_green_OK_not_OK_Icons_3.png">
            <a:extLst>
              <a:ext uri="{FF2B5EF4-FFF2-40B4-BE49-F238E27FC236}">
                <a16:creationId xmlns:a16="http://schemas.microsoft.com/office/drawing/2014/main" id="{4DA3C94E-67AA-4D92-BD61-222D3A5C6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2370" y="4214504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FA26AA6-1EBE-4AF8-9445-6DDAA122485B}"/>
              </a:ext>
            </a:extLst>
          </p:cNvPr>
          <p:cNvSpPr/>
          <p:nvPr/>
        </p:nvSpPr>
        <p:spPr>
          <a:xfrm>
            <a:off x="5054207" y="1662900"/>
            <a:ext cx="612000" cy="61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5443821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A974-B875-45BD-AA1A-4D99D1C0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D9DD7-80D7-43FB-90CF-23CEACC6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E878C-C3EE-4564-9C25-AA8DB930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66514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D38A-2FD3-4A2F-B763-ADD7DA56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9BAE2-7E23-467D-8753-E98F981B3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Estimates on same data with different </a:t>
            </a:r>
            <a:r>
              <a:rPr lang="en-GB" b="1" dirty="0"/>
              <a:t>G</a:t>
            </a:r>
            <a:r>
              <a:rPr lang="en-GB" dirty="0"/>
              <a:t> (&amp; </a:t>
            </a:r>
            <a:r>
              <a:rPr lang="en-GB" b="1" dirty="0"/>
              <a:t>A</a:t>
            </a:r>
            <a:r>
              <a:rPr lang="en-GB" dirty="0"/>
              <a:t>) may refer to different populations/conditions </a:t>
            </a:r>
          </a:p>
          <a:p>
            <a:pPr lvl="1"/>
            <a:r>
              <a:rPr lang="en-GB" dirty="0"/>
              <a:t>compare objectively for subset s by scaling estimate by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74DEB-7D8A-43F7-A3EE-518E6B4C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CBDA4-B769-4029-8366-31A037AD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5E0798A-6B0E-46C3-8DCA-0FEE0E9E06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379469"/>
              </p:ext>
            </p:extLst>
          </p:nvPr>
        </p:nvGraphicFramePr>
        <p:xfrm>
          <a:off x="4511825" y="2708921"/>
          <a:ext cx="2632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3" name="Equation" r:id="rId3" imgW="1180800" imgH="241200" progId="Equation.DSMT4">
                  <p:embed/>
                </p:oleObj>
              </mc:Choice>
              <mc:Fallback>
                <p:oleObj name="Equation" r:id="rId3" imgW="1180800" imgH="241200" progId="Equation.DSMT4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1825" y="2708921"/>
                        <a:ext cx="2632075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87399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D38A-2FD3-4A2F-B763-ADD7DA56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9BAE2-7E23-467D-8753-E98F981B3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Estimates on same data with different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(&amp;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) may refer to different populations/conditions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rial"/>
                <a:cs typeface="Arial"/>
              </a:rPr>
              <a:t>Pedigree BLUP is a ridge regression on base </a:t>
            </a:r>
            <a:r>
              <a:rPr lang="en-GB" i="1" dirty="0">
                <a:latin typeface="Arial"/>
                <a:cs typeface="Arial"/>
              </a:rPr>
              <a:t>A</a:t>
            </a:r>
            <a:r>
              <a:rPr lang="en-GB" i="1" baseline="-25000" dirty="0">
                <a:latin typeface="Arial"/>
                <a:cs typeface="Arial"/>
              </a:rPr>
              <a:t>i</a:t>
            </a:r>
            <a:r>
              <a:rPr lang="en-GB" dirty="0">
                <a:latin typeface="Arial"/>
                <a:cs typeface="Arial"/>
              </a:rPr>
              <a:t> and descendent Mendelian sampling terms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74DEB-7D8A-43F7-A3EE-518E6B4C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CBDA4-B769-4029-8366-31A037AD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4471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D38A-2FD3-4A2F-B763-ADD7DA56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9BAE2-7E23-467D-8753-E98F981B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Estimates from different G (or A) on same data may refer to different populations and/or conditions </a:t>
            </a:r>
          </a:p>
          <a:p>
            <a:endParaRPr lang="en-GB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Pedigree BLUP is a ridge regression on base A</a:t>
            </a:r>
            <a:r>
              <a:rPr lang="en-GB" baseline="-25000" dirty="0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descendent Mendelian sampling terms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Accuracy depends on information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, </a:t>
            </a:r>
            <a:r>
              <a:rPr lang="en-GB" i="1" dirty="0"/>
              <a:t>N</a:t>
            </a:r>
            <a:r>
              <a:rPr lang="en-GB" dirty="0"/>
              <a:t>, genome structure, marker number &amp; choice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74DEB-7D8A-43F7-A3EE-518E6B4C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/>
          <a:p>
            <a:fld id="{3B05F5D2-F5AD-4A05-9984-C485D1AC8D72}" type="datetime4">
              <a:rPr lang="en-GB" smtClean="0"/>
              <a:pPr/>
              <a:t>09 February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CBDA4-B769-4029-8366-31A037AD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92475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D38A-2FD3-4A2F-B763-ADD7DA56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9BAE2-7E23-467D-8753-E98F981B3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Estimates on same data with different </a:t>
            </a:r>
            <a:r>
              <a:rPr lang="en-GB" b="1" dirty="0"/>
              <a:t>G</a:t>
            </a:r>
            <a:r>
              <a:rPr lang="en-GB" dirty="0"/>
              <a:t> (&amp; </a:t>
            </a:r>
            <a:r>
              <a:rPr lang="en-GB" b="1" dirty="0"/>
              <a:t>A</a:t>
            </a:r>
            <a:r>
              <a:rPr lang="en-GB" dirty="0"/>
              <a:t>) may refer to different populations/conditions</a:t>
            </a:r>
          </a:p>
          <a:p>
            <a:endParaRPr lang="en-GB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Pedigree BLUP is a ridge regression on base </a:t>
            </a:r>
            <a:r>
              <a:rPr lang="en-GB" i="1" dirty="0">
                <a:latin typeface="Arial"/>
                <a:cs typeface="Arial"/>
              </a:rPr>
              <a:t>A</a:t>
            </a:r>
            <a:r>
              <a:rPr lang="en-GB" i="1" baseline="-25000" dirty="0">
                <a:latin typeface="Arial"/>
                <a:cs typeface="Arial"/>
              </a:rPr>
              <a:t>i</a:t>
            </a:r>
            <a:r>
              <a:rPr lang="en-GB" dirty="0">
                <a:latin typeface="Arial"/>
                <a:cs typeface="Arial"/>
              </a:rPr>
              <a:t> and descendent Mendelian sampling terms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  <a:p>
            <a:endParaRPr lang="en-GB" dirty="0"/>
          </a:p>
          <a:p>
            <a:r>
              <a:rPr lang="en-GB" dirty="0"/>
              <a:t>Accuracy depends on information </a:t>
            </a:r>
            <a:r>
              <a:rPr lang="en-GB" i="1" dirty="0"/>
              <a:t>h</a:t>
            </a:r>
            <a:r>
              <a:rPr lang="en-GB" i="1" baseline="30000" dirty="0"/>
              <a:t>2</a:t>
            </a:r>
            <a:r>
              <a:rPr lang="en-GB" dirty="0"/>
              <a:t>, </a:t>
            </a:r>
            <a:r>
              <a:rPr lang="en-GB" i="1" dirty="0"/>
              <a:t>N</a:t>
            </a:r>
            <a:r>
              <a:rPr lang="en-GB" dirty="0"/>
              <a:t>, genome structure, marker number &amp; choice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74DEB-7D8A-43F7-A3EE-518E6B4C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F5D2-F5AD-4A05-9984-C485D1AC8D72}" type="datetime4">
              <a:rPr lang="en-GB" smtClean="0"/>
              <a:t>09 February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CBDA4-B769-4029-8366-31A037AD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6721355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25050</TotalTime>
  <Words>4156</Words>
  <Application>Microsoft Office PowerPoint</Application>
  <PresentationFormat>Widescreen</PresentationFormat>
  <Paragraphs>1208</Paragraphs>
  <Slides>98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98</vt:i4>
      </vt:variant>
    </vt:vector>
  </HeadingPairs>
  <TitlesOfParts>
    <vt:vector size="106" baseType="lpstr">
      <vt:lpstr>Arial</vt:lpstr>
      <vt:lpstr>Calibri</vt:lpstr>
      <vt:lpstr>Cambria Math</vt:lpstr>
      <vt:lpstr>Times New Roman</vt:lpstr>
      <vt:lpstr>1_Default Design</vt:lpstr>
      <vt:lpstr>Equation</vt:lpstr>
      <vt:lpstr>Chart</vt:lpstr>
      <vt:lpstr>Worksheet</vt:lpstr>
      <vt:lpstr>… Lecture 9 … Variances and Perspectives</vt:lpstr>
      <vt:lpstr>… Lecture 9 … Variances and Perspectives</vt:lpstr>
      <vt:lpstr>Estimates of Heritability</vt:lpstr>
      <vt:lpstr>Estimates of Heritability</vt:lpstr>
      <vt:lpstr>Ancient History</vt:lpstr>
      <vt:lpstr>REML Age </vt:lpstr>
      <vt:lpstr>REML Age </vt:lpstr>
      <vt:lpstr>REML Age </vt:lpstr>
      <vt:lpstr>REML Age </vt:lpstr>
      <vt:lpstr>Genomic Age</vt:lpstr>
      <vt:lpstr>Genomic Age</vt:lpstr>
      <vt:lpstr>PowerPoint Presentation</vt:lpstr>
      <vt:lpstr>Perspectives </vt:lpstr>
      <vt:lpstr>General Result</vt:lpstr>
      <vt:lpstr>General Result</vt:lpstr>
      <vt:lpstr>Apply to Relationships</vt:lpstr>
      <vt:lpstr>Apply to Relationships</vt:lpstr>
      <vt:lpstr>Apply to Relationships</vt:lpstr>
      <vt:lpstr>Apply to Relationships</vt:lpstr>
      <vt:lpstr>Apply to Relationships</vt:lpstr>
      <vt:lpstr>Conclusion</vt:lpstr>
      <vt:lpstr>Comparing Genetic Variances</vt:lpstr>
      <vt:lpstr>Comparing Genetic Variances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Comparing Genetic Variances</vt:lpstr>
      <vt:lpstr>Remember</vt:lpstr>
      <vt:lpstr>PowerPoint Presentation</vt:lpstr>
      <vt:lpstr>…Lecture 9… Variances and Perspectives</vt:lpstr>
      <vt:lpstr>Van Raden G1 &amp; G2</vt:lpstr>
      <vt:lpstr>Van Raden G1 &amp; G2</vt:lpstr>
      <vt:lpstr>A as a Ridge Regression</vt:lpstr>
      <vt:lpstr>A as a Ridge Regression</vt:lpstr>
      <vt:lpstr>With IBD</vt:lpstr>
      <vt:lpstr>With IBD</vt:lpstr>
      <vt:lpstr>With IBD</vt:lpstr>
      <vt:lpstr>With IBS</vt:lpstr>
      <vt:lpstr>With IBS</vt:lpstr>
      <vt:lpstr>With IBS</vt:lpstr>
      <vt:lpstr>With IBS</vt:lpstr>
      <vt:lpstr>Summary</vt:lpstr>
      <vt:lpstr>PowerPoint Presentation</vt:lpstr>
      <vt:lpstr>… Lecture 9 … Variances and Perspectives</vt:lpstr>
      <vt:lpstr>Predictors &gt;&gt; Data </vt:lpstr>
      <vt:lpstr>Principal Components</vt:lpstr>
      <vt:lpstr>How confident about the slope?</vt:lpstr>
      <vt:lpstr>How confident about the slope?</vt:lpstr>
      <vt:lpstr>Two Covariates</vt:lpstr>
      <vt:lpstr>Two dimensions</vt:lpstr>
      <vt:lpstr>Two dimensions</vt:lpstr>
      <vt:lpstr>Principal Components</vt:lpstr>
      <vt:lpstr>Partial Least Squares</vt:lpstr>
      <vt:lpstr>Reducing Dimensions</vt:lpstr>
      <vt:lpstr>Subsets of Markers</vt:lpstr>
      <vt:lpstr>Handouts </vt:lpstr>
      <vt:lpstr>PowerPoint Presentation</vt:lpstr>
      <vt:lpstr>…Lecture 9… Variances and Perspectives</vt:lpstr>
      <vt:lpstr>Accuracy Criterion</vt:lpstr>
      <vt:lpstr>Factors for Accuracy</vt:lpstr>
      <vt:lpstr>Factors for Accuracy</vt:lpstr>
      <vt:lpstr>Factors for Accuracy</vt:lpstr>
      <vt:lpstr>Accuracy as f(h2,N)</vt:lpstr>
      <vt:lpstr>Accuracy in Humans</vt:lpstr>
      <vt:lpstr>Accuracy &amp; h2N</vt:lpstr>
      <vt:lpstr>Information leads to GWAS</vt:lpstr>
      <vt:lpstr>PowerPoint Presentation</vt:lpstr>
      <vt:lpstr>Factors for Accuracy</vt:lpstr>
      <vt:lpstr>Same for all species?</vt:lpstr>
      <vt:lpstr>Same for all species?</vt:lpstr>
      <vt:lpstr>Same for all species?</vt:lpstr>
      <vt:lpstr>Same for all species?</vt:lpstr>
      <vt:lpstr>PowerPoint Presentation</vt:lpstr>
      <vt:lpstr>Factors for Accuracy</vt:lpstr>
      <vt:lpstr>Factors</vt:lpstr>
      <vt:lpstr>Marker Accessibility</vt:lpstr>
      <vt:lpstr>How Much Variance?</vt:lpstr>
      <vt:lpstr>How Much Variance?</vt:lpstr>
      <vt:lpstr>How Much Variance?</vt:lpstr>
      <vt:lpstr>How Much Variance?</vt:lpstr>
      <vt:lpstr>How Much Variance?</vt:lpstr>
      <vt:lpstr>How Much Variance?</vt:lpstr>
      <vt:lpstr>Canela-Xandri Simulations</vt:lpstr>
      <vt:lpstr>Canela-Xandri Simulations</vt:lpstr>
      <vt:lpstr>Canela-Xandri Simulations</vt:lpstr>
      <vt:lpstr>Marker Accessibility</vt:lpstr>
      <vt:lpstr>Accuracy as f(m)</vt:lpstr>
      <vt:lpstr>Accuracy as f(m)</vt:lpstr>
      <vt:lpstr>Factors for Accuracy</vt:lpstr>
      <vt:lpstr>PowerPoint Presentation</vt:lpstr>
      <vt:lpstr>Summary</vt:lpstr>
      <vt:lpstr>Summary</vt:lpstr>
      <vt:lpstr>Summary</vt:lpstr>
      <vt:lpstr>Summary</vt:lpstr>
    </vt:vector>
  </TitlesOfParts>
  <Company>Roslin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Population Size: Calculation and Use</dc:title>
  <dc:creator>woollja</dc:creator>
  <cp:lastModifiedBy>John Woolliams</cp:lastModifiedBy>
  <cp:revision>539</cp:revision>
  <cp:lastPrinted>2024-02-12T13:39:15Z</cp:lastPrinted>
  <dcterms:created xsi:type="dcterms:W3CDTF">2007-10-16T08:44:29Z</dcterms:created>
  <dcterms:modified xsi:type="dcterms:W3CDTF">2025-02-09T09:42:54Z</dcterms:modified>
</cp:coreProperties>
</file>