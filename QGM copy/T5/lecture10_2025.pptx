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70"/>
  </p:notesMasterIdLst>
  <p:handoutMasterIdLst>
    <p:handoutMasterId r:id="rId71"/>
  </p:handoutMasterIdLst>
  <p:sldIdLst>
    <p:sldId id="256" r:id="rId2"/>
    <p:sldId id="493" r:id="rId3"/>
    <p:sldId id="522" r:id="rId4"/>
    <p:sldId id="426" r:id="rId5"/>
    <p:sldId id="368" r:id="rId6"/>
    <p:sldId id="370" r:id="rId7"/>
    <p:sldId id="543" r:id="rId8"/>
    <p:sldId id="494" r:id="rId9"/>
    <p:sldId id="525" r:id="rId10"/>
    <p:sldId id="369" r:id="rId11"/>
    <p:sldId id="495" r:id="rId12"/>
    <p:sldId id="526" r:id="rId13"/>
    <p:sldId id="544" r:id="rId14"/>
    <p:sldId id="545" r:id="rId15"/>
    <p:sldId id="496" r:id="rId16"/>
    <p:sldId id="434" r:id="rId17"/>
    <p:sldId id="497" r:id="rId18"/>
    <p:sldId id="436" r:id="rId19"/>
    <p:sldId id="498" r:id="rId20"/>
    <p:sldId id="376" r:id="rId21"/>
    <p:sldId id="500" r:id="rId22"/>
    <p:sldId id="441" r:id="rId23"/>
    <p:sldId id="326" r:id="rId24"/>
    <p:sldId id="328" r:id="rId25"/>
    <p:sldId id="329" r:id="rId26"/>
    <p:sldId id="330" r:id="rId27"/>
    <p:sldId id="332" r:id="rId28"/>
    <p:sldId id="333" r:id="rId29"/>
    <p:sldId id="367" r:id="rId30"/>
    <p:sldId id="362" r:id="rId31"/>
    <p:sldId id="383" r:id="rId32"/>
    <p:sldId id="442" r:id="rId33"/>
    <p:sldId id="378" r:id="rId34"/>
    <p:sldId id="334" r:id="rId35"/>
    <p:sldId id="546" r:id="rId36"/>
    <p:sldId id="547" r:id="rId37"/>
    <p:sldId id="556" r:id="rId38"/>
    <p:sldId id="555" r:id="rId39"/>
    <p:sldId id="554" r:id="rId40"/>
    <p:sldId id="385" r:id="rId41"/>
    <p:sldId id="541" r:id="rId42"/>
    <p:sldId id="549" r:id="rId43"/>
    <p:sldId id="550" r:id="rId44"/>
    <p:sldId id="551" r:id="rId45"/>
    <p:sldId id="539" r:id="rId46"/>
    <p:sldId id="552" r:id="rId47"/>
    <p:sldId id="502" r:id="rId48"/>
    <p:sldId id="504" r:id="rId49"/>
    <p:sldId id="553" r:id="rId50"/>
    <p:sldId id="530" r:id="rId51"/>
    <p:sldId id="382" r:id="rId52"/>
    <p:sldId id="529" r:id="rId53"/>
    <p:sldId id="336" r:id="rId54"/>
    <p:sldId id="521" r:id="rId55"/>
    <p:sldId id="427" r:id="rId56"/>
    <p:sldId id="476" r:id="rId57"/>
    <p:sldId id="428" r:id="rId58"/>
    <p:sldId id="517" r:id="rId59"/>
    <p:sldId id="483" r:id="rId60"/>
    <p:sldId id="471" r:id="rId61"/>
    <p:sldId id="454" r:id="rId62"/>
    <p:sldId id="449" r:id="rId63"/>
    <p:sldId id="450" r:id="rId64"/>
    <p:sldId id="487" r:id="rId65"/>
    <p:sldId id="451" r:id="rId66"/>
    <p:sldId id="452" r:id="rId67"/>
    <p:sldId id="453" r:id="rId68"/>
    <p:sldId id="548" r:id="rId69"/>
  </p:sldIdLst>
  <p:sldSz cx="12192000" cy="6858000"/>
  <p:notesSz cx="6797675" cy="9926638"/>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99"/>
    <a:srgbClr val="7F7F7F"/>
    <a:srgbClr val="D9D9D9"/>
    <a:srgbClr val="ACACAC"/>
    <a:srgbClr val="BFBFBF"/>
    <a:srgbClr val="FB2E29"/>
    <a:srgbClr val="FFFF99"/>
    <a:srgbClr val="000099"/>
    <a:srgbClr val="FF99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3264" autoAdjust="0"/>
  </p:normalViewPr>
  <p:slideViewPr>
    <p:cSldViewPr>
      <p:cViewPr varScale="1">
        <p:scale>
          <a:sx n="71" d="100"/>
          <a:sy n="71" d="100"/>
        </p:scale>
        <p:origin x="424" y="5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8984"/>
    </p:cViewPr>
  </p:sorterViewPr>
  <p:notesViewPr>
    <p:cSldViewPr>
      <p:cViewPr varScale="1">
        <p:scale>
          <a:sx n="59" d="100"/>
          <a:sy n="59" d="100"/>
        </p:scale>
        <p:origin x="-2508"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29B0391C-0742-4BB5-B8E8-9AB377CCEF9D}" type="datetimeFigureOut">
              <a:rPr lang="en-GB" smtClean="0"/>
              <a:t>12/02/2025</a:t>
            </a:fld>
            <a:endParaRPr lang="en-GB"/>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08735B18-1329-454D-AA2B-8A32F327D587}" type="slidenum">
              <a:rPr lang="en-GB" smtClean="0"/>
              <a:t>‹#›</a:t>
            </a:fld>
            <a:endParaRPr lang="en-GB"/>
          </a:p>
        </p:txBody>
      </p:sp>
    </p:spTree>
    <p:extLst>
      <p:ext uri="{BB962C8B-B14F-4D97-AF65-F5344CB8AC3E}">
        <p14:creationId xmlns:p14="http://schemas.microsoft.com/office/powerpoint/2010/main" val="100133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GB"/>
          </a:p>
        </p:txBody>
      </p:sp>
      <p:sp>
        <p:nvSpPr>
          <p:cNvPr id="16387" name="Rectangle 3"/>
          <p:cNvSpPr>
            <a:spLocks noGrp="1" noChangeArrowheads="1"/>
          </p:cNvSpPr>
          <p:nvPr>
            <p:ph type="dt" idx="1"/>
          </p:nvPr>
        </p:nvSpPr>
        <p:spPr bwMode="auto">
          <a:xfrm>
            <a:off x="3850443" y="0"/>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16388"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9" name="Rectangle 5"/>
          <p:cNvSpPr>
            <a:spLocks noGrp="1" noChangeArrowheads="1"/>
          </p:cNvSpPr>
          <p:nvPr>
            <p:ph type="body" sz="quarter" idx="3"/>
          </p:nvPr>
        </p:nvSpPr>
        <p:spPr bwMode="auto">
          <a:xfrm>
            <a:off x="679768" y="4715153"/>
            <a:ext cx="5438140" cy="446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390" name="Rectangle 6"/>
          <p:cNvSpPr>
            <a:spLocks noGrp="1" noChangeArrowheads="1"/>
          </p:cNvSpPr>
          <p:nvPr>
            <p:ph type="ftr" sz="quarter" idx="4"/>
          </p:nvPr>
        </p:nvSpPr>
        <p:spPr bwMode="auto">
          <a:xfrm>
            <a:off x="0" y="9428583"/>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GB"/>
          </a:p>
        </p:txBody>
      </p:sp>
      <p:sp>
        <p:nvSpPr>
          <p:cNvPr id="16391" name="Rectangle 7"/>
          <p:cNvSpPr>
            <a:spLocks noGrp="1" noChangeArrowheads="1"/>
          </p:cNvSpPr>
          <p:nvPr>
            <p:ph type="sldNum" sz="quarter" idx="5"/>
          </p:nvPr>
        </p:nvSpPr>
        <p:spPr bwMode="auto">
          <a:xfrm>
            <a:off x="3850443" y="9428583"/>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ED99FC11-17B9-4DF3-92D0-073BC9F6791A}" type="slidenum">
              <a:rPr lang="en-GB"/>
              <a:pPr/>
              <a:t>‹#›</a:t>
            </a:fld>
            <a:endParaRPr lang="en-GB"/>
          </a:p>
        </p:txBody>
      </p:sp>
    </p:spTree>
    <p:extLst>
      <p:ext uri="{BB962C8B-B14F-4D97-AF65-F5344CB8AC3E}">
        <p14:creationId xmlns:p14="http://schemas.microsoft.com/office/powerpoint/2010/main" val="168547784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0327C0-0BE4-45EB-ADFA-49CAB22BBE06}" type="slidenum">
              <a:rPr lang="en-GB"/>
              <a:pPr/>
              <a:t>1</a:t>
            </a:fld>
            <a:endParaRPr lang="en-GB"/>
          </a:p>
        </p:txBody>
      </p:sp>
      <p:sp>
        <p:nvSpPr>
          <p:cNvPr id="389122" name="Rectangle 2"/>
          <p:cNvSpPr>
            <a:spLocks noGrp="1" noRot="1" noChangeAspect="1" noChangeArrowheads="1" noTextEdit="1"/>
          </p:cNvSpPr>
          <p:nvPr>
            <p:ph type="sldImg"/>
          </p:nvPr>
        </p:nvSpPr>
        <p:spPr>
          <a:xfrm>
            <a:off x="90488" y="744538"/>
            <a:ext cx="6616700" cy="3722687"/>
          </a:xfrm>
          <a:ln/>
        </p:spPr>
      </p:sp>
      <p:sp>
        <p:nvSpPr>
          <p:cNvPr id="389123" name="Rectangle 3"/>
          <p:cNvSpPr>
            <a:spLocks noGrp="1" noChangeArrowheads="1"/>
          </p:cNvSpPr>
          <p:nvPr>
            <p:ph type="body" idx="1"/>
          </p:nvPr>
        </p:nvSpPr>
        <p:spPr>
          <a:xfrm>
            <a:off x="906357" y="4715153"/>
            <a:ext cx="4984962" cy="4466987"/>
          </a:xfrm>
        </p:spPr>
        <p:txBody>
          <a:bodyPr/>
          <a:lstStyle/>
          <a:p>
            <a:endParaRPr lang="en-US" dirty="0"/>
          </a:p>
        </p:txBody>
      </p:sp>
    </p:spTree>
    <p:extLst>
      <p:ext uri="{BB962C8B-B14F-4D97-AF65-F5344CB8AC3E}">
        <p14:creationId xmlns:p14="http://schemas.microsoft.com/office/powerpoint/2010/main" val="3729424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0327C0-0BE4-45EB-ADFA-49CAB22BBE06}" type="slidenum">
              <a:rPr lang="en-GB"/>
              <a:pPr/>
              <a:t>2</a:t>
            </a:fld>
            <a:endParaRPr lang="en-GB"/>
          </a:p>
        </p:txBody>
      </p:sp>
      <p:sp>
        <p:nvSpPr>
          <p:cNvPr id="389122" name="Rectangle 2"/>
          <p:cNvSpPr>
            <a:spLocks noGrp="1" noRot="1" noChangeAspect="1" noChangeArrowheads="1" noTextEdit="1"/>
          </p:cNvSpPr>
          <p:nvPr>
            <p:ph type="sldImg"/>
          </p:nvPr>
        </p:nvSpPr>
        <p:spPr>
          <a:xfrm>
            <a:off x="90488" y="744538"/>
            <a:ext cx="6616700" cy="3722687"/>
          </a:xfrm>
          <a:ln/>
        </p:spPr>
      </p:sp>
      <p:sp>
        <p:nvSpPr>
          <p:cNvPr id="389123" name="Rectangle 3"/>
          <p:cNvSpPr>
            <a:spLocks noGrp="1" noChangeArrowheads="1"/>
          </p:cNvSpPr>
          <p:nvPr>
            <p:ph type="body" idx="1"/>
          </p:nvPr>
        </p:nvSpPr>
        <p:spPr>
          <a:xfrm>
            <a:off x="914400" y="4343400"/>
            <a:ext cx="5029200" cy="4114800"/>
          </a:xfrm>
        </p:spPr>
        <p:txBody>
          <a:bodyPr/>
          <a:lstStyle/>
          <a:p>
            <a:endParaRPr lang="en-US"/>
          </a:p>
        </p:txBody>
      </p:sp>
    </p:spTree>
    <p:extLst>
      <p:ext uri="{BB962C8B-B14F-4D97-AF65-F5344CB8AC3E}">
        <p14:creationId xmlns:p14="http://schemas.microsoft.com/office/powerpoint/2010/main" val="805933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D99FC11-17B9-4DF3-92D0-073BC9F6791A}" type="slidenum">
              <a:rPr lang="en-GB" smtClean="0"/>
              <a:pPr/>
              <a:t>19</a:t>
            </a:fld>
            <a:endParaRPr lang="en-GB"/>
          </a:p>
        </p:txBody>
      </p:sp>
    </p:spTree>
    <p:extLst>
      <p:ext uri="{BB962C8B-B14F-4D97-AF65-F5344CB8AC3E}">
        <p14:creationId xmlns:p14="http://schemas.microsoft.com/office/powerpoint/2010/main" val="3703658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0327C0-0BE4-45EB-ADFA-49CAB22BBE06}" type="slidenum">
              <a:rPr lang="en-GB"/>
              <a:pPr/>
              <a:t>22</a:t>
            </a:fld>
            <a:endParaRPr lang="en-GB"/>
          </a:p>
        </p:txBody>
      </p:sp>
      <p:sp>
        <p:nvSpPr>
          <p:cNvPr id="389122" name="Rectangle 2"/>
          <p:cNvSpPr>
            <a:spLocks noGrp="1" noRot="1" noChangeAspect="1" noChangeArrowheads="1" noTextEdit="1"/>
          </p:cNvSpPr>
          <p:nvPr>
            <p:ph type="sldImg"/>
          </p:nvPr>
        </p:nvSpPr>
        <p:spPr>
          <a:xfrm>
            <a:off x="90488" y="744538"/>
            <a:ext cx="6616700" cy="3722687"/>
          </a:xfrm>
          <a:ln/>
        </p:spPr>
      </p:sp>
      <p:sp>
        <p:nvSpPr>
          <p:cNvPr id="389123" name="Rectangle 3"/>
          <p:cNvSpPr>
            <a:spLocks noGrp="1" noChangeArrowheads="1"/>
          </p:cNvSpPr>
          <p:nvPr>
            <p:ph type="body" idx="1"/>
          </p:nvPr>
        </p:nvSpPr>
        <p:spPr>
          <a:xfrm>
            <a:off x="914400" y="4343400"/>
            <a:ext cx="5029200" cy="4114800"/>
          </a:xfrm>
        </p:spPr>
        <p:txBody>
          <a:bodyPr/>
          <a:lstStyle/>
          <a:p>
            <a:endParaRPr lang="en-US"/>
          </a:p>
        </p:txBody>
      </p:sp>
    </p:spTree>
    <p:extLst>
      <p:ext uri="{BB962C8B-B14F-4D97-AF65-F5344CB8AC3E}">
        <p14:creationId xmlns:p14="http://schemas.microsoft.com/office/powerpoint/2010/main" val="19727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D99FC11-17B9-4DF3-92D0-073BC9F6791A}" type="slidenum">
              <a:rPr lang="en-GB" smtClean="0"/>
              <a:pPr/>
              <a:t>30</a:t>
            </a:fld>
            <a:endParaRPr lang="en-GB"/>
          </a:p>
        </p:txBody>
      </p:sp>
    </p:spTree>
    <p:extLst>
      <p:ext uri="{BB962C8B-B14F-4D97-AF65-F5344CB8AC3E}">
        <p14:creationId xmlns:p14="http://schemas.microsoft.com/office/powerpoint/2010/main" val="1072416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0327C0-0BE4-45EB-ADFA-49CAB22BBE06}" type="slidenum">
              <a:rPr lang="en-GB"/>
              <a:pPr/>
              <a:t>32</a:t>
            </a:fld>
            <a:endParaRPr lang="en-GB"/>
          </a:p>
        </p:txBody>
      </p:sp>
      <p:sp>
        <p:nvSpPr>
          <p:cNvPr id="389122" name="Rectangle 2"/>
          <p:cNvSpPr>
            <a:spLocks noGrp="1" noRot="1" noChangeAspect="1" noChangeArrowheads="1" noTextEdit="1"/>
          </p:cNvSpPr>
          <p:nvPr>
            <p:ph type="sldImg"/>
          </p:nvPr>
        </p:nvSpPr>
        <p:spPr>
          <a:xfrm>
            <a:off x="90488" y="744538"/>
            <a:ext cx="6616700" cy="3722687"/>
          </a:xfrm>
          <a:ln/>
        </p:spPr>
      </p:sp>
      <p:sp>
        <p:nvSpPr>
          <p:cNvPr id="389123" name="Rectangle 3"/>
          <p:cNvSpPr>
            <a:spLocks noGrp="1" noChangeArrowheads="1"/>
          </p:cNvSpPr>
          <p:nvPr>
            <p:ph type="body" idx="1"/>
          </p:nvPr>
        </p:nvSpPr>
        <p:spPr>
          <a:xfrm>
            <a:off x="914400" y="4343400"/>
            <a:ext cx="5029200" cy="4114800"/>
          </a:xfrm>
        </p:spPr>
        <p:txBody>
          <a:bodyPr/>
          <a:lstStyle/>
          <a:p>
            <a:endParaRPr lang="en-US"/>
          </a:p>
        </p:txBody>
      </p:sp>
    </p:spTree>
    <p:extLst>
      <p:ext uri="{BB962C8B-B14F-4D97-AF65-F5344CB8AC3E}">
        <p14:creationId xmlns:p14="http://schemas.microsoft.com/office/powerpoint/2010/main" val="3340166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0327C0-0BE4-45EB-ADFA-49CAB22BBE06}" type="slidenum">
              <a:rPr lang="en-GB"/>
              <a:pPr/>
              <a:t>52</a:t>
            </a:fld>
            <a:endParaRPr lang="en-GB"/>
          </a:p>
        </p:txBody>
      </p:sp>
      <p:sp>
        <p:nvSpPr>
          <p:cNvPr id="389122" name="Rectangle 2"/>
          <p:cNvSpPr>
            <a:spLocks noGrp="1" noRot="1" noChangeAspect="1" noChangeArrowheads="1" noTextEdit="1"/>
          </p:cNvSpPr>
          <p:nvPr>
            <p:ph type="sldImg"/>
          </p:nvPr>
        </p:nvSpPr>
        <p:spPr>
          <a:xfrm>
            <a:off x="90488" y="744538"/>
            <a:ext cx="6616700" cy="3722687"/>
          </a:xfrm>
          <a:ln/>
        </p:spPr>
      </p:sp>
      <p:sp>
        <p:nvSpPr>
          <p:cNvPr id="389123" name="Rectangle 3"/>
          <p:cNvSpPr>
            <a:spLocks noGrp="1" noChangeArrowheads="1"/>
          </p:cNvSpPr>
          <p:nvPr>
            <p:ph type="body" idx="1"/>
          </p:nvPr>
        </p:nvSpPr>
        <p:spPr>
          <a:xfrm>
            <a:off x="914400" y="4343400"/>
            <a:ext cx="5029200" cy="4114800"/>
          </a:xfrm>
        </p:spPr>
        <p:txBody>
          <a:bodyPr/>
          <a:lstStyle/>
          <a:p>
            <a:endParaRPr lang="en-US"/>
          </a:p>
        </p:txBody>
      </p:sp>
    </p:spTree>
    <p:extLst>
      <p:ext uri="{BB962C8B-B14F-4D97-AF65-F5344CB8AC3E}">
        <p14:creationId xmlns:p14="http://schemas.microsoft.com/office/powerpoint/2010/main" val="876809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0327C0-0BE4-45EB-ADFA-49CAB22BBE06}" type="slidenum">
              <a:rPr lang="en-GB"/>
              <a:pPr/>
              <a:t>59</a:t>
            </a:fld>
            <a:endParaRPr lang="en-GB"/>
          </a:p>
        </p:txBody>
      </p:sp>
      <p:sp>
        <p:nvSpPr>
          <p:cNvPr id="389122" name="Rectangle 2"/>
          <p:cNvSpPr>
            <a:spLocks noGrp="1" noRot="1" noChangeAspect="1" noChangeArrowheads="1" noTextEdit="1"/>
          </p:cNvSpPr>
          <p:nvPr>
            <p:ph type="sldImg"/>
          </p:nvPr>
        </p:nvSpPr>
        <p:spPr>
          <a:xfrm>
            <a:off x="90488" y="744538"/>
            <a:ext cx="6616700" cy="3722687"/>
          </a:xfrm>
          <a:ln/>
        </p:spPr>
      </p:sp>
      <p:sp>
        <p:nvSpPr>
          <p:cNvPr id="389123" name="Rectangle 3"/>
          <p:cNvSpPr>
            <a:spLocks noGrp="1" noChangeArrowheads="1"/>
          </p:cNvSpPr>
          <p:nvPr>
            <p:ph type="body" idx="1"/>
          </p:nvPr>
        </p:nvSpPr>
        <p:spPr>
          <a:xfrm>
            <a:off x="906357" y="4715153"/>
            <a:ext cx="4984962" cy="4466987"/>
          </a:xfrm>
        </p:spPr>
        <p:txBody>
          <a:bodyPr/>
          <a:lstStyle/>
          <a:p>
            <a:endParaRPr lang="en-US" dirty="0"/>
          </a:p>
        </p:txBody>
      </p:sp>
    </p:spTree>
    <p:extLst>
      <p:ext uri="{BB962C8B-B14F-4D97-AF65-F5344CB8AC3E}">
        <p14:creationId xmlns:p14="http://schemas.microsoft.com/office/powerpoint/2010/main" val="1568833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fld id="{E0731F9E-7C29-4A4F-960B-A1B1AB536726}" type="slidenum">
              <a:rPr lang="en-GB" altLang="en-US" baseline="0"/>
              <a:pPr eaLnBrk="1" hangingPunct="1"/>
              <a:t>61</a:t>
            </a:fld>
            <a:endParaRPr lang="en-GB" altLang="en-US" baseline="0"/>
          </a:p>
        </p:txBody>
      </p:sp>
      <p:sp>
        <p:nvSpPr>
          <p:cNvPr id="60419" name="Rectangle 7"/>
          <p:cNvSpPr txBox="1">
            <a:spLocks noGrp="1" noChangeArrowheads="1"/>
          </p:cNvSpPr>
          <p:nvPr/>
        </p:nvSpPr>
        <p:spPr bwMode="auto">
          <a:xfrm>
            <a:off x="3850443" y="9428583"/>
            <a:ext cx="2945659" cy="4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b"/>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algn="r"/>
            <a:fld id="{2C2A1B12-72A4-4AE1-8519-5A474E555495}" type="slidenum">
              <a:rPr lang="en-US" altLang="en-US" sz="1200" baseline="0"/>
              <a:pPr algn="r"/>
              <a:t>61</a:t>
            </a:fld>
            <a:endParaRPr lang="en-US" altLang="en-US" sz="1200" baseline="0"/>
          </a:p>
        </p:txBody>
      </p:sp>
      <p:sp>
        <p:nvSpPr>
          <p:cNvPr id="60420" name="Rectangle 2"/>
          <p:cNvSpPr>
            <a:spLocks noGrp="1" noRot="1" noChangeAspect="1" noChangeArrowheads="1" noTextEdit="1"/>
          </p:cNvSpPr>
          <p:nvPr>
            <p:ph type="sldImg"/>
          </p:nvPr>
        </p:nvSpPr>
        <p:spPr>
          <a:xfrm>
            <a:off x="90488" y="744538"/>
            <a:ext cx="6616700" cy="3722687"/>
          </a:xfrm>
          <a:ln/>
        </p:spPr>
      </p:sp>
      <p:sp>
        <p:nvSpPr>
          <p:cNvPr id="60421" name="Rectangle 3"/>
          <p:cNvSpPr>
            <a:spLocks noGrp="1" noChangeArrowheads="1"/>
          </p:cNvSpPr>
          <p:nvPr>
            <p:ph type="body" idx="1"/>
          </p:nvPr>
        </p:nvSpPr>
        <p:spPr>
          <a:noFill/>
        </p:spPr>
        <p:txBody>
          <a:bodyPr lIns="91431" tIns="45716" rIns="91431" bIns="45716"/>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3801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fld id="{E0731F9E-7C29-4A4F-960B-A1B1AB536726}" type="slidenum">
              <a:rPr lang="en-GB" altLang="en-US" baseline="0"/>
              <a:pPr eaLnBrk="1" hangingPunct="1"/>
              <a:t>62</a:t>
            </a:fld>
            <a:endParaRPr lang="en-GB" altLang="en-US" baseline="0"/>
          </a:p>
        </p:txBody>
      </p:sp>
      <p:sp>
        <p:nvSpPr>
          <p:cNvPr id="60419" name="Rectangle 7"/>
          <p:cNvSpPr txBox="1">
            <a:spLocks noGrp="1" noChangeArrowheads="1"/>
          </p:cNvSpPr>
          <p:nvPr/>
        </p:nvSpPr>
        <p:spPr bwMode="auto">
          <a:xfrm>
            <a:off x="3850443" y="9428583"/>
            <a:ext cx="2945659" cy="4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b"/>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algn="r"/>
            <a:fld id="{2C2A1B12-72A4-4AE1-8519-5A474E555495}" type="slidenum">
              <a:rPr lang="en-US" altLang="en-US" sz="1200" baseline="0"/>
              <a:pPr algn="r"/>
              <a:t>62</a:t>
            </a:fld>
            <a:endParaRPr lang="en-US" altLang="en-US" sz="1200" baseline="0"/>
          </a:p>
        </p:txBody>
      </p:sp>
      <p:sp>
        <p:nvSpPr>
          <p:cNvPr id="60420" name="Rectangle 2"/>
          <p:cNvSpPr>
            <a:spLocks noGrp="1" noRot="1" noChangeAspect="1" noChangeArrowheads="1" noTextEdit="1"/>
          </p:cNvSpPr>
          <p:nvPr>
            <p:ph type="sldImg"/>
          </p:nvPr>
        </p:nvSpPr>
        <p:spPr>
          <a:xfrm>
            <a:off x="90488" y="744538"/>
            <a:ext cx="6616700" cy="3722687"/>
          </a:xfrm>
          <a:ln/>
        </p:spPr>
      </p:sp>
      <p:sp>
        <p:nvSpPr>
          <p:cNvPr id="60421" name="Rectangle 3"/>
          <p:cNvSpPr>
            <a:spLocks noGrp="1" noChangeArrowheads="1"/>
          </p:cNvSpPr>
          <p:nvPr>
            <p:ph type="body" idx="1"/>
          </p:nvPr>
        </p:nvSpPr>
        <p:spPr>
          <a:noFill/>
        </p:spPr>
        <p:txBody>
          <a:bodyPr lIns="91431" tIns="45716" rIns="91431" bIns="45716"/>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5140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fld id="{A3B2C065-9B46-442F-82FA-45FC5580BA27}" type="slidenum">
              <a:rPr lang="en-GB" altLang="en-US" baseline="0"/>
              <a:pPr eaLnBrk="1" hangingPunct="1"/>
              <a:t>65</a:t>
            </a:fld>
            <a:endParaRPr lang="en-GB" altLang="en-US" baseline="0"/>
          </a:p>
        </p:txBody>
      </p:sp>
      <p:sp>
        <p:nvSpPr>
          <p:cNvPr id="61443" name="Rectangle 2"/>
          <p:cNvSpPr>
            <a:spLocks noGrp="1" noRot="1" noChangeAspect="1" noChangeArrowheads="1" noTextEdit="1"/>
          </p:cNvSpPr>
          <p:nvPr>
            <p:ph type="sldImg"/>
          </p:nvPr>
        </p:nvSpPr>
        <p:spPr>
          <a:xfrm>
            <a:off x="90488" y="744538"/>
            <a:ext cx="6616700" cy="3722687"/>
          </a:xfrm>
          <a:ln/>
        </p:spPr>
      </p:sp>
      <p:sp>
        <p:nvSpPr>
          <p:cNvPr id="61444" name="Rectangle 3"/>
          <p:cNvSpPr>
            <a:spLocks noGrp="1" noChangeArrowheads="1"/>
          </p:cNvSpPr>
          <p:nvPr>
            <p:ph type="body" idx="1"/>
          </p:nvPr>
        </p:nvSpPr>
        <p:spPr>
          <a:xfrm>
            <a:off x="906357" y="4715153"/>
            <a:ext cx="4984962" cy="4466987"/>
          </a:xfrm>
          <a:noFill/>
        </p:spPr>
        <p:txBody>
          <a:bodyPr/>
          <a:lstStyle/>
          <a:p>
            <a:pPr eaLnBrk="1" hangingPunct="1"/>
            <a:r>
              <a:rPr lang="en-GB" altLang="en-US">
                <a:latin typeface="Arial" panose="020B0604020202020204" pitchFamily="34" charset="0"/>
                <a:cs typeface="Times New Roman" panose="02020603050405020304" pitchFamily="18" charset="0"/>
              </a:rPr>
              <a:t>In practice, because we can’t change the contribution of an ancestor with out affecting the contribution of other individuals in the population e.g. its parents, we can only aspire to the target and aim to get as close as possible.  Remember long-terms are not determined in a single generation and so each selection decision is effectively trying to manage the contributions of all individuals in the population simultaneously.  Furthermore each generation we get more information on an individuals breeding value so it will change over time (the changes diminishing over time).</a:t>
            </a:r>
            <a:r>
              <a:rPr lang="en-GB" altLang="en-US">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4101631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fld id="{5783089C-8191-4060-B544-ED844B86DB2D}" type="datetime4">
              <a:rPr lang="en-GB"/>
              <a:pPr/>
              <a:t>12 February 2025</a:t>
            </a:fld>
            <a:endParaRPr lang="en-GB" dirty="0"/>
          </a:p>
        </p:txBody>
      </p:sp>
      <p:sp>
        <p:nvSpPr>
          <p:cNvPr id="5" name="Footer Placeholder 4"/>
          <p:cNvSpPr>
            <a:spLocks noGrp="1"/>
          </p:cNvSpPr>
          <p:nvPr>
            <p:ph type="ftr" sz="quarter" idx="11"/>
          </p:nvPr>
        </p:nvSpPr>
        <p:spPr/>
        <p:txBody>
          <a:bodyPr/>
          <a:lstStyle>
            <a:lvl1pPr>
              <a:defRPr/>
            </a:lvl1pPr>
          </a:lstStyle>
          <a:p>
            <a:r>
              <a:rPr lang="en-GB" dirty="0"/>
              <a:t>Lecture 10</a:t>
            </a:r>
          </a:p>
        </p:txBody>
      </p:sp>
      <p:sp>
        <p:nvSpPr>
          <p:cNvPr id="6" name="Slide Number Placeholder 5"/>
          <p:cNvSpPr>
            <a:spLocks noGrp="1"/>
          </p:cNvSpPr>
          <p:nvPr>
            <p:ph type="sldNum" sz="quarter" idx="12"/>
          </p:nvPr>
        </p:nvSpPr>
        <p:spPr/>
        <p:txBody>
          <a:bodyPr/>
          <a:lstStyle>
            <a:lvl1pPr>
              <a:defRPr/>
            </a:lvl1pPr>
          </a:lstStyle>
          <a:p>
            <a:fld id="{0F95966F-3723-497E-90BA-6AC8459AF35C}" type="slidenum">
              <a:rPr lang="en-GB"/>
              <a:pPr/>
              <a:t>‹#›</a:t>
            </a:fld>
            <a:endParaRPr lang="en-GB"/>
          </a:p>
        </p:txBody>
      </p:sp>
    </p:spTree>
    <p:extLst>
      <p:ext uri="{BB962C8B-B14F-4D97-AF65-F5344CB8AC3E}">
        <p14:creationId xmlns:p14="http://schemas.microsoft.com/office/powerpoint/2010/main" val="1453628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buClr>
                <a:srgbClr val="C00000"/>
              </a:buClr>
              <a:defRPr/>
            </a:lvl1pPr>
            <a:lvl2pPr>
              <a:buClr>
                <a:srgbClr val="C00000"/>
              </a:buClr>
              <a:defRPr/>
            </a:lvl2pPr>
            <a:lvl3pPr>
              <a:buClr>
                <a:srgbClr val="C00000"/>
              </a:buClr>
              <a:defRPr/>
            </a:lvl3pPr>
            <a:lvl4pPr>
              <a:buClr>
                <a:srgbClr val="C00000"/>
              </a:buClr>
              <a:defRPr sz="2400"/>
            </a:lvl4pPr>
            <a:lvl5pPr>
              <a:buClr>
                <a:srgbClr val="C00000"/>
              </a:buCl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lvl1pPr>
              <a:defRPr/>
            </a:lvl1pPr>
          </a:lstStyle>
          <a:p>
            <a:fld id="{F40735AC-8509-4286-B41F-026BC07FE1F9}" type="datetime4">
              <a:rPr lang="en-GB"/>
              <a:pPr/>
              <a:t>12 February 2025</a:t>
            </a:fld>
            <a:endParaRPr lang="en-GB"/>
          </a:p>
        </p:txBody>
      </p:sp>
      <p:sp>
        <p:nvSpPr>
          <p:cNvPr id="5" name="Footer Placeholder 4"/>
          <p:cNvSpPr>
            <a:spLocks noGrp="1"/>
          </p:cNvSpPr>
          <p:nvPr>
            <p:ph type="ftr" sz="quarter" idx="11"/>
          </p:nvPr>
        </p:nvSpPr>
        <p:spPr/>
        <p:txBody>
          <a:bodyPr/>
          <a:lstStyle>
            <a:lvl1pPr>
              <a:defRPr/>
            </a:lvl1pPr>
          </a:lstStyle>
          <a:p>
            <a:r>
              <a:rPr lang="en-GB" dirty="0"/>
              <a:t>Lecture 10</a:t>
            </a:r>
          </a:p>
        </p:txBody>
      </p:sp>
      <p:sp>
        <p:nvSpPr>
          <p:cNvPr id="6" name="Slide Number Placeholder 5"/>
          <p:cNvSpPr>
            <a:spLocks noGrp="1"/>
          </p:cNvSpPr>
          <p:nvPr>
            <p:ph type="sldNum" sz="quarter" idx="12"/>
          </p:nvPr>
        </p:nvSpPr>
        <p:spPr/>
        <p:txBody>
          <a:bodyPr/>
          <a:lstStyle>
            <a:lvl1pPr>
              <a:defRPr/>
            </a:lvl1pPr>
          </a:lstStyle>
          <a:p>
            <a:fld id="{BC3C62B4-D659-4986-A106-F54448397AD7}" type="slidenum">
              <a:rPr lang="en-GB"/>
              <a:pPr/>
              <a:t>‹#›</a:t>
            </a:fld>
            <a:endParaRPr lang="en-GB"/>
          </a:p>
        </p:txBody>
      </p:sp>
    </p:spTree>
    <p:extLst>
      <p:ext uri="{BB962C8B-B14F-4D97-AF65-F5344CB8AC3E}">
        <p14:creationId xmlns:p14="http://schemas.microsoft.com/office/powerpoint/2010/main" val="2697913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2C9AE3D7-F25E-4CD4-A433-5D0EB803E1A3}" type="datetime4">
              <a:rPr lang="en-GB" smtClean="0"/>
              <a:pPr/>
              <a:t>12 February 2025</a:t>
            </a:fld>
            <a:endParaRPr lang="en-GB"/>
          </a:p>
        </p:txBody>
      </p:sp>
      <p:sp>
        <p:nvSpPr>
          <p:cNvPr id="4" name="Footer Placeholder 3"/>
          <p:cNvSpPr>
            <a:spLocks noGrp="1"/>
          </p:cNvSpPr>
          <p:nvPr>
            <p:ph type="ftr" sz="quarter" idx="11"/>
          </p:nvPr>
        </p:nvSpPr>
        <p:spPr/>
        <p:txBody>
          <a:bodyPr/>
          <a:lstStyle/>
          <a:p>
            <a:r>
              <a:rPr lang="en-GB" dirty="0"/>
              <a:t>Lecture 10</a:t>
            </a:r>
          </a:p>
        </p:txBody>
      </p:sp>
      <p:sp>
        <p:nvSpPr>
          <p:cNvPr id="5" name="Slide Number Placeholder 4"/>
          <p:cNvSpPr>
            <a:spLocks noGrp="1"/>
          </p:cNvSpPr>
          <p:nvPr>
            <p:ph type="sldNum" sz="quarter" idx="12"/>
          </p:nvPr>
        </p:nvSpPr>
        <p:spPr/>
        <p:txBody>
          <a:bodyPr/>
          <a:lstStyle/>
          <a:p>
            <a:fld id="{D73AFDA5-DB8F-4C0A-984C-83722AC373E2}" type="slidenum">
              <a:rPr lang="en-GB" smtClean="0"/>
              <a:pPr/>
              <a:t>‹#›</a:t>
            </a:fld>
            <a:endParaRPr lang="en-GB"/>
          </a:p>
        </p:txBody>
      </p:sp>
    </p:spTree>
    <p:extLst>
      <p:ext uri="{BB962C8B-B14F-4D97-AF65-F5344CB8AC3E}">
        <p14:creationId xmlns:p14="http://schemas.microsoft.com/office/powerpoint/2010/main" val="2544991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39184" y="1196976"/>
            <a:ext cx="5755216"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1" y="1196976"/>
            <a:ext cx="5755217"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lvl1pPr>
              <a:defRPr/>
            </a:lvl1pPr>
          </a:lstStyle>
          <a:p>
            <a:fld id="{2C7DCCE7-68A7-442A-AA7A-2E7473D4FC32}" type="datetime4">
              <a:rPr lang="en-GB"/>
              <a:pPr/>
              <a:t>12 February 2025</a:t>
            </a:fld>
            <a:endParaRPr lang="en-GB"/>
          </a:p>
        </p:txBody>
      </p:sp>
      <p:sp>
        <p:nvSpPr>
          <p:cNvPr id="6" name="Footer Placeholder 5"/>
          <p:cNvSpPr>
            <a:spLocks noGrp="1"/>
          </p:cNvSpPr>
          <p:nvPr>
            <p:ph type="ftr" sz="quarter" idx="11"/>
          </p:nvPr>
        </p:nvSpPr>
        <p:spPr/>
        <p:txBody>
          <a:bodyPr/>
          <a:lstStyle>
            <a:lvl1pPr>
              <a:defRPr/>
            </a:lvl1pPr>
          </a:lstStyle>
          <a:p>
            <a:r>
              <a:rPr lang="en-GB" dirty="0"/>
              <a:t>Lecture 10</a:t>
            </a:r>
          </a:p>
        </p:txBody>
      </p:sp>
      <p:sp>
        <p:nvSpPr>
          <p:cNvPr id="7" name="Slide Number Placeholder 6"/>
          <p:cNvSpPr>
            <a:spLocks noGrp="1"/>
          </p:cNvSpPr>
          <p:nvPr>
            <p:ph type="sldNum" sz="quarter" idx="12"/>
          </p:nvPr>
        </p:nvSpPr>
        <p:spPr/>
        <p:txBody>
          <a:bodyPr/>
          <a:lstStyle>
            <a:lvl1pPr>
              <a:defRPr/>
            </a:lvl1pPr>
          </a:lstStyle>
          <a:p>
            <a:fld id="{2699E4A5-1AE5-41FB-A351-8DA8656252AA}" type="slidenum">
              <a:rPr lang="en-GB"/>
              <a:pPr/>
              <a:t>‹#›</a:t>
            </a:fld>
            <a:endParaRPr lang="en-GB"/>
          </a:p>
        </p:txBody>
      </p:sp>
    </p:spTree>
    <p:extLst>
      <p:ext uri="{BB962C8B-B14F-4D97-AF65-F5344CB8AC3E}">
        <p14:creationId xmlns:p14="http://schemas.microsoft.com/office/powerpoint/2010/main" val="3600228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81067C3-4C7E-434C-BBC8-747F571B7119}" type="datetime4">
              <a:rPr lang="en-GB"/>
              <a:pPr/>
              <a:t>12 February 2025</a:t>
            </a:fld>
            <a:endParaRPr lang="en-GB"/>
          </a:p>
        </p:txBody>
      </p:sp>
      <p:sp>
        <p:nvSpPr>
          <p:cNvPr id="3" name="Footer Placeholder 2"/>
          <p:cNvSpPr>
            <a:spLocks noGrp="1"/>
          </p:cNvSpPr>
          <p:nvPr>
            <p:ph type="ftr" sz="quarter" idx="11"/>
          </p:nvPr>
        </p:nvSpPr>
        <p:spPr/>
        <p:txBody>
          <a:bodyPr/>
          <a:lstStyle>
            <a:lvl1pPr>
              <a:defRPr/>
            </a:lvl1pPr>
          </a:lstStyle>
          <a:p>
            <a:r>
              <a:rPr lang="en-GB" dirty="0"/>
              <a:t>Lecture 10</a:t>
            </a:r>
          </a:p>
        </p:txBody>
      </p:sp>
      <p:sp>
        <p:nvSpPr>
          <p:cNvPr id="4" name="Slide Number Placeholder 3"/>
          <p:cNvSpPr>
            <a:spLocks noGrp="1"/>
          </p:cNvSpPr>
          <p:nvPr>
            <p:ph type="sldNum" sz="quarter" idx="12"/>
          </p:nvPr>
        </p:nvSpPr>
        <p:spPr/>
        <p:txBody>
          <a:bodyPr/>
          <a:lstStyle>
            <a:lvl1pPr>
              <a:defRPr/>
            </a:lvl1pPr>
          </a:lstStyle>
          <a:p>
            <a:fld id="{0EE6E065-78C5-4121-A03E-B493A710BB1A}" type="slidenum">
              <a:rPr lang="en-GB"/>
              <a:pPr/>
              <a:t>‹#›</a:t>
            </a:fld>
            <a:endParaRPr lang="en-GB"/>
          </a:p>
        </p:txBody>
      </p:sp>
    </p:spTree>
    <p:extLst>
      <p:ext uri="{BB962C8B-B14F-4D97-AF65-F5344CB8AC3E}">
        <p14:creationId xmlns:p14="http://schemas.microsoft.com/office/powerpoint/2010/main" val="2351355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534088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png"/><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DDDDDD">
                <a:gamma/>
                <a:tint val="73725"/>
                <a:invGamma/>
              </a:srgbClr>
            </a:gs>
            <a:gs pos="50000">
              <a:srgbClr val="DDDDDD"/>
            </a:gs>
            <a:gs pos="100000">
              <a:srgbClr val="DDDDDD">
                <a:gamma/>
                <a:tint val="73725"/>
                <a:invGamma/>
              </a:srgbClr>
            </a:gs>
          </a:gsLst>
          <a:lin ang="18900000" scaled="1"/>
        </a:gradFill>
        <a:effectLst/>
      </p:bgPr>
    </p:bg>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bwMode="auto">
          <a:xfrm>
            <a:off x="239185" y="269875"/>
            <a:ext cx="11713633"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578563" name="Rectangle 3"/>
          <p:cNvSpPr>
            <a:spLocks noGrp="1" noChangeArrowheads="1"/>
          </p:cNvSpPr>
          <p:nvPr>
            <p:ph type="body" idx="1"/>
          </p:nvPr>
        </p:nvSpPr>
        <p:spPr bwMode="auto">
          <a:xfrm>
            <a:off x="239185" y="1196976"/>
            <a:ext cx="11713633" cy="49688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5F5F5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78564"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fld id="{2C9AE3D7-F25E-4CD4-A433-5D0EB803E1A3}" type="datetime4">
              <a:rPr lang="en-GB"/>
              <a:pPr/>
              <a:t>12 February 2025</a:t>
            </a:fld>
            <a:endParaRPr lang="en-GB"/>
          </a:p>
        </p:txBody>
      </p:sp>
      <p:sp>
        <p:nvSpPr>
          <p:cNvPr id="578565"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GB" dirty="0"/>
              <a:t>Lecture 10</a:t>
            </a:r>
          </a:p>
        </p:txBody>
      </p:sp>
      <p:sp>
        <p:nvSpPr>
          <p:cNvPr id="578566"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D73AFDA5-DB8F-4C0A-984C-83722AC373E2}" type="slidenum">
              <a:rPr lang="en-GB"/>
              <a:pPr/>
              <a:t>‹#›</a:t>
            </a:fld>
            <a:endParaRPr lang="en-GB"/>
          </a:p>
        </p:txBody>
      </p:sp>
      <p:sp>
        <p:nvSpPr>
          <p:cNvPr id="578567" name="Text Box 7"/>
          <p:cNvSpPr txBox="1">
            <a:spLocks noChangeArrowheads="1"/>
          </p:cNvSpPr>
          <p:nvPr userDrawn="1"/>
        </p:nvSpPr>
        <p:spPr bwMode="auto">
          <a:xfrm>
            <a:off x="143934" y="212725"/>
            <a:ext cx="662516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sz="1600" b="1">
              <a:solidFill>
                <a:schemeClr val="bg1"/>
              </a:solidFill>
            </a:endParaRPr>
          </a:p>
        </p:txBody>
      </p:sp>
      <p:pic>
        <p:nvPicPr>
          <p:cNvPr id="578570" name="Picture 5" descr="R(D)SVSlogofade3.psd"/>
          <p:cNvPicPr>
            <a:picLocks noChangeAspect="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16480" y="6211889"/>
            <a:ext cx="1537200" cy="391843"/>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578571" name="Picture 11"/>
          <p:cNvPicPr preferRelativeResize="0">
            <a:picLocks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239185" y="6219825"/>
            <a:ext cx="522000" cy="522288"/>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9" descr="roslin new logo Blk">
            <a:extLst>
              <a:ext uri="{FF2B5EF4-FFF2-40B4-BE49-F238E27FC236}">
                <a16:creationId xmlns:a16="http://schemas.microsoft.com/office/drawing/2014/main" id="{EA28A94B-D3B6-46C3-B6DD-5992505755D2}"/>
              </a:ext>
            </a:extLst>
          </p:cNvPr>
          <p:cNvPicPr>
            <a:picLocks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8899967" y="6291113"/>
            <a:ext cx="1372497" cy="37824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5" descr="R(D)SVSlogofade3.psd">
            <a:extLst>
              <a:ext uri="{FF2B5EF4-FFF2-40B4-BE49-F238E27FC236}">
                <a16:creationId xmlns:a16="http://schemas.microsoft.com/office/drawing/2014/main" id="{D3FADAB6-AEF3-4CD9-9EFB-8BE00CEF29D2}"/>
              </a:ext>
            </a:extLst>
          </p:cNvPr>
          <p:cNvPicPr>
            <a:picLocks noChangeAspect="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416480" y="6211889"/>
            <a:ext cx="1537929" cy="523727"/>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63" r:id="rId3"/>
    <p:sldLayoutId id="2147483655" r:id="rId4"/>
    <p:sldLayoutId id="2147483658" r:id="rId5"/>
    <p:sldLayoutId id="2147483665" r:id="rId6"/>
  </p:sldLayoutIdLst>
  <p:hf sldNum="0" hdr="0"/>
  <p:txStyles>
    <p:titleStyle>
      <a:lvl1pPr algn="ctr" rtl="0" fontAlgn="base">
        <a:spcBef>
          <a:spcPct val="0"/>
        </a:spcBef>
        <a:spcAft>
          <a:spcPct val="0"/>
        </a:spcAft>
        <a:defRPr sz="4000" b="1">
          <a:solidFill>
            <a:schemeClr val="tx1"/>
          </a:solidFill>
          <a:latin typeface="+mj-lt"/>
          <a:ea typeface="+mj-ea"/>
          <a:cs typeface="+mj-cs"/>
        </a:defRPr>
      </a:lvl1pPr>
      <a:lvl2pPr algn="ctr" rtl="0" fontAlgn="base">
        <a:spcBef>
          <a:spcPct val="0"/>
        </a:spcBef>
        <a:spcAft>
          <a:spcPct val="0"/>
        </a:spcAft>
        <a:defRPr sz="4000" b="1">
          <a:solidFill>
            <a:schemeClr val="tx1"/>
          </a:solidFill>
          <a:latin typeface="Arial" charset="0"/>
          <a:cs typeface="Arial" charset="0"/>
        </a:defRPr>
      </a:lvl2pPr>
      <a:lvl3pPr algn="ctr" rtl="0" fontAlgn="base">
        <a:spcBef>
          <a:spcPct val="0"/>
        </a:spcBef>
        <a:spcAft>
          <a:spcPct val="0"/>
        </a:spcAft>
        <a:defRPr sz="4000" b="1">
          <a:solidFill>
            <a:schemeClr val="tx1"/>
          </a:solidFill>
          <a:latin typeface="Arial" charset="0"/>
          <a:cs typeface="Arial" charset="0"/>
        </a:defRPr>
      </a:lvl3pPr>
      <a:lvl4pPr algn="ctr" rtl="0" fontAlgn="base">
        <a:spcBef>
          <a:spcPct val="0"/>
        </a:spcBef>
        <a:spcAft>
          <a:spcPct val="0"/>
        </a:spcAft>
        <a:defRPr sz="4000" b="1">
          <a:solidFill>
            <a:schemeClr val="tx1"/>
          </a:solidFill>
          <a:latin typeface="Arial" charset="0"/>
          <a:cs typeface="Arial" charset="0"/>
        </a:defRPr>
      </a:lvl4pPr>
      <a:lvl5pPr algn="ctr" rtl="0" fontAlgn="base">
        <a:spcBef>
          <a:spcPct val="0"/>
        </a:spcBef>
        <a:spcAft>
          <a:spcPct val="0"/>
        </a:spcAft>
        <a:defRPr sz="4000" b="1">
          <a:solidFill>
            <a:schemeClr val="tx1"/>
          </a:solidFill>
          <a:latin typeface="Arial" charset="0"/>
          <a:cs typeface="Arial" charset="0"/>
        </a:defRPr>
      </a:lvl5pPr>
      <a:lvl6pPr marL="457200" algn="ctr" rtl="0" fontAlgn="base">
        <a:spcBef>
          <a:spcPct val="0"/>
        </a:spcBef>
        <a:spcAft>
          <a:spcPct val="0"/>
        </a:spcAft>
        <a:defRPr sz="4000" b="1">
          <a:solidFill>
            <a:schemeClr val="tx1"/>
          </a:solidFill>
          <a:latin typeface="Arial" charset="0"/>
          <a:cs typeface="Arial" charset="0"/>
        </a:defRPr>
      </a:lvl6pPr>
      <a:lvl7pPr marL="914400" algn="ctr" rtl="0" fontAlgn="base">
        <a:spcBef>
          <a:spcPct val="0"/>
        </a:spcBef>
        <a:spcAft>
          <a:spcPct val="0"/>
        </a:spcAft>
        <a:defRPr sz="4000" b="1">
          <a:solidFill>
            <a:schemeClr val="tx1"/>
          </a:solidFill>
          <a:latin typeface="Arial" charset="0"/>
          <a:cs typeface="Arial" charset="0"/>
        </a:defRPr>
      </a:lvl7pPr>
      <a:lvl8pPr marL="1371600" algn="ctr" rtl="0" fontAlgn="base">
        <a:spcBef>
          <a:spcPct val="0"/>
        </a:spcBef>
        <a:spcAft>
          <a:spcPct val="0"/>
        </a:spcAft>
        <a:defRPr sz="4000" b="1">
          <a:solidFill>
            <a:schemeClr val="tx1"/>
          </a:solidFill>
          <a:latin typeface="Arial" charset="0"/>
          <a:cs typeface="Arial" charset="0"/>
        </a:defRPr>
      </a:lvl8pPr>
      <a:lvl9pPr marL="1828800" algn="ctr"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Clr>
          <a:srgbClr val="C00000"/>
        </a:buClr>
        <a:buChar char="•"/>
        <a:defRPr sz="3200">
          <a:solidFill>
            <a:schemeClr val="tx1"/>
          </a:solidFill>
          <a:latin typeface="+mn-lt"/>
          <a:ea typeface="+mn-ea"/>
          <a:cs typeface="+mn-cs"/>
        </a:defRPr>
      </a:lvl1pPr>
      <a:lvl2pPr marL="742950" indent="-285750" algn="l" rtl="0" fontAlgn="base">
        <a:spcBef>
          <a:spcPct val="20000"/>
        </a:spcBef>
        <a:spcAft>
          <a:spcPct val="0"/>
        </a:spcAft>
        <a:buClr>
          <a:srgbClr val="C00000"/>
        </a:buClr>
        <a:buFont typeface="Times New Roman" pitchFamily="18" charset="0"/>
        <a:buChar char="»"/>
        <a:defRPr sz="2800">
          <a:solidFill>
            <a:srgbClr val="4D4D4D"/>
          </a:solidFill>
          <a:latin typeface="+mn-lt"/>
          <a:cs typeface="+mn-cs"/>
        </a:defRPr>
      </a:lvl2pPr>
      <a:lvl3pPr marL="1143000" indent="-228600" algn="l" rtl="0" fontAlgn="base">
        <a:spcBef>
          <a:spcPct val="20000"/>
        </a:spcBef>
        <a:spcAft>
          <a:spcPct val="0"/>
        </a:spcAft>
        <a:buClr>
          <a:srgbClr val="C00000"/>
        </a:buClr>
        <a:buFont typeface="Times New Roman" pitchFamily="18" charset="0"/>
        <a:buChar char="»"/>
        <a:defRPr sz="2400">
          <a:solidFill>
            <a:srgbClr val="4D4D4D"/>
          </a:solidFill>
          <a:latin typeface="+mn-lt"/>
          <a:cs typeface="+mn-cs"/>
        </a:defRPr>
      </a:lvl3pPr>
      <a:lvl4pPr marL="1600200" indent="-228600" algn="l" rtl="0" fontAlgn="base">
        <a:spcBef>
          <a:spcPct val="20000"/>
        </a:spcBef>
        <a:spcAft>
          <a:spcPct val="0"/>
        </a:spcAft>
        <a:buClr>
          <a:srgbClr val="C00000"/>
        </a:buClr>
        <a:buFont typeface="Times New Roman" pitchFamily="18" charset="0"/>
        <a:buChar char="»"/>
        <a:defRPr sz="2400">
          <a:solidFill>
            <a:srgbClr val="4D4D4D"/>
          </a:solidFill>
          <a:latin typeface="+mn-lt"/>
          <a:cs typeface="+mn-cs"/>
        </a:defRPr>
      </a:lvl4pPr>
      <a:lvl5pPr marL="2057400" indent="-228600" algn="l" rtl="0" fontAlgn="base">
        <a:spcBef>
          <a:spcPct val="20000"/>
        </a:spcBef>
        <a:spcAft>
          <a:spcPct val="0"/>
        </a:spcAft>
        <a:buClr>
          <a:srgbClr val="C00000"/>
        </a:buClr>
        <a:buFont typeface="Times New Roman" pitchFamily="18" charset="0"/>
        <a:buChar char="»"/>
        <a:defRPr sz="2400">
          <a:solidFill>
            <a:srgbClr val="4D4D4D"/>
          </a:solidFill>
          <a:latin typeface="+mn-lt"/>
          <a:cs typeface="+mn-cs"/>
        </a:defRPr>
      </a:lvl5pPr>
      <a:lvl6pPr marL="2514600" indent="-228600" algn="l" rtl="0" fontAlgn="base">
        <a:spcBef>
          <a:spcPct val="20000"/>
        </a:spcBef>
        <a:spcAft>
          <a:spcPct val="0"/>
        </a:spcAft>
        <a:buClr>
          <a:srgbClr val="4D4D4D"/>
        </a:buClr>
        <a:buFont typeface="Times New Roman" pitchFamily="18" charset="0"/>
        <a:buChar char="»"/>
        <a:defRPr sz="2000">
          <a:solidFill>
            <a:srgbClr val="4D4D4D"/>
          </a:solidFill>
          <a:latin typeface="+mn-lt"/>
          <a:cs typeface="+mn-cs"/>
        </a:defRPr>
      </a:lvl6pPr>
      <a:lvl7pPr marL="2971800" indent="-228600" algn="l" rtl="0" fontAlgn="base">
        <a:spcBef>
          <a:spcPct val="20000"/>
        </a:spcBef>
        <a:spcAft>
          <a:spcPct val="0"/>
        </a:spcAft>
        <a:buClr>
          <a:srgbClr val="4D4D4D"/>
        </a:buClr>
        <a:buFont typeface="Times New Roman" pitchFamily="18" charset="0"/>
        <a:buChar char="»"/>
        <a:defRPr sz="2000">
          <a:solidFill>
            <a:srgbClr val="4D4D4D"/>
          </a:solidFill>
          <a:latin typeface="+mn-lt"/>
          <a:cs typeface="+mn-cs"/>
        </a:defRPr>
      </a:lvl7pPr>
      <a:lvl8pPr marL="3429000" indent="-228600" algn="l" rtl="0" fontAlgn="base">
        <a:spcBef>
          <a:spcPct val="20000"/>
        </a:spcBef>
        <a:spcAft>
          <a:spcPct val="0"/>
        </a:spcAft>
        <a:buClr>
          <a:srgbClr val="4D4D4D"/>
        </a:buClr>
        <a:buFont typeface="Times New Roman" pitchFamily="18" charset="0"/>
        <a:buChar char="»"/>
        <a:defRPr sz="2000">
          <a:solidFill>
            <a:srgbClr val="4D4D4D"/>
          </a:solidFill>
          <a:latin typeface="+mn-lt"/>
          <a:cs typeface="+mn-cs"/>
        </a:defRPr>
      </a:lvl8pPr>
      <a:lvl9pPr marL="3886200" indent="-228600" algn="l" rtl="0" fontAlgn="base">
        <a:spcBef>
          <a:spcPct val="20000"/>
        </a:spcBef>
        <a:spcAft>
          <a:spcPct val="0"/>
        </a:spcAft>
        <a:buClr>
          <a:srgbClr val="4D4D4D"/>
        </a:buClr>
        <a:buFont typeface="Times New Roman" pitchFamily="18" charset="0"/>
        <a:buChar char="»"/>
        <a:defRPr sz="2000">
          <a:solidFill>
            <a:srgbClr val="4D4D4D"/>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D07BF56-F99F-4BBD-9878-7E7AD3B26356}" type="datetime4">
              <a:rPr lang="en-GB"/>
              <a:pPr/>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
        <p:nvSpPr>
          <p:cNvPr id="388098" name="Rectangle 2"/>
          <p:cNvSpPr>
            <a:spLocks noGrp="1" noChangeArrowheads="1"/>
          </p:cNvSpPr>
          <p:nvPr>
            <p:ph type="ctrTitle"/>
          </p:nvPr>
        </p:nvSpPr>
        <p:spPr>
          <a:xfrm>
            <a:off x="2028664" y="2286000"/>
            <a:ext cx="8134672" cy="1143000"/>
          </a:xfrm>
        </p:spPr>
        <p:txBody>
          <a:bodyPr/>
          <a:lstStyle/>
          <a:p>
            <a:r>
              <a:rPr lang="en-GB" dirty="0"/>
              <a:t>… Lecture 10 …</a:t>
            </a:r>
            <a:br>
              <a:rPr lang="en-GB" dirty="0"/>
            </a:br>
            <a:r>
              <a:rPr lang="en-GB" dirty="0"/>
              <a:t>Mainly MCMC Models</a:t>
            </a:r>
          </a:p>
        </p:txBody>
      </p:sp>
      <p:sp>
        <p:nvSpPr>
          <p:cNvPr id="388099" name="Rectangle 3"/>
          <p:cNvSpPr>
            <a:spLocks noGrp="1" noChangeArrowheads="1"/>
          </p:cNvSpPr>
          <p:nvPr>
            <p:ph type="subTitle" idx="1"/>
          </p:nvPr>
        </p:nvSpPr>
        <p:spPr>
          <a:ln/>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67E3EDE-3533-4CFC-A23C-4BCC24CED6D7}"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
        <p:nvSpPr>
          <p:cNvPr id="388098" name="Rectangle 2"/>
          <p:cNvSpPr>
            <a:spLocks noGrp="1" noChangeArrowheads="1"/>
          </p:cNvSpPr>
          <p:nvPr>
            <p:ph type="ctrTitle"/>
          </p:nvPr>
        </p:nvSpPr>
        <p:spPr>
          <a:xfrm>
            <a:off x="2209800" y="2286000"/>
            <a:ext cx="7772400" cy="1143000"/>
          </a:xfrm>
        </p:spPr>
        <p:txBody>
          <a:bodyPr/>
          <a:lstStyle/>
          <a:p>
            <a:r>
              <a:rPr lang="en-GB" dirty="0"/>
              <a:t>… Lecture 10 …</a:t>
            </a:r>
            <a:br>
              <a:rPr lang="en-GB" dirty="0"/>
            </a:br>
            <a:r>
              <a:rPr lang="en-GB" dirty="0"/>
              <a:t>Mainly MCMC Models</a:t>
            </a:r>
          </a:p>
        </p:txBody>
      </p:sp>
      <p:sp>
        <p:nvSpPr>
          <p:cNvPr id="388099" name="Rectangle 3"/>
          <p:cNvSpPr>
            <a:spLocks noGrp="1" noChangeArrowheads="1"/>
          </p:cNvSpPr>
          <p:nvPr>
            <p:ph type="subTitle" idx="1"/>
          </p:nvPr>
        </p:nvSpPr>
        <p:spPr>
          <a:ln/>
        </p:spPr>
        <p:txBody>
          <a:bodyPr/>
          <a:lstStyle/>
          <a:p>
            <a:r>
              <a:rPr lang="en-US" dirty="0"/>
              <a:t>Part 1: </a:t>
            </a:r>
          </a:p>
          <a:p>
            <a:r>
              <a:rPr lang="en-US" dirty="0"/>
              <a:t>The Bayesian Alphabet – up to C!</a:t>
            </a:r>
          </a:p>
        </p:txBody>
      </p:sp>
    </p:spTree>
    <p:extLst>
      <p:ext uri="{BB962C8B-B14F-4D97-AF65-F5344CB8AC3E}">
        <p14:creationId xmlns:p14="http://schemas.microsoft.com/office/powerpoint/2010/main" val="2454415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39185" y="269875"/>
            <a:ext cx="11713633" cy="927100"/>
          </a:xfrm>
        </p:spPr>
        <p:txBody>
          <a:bodyPr/>
          <a:lstStyle/>
          <a:p>
            <a:r>
              <a:rPr lang="en-GB"/>
              <a:t>Factors for Accuracy</a:t>
            </a:r>
          </a:p>
        </p:txBody>
      </p:sp>
      <p:sp>
        <p:nvSpPr>
          <p:cNvPr id="4" name="Content Placeholder 3">
            <a:extLst>
              <a:ext uri="{FF2B5EF4-FFF2-40B4-BE49-F238E27FC236}">
                <a16:creationId xmlns:a16="http://schemas.microsoft.com/office/drawing/2014/main" id="{037D0A6A-FB02-4C5A-9EE4-5990F7B3F0FF}"/>
              </a:ext>
            </a:extLst>
          </p:cNvPr>
          <p:cNvSpPr>
            <a:spLocks noGrp="1"/>
          </p:cNvSpPr>
          <p:nvPr>
            <p:ph idx="1"/>
          </p:nvPr>
        </p:nvSpPr>
        <p:spPr/>
        <p:txBody>
          <a:bodyPr/>
          <a:lstStyle/>
          <a:p>
            <a:endParaRPr lang="en-GB"/>
          </a:p>
        </p:txBody>
      </p:sp>
      <p:grpSp>
        <p:nvGrpSpPr>
          <p:cNvPr id="2" name="Group 1">
            <a:extLst>
              <a:ext uri="{FF2B5EF4-FFF2-40B4-BE49-F238E27FC236}">
                <a16:creationId xmlns:a16="http://schemas.microsoft.com/office/drawing/2014/main" id="{FC0C0581-AA57-4456-8573-76BF757C5999}"/>
              </a:ext>
            </a:extLst>
          </p:cNvPr>
          <p:cNvGrpSpPr/>
          <p:nvPr/>
        </p:nvGrpSpPr>
        <p:grpSpPr>
          <a:xfrm>
            <a:off x="1774823" y="1916833"/>
            <a:ext cx="8642352" cy="4824413"/>
            <a:chOff x="250823" y="1916832"/>
            <a:chExt cx="8642352" cy="4824413"/>
          </a:xfrm>
        </p:grpSpPr>
        <p:sp>
          <p:nvSpPr>
            <p:cNvPr id="29701" name="Oval 4"/>
            <p:cNvSpPr>
              <a:spLocks noChangeArrowheads="1"/>
            </p:cNvSpPr>
            <p:nvPr/>
          </p:nvSpPr>
          <p:spPr bwMode="auto">
            <a:xfrm>
              <a:off x="250823" y="1988270"/>
              <a:ext cx="2449513" cy="1152525"/>
            </a:xfrm>
            <a:prstGeom prst="ellipse">
              <a:avLst/>
            </a:prstGeom>
            <a:solidFill>
              <a:srgbClr val="99CCFF"/>
            </a:solidFill>
            <a:ln w="9525">
              <a:solidFill>
                <a:schemeClr val="accent2"/>
              </a:solidFill>
              <a:round/>
              <a:headEnd/>
              <a:tailEnd/>
            </a:ln>
          </p:spPr>
          <p:txBody>
            <a:bodyPr wrap="none" anchor="ctr"/>
            <a:lstStyle/>
            <a:p>
              <a:pPr algn="ctr"/>
              <a:r>
                <a:rPr lang="en-GB"/>
                <a:t>Phenotypes</a:t>
              </a:r>
            </a:p>
          </p:txBody>
        </p:sp>
        <p:sp>
          <p:nvSpPr>
            <p:cNvPr id="29727" name="Oval 6"/>
            <p:cNvSpPr>
              <a:spLocks noChangeAspect="1" noChangeArrowheads="1"/>
            </p:cNvSpPr>
            <p:nvPr/>
          </p:nvSpPr>
          <p:spPr bwMode="auto">
            <a:xfrm>
              <a:off x="2123084" y="3140795"/>
              <a:ext cx="1295400" cy="1295400"/>
            </a:xfrm>
            <a:prstGeom prst="ellipse">
              <a:avLst/>
            </a:prstGeom>
            <a:solidFill>
              <a:srgbClr val="D9D9D9"/>
            </a:solidFill>
            <a:ln w="9525">
              <a:solidFill>
                <a:srgbClr val="ACACAC"/>
              </a:solidFill>
              <a:round/>
              <a:headEnd/>
              <a:tailEnd/>
            </a:ln>
          </p:spPr>
          <p:txBody>
            <a:bodyPr wrap="none" anchor="ctr"/>
            <a:lstStyle/>
            <a:p>
              <a:pPr algn="ctr"/>
              <a:r>
                <a:rPr lang="en-GB" sz="1600" dirty="0">
                  <a:solidFill>
                    <a:srgbClr val="7F7F7F"/>
                  </a:solidFill>
                </a:rPr>
                <a:t>Heritability</a:t>
              </a:r>
            </a:p>
            <a:p>
              <a:pPr algn="ctr"/>
              <a:r>
                <a:rPr lang="en-GB" sz="1600" dirty="0">
                  <a:solidFill>
                    <a:srgbClr val="7F7F7F"/>
                  </a:solidFill>
                </a:rPr>
                <a:t>(h</a:t>
              </a:r>
              <a:r>
                <a:rPr lang="en-GB" sz="1600" baseline="30000" dirty="0">
                  <a:solidFill>
                    <a:srgbClr val="7F7F7F"/>
                  </a:solidFill>
                </a:rPr>
                <a:t>2</a:t>
              </a:r>
              <a:r>
                <a:rPr lang="en-GB" sz="1600" dirty="0">
                  <a:solidFill>
                    <a:srgbClr val="7F7F7F"/>
                  </a:solidFill>
                </a:rPr>
                <a:t>)</a:t>
              </a:r>
            </a:p>
          </p:txBody>
        </p:sp>
        <p:sp>
          <p:nvSpPr>
            <p:cNvPr id="29728" name="Oval 7"/>
            <p:cNvSpPr>
              <a:spLocks noChangeAspect="1" noChangeArrowheads="1"/>
            </p:cNvSpPr>
            <p:nvPr/>
          </p:nvSpPr>
          <p:spPr bwMode="auto">
            <a:xfrm>
              <a:off x="3165473" y="1916832"/>
              <a:ext cx="1295400" cy="1295400"/>
            </a:xfrm>
            <a:prstGeom prst="ellipse">
              <a:avLst/>
            </a:prstGeom>
            <a:solidFill>
              <a:srgbClr val="FFCC99"/>
            </a:solidFill>
            <a:ln w="9525">
              <a:solidFill>
                <a:srgbClr val="FB2E29"/>
              </a:solidFill>
              <a:round/>
              <a:headEnd/>
              <a:tailEnd/>
            </a:ln>
          </p:spPr>
          <p:txBody>
            <a:bodyPr wrap="none" anchor="ctr"/>
            <a:lstStyle/>
            <a:p>
              <a:pPr algn="ctr"/>
              <a:r>
                <a:rPr lang="en-GB" sz="1600" dirty="0"/>
                <a:t>Genetic </a:t>
              </a:r>
            </a:p>
            <a:p>
              <a:pPr algn="ctr"/>
              <a:r>
                <a:rPr lang="en-GB" sz="1600" dirty="0"/>
                <a:t>Architecture</a:t>
              </a:r>
            </a:p>
          </p:txBody>
        </p:sp>
        <p:sp>
          <p:nvSpPr>
            <p:cNvPr id="29729" name="Oval 8"/>
            <p:cNvSpPr>
              <a:spLocks noChangeAspect="1" noChangeArrowheads="1"/>
            </p:cNvSpPr>
            <p:nvPr/>
          </p:nvSpPr>
          <p:spPr bwMode="auto">
            <a:xfrm>
              <a:off x="1080096" y="4364757"/>
              <a:ext cx="1295400" cy="1295400"/>
            </a:xfrm>
            <a:prstGeom prst="ellipse">
              <a:avLst/>
            </a:prstGeom>
            <a:solidFill>
              <a:srgbClr val="D9D9D9"/>
            </a:solidFill>
            <a:ln w="9525">
              <a:solidFill>
                <a:srgbClr val="ACACAC"/>
              </a:solidFill>
              <a:round/>
              <a:headEnd/>
              <a:tailEnd/>
            </a:ln>
          </p:spPr>
          <p:txBody>
            <a:bodyPr wrap="none" anchor="ctr"/>
            <a:lstStyle/>
            <a:p>
              <a:pPr algn="ctr"/>
              <a:r>
                <a:rPr lang="en-GB" sz="1600" dirty="0">
                  <a:solidFill>
                    <a:srgbClr val="7F7F7F"/>
                  </a:solidFill>
                </a:rPr>
                <a:t>Number </a:t>
              </a:r>
            </a:p>
            <a:p>
              <a:pPr algn="ctr"/>
              <a:r>
                <a:rPr lang="en-GB" sz="1600" dirty="0">
                  <a:solidFill>
                    <a:srgbClr val="7F7F7F"/>
                  </a:solidFill>
                </a:rPr>
                <a:t>Records</a:t>
              </a:r>
            </a:p>
            <a:p>
              <a:pPr algn="ctr"/>
              <a:r>
                <a:rPr lang="en-GB" sz="1600" dirty="0">
                  <a:solidFill>
                    <a:srgbClr val="7F7F7F"/>
                  </a:solidFill>
                </a:rPr>
                <a:t>(N)</a:t>
              </a:r>
            </a:p>
          </p:txBody>
        </p:sp>
        <p:sp>
          <p:nvSpPr>
            <p:cNvPr id="29703" name="Oval 9"/>
            <p:cNvSpPr>
              <a:spLocks noChangeAspect="1" noChangeArrowheads="1"/>
            </p:cNvSpPr>
            <p:nvPr/>
          </p:nvSpPr>
          <p:spPr bwMode="auto">
            <a:xfrm>
              <a:off x="3924298" y="3715470"/>
              <a:ext cx="1295400" cy="1295400"/>
            </a:xfrm>
            <a:prstGeom prst="ellipse">
              <a:avLst/>
            </a:prstGeom>
            <a:solidFill>
              <a:srgbClr val="FFCC00"/>
            </a:solidFill>
            <a:ln w="9525">
              <a:solidFill>
                <a:srgbClr val="FF9900"/>
              </a:solidFill>
              <a:round/>
              <a:headEnd/>
              <a:tailEnd/>
            </a:ln>
          </p:spPr>
          <p:txBody>
            <a:bodyPr wrap="none" anchor="ctr"/>
            <a:lstStyle/>
            <a:p>
              <a:pPr algn="ctr"/>
              <a:r>
                <a:rPr lang="en-GB" sz="1600"/>
                <a:t>Methodology</a:t>
              </a:r>
            </a:p>
          </p:txBody>
        </p:sp>
        <p:sp>
          <p:nvSpPr>
            <p:cNvPr id="29704" name="Oval 10"/>
            <p:cNvSpPr>
              <a:spLocks noChangeAspect="1" noChangeArrowheads="1"/>
            </p:cNvSpPr>
            <p:nvPr/>
          </p:nvSpPr>
          <p:spPr bwMode="auto">
            <a:xfrm>
              <a:off x="3924298" y="5445845"/>
              <a:ext cx="1295400" cy="1295400"/>
            </a:xfrm>
            <a:prstGeom prst="ellipse">
              <a:avLst/>
            </a:prstGeom>
            <a:solidFill>
              <a:srgbClr val="FFCC00"/>
            </a:solidFill>
            <a:ln w="9525">
              <a:solidFill>
                <a:srgbClr val="FF9900"/>
              </a:solidFill>
              <a:round/>
              <a:headEnd/>
              <a:tailEnd/>
            </a:ln>
          </p:spPr>
          <p:txBody>
            <a:bodyPr wrap="none" anchor="ctr"/>
            <a:lstStyle/>
            <a:p>
              <a:pPr algn="ctr"/>
              <a:r>
                <a:rPr lang="en-GB" sz="1600" dirty="0"/>
                <a:t>Accuracy</a:t>
              </a:r>
            </a:p>
          </p:txBody>
        </p:sp>
        <p:sp>
          <p:nvSpPr>
            <p:cNvPr id="29724" name="Freeform 12"/>
            <p:cNvSpPr>
              <a:spLocks/>
            </p:cNvSpPr>
            <p:nvPr/>
          </p:nvSpPr>
          <p:spPr bwMode="auto">
            <a:xfrm>
              <a:off x="538164" y="3135672"/>
              <a:ext cx="595313" cy="1517650"/>
            </a:xfrm>
            <a:custGeom>
              <a:avLst/>
              <a:gdLst>
                <a:gd name="T0" fmla="*/ 141 w 375"/>
                <a:gd name="T1" fmla="*/ 0 h 956"/>
                <a:gd name="T2" fmla="*/ 12 w 375"/>
                <a:gd name="T3" fmla="*/ 278 h 956"/>
                <a:gd name="T4" fmla="*/ 67 w 375"/>
                <a:gd name="T5" fmla="*/ 696 h 956"/>
                <a:gd name="T6" fmla="*/ 375 w 375"/>
                <a:gd name="T7" fmla="*/ 956 h 956"/>
                <a:gd name="T8" fmla="*/ 0 60000 65536"/>
                <a:gd name="T9" fmla="*/ 0 60000 65536"/>
                <a:gd name="T10" fmla="*/ 0 60000 65536"/>
                <a:gd name="T11" fmla="*/ 0 60000 65536"/>
                <a:gd name="T12" fmla="*/ 0 w 375"/>
                <a:gd name="T13" fmla="*/ 0 h 956"/>
                <a:gd name="T14" fmla="*/ 375 w 375"/>
                <a:gd name="T15" fmla="*/ 956 h 956"/>
              </a:gdLst>
              <a:ahLst/>
              <a:cxnLst>
                <a:cxn ang="T8">
                  <a:pos x="T0" y="T1"/>
                </a:cxn>
                <a:cxn ang="T9">
                  <a:pos x="T2" y="T3"/>
                </a:cxn>
                <a:cxn ang="T10">
                  <a:pos x="T4" y="T5"/>
                </a:cxn>
                <a:cxn ang="T11">
                  <a:pos x="T6" y="T7"/>
                </a:cxn>
              </a:cxnLst>
              <a:rect l="T12" t="T13" r="T14" b="T15"/>
              <a:pathLst>
                <a:path w="375" h="956">
                  <a:moveTo>
                    <a:pt x="141" y="0"/>
                  </a:moveTo>
                  <a:cubicBezTo>
                    <a:pt x="120" y="46"/>
                    <a:pt x="24" y="162"/>
                    <a:pt x="12" y="278"/>
                  </a:cubicBezTo>
                  <a:cubicBezTo>
                    <a:pt x="0" y="394"/>
                    <a:pt x="7" y="583"/>
                    <a:pt x="67" y="696"/>
                  </a:cubicBezTo>
                  <a:cubicBezTo>
                    <a:pt x="127" y="809"/>
                    <a:pt x="311" y="902"/>
                    <a:pt x="375" y="956"/>
                  </a:cubicBezTo>
                </a:path>
              </a:pathLst>
            </a:custGeom>
            <a:noFill/>
            <a:ln w="57150" cmpd="sng">
              <a:solidFill>
                <a:srgbClr val="BFBFB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9725" name="Freeform 13"/>
            <p:cNvSpPr>
              <a:spLocks/>
            </p:cNvSpPr>
            <p:nvPr/>
          </p:nvSpPr>
          <p:spPr bwMode="auto">
            <a:xfrm>
              <a:off x="1616745" y="3207110"/>
              <a:ext cx="434975" cy="509588"/>
            </a:xfrm>
            <a:custGeom>
              <a:avLst/>
              <a:gdLst>
                <a:gd name="T0" fmla="*/ 0 w 274"/>
                <a:gd name="T1" fmla="*/ 0 h 321"/>
                <a:gd name="T2" fmla="*/ 48 w 274"/>
                <a:gd name="T3" fmla="*/ 268 h 321"/>
                <a:gd name="T4" fmla="*/ 274 w 274"/>
                <a:gd name="T5" fmla="*/ 319 h 321"/>
                <a:gd name="T6" fmla="*/ 0 60000 65536"/>
                <a:gd name="T7" fmla="*/ 0 60000 65536"/>
                <a:gd name="T8" fmla="*/ 0 60000 65536"/>
                <a:gd name="T9" fmla="*/ 0 w 274"/>
                <a:gd name="T10" fmla="*/ 0 h 321"/>
                <a:gd name="T11" fmla="*/ 274 w 274"/>
                <a:gd name="T12" fmla="*/ 321 h 321"/>
              </a:gdLst>
              <a:ahLst/>
              <a:cxnLst>
                <a:cxn ang="T6">
                  <a:pos x="T0" y="T1"/>
                </a:cxn>
                <a:cxn ang="T7">
                  <a:pos x="T2" y="T3"/>
                </a:cxn>
                <a:cxn ang="T8">
                  <a:pos x="T4" y="T5"/>
                </a:cxn>
              </a:cxnLst>
              <a:rect l="T9" t="T10" r="T11" b="T12"/>
              <a:pathLst>
                <a:path w="274" h="321">
                  <a:moveTo>
                    <a:pt x="0" y="0"/>
                  </a:moveTo>
                  <a:cubicBezTo>
                    <a:pt x="8" y="45"/>
                    <a:pt x="2" y="215"/>
                    <a:pt x="48" y="268"/>
                  </a:cubicBezTo>
                  <a:cubicBezTo>
                    <a:pt x="94" y="321"/>
                    <a:pt x="227" y="309"/>
                    <a:pt x="274" y="319"/>
                  </a:cubicBezTo>
                </a:path>
              </a:pathLst>
            </a:custGeom>
            <a:noFill/>
            <a:ln w="57150" cmpd="sng">
              <a:solidFill>
                <a:srgbClr val="BFBFB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7" name="Freeform 14">
              <a:extLst>
                <a:ext uri="{FF2B5EF4-FFF2-40B4-BE49-F238E27FC236}">
                  <a16:creationId xmlns:a16="http://schemas.microsoft.com/office/drawing/2014/main" id="{7342CB8C-0E37-4E75-A7B9-8FCE79F85C67}"/>
                </a:ext>
              </a:extLst>
            </p:cNvPr>
            <p:cNvSpPr>
              <a:spLocks/>
            </p:cNvSpPr>
            <p:nvPr/>
          </p:nvSpPr>
          <p:spPr bwMode="auto">
            <a:xfrm>
              <a:off x="2490784" y="2060848"/>
              <a:ext cx="723900" cy="152400"/>
            </a:xfrm>
            <a:custGeom>
              <a:avLst/>
              <a:gdLst>
                <a:gd name="T0" fmla="*/ 0 w 418"/>
                <a:gd name="T1" fmla="*/ 88 h 96"/>
                <a:gd name="T2" fmla="*/ 229 w 418"/>
                <a:gd name="T3" fmla="*/ 1 h 96"/>
                <a:gd name="T4" fmla="*/ 418 w 418"/>
                <a:gd name="T5" fmla="*/ 96 h 96"/>
                <a:gd name="T6" fmla="*/ 0 60000 65536"/>
                <a:gd name="T7" fmla="*/ 0 60000 65536"/>
                <a:gd name="T8" fmla="*/ 0 60000 65536"/>
                <a:gd name="T9" fmla="*/ 0 w 418"/>
                <a:gd name="T10" fmla="*/ 0 h 96"/>
                <a:gd name="T11" fmla="*/ 418 w 418"/>
                <a:gd name="T12" fmla="*/ 96 h 96"/>
              </a:gdLst>
              <a:ahLst/>
              <a:cxnLst>
                <a:cxn ang="T6">
                  <a:pos x="T0" y="T1"/>
                </a:cxn>
                <a:cxn ang="T7">
                  <a:pos x="T2" y="T3"/>
                </a:cxn>
                <a:cxn ang="T8">
                  <a:pos x="T4" y="T5"/>
                </a:cxn>
              </a:cxnLst>
              <a:rect l="T9" t="T10" r="T11" b="T12"/>
              <a:pathLst>
                <a:path w="418" h="96">
                  <a:moveTo>
                    <a:pt x="0" y="88"/>
                  </a:moveTo>
                  <a:cubicBezTo>
                    <a:pt x="37" y="74"/>
                    <a:pt x="159" y="0"/>
                    <a:pt x="229" y="1"/>
                  </a:cubicBezTo>
                  <a:cubicBezTo>
                    <a:pt x="299" y="2"/>
                    <a:pt x="379" y="76"/>
                    <a:pt x="418" y="96"/>
                  </a:cubicBezTo>
                </a:path>
              </a:pathLst>
            </a:custGeom>
            <a:noFill/>
            <a:ln w="57150"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9706" name="AutoShape 15"/>
            <p:cNvSpPr>
              <a:spLocks noChangeArrowheads="1"/>
            </p:cNvSpPr>
            <p:nvPr/>
          </p:nvSpPr>
          <p:spPr bwMode="auto">
            <a:xfrm>
              <a:off x="4284661" y="5085482"/>
              <a:ext cx="576262" cy="287338"/>
            </a:xfrm>
            <a:prstGeom prst="downArrow">
              <a:avLst>
                <a:gd name="adj1" fmla="val 50000"/>
                <a:gd name="adj2" fmla="val 25000"/>
              </a:avLst>
            </a:prstGeom>
            <a:solidFill>
              <a:srgbClr val="FFCC00"/>
            </a:solidFill>
            <a:ln w="9525">
              <a:solidFill>
                <a:srgbClr val="FF9900"/>
              </a:solidFill>
              <a:miter lim="800000"/>
              <a:headEnd/>
              <a:tailEnd/>
            </a:ln>
          </p:spPr>
          <p:txBody>
            <a:bodyPr wrap="none" anchor="ctr"/>
            <a:lstStyle/>
            <a:p>
              <a:endParaRPr lang="en-GB"/>
            </a:p>
          </p:txBody>
        </p:sp>
        <p:sp>
          <p:nvSpPr>
            <p:cNvPr id="29721" name="Line 17"/>
            <p:cNvSpPr>
              <a:spLocks noChangeShapeType="1"/>
            </p:cNvSpPr>
            <p:nvPr/>
          </p:nvSpPr>
          <p:spPr bwMode="auto">
            <a:xfrm flipV="1">
              <a:off x="2411409" y="4507632"/>
              <a:ext cx="1439863" cy="360363"/>
            </a:xfrm>
            <a:prstGeom prst="line">
              <a:avLst/>
            </a:prstGeom>
            <a:noFill/>
            <a:ln w="57150">
              <a:solidFill>
                <a:srgbClr val="BFBFBF"/>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9722" name="Line 18"/>
            <p:cNvSpPr>
              <a:spLocks noChangeShapeType="1"/>
            </p:cNvSpPr>
            <p:nvPr/>
          </p:nvSpPr>
          <p:spPr bwMode="auto">
            <a:xfrm>
              <a:off x="3493346" y="3934545"/>
              <a:ext cx="431800" cy="144463"/>
            </a:xfrm>
            <a:prstGeom prst="line">
              <a:avLst/>
            </a:prstGeom>
            <a:noFill/>
            <a:ln w="57150">
              <a:solidFill>
                <a:srgbClr val="BFBFBF"/>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48" name="Line 19">
              <a:extLst>
                <a:ext uri="{FF2B5EF4-FFF2-40B4-BE49-F238E27FC236}">
                  <a16:creationId xmlns:a16="http://schemas.microsoft.com/office/drawing/2014/main" id="{7888928F-16AE-45DA-AFAE-EA91ED4CE2B2}"/>
                </a:ext>
              </a:extLst>
            </p:cNvPr>
            <p:cNvSpPr>
              <a:spLocks noChangeShapeType="1"/>
            </p:cNvSpPr>
            <p:nvPr/>
          </p:nvSpPr>
          <p:spPr bwMode="auto">
            <a:xfrm>
              <a:off x="4066184" y="3213820"/>
              <a:ext cx="217488" cy="50323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dirty="0"/>
            </a:p>
          </p:txBody>
        </p:sp>
        <p:sp>
          <p:nvSpPr>
            <p:cNvPr id="29708" name="Oval 20"/>
            <p:cNvSpPr>
              <a:spLocks noChangeArrowheads="1"/>
            </p:cNvSpPr>
            <p:nvPr/>
          </p:nvSpPr>
          <p:spPr bwMode="auto">
            <a:xfrm>
              <a:off x="6443663" y="1988270"/>
              <a:ext cx="2449512" cy="1152525"/>
            </a:xfrm>
            <a:prstGeom prst="ellipse">
              <a:avLst/>
            </a:prstGeom>
            <a:solidFill>
              <a:schemeClr val="bg1">
                <a:lumMod val="85000"/>
              </a:schemeClr>
            </a:solidFill>
            <a:ln w="9525">
              <a:solidFill>
                <a:schemeClr val="bg1">
                  <a:lumMod val="65000"/>
                </a:schemeClr>
              </a:solidFill>
              <a:round/>
              <a:headEnd/>
              <a:tailEnd/>
            </a:ln>
          </p:spPr>
          <p:txBody>
            <a:bodyPr wrap="none" anchor="ctr"/>
            <a:lstStyle/>
            <a:p>
              <a:pPr algn="ctr"/>
              <a:r>
                <a:rPr lang="en-GB" dirty="0">
                  <a:solidFill>
                    <a:schemeClr val="bg1">
                      <a:lumMod val="50000"/>
                    </a:schemeClr>
                  </a:solidFill>
                </a:rPr>
                <a:t>Genome Data</a:t>
              </a:r>
            </a:p>
          </p:txBody>
        </p:sp>
        <p:grpSp>
          <p:nvGrpSpPr>
            <p:cNvPr id="29709" name="Group 21"/>
            <p:cNvGrpSpPr>
              <a:grpSpLocks/>
            </p:cNvGrpSpPr>
            <p:nvPr/>
          </p:nvGrpSpPr>
          <p:grpSpPr bwMode="auto">
            <a:xfrm flipH="1">
              <a:off x="4719636" y="1916832"/>
              <a:ext cx="3381375" cy="3743325"/>
              <a:chOff x="680" y="1178"/>
              <a:chExt cx="2130" cy="2358"/>
            </a:xfrm>
          </p:grpSpPr>
          <p:sp>
            <p:nvSpPr>
              <p:cNvPr id="29718" name="Oval 22"/>
              <p:cNvSpPr>
                <a:spLocks noChangeAspect="1" noChangeArrowheads="1"/>
              </p:cNvSpPr>
              <p:nvPr/>
            </p:nvSpPr>
            <p:spPr bwMode="auto">
              <a:xfrm>
                <a:off x="1337" y="1949"/>
                <a:ext cx="816" cy="816"/>
              </a:xfrm>
              <a:prstGeom prst="ellipse">
                <a:avLst/>
              </a:prstGeom>
              <a:solidFill>
                <a:schemeClr val="bg1">
                  <a:lumMod val="85000"/>
                </a:schemeClr>
              </a:solidFill>
              <a:ln w="9525">
                <a:solidFill>
                  <a:schemeClr val="bg1">
                    <a:lumMod val="65000"/>
                  </a:schemeClr>
                </a:solidFill>
                <a:round/>
                <a:headEnd/>
                <a:tailEnd/>
              </a:ln>
            </p:spPr>
            <p:txBody>
              <a:bodyPr wrap="none" anchor="ctr"/>
              <a:lstStyle/>
              <a:p>
                <a:pPr algn="ctr"/>
                <a:r>
                  <a:rPr lang="en-GB" sz="1600" dirty="0">
                    <a:solidFill>
                      <a:schemeClr val="bg1">
                        <a:lumMod val="50000"/>
                      </a:schemeClr>
                    </a:solidFill>
                  </a:rPr>
                  <a:t>Number </a:t>
                </a:r>
              </a:p>
              <a:p>
                <a:pPr algn="ctr"/>
                <a:r>
                  <a:rPr lang="en-GB" sz="1600" dirty="0">
                    <a:solidFill>
                      <a:schemeClr val="bg1">
                        <a:lumMod val="50000"/>
                      </a:schemeClr>
                    </a:solidFill>
                  </a:rPr>
                  <a:t>Markers</a:t>
                </a:r>
              </a:p>
              <a:p>
                <a:pPr algn="ctr"/>
                <a:r>
                  <a:rPr lang="en-GB" sz="1600" dirty="0">
                    <a:solidFill>
                      <a:schemeClr val="bg1">
                        <a:lumMod val="50000"/>
                      </a:schemeClr>
                    </a:solidFill>
                  </a:rPr>
                  <a:t>(m)</a:t>
                </a:r>
              </a:p>
            </p:txBody>
          </p:sp>
          <p:sp>
            <p:nvSpPr>
              <p:cNvPr id="29719" name="Oval 23"/>
              <p:cNvSpPr>
                <a:spLocks noChangeAspect="1" noChangeArrowheads="1"/>
              </p:cNvSpPr>
              <p:nvPr/>
            </p:nvSpPr>
            <p:spPr bwMode="auto">
              <a:xfrm>
                <a:off x="1994" y="1178"/>
                <a:ext cx="816" cy="816"/>
              </a:xfrm>
              <a:prstGeom prst="ellipse">
                <a:avLst/>
              </a:prstGeom>
              <a:solidFill>
                <a:schemeClr val="bg1">
                  <a:lumMod val="85000"/>
                </a:schemeClr>
              </a:solidFill>
              <a:ln w="9525">
                <a:solidFill>
                  <a:schemeClr val="bg1">
                    <a:lumMod val="65000"/>
                  </a:schemeClr>
                </a:solidFill>
                <a:round/>
                <a:headEnd/>
                <a:tailEnd/>
              </a:ln>
            </p:spPr>
            <p:txBody>
              <a:bodyPr wrap="none" anchor="ctr"/>
              <a:lstStyle/>
              <a:p>
                <a:pPr algn="ctr"/>
                <a:r>
                  <a:rPr lang="en-GB" sz="1600" dirty="0">
                    <a:solidFill>
                      <a:schemeClr val="bg1">
                        <a:lumMod val="50000"/>
                      </a:schemeClr>
                    </a:solidFill>
                  </a:rPr>
                  <a:t>Population</a:t>
                </a:r>
              </a:p>
              <a:p>
                <a:pPr algn="ctr"/>
                <a:r>
                  <a:rPr lang="en-GB" sz="1600" dirty="0">
                    <a:solidFill>
                      <a:schemeClr val="bg1">
                        <a:lumMod val="50000"/>
                      </a:schemeClr>
                    </a:solidFill>
                  </a:rPr>
                  <a:t>Genome</a:t>
                </a:r>
              </a:p>
              <a:p>
                <a:pPr algn="ctr"/>
                <a:r>
                  <a:rPr lang="en-GB" sz="1600" dirty="0">
                    <a:solidFill>
                      <a:schemeClr val="bg1">
                        <a:lumMod val="50000"/>
                      </a:schemeClr>
                    </a:solidFill>
                  </a:rPr>
                  <a:t>Structure</a:t>
                </a:r>
              </a:p>
            </p:txBody>
          </p:sp>
          <p:sp>
            <p:nvSpPr>
              <p:cNvPr id="29720" name="Oval 24"/>
              <p:cNvSpPr>
                <a:spLocks noChangeAspect="1" noChangeArrowheads="1"/>
              </p:cNvSpPr>
              <p:nvPr/>
            </p:nvSpPr>
            <p:spPr bwMode="auto">
              <a:xfrm>
                <a:off x="680" y="2720"/>
                <a:ext cx="816" cy="816"/>
              </a:xfrm>
              <a:prstGeom prst="ellipse">
                <a:avLst/>
              </a:prstGeom>
              <a:solidFill>
                <a:schemeClr val="bg1">
                  <a:lumMod val="85000"/>
                </a:schemeClr>
              </a:solidFill>
              <a:ln w="9525">
                <a:solidFill>
                  <a:schemeClr val="bg1">
                    <a:lumMod val="65000"/>
                  </a:schemeClr>
                </a:solidFill>
                <a:round/>
                <a:headEnd/>
                <a:tailEnd/>
              </a:ln>
            </p:spPr>
            <p:txBody>
              <a:bodyPr wrap="none" anchor="ctr"/>
              <a:lstStyle/>
              <a:p>
                <a:pPr algn="ctr"/>
                <a:r>
                  <a:rPr lang="en-GB" sz="1600">
                    <a:solidFill>
                      <a:schemeClr val="bg1">
                        <a:lumMod val="50000"/>
                      </a:schemeClr>
                    </a:solidFill>
                  </a:rPr>
                  <a:t>Marker</a:t>
                </a:r>
              </a:p>
              <a:p>
                <a:pPr algn="ctr"/>
                <a:r>
                  <a:rPr lang="en-GB" sz="1600">
                    <a:solidFill>
                      <a:schemeClr val="bg1">
                        <a:lumMod val="50000"/>
                      </a:schemeClr>
                    </a:solidFill>
                  </a:rPr>
                  <a:t>Selection</a:t>
                </a:r>
              </a:p>
            </p:txBody>
          </p:sp>
        </p:grpSp>
        <p:sp>
          <p:nvSpPr>
            <p:cNvPr id="49" name="Line 26">
              <a:extLst>
                <a:ext uri="{FF2B5EF4-FFF2-40B4-BE49-F238E27FC236}">
                  <a16:creationId xmlns:a16="http://schemas.microsoft.com/office/drawing/2014/main" id="{B4984E96-F2AD-4696-B0C6-7C3FD20D7AA3}"/>
                </a:ext>
              </a:extLst>
            </p:cNvPr>
            <p:cNvSpPr>
              <a:spLocks noChangeShapeType="1"/>
            </p:cNvSpPr>
            <p:nvPr/>
          </p:nvSpPr>
          <p:spPr bwMode="auto">
            <a:xfrm flipH="1" flipV="1">
              <a:off x="5292723" y="4509120"/>
              <a:ext cx="1439863" cy="360363"/>
            </a:xfrm>
            <a:prstGeom prst="line">
              <a:avLst/>
            </a:prstGeom>
            <a:noFill/>
            <a:ln w="57150">
              <a:solidFill>
                <a:schemeClr val="bg1">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0" name="Line 27">
              <a:extLst>
                <a:ext uri="{FF2B5EF4-FFF2-40B4-BE49-F238E27FC236}">
                  <a16:creationId xmlns:a16="http://schemas.microsoft.com/office/drawing/2014/main" id="{CD98C715-B816-43B1-B1CC-670E242EA4B8}"/>
                </a:ext>
              </a:extLst>
            </p:cNvPr>
            <p:cNvSpPr>
              <a:spLocks noChangeShapeType="1"/>
            </p:cNvSpPr>
            <p:nvPr/>
          </p:nvSpPr>
          <p:spPr bwMode="auto">
            <a:xfrm flipH="1">
              <a:off x="5213346" y="3933056"/>
              <a:ext cx="431800" cy="144463"/>
            </a:xfrm>
            <a:prstGeom prst="line">
              <a:avLst/>
            </a:prstGeom>
            <a:noFill/>
            <a:ln w="57150">
              <a:solidFill>
                <a:schemeClr val="bg1">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1" name="Line 28">
              <a:extLst>
                <a:ext uri="{FF2B5EF4-FFF2-40B4-BE49-F238E27FC236}">
                  <a16:creationId xmlns:a16="http://schemas.microsoft.com/office/drawing/2014/main" id="{A802CCA0-F7BA-47BE-817D-E12EBD3108C3}"/>
                </a:ext>
              </a:extLst>
            </p:cNvPr>
            <p:cNvSpPr>
              <a:spLocks noChangeShapeType="1"/>
            </p:cNvSpPr>
            <p:nvPr/>
          </p:nvSpPr>
          <p:spPr bwMode="auto">
            <a:xfrm flipH="1">
              <a:off x="4860032" y="3213820"/>
              <a:ext cx="217488" cy="503238"/>
            </a:xfrm>
            <a:prstGeom prst="line">
              <a:avLst/>
            </a:prstGeom>
            <a:noFill/>
            <a:ln w="57150">
              <a:solidFill>
                <a:schemeClr val="bg1">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2" name="Freeform 32">
              <a:extLst>
                <a:ext uri="{FF2B5EF4-FFF2-40B4-BE49-F238E27FC236}">
                  <a16:creationId xmlns:a16="http://schemas.microsoft.com/office/drawing/2014/main" id="{5F2394DA-FB9D-4E18-B3AB-F9F0A26EA913}"/>
                </a:ext>
              </a:extLst>
            </p:cNvPr>
            <p:cNvSpPr>
              <a:spLocks/>
            </p:cNvSpPr>
            <p:nvPr/>
          </p:nvSpPr>
          <p:spPr bwMode="auto">
            <a:xfrm flipH="1">
              <a:off x="5911849" y="2060848"/>
              <a:ext cx="723900" cy="152400"/>
            </a:xfrm>
            <a:custGeom>
              <a:avLst/>
              <a:gdLst>
                <a:gd name="T0" fmla="*/ 0 w 418"/>
                <a:gd name="T1" fmla="*/ 88 h 96"/>
                <a:gd name="T2" fmla="*/ 229 w 418"/>
                <a:gd name="T3" fmla="*/ 1 h 96"/>
                <a:gd name="T4" fmla="*/ 418 w 418"/>
                <a:gd name="T5" fmla="*/ 96 h 96"/>
                <a:gd name="T6" fmla="*/ 0 60000 65536"/>
                <a:gd name="T7" fmla="*/ 0 60000 65536"/>
                <a:gd name="T8" fmla="*/ 0 60000 65536"/>
                <a:gd name="T9" fmla="*/ 0 w 418"/>
                <a:gd name="T10" fmla="*/ 0 h 96"/>
                <a:gd name="T11" fmla="*/ 418 w 418"/>
                <a:gd name="T12" fmla="*/ 96 h 96"/>
              </a:gdLst>
              <a:ahLst/>
              <a:cxnLst>
                <a:cxn ang="T6">
                  <a:pos x="T0" y="T1"/>
                </a:cxn>
                <a:cxn ang="T7">
                  <a:pos x="T2" y="T3"/>
                </a:cxn>
                <a:cxn ang="T8">
                  <a:pos x="T4" y="T5"/>
                </a:cxn>
              </a:cxnLst>
              <a:rect l="T9" t="T10" r="T11" b="T12"/>
              <a:pathLst>
                <a:path w="418" h="96">
                  <a:moveTo>
                    <a:pt x="0" y="88"/>
                  </a:moveTo>
                  <a:cubicBezTo>
                    <a:pt x="37" y="74"/>
                    <a:pt x="159" y="0"/>
                    <a:pt x="229" y="1"/>
                  </a:cubicBezTo>
                  <a:cubicBezTo>
                    <a:pt x="299" y="2"/>
                    <a:pt x="379" y="76"/>
                    <a:pt x="418" y="96"/>
                  </a:cubicBezTo>
                </a:path>
              </a:pathLst>
            </a:custGeom>
            <a:noFill/>
            <a:ln w="57150" cmpd="sng">
              <a:solidFill>
                <a:schemeClr val="bg1">
                  <a:lumMod val="75000"/>
                </a:schemeClr>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3" name="Freeform 30">
              <a:extLst>
                <a:ext uri="{FF2B5EF4-FFF2-40B4-BE49-F238E27FC236}">
                  <a16:creationId xmlns:a16="http://schemas.microsoft.com/office/drawing/2014/main" id="{FEF1DB21-7DAF-4FF7-8CB4-084D44104F7A}"/>
                </a:ext>
              </a:extLst>
            </p:cNvPr>
            <p:cNvSpPr>
              <a:spLocks/>
            </p:cNvSpPr>
            <p:nvPr/>
          </p:nvSpPr>
          <p:spPr bwMode="auto">
            <a:xfrm flipH="1">
              <a:off x="8009135" y="3135672"/>
              <a:ext cx="595313" cy="1517650"/>
            </a:xfrm>
            <a:custGeom>
              <a:avLst/>
              <a:gdLst>
                <a:gd name="T0" fmla="*/ 141 w 375"/>
                <a:gd name="T1" fmla="*/ 0 h 956"/>
                <a:gd name="T2" fmla="*/ 12 w 375"/>
                <a:gd name="T3" fmla="*/ 278 h 956"/>
                <a:gd name="T4" fmla="*/ 67 w 375"/>
                <a:gd name="T5" fmla="*/ 696 h 956"/>
                <a:gd name="T6" fmla="*/ 375 w 375"/>
                <a:gd name="T7" fmla="*/ 956 h 956"/>
                <a:gd name="T8" fmla="*/ 0 60000 65536"/>
                <a:gd name="T9" fmla="*/ 0 60000 65536"/>
                <a:gd name="T10" fmla="*/ 0 60000 65536"/>
                <a:gd name="T11" fmla="*/ 0 60000 65536"/>
                <a:gd name="T12" fmla="*/ 0 w 375"/>
                <a:gd name="T13" fmla="*/ 0 h 956"/>
                <a:gd name="T14" fmla="*/ 375 w 375"/>
                <a:gd name="T15" fmla="*/ 956 h 956"/>
              </a:gdLst>
              <a:ahLst/>
              <a:cxnLst>
                <a:cxn ang="T8">
                  <a:pos x="T0" y="T1"/>
                </a:cxn>
                <a:cxn ang="T9">
                  <a:pos x="T2" y="T3"/>
                </a:cxn>
                <a:cxn ang="T10">
                  <a:pos x="T4" y="T5"/>
                </a:cxn>
                <a:cxn ang="T11">
                  <a:pos x="T6" y="T7"/>
                </a:cxn>
              </a:cxnLst>
              <a:rect l="T12" t="T13" r="T14" b="T15"/>
              <a:pathLst>
                <a:path w="375" h="956">
                  <a:moveTo>
                    <a:pt x="141" y="0"/>
                  </a:moveTo>
                  <a:cubicBezTo>
                    <a:pt x="120" y="46"/>
                    <a:pt x="24" y="162"/>
                    <a:pt x="12" y="278"/>
                  </a:cubicBezTo>
                  <a:cubicBezTo>
                    <a:pt x="0" y="394"/>
                    <a:pt x="7" y="583"/>
                    <a:pt x="67" y="696"/>
                  </a:cubicBezTo>
                  <a:cubicBezTo>
                    <a:pt x="127" y="809"/>
                    <a:pt x="311" y="902"/>
                    <a:pt x="375" y="956"/>
                  </a:cubicBezTo>
                </a:path>
              </a:pathLst>
            </a:custGeom>
            <a:noFill/>
            <a:ln w="57150" cmpd="sng">
              <a:solidFill>
                <a:schemeClr val="bg1">
                  <a:lumMod val="75000"/>
                </a:schemeClr>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4" name="Freeform 31">
              <a:extLst>
                <a:ext uri="{FF2B5EF4-FFF2-40B4-BE49-F238E27FC236}">
                  <a16:creationId xmlns:a16="http://schemas.microsoft.com/office/drawing/2014/main" id="{B39712C7-9B38-4BF7-B7F3-6BBD550442BE}"/>
                </a:ext>
              </a:extLst>
            </p:cNvPr>
            <p:cNvSpPr>
              <a:spLocks/>
            </p:cNvSpPr>
            <p:nvPr/>
          </p:nvSpPr>
          <p:spPr bwMode="auto">
            <a:xfrm flipH="1">
              <a:off x="7092280" y="3207110"/>
              <a:ext cx="434975" cy="509588"/>
            </a:xfrm>
            <a:custGeom>
              <a:avLst/>
              <a:gdLst>
                <a:gd name="T0" fmla="*/ 0 w 274"/>
                <a:gd name="T1" fmla="*/ 0 h 321"/>
                <a:gd name="T2" fmla="*/ 48 w 274"/>
                <a:gd name="T3" fmla="*/ 268 h 321"/>
                <a:gd name="T4" fmla="*/ 274 w 274"/>
                <a:gd name="T5" fmla="*/ 319 h 321"/>
                <a:gd name="T6" fmla="*/ 0 60000 65536"/>
                <a:gd name="T7" fmla="*/ 0 60000 65536"/>
                <a:gd name="T8" fmla="*/ 0 60000 65536"/>
                <a:gd name="T9" fmla="*/ 0 w 274"/>
                <a:gd name="T10" fmla="*/ 0 h 321"/>
                <a:gd name="T11" fmla="*/ 274 w 274"/>
                <a:gd name="T12" fmla="*/ 321 h 321"/>
              </a:gdLst>
              <a:ahLst/>
              <a:cxnLst>
                <a:cxn ang="T6">
                  <a:pos x="T0" y="T1"/>
                </a:cxn>
                <a:cxn ang="T7">
                  <a:pos x="T2" y="T3"/>
                </a:cxn>
                <a:cxn ang="T8">
                  <a:pos x="T4" y="T5"/>
                </a:cxn>
              </a:cxnLst>
              <a:rect l="T9" t="T10" r="T11" b="T12"/>
              <a:pathLst>
                <a:path w="274" h="321">
                  <a:moveTo>
                    <a:pt x="0" y="0"/>
                  </a:moveTo>
                  <a:cubicBezTo>
                    <a:pt x="8" y="45"/>
                    <a:pt x="2" y="215"/>
                    <a:pt x="48" y="268"/>
                  </a:cubicBezTo>
                  <a:cubicBezTo>
                    <a:pt x="94" y="321"/>
                    <a:pt x="227" y="309"/>
                    <a:pt x="274" y="319"/>
                  </a:cubicBezTo>
                </a:path>
              </a:pathLst>
            </a:custGeom>
            <a:noFill/>
            <a:ln w="57150" cmpd="sng">
              <a:solidFill>
                <a:schemeClr val="bg1">
                  <a:lumMod val="75000"/>
                </a:schemeClr>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grpSp>
      <p:pic>
        <p:nvPicPr>
          <p:cNvPr id="29" name="Picture 60" descr="TzeenieWheenie_red_green_OK_not_OK_Icons_3.png">
            <a:extLst>
              <a:ext uri="{FF2B5EF4-FFF2-40B4-BE49-F238E27FC236}">
                <a16:creationId xmlns:a16="http://schemas.microsoft.com/office/drawing/2014/main" id="{FA94F0EF-C7C7-437B-9F76-07F2B6F2599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9261" y="4226142"/>
            <a:ext cx="72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60" descr="TzeenieWheenie_red_green_OK_not_OK_Icons_3.png">
            <a:extLst>
              <a:ext uri="{FF2B5EF4-FFF2-40B4-BE49-F238E27FC236}">
                <a16:creationId xmlns:a16="http://schemas.microsoft.com/office/drawing/2014/main" id="{FD356A5E-BE0B-4E26-A37B-BB08DDD08A8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4337" y="3212233"/>
            <a:ext cx="72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60" descr="TzeenieWheenie_red_green_OK_not_OK_Icons_3.png">
            <a:extLst>
              <a:ext uri="{FF2B5EF4-FFF2-40B4-BE49-F238E27FC236}">
                <a16:creationId xmlns:a16="http://schemas.microsoft.com/office/drawing/2014/main" id="{C8AF0A32-6BF1-4AA7-B9BE-6AA9343F18E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33349" y="1862424"/>
            <a:ext cx="72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60" descr="TzeenieWheenie_red_green_OK_not_OK_Icons_3.png">
            <a:extLst>
              <a:ext uri="{FF2B5EF4-FFF2-40B4-BE49-F238E27FC236}">
                <a16:creationId xmlns:a16="http://schemas.microsoft.com/office/drawing/2014/main" id="{64B7ECD3-AD6A-4D53-A0E8-ECC151BE182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89723" y="3134384"/>
            <a:ext cx="72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60" descr="TzeenieWheenie_red_green_OK_not_OK_Icons_3.png">
            <a:extLst>
              <a:ext uri="{FF2B5EF4-FFF2-40B4-BE49-F238E27FC236}">
                <a16:creationId xmlns:a16="http://schemas.microsoft.com/office/drawing/2014/main" id="{04556BF7-DBA7-420D-A28E-799F4266BCD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2370" y="4214504"/>
            <a:ext cx="72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0288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GB"/>
              <a:t>Genetic Architecture</a:t>
            </a:r>
          </a:p>
        </p:txBody>
      </p:sp>
      <p:sp>
        <p:nvSpPr>
          <p:cNvPr id="5124" name="Rectangle 3"/>
          <p:cNvSpPr>
            <a:spLocks noGrp="1" noChangeArrowheads="1"/>
          </p:cNvSpPr>
          <p:nvPr>
            <p:ph type="body" idx="1"/>
          </p:nvPr>
        </p:nvSpPr>
        <p:spPr/>
        <p:txBody>
          <a:bodyPr/>
          <a:lstStyle/>
          <a:p>
            <a:pPr eaLnBrk="1" hangingPunct="1"/>
            <a:r>
              <a:rPr lang="en-GB" dirty="0"/>
              <a:t>Is number of loci small or very large?</a:t>
            </a:r>
          </a:p>
          <a:p>
            <a:pPr lvl="1" eaLnBrk="1" hangingPunct="1"/>
            <a:endParaRPr lang="en-GB" dirty="0"/>
          </a:p>
        </p:txBody>
      </p:sp>
    </p:spTree>
    <p:extLst>
      <p:ext uri="{BB962C8B-B14F-4D97-AF65-F5344CB8AC3E}">
        <p14:creationId xmlns:p14="http://schemas.microsoft.com/office/powerpoint/2010/main" val="1917194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Van </a:t>
            </a:r>
            <a:r>
              <a:rPr lang="en-GB" dirty="0" err="1"/>
              <a:t>Raden</a:t>
            </a:r>
            <a:r>
              <a:rPr lang="en-GB" dirty="0"/>
              <a:t> Model 1</a:t>
            </a:r>
          </a:p>
        </p:txBody>
      </p:sp>
      <p:sp>
        <p:nvSpPr>
          <p:cNvPr id="3" name="Content Placeholder 2"/>
          <p:cNvSpPr>
            <a:spLocks noGrp="1"/>
          </p:cNvSpPr>
          <p:nvPr>
            <p:ph idx="1"/>
          </p:nvPr>
        </p:nvSpPr>
        <p:spPr/>
        <p:txBody>
          <a:bodyPr/>
          <a:lstStyle/>
          <a:p>
            <a:r>
              <a:rPr lang="en-GB" dirty="0"/>
              <a:t>Modelled the variance of allelic substitution</a:t>
            </a:r>
          </a:p>
          <a:p>
            <a:pPr lvl="1"/>
            <a:r>
              <a:rPr lang="en-GB" dirty="0"/>
              <a:t>assumed MVN( 0, </a:t>
            </a:r>
            <a:r>
              <a:rPr lang="el-GR" dirty="0"/>
              <a:t>σ</a:t>
            </a:r>
            <a:r>
              <a:rPr lang="en-GB" baseline="-25000" dirty="0"/>
              <a:t>b</a:t>
            </a:r>
            <a:r>
              <a:rPr lang="en-GB" baseline="30000" dirty="0"/>
              <a:t>2</a:t>
            </a:r>
            <a:r>
              <a:rPr lang="en-GB" b="1" dirty="0"/>
              <a:t>I</a:t>
            </a:r>
            <a:r>
              <a:rPr lang="en-GB" dirty="0"/>
              <a:t>)</a:t>
            </a:r>
            <a:endParaRPr lang="en-GB" baseline="30000" dirty="0"/>
          </a:p>
          <a:p>
            <a:pPr lvl="1"/>
            <a:r>
              <a:rPr lang="en-GB" dirty="0"/>
              <a:t>E[ variance contributed │LE, HWE ] = 2</a:t>
            </a:r>
            <a:r>
              <a:rPr lang="en-GB" i="1" dirty="0"/>
              <a:t>p</a:t>
            </a:r>
            <a:r>
              <a:rPr lang="en-GB" i="1" baseline="-25000" dirty="0"/>
              <a:t>j</a:t>
            </a:r>
            <a:r>
              <a:rPr lang="en-GB" dirty="0"/>
              <a:t>(1-</a:t>
            </a:r>
            <a:r>
              <a:rPr lang="en-GB" i="1" dirty="0"/>
              <a:t>p</a:t>
            </a:r>
            <a:r>
              <a:rPr lang="en-GB" i="1" baseline="-25000" dirty="0"/>
              <a:t>j</a:t>
            </a:r>
            <a:r>
              <a:rPr lang="en-GB" dirty="0"/>
              <a:t>)</a:t>
            </a:r>
            <a:r>
              <a:rPr lang="el-GR" dirty="0"/>
              <a:t> σ</a:t>
            </a:r>
            <a:r>
              <a:rPr lang="en-GB" baseline="-25000" dirty="0"/>
              <a:t>b</a:t>
            </a:r>
            <a:r>
              <a:rPr lang="en-GB" baseline="30000" dirty="0"/>
              <a:t>2</a:t>
            </a:r>
          </a:p>
          <a:p>
            <a:pPr lvl="2"/>
            <a:endParaRPr lang="en-GB" dirty="0"/>
          </a:p>
          <a:p>
            <a:pPr lvl="2"/>
            <a:r>
              <a:rPr lang="en-GB" dirty="0"/>
              <a:t>locus of intermediate frequency expected to contribute more variance than one of low MAF</a:t>
            </a:r>
          </a:p>
        </p:txBody>
      </p:sp>
      <p:sp>
        <p:nvSpPr>
          <p:cNvPr id="4" name="Date Placeholder 3"/>
          <p:cNvSpPr>
            <a:spLocks noGrp="1"/>
          </p:cNvSpPr>
          <p:nvPr>
            <p:ph type="dt" sz="half" idx="10"/>
          </p:nvPr>
        </p:nvSpPr>
        <p:spPr/>
        <p:txBody>
          <a:bodyPr/>
          <a:lstStyle/>
          <a:p>
            <a:fld id="{6C697B8B-A4F5-476F-A680-8191BD338EC5}"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
        <p:nvSpPr>
          <p:cNvPr id="6" name="TextBox 5"/>
          <p:cNvSpPr txBox="1"/>
          <p:nvPr/>
        </p:nvSpPr>
        <p:spPr>
          <a:xfrm>
            <a:off x="6960096" y="1700809"/>
            <a:ext cx="1728192" cy="646331"/>
          </a:xfrm>
          <a:prstGeom prst="rect">
            <a:avLst/>
          </a:prstGeom>
          <a:solidFill>
            <a:srgbClr val="FFFF99"/>
          </a:solidFill>
          <a:ln>
            <a:solidFill>
              <a:srgbClr val="FFC000"/>
            </a:solidFill>
          </a:ln>
        </p:spPr>
        <p:txBody>
          <a:bodyPr wrap="square" rtlCol="0">
            <a:spAutoFit/>
          </a:bodyPr>
          <a:lstStyle/>
          <a:p>
            <a:r>
              <a:rPr lang="en-GB" dirty="0"/>
              <a:t>‘given’, i.e. ‘conditional on’</a:t>
            </a:r>
          </a:p>
        </p:txBody>
      </p:sp>
      <p:cxnSp>
        <p:nvCxnSpPr>
          <p:cNvPr id="8" name="Straight Arrow Connector 7"/>
          <p:cNvCxnSpPr/>
          <p:nvPr/>
        </p:nvCxnSpPr>
        <p:spPr>
          <a:xfrm flipH="1">
            <a:off x="6384032" y="2023974"/>
            <a:ext cx="576064" cy="324907"/>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236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Van </a:t>
            </a:r>
            <a:r>
              <a:rPr lang="en-GB" dirty="0" err="1"/>
              <a:t>Raden</a:t>
            </a:r>
            <a:r>
              <a:rPr lang="en-GB" dirty="0"/>
              <a:t> Model 1</a:t>
            </a:r>
          </a:p>
        </p:txBody>
      </p:sp>
      <p:sp>
        <p:nvSpPr>
          <p:cNvPr id="3" name="Content Placeholder 2"/>
          <p:cNvSpPr>
            <a:spLocks noGrp="1"/>
          </p:cNvSpPr>
          <p:nvPr>
            <p:ph idx="1"/>
          </p:nvPr>
        </p:nvSpPr>
        <p:spPr/>
        <p:txBody>
          <a:bodyPr/>
          <a:lstStyle/>
          <a:p>
            <a:r>
              <a:rPr lang="en-GB" dirty="0"/>
              <a:t>Modelled the variance of allelic substitution</a:t>
            </a:r>
            <a:endParaRPr lang="en-GB" baseline="30000" dirty="0"/>
          </a:p>
          <a:p>
            <a:pPr lvl="1"/>
            <a:r>
              <a:rPr lang="en-GB" dirty="0"/>
              <a:t> E[variance contributed │LE, HWE] = 2</a:t>
            </a:r>
            <a:r>
              <a:rPr lang="en-GB" i="1" dirty="0"/>
              <a:t>p</a:t>
            </a:r>
            <a:r>
              <a:rPr lang="en-GB" i="1" baseline="-25000" dirty="0"/>
              <a:t>j</a:t>
            </a:r>
            <a:r>
              <a:rPr lang="en-GB" dirty="0"/>
              <a:t>(1-</a:t>
            </a:r>
            <a:r>
              <a:rPr lang="en-GB" i="1" dirty="0"/>
              <a:t>p</a:t>
            </a:r>
            <a:r>
              <a:rPr lang="en-GB" i="1" baseline="-25000" dirty="0"/>
              <a:t>j</a:t>
            </a:r>
            <a:r>
              <a:rPr lang="en-GB" dirty="0"/>
              <a:t>)</a:t>
            </a:r>
            <a:r>
              <a:rPr lang="el-GR" dirty="0"/>
              <a:t> σ</a:t>
            </a:r>
            <a:r>
              <a:rPr lang="en-GB" baseline="-25000" dirty="0"/>
              <a:t>b</a:t>
            </a:r>
            <a:r>
              <a:rPr lang="en-GB" baseline="30000" dirty="0"/>
              <a:t>2</a:t>
            </a:r>
          </a:p>
        </p:txBody>
      </p:sp>
      <p:sp>
        <p:nvSpPr>
          <p:cNvPr id="4" name="Date Placeholder 3"/>
          <p:cNvSpPr>
            <a:spLocks noGrp="1"/>
          </p:cNvSpPr>
          <p:nvPr>
            <p:ph type="dt" sz="half" idx="10"/>
          </p:nvPr>
        </p:nvSpPr>
        <p:spPr/>
        <p:txBody>
          <a:bodyPr/>
          <a:lstStyle/>
          <a:p>
            <a:fld id="{6C697B8B-A4F5-476F-A680-8191BD338EC5}"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grpSp>
        <p:nvGrpSpPr>
          <p:cNvPr id="25" name="Group 24">
            <a:extLst>
              <a:ext uri="{FF2B5EF4-FFF2-40B4-BE49-F238E27FC236}">
                <a16:creationId xmlns:a16="http://schemas.microsoft.com/office/drawing/2014/main" id="{4D69B3F9-8614-4D25-942F-A70438385482}"/>
              </a:ext>
            </a:extLst>
          </p:cNvPr>
          <p:cNvGrpSpPr/>
          <p:nvPr/>
        </p:nvGrpSpPr>
        <p:grpSpPr>
          <a:xfrm>
            <a:off x="1680880" y="3068960"/>
            <a:ext cx="9023632" cy="2880320"/>
            <a:chOff x="1680880" y="3068960"/>
            <a:chExt cx="9023632" cy="2880320"/>
          </a:xfrm>
        </p:grpSpPr>
        <p:grpSp>
          <p:nvGrpSpPr>
            <p:cNvPr id="9" name="Group 8">
              <a:extLst>
                <a:ext uri="{FF2B5EF4-FFF2-40B4-BE49-F238E27FC236}">
                  <a16:creationId xmlns:a16="http://schemas.microsoft.com/office/drawing/2014/main" id="{E1B9A05F-E452-493C-8AB0-3C29E5CD6156}"/>
                </a:ext>
              </a:extLst>
            </p:cNvPr>
            <p:cNvGrpSpPr/>
            <p:nvPr/>
          </p:nvGrpSpPr>
          <p:grpSpPr>
            <a:xfrm>
              <a:off x="1680880" y="3069088"/>
              <a:ext cx="3834963" cy="2880192"/>
              <a:chOff x="1680880" y="3102055"/>
              <a:chExt cx="3834963" cy="2880192"/>
            </a:xfrm>
          </p:grpSpPr>
          <p:sp>
            <p:nvSpPr>
              <p:cNvPr id="10" name="Text Box 16"/>
              <p:cNvSpPr txBox="1">
                <a:spLocks noChangeArrowheads="1"/>
              </p:cNvSpPr>
              <p:nvPr/>
            </p:nvSpPr>
            <p:spPr bwMode="auto">
              <a:xfrm>
                <a:off x="4698960" y="5412465"/>
                <a:ext cx="8168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MAF</a:t>
                </a:r>
              </a:p>
            </p:txBody>
          </p:sp>
          <p:sp>
            <p:nvSpPr>
              <p:cNvPr id="11" name="Line 17"/>
              <p:cNvSpPr>
                <a:spLocks noChangeShapeType="1"/>
              </p:cNvSpPr>
              <p:nvPr/>
            </p:nvSpPr>
            <p:spPr bwMode="auto">
              <a:xfrm>
                <a:off x="1902798" y="3548357"/>
                <a:ext cx="0" cy="22389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2" name="Line 18"/>
              <p:cNvSpPr>
                <a:spLocks noChangeShapeType="1"/>
              </p:cNvSpPr>
              <p:nvPr/>
            </p:nvSpPr>
            <p:spPr bwMode="auto">
              <a:xfrm>
                <a:off x="1680880" y="5560411"/>
                <a:ext cx="30180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 name="Text Box 19"/>
              <p:cNvSpPr txBox="1">
                <a:spLocks noChangeArrowheads="1"/>
              </p:cNvSpPr>
              <p:nvPr/>
            </p:nvSpPr>
            <p:spPr bwMode="auto">
              <a:xfrm>
                <a:off x="1680880" y="3102055"/>
                <a:ext cx="2014520" cy="569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Frequency</a:t>
                </a:r>
              </a:p>
            </p:txBody>
          </p:sp>
          <p:sp>
            <p:nvSpPr>
              <p:cNvPr id="14" name="Freeform 20"/>
              <p:cNvSpPr>
                <a:spLocks/>
              </p:cNvSpPr>
              <p:nvPr/>
            </p:nvSpPr>
            <p:spPr bwMode="auto">
              <a:xfrm>
                <a:off x="1902798" y="4097012"/>
                <a:ext cx="2574245" cy="1463399"/>
              </a:xfrm>
              <a:custGeom>
                <a:avLst/>
                <a:gdLst>
                  <a:gd name="T0" fmla="*/ 0 w 1044"/>
                  <a:gd name="T1" fmla="*/ 599 h 599"/>
                  <a:gd name="T2" fmla="*/ 235 w 1044"/>
                  <a:gd name="T3" fmla="*/ 319 h 599"/>
                  <a:gd name="T4" fmla="*/ 362 w 1044"/>
                  <a:gd name="T5" fmla="*/ 67 h 599"/>
                  <a:gd name="T6" fmla="*/ 499 w 1044"/>
                  <a:gd name="T7" fmla="*/ 10 h 599"/>
                  <a:gd name="T8" fmla="*/ 1044 w 1044"/>
                  <a:gd name="T9" fmla="*/ 10 h 599"/>
                  <a:gd name="T10" fmla="*/ 0 60000 65536"/>
                  <a:gd name="T11" fmla="*/ 0 60000 65536"/>
                  <a:gd name="T12" fmla="*/ 0 60000 65536"/>
                  <a:gd name="T13" fmla="*/ 0 60000 65536"/>
                  <a:gd name="T14" fmla="*/ 0 60000 65536"/>
                  <a:gd name="T15" fmla="*/ 0 w 1044"/>
                  <a:gd name="T16" fmla="*/ 0 h 599"/>
                  <a:gd name="T17" fmla="*/ 1044 w 1044"/>
                  <a:gd name="T18" fmla="*/ 599 h 599"/>
                  <a:gd name="connsiteX0" fmla="*/ 0 w 10000"/>
                  <a:gd name="connsiteY0" fmla="*/ 9908 h 9908"/>
                  <a:gd name="connsiteX1" fmla="*/ 2251 w 10000"/>
                  <a:gd name="connsiteY1" fmla="*/ 4554 h 9908"/>
                  <a:gd name="connsiteX2" fmla="*/ 3467 w 10000"/>
                  <a:gd name="connsiteY2" fmla="*/ 1027 h 9908"/>
                  <a:gd name="connsiteX3" fmla="*/ 4780 w 10000"/>
                  <a:gd name="connsiteY3" fmla="*/ 75 h 9908"/>
                  <a:gd name="connsiteX4" fmla="*/ 10000 w 10000"/>
                  <a:gd name="connsiteY4" fmla="*/ 75 h 9908"/>
                  <a:gd name="connsiteX0" fmla="*/ 0 w 10000"/>
                  <a:gd name="connsiteY0" fmla="*/ 10000 h 10000"/>
                  <a:gd name="connsiteX1" fmla="*/ 2140 w 10000"/>
                  <a:gd name="connsiteY1" fmla="*/ 3616 h 10000"/>
                  <a:gd name="connsiteX2" fmla="*/ 3467 w 10000"/>
                  <a:gd name="connsiteY2" fmla="*/ 1037 h 10000"/>
                  <a:gd name="connsiteX3" fmla="*/ 4780 w 10000"/>
                  <a:gd name="connsiteY3" fmla="*/ 76 h 10000"/>
                  <a:gd name="connsiteX4" fmla="*/ 10000 w 10000"/>
                  <a:gd name="connsiteY4" fmla="*/ 7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cubicBezTo>
                      <a:pt x="374" y="9208"/>
                      <a:pt x="1565" y="5115"/>
                      <a:pt x="2140" y="3616"/>
                    </a:cubicBezTo>
                    <a:cubicBezTo>
                      <a:pt x="2715" y="2116"/>
                      <a:pt x="3027" y="1627"/>
                      <a:pt x="3467" y="1037"/>
                    </a:cubicBezTo>
                    <a:cubicBezTo>
                      <a:pt x="3907" y="447"/>
                      <a:pt x="3688" y="244"/>
                      <a:pt x="4780" y="76"/>
                    </a:cubicBezTo>
                    <a:cubicBezTo>
                      <a:pt x="5872" y="-93"/>
                      <a:pt x="9128" y="76"/>
                      <a:pt x="10000" y="76"/>
                    </a:cubicBezTo>
                  </a:path>
                </a:pathLst>
              </a:custGeom>
              <a:noFill/>
              <a:ln w="38100" cmpd="sng">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2" name="TextBox 21"/>
              <p:cNvSpPr txBox="1"/>
              <p:nvPr/>
            </p:nvSpPr>
            <p:spPr>
              <a:xfrm>
                <a:off x="2855312" y="5612915"/>
                <a:ext cx="1224136" cy="369332"/>
              </a:xfrm>
              <a:prstGeom prst="rect">
                <a:avLst/>
              </a:prstGeom>
              <a:noFill/>
            </p:spPr>
            <p:txBody>
              <a:bodyPr wrap="square" rtlCol="0">
                <a:spAutoFit/>
              </a:bodyPr>
              <a:lstStyle/>
              <a:p>
                <a:r>
                  <a:rPr lang="en-GB" dirty="0"/>
                  <a:t>SNP Chip</a:t>
                </a:r>
              </a:p>
            </p:txBody>
          </p:sp>
        </p:grpSp>
        <p:grpSp>
          <p:nvGrpSpPr>
            <p:cNvPr id="15" name="Group 14">
              <a:extLst>
                <a:ext uri="{FF2B5EF4-FFF2-40B4-BE49-F238E27FC236}">
                  <a16:creationId xmlns:a16="http://schemas.microsoft.com/office/drawing/2014/main" id="{F55D24FD-CEEF-48BA-88E4-BAF3BF3CCD28}"/>
                </a:ext>
              </a:extLst>
            </p:cNvPr>
            <p:cNvGrpSpPr/>
            <p:nvPr/>
          </p:nvGrpSpPr>
          <p:grpSpPr>
            <a:xfrm>
              <a:off x="6820994" y="3068960"/>
              <a:ext cx="3883518" cy="2840767"/>
              <a:chOff x="6820994" y="2852936"/>
              <a:chExt cx="3883518" cy="2840767"/>
            </a:xfrm>
          </p:grpSpPr>
          <p:sp>
            <p:nvSpPr>
              <p:cNvPr id="16" name="Text Box 47"/>
              <p:cNvSpPr txBox="1">
                <a:spLocks noChangeArrowheads="1"/>
              </p:cNvSpPr>
              <p:nvPr/>
            </p:nvSpPr>
            <p:spPr bwMode="auto">
              <a:xfrm>
                <a:off x="6820994" y="2852936"/>
                <a:ext cx="1673950" cy="561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Frequency</a:t>
                </a:r>
              </a:p>
            </p:txBody>
          </p:sp>
          <p:sp>
            <p:nvSpPr>
              <p:cNvPr id="17" name="Line 48"/>
              <p:cNvSpPr>
                <a:spLocks noChangeShapeType="1"/>
              </p:cNvSpPr>
              <p:nvPr/>
            </p:nvSpPr>
            <p:spPr bwMode="auto">
              <a:xfrm>
                <a:off x="7005395" y="3293207"/>
                <a:ext cx="0" cy="22086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 name="Line 49"/>
              <p:cNvSpPr>
                <a:spLocks noChangeShapeType="1"/>
              </p:cNvSpPr>
              <p:nvPr/>
            </p:nvSpPr>
            <p:spPr bwMode="auto">
              <a:xfrm>
                <a:off x="6820994" y="5307260"/>
                <a:ext cx="301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 name="Text Box 50"/>
              <p:cNvSpPr txBox="1">
                <a:spLocks noChangeArrowheads="1"/>
              </p:cNvSpPr>
              <p:nvPr/>
            </p:nvSpPr>
            <p:spPr bwMode="auto">
              <a:xfrm>
                <a:off x="9844892" y="5156872"/>
                <a:ext cx="8596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MAF</a:t>
                </a:r>
              </a:p>
            </p:txBody>
          </p:sp>
          <p:sp>
            <p:nvSpPr>
              <p:cNvPr id="20" name="Freeform 51"/>
              <p:cNvSpPr>
                <a:spLocks/>
              </p:cNvSpPr>
              <p:nvPr/>
            </p:nvSpPr>
            <p:spPr bwMode="auto">
              <a:xfrm>
                <a:off x="7052489" y="3766023"/>
                <a:ext cx="2633635" cy="1534865"/>
              </a:xfrm>
              <a:custGeom>
                <a:avLst/>
                <a:gdLst>
                  <a:gd name="T0" fmla="*/ 0 w 1034"/>
                  <a:gd name="T1" fmla="*/ 0 h 631"/>
                  <a:gd name="T2" fmla="*/ 111 w 1034"/>
                  <a:gd name="T3" fmla="*/ 410 h 631"/>
                  <a:gd name="T4" fmla="*/ 347 w 1034"/>
                  <a:gd name="T5" fmla="*/ 584 h 631"/>
                  <a:gd name="T6" fmla="*/ 608 w 1034"/>
                  <a:gd name="T7" fmla="*/ 615 h 631"/>
                  <a:gd name="T8" fmla="*/ 1034 w 1034"/>
                  <a:gd name="T9" fmla="*/ 631 h 631"/>
                  <a:gd name="T10" fmla="*/ 0 60000 65536"/>
                  <a:gd name="T11" fmla="*/ 0 60000 65536"/>
                  <a:gd name="T12" fmla="*/ 0 60000 65536"/>
                  <a:gd name="T13" fmla="*/ 0 60000 65536"/>
                  <a:gd name="T14" fmla="*/ 0 60000 65536"/>
                  <a:gd name="T15" fmla="*/ 0 w 1034"/>
                  <a:gd name="T16" fmla="*/ 0 h 631"/>
                  <a:gd name="T17" fmla="*/ 1034 w 1034"/>
                  <a:gd name="T18" fmla="*/ 631 h 631"/>
                  <a:gd name="connsiteX0" fmla="*/ 0 w 10000"/>
                  <a:gd name="connsiteY0" fmla="*/ 0 h 10000"/>
                  <a:gd name="connsiteX1" fmla="*/ 905 w 10000"/>
                  <a:gd name="connsiteY1" fmla="*/ 6959 h 10000"/>
                  <a:gd name="connsiteX2" fmla="*/ 3356 w 10000"/>
                  <a:gd name="connsiteY2" fmla="*/ 9255 h 10000"/>
                  <a:gd name="connsiteX3" fmla="*/ 5880 w 10000"/>
                  <a:gd name="connsiteY3" fmla="*/ 9746 h 10000"/>
                  <a:gd name="connsiteX4" fmla="*/ 10000 w 10000"/>
                  <a:gd name="connsiteY4" fmla="*/ 10000 h 10000"/>
                  <a:gd name="connsiteX0" fmla="*/ 0 w 10000"/>
                  <a:gd name="connsiteY0" fmla="*/ 0 h 10000"/>
                  <a:gd name="connsiteX1" fmla="*/ 905 w 10000"/>
                  <a:gd name="connsiteY1" fmla="*/ 7881 h 10000"/>
                  <a:gd name="connsiteX2" fmla="*/ 3356 w 10000"/>
                  <a:gd name="connsiteY2" fmla="*/ 9255 h 10000"/>
                  <a:gd name="connsiteX3" fmla="*/ 5880 w 10000"/>
                  <a:gd name="connsiteY3" fmla="*/ 9746 h 10000"/>
                  <a:gd name="connsiteX4" fmla="*/ 10000 w 10000"/>
                  <a:gd name="connsiteY4" fmla="*/ 10000 h 10000"/>
                  <a:gd name="connsiteX0" fmla="*/ 0 w 10000"/>
                  <a:gd name="connsiteY0" fmla="*/ 0 h 10000"/>
                  <a:gd name="connsiteX1" fmla="*/ 905 w 10000"/>
                  <a:gd name="connsiteY1" fmla="*/ 7881 h 10000"/>
                  <a:gd name="connsiteX2" fmla="*/ 3356 w 10000"/>
                  <a:gd name="connsiteY2" fmla="*/ 9439 h 10000"/>
                  <a:gd name="connsiteX3" fmla="*/ 5880 w 10000"/>
                  <a:gd name="connsiteY3" fmla="*/ 9746 h 10000"/>
                  <a:gd name="connsiteX4" fmla="*/ 10000 w 10000"/>
                  <a:gd name="connsiteY4" fmla="*/ 10000 h 10000"/>
                  <a:gd name="connsiteX0" fmla="*/ 0 w 10000"/>
                  <a:gd name="connsiteY0" fmla="*/ 0 h 10000"/>
                  <a:gd name="connsiteX1" fmla="*/ 905 w 10000"/>
                  <a:gd name="connsiteY1" fmla="*/ 7881 h 10000"/>
                  <a:gd name="connsiteX2" fmla="*/ 2793 w 10000"/>
                  <a:gd name="connsiteY2" fmla="*/ 9321 h 10000"/>
                  <a:gd name="connsiteX3" fmla="*/ 3356 w 10000"/>
                  <a:gd name="connsiteY3" fmla="*/ 9439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3356 w 10000"/>
                  <a:gd name="connsiteY3" fmla="*/ 9439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412 w 10000"/>
                  <a:gd name="connsiteY1" fmla="*/ 4385 h 10000"/>
                  <a:gd name="connsiteX2" fmla="*/ 905 w 10000"/>
                  <a:gd name="connsiteY2" fmla="*/ 7881 h 10000"/>
                  <a:gd name="connsiteX3" fmla="*/ 2419 w 10000"/>
                  <a:gd name="connsiteY3" fmla="*/ 9340 h 10000"/>
                  <a:gd name="connsiteX4" fmla="*/ 4004 w 10000"/>
                  <a:gd name="connsiteY4" fmla="*/ 9571 h 10000"/>
                  <a:gd name="connsiteX5" fmla="*/ 5880 w 10000"/>
                  <a:gd name="connsiteY5" fmla="*/ 9746 h 10000"/>
                  <a:gd name="connsiteX6" fmla="*/ 10000 w 10000"/>
                  <a:gd name="connsiteY6" fmla="*/ 10000 h 10000"/>
                  <a:gd name="connsiteX0" fmla="*/ 0 w 10000"/>
                  <a:gd name="connsiteY0" fmla="*/ 0 h 10000"/>
                  <a:gd name="connsiteX1" fmla="*/ 217 w 10000"/>
                  <a:gd name="connsiteY1" fmla="*/ 4251 h 10000"/>
                  <a:gd name="connsiteX2" fmla="*/ 905 w 10000"/>
                  <a:gd name="connsiteY2" fmla="*/ 7881 h 10000"/>
                  <a:gd name="connsiteX3" fmla="*/ 2419 w 10000"/>
                  <a:gd name="connsiteY3" fmla="*/ 9340 h 10000"/>
                  <a:gd name="connsiteX4" fmla="*/ 4004 w 10000"/>
                  <a:gd name="connsiteY4" fmla="*/ 9571 h 10000"/>
                  <a:gd name="connsiteX5" fmla="*/ 5880 w 10000"/>
                  <a:gd name="connsiteY5" fmla="*/ 9746 h 10000"/>
                  <a:gd name="connsiteX6" fmla="*/ 10000 w 10000"/>
                  <a:gd name="connsiteY6"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0"/>
                    </a:moveTo>
                    <a:cubicBezTo>
                      <a:pt x="69" y="731"/>
                      <a:pt x="66" y="2938"/>
                      <a:pt x="217" y="4251"/>
                    </a:cubicBezTo>
                    <a:cubicBezTo>
                      <a:pt x="368" y="5564"/>
                      <a:pt x="538" y="7033"/>
                      <a:pt x="905" y="7881"/>
                    </a:cubicBezTo>
                    <a:cubicBezTo>
                      <a:pt x="1272" y="8729"/>
                      <a:pt x="2000" y="9193"/>
                      <a:pt x="2419" y="9340"/>
                    </a:cubicBezTo>
                    <a:cubicBezTo>
                      <a:pt x="2827" y="9449"/>
                      <a:pt x="3427" y="9503"/>
                      <a:pt x="4004" y="9571"/>
                    </a:cubicBezTo>
                    <a:cubicBezTo>
                      <a:pt x="4581" y="9639"/>
                      <a:pt x="5255" y="9688"/>
                      <a:pt x="5880" y="9746"/>
                    </a:cubicBezTo>
                    <a:cubicBezTo>
                      <a:pt x="6983" y="9873"/>
                      <a:pt x="9139" y="9952"/>
                      <a:pt x="10000" y="10000"/>
                    </a:cubicBezTo>
                  </a:path>
                </a:pathLst>
              </a:custGeom>
              <a:noFill/>
              <a:ln w="38100"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3" name="TextBox 22"/>
              <p:cNvSpPr txBox="1"/>
              <p:nvPr/>
            </p:nvSpPr>
            <p:spPr>
              <a:xfrm>
                <a:off x="7474282" y="5324371"/>
                <a:ext cx="1862078" cy="369332"/>
              </a:xfrm>
              <a:prstGeom prst="rect">
                <a:avLst/>
              </a:prstGeom>
              <a:noFill/>
            </p:spPr>
            <p:txBody>
              <a:bodyPr wrap="square" rtlCol="0">
                <a:spAutoFit/>
              </a:bodyPr>
              <a:lstStyle/>
              <a:p>
                <a:r>
                  <a:rPr lang="en-GB" dirty="0"/>
                  <a:t>Sequence Data</a:t>
                </a:r>
              </a:p>
            </p:txBody>
          </p:sp>
          <p:sp>
            <p:nvSpPr>
              <p:cNvPr id="24" name="TextBox 23"/>
              <p:cNvSpPr txBox="1"/>
              <p:nvPr/>
            </p:nvSpPr>
            <p:spPr>
              <a:xfrm>
                <a:off x="8544273" y="3638980"/>
                <a:ext cx="1944341" cy="646331"/>
              </a:xfrm>
              <a:prstGeom prst="rect">
                <a:avLst/>
              </a:prstGeom>
              <a:noFill/>
            </p:spPr>
            <p:txBody>
              <a:bodyPr wrap="square" rtlCol="0">
                <a:spAutoFit/>
              </a:bodyPr>
              <a:lstStyle/>
              <a:p>
                <a:r>
                  <a:rPr lang="en-GB" dirty="0"/>
                  <a:t>Approximately</a:t>
                </a:r>
              </a:p>
              <a:p>
                <a:r>
                  <a:rPr lang="en-GB" dirty="0"/>
                  <a:t>  ~ 1/[p(1-p)]</a:t>
                </a:r>
              </a:p>
            </p:txBody>
          </p:sp>
        </p:grpSp>
      </p:grpSp>
    </p:spTree>
    <p:extLst>
      <p:ext uri="{BB962C8B-B14F-4D97-AF65-F5344CB8AC3E}">
        <p14:creationId xmlns:p14="http://schemas.microsoft.com/office/powerpoint/2010/main" val="329442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Van </a:t>
            </a:r>
            <a:r>
              <a:rPr lang="en-GB" dirty="0" err="1"/>
              <a:t>Raden</a:t>
            </a:r>
            <a:r>
              <a:rPr lang="en-GB" dirty="0"/>
              <a:t> Model 1</a:t>
            </a:r>
          </a:p>
        </p:txBody>
      </p:sp>
      <p:sp>
        <p:nvSpPr>
          <p:cNvPr id="3" name="Content Placeholder 2"/>
          <p:cNvSpPr>
            <a:spLocks noGrp="1"/>
          </p:cNvSpPr>
          <p:nvPr>
            <p:ph idx="1"/>
          </p:nvPr>
        </p:nvSpPr>
        <p:spPr/>
        <p:txBody>
          <a:bodyPr/>
          <a:lstStyle/>
          <a:p>
            <a:r>
              <a:rPr lang="en-GB" dirty="0"/>
              <a:t>Modelled the variance of allelic substitution</a:t>
            </a:r>
            <a:endParaRPr lang="en-GB" baseline="30000" dirty="0"/>
          </a:p>
          <a:p>
            <a:pPr lvl="1"/>
            <a:r>
              <a:rPr lang="en-GB" dirty="0"/>
              <a:t> E[variance contributed │LE, HWE] = 2</a:t>
            </a:r>
            <a:r>
              <a:rPr lang="en-GB" i="1" dirty="0"/>
              <a:t>p</a:t>
            </a:r>
            <a:r>
              <a:rPr lang="en-GB" i="1" baseline="-25000" dirty="0"/>
              <a:t>j</a:t>
            </a:r>
            <a:r>
              <a:rPr lang="en-GB" dirty="0"/>
              <a:t>(1-</a:t>
            </a:r>
            <a:r>
              <a:rPr lang="en-GB" i="1" dirty="0"/>
              <a:t>p</a:t>
            </a:r>
            <a:r>
              <a:rPr lang="en-GB" i="1" baseline="-25000" dirty="0"/>
              <a:t>j</a:t>
            </a:r>
            <a:r>
              <a:rPr lang="en-GB" dirty="0"/>
              <a:t>)</a:t>
            </a:r>
            <a:r>
              <a:rPr lang="el-GR" dirty="0"/>
              <a:t> σ</a:t>
            </a:r>
            <a:r>
              <a:rPr lang="en-GB" baseline="-25000" dirty="0"/>
              <a:t>b</a:t>
            </a:r>
            <a:r>
              <a:rPr lang="en-GB" baseline="30000" dirty="0"/>
              <a:t>2</a:t>
            </a:r>
          </a:p>
          <a:p>
            <a:pPr lvl="1"/>
            <a:r>
              <a:rPr lang="en-GB" dirty="0"/>
              <a:t>where does variance of trait reside </a:t>
            </a:r>
            <a:r>
              <a:rPr lang="en-GB" u="sng" dirty="0"/>
              <a:t>in model</a:t>
            </a:r>
            <a:r>
              <a:rPr lang="en-GB" dirty="0"/>
              <a:t>?</a:t>
            </a:r>
          </a:p>
          <a:p>
            <a:pPr lvl="2"/>
            <a:endParaRPr lang="en-GB" dirty="0"/>
          </a:p>
        </p:txBody>
      </p:sp>
      <p:sp>
        <p:nvSpPr>
          <p:cNvPr id="4" name="Date Placeholder 3"/>
          <p:cNvSpPr>
            <a:spLocks noGrp="1"/>
          </p:cNvSpPr>
          <p:nvPr>
            <p:ph type="dt" sz="half" idx="10"/>
          </p:nvPr>
        </p:nvSpPr>
        <p:spPr/>
        <p:txBody>
          <a:bodyPr/>
          <a:lstStyle/>
          <a:p>
            <a:fld id="{6C697B8B-A4F5-476F-A680-8191BD338EC5}"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grpSp>
        <p:nvGrpSpPr>
          <p:cNvPr id="7" name="Group 6">
            <a:extLst>
              <a:ext uri="{FF2B5EF4-FFF2-40B4-BE49-F238E27FC236}">
                <a16:creationId xmlns:a16="http://schemas.microsoft.com/office/drawing/2014/main" id="{5FA4BBCF-4307-4FE3-9492-85767D6AE333}"/>
              </a:ext>
            </a:extLst>
          </p:cNvPr>
          <p:cNvGrpSpPr/>
          <p:nvPr/>
        </p:nvGrpSpPr>
        <p:grpSpPr>
          <a:xfrm>
            <a:off x="1680879" y="3068960"/>
            <a:ext cx="9023633" cy="2880320"/>
            <a:chOff x="1680879" y="3068960"/>
            <a:chExt cx="9023633" cy="2880320"/>
          </a:xfrm>
        </p:grpSpPr>
        <p:sp>
          <p:nvSpPr>
            <p:cNvPr id="23" name="Text Box 16">
              <a:extLst>
                <a:ext uri="{FF2B5EF4-FFF2-40B4-BE49-F238E27FC236}">
                  <a16:creationId xmlns:a16="http://schemas.microsoft.com/office/drawing/2014/main" id="{75058551-113C-4E4D-B910-6D40C2A2A93F}"/>
                </a:ext>
              </a:extLst>
            </p:cNvPr>
            <p:cNvSpPr txBox="1">
              <a:spLocks noChangeArrowheads="1"/>
            </p:cNvSpPr>
            <p:nvPr/>
          </p:nvSpPr>
          <p:spPr bwMode="auto">
            <a:xfrm>
              <a:off x="4698960" y="5379498"/>
              <a:ext cx="8168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MAF</a:t>
              </a:r>
            </a:p>
          </p:txBody>
        </p:sp>
        <p:sp>
          <p:nvSpPr>
            <p:cNvPr id="24" name="Line 17">
              <a:extLst>
                <a:ext uri="{FF2B5EF4-FFF2-40B4-BE49-F238E27FC236}">
                  <a16:creationId xmlns:a16="http://schemas.microsoft.com/office/drawing/2014/main" id="{C4FA9D05-E5F3-47E4-9A2E-E998DE4532B4}"/>
                </a:ext>
              </a:extLst>
            </p:cNvPr>
            <p:cNvSpPr>
              <a:spLocks noChangeShapeType="1"/>
            </p:cNvSpPr>
            <p:nvPr/>
          </p:nvSpPr>
          <p:spPr bwMode="auto">
            <a:xfrm>
              <a:off x="1902798" y="3515390"/>
              <a:ext cx="0" cy="22389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6" name="Line 18">
              <a:extLst>
                <a:ext uri="{FF2B5EF4-FFF2-40B4-BE49-F238E27FC236}">
                  <a16:creationId xmlns:a16="http://schemas.microsoft.com/office/drawing/2014/main" id="{7F42C0FF-93D9-4E8D-8352-B04F51261693}"/>
                </a:ext>
              </a:extLst>
            </p:cNvPr>
            <p:cNvSpPr>
              <a:spLocks noChangeShapeType="1"/>
            </p:cNvSpPr>
            <p:nvPr/>
          </p:nvSpPr>
          <p:spPr bwMode="auto">
            <a:xfrm>
              <a:off x="1680880" y="5527444"/>
              <a:ext cx="30180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 name="Text Box 19">
              <a:extLst>
                <a:ext uri="{FF2B5EF4-FFF2-40B4-BE49-F238E27FC236}">
                  <a16:creationId xmlns:a16="http://schemas.microsoft.com/office/drawing/2014/main" id="{96D8067E-F7D7-42C9-824C-7407EB26B6C1}"/>
                </a:ext>
              </a:extLst>
            </p:cNvPr>
            <p:cNvSpPr txBox="1">
              <a:spLocks noChangeArrowheads="1"/>
            </p:cNvSpPr>
            <p:nvPr/>
          </p:nvSpPr>
          <p:spPr bwMode="auto">
            <a:xfrm>
              <a:off x="1680879" y="3069088"/>
              <a:ext cx="27961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Density of Total Variance</a:t>
              </a:r>
            </a:p>
          </p:txBody>
        </p:sp>
        <p:sp>
          <p:nvSpPr>
            <p:cNvPr id="29" name="TextBox 28">
              <a:extLst>
                <a:ext uri="{FF2B5EF4-FFF2-40B4-BE49-F238E27FC236}">
                  <a16:creationId xmlns:a16="http://schemas.microsoft.com/office/drawing/2014/main" id="{518F802E-E4C8-4668-9096-1F4793F0A9E9}"/>
                </a:ext>
              </a:extLst>
            </p:cNvPr>
            <p:cNvSpPr txBox="1"/>
            <p:nvPr/>
          </p:nvSpPr>
          <p:spPr>
            <a:xfrm>
              <a:off x="2855312" y="5579948"/>
              <a:ext cx="1224136" cy="369332"/>
            </a:xfrm>
            <a:prstGeom prst="rect">
              <a:avLst/>
            </a:prstGeom>
            <a:noFill/>
          </p:spPr>
          <p:txBody>
            <a:bodyPr wrap="square" rtlCol="0">
              <a:spAutoFit/>
            </a:bodyPr>
            <a:lstStyle/>
            <a:p>
              <a:r>
                <a:rPr lang="en-GB" dirty="0"/>
                <a:t>SNP Chip</a:t>
              </a:r>
            </a:p>
          </p:txBody>
        </p:sp>
        <p:sp>
          <p:nvSpPr>
            <p:cNvPr id="32" name="Text Box 47">
              <a:extLst>
                <a:ext uri="{FF2B5EF4-FFF2-40B4-BE49-F238E27FC236}">
                  <a16:creationId xmlns:a16="http://schemas.microsoft.com/office/drawing/2014/main" id="{018C03B5-6D63-4D9D-9761-06CD1E20783E}"/>
                </a:ext>
              </a:extLst>
            </p:cNvPr>
            <p:cNvSpPr txBox="1">
              <a:spLocks noChangeArrowheads="1"/>
            </p:cNvSpPr>
            <p:nvPr/>
          </p:nvSpPr>
          <p:spPr bwMode="auto">
            <a:xfrm>
              <a:off x="6820993" y="3068960"/>
              <a:ext cx="2731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Density of Total Variance</a:t>
              </a:r>
            </a:p>
          </p:txBody>
        </p:sp>
        <p:sp>
          <p:nvSpPr>
            <p:cNvPr id="34" name="Line 48">
              <a:extLst>
                <a:ext uri="{FF2B5EF4-FFF2-40B4-BE49-F238E27FC236}">
                  <a16:creationId xmlns:a16="http://schemas.microsoft.com/office/drawing/2014/main" id="{FE96E1F7-B9E1-49D3-93B3-6AD5200B2300}"/>
                </a:ext>
              </a:extLst>
            </p:cNvPr>
            <p:cNvSpPr>
              <a:spLocks noChangeShapeType="1"/>
            </p:cNvSpPr>
            <p:nvPr/>
          </p:nvSpPr>
          <p:spPr bwMode="auto">
            <a:xfrm>
              <a:off x="7005395" y="3509231"/>
              <a:ext cx="0" cy="22086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 name="Line 49">
              <a:extLst>
                <a:ext uri="{FF2B5EF4-FFF2-40B4-BE49-F238E27FC236}">
                  <a16:creationId xmlns:a16="http://schemas.microsoft.com/office/drawing/2014/main" id="{4824314D-114D-486A-8499-B9328320BF63}"/>
                </a:ext>
              </a:extLst>
            </p:cNvPr>
            <p:cNvSpPr>
              <a:spLocks noChangeShapeType="1"/>
            </p:cNvSpPr>
            <p:nvPr/>
          </p:nvSpPr>
          <p:spPr bwMode="auto">
            <a:xfrm>
              <a:off x="6820994" y="5523284"/>
              <a:ext cx="301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 name="Text Box 50">
              <a:extLst>
                <a:ext uri="{FF2B5EF4-FFF2-40B4-BE49-F238E27FC236}">
                  <a16:creationId xmlns:a16="http://schemas.microsoft.com/office/drawing/2014/main" id="{EDEE7293-A0A8-419A-AEB9-9930FB0795B7}"/>
                </a:ext>
              </a:extLst>
            </p:cNvPr>
            <p:cNvSpPr txBox="1">
              <a:spLocks noChangeArrowheads="1"/>
            </p:cNvSpPr>
            <p:nvPr/>
          </p:nvSpPr>
          <p:spPr bwMode="auto">
            <a:xfrm>
              <a:off x="9844892" y="5372896"/>
              <a:ext cx="8596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MAF</a:t>
              </a:r>
            </a:p>
          </p:txBody>
        </p:sp>
        <p:sp>
          <p:nvSpPr>
            <p:cNvPr id="38" name="TextBox 37">
              <a:extLst>
                <a:ext uri="{FF2B5EF4-FFF2-40B4-BE49-F238E27FC236}">
                  <a16:creationId xmlns:a16="http://schemas.microsoft.com/office/drawing/2014/main" id="{98FDA607-A3A9-413A-BB6D-79CA57EF3FB5}"/>
                </a:ext>
              </a:extLst>
            </p:cNvPr>
            <p:cNvSpPr txBox="1"/>
            <p:nvPr/>
          </p:nvSpPr>
          <p:spPr>
            <a:xfrm>
              <a:off x="7474282" y="5540395"/>
              <a:ext cx="1862078" cy="369332"/>
            </a:xfrm>
            <a:prstGeom prst="rect">
              <a:avLst/>
            </a:prstGeom>
            <a:noFill/>
          </p:spPr>
          <p:txBody>
            <a:bodyPr wrap="square" rtlCol="0">
              <a:spAutoFit/>
            </a:bodyPr>
            <a:lstStyle/>
            <a:p>
              <a:r>
                <a:rPr lang="en-GB" dirty="0"/>
                <a:t>Sequence Data</a:t>
              </a:r>
            </a:p>
          </p:txBody>
        </p:sp>
        <p:sp>
          <p:nvSpPr>
            <p:cNvPr id="40" name="Freeform 20">
              <a:extLst>
                <a:ext uri="{FF2B5EF4-FFF2-40B4-BE49-F238E27FC236}">
                  <a16:creationId xmlns:a16="http://schemas.microsoft.com/office/drawing/2014/main" id="{1C87A94B-8515-4921-A926-BAD9BBB1F877}"/>
                </a:ext>
              </a:extLst>
            </p:cNvPr>
            <p:cNvSpPr>
              <a:spLocks/>
            </p:cNvSpPr>
            <p:nvPr/>
          </p:nvSpPr>
          <p:spPr bwMode="auto">
            <a:xfrm>
              <a:off x="1919536" y="4052032"/>
              <a:ext cx="2574000" cy="1465200"/>
            </a:xfrm>
            <a:custGeom>
              <a:avLst/>
              <a:gdLst>
                <a:gd name="T0" fmla="*/ 0 w 1044"/>
                <a:gd name="T1" fmla="*/ 599 h 599"/>
                <a:gd name="T2" fmla="*/ 235 w 1044"/>
                <a:gd name="T3" fmla="*/ 319 h 599"/>
                <a:gd name="T4" fmla="*/ 362 w 1044"/>
                <a:gd name="T5" fmla="*/ 67 h 599"/>
                <a:gd name="T6" fmla="*/ 499 w 1044"/>
                <a:gd name="T7" fmla="*/ 10 h 599"/>
                <a:gd name="T8" fmla="*/ 1044 w 1044"/>
                <a:gd name="T9" fmla="*/ 10 h 599"/>
                <a:gd name="T10" fmla="*/ 0 60000 65536"/>
                <a:gd name="T11" fmla="*/ 0 60000 65536"/>
                <a:gd name="T12" fmla="*/ 0 60000 65536"/>
                <a:gd name="T13" fmla="*/ 0 60000 65536"/>
                <a:gd name="T14" fmla="*/ 0 60000 65536"/>
                <a:gd name="T15" fmla="*/ 0 w 1044"/>
                <a:gd name="T16" fmla="*/ 0 h 599"/>
                <a:gd name="T17" fmla="*/ 1044 w 1044"/>
                <a:gd name="T18" fmla="*/ 599 h 599"/>
                <a:gd name="connsiteX0" fmla="*/ 0 w 10000"/>
                <a:gd name="connsiteY0" fmla="*/ 9908 h 9908"/>
                <a:gd name="connsiteX1" fmla="*/ 2251 w 10000"/>
                <a:gd name="connsiteY1" fmla="*/ 4554 h 9908"/>
                <a:gd name="connsiteX2" fmla="*/ 3467 w 10000"/>
                <a:gd name="connsiteY2" fmla="*/ 1027 h 9908"/>
                <a:gd name="connsiteX3" fmla="*/ 4780 w 10000"/>
                <a:gd name="connsiteY3" fmla="*/ 75 h 9908"/>
                <a:gd name="connsiteX4" fmla="*/ 10000 w 10000"/>
                <a:gd name="connsiteY4" fmla="*/ 75 h 9908"/>
                <a:gd name="connsiteX0" fmla="*/ 0 w 10000"/>
                <a:gd name="connsiteY0" fmla="*/ 10000 h 10000"/>
                <a:gd name="connsiteX1" fmla="*/ 2140 w 10000"/>
                <a:gd name="connsiteY1" fmla="*/ 3616 h 10000"/>
                <a:gd name="connsiteX2" fmla="*/ 3467 w 10000"/>
                <a:gd name="connsiteY2" fmla="*/ 1037 h 10000"/>
                <a:gd name="connsiteX3" fmla="*/ 4780 w 10000"/>
                <a:gd name="connsiteY3" fmla="*/ 76 h 10000"/>
                <a:gd name="connsiteX4" fmla="*/ 10000 w 10000"/>
                <a:gd name="connsiteY4" fmla="*/ 76 h 10000"/>
                <a:gd name="connsiteX0" fmla="*/ 0 w 10000"/>
                <a:gd name="connsiteY0" fmla="*/ 9924 h 9924"/>
                <a:gd name="connsiteX1" fmla="*/ 2140 w 10000"/>
                <a:gd name="connsiteY1" fmla="*/ 3540 h 9924"/>
                <a:gd name="connsiteX2" fmla="*/ 3467 w 10000"/>
                <a:gd name="connsiteY2" fmla="*/ 961 h 9924"/>
                <a:gd name="connsiteX3" fmla="*/ 4780 w 10000"/>
                <a:gd name="connsiteY3" fmla="*/ 686 h 9924"/>
                <a:gd name="connsiteX4" fmla="*/ 10000 w 10000"/>
                <a:gd name="connsiteY4" fmla="*/ 0 h 9924"/>
                <a:gd name="connsiteX0" fmla="*/ 0 w 10000"/>
                <a:gd name="connsiteY0" fmla="*/ 10000 h 10000"/>
                <a:gd name="connsiteX1" fmla="*/ 2140 w 10000"/>
                <a:gd name="connsiteY1" fmla="*/ 3567 h 10000"/>
                <a:gd name="connsiteX2" fmla="*/ 3746 w 10000"/>
                <a:gd name="connsiteY2" fmla="*/ 2153 h 10000"/>
                <a:gd name="connsiteX3" fmla="*/ 4780 w 10000"/>
                <a:gd name="connsiteY3" fmla="*/ 691 h 10000"/>
                <a:gd name="connsiteX4" fmla="*/ 10000 w 10000"/>
                <a:gd name="connsiteY4" fmla="*/ 0 h 10000"/>
                <a:gd name="connsiteX0" fmla="*/ 0 w 10000"/>
                <a:gd name="connsiteY0" fmla="*/ 10000 h 10000"/>
                <a:gd name="connsiteX1" fmla="*/ 2140 w 10000"/>
                <a:gd name="connsiteY1" fmla="*/ 3567 h 10000"/>
                <a:gd name="connsiteX2" fmla="*/ 3244 w 10000"/>
                <a:gd name="connsiteY2" fmla="*/ 2449 h 10000"/>
                <a:gd name="connsiteX3" fmla="*/ 4780 w 10000"/>
                <a:gd name="connsiteY3" fmla="*/ 691 h 10000"/>
                <a:gd name="connsiteX4" fmla="*/ 10000 w 10000"/>
                <a:gd name="connsiteY4" fmla="*/ 0 h 10000"/>
                <a:gd name="connsiteX0" fmla="*/ 0 w 10000"/>
                <a:gd name="connsiteY0" fmla="*/ 10000 h 10000"/>
                <a:gd name="connsiteX1" fmla="*/ 1973 w 10000"/>
                <a:gd name="connsiteY1" fmla="*/ 8704 h 10000"/>
                <a:gd name="connsiteX2" fmla="*/ 3244 w 10000"/>
                <a:gd name="connsiteY2" fmla="*/ 2449 h 10000"/>
                <a:gd name="connsiteX3" fmla="*/ 4780 w 10000"/>
                <a:gd name="connsiteY3" fmla="*/ 691 h 10000"/>
                <a:gd name="connsiteX4" fmla="*/ 10000 w 10000"/>
                <a:gd name="connsiteY4" fmla="*/ 0 h 10000"/>
                <a:gd name="connsiteX0" fmla="*/ 0 w 10000"/>
                <a:gd name="connsiteY0" fmla="*/ 10000 h 10000"/>
                <a:gd name="connsiteX1" fmla="*/ 1973 w 10000"/>
                <a:gd name="connsiteY1" fmla="*/ 8704 h 10000"/>
                <a:gd name="connsiteX2" fmla="*/ 3467 w 10000"/>
                <a:gd name="connsiteY2" fmla="*/ 3140 h 10000"/>
                <a:gd name="connsiteX3" fmla="*/ 4780 w 10000"/>
                <a:gd name="connsiteY3" fmla="*/ 691 h 10000"/>
                <a:gd name="connsiteX4" fmla="*/ 10000 w 10000"/>
                <a:gd name="connsiteY4" fmla="*/ 0 h 10000"/>
                <a:gd name="connsiteX0" fmla="*/ 0 w 10000"/>
                <a:gd name="connsiteY0" fmla="*/ 10000 h 10000"/>
                <a:gd name="connsiteX1" fmla="*/ 1973 w 10000"/>
                <a:gd name="connsiteY1" fmla="*/ 8704 h 10000"/>
                <a:gd name="connsiteX2" fmla="*/ 3467 w 10000"/>
                <a:gd name="connsiteY2" fmla="*/ 3140 h 10000"/>
                <a:gd name="connsiteX3" fmla="*/ 6229 w 10000"/>
                <a:gd name="connsiteY3" fmla="*/ 296 h 10000"/>
                <a:gd name="connsiteX4" fmla="*/ 10000 w 10000"/>
                <a:gd name="connsiteY4" fmla="*/ 0 h 10000"/>
                <a:gd name="connsiteX0" fmla="*/ 0 w 10000"/>
                <a:gd name="connsiteY0" fmla="*/ 10000 h 10000"/>
                <a:gd name="connsiteX1" fmla="*/ 1973 w 10000"/>
                <a:gd name="connsiteY1" fmla="*/ 8704 h 10000"/>
                <a:gd name="connsiteX2" fmla="*/ 3467 w 10000"/>
                <a:gd name="connsiteY2" fmla="*/ 3140 h 10000"/>
                <a:gd name="connsiteX3" fmla="*/ 5783 w 10000"/>
                <a:gd name="connsiteY3" fmla="*/ 2963 h 10000"/>
                <a:gd name="connsiteX4" fmla="*/ 10000 w 10000"/>
                <a:gd name="connsiteY4" fmla="*/ 0 h 10000"/>
                <a:gd name="connsiteX0" fmla="*/ 0 w 10000"/>
                <a:gd name="connsiteY0" fmla="*/ 10000 h 10000"/>
                <a:gd name="connsiteX1" fmla="*/ 1973 w 10000"/>
                <a:gd name="connsiteY1" fmla="*/ 8704 h 10000"/>
                <a:gd name="connsiteX2" fmla="*/ 3913 w 10000"/>
                <a:gd name="connsiteY2" fmla="*/ 5807 h 10000"/>
                <a:gd name="connsiteX3" fmla="*/ 5783 w 10000"/>
                <a:gd name="connsiteY3" fmla="*/ 2963 h 10000"/>
                <a:gd name="connsiteX4" fmla="*/ 10000 w 10000"/>
                <a:gd name="connsiteY4" fmla="*/ 0 h 10000"/>
                <a:gd name="connsiteX0" fmla="*/ 0 w 10000"/>
                <a:gd name="connsiteY0" fmla="*/ 10000 h 10000"/>
                <a:gd name="connsiteX1" fmla="*/ 1973 w 10000"/>
                <a:gd name="connsiteY1" fmla="*/ 8704 h 10000"/>
                <a:gd name="connsiteX2" fmla="*/ 3913 w 10000"/>
                <a:gd name="connsiteY2" fmla="*/ 5807 h 10000"/>
                <a:gd name="connsiteX3" fmla="*/ 5783 w 10000"/>
                <a:gd name="connsiteY3" fmla="*/ 2963 h 10000"/>
                <a:gd name="connsiteX4" fmla="*/ 10000 w 10000"/>
                <a:gd name="connsiteY4" fmla="*/ 0 h 10000"/>
                <a:gd name="connsiteX0" fmla="*/ 0 w 10000"/>
                <a:gd name="connsiteY0" fmla="*/ 10000 h 10000"/>
                <a:gd name="connsiteX1" fmla="*/ 1973 w 10000"/>
                <a:gd name="connsiteY1" fmla="*/ 8704 h 10000"/>
                <a:gd name="connsiteX2" fmla="*/ 3913 w 10000"/>
                <a:gd name="connsiteY2" fmla="*/ 5807 h 10000"/>
                <a:gd name="connsiteX3" fmla="*/ 5727 w 10000"/>
                <a:gd name="connsiteY3" fmla="*/ 1481 h 10000"/>
                <a:gd name="connsiteX4" fmla="*/ 10000 w 10000"/>
                <a:gd name="connsiteY4" fmla="*/ 0 h 10000"/>
                <a:gd name="connsiteX0" fmla="*/ 0 w 10000"/>
                <a:gd name="connsiteY0" fmla="*/ 10000 h 10000"/>
                <a:gd name="connsiteX1" fmla="*/ 1973 w 10000"/>
                <a:gd name="connsiteY1" fmla="*/ 8704 h 10000"/>
                <a:gd name="connsiteX2" fmla="*/ 3913 w 10000"/>
                <a:gd name="connsiteY2" fmla="*/ 5807 h 10000"/>
                <a:gd name="connsiteX3" fmla="*/ 5058 w 10000"/>
                <a:gd name="connsiteY3" fmla="*/ 3160 h 10000"/>
                <a:gd name="connsiteX4" fmla="*/ 10000 w 10000"/>
                <a:gd name="connsiteY4" fmla="*/ 0 h 10000"/>
                <a:gd name="connsiteX0" fmla="*/ 0 w 10000"/>
                <a:gd name="connsiteY0" fmla="*/ 10000 h 10000"/>
                <a:gd name="connsiteX1" fmla="*/ 1973 w 10000"/>
                <a:gd name="connsiteY1" fmla="*/ 8704 h 10000"/>
                <a:gd name="connsiteX2" fmla="*/ 3913 w 10000"/>
                <a:gd name="connsiteY2" fmla="*/ 8079 h 10000"/>
                <a:gd name="connsiteX3" fmla="*/ 5058 w 10000"/>
                <a:gd name="connsiteY3" fmla="*/ 3160 h 10000"/>
                <a:gd name="connsiteX4" fmla="*/ 10000 w 10000"/>
                <a:gd name="connsiteY4" fmla="*/ 0 h 10000"/>
                <a:gd name="connsiteX0" fmla="*/ 0 w 10000"/>
                <a:gd name="connsiteY0" fmla="*/ 10000 h 10000"/>
                <a:gd name="connsiteX1" fmla="*/ 1917 w 10000"/>
                <a:gd name="connsiteY1" fmla="*/ 9395 h 10000"/>
                <a:gd name="connsiteX2" fmla="*/ 3913 w 10000"/>
                <a:gd name="connsiteY2" fmla="*/ 8079 h 10000"/>
                <a:gd name="connsiteX3" fmla="*/ 5058 w 10000"/>
                <a:gd name="connsiteY3" fmla="*/ 3160 h 10000"/>
                <a:gd name="connsiteX4" fmla="*/ 10000 w 10000"/>
                <a:gd name="connsiteY4" fmla="*/ 0 h 10000"/>
                <a:gd name="connsiteX0" fmla="*/ 0 w 10000"/>
                <a:gd name="connsiteY0" fmla="*/ 10000 h 10000"/>
                <a:gd name="connsiteX1" fmla="*/ 1917 w 10000"/>
                <a:gd name="connsiteY1" fmla="*/ 9395 h 10000"/>
                <a:gd name="connsiteX2" fmla="*/ 3913 w 10000"/>
                <a:gd name="connsiteY2" fmla="*/ 8079 h 10000"/>
                <a:gd name="connsiteX3" fmla="*/ 5058 w 10000"/>
                <a:gd name="connsiteY3" fmla="*/ 3160 h 10000"/>
                <a:gd name="connsiteX4" fmla="*/ 7139 w 10000"/>
                <a:gd name="connsiteY4" fmla="*/ 1914 h 10000"/>
                <a:gd name="connsiteX5" fmla="*/ 10000 w 10000"/>
                <a:gd name="connsiteY5" fmla="*/ 0 h 10000"/>
                <a:gd name="connsiteX0" fmla="*/ 0 w 10000"/>
                <a:gd name="connsiteY0" fmla="*/ 10000 h 10000"/>
                <a:gd name="connsiteX1" fmla="*/ 1917 w 10000"/>
                <a:gd name="connsiteY1" fmla="*/ 9395 h 10000"/>
                <a:gd name="connsiteX2" fmla="*/ 3913 w 10000"/>
                <a:gd name="connsiteY2" fmla="*/ 8079 h 10000"/>
                <a:gd name="connsiteX3" fmla="*/ 5058 w 10000"/>
                <a:gd name="connsiteY3" fmla="*/ 3160 h 10000"/>
                <a:gd name="connsiteX4" fmla="*/ 6860 w 10000"/>
                <a:gd name="connsiteY4" fmla="*/ 926 h 10000"/>
                <a:gd name="connsiteX5" fmla="*/ 10000 w 10000"/>
                <a:gd name="connsiteY5" fmla="*/ 0 h 10000"/>
                <a:gd name="connsiteX0" fmla="*/ 0 w 10000"/>
                <a:gd name="connsiteY0" fmla="*/ 10000 h 10000"/>
                <a:gd name="connsiteX1" fmla="*/ 1917 w 10000"/>
                <a:gd name="connsiteY1" fmla="*/ 9395 h 10000"/>
                <a:gd name="connsiteX2" fmla="*/ 3913 w 10000"/>
                <a:gd name="connsiteY2" fmla="*/ 8079 h 10000"/>
                <a:gd name="connsiteX3" fmla="*/ 5058 w 10000"/>
                <a:gd name="connsiteY3" fmla="*/ 3160 h 10000"/>
                <a:gd name="connsiteX4" fmla="*/ 7807 w 10000"/>
                <a:gd name="connsiteY4" fmla="*/ 432 h 10000"/>
                <a:gd name="connsiteX5" fmla="*/ 10000 w 10000"/>
                <a:gd name="connsiteY5" fmla="*/ 0 h 10000"/>
                <a:gd name="connsiteX0" fmla="*/ 0 w 10000"/>
                <a:gd name="connsiteY0" fmla="*/ 10000 h 10000"/>
                <a:gd name="connsiteX1" fmla="*/ 2307 w 10000"/>
                <a:gd name="connsiteY1" fmla="*/ 9691 h 10000"/>
                <a:gd name="connsiteX2" fmla="*/ 3913 w 10000"/>
                <a:gd name="connsiteY2" fmla="*/ 8079 h 10000"/>
                <a:gd name="connsiteX3" fmla="*/ 5058 w 10000"/>
                <a:gd name="connsiteY3" fmla="*/ 3160 h 10000"/>
                <a:gd name="connsiteX4" fmla="*/ 7807 w 10000"/>
                <a:gd name="connsiteY4" fmla="*/ 432 h 10000"/>
                <a:gd name="connsiteX5" fmla="*/ 10000 w 10000"/>
                <a:gd name="connsiteY5" fmla="*/ 0 h 10000"/>
                <a:gd name="connsiteX0" fmla="*/ 0 w 10000"/>
                <a:gd name="connsiteY0" fmla="*/ 10000 h 10000"/>
                <a:gd name="connsiteX1" fmla="*/ 953 w 10000"/>
                <a:gd name="connsiteY1" fmla="*/ 9915 h 10000"/>
                <a:gd name="connsiteX2" fmla="*/ 2307 w 10000"/>
                <a:gd name="connsiteY2" fmla="*/ 9691 h 10000"/>
                <a:gd name="connsiteX3" fmla="*/ 3913 w 10000"/>
                <a:gd name="connsiteY3" fmla="*/ 8079 h 10000"/>
                <a:gd name="connsiteX4" fmla="*/ 5058 w 10000"/>
                <a:gd name="connsiteY4" fmla="*/ 3160 h 10000"/>
                <a:gd name="connsiteX5" fmla="*/ 7807 w 10000"/>
                <a:gd name="connsiteY5" fmla="*/ 432 h 10000"/>
                <a:gd name="connsiteX6" fmla="*/ 10000 w 10000"/>
                <a:gd name="connsiteY6" fmla="*/ 0 h 10000"/>
                <a:gd name="connsiteX0" fmla="*/ 0 w 10000"/>
                <a:gd name="connsiteY0" fmla="*/ 10000 h 10000"/>
                <a:gd name="connsiteX1" fmla="*/ 953 w 10000"/>
                <a:gd name="connsiteY1" fmla="*/ 9915 h 10000"/>
                <a:gd name="connsiteX2" fmla="*/ 2307 w 10000"/>
                <a:gd name="connsiteY2" fmla="*/ 9691 h 10000"/>
                <a:gd name="connsiteX3" fmla="*/ 3913 w 10000"/>
                <a:gd name="connsiteY3" fmla="*/ 8079 h 10000"/>
                <a:gd name="connsiteX4" fmla="*/ 5058 w 10000"/>
                <a:gd name="connsiteY4" fmla="*/ 3160 h 10000"/>
                <a:gd name="connsiteX5" fmla="*/ 7807 w 10000"/>
                <a:gd name="connsiteY5" fmla="*/ 432 h 10000"/>
                <a:gd name="connsiteX6" fmla="*/ 10000 w 10000"/>
                <a:gd name="connsiteY6" fmla="*/ 0 h 10000"/>
                <a:gd name="connsiteX0" fmla="*/ 0 w 10000"/>
                <a:gd name="connsiteY0" fmla="*/ 10000 h 10000"/>
                <a:gd name="connsiteX1" fmla="*/ 953 w 10000"/>
                <a:gd name="connsiteY1" fmla="*/ 9915 h 10000"/>
                <a:gd name="connsiteX2" fmla="*/ 2307 w 10000"/>
                <a:gd name="connsiteY2" fmla="*/ 9691 h 10000"/>
                <a:gd name="connsiteX3" fmla="*/ 3673 w 10000"/>
                <a:gd name="connsiteY3" fmla="*/ 6549 h 10000"/>
                <a:gd name="connsiteX4" fmla="*/ 5058 w 10000"/>
                <a:gd name="connsiteY4" fmla="*/ 3160 h 10000"/>
                <a:gd name="connsiteX5" fmla="*/ 7807 w 10000"/>
                <a:gd name="connsiteY5" fmla="*/ 432 h 10000"/>
                <a:gd name="connsiteX6" fmla="*/ 10000 w 10000"/>
                <a:gd name="connsiteY6" fmla="*/ 0 h 10000"/>
                <a:gd name="connsiteX0" fmla="*/ 0 w 10000"/>
                <a:gd name="connsiteY0" fmla="*/ 10000 h 10050"/>
                <a:gd name="connsiteX1" fmla="*/ 953 w 10000"/>
                <a:gd name="connsiteY1" fmla="*/ 9915 h 10050"/>
                <a:gd name="connsiteX2" fmla="*/ 2347 w 10000"/>
                <a:gd name="connsiteY2" fmla="*/ 8231 h 10050"/>
                <a:gd name="connsiteX3" fmla="*/ 3673 w 10000"/>
                <a:gd name="connsiteY3" fmla="*/ 6549 h 10050"/>
                <a:gd name="connsiteX4" fmla="*/ 5058 w 10000"/>
                <a:gd name="connsiteY4" fmla="*/ 3160 h 10050"/>
                <a:gd name="connsiteX5" fmla="*/ 7807 w 10000"/>
                <a:gd name="connsiteY5" fmla="*/ 432 h 10050"/>
                <a:gd name="connsiteX6" fmla="*/ 10000 w 10000"/>
                <a:gd name="connsiteY6" fmla="*/ 0 h 10050"/>
                <a:gd name="connsiteX0" fmla="*/ 0 w 10000"/>
                <a:gd name="connsiteY0" fmla="*/ 10000 h 10000"/>
                <a:gd name="connsiteX1" fmla="*/ 913 w 10000"/>
                <a:gd name="connsiteY1" fmla="*/ 9359 h 10000"/>
                <a:gd name="connsiteX2" fmla="*/ 2347 w 10000"/>
                <a:gd name="connsiteY2" fmla="*/ 8231 h 10000"/>
                <a:gd name="connsiteX3" fmla="*/ 3673 w 10000"/>
                <a:gd name="connsiteY3" fmla="*/ 6549 h 10000"/>
                <a:gd name="connsiteX4" fmla="*/ 5058 w 10000"/>
                <a:gd name="connsiteY4" fmla="*/ 3160 h 10000"/>
                <a:gd name="connsiteX5" fmla="*/ 7807 w 10000"/>
                <a:gd name="connsiteY5" fmla="*/ 432 h 10000"/>
                <a:gd name="connsiteX6" fmla="*/ 10000 w 10000"/>
                <a:gd name="connsiteY6" fmla="*/ 0 h 10000"/>
                <a:gd name="connsiteX0" fmla="*/ 0 w 10000"/>
                <a:gd name="connsiteY0" fmla="*/ 10000 h 10000"/>
                <a:gd name="connsiteX1" fmla="*/ 913 w 10000"/>
                <a:gd name="connsiteY1" fmla="*/ 9359 h 10000"/>
                <a:gd name="connsiteX2" fmla="*/ 2347 w 10000"/>
                <a:gd name="connsiteY2" fmla="*/ 8231 h 10000"/>
                <a:gd name="connsiteX3" fmla="*/ 3673 w 10000"/>
                <a:gd name="connsiteY3" fmla="*/ 5923 h 10000"/>
                <a:gd name="connsiteX4" fmla="*/ 5058 w 10000"/>
                <a:gd name="connsiteY4" fmla="*/ 3160 h 10000"/>
                <a:gd name="connsiteX5" fmla="*/ 7807 w 10000"/>
                <a:gd name="connsiteY5" fmla="*/ 432 h 10000"/>
                <a:gd name="connsiteX6" fmla="*/ 10000 w 10000"/>
                <a:gd name="connsiteY6" fmla="*/ 0 h 10000"/>
                <a:gd name="connsiteX0" fmla="*/ 0 w 10000"/>
                <a:gd name="connsiteY0" fmla="*/ 10000 h 10000"/>
                <a:gd name="connsiteX1" fmla="*/ 913 w 10000"/>
                <a:gd name="connsiteY1" fmla="*/ 9359 h 10000"/>
                <a:gd name="connsiteX2" fmla="*/ 2347 w 10000"/>
                <a:gd name="connsiteY2" fmla="*/ 8231 h 10000"/>
                <a:gd name="connsiteX3" fmla="*/ 3673 w 10000"/>
                <a:gd name="connsiteY3" fmla="*/ 5923 h 10000"/>
                <a:gd name="connsiteX4" fmla="*/ 5058 w 10000"/>
                <a:gd name="connsiteY4" fmla="*/ 3160 h 10000"/>
                <a:gd name="connsiteX5" fmla="*/ 6350 w 10000"/>
                <a:gd name="connsiteY5" fmla="*/ 1503 h 10000"/>
                <a:gd name="connsiteX6" fmla="*/ 7807 w 10000"/>
                <a:gd name="connsiteY6" fmla="*/ 432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673 w 10000"/>
                <a:gd name="connsiteY3" fmla="*/ 5923 h 10000"/>
                <a:gd name="connsiteX4" fmla="*/ 5058 w 10000"/>
                <a:gd name="connsiteY4" fmla="*/ 3160 h 10000"/>
                <a:gd name="connsiteX5" fmla="*/ 6310 w 10000"/>
                <a:gd name="connsiteY5" fmla="*/ 1016 h 10000"/>
                <a:gd name="connsiteX6" fmla="*/ 7807 w 10000"/>
                <a:gd name="connsiteY6" fmla="*/ 432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673 w 10000"/>
                <a:gd name="connsiteY3" fmla="*/ 5923 h 10000"/>
                <a:gd name="connsiteX4" fmla="*/ 5058 w 10000"/>
                <a:gd name="connsiteY4" fmla="*/ 3160 h 10000"/>
                <a:gd name="connsiteX5" fmla="*/ 6150 w 10000"/>
                <a:gd name="connsiteY5" fmla="*/ 1294 h 10000"/>
                <a:gd name="connsiteX6" fmla="*/ 7807 w 10000"/>
                <a:gd name="connsiteY6" fmla="*/ 432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673 w 10000"/>
                <a:gd name="connsiteY3" fmla="*/ 5923 h 10000"/>
                <a:gd name="connsiteX4" fmla="*/ 5058 w 10000"/>
                <a:gd name="connsiteY4" fmla="*/ 3160 h 10000"/>
                <a:gd name="connsiteX5" fmla="*/ 6150 w 10000"/>
                <a:gd name="connsiteY5" fmla="*/ 1294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673 w 10000"/>
                <a:gd name="connsiteY3" fmla="*/ 5923 h 10000"/>
                <a:gd name="connsiteX4" fmla="*/ 5058 w 10000"/>
                <a:gd name="connsiteY4" fmla="*/ 3160 h 10000"/>
                <a:gd name="connsiteX5" fmla="*/ 6150 w 10000"/>
                <a:gd name="connsiteY5" fmla="*/ 1294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673 w 10000"/>
                <a:gd name="connsiteY3" fmla="*/ 5923 h 10000"/>
                <a:gd name="connsiteX4" fmla="*/ 5058 w 10000"/>
                <a:gd name="connsiteY4" fmla="*/ 3160 h 10000"/>
                <a:gd name="connsiteX5" fmla="*/ 6150 w 10000"/>
                <a:gd name="connsiteY5" fmla="*/ 1294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433 w 10000"/>
                <a:gd name="connsiteY3" fmla="*/ 1960 h 10000"/>
                <a:gd name="connsiteX4" fmla="*/ 5058 w 10000"/>
                <a:gd name="connsiteY4" fmla="*/ 3160 h 10000"/>
                <a:gd name="connsiteX5" fmla="*/ 6150 w 10000"/>
                <a:gd name="connsiteY5" fmla="*/ 1294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433 w 10000"/>
                <a:gd name="connsiteY3" fmla="*/ 1960 h 10000"/>
                <a:gd name="connsiteX4" fmla="*/ 4898 w 10000"/>
                <a:gd name="connsiteY4" fmla="*/ 1005 h 10000"/>
                <a:gd name="connsiteX5" fmla="*/ 6150 w 10000"/>
                <a:gd name="connsiteY5" fmla="*/ 1294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433 w 10000"/>
                <a:gd name="connsiteY3" fmla="*/ 1960 h 10000"/>
                <a:gd name="connsiteX4" fmla="*/ 4898 w 10000"/>
                <a:gd name="connsiteY4" fmla="*/ 1005 h 10000"/>
                <a:gd name="connsiteX5" fmla="*/ 6150 w 10000"/>
                <a:gd name="connsiteY5" fmla="*/ 251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233 w 10000"/>
                <a:gd name="connsiteY3" fmla="*/ 3768 h 10000"/>
                <a:gd name="connsiteX4" fmla="*/ 4898 w 10000"/>
                <a:gd name="connsiteY4" fmla="*/ 1005 h 10000"/>
                <a:gd name="connsiteX5" fmla="*/ 6150 w 10000"/>
                <a:gd name="connsiteY5" fmla="*/ 251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233 w 10000"/>
                <a:gd name="connsiteY3" fmla="*/ 3768 h 10000"/>
                <a:gd name="connsiteX4" fmla="*/ 4898 w 10000"/>
                <a:gd name="connsiteY4" fmla="*/ 1005 h 10000"/>
                <a:gd name="connsiteX5" fmla="*/ 6150 w 10000"/>
                <a:gd name="connsiteY5" fmla="*/ 460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233 w 10000"/>
                <a:gd name="connsiteY3" fmla="*/ 3768 h 10000"/>
                <a:gd name="connsiteX4" fmla="*/ 4898 w 10000"/>
                <a:gd name="connsiteY4" fmla="*/ 1839 h 10000"/>
                <a:gd name="connsiteX5" fmla="*/ 6150 w 10000"/>
                <a:gd name="connsiteY5" fmla="*/ 460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233 w 10000"/>
                <a:gd name="connsiteY3" fmla="*/ 3768 h 10000"/>
                <a:gd name="connsiteX4" fmla="*/ 4898 w 10000"/>
                <a:gd name="connsiteY4" fmla="*/ 1839 h 10000"/>
                <a:gd name="connsiteX5" fmla="*/ 6150 w 10000"/>
                <a:gd name="connsiteY5" fmla="*/ 460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233 w 10000"/>
                <a:gd name="connsiteY3" fmla="*/ 3768 h 10000"/>
                <a:gd name="connsiteX4" fmla="*/ 4898 w 10000"/>
                <a:gd name="connsiteY4" fmla="*/ 1839 h 10000"/>
                <a:gd name="connsiteX5" fmla="*/ 6150 w 10000"/>
                <a:gd name="connsiteY5" fmla="*/ 460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347 w 10000"/>
                <a:gd name="connsiteY2" fmla="*/ 8231 h 10000"/>
                <a:gd name="connsiteX3" fmla="*/ 3233 w 10000"/>
                <a:gd name="connsiteY3" fmla="*/ 3768 h 10000"/>
                <a:gd name="connsiteX4" fmla="*/ 4898 w 10000"/>
                <a:gd name="connsiteY4" fmla="*/ 1839 h 10000"/>
                <a:gd name="connsiteX5" fmla="*/ 6150 w 10000"/>
                <a:gd name="connsiteY5" fmla="*/ 947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067 w 10000"/>
                <a:gd name="connsiteY2" fmla="*/ 7188 h 10000"/>
                <a:gd name="connsiteX3" fmla="*/ 3233 w 10000"/>
                <a:gd name="connsiteY3" fmla="*/ 3768 h 10000"/>
                <a:gd name="connsiteX4" fmla="*/ 4898 w 10000"/>
                <a:gd name="connsiteY4" fmla="*/ 1839 h 10000"/>
                <a:gd name="connsiteX5" fmla="*/ 6150 w 10000"/>
                <a:gd name="connsiteY5" fmla="*/ 947 h 10000"/>
                <a:gd name="connsiteX6" fmla="*/ 7767 w 10000"/>
                <a:gd name="connsiteY6" fmla="*/ 293 h 10000"/>
                <a:gd name="connsiteX7" fmla="*/ 10000 w 10000"/>
                <a:gd name="connsiteY7" fmla="*/ 0 h 10000"/>
                <a:gd name="connsiteX0" fmla="*/ 0 w 10000"/>
                <a:gd name="connsiteY0" fmla="*/ 10000 h 10000"/>
                <a:gd name="connsiteX1" fmla="*/ 913 w 10000"/>
                <a:gd name="connsiteY1" fmla="*/ 9359 h 10000"/>
                <a:gd name="connsiteX2" fmla="*/ 2067 w 10000"/>
                <a:gd name="connsiteY2" fmla="*/ 7188 h 10000"/>
                <a:gd name="connsiteX3" fmla="*/ 3233 w 10000"/>
                <a:gd name="connsiteY3" fmla="*/ 3768 h 10000"/>
                <a:gd name="connsiteX4" fmla="*/ 4898 w 10000"/>
                <a:gd name="connsiteY4" fmla="*/ 1839 h 10000"/>
                <a:gd name="connsiteX5" fmla="*/ 6150 w 10000"/>
                <a:gd name="connsiteY5" fmla="*/ 947 h 10000"/>
                <a:gd name="connsiteX6" fmla="*/ 7767 w 10000"/>
                <a:gd name="connsiteY6" fmla="*/ 293 h 10000"/>
                <a:gd name="connsiteX7" fmla="*/ 8750 w 10000"/>
                <a:gd name="connsiteY7" fmla="*/ 43 h 10000"/>
                <a:gd name="connsiteX8" fmla="*/ 10000 w 10000"/>
                <a:gd name="connsiteY8" fmla="*/ 0 h 10000"/>
                <a:gd name="connsiteX0" fmla="*/ 0 w 10000"/>
                <a:gd name="connsiteY0" fmla="*/ 10000 h 10000"/>
                <a:gd name="connsiteX1" fmla="*/ 913 w 10000"/>
                <a:gd name="connsiteY1" fmla="*/ 9359 h 10000"/>
                <a:gd name="connsiteX2" fmla="*/ 2067 w 10000"/>
                <a:gd name="connsiteY2" fmla="*/ 7188 h 10000"/>
                <a:gd name="connsiteX3" fmla="*/ 3233 w 10000"/>
                <a:gd name="connsiteY3" fmla="*/ 3768 h 10000"/>
                <a:gd name="connsiteX4" fmla="*/ 4898 w 10000"/>
                <a:gd name="connsiteY4" fmla="*/ 1839 h 10000"/>
                <a:gd name="connsiteX5" fmla="*/ 6150 w 10000"/>
                <a:gd name="connsiteY5" fmla="*/ 947 h 10000"/>
                <a:gd name="connsiteX6" fmla="*/ 7767 w 10000"/>
                <a:gd name="connsiteY6" fmla="*/ 293 h 10000"/>
                <a:gd name="connsiteX7" fmla="*/ 8750 w 10000"/>
                <a:gd name="connsiteY7" fmla="*/ 43 h 10000"/>
                <a:gd name="connsiteX8" fmla="*/ 10000 w 10000"/>
                <a:gd name="connsiteY8" fmla="*/ 0 h 10000"/>
                <a:gd name="connsiteX0" fmla="*/ 0 w 10000"/>
                <a:gd name="connsiteY0" fmla="*/ 10000 h 10000"/>
                <a:gd name="connsiteX1" fmla="*/ 913 w 10000"/>
                <a:gd name="connsiteY1" fmla="*/ 9359 h 10000"/>
                <a:gd name="connsiteX2" fmla="*/ 2067 w 10000"/>
                <a:gd name="connsiteY2" fmla="*/ 7188 h 10000"/>
                <a:gd name="connsiteX3" fmla="*/ 3233 w 10000"/>
                <a:gd name="connsiteY3" fmla="*/ 3768 h 10000"/>
                <a:gd name="connsiteX4" fmla="*/ 4898 w 10000"/>
                <a:gd name="connsiteY4" fmla="*/ 1839 h 10000"/>
                <a:gd name="connsiteX5" fmla="*/ 6150 w 10000"/>
                <a:gd name="connsiteY5" fmla="*/ 947 h 10000"/>
                <a:gd name="connsiteX6" fmla="*/ 6939 w 10000"/>
                <a:gd name="connsiteY6" fmla="*/ 504 h 10000"/>
                <a:gd name="connsiteX7" fmla="*/ 7767 w 10000"/>
                <a:gd name="connsiteY7" fmla="*/ 293 h 10000"/>
                <a:gd name="connsiteX8" fmla="*/ 8750 w 10000"/>
                <a:gd name="connsiteY8" fmla="*/ 43 h 10000"/>
                <a:gd name="connsiteX9" fmla="*/ 10000 w 10000"/>
                <a:gd name="connsiteY9" fmla="*/ 0 h 10000"/>
                <a:gd name="connsiteX0" fmla="*/ 0 w 10000"/>
                <a:gd name="connsiteY0" fmla="*/ 10000 h 10000"/>
                <a:gd name="connsiteX1" fmla="*/ 913 w 10000"/>
                <a:gd name="connsiteY1" fmla="*/ 9359 h 10000"/>
                <a:gd name="connsiteX2" fmla="*/ 2067 w 10000"/>
                <a:gd name="connsiteY2" fmla="*/ 7188 h 10000"/>
                <a:gd name="connsiteX3" fmla="*/ 3233 w 10000"/>
                <a:gd name="connsiteY3" fmla="*/ 3768 h 10000"/>
                <a:gd name="connsiteX4" fmla="*/ 4898 w 10000"/>
                <a:gd name="connsiteY4" fmla="*/ 1839 h 10000"/>
                <a:gd name="connsiteX5" fmla="*/ 6150 w 10000"/>
                <a:gd name="connsiteY5" fmla="*/ 947 h 10000"/>
                <a:gd name="connsiteX6" fmla="*/ 6939 w 10000"/>
                <a:gd name="connsiteY6" fmla="*/ 504 h 10000"/>
                <a:gd name="connsiteX7" fmla="*/ 7767 w 10000"/>
                <a:gd name="connsiteY7" fmla="*/ 293 h 10000"/>
                <a:gd name="connsiteX8" fmla="*/ 8750 w 10000"/>
                <a:gd name="connsiteY8" fmla="*/ 43 h 10000"/>
                <a:gd name="connsiteX9" fmla="*/ 10000 w 10000"/>
                <a:gd name="connsiteY9" fmla="*/ 0 h 10000"/>
                <a:gd name="connsiteX0" fmla="*/ 0 w 10000"/>
                <a:gd name="connsiteY0" fmla="*/ 10000 h 10000"/>
                <a:gd name="connsiteX1" fmla="*/ 913 w 10000"/>
                <a:gd name="connsiteY1" fmla="*/ 9359 h 10000"/>
                <a:gd name="connsiteX2" fmla="*/ 2067 w 10000"/>
                <a:gd name="connsiteY2" fmla="*/ 7188 h 10000"/>
                <a:gd name="connsiteX3" fmla="*/ 3233 w 10000"/>
                <a:gd name="connsiteY3" fmla="*/ 3768 h 10000"/>
                <a:gd name="connsiteX4" fmla="*/ 4898 w 10000"/>
                <a:gd name="connsiteY4" fmla="*/ 1839 h 10000"/>
                <a:gd name="connsiteX5" fmla="*/ 6150 w 10000"/>
                <a:gd name="connsiteY5" fmla="*/ 947 h 10000"/>
                <a:gd name="connsiteX6" fmla="*/ 6939 w 10000"/>
                <a:gd name="connsiteY6" fmla="*/ 504 h 10000"/>
                <a:gd name="connsiteX7" fmla="*/ 7730 w 10000"/>
                <a:gd name="connsiteY7" fmla="*/ 214 h 10000"/>
                <a:gd name="connsiteX8" fmla="*/ 8750 w 10000"/>
                <a:gd name="connsiteY8" fmla="*/ 43 h 10000"/>
                <a:gd name="connsiteX9" fmla="*/ 10000 w 10000"/>
                <a:gd name="connsiteY9"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0" y="10000"/>
                  </a:moveTo>
                  <a:cubicBezTo>
                    <a:pt x="150" y="9920"/>
                    <a:pt x="569" y="9828"/>
                    <a:pt x="913" y="9359"/>
                  </a:cubicBezTo>
                  <a:cubicBezTo>
                    <a:pt x="1257" y="8890"/>
                    <a:pt x="1680" y="8120"/>
                    <a:pt x="2067" y="7188"/>
                  </a:cubicBezTo>
                  <a:cubicBezTo>
                    <a:pt x="2454" y="6256"/>
                    <a:pt x="2761" y="4659"/>
                    <a:pt x="3233" y="3768"/>
                  </a:cubicBezTo>
                  <a:cubicBezTo>
                    <a:pt x="3705" y="2877"/>
                    <a:pt x="4412" y="2309"/>
                    <a:pt x="4898" y="1839"/>
                  </a:cubicBezTo>
                  <a:cubicBezTo>
                    <a:pt x="5384" y="1369"/>
                    <a:pt x="5810" y="1170"/>
                    <a:pt x="6150" y="947"/>
                  </a:cubicBezTo>
                  <a:cubicBezTo>
                    <a:pt x="6490" y="724"/>
                    <a:pt x="6670" y="613"/>
                    <a:pt x="6939" y="504"/>
                  </a:cubicBezTo>
                  <a:cubicBezTo>
                    <a:pt x="7209" y="395"/>
                    <a:pt x="7428" y="291"/>
                    <a:pt x="7730" y="214"/>
                  </a:cubicBezTo>
                  <a:cubicBezTo>
                    <a:pt x="8032" y="137"/>
                    <a:pt x="8378" y="92"/>
                    <a:pt x="8750" y="43"/>
                  </a:cubicBezTo>
                  <a:cubicBezTo>
                    <a:pt x="9122" y="-6"/>
                    <a:pt x="9792" y="7"/>
                    <a:pt x="10000" y="0"/>
                  </a:cubicBezTo>
                </a:path>
              </a:pathLst>
            </a:custGeom>
            <a:noFill/>
            <a:ln w="38100" cmpd="sng">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dirty="0"/>
            </a:p>
          </p:txBody>
        </p:sp>
        <p:cxnSp>
          <p:nvCxnSpPr>
            <p:cNvPr id="41" name="Straight Arrow Connector 40">
              <a:extLst>
                <a:ext uri="{FF2B5EF4-FFF2-40B4-BE49-F238E27FC236}">
                  <a16:creationId xmlns:a16="http://schemas.microsoft.com/office/drawing/2014/main" id="{08508238-8875-453C-8C51-993090F95DD2}"/>
                </a:ext>
              </a:extLst>
            </p:cNvPr>
            <p:cNvCxnSpPr>
              <a:cxnSpLocks/>
            </p:cNvCxnSpPr>
            <p:nvPr/>
          </p:nvCxnSpPr>
          <p:spPr>
            <a:xfrm>
              <a:off x="6968664" y="4509121"/>
              <a:ext cx="2583716" cy="0"/>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87039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Van </a:t>
            </a:r>
            <a:r>
              <a:rPr lang="en-GB" dirty="0" err="1"/>
              <a:t>Raden</a:t>
            </a:r>
            <a:r>
              <a:rPr lang="en-GB" dirty="0"/>
              <a:t> Model 2</a:t>
            </a:r>
          </a:p>
        </p:txBody>
      </p:sp>
      <p:sp>
        <p:nvSpPr>
          <p:cNvPr id="3" name="Content Placeholder 2"/>
          <p:cNvSpPr>
            <a:spLocks noGrp="1"/>
          </p:cNvSpPr>
          <p:nvPr>
            <p:ph idx="1"/>
          </p:nvPr>
        </p:nvSpPr>
        <p:spPr/>
        <p:txBody>
          <a:bodyPr/>
          <a:lstStyle/>
          <a:p>
            <a:r>
              <a:rPr lang="en-GB" dirty="0"/>
              <a:t>Variance per locus was constant </a:t>
            </a:r>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6C697B8B-A4F5-476F-A680-8191BD338EC5}"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grpSp>
        <p:nvGrpSpPr>
          <p:cNvPr id="40" name="Group 39">
            <a:extLst>
              <a:ext uri="{FF2B5EF4-FFF2-40B4-BE49-F238E27FC236}">
                <a16:creationId xmlns:a16="http://schemas.microsoft.com/office/drawing/2014/main" id="{67C057BA-1A35-4A34-9AE5-D09F7C074E9F}"/>
              </a:ext>
            </a:extLst>
          </p:cNvPr>
          <p:cNvGrpSpPr/>
          <p:nvPr/>
        </p:nvGrpSpPr>
        <p:grpSpPr>
          <a:xfrm>
            <a:off x="1680880" y="3068960"/>
            <a:ext cx="9023632" cy="2880320"/>
            <a:chOff x="1680880" y="3068960"/>
            <a:chExt cx="9023632" cy="2880320"/>
          </a:xfrm>
        </p:grpSpPr>
        <p:grpSp>
          <p:nvGrpSpPr>
            <p:cNvPr id="41" name="Group 40">
              <a:extLst>
                <a:ext uri="{FF2B5EF4-FFF2-40B4-BE49-F238E27FC236}">
                  <a16:creationId xmlns:a16="http://schemas.microsoft.com/office/drawing/2014/main" id="{AC7EA47C-55C1-46ED-8255-D3BC2D810CFF}"/>
                </a:ext>
              </a:extLst>
            </p:cNvPr>
            <p:cNvGrpSpPr/>
            <p:nvPr/>
          </p:nvGrpSpPr>
          <p:grpSpPr>
            <a:xfrm>
              <a:off x="1680880" y="3069088"/>
              <a:ext cx="3834963" cy="2880192"/>
              <a:chOff x="1680880" y="3102055"/>
              <a:chExt cx="3834963" cy="2880192"/>
            </a:xfrm>
          </p:grpSpPr>
          <p:sp>
            <p:nvSpPr>
              <p:cNvPr id="50" name="Text Box 16">
                <a:extLst>
                  <a:ext uri="{FF2B5EF4-FFF2-40B4-BE49-F238E27FC236}">
                    <a16:creationId xmlns:a16="http://schemas.microsoft.com/office/drawing/2014/main" id="{21EC0BE9-77AA-442A-BDFB-B5D675566750}"/>
                  </a:ext>
                </a:extLst>
              </p:cNvPr>
              <p:cNvSpPr txBox="1">
                <a:spLocks noChangeArrowheads="1"/>
              </p:cNvSpPr>
              <p:nvPr/>
            </p:nvSpPr>
            <p:spPr bwMode="auto">
              <a:xfrm>
                <a:off x="4698960" y="5412465"/>
                <a:ext cx="8168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MAF</a:t>
                </a:r>
              </a:p>
            </p:txBody>
          </p:sp>
          <p:sp>
            <p:nvSpPr>
              <p:cNvPr id="51" name="Line 17">
                <a:extLst>
                  <a:ext uri="{FF2B5EF4-FFF2-40B4-BE49-F238E27FC236}">
                    <a16:creationId xmlns:a16="http://schemas.microsoft.com/office/drawing/2014/main" id="{FC4EB8FA-7FE4-47B7-9180-6A0CDFC02DF9}"/>
                  </a:ext>
                </a:extLst>
              </p:cNvPr>
              <p:cNvSpPr>
                <a:spLocks noChangeShapeType="1"/>
              </p:cNvSpPr>
              <p:nvPr/>
            </p:nvSpPr>
            <p:spPr bwMode="auto">
              <a:xfrm>
                <a:off x="1902798" y="3548357"/>
                <a:ext cx="0" cy="22389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2" name="Line 18">
                <a:extLst>
                  <a:ext uri="{FF2B5EF4-FFF2-40B4-BE49-F238E27FC236}">
                    <a16:creationId xmlns:a16="http://schemas.microsoft.com/office/drawing/2014/main" id="{EF7CBA52-B278-453E-BF94-EA1D780728FE}"/>
                  </a:ext>
                </a:extLst>
              </p:cNvPr>
              <p:cNvSpPr>
                <a:spLocks noChangeShapeType="1"/>
              </p:cNvSpPr>
              <p:nvPr/>
            </p:nvSpPr>
            <p:spPr bwMode="auto">
              <a:xfrm>
                <a:off x="1680880" y="5560411"/>
                <a:ext cx="30180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3" name="Text Box 19">
                <a:extLst>
                  <a:ext uri="{FF2B5EF4-FFF2-40B4-BE49-F238E27FC236}">
                    <a16:creationId xmlns:a16="http://schemas.microsoft.com/office/drawing/2014/main" id="{8C599BDC-A02C-4EB8-8B43-437098B6A27B}"/>
                  </a:ext>
                </a:extLst>
              </p:cNvPr>
              <p:cNvSpPr txBox="1">
                <a:spLocks noChangeArrowheads="1"/>
              </p:cNvSpPr>
              <p:nvPr/>
            </p:nvSpPr>
            <p:spPr bwMode="auto">
              <a:xfrm>
                <a:off x="1680880" y="3102055"/>
                <a:ext cx="2014520" cy="569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Frequency</a:t>
                </a:r>
              </a:p>
            </p:txBody>
          </p:sp>
          <p:sp>
            <p:nvSpPr>
              <p:cNvPr id="54" name="Freeform 20">
                <a:extLst>
                  <a:ext uri="{FF2B5EF4-FFF2-40B4-BE49-F238E27FC236}">
                    <a16:creationId xmlns:a16="http://schemas.microsoft.com/office/drawing/2014/main" id="{67CF5C17-2A41-4707-8BE8-83BFA65AFCAB}"/>
                  </a:ext>
                </a:extLst>
              </p:cNvPr>
              <p:cNvSpPr>
                <a:spLocks/>
              </p:cNvSpPr>
              <p:nvPr/>
            </p:nvSpPr>
            <p:spPr bwMode="auto">
              <a:xfrm>
                <a:off x="1902798" y="4097012"/>
                <a:ext cx="2574245" cy="1463399"/>
              </a:xfrm>
              <a:custGeom>
                <a:avLst/>
                <a:gdLst>
                  <a:gd name="T0" fmla="*/ 0 w 1044"/>
                  <a:gd name="T1" fmla="*/ 599 h 599"/>
                  <a:gd name="T2" fmla="*/ 235 w 1044"/>
                  <a:gd name="T3" fmla="*/ 319 h 599"/>
                  <a:gd name="T4" fmla="*/ 362 w 1044"/>
                  <a:gd name="T5" fmla="*/ 67 h 599"/>
                  <a:gd name="T6" fmla="*/ 499 w 1044"/>
                  <a:gd name="T7" fmla="*/ 10 h 599"/>
                  <a:gd name="T8" fmla="*/ 1044 w 1044"/>
                  <a:gd name="T9" fmla="*/ 10 h 599"/>
                  <a:gd name="T10" fmla="*/ 0 60000 65536"/>
                  <a:gd name="T11" fmla="*/ 0 60000 65536"/>
                  <a:gd name="T12" fmla="*/ 0 60000 65536"/>
                  <a:gd name="T13" fmla="*/ 0 60000 65536"/>
                  <a:gd name="T14" fmla="*/ 0 60000 65536"/>
                  <a:gd name="T15" fmla="*/ 0 w 1044"/>
                  <a:gd name="T16" fmla="*/ 0 h 599"/>
                  <a:gd name="T17" fmla="*/ 1044 w 1044"/>
                  <a:gd name="T18" fmla="*/ 599 h 599"/>
                  <a:gd name="connsiteX0" fmla="*/ 0 w 10000"/>
                  <a:gd name="connsiteY0" fmla="*/ 9908 h 9908"/>
                  <a:gd name="connsiteX1" fmla="*/ 2251 w 10000"/>
                  <a:gd name="connsiteY1" fmla="*/ 4554 h 9908"/>
                  <a:gd name="connsiteX2" fmla="*/ 3467 w 10000"/>
                  <a:gd name="connsiteY2" fmla="*/ 1027 h 9908"/>
                  <a:gd name="connsiteX3" fmla="*/ 4780 w 10000"/>
                  <a:gd name="connsiteY3" fmla="*/ 75 h 9908"/>
                  <a:gd name="connsiteX4" fmla="*/ 10000 w 10000"/>
                  <a:gd name="connsiteY4" fmla="*/ 75 h 9908"/>
                  <a:gd name="connsiteX0" fmla="*/ 0 w 10000"/>
                  <a:gd name="connsiteY0" fmla="*/ 10000 h 10000"/>
                  <a:gd name="connsiteX1" fmla="*/ 2140 w 10000"/>
                  <a:gd name="connsiteY1" fmla="*/ 3616 h 10000"/>
                  <a:gd name="connsiteX2" fmla="*/ 3467 w 10000"/>
                  <a:gd name="connsiteY2" fmla="*/ 1037 h 10000"/>
                  <a:gd name="connsiteX3" fmla="*/ 4780 w 10000"/>
                  <a:gd name="connsiteY3" fmla="*/ 76 h 10000"/>
                  <a:gd name="connsiteX4" fmla="*/ 10000 w 10000"/>
                  <a:gd name="connsiteY4" fmla="*/ 7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cubicBezTo>
                      <a:pt x="374" y="9208"/>
                      <a:pt x="1565" y="5115"/>
                      <a:pt x="2140" y="3616"/>
                    </a:cubicBezTo>
                    <a:cubicBezTo>
                      <a:pt x="2715" y="2116"/>
                      <a:pt x="3027" y="1627"/>
                      <a:pt x="3467" y="1037"/>
                    </a:cubicBezTo>
                    <a:cubicBezTo>
                      <a:pt x="3907" y="447"/>
                      <a:pt x="3688" y="244"/>
                      <a:pt x="4780" y="76"/>
                    </a:cubicBezTo>
                    <a:cubicBezTo>
                      <a:pt x="5872" y="-93"/>
                      <a:pt x="9128" y="76"/>
                      <a:pt x="10000" y="76"/>
                    </a:cubicBezTo>
                  </a:path>
                </a:pathLst>
              </a:custGeom>
              <a:noFill/>
              <a:ln w="38100" cmpd="sng">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5" name="TextBox 54">
                <a:extLst>
                  <a:ext uri="{FF2B5EF4-FFF2-40B4-BE49-F238E27FC236}">
                    <a16:creationId xmlns:a16="http://schemas.microsoft.com/office/drawing/2014/main" id="{049B33BF-F0C9-4DD3-8743-45807EE024AF}"/>
                  </a:ext>
                </a:extLst>
              </p:cNvPr>
              <p:cNvSpPr txBox="1"/>
              <p:nvPr/>
            </p:nvSpPr>
            <p:spPr>
              <a:xfrm>
                <a:off x="2855312" y="5612915"/>
                <a:ext cx="1224136" cy="369332"/>
              </a:xfrm>
              <a:prstGeom prst="rect">
                <a:avLst/>
              </a:prstGeom>
              <a:noFill/>
            </p:spPr>
            <p:txBody>
              <a:bodyPr wrap="square" rtlCol="0">
                <a:spAutoFit/>
              </a:bodyPr>
              <a:lstStyle/>
              <a:p>
                <a:r>
                  <a:rPr lang="en-GB" dirty="0"/>
                  <a:t>SNP Chip</a:t>
                </a:r>
              </a:p>
            </p:txBody>
          </p:sp>
        </p:grpSp>
        <p:grpSp>
          <p:nvGrpSpPr>
            <p:cNvPr id="42" name="Group 41">
              <a:extLst>
                <a:ext uri="{FF2B5EF4-FFF2-40B4-BE49-F238E27FC236}">
                  <a16:creationId xmlns:a16="http://schemas.microsoft.com/office/drawing/2014/main" id="{9C0144C7-C63C-4F49-ADDA-62401FC79F0C}"/>
                </a:ext>
              </a:extLst>
            </p:cNvPr>
            <p:cNvGrpSpPr/>
            <p:nvPr/>
          </p:nvGrpSpPr>
          <p:grpSpPr>
            <a:xfrm>
              <a:off x="6820994" y="3068960"/>
              <a:ext cx="3883518" cy="2840767"/>
              <a:chOff x="6820994" y="2852936"/>
              <a:chExt cx="3883518" cy="2840767"/>
            </a:xfrm>
          </p:grpSpPr>
          <p:sp>
            <p:nvSpPr>
              <p:cNvPr id="43" name="Text Box 47">
                <a:extLst>
                  <a:ext uri="{FF2B5EF4-FFF2-40B4-BE49-F238E27FC236}">
                    <a16:creationId xmlns:a16="http://schemas.microsoft.com/office/drawing/2014/main" id="{982A6641-C1B0-4F24-8B93-6ED512C1A99E}"/>
                  </a:ext>
                </a:extLst>
              </p:cNvPr>
              <p:cNvSpPr txBox="1">
                <a:spLocks noChangeArrowheads="1"/>
              </p:cNvSpPr>
              <p:nvPr/>
            </p:nvSpPr>
            <p:spPr bwMode="auto">
              <a:xfrm>
                <a:off x="6820994" y="2852936"/>
                <a:ext cx="1673950" cy="561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Frequency</a:t>
                </a:r>
              </a:p>
            </p:txBody>
          </p:sp>
          <p:sp>
            <p:nvSpPr>
              <p:cNvPr id="44" name="Line 48">
                <a:extLst>
                  <a:ext uri="{FF2B5EF4-FFF2-40B4-BE49-F238E27FC236}">
                    <a16:creationId xmlns:a16="http://schemas.microsoft.com/office/drawing/2014/main" id="{323DB30B-6B0F-41C5-8468-614914558471}"/>
                  </a:ext>
                </a:extLst>
              </p:cNvPr>
              <p:cNvSpPr>
                <a:spLocks noChangeShapeType="1"/>
              </p:cNvSpPr>
              <p:nvPr/>
            </p:nvSpPr>
            <p:spPr bwMode="auto">
              <a:xfrm>
                <a:off x="7005395" y="3293207"/>
                <a:ext cx="0" cy="22086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5" name="Line 49">
                <a:extLst>
                  <a:ext uri="{FF2B5EF4-FFF2-40B4-BE49-F238E27FC236}">
                    <a16:creationId xmlns:a16="http://schemas.microsoft.com/office/drawing/2014/main" id="{0A1F4AEE-99BC-4380-97D1-EE2138E0DF8F}"/>
                  </a:ext>
                </a:extLst>
              </p:cNvPr>
              <p:cNvSpPr>
                <a:spLocks noChangeShapeType="1"/>
              </p:cNvSpPr>
              <p:nvPr/>
            </p:nvSpPr>
            <p:spPr bwMode="auto">
              <a:xfrm>
                <a:off x="6820994" y="5307260"/>
                <a:ext cx="301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6" name="Text Box 50">
                <a:extLst>
                  <a:ext uri="{FF2B5EF4-FFF2-40B4-BE49-F238E27FC236}">
                    <a16:creationId xmlns:a16="http://schemas.microsoft.com/office/drawing/2014/main" id="{92F5A71D-52EA-4B68-A1B9-DD4ADDC9944F}"/>
                  </a:ext>
                </a:extLst>
              </p:cNvPr>
              <p:cNvSpPr txBox="1">
                <a:spLocks noChangeArrowheads="1"/>
              </p:cNvSpPr>
              <p:nvPr/>
            </p:nvSpPr>
            <p:spPr bwMode="auto">
              <a:xfrm>
                <a:off x="9844892" y="5156872"/>
                <a:ext cx="8596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MAF</a:t>
                </a:r>
              </a:p>
            </p:txBody>
          </p:sp>
          <p:sp>
            <p:nvSpPr>
              <p:cNvPr id="47" name="Freeform 51">
                <a:extLst>
                  <a:ext uri="{FF2B5EF4-FFF2-40B4-BE49-F238E27FC236}">
                    <a16:creationId xmlns:a16="http://schemas.microsoft.com/office/drawing/2014/main" id="{BCDCABE5-4BBE-4EC9-9A6E-D120A018AC8D}"/>
                  </a:ext>
                </a:extLst>
              </p:cNvPr>
              <p:cNvSpPr>
                <a:spLocks/>
              </p:cNvSpPr>
              <p:nvPr/>
            </p:nvSpPr>
            <p:spPr bwMode="auto">
              <a:xfrm>
                <a:off x="7052489" y="3766023"/>
                <a:ext cx="2633635" cy="1534865"/>
              </a:xfrm>
              <a:custGeom>
                <a:avLst/>
                <a:gdLst>
                  <a:gd name="T0" fmla="*/ 0 w 1034"/>
                  <a:gd name="T1" fmla="*/ 0 h 631"/>
                  <a:gd name="T2" fmla="*/ 111 w 1034"/>
                  <a:gd name="T3" fmla="*/ 410 h 631"/>
                  <a:gd name="T4" fmla="*/ 347 w 1034"/>
                  <a:gd name="T5" fmla="*/ 584 h 631"/>
                  <a:gd name="T6" fmla="*/ 608 w 1034"/>
                  <a:gd name="T7" fmla="*/ 615 h 631"/>
                  <a:gd name="T8" fmla="*/ 1034 w 1034"/>
                  <a:gd name="T9" fmla="*/ 631 h 631"/>
                  <a:gd name="T10" fmla="*/ 0 60000 65536"/>
                  <a:gd name="T11" fmla="*/ 0 60000 65536"/>
                  <a:gd name="T12" fmla="*/ 0 60000 65536"/>
                  <a:gd name="T13" fmla="*/ 0 60000 65536"/>
                  <a:gd name="T14" fmla="*/ 0 60000 65536"/>
                  <a:gd name="T15" fmla="*/ 0 w 1034"/>
                  <a:gd name="T16" fmla="*/ 0 h 631"/>
                  <a:gd name="T17" fmla="*/ 1034 w 1034"/>
                  <a:gd name="T18" fmla="*/ 631 h 631"/>
                  <a:gd name="connsiteX0" fmla="*/ 0 w 10000"/>
                  <a:gd name="connsiteY0" fmla="*/ 0 h 10000"/>
                  <a:gd name="connsiteX1" fmla="*/ 905 w 10000"/>
                  <a:gd name="connsiteY1" fmla="*/ 6959 h 10000"/>
                  <a:gd name="connsiteX2" fmla="*/ 3356 w 10000"/>
                  <a:gd name="connsiteY2" fmla="*/ 9255 h 10000"/>
                  <a:gd name="connsiteX3" fmla="*/ 5880 w 10000"/>
                  <a:gd name="connsiteY3" fmla="*/ 9746 h 10000"/>
                  <a:gd name="connsiteX4" fmla="*/ 10000 w 10000"/>
                  <a:gd name="connsiteY4" fmla="*/ 10000 h 10000"/>
                  <a:gd name="connsiteX0" fmla="*/ 0 w 10000"/>
                  <a:gd name="connsiteY0" fmla="*/ 0 h 10000"/>
                  <a:gd name="connsiteX1" fmla="*/ 905 w 10000"/>
                  <a:gd name="connsiteY1" fmla="*/ 7881 h 10000"/>
                  <a:gd name="connsiteX2" fmla="*/ 3356 w 10000"/>
                  <a:gd name="connsiteY2" fmla="*/ 9255 h 10000"/>
                  <a:gd name="connsiteX3" fmla="*/ 5880 w 10000"/>
                  <a:gd name="connsiteY3" fmla="*/ 9746 h 10000"/>
                  <a:gd name="connsiteX4" fmla="*/ 10000 w 10000"/>
                  <a:gd name="connsiteY4" fmla="*/ 10000 h 10000"/>
                  <a:gd name="connsiteX0" fmla="*/ 0 w 10000"/>
                  <a:gd name="connsiteY0" fmla="*/ 0 h 10000"/>
                  <a:gd name="connsiteX1" fmla="*/ 905 w 10000"/>
                  <a:gd name="connsiteY1" fmla="*/ 7881 h 10000"/>
                  <a:gd name="connsiteX2" fmla="*/ 3356 w 10000"/>
                  <a:gd name="connsiteY2" fmla="*/ 9439 h 10000"/>
                  <a:gd name="connsiteX3" fmla="*/ 5880 w 10000"/>
                  <a:gd name="connsiteY3" fmla="*/ 9746 h 10000"/>
                  <a:gd name="connsiteX4" fmla="*/ 10000 w 10000"/>
                  <a:gd name="connsiteY4" fmla="*/ 10000 h 10000"/>
                  <a:gd name="connsiteX0" fmla="*/ 0 w 10000"/>
                  <a:gd name="connsiteY0" fmla="*/ 0 h 10000"/>
                  <a:gd name="connsiteX1" fmla="*/ 905 w 10000"/>
                  <a:gd name="connsiteY1" fmla="*/ 7881 h 10000"/>
                  <a:gd name="connsiteX2" fmla="*/ 2793 w 10000"/>
                  <a:gd name="connsiteY2" fmla="*/ 9321 h 10000"/>
                  <a:gd name="connsiteX3" fmla="*/ 3356 w 10000"/>
                  <a:gd name="connsiteY3" fmla="*/ 9439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3356 w 10000"/>
                  <a:gd name="connsiteY3" fmla="*/ 9439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412 w 10000"/>
                  <a:gd name="connsiteY1" fmla="*/ 4385 h 10000"/>
                  <a:gd name="connsiteX2" fmla="*/ 905 w 10000"/>
                  <a:gd name="connsiteY2" fmla="*/ 7881 h 10000"/>
                  <a:gd name="connsiteX3" fmla="*/ 2419 w 10000"/>
                  <a:gd name="connsiteY3" fmla="*/ 9340 h 10000"/>
                  <a:gd name="connsiteX4" fmla="*/ 4004 w 10000"/>
                  <a:gd name="connsiteY4" fmla="*/ 9571 h 10000"/>
                  <a:gd name="connsiteX5" fmla="*/ 5880 w 10000"/>
                  <a:gd name="connsiteY5" fmla="*/ 9746 h 10000"/>
                  <a:gd name="connsiteX6" fmla="*/ 10000 w 10000"/>
                  <a:gd name="connsiteY6" fmla="*/ 10000 h 10000"/>
                  <a:gd name="connsiteX0" fmla="*/ 0 w 10000"/>
                  <a:gd name="connsiteY0" fmla="*/ 0 h 10000"/>
                  <a:gd name="connsiteX1" fmla="*/ 217 w 10000"/>
                  <a:gd name="connsiteY1" fmla="*/ 4251 h 10000"/>
                  <a:gd name="connsiteX2" fmla="*/ 905 w 10000"/>
                  <a:gd name="connsiteY2" fmla="*/ 7881 h 10000"/>
                  <a:gd name="connsiteX3" fmla="*/ 2419 w 10000"/>
                  <a:gd name="connsiteY3" fmla="*/ 9340 h 10000"/>
                  <a:gd name="connsiteX4" fmla="*/ 4004 w 10000"/>
                  <a:gd name="connsiteY4" fmla="*/ 9571 h 10000"/>
                  <a:gd name="connsiteX5" fmla="*/ 5880 w 10000"/>
                  <a:gd name="connsiteY5" fmla="*/ 9746 h 10000"/>
                  <a:gd name="connsiteX6" fmla="*/ 10000 w 10000"/>
                  <a:gd name="connsiteY6"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0"/>
                    </a:moveTo>
                    <a:cubicBezTo>
                      <a:pt x="69" y="731"/>
                      <a:pt x="66" y="2938"/>
                      <a:pt x="217" y="4251"/>
                    </a:cubicBezTo>
                    <a:cubicBezTo>
                      <a:pt x="368" y="5564"/>
                      <a:pt x="538" y="7033"/>
                      <a:pt x="905" y="7881"/>
                    </a:cubicBezTo>
                    <a:cubicBezTo>
                      <a:pt x="1272" y="8729"/>
                      <a:pt x="2000" y="9193"/>
                      <a:pt x="2419" y="9340"/>
                    </a:cubicBezTo>
                    <a:cubicBezTo>
                      <a:pt x="2827" y="9449"/>
                      <a:pt x="3427" y="9503"/>
                      <a:pt x="4004" y="9571"/>
                    </a:cubicBezTo>
                    <a:cubicBezTo>
                      <a:pt x="4581" y="9639"/>
                      <a:pt x="5255" y="9688"/>
                      <a:pt x="5880" y="9746"/>
                    </a:cubicBezTo>
                    <a:cubicBezTo>
                      <a:pt x="6983" y="9873"/>
                      <a:pt x="9139" y="9952"/>
                      <a:pt x="10000" y="10000"/>
                    </a:cubicBezTo>
                  </a:path>
                </a:pathLst>
              </a:custGeom>
              <a:noFill/>
              <a:ln w="38100"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8" name="TextBox 47">
                <a:extLst>
                  <a:ext uri="{FF2B5EF4-FFF2-40B4-BE49-F238E27FC236}">
                    <a16:creationId xmlns:a16="http://schemas.microsoft.com/office/drawing/2014/main" id="{19D613F6-AB77-47A1-B32D-4AB65930975E}"/>
                  </a:ext>
                </a:extLst>
              </p:cNvPr>
              <p:cNvSpPr txBox="1"/>
              <p:nvPr/>
            </p:nvSpPr>
            <p:spPr>
              <a:xfrm>
                <a:off x="7474282" y="5324371"/>
                <a:ext cx="1862078" cy="369332"/>
              </a:xfrm>
              <a:prstGeom prst="rect">
                <a:avLst/>
              </a:prstGeom>
              <a:noFill/>
            </p:spPr>
            <p:txBody>
              <a:bodyPr wrap="square" rtlCol="0">
                <a:spAutoFit/>
              </a:bodyPr>
              <a:lstStyle/>
              <a:p>
                <a:r>
                  <a:rPr lang="en-GB" dirty="0"/>
                  <a:t>Sequence Data</a:t>
                </a:r>
              </a:p>
            </p:txBody>
          </p:sp>
          <p:sp>
            <p:nvSpPr>
              <p:cNvPr id="49" name="TextBox 48">
                <a:extLst>
                  <a:ext uri="{FF2B5EF4-FFF2-40B4-BE49-F238E27FC236}">
                    <a16:creationId xmlns:a16="http://schemas.microsoft.com/office/drawing/2014/main" id="{746703E7-48DB-4582-9529-4F88C4CFF453}"/>
                  </a:ext>
                </a:extLst>
              </p:cNvPr>
              <p:cNvSpPr txBox="1"/>
              <p:nvPr/>
            </p:nvSpPr>
            <p:spPr>
              <a:xfrm>
                <a:off x="8544273" y="3638980"/>
                <a:ext cx="1944341" cy="646331"/>
              </a:xfrm>
              <a:prstGeom prst="rect">
                <a:avLst/>
              </a:prstGeom>
              <a:noFill/>
            </p:spPr>
            <p:txBody>
              <a:bodyPr wrap="square" rtlCol="0">
                <a:spAutoFit/>
              </a:bodyPr>
              <a:lstStyle/>
              <a:p>
                <a:r>
                  <a:rPr lang="en-GB" dirty="0"/>
                  <a:t>Approximately</a:t>
                </a:r>
              </a:p>
              <a:p>
                <a:r>
                  <a:rPr lang="en-GB" dirty="0"/>
                  <a:t>  ~ 1/[p(1-p)]</a:t>
                </a:r>
              </a:p>
            </p:txBody>
          </p:sp>
        </p:grpSp>
      </p:grpSp>
    </p:spTree>
    <p:extLst>
      <p:ext uri="{BB962C8B-B14F-4D97-AF65-F5344CB8AC3E}">
        <p14:creationId xmlns:p14="http://schemas.microsoft.com/office/powerpoint/2010/main" val="370457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Van </a:t>
            </a:r>
            <a:r>
              <a:rPr lang="en-GB" dirty="0" err="1"/>
              <a:t>Raden</a:t>
            </a:r>
            <a:r>
              <a:rPr lang="en-GB" dirty="0"/>
              <a:t> Model 2</a:t>
            </a:r>
          </a:p>
        </p:txBody>
      </p:sp>
      <p:sp>
        <p:nvSpPr>
          <p:cNvPr id="3" name="Content Placeholder 2"/>
          <p:cNvSpPr>
            <a:spLocks noGrp="1"/>
          </p:cNvSpPr>
          <p:nvPr>
            <p:ph idx="1"/>
          </p:nvPr>
        </p:nvSpPr>
        <p:spPr/>
        <p:txBody>
          <a:bodyPr/>
          <a:lstStyle/>
          <a:p>
            <a:r>
              <a:rPr lang="en-GB" dirty="0"/>
              <a:t>Variance per locus was constant</a:t>
            </a:r>
          </a:p>
          <a:p>
            <a:pPr lvl="1"/>
            <a:r>
              <a:rPr lang="en-GB" dirty="0"/>
              <a:t>so variance </a:t>
            </a:r>
            <a:r>
              <a:rPr lang="en-GB" u="sng" dirty="0"/>
              <a:t>in model</a:t>
            </a:r>
            <a:r>
              <a:rPr lang="en-GB" dirty="0"/>
              <a:t> follows SNP distribution </a:t>
            </a:r>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6C697B8B-A4F5-476F-A680-8191BD338EC5}"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grpSp>
        <p:nvGrpSpPr>
          <p:cNvPr id="24" name="Group 23">
            <a:extLst>
              <a:ext uri="{FF2B5EF4-FFF2-40B4-BE49-F238E27FC236}">
                <a16:creationId xmlns:a16="http://schemas.microsoft.com/office/drawing/2014/main" id="{9FE103F3-8422-4DF7-A310-4DD03F077F97}"/>
              </a:ext>
            </a:extLst>
          </p:cNvPr>
          <p:cNvGrpSpPr/>
          <p:nvPr/>
        </p:nvGrpSpPr>
        <p:grpSpPr>
          <a:xfrm>
            <a:off x="1680879" y="3068960"/>
            <a:ext cx="9023633" cy="2880320"/>
            <a:chOff x="1680879" y="3068960"/>
            <a:chExt cx="9023633" cy="2880320"/>
          </a:xfrm>
        </p:grpSpPr>
        <p:grpSp>
          <p:nvGrpSpPr>
            <p:cNvPr id="25" name="Group 24">
              <a:extLst>
                <a:ext uri="{FF2B5EF4-FFF2-40B4-BE49-F238E27FC236}">
                  <a16:creationId xmlns:a16="http://schemas.microsoft.com/office/drawing/2014/main" id="{FCE302AD-F9EF-4706-AC48-39E8A388C844}"/>
                </a:ext>
              </a:extLst>
            </p:cNvPr>
            <p:cNvGrpSpPr/>
            <p:nvPr/>
          </p:nvGrpSpPr>
          <p:grpSpPr>
            <a:xfrm>
              <a:off x="1680879" y="3069088"/>
              <a:ext cx="3834964" cy="2880192"/>
              <a:chOff x="1680879" y="3102055"/>
              <a:chExt cx="3834964" cy="2880192"/>
            </a:xfrm>
          </p:grpSpPr>
          <p:sp>
            <p:nvSpPr>
              <p:cNvPr id="34" name="Text Box 16">
                <a:extLst>
                  <a:ext uri="{FF2B5EF4-FFF2-40B4-BE49-F238E27FC236}">
                    <a16:creationId xmlns:a16="http://schemas.microsoft.com/office/drawing/2014/main" id="{F3E1BB8F-180D-4868-9A08-96F4FDA01E4A}"/>
                  </a:ext>
                </a:extLst>
              </p:cNvPr>
              <p:cNvSpPr txBox="1">
                <a:spLocks noChangeArrowheads="1"/>
              </p:cNvSpPr>
              <p:nvPr/>
            </p:nvSpPr>
            <p:spPr bwMode="auto">
              <a:xfrm>
                <a:off x="4698960" y="5412465"/>
                <a:ext cx="8168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MAF</a:t>
                </a:r>
              </a:p>
            </p:txBody>
          </p:sp>
          <p:sp>
            <p:nvSpPr>
              <p:cNvPr id="35" name="Line 17">
                <a:extLst>
                  <a:ext uri="{FF2B5EF4-FFF2-40B4-BE49-F238E27FC236}">
                    <a16:creationId xmlns:a16="http://schemas.microsoft.com/office/drawing/2014/main" id="{612CB0BB-7828-46FF-B428-4D467D6C80B6}"/>
                  </a:ext>
                </a:extLst>
              </p:cNvPr>
              <p:cNvSpPr>
                <a:spLocks noChangeShapeType="1"/>
              </p:cNvSpPr>
              <p:nvPr/>
            </p:nvSpPr>
            <p:spPr bwMode="auto">
              <a:xfrm>
                <a:off x="1902798" y="3548357"/>
                <a:ext cx="0" cy="22389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 name="Line 18">
                <a:extLst>
                  <a:ext uri="{FF2B5EF4-FFF2-40B4-BE49-F238E27FC236}">
                    <a16:creationId xmlns:a16="http://schemas.microsoft.com/office/drawing/2014/main" id="{17FF759A-D8FA-4BE6-94C6-29D06E2BB12C}"/>
                  </a:ext>
                </a:extLst>
              </p:cNvPr>
              <p:cNvSpPr>
                <a:spLocks noChangeShapeType="1"/>
              </p:cNvSpPr>
              <p:nvPr/>
            </p:nvSpPr>
            <p:spPr bwMode="auto">
              <a:xfrm>
                <a:off x="1680880" y="5560411"/>
                <a:ext cx="30180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7" name="Text Box 19">
                <a:extLst>
                  <a:ext uri="{FF2B5EF4-FFF2-40B4-BE49-F238E27FC236}">
                    <a16:creationId xmlns:a16="http://schemas.microsoft.com/office/drawing/2014/main" id="{FEBF1237-CAB1-4748-A0DE-D7BC1C773DD1}"/>
                  </a:ext>
                </a:extLst>
              </p:cNvPr>
              <p:cNvSpPr txBox="1">
                <a:spLocks noChangeArrowheads="1"/>
              </p:cNvSpPr>
              <p:nvPr/>
            </p:nvSpPr>
            <p:spPr bwMode="auto">
              <a:xfrm>
                <a:off x="1680879" y="3102055"/>
                <a:ext cx="2796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Density of Total Variance</a:t>
                </a:r>
              </a:p>
            </p:txBody>
          </p:sp>
          <p:sp>
            <p:nvSpPr>
              <p:cNvPr id="38" name="Freeform 20">
                <a:extLst>
                  <a:ext uri="{FF2B5EF4-FFF2-40B4-BE49-F238E27FC236}">
                    <a16:creationId xmlns:a16="http://schemas.microsoft.com/office/drawing/2014/main" id="{5558E977-7F36-4B50-A911-E9B9B052D313}"/>
                  </a:ext>
                </a:extLst>
              </p:cNvPr>
              <p:cNvSpPr>
                <a:spLocks/>
              </p:cNvSpPr>
              <p:nvPr/>
            </p:nvSpPr>
            <p:spPr bwMode="auto">
              <a:xfrm>
                <a:off x="1902798" y="4097012"/>
                <a:ext cx="2574245" cy="1463399"/>
              </a:xfrm>
              <a:custGeom>
                <a:avLst/>
                <a:gdLst>
                  <a:gd name="T0" fmla="*/ 0 w 1044"/>
                  <a:gd name="T1" fmla="*/ 599 h 599"/>
                  <a:gd name="T2" fmla="*/ 235 w 1044"/>
                  <a:gd name="T3" fmla="*/ 319 h 599"/>
                  <a:gd name="T4" fmla="*/ 362 w 1044"/>
                  <a:gd name="T5" fmla="*/ 67 h 599"/>
                  <a:gd name="T6" fmla="*/ 499 w 1044"/>
                  <a:gd name="T7" fmla="*/ 10 h 599"/>
                  <a:gd name="T8" fmla="*/ 1044 w 1044"/>
                  <a:gd name="T9" fmla="*/ 10 h 599"/>
                  <a:gd name="T10" fmla="*/ 0 60000 65536"/>
                  <a:gd name="T11" fmla="*/ 0 60000 65536"/>
                  <a:gd name="T12" fmla="*/ 0 60000 65536"/>
                  <a:gd name="T13" fmla="*/ 0 60000 65536"/>
                  <a:gd name="T14" fmla="*/ 0 60000 65536"/>
                  <a:gd name="T15" fmla="*/ 0 w 1044"/>
                  <a:gd name="T16" fmla="*/ 0 h 599"/>
                  <a:gd name="T17" fmla="*/ 1044 w 1044"/>
                  <a:gd name="T18" fmla="*/ 599 h 599"/>
                  <a:gd name="connsiteX0" fmla="*/ 0 w 10000"/>
                  <a:gd name="connsiteY0" fmla="*/ 9908 h 9908"/>
                  <a:gd name="connsiteX1" fmla="*/ 2251 w 10000"/>
                  <a:gd name="connsiteY1" fmla="*/ 4554 h 9908"/>
                  <a:gd name="connsiteX2" fmla="*/ 3467 w 10000"/>
                  <a:gd name="connsiteY2" fmla="*/ 1027 h 9908"/>
                  <a:gd name="connsiteX3" fmla="*/ 4780 w 10000"/>
                  <a:gd name="connsiteY3" fmla="*/ 75 h 9908"/>
                  <a:gd name="connsiteX4" fmla="*/ 10000 w 10000"/>
                  <a:gd name="connsiteY4" fmla="*/ 75 h 9908"/>
                  <a:gd name="connsiteX0" fmla="*/ 0 w 10000"/>
                  <a:gd name="connsiteY0" fmla="*/ 10000 h 10000"/>
                  <a:gd name="connsiteX1" fmla="*/ 2140 w 10000"/>
                  <a:gd name="connsiteY1" fmla="*/ 3616 h 10000"/>
                  <a:gd name="connsiteX2" fmla="*/ 3467 w 10000"/>
                  <a:gd name="connsiteY2" fmla="*/ 1037 h 10000"/>
                  <a:gd name="connsiteX3" fmla="*/ 4780 w 10000"/>
                  <a:gd name="connsiteY3" fmla="*/ 76 h 10000"/>
                  <a:gd name="connsiteX4" fmla="*/ 10000 w 10000"/>
                  <a:gd name="connsiteY4" fmla="*/ 7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cubicBezTo>
                      <a:pt x="374" y="9208"/>
                      <a:pt x="1565" y="5115"/>
                      <a:pt x="2140" y="3616"/>
                    </a:cubicBezTo>
                    <a:cubicBezTo>
                      <a:pt x="2715" y="2116"/>
                      <a:pt x="3027" y="1627"/>
                      <a:pt x="3467" y="1037"/>
                    </a:cubicBezTo>
                    <a:cubicBezTo>
                      <a:pt x="3907" y="447"/>
                      <a:pt x="3688" y="244"/>
                      <a:pt x="4780" y="76"/>
                    </a:cubicBezTo>
                    <a:cubicBezTo>
                      <a:pt x="5872" y="-93"/>
                      <a:pt x="9128" y="76"/>
                      <a:pt x="10000" y="76"/>
                    </a:cubicBezTo>
                  </a:path>
                </a:pathLst>
              </a:custGeom>
              <a:noFill/>
              <a:ln w="38100" cmpd="sng">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9" name="TextBox 38">
                <a:extLst>
                  <a:ext uri="{FF2B5EF4-FFF2-40B4-BE49-F238E27FC236}">
                    <a16:creationId xmlns:a16="http://schemas.microsoft.com/office/drawing/2014/main" id="{2FD86316-3859-4A15-9CD4-8C4DB65F2F3C}"/>
                  </a:ext>
                </a:extLst>
              </p:cNvPr>
              <p:cNvSpPr txBox="1"/>
              <p:nvPr/>
            </p:nvSpPr>
            <p:spPr>
              <a:xfrm>
                <a:off x="2855312" y="5612915"/>
                <a:ext cx="1224136" cy="369332"/>
              </a:xfrm>
              <a:prstGeom prst="rect">
                <a:avLst/>
              </a:prstGeom>
              <a:noFill/>
            </p:spPr>
            <p:txBody>
              <a:bodyPr wrap="square" rtlCol="0">
                <a:spAutoFit/>
              </a:bodyPr>
              <a:lstStyle/>
              <a:p>
                <a:r>
                  <a:rPr lang="en-GB" dirty="0"/>
                  <a:t>SNP Chip</a:t>
                </a:r>
              </a:p>
            </p:txBody>
          </p:sp>
        </p:grpSp>
        <p:grpSp>
          <p:nvGrpSpPr>
            <p:cNvPr id="26" name="Group 25">
              <a:extLst>
                <a:ext uri="{FF2B5EF4-FFF2-40B4-BE49-F238E27FC236}">
                  <a16:creationId xmlns:a16="http://schemas.microsoft.com/office/drawing/2014/main" id="{4A304DF7-4D21-4410-8D30-B81E5AC63748}"/>
                </a:ext>
              </a:extLst>
            </p:cNvPr>
            <p:cNvGrpSpPr/>
            <p:nvPr/>
          </p:nvGrpSpPr>
          <p:grpSpPr>
            <a:xfrm>
              <a:off x="6820994" y="3068960"/>
              <a:ext cx="3883518" cy="2840767"/>
              <a:chOff x="6820994" y="2852936"/>
              <a:chExt cx="3883518" cy="2840767"/>
            </a:xfrm>
          </p:grpSpPr>
          <p:sp>
            <p:nvSpPr>
              <p:cNvPr id="27" name="Text Box 47">
                <a:extLst>
                  <a:ext uri="{FF2B5EF4-FFF2-40B4-BE49-F238E27FC236}">
                    <a16:creationId xmlns:a16="http://schemas.microsoft.com/office/drawing/2014/main" id="{3507E158-AE32-4182-8AAF-0C3C0EC53843}"/>
                  </a:ext>
                </a:extLst>
              </p:cNvPr>
              <p:cNvSpPr txBox="1">
                <a:spLocks noChangeArrowheads="1"/>
              </p:cNvSpPr>
              <p:nvPr/>
            </p:nvSpPr>
            <p:spPr bwMode="auto">
              <a:xfrm>
                <a:off x="6820994" y="2852936"/>
                <a:ext cx="27961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Density of Total Variance</a:t>
                </a:r>
              </a:p>
            </p:txBody>
          </p:sp>
          <p:sp>
            <p:nvSpPr>
              <p:cNvPr id="28" name="Line 48">
                <a:extLst>
                  <a:ext uri="{FF2B5EF4-FFF2-40B4-BE49-F238E27FC236}">
                    <a16:creationId xmlns:a16="http://schemas.microsoft.com/office/drawing/2014/main" id="{F68BCE23-DE33-47DA-970C-CA77DA187BE7}"/>
                  </a:ext>
                </a:extLst>
              </p:cNvPr>
              <p:cNvSpPr>
                <a:spLocks noChangeShapeType="1"/>
              </p:cNvSpPr>
              <p:nvPr/>
            </p:nvSpPr>
            <p:spPr bwMode="auto">
              <a:xfrm>
                <a:off x="7005395" y="3293207"/>
                <a:ext cx="0" cy="22086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 name="Line 49">
                <a:extLst>
                  <a:ext uri="{FF2B5EF4-FFF2-40B4-BE49-F238E27FC236}">
                    <a16:creationId xmlns:a16="http://schemas.microsoft.com/office/drawing/2014/main" id="{F9B91080-21DF-49C4-8ABD-FD1FCEFBE366}"/>
                  </a:ext>
                </a:extLst>
              </p:cNvPr>
              <p:cNvSpPr>
                <a:spLocks noChangeShapeType="1"/>
              </p:cNvSpPr>
              <p:nvPr/>
            </p:nvSpPr>
            <p:spPr bwMode="auto">
              <a:xfrm>
                <a:off x="6820994" y="5307260"/>
                <a:ext cx="301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0" name="Text Box 50">
                <a:extLst>
                  <a:ext uri="{FF2B5EF4-FFF2-40B4-BE49-F238E27FC236}">
                    <a16:creationId xmlns:a16="http://schemas.microsoft.com/office/drawing/2014/main" id="{28BC2928-5809-4A03-934C-B67DFFD5CC42}"/>
                  </a:ext>
                </a:extLst>
              </p:cNvPr>
              <p:cNvSpPr txBox="1">
                <a:spLocks noChangeArrowheads="1"/>
              </p:cNvSpPr>
              <p:nvPr/>
            </p:nvSpPr>
            <p:spPr bwMode="auto">
              <a:xfrm>
                <a:off x="9844892" y="5156872"/>
                <a:ext cx="8596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spcBef>
                    <a:spcPct val="50000"/>
                  </a:spcBef>
                </a:pPr>
                <a:r>
                  <a:rPr lang="en-GB" sz="1800" dirty="0"/>
                  <a:t>MAF</a:t>
                </a:r>
              </a:p>
            </p:txBody>
          </p:sp>
          <p:sp>
            <p:nvSpPr>
              <p:cNvPr id="31" name="Freeform 51">
                <a:extLst>
                  <a:ext uri="{FF2B5EF4-FFF2-40B4-BE49-F238E27FC236}">
                    <a16:creationId xmlns:a16="http://schemas.microsoft.com/office/drawing/2014/main" id="{C9E5E0E7-43B3-4372-841A-6D489BB6F1F9}"/>
                  </a:ext>
                </a:extLst>
              </p:cNvPr>
              <p:cNvSpPr>
                <a:spLocks/>
              </p:cNvSpPr>
              <p:nvPr/>
            </p:nvSpPr>
            <p:spPr bwMode="auto">
              <a:xfrm>
                <a:off x="7052489" y="3766023"/>
                <a:ext cx="2633635" cy="1534865"/>
              </a:xfrm>
              <a:custGeom>
                <a:avLst/>
                <a:gdLst>
                  <a:gd name="T0" fmla="*/ 0 w 1034"/>
                  <a:gd name="T1" fmla="*/ 0 h 631"/>
                  <a:gd name="T2" fmla="*/ 111 w 1034"/>
                  <a:gd name="T3" fmla="*/ 410 h 631"/>
                  <a:gd name="T4" fmla="*/ 347 w 1034"/>
                  <a:gd name="T5" fmla="*/ 584 h 631"/>
                  <a:gd name="T6" fmla="*/ 608 w 1034"/>
                  <a:gd name="T7" fmla="*/ 615 h 631"/>
                  <a:gd name="T8" fmla="*/ 1034 w 1034"/>
                  <a:gd name="T9" fmla="*/ 631 h 631"/>
                  <a:gd name="T10" fmla="*/ 0 60000 65536"/>
                  <a:gd name="T11" fmla="*/ 0 60000 65536"/>
                  <a:gd name="T12" fmla="*/ 0 60000 65536"/>
                  <a:gd name="T13" fmla="*/ 0 60000 65536"/>
                  <a:gd name="T14" fmla="*/ 0 60000 65536"/>
                  <a:gd name="T15" fmla="*/ 0 w 1034"/>
                  <a:gd name="T16" fmla="*/ 0 h 631"/>
                  <a:gd name="T17" fmla="*/ 1034 w 1034"/>
                  <a:gd name="T18" fmla="*/ 631 h 631"/>
                  <a:gd name="connsiteX0" fmla="*/ 0 w 10000"/>
                  <a:gd name="connsiteY0" fmla="*/ 0 h 10000"/>
                  <a:gd name="connsiteX1" fmla="*/ 905 w 10000"/>
                  <a:gd name="connsiteY1" fmla="*/ 6959 h 10000"/>
                  <a:gd name="connsiteX2" fmla="*/ 3356 w 10000"/>
                  <a:gd name="connsiteY2" fmla="*/ 9255 h 10000"/>
                  <a:gd name="connsiteX3" fmla="*/ 5880 w 10000"/>
                  <a:gd name="connsiteY3" fmla="*/ 9746 h 10000"/>
                  <a:gd name="connsiteX4" fmla="*/ 10000 w 10000"/>
                  <a:gd name="connsiteY4" fmla="*/ 10000 h 10000"/>
                  <a:gd name="connsiteX0" fmla="*/ 0 w 10000"/>
                  <a:gd name="connsiteY0" fmla="*/ 0 h 10000"/>
                  <a:gd name="connsiteX1" fmla="*/ 905 w 10000"/>
                  <a:gd name="connsiteY1" fmla="*/ 7881 h 10000"/>
                  <a:gd name="connsiteX2" fmla="*/ 3356 w 10000"/>
                  <a:gd name="connsiteY2" fmla="*/ 9255 h 10000"/>
                  <a:gd name="connsiteX3" fmla="*/ 5880 w 10000"/>
                  <a:gd name="connsiteY3" fmla="*/ 9746 h 10000"/>
                  <a:gd name="connsiteX4" fmla="*/ 10000 w 10000"/>
                  <a:gd name="connsiteY4" fmla="*/ 10000 h 10000"/>
                  <a:gd name="connsiteX0" fmla="*/ 0 w 10000"/>
                  <a:gd name="connsiteY0" fmla="*/ 0 h 10000"/>
                  <a:gd name="connsiteX1" fmla="*/ 905 w 10000"/>
                  <a:gd name="connsiteY1" fmla="*/ 7881 h 10000"/>
                  <a:gd name="connsiteX2" fmla="*/ 3356 w 10000"/>
                  <a:gd name="connsiteY2" fmla="*/ 9439 h 10000"/>
                  <a:gd name="connsiteX3" fmla="*/ 5880 w 10000"/>
                  <a:gd name="connsiteY3" fmla="*/ 9746 h 10000"/>
                  <a:gd name="connsiteX4" fmla="*/ 10000 w 10000"/>
                  <a:gd name="connsiteY4" fmla="*/ 10000 h 10000"/>
                  <a:gd name="connsiteX0" fmla="*/ 0 w 10000"/>
                  <a:gd name="connsiteY0" fmla="*/ 0 h 10000"/>
                  <a:gd name="connsiteX1" fmla="*/ 905 w 10000"/>
                  <a:gd name="connsiteY1" fmla="*/ 7881 h 10000"/>
                  <a:gd name="connsiteX2" fmla="*/ 2793 w 10000"/>
                  <a:gd name="connsiteY2" fmla="*/ 9321 h 10000"/>
                  <a:gd name="connsiteX3" fmla="*/ 3356 w 10000"/>
                  <a:gd name="connsiteY3" fmla="*/ 9439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3356 w 10000"/>
                  <a:gd name="connsiteY3" fmla="*/ 9439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905 w 10000"/>
                  <a:gd name="connsiteY1" fmla="*/ 7881 h 10000"/>
                  <a:gd name="connsiteX2" fmla="*/ 2419 w 10000"/>
                  <a:gd name="connsiteY2" fmla="*/ 9340 h 10000"/>
                  <a:gd name="connsiteX3" fmla="*/ 4004 w 10000"/>
                  <a:gd name="connsiteY3" fmla="*/ 9571 h 10000"/>
                  <a:gd name="connsiteX4" fmla="*/ 5880 w 10000"/>
                  <a:gd name="connsiteY4" fmla="*/ 9746 h 10000"/>
                  <a:gd name="connsiteX5" fmla="*/ 10000 w 10000"/>
                  <a:gd name="connsiteY5" fmla="*/ 10000 h 10000"/>
                  <a:gd name="connsiteX0" fmla="*/ 0 w 10000"/>
                  <a:gd name="connsiteY0" fmla="*/ 0 h 10000"/>
                  <a:gd name="connsiteX1" fmla="*/ 412 w 10000"/>
                  <a:gd name="connsiteY1" fmla="*/ 4385 h 10000"/>
                  <a:gd name="connsiteX2" fmla="*/ 905 w 10000"/>
                  <a:gd name="connsiteY2" fmla="*/ 7881 h 10000"/>
                  <a:gd name="connsiteX3" fmla="*/ 2419 w 10000"/>
                  <a:gd name="connsiteY3" fmla="*/ 9340 h 10000"/>
                  <a:gd name="connsiteX4" fmla="*/ 4004 w 10000"/>
                  <a:gd name="connsiteY4" fmla="*/ 9571 h 10000"/>
                  <a:gd name="connsiteX5" fmla="*/ 5880 w 10000"/>
                  <a:gd name="connsiteY5" fmla="*/ 9746 h 10000"/>
                  <a:gd name="connsiteX6" fmla="*/ 10000 w 10000"/>
                  <a:gd name="connsiteY6" fmla="*/ 10000 h 10000"/>
                  <a:gd name="connsiteX0" fmla="*/ 0 w 10000"/>
                  <a:gd name="connsiteY0" fmla="*/ 0 h 10000"/>
                  <a:gd name="connsiteX1" fmla="*/ 217 w 10000"/>
                  <a:gd name="connsiteY1" fmla="*/ 4251 h 10000"/>
                  <a:gd name="connsiteX2" fmla="*/ 905 w 10000"/>
                  <a:gd name="connsiteY2" fmla="*/ 7881 h 10000"/>
                  <a:gd name="connsiteX3" fmla="*/ 2419 w 10000"/>
                  <a:gd name="connsiteY3" fmla="*/ 9340 h 10000"/>
                  <a:gd name="connsiteX4" fmla="*/ 4004 w 10000"/>
                  <a:gd name="connsiteY4" fmla="*/ 9571 h 10000"/>
                  <a:gd name="connsiteX5" fmla="*/ 5880 w 10000"/>
                  <a:gd name="connsiteY5" fmla="*/ 9746 h 10000"/>
                  <a:gd name="connsiteX6" fmla="*/ 10000 w 10000"/>
                  <a:gd name="connsiteY6"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0"/>
                    </a:moveTo>
                    <a:cubicBezTo>
                      <a:pt x="69" y="731"/>
                      <a:pt x="66" y="2938"/>
                      <a:pt x="217" y="4251"/>
                    </a:cubicBezTo>
                    <a:cubicBezTo>
                      <a:pt x="368" y="5564"/>
                      <a:pt x="538" y="7033"/>
                      <a:pt x="905" y="7881"/>
                    </a:cubicBezTo>
                    <a:cubicBezTo>
                      <a:pt x="1272" y="8729"/>
                      <a:pt x="2000" y="9193"/>
                      <a:pt x="2419" y="9340"/>
                    </a:cubicBezTo>
                    <a:cubicBezTo>
                      <a:pt x="2827" y="9449"/>
                      <a:pt x="3427" y="9503"/>
                      <a:pt x="4004" y="9571"/>
                    </a:cubicBezTo>
                    <a:cubicBezTo>
                      <a:pt x="4581" y="9639"/>
                      <a:pt x="5255" y="9688"/>
                      <a:pt x="5880" y="9746"/>
                    </a:cubicBezTo>
                    <a:cubicBezTo>
                      <a:pt x="6983" y="9873"/>
                      <a:pt x="9139" y="9952"/>
                      <a:pt x="10000" y="10000"/>
                    </a:cubicBezTo>
                  </a:path>
                </a:pathLst>
              </a:custGeom>
              <a:noFill/>
              <a:ln w="38100"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2" name="TextBox 31">
                <a:extLst>
                  <a:ext uri="{FF2B5EF4-FFF2-40B4-BE49-F238E27FC236}">
                    <a16:creationId xmlns:a16="http://schemas.microsoft.com/office/drawing/2014/main" id="{C5DF3A31-37E3-4BF7-9C39-FB0C710659AB}"/>
                  </a:ext>
                </a:extLst>
              </p:cNvPr>
              <p:cNvSpPr txBox="1"/>
              <p:nvPr/>
            </p:nvSpPr>
            <p:spPr>
              <a:xfrm>
                <a:off x="7474282" y="5324371"/>
                <a:ext cx="1862078" cy="369332"/>
              </a:xfrm>
              <a:prstGeom prst="rect">
                <a:avLst/>
              </a:prstGeom>
              <a:noFill/>
            </p:spPr>
            <p:txBody>
              <a:bodyPr wrap="square" rtlCol="0">
                <a:spAutoFit/>
              </a:bodyPr>
              <a:lstStyle/>
              <a:p>
                <a:r>
                  <a:rPr lang="en-GB" dirty="0"/>
                  <a:t>Sequence Data</a:t>
                </a:r>
              </a:p>
            </p:txBody>
          </p:sp>
          <p:sp>
            <p:nvSpPr>
              <p:cNvPr id="33" name="TextBox 32">
                <a:extLst>
                  <a:ext uri="{FF2B5EF4-FFF2-40B4-BE49-F238E27FC236}">
                    <a16:creationId xmlns:a16="http://schemas.microsoft.com/office/drawing/2014/main" id="{17F94BA2-17F7-48AF-B500-6BB9D16021D9}"/>
                  </a:ext>
                </a:extLst>
              </p:cNvPr>
              <p:cNvSpPr txBox="1"/>
              <p:nvPr/>
            </p:nvSpPr>
            <p:spPr>
              <a:xfrm>
                <a:off x="8544273" y="3638980"/>
                <a:ext cx="1944341" cy="646331"/>
              </a:xfrm>
              <a:prstGeom prst="rect">
                <a:avLst/>
              </a:prstGeom>
              <a:noFill/>
            </p:spPr>
            <p:txBody>
              <a:bodyPr wrap="square" rtlCol="0">
                <a:spAutoFit/>
              </a:bodyPr>
              <a:lstStyle/>
              <a:p>
                <a:r>
                  <a:rPr lang="en-GB" dirty="0"/>
                  <a:t>Approximately</a:t>
                </a:r>
              </a:p>
              <a:p>
                <a:r>
                  <a:rPr lang="en-GB" dirty="0"/>
                  <a:t>  ~ 1/[p(1-p)]</a:t>
                </a:r>
              </a:p>
            </p:txBody>
          </p:sp>
        </p:grpSp>
      </p:grpSp>
    </p:spTree>
    <p:extLst>
      <p:ext uri="{BB962C8B-B14F-4D97-AF65-F5344CB8AC3E}">
        <p14:creationId xmlns:p14="http://schemas.microsoft.com/office/powerpoint/2010/main" val="3123837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More Models</a:t>
            </a:r>
          </a:p>
        </p:txBody>
      </p:sp>
      <p:sp>
        <p:nvSpPr>
          <p:cNvPr id="3" name="Content Placeholder 2"/>
          <p:cNvSpPr>
            <a:spLocks noGrp="1"/>
          </p:cNvSpPr>
          <p:nvPr>
            <p:ph idx="1"/>
          </p:nvPr>
        </p:nvSpPr>
        <p:spPr/>
        <p:txBody>
          <a:bodyPr/>
          <a:lstStyle/>
          <a:p>
            <a:r>
              <a:rPr lang="en-GB" dirty="0"/>
              <a:t>What distribution of variance per locus?</a:t>
            </a:r>
          </a:p>
          <a:p>
            <a:r>
              <a:rPr lang="en-GB" dirty="0"/>
              <a:t>Why is every locus expected to contribute?</a:t>
            </a:r>
          </a:p>
        </p:txBody>
      </p:sp>
      <p:sp>
        <p:nvSpPr>
          <p:cNvPr id="4" name="Date Placeholder 3"/>
          <p:cNvSpPr>
            <a:spLocks noGrp="1"/>
          </p:cNvSpPr>
          <p:nvPr>
            <p:ph type="dt" sz="half" idx="10"/>
          </p:nvPr>
        </p:nvSpPr>
        <p:spPr/>
        <p:txBody>
          <a:bodyPr/>
          <a:lstStyle/>
          <a:p>
            <a:fld id="{6C697B8B-A4F5-476F-A680-8191BD338EC5}"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2971779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Bayes A</a:t>
            </a:r>
          </a:p>
        </p:txBody>
      </p:sp>
      <p:sp>
        <p:nvSpPr>
          <p:cNvPr id="3" name="Content Placeholder 2"/>
          <p:cNvSpPr>
            <a:spLocks noGrp="1"/>
          </p:cNvSpPr>
          <p:nvPr>
            <p:ph idx="1"/>
          </p:nvPr>
        </p:nvSpPr>
        <p:spPr/>
        <p:txBody>
          <a:bodyPr/>
          <a:lstStyle/>
          <a:p>
            <a:r>
              <a:rPr lang="en-GB" dirty="0"/>
              <a:t>Assume each SNP locus has a </a:t>
            </a:r>
            <a:r>
              <a:rPr lang="en-GB" i="1" dirty="0" err="1"/>
              <a:t>b</a:t>
            </a:r>
            <a:r>
              <a:rPr lang="en-GB" i="1" baseline="-25000" dirty="0" err="1"/>
              <a:t>j</a:t>
            </a:r>
            <a:endParaRPr lang="en-GB" i="1" dirty="0"/>
          </a:p>
          <a:p>
            <a:pPr lvl="1"/>
            <a:r>
              <a:rPr lang="en-GB" b="1" dirty="0"/>
              <a:t>y</a:t>
            </a:r>
            <a:r>
              <a:rPr lang="en-GB" dirty="0"/>
              <a:t> ~ </a:t>
            </a:r>
            <a:r>
              <a:rPr lang="en-GB" b="1" dirty="0"/>
              <a:t>1</a:t>
            </a:r>
            <a:r>
              <a:rPr lang="en-GB" dirty="0"/>
              <a:t>m + … + </a:t>
            </a:r>
            <a:r>
              <a:rPr lang="en-GB" b="1" dirty="0" err="1"/>
              <a:t>Xb</a:t>
            </a:r>
            <a:r>
              <a:rPr lang="en-GB" dirty="0"/>
              <a:t> + </a:t>
            </a:r>
            <a:r>
              <a:rPr lang="en-GB" b="1" dirty="0"/>
              <a:t>e </a:t>
            </a:r>
            <a:r>
              <a:rPr lang="en-GB" dirty="0"/>
              <a:t>as before</a:t>
            </a:r>
          </a:p>
          <a:p>
            <a:pPr lvl="1"/>
            <a:r>
              <a:rPr lang="en-GB" dirty="0" err="1"/>
              <a:t>b</a:t>
            </a:r>
            <a:r>
              <a:rPr lang="en-GB" baseline="-25000" dirty="0" err="1"/>
              <a:t>j</a:t>
            </a:r>
            <a:r>
              <a:rPr lang="en-GB" dirty="0"/>
              <a:t> </a:t>
            </a:r>
            <a:r>
              <a:rPr lang="en-GB" u="sng" dirty="0"/>
              <a:t>now come from scaled t-distribution </a:t>
            </a:r>
          </a:p>
          <a:p>
            <a:pPr lvl="2"/>
            <a:r>
              <a:rPr lang="en-GB" dirty="0"/>
              <a:t>not from N(0,</a:t>
            </a:r>
            <a:r>
              <a:rPr lang="el-GR" dirty="0"/>
              <a:t>σ</a:t>
            </a:r>
            <a:r>
              <a:rPr lang="en-GB" baseline="-25000" dirty="0"/>
              <a:t>b</a:t>
            </a:r>
            <a:r>
              <a:rPr lang="en-GB" baseline="30000" dirty="0"/>
              <a:t>2</a:t>
            </a:r>
            <a:r>
              <a:rPr lang="en-GB" dirty="0"/>
              <a:t>), i.e. scaled </a:t>
            </a:r>
            <a:r>
              <a:rPr lang="en-GB" dirty="0" err="1"/>
              <a:t>Mormal</a:t>
            </a:r>
            <a:endParaRPr lang="en-GB" dirty="0"/>
          </a:p>
          <a:p>
            <a:pPr lvl="1"/>
            <a:r>
              <a:rPr lang="en-GB" dirty="0"/>
              <a:t>t-distribution has ‘heavier tails’</a:t>
            </a:r>
          </a:p>
          <a:p>
            <a:pPr lvl="2"/>
            <a:r>
              <a:rPr lang="en-GB" dirty="0"/>
              <a:t>‘shrinks small effects more than Normal’</a:t>
            </a:r>
          </a:p>
          <a:p>
            <a:pPr lvl="2"/>
            <a:r>
              <a:rPr lang="en-GB" dirty="0"/>
              <a:t>‘shrinks large effects less than Normal’</a:t>
            </a:r>
          </a:p>
          <a:p>
            <a:pPr marL="0" indent="0">
              <a:buNone/>
            </a:pPr>
            <a:endParaRPr lang="en-GB" dirty="0"/>
          </a:p>
        </p:txBody>
      </p:sp>
      <p:sp>
        <p:nvSpPr>
          <p:cNvPr id="4" name="Date Placeholder 3"/>
          <p:cNvSpPr>
            <a:spLocks noGrp="1"/>
          </p:cNvSpPr>
          <p:nvPr>
            <p:ph type="dt" sz="half" idx="10"/>
          </p:nvPr>
        </p:nvSpPr>
        <p:spPr/>
        <p:txBody>
          <a:bodyPr/>
          <a:lstStyle/>
          <a:p>
            <a:fld id="{D1CAA19B-2798-4C66-B6A3-81FFD62FF6BD}"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3523060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Bayes A</a:t>
            </a:r>
          </a:p>
        </p:txBody>
      </p:sp>
      <p:sp>
        <p:nvSpPr>
          <p:cNvPr id="3" name="Content Placeholder 2"/>
          <p:cNvSpPr>
            <a:spLocks noGrp="1"/>
          </p:cNvSpPr>
          <p:nvPr>
            <p:ph idx="1"/>
          </p:nvPr>
        </p:nvSpPr>
        <p:spPr/>
        <p:txBody>
          <a:bodyPr/>
          <a:lstStyle/>
          <a:p>
            <a:r>
              <a:rPr lang="en-GB" dirty="0"/>
              <a:t>Assume each SNP locus has a </a:t>
            </a:r>
            <a:r>
              <a:rPr lang="en-GB" i="1" dirty="0" err="1"/>
              <a:t>b</a:t>
            </a:r>
            <a:r>
              <a:rPr lang="en-GB" i="1" baseline="-25000" dirty="0" err="1"/>
              <a:t>j</a:t>
            </a:r>
            <a:endParaRPr lang="en-GB" i="1" dirty="0"/>
          </a:p>
          <a:p>
            <a:pPr lvl="1"/>
            <a:r>
              <a:rPr lang="en-GB" b="1" dirty="0"/>
              <a:t>y</a:t>
            </a:r>
            <a:r>
              <a:rPr lang="en-GB" dirty="0"/>
              <a:t> ~ </a:t>
            </a:r>
            <a:r>
              <a:rPr lang="en-GB" b="1" dirty="0"/>
              <a:t>1</a:t>
            </a:r>
            <a:r>
              <a:rPr lang="en-GB" dirty="0"/>
              <a:t>m + </a:t>
            </a:r>
            <a:r>
              <a:rPr lang="en-GB" b="1" dirty="0" err="1"/>
              <a:t>Xb</a:t>
            </a:r>
            <a:r>
              <a:rPr lang="en-GB" dirty="0"/>
              <a:t> + </a:t>
            </a:r>
            <a:r>
              <a:rPr lang="en-GB" b="1" dirty="0"/>
              <a:t>e </a:t>
            </a:r>
            <a:r>
              <a:rPr lang="en-GB" dirty="0"/>
              <a:t>as before</a:t>
            </a:r>
          </a:p>
          <a:p>
            <a:pPr lvl="1"/>
            <a:r>
              <a:rPr lang="en-GB" dirty="0" err="1"/>
              <a:t>b</a:t>
            </a:r>
            <a:r>
              <a:rPr lang="en-GB" baseline="-25000" dirty="0" err="1"/>
              <a:t>j</a:t>
            </a:r>
            <a:r>
              <a:rPr lang="en-GB" dirty="0"/>
              <a:t> now come from </a:t>
            </a:r>
            <a:r>
              <a:rPr lang="en-GB" dirty="0">
                <a:solidFill>
                  <a:srgbClr val="FF0000"/>
                </a:solidFill>
              </a:rPr>
              <a:t>t-distribution</a:t>
            </a:r>
          </a:p>
          <a:p>
            <a:pPr lvl="2"/>
            <a:r>
              <a:rPr lang="en-GB" dirty="0"/>
              <a:t>not from N(0,</a:t>
            </a:r>
            <a:r>
              <a:rPr lang="el-GR" dirty="0"/>
              <a:t>σ</a:t>
            </a:r>
            <a:r>
              <a:rPr lang="en-GB" baseline="-25000" dirty="0"/>
              <a:t>b</a:t>
            </a:r>
            <a:r>
              <a:rPr lang="en-GB" baseline="30000" dirty="0"/>
              <a:t>2</a:t>
            </a:r>
            <a:r>
              <a:rPr lang="en-GB" dirty="0"/>
              <a:t>)</a:t>
            </a:r>
          </a:p>
          <a:p>
            <a:pPr lvl="1"/>
            <a:endParaRPr lang="en-GB" dirty="0"/>
          </a:p>
          <a:p>
            <a:pPr lvl="1"/>
            <a:endParaRPr lang="en-GB" dirty="0"/>
          </a:p>
          <a:p>
            <a:pPr lvl="1"/>
            <a:endParaRPr lang="en-GB" dirty="0"/>
          </a:p>
          <a:p>
            <a:pPr lvl="1"/>
            <a:r>
              <a:rPr lang="en-GB" dirty="0">
                <a:solidFill>
                  <a:srgbClr val="FF0000"/>
                </a:solidFill>
              </a:rPr>
              <a:t>t-distribution</a:t>
            </a:r>
            <a:r>
              <a:rPr lang="en-GB" dirty="0"/>
              <a:t> has ‘heavier tails’</a:t>
            </a:r>
          </a:p>
          <a:p>
            <a:pPr lvl="2"/>
            <a:r>
              <a:rPr lang="en-GB" dirty="0"/>
              <a:t>‘shrinks small effects more than Normal’</a:t>
            </a:r>
          </a:p>
          <a:p>
            <a:pPr lvl="2"/>
            <a:r>
              <a:rPr lang="en-GB" dirty="0"/>
              <a:t>‘shrinks large effects less than Normal’</a:t>
            </a:r>
          </a:p>
          <a:p>
            <a:pPr marL="0" indent="0">
              <a:buNone/>
            </a:pPr>
            <a:endParaRPr lang="en-GB" dirty="0"/>
          </a:p>
        </p:txBody>
      </p:sp>
      <p:sp>
        <p:nvSpPr>
          <p:cNvPr id="4" name="Date Placeholder 3"/>
          <p:cNvSpPr>
            <a:spLocks noGrp="1"/>
          </p:cNvSpPr>
          <p:nvPr>
            <p:ph type="dt" sz="half" idx="10"/>
          </p:nvPr>
        </p:nvSpPr>
        <p:spPr/>
        <p:txBody>
          <a:bodyPr/>
          <a:lstStyle/>
          <a:p>
            <a:fld id="{D1CAA19B-2798-4C66-B6A3-81FFD62FF6BD}"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pic>
        <p:nvPicPr>
          <p:cNvPr id="7" name="Picture 6"/>
          <p:cNvPicPr>
            <a:picLocks noChangeAspect="1"/>
          </p:cNvPicPr>
          <p:nvPr/>
        </p:nvPicPr>
        <p:blipFill>
          <a:blip r:embed="rId2"/>
          <a:stretch>
            <a:fillRect/>
          </a:stretch>
        </p:blipFill>
        <p:spPr>
          <a:xfrm>
            <a:off x="6168008" y="2132856"/>
            <a:ext cx="5267662" cy="2736304"/>
          </a:xfrm>
          <a:prstGeom prst="rect">
            <a:avLst/>
          </a:prstGeom>
        </p:spPr>
      </p:pic>
      <p:cxnSp>
        <p:nvCxnSpPr>
          <p:cNvPr id="8" name="Straight Arrow Connector 7">
            <a:extLst>
              <a:ext uri="{FF2B5EF4-FFF2-40B4-BE49-F238E27FC236}">
                <a16:creationId xmlns:a16="http://schemas.microsoft.com/office/drawing/2014/main" id="{EBB797A3-54F3-4616-9C9D-80029753CC69}"/>
              </a:ext>
            </a:extLst>
          </p:cNvPr>
          <p:cNvCxnSpPr/>
          <p:nvPr/>
        </p:nvCxnSpPr>
        <p:spPr>
          <a:xfrm>
            <a:off x="6023992" y="2564904"/>
            <a:ext cx="2520280" cy="216024"/>
          </a:xfrm>
          <a:prstGeom prst="straightConnector1">
            <a:avLst/>
          </a:prstGeom>
          <a:ln w="603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828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6168008" y="2133464"/>
            <a:ext cx="5267662" cy="2736304"/>
          </a:xfrm>
          <a:prstGeom prst="rect">
            <a:avLst/>
          </a:prstGeom>
        </p:spPr>
      </p:pic>
      <p:sp>
        <p:nvSpPr>
          <p:cNvPr id="2" name="Title 1"/>
          <p:cNvSpPr>
            <a:spLocks noGrp="1"/>
          </p:cNvSpPr>
          <p:nvPr>
            <p:ph type="title"/>
          </p:nvPr>
        </p:nvSpPr>
        <p:spPr/>
        <p:txBody>
          <a:bodyPr/>
          <a:lstStyle/>
          <a:p>
            <a:r>
              <a:rPr lang="en-GB" dirty="0"/>
              <a:t>Bayes A</a:t>
            </a:r>
          </a:p>
        </p:txBody>
      </p:sp>
      <p:sp>
        <p:nvSpPr>
          <p:cNvPr id="3" name="Content Placeholder 2"/>
          <p:cNvSpPr>
            <a:spLocks noGrp="1"/>
          </p:cNvSpPr>
          <p:nvPr>
            <p:ph idx="1"/>
          </p:nvPr>
        </p:nvSpPr>
        <p:spPr/>
        <p:txBody>
          <a:bodyPr/>
          <a:lstStyle/>
          <a:p>
            <a:r>
              <a:rPr lang="en-GB" dirty="0"/>
              <a:t>Assume each SNP locus has a </a:t>
            </a:r>
            <a:r>
              <a:rPr lang="en-GB" i="1" dirty="0" err="1"/>
              <a:t>b</a:t>
            </a:r>
            <a:r>
              <a:rPr lang="en-GB" i="1" baseline="-25000" dirty="0" err="1"/>
              <a:t>j</a:t>
            </a:r>
            <a:endParaRPr lang="en-GB" i="1" dirty="0"/>
          </a:p>
          <a:p>
            <a:pPr lvl="1"/>
            <a:r>
              <a:rPr lang="en-GB" b="1" dirty="0"/>
              <a:t>y</a:t>
            </a:r>
            <a:r>
              <a:rPr lang="en-GB" dirty="0"/>
              <a:t> ~ </a:t>
            </a:r>
            <a:r>
              <a:rPr lang="en-GB" b="1" dirty="0"/>
              <a:t>1</a:t>
            </a:r>
            <a:r>
              <a:rPr lang="en-GB" dirty="0"/>
              <a:t>m + </a:t>
            </a:r>
            <a:r>
              <a:rPr lang="en-GB" b="1" dirty="0" err="1"/>
              <a:t>Xb</a:t>
            </a:r>
            <a:r>
              <a:rPr lang="en-GB" dirty="0"/>
              <a:t> + </a:t>
            </a:r>
            <a:r>
              <a:rPr lang="en-GB" b="1" dirty="0"/>
              <a:t>e </a:t>
            </a:r>
            <a:r>
              <a:rPr lang="en-GB" dirty="0"/>
              <a:t>as before</a:t>
            </a:r>
          </a:p>
          <a:p>
            <a:pPr lvl="1"/>
            <a:r>
              <a:rPr lang="en-GB" dirty="0" err="1"/>
              <a:t>b</a:t>
            </a:r>
            <a:r>
              <a:rPr lang="en-GB" baseline="-25000" dirty="0" err="1"/>
              <a:t>j</a:t>
            </a:r>
            <a:r>
              <a:rPr lang="en-GB" dirty="0"/>
              <a:t> now come from t-distribution</a:t>
            </a:r>
          </a:p>
          <a:p>
            <a:pPr lvl="2"/>
            <a:r>
              <a:rPr lang="en-GB" dirty="0"/>
              <a:t>not from N(0,</a:t>
            </a:r>
            <a:r>
              <a:rPr lang="el-GR" dirty="0"/>
              <a:t>σ</a:t>
            </a:r>
            <a:r>
              <a:rPr lang="en-GB" baseline="-25000" dirty="0"/>
              <a:t>b</a:t>
            </a:r>
            <a:r>
              <a:rPr lang="en-GB" baseline="30000" dirty="0"/>
              <a:t>2</a:t>
            </a:r>
            <a:r>
              <a:rPr lang="en-GB" dirty="0"/>
              <a:t>)</a:t>
            </a:r>
          </a:p>
          <a:p>
            <a:pPr lvl="1"/>
            <a:endParaRPr lang="en-GB" dirty="0"/>
          </a:p>
          <a:p>
            <a:pPr lvl="1"/>
            <a:endParaRPr lang="en-GB" dirty="0"/>
          </a:p>
          <a:p>
            <a:pPr lvl="1"/>
            <a:endParaRPr lang="en-GB" dirty="0"/>
          </a:p>
          <a:p>
            <a:pPr lvl="1"/>
            <a:r>
              <a:rPr lang="en-GB" dirty="0">
                <a:solidFill>
                  <a:srgbClr val="FF0000"/>
                </a:solidFill>
              </a:rPr>
              <a:t>t-distribution</a:t>
            </a:r>
            <a:r>
              <a:rPr lang="en-GB" dirty="0"/>
              <a:t> has ‘heavier tails’</a:t>
            </a:r>
          </a:p>
          <a:p>
            <a:pPr lvl="2"/>
            <a:r>
              <a:rPr lang="en-GB" dirty="0"/>
              <a:t>‘shrinks small effects more than Normal’</a:t>
            </a:r>
          </a:p>
          <a:p>
            <a:pPr lvl="2"/>
            <a:r>
              <a:rPr lang="en-GB" dirty="0"/>
              <a:t>‘shrinks large effects less than Normal’</a:t>
            </a:r>
          </a:p>
          <a:p>
            <a:pPr marL="0" indent="0">
              <a:buNone/>
            </a:pPr>
            <a:endParaRPr lang="en-GB" dirty="0"/>
          </a:p>
        </p:txBody>
      </p:sp>
      <p:sp>
        <p:nvSpPr>
          <p:cNvPr id="4" name="Date Placeholder 3"/>
          <p:cNvSpPr>
            <a:spLocks noGrp="1"/>
          </p:cNvSpPr>
          <p:nvPr>
            <p:ph type="dt" sz="half" idx="10"/>
          </p:nvPr>
        </p:nvSpPr>
        <p:spPr/>
        <p:txBody>
          <a:bodyPr/>
          <a:lstStyle/>
          <a:p>
            <a:fld id="{D1CAA19B-2798-4C66-B6A3-81FFD62FF6BD}"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pic>
        <p:nvPicPr>
          <p:cNvPr id="8" name="Picture 7">
            <a:extLst>
              <a:ext uri="{FF2B5EF4-FFF2-40B4-BE49-F238E27FC236}">
                <a16:creationId xmlns:a16="http://schemas.microsoft.com/office/drawing/2014/main" id="{BADD0B2C-FCBC-4984-8A27-BD53BB7ECD9C}"/>
              </a:ext>
            </a:extLst>
          </p:cNvPr>
          <p:cNvPicPr>
            <a:picLocks/>
          </p:cNvPicPr>
          <p:nvPr/>
        </p:nvPicPr>
        <p:blipFill>
          <a:blip r:embed="rId3"/>
          <a:stretch>
            <a:fillRect/>
          </a:stretch>
        </p:blipFill>
        <p:spPr>
          <a:xfrm>
            <a:off x="2279576" y="1700808"/>
            <a:ext cx="5266800" cy="2736000"/>
          </a:xfrm>
          <a:prstGeom prst="rect">
            <a:avLst/>
          </a:prstGeom>
        </p:spPr>
      </p:pic>
      <p:sp>
        <p:nvSpPr>
          <p:cNvPr id="9" name="Rectangle 8">
            <a:extLst>
              <a:ext uri="{FF2B5EF4-FFF2-40B4-BE49-F238E27FC236}">
                <a16:creationId xmlns:a16="http://schemas.microsoft.com/office/drawing/2014/main" id="{6D70FE42-0510-4EDE-8D92-48C3F113E922}"/>
              </a:ext>
            </a:extLst>
          </p:cNvPr>
          <p:cNvSpPr/>
          <p:nvPr/>
        </p:nvSpPr>
        <p:spPr>
          <a:xfrm>
            <a:off x="6528048" y="4436808"/>
            <a:ext cx="4781857" cy="216328"/>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Down 9">
            <a:extLst>
              <a:ext uri="{FF2B5EF4-FFF2-40B4-BE49-F238E27FC236}">
                <a16:creationId xmlns:a16="http://schemas.microsoft.com/office/drawing/2014/main" id="{3DFF0151-B6B0-4158-AE65-E3C5472B2805}"/>
              </a:ext>
            </a:extLst>
          </p:cNvPr>
          <p:cNvSpPr/>
          <p:nvPr/>
        </p:nvSpPr>
        <p:spPr>
          <a:xfrm rot="8349530">
            <a:off x="6243921" y="4131824"/>
            <a:ext cx="397965" cy="441039"/>
          </a:xfrm>
          <a:prstGeom prst="down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27974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6168008" y="2133464"/>
            <a:ext cx="5267662" cy="2736304"/>
          </a:xfrm>
          <a:prstGeom prst="rect">
            <a:avLst/>
          </a:prstGeom>
        </p:spPr>
      </p:pic>
      <p:sp>
        <p:nvSpPr>
          <p:cNvPr id="2" name="Title 1"/>
          <p:cNvSpPr>
            <a:spLocks noGrp="1"/>
          </p:cNvSpPr>
          <p:nvPr>
            <p:ph type="title"/>
          </p:nvPr>
        </p:nvSpPr>
        <p:spPr/>
        <p:txBody>
          <a:bodyPr/>
          <a:lstStyle/>
          <a:p>
            <a:r>
              <a:rPr lang="en-GB" dirty="0"/>
              <a:t>Bayes A</a:t>
            </a:r>
          </a:p>
        </p:txBody>
      </p:sp>
      <p:sp>
        <p:nvSpPr>
          <p:cNvPr id="3" name="Content Placeholder 2"/>
          <p:cNvSpPr>
            <a:spLocks noGrp="1"/>
          </p:cNvSpPr>
          <p:nvPr>
            <p:ph idx="1"/>
          </p:nvPr>
        </p:nvSpPr>
        <p:spPr/>
        <p:txBody>
          <a:bodyPr/>
          <a:lstStyle/>
          <a:p>
            <a:r>
              <a:rPr lang="en-GB" dirty="0"/>
              <a:t>Assume each SNP locus has a </a:t>
            </a:r>
            <a:r>
              <a:rPr lang="en-GB" i="1" dirty="0" err="1"/>
              <a:t>b</a:t>
            </a:r>
            <a:r>
              <a:rPr lang="en-GB" i="1" baseline="-25000" dirty="0" err="1"/>
              <a:t>j</a:t>
            </a:r>
            <a:endParaRPr lang="en-GB" i="1" dirty="0"/>
          </a:p>
          <a:p>
            <a:pPr lvl="1"/>
            <a:r>
              <a:rPr lang="en-GB" b="1" dirty="0"/>
              <a:t>y</a:t>
            </a:r>
            <a:r>
              <a:rPr lang="en-GB" dirty="0"/>
              <a:t> ~ </a:t>
            </a:r>
            <a:r>
              <a:rPr lang="en-GB" b="1" dirty="0"/>
              <a:t>1</a:t>
            </a:r>
            <a:r>
              <a:rPr lang="en-GB" dirty="0"/>
              <a:t>m + </a:t>
            </a:r>
            <a:r>
              <a:rPr lang="en-GB" b="1" dirty="0" err="1"/>
              <a:t>Xb</a:t>
            </a:r>
            <a:r>
              <a:rPr lang="en-GB" dirty="0"/>
              <a:t> + </a:t>
            </a:r>
            <a:r>
              <a:rPr lang="en-GB" b="1" dirty="0"/>
              <a:t>e </a:t>
            </a:r>
            <a:r>
              <a:rPr lang="en-GB" dirty="0"/>
              <a:t>as before</a:t>
            </a:r>
          </a:p>
          <a:p>
            <a:pPr lvl="1"/>
            <a:r>
              <a:rPr lang="en-GB" dirty="0" err="1"/>
              <a:t>b</a:t>
            </a:r>
            <a:r>
              <a:rPr lang="en-GB" baseline="-25000" dirty="0" err="1"/>
              <a:t>j</a:t>
            </a:r>
            <a:r>
              <a:rPr lang="en-GB" dirty="0"/>
              <a:t> now come from t-distribution</a:t>
            </a:r>
          </a:p>
          <a:p>
            <a:pPr lvl="2"/>
            <a:r>
              <a:rPr lang="en-GB" dirty="0"/>
              <a:t>not from N(0,</a:t>
            </a:r>
            <a:r>
              <a:rPr lang="el-GR" dirty="0"/>
              <a:t>σ</a:t>
            </a:r>
            <a:r>
              <a:rPr lang="en-GB" baseline="-25000" dirty="0"/>
              <a:t>b</a:t>
            </a:r>
            <a:r>
              <a:rPr lang="en-GB" baseline="30000" dirty="0"/>
              <a:t>2</a:t>
            </a:r>
            <a:r>
              <a:rPr lang="en-GB" dirty="0"/>
              <a:t>)</a:t>
            </a:r>
          </a:p>
          <a:p>
            <a:pPr lvl="1"/>
            <a:endParaRPr lang="en-GB" dirty="0"/>
          </a:p>
          <a:p>
            <a:pPr lvl="1"/>
            <a:endParaRPr lang="en-GB" dirty="0"/>
          </a:p>
          <a:p>
            <a:pPr lvl="1"/>
            <a:endParaRPr lang="en-GB" dirty="0"/>
          </a:p>
          <a:p>
            <a:pPr lvl="1"/>
            <a:r>
              <a:rPr lang="en-GB" dirty="0">
                <a:solidFill>
                  <a:srgbClr val="FF0000"/>
                </a:solidFill>
              </a:rPr>
              <a:t>t-distribution</a:t>
            </a:r>
            <a:r>
              <a:rPr lang="en-GB" dirty="0"/>
              <a:t> has ‘heavier tails’</a:t>
            </a:r>
          </a:p>
          <a:p>
            <a:pPr lvl="2"/>
            <a:r>
              <a:rPr lang="en-GB" dirty="0"/>
              <a:t>‘shrinks small effects more than Normal’</a:t>
            </a:r>
          </a:p>
          <a:p>
            <a:pPr lvl="2"/>
            <a:r>
              <a:rPr lang="en-GB" dirty="0"/>
              <a:t>‘shrinks large effects less than Normal’</a:t>
            </a:r>
          </a:p>
          <a:p>
            <a:pPr marL="0" indent="0">
              <a:buNone/>
            </a:pPr>
            <a:endParaRPr lang="en-GB" dirty="0"/>
          </a:p>
        </p:txBody>
      </p:sp>
      <p:sp>
        <p:nvSpPr>
          <p:cNvPr id="4" name="Date Placeholder 3"/>
          <p:cNvSpPr>
            <a:spLocks noGrp="1"/>
          </p:cNvSpPr>
          <p:nvPr>
            <p:ph type="dt" sz="half" idx="10"/>
          </p:nvPr>
        </p:nvSpPr>
        <p:spPr/>
        <p:txBody>
          <a:bodyPr/>
          <a:lstStyle/>
          <a:p>
            <a:fld id="{D1CAA19B-2798-4C66-B6A3-81FFD62FF6BD}"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pic>
        <p:nvPicPr>
          <p:cNvPr id="8" name="Picture 7">
            <a:extLst>
              <a:ext uri="{FF2B5EF4-FFF2-40B4-BE49-F238E27FC236}">
                <a16:creationId xmlns:a16="http://schemas.microsoft.com/office/drawing/2014/main" id="{BADD0B2C-FCBC-4984-8A27-BD53BB7ECD9C}"/>
              </a:ext>
            </a:extLst>
          </p:cNvPr>
          <p:cNvPicPr>
            <a:picLocks/>
          </p:cNvPicPr>
          <p:nvPr/>
        </p:nvPicPr>
        <p:blipFill>
          <a:blip r:embed="rId3"/>
          <a:stretch>
            <a:fillRect/>
          </a:stretch>
        </p:blipFill>
        <p:spPr>
          <a:xfrm>
            <a:off x="2279576" y="1700808"/>
            <a:ext cx="5266800" cy="2736000"/>
          </a:xfrm>
          <a:prstGeom prst="rect">
            <a:avLst/>
          </a:prstGeom>
        </p:spPr>
      </p:pic>
      <p:sp>
        <p:nvSpPr>
          <p:cNvPr id="9" name="Rectangle 8">
            <a:extLst>
              <a:ext uri="{FF2B5EF4-FFF2-40B4-BE49-F238E27FC236}">
                <a16:creationId xmlns:a16="http://schemas.microsoft.com/office/drawing/2014/main" id="{6D70FE42-0510-4EDE-8D92-48C3F113E922}"/>
              </a:ext>
            </a:extLst>
          </p:cNvPr>
          <p:cNvSpPr/>
          <p:nvPr/>
        </p:nvSpPr>
        <p:spPr>
          <a:xfrm>
            <a:off x="6528048" y="4436808"/>
            <a:ext cx="4781857" cy="216328"/>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Down 9">
            <a:extLst>
              <a:ext uri="{FF2B5EF4-FFF2-40B4-BE49-F238E27FC236}">
                <a16:creationId xmlns:a16="http://schemas.microsoft.com/office/drawing/2014/main" id="{3DFF0151-B6B0-4158-AE65-E3C5472B2805}"/>
              </a:ext>
            </a:extLst>
          </p:cNvPr>
          <p:cNvSpPr/>
          <p:nvPr/>
        </p:nvSpPr>
        <p:spPr>
          <a:xfrm rot="8349530">
            <a:off x="6243921" y="4131824"/>
            <a:ext cx="397965" cy="441039"/>
          </a:xfrm>
          <a:prstGeom prst="down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9BF5E286-79FD-488A-8F6D-FF16A0BEB6B9}"/>
              </a:ext>
            </a:extLst>
          </p:cNvPr>
          <p:cNvSpPr txBox="1"/>
          <p:nvPr/>
        </p:nvSpPr>
        <p:spPr>
          <a:xfrm rot="497083">
            <a:off x="6880574" y="5214816"/>
            <a:ext cx="4540267" cy="646331"/>
          </a:xfrm>
          <a:prstGeom prst="rect">
            <a:avLst/>
          </a:prstGeom>
          <a:solidFill>
            <a:srgbClr val="FFC000"/>
          </a:solidFill>
        </p:spPr>
        <p:txBody>
          <a:bodyPr wrap="square" rtlCol="0">
            <a:spAutoFit/>
          </a:bodyPr>
          <a:lstStyle/>
          <a:p>
            <a:pPr algn="ctr"/>
            <a:r>
              <a:rPr lang="en-GB" dirty="0"/>
              <a:t>Kurtosis: platykurtic (light-tailed) or leptokurtic (heavy-tailed) c.f. Normal </a:t>
            </a:r>
          </a:p>
        </p:txBody>
      </p:sp>
    </p:spTree>
    <p:extLst>
      <p:ext uri="{BB962C8B-B14F-4D97-AF65-F5344CB8AC3E}">
        <p14:creationId xmlns:p14="http://schemas.microsoft.com/office/powerpoint/2010/main" val="2041913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Bayes B</a:t>
            </a:r>
          </a:p>
        </p:txBody>
      </p:sp>
      <p:sp>
        <p:nvSpPr>
          <p:cNvPr id="3" name="Content Placeholder 2"/>
          <p:cNvSpPr>
            <a:spLocks noGrp="1"/>
          </p:cNvSpPr>
          <p:nvPr>
            <p:ph idx="1"/>
          </p:nvPr>
        </p:nvSpPr>
        <p:spPr/>
        <p:txBody>
          <a:bodyPr/>
          <a:lstStyle/>
          <a:p>
            <a:r>
              <a:rPr lang="en-GB" dirty="0"/>
              <a:t>Assume some SNP have </a:t>
            </a:r>
            <a:r>
              <a:rPr lang="en-GB" u="sng" dirty="0"/>
              <a:t>no</a:t>
            </a:r>
            <a:r>
              <a:rPr lang="en-GB" dirty="0"/>
              <a:t> effect</a:t>
            </a:r>
          </a:p>
          <a:p>
            <a:pPr lvl="1"/>
            <a:r>
              <a:rPr lang="en-GB" dirty="0"/>
              <a:t>say fraction </a:t>
            </a:r>
            <a:r>
              <a:rPr lang="el-GR" i="1" dirty="0"/>
              <a:t>π</a:t>
            </a:r>
            <a:r>
              <a:rPr lang="en-GB" dirty="0"/>
              <a:t>, pre-determined</a:t>
            </a:r>
          </a:p>
          <a:p>
            <a:r>
              <a:rPr lang="en-GB" dirty="0"/>
              <a:t>Other (1-</a:t>
            </a:r>
            <a:r>
              <a:rPr lang="el-GR" i="1" dirty="0"/>
              <a:t>π</a:t>
            </a:r>
            <a:r>
              <a:rPr lang="en-GB" dirty="0"/>
              <a:t>) have effects</a:t>
            </a:r>
          </a:p>
          <a:p>
            <a:pPr lvl="1"/>
            <a:r>
              <a:rPr lang="en-GB" dirty="0"/>
              <a:t>distributed as Bayes A with scaled t-distribution</a:t>
            </a:r>
            <a:endParaRPr lang="en-GB" i="1" dirty="0"/>
          </a:p>
          <a:p>
            <a:endParaRPr lang="en-GB" dirty="0"/>
          </a:p>
        </p:txBody>
      </p:sp>
      <p:sp>
        <p:nvSpPr>
          <p:cNvPr id="4" name="Date Placeholder 3"/>
          <p:cNvSpPr>
            <a:spLocks noGrp="1"/>
          </p:cNvSpPr>
          <p:nvPr>
            <p:ph type="dt" sz="half" idx="10"/>
          </p:nvPr>
        </p:nvSpPr>
        <p:spPr/>
        <p:txBody>
          <a:bodyPr/>
          <a:lstStyle/>
          <a:p>
            <a:fld id="{8B777F6C-FEE3-4E4E-B879-D16FA29AEADB}"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4108370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Bayes C</a:t>
            </a:r>
          </a:p>
        </p:txBody>
      </p:sp>
      <p:sp>
        <p:nvSpPr>
          <p:cNvPr id="3" name="Content Placeholder 2"/>
          <p:cNvSpPr>
            <a:spLocks noGrp="1"/>
          </p:cNvSpPr>
          <p:nvPr>
            <p:ph idx="1"/>
          </p:nvPr>
        </p:nvSpPr>
        <p:spPr/>
        <p:txBody>
          <a:bodyPr/>
          <a:lstStyle/>
          <a:p>
            <a:r>
              <a:rPr lang="en-GB" dirty="0"/>
              <a:t>Assume some SNP have </a:t>
            </a:r>
            <a:r>
              <a:rPr lang="en-GB" u="sng" dirty="0"/>
              <a:t>no</a:t>
            </a:r>
            <a:r>
              <a:rPr lang="en-GB" dirty="0"/>
              <a:t> effect</a:t>
            </a:r>
          </a:p>
          <a:p>
            <a:pPr lvl="1"/>
            <a:r>
              <a:rPr lang="en-GB" dirty="0"/>
              <a:t>say fraction </a:t>
            </a:r>
            <a:r>
              <a:rPr lang="el-GR" i="1" dirty="0"/>
              <a:t>π</a:t>
            </a:r>
            <a:r>
              <a:rPr lang="en-GB" dirty="0"/>
              <a:t>, pre-determined</a:t>
            </a:r>
          </a:p>
          <a:p>
            <a:r>
              <a:rPr lang="en-GB" dirty="0"/>
              <a:t>Other (1-</a:t>
            </a:r>
            <a:r>
              <a:rPr lang="el-GR" i="1" dirty="0"/>
              <a:t>π</a:t>
            </a:r>
            <a:r>
              <a:rPr lang="en-GB" dirty="0"/>
              <a:t>) have effects</a:t>
            </a:r>
          </a:p>
          <a:p>
            <a:pPr lvl="1"/>
            <a:r>
              <a:rPr lang="en-GB" dirty="0"/>
              <a:t>distributed as Normal</a:t>
            </a:r>
          </a:p>
          <a:p>
            <a:pPr lvl="1"/>
            <a:r>
              <a:rPr lang="en-GB" dirty="0"/>
              <a:t>i.e. NOT t-distribution</a:t>
            </a:r>
          </a:p>
          <a:p>
            <a:endParaRPr lang="en-GB" dirty="0"/>
          </a:p>
        </p:txBody>
      </p:sp>
      <p:sp>
        <p:nvSpPr>
          <p:cNvPr id="4" name="Date Placeholder 3"/>
          <p:cNvSpPr>
            <a:spLocks noGrp="1"/>
          </p:cNvSpPr>
          <p:nvPr>
            <p:ph type="dt" sz="half" idx="10"/>
          </p:nvPr>
        </p:nvSpPr>
        <p:spPr/>
        <p:txBody>
          <a:bodyPr/>
          <a:lstStyle/>
          <a:p>
            <a:fld id="{8B777F6C-FEE3-4E4E-B879-D16FA29AEADB}"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555884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Bayes C</a:t>
            </a:r>
            <a:r>
              <a:rPr lang="el-GR" dirty="0"/>
              <a:t>π</a:t>
            </a:r>
            <a:endParaRPr lang="en-GB" dirty="0"/>
          </a:p>
        </p:txBody>
      </p:sp>
      <p:sp>
        <p:nvSpPr>
          <p:cNvPr id="3" name="Content Placeholder 2"/>
          <p:cNvSpPr>
            <a:spLocks noGrp="1"/>
          </p:cNvSpPr>
          <p:nvPr>
            <p:ph idx="1"/>
          </p:nvPr>
        </p:nvSpPr>
        <p:spPr/>
        <p:txBody>
          <a:bodyPr/>
          <a:lstStyle/>
          <a:p>
            <a:r>
              <a:rPr lang="en-GB" dirty="0"/>
              <a:t>Assume some SNP have </a:t>
            </a:r>
            <a:r>
              <a:rPr lang="en-GB" u="sng" dirty="0"/>
              <a:t>no</a:t>
            </a:r>
            <a:r>
              <a:rPr lang="en-GB" dirty="0"/>
              <a:t> effect</a:t>
            </a:r>
          </a:p>
          <a:p>
            <a:pPr lvl="1"/>
            <a:r>
              <a:rPr lang="en-GB" dirty="0"/>
              <a:t>say fraction </a:t>
            </a:r>
            <a:r>
              <a:rPr lang="el-GR" i="1" dirty="0"/>
              <a:t>π</a:t>
            </a:r>
            <a:endParaRPr lang="en-GB" i="1" dirty="0"/>
          </a:p>
          <a:p>
            <a:pPr lvl="1"/>
            <a:r>
              <a:rPr lang="el-GR" i="1" dirty="0"/>
              <a:t>π</a:t>
            </a:r>
            <a:r>
              <a:rPr lang="en-GB" i="1" dirty="0"/>
              <a:t> ~ </a:t>
            </a:r>
            <a:r>
              <a:rPr lang="en-GB" dirty="0"/>
              <a:t>Uniform[0,1]</a:t>
            </a:r>
          </a:p>
          <a:p>
            <a:pPr lvl="2"/>
            <a:r>
              <a:rPr lang="en-GB" dirty="0"/>
              <a:t>i.e. estimate </a:t>
            </a:r>
            <a:r>
              <a:rPr lang="el-GR" i="1" dirty="0"/>
              <a:t>π</a:t>
            </a:r>
            <a:endParaRPr lang="en-GB" dirty="0"/>
          </a:p>
          <a:p>
            <a:r>
              <a:rPr lang="en-GB" dirty="0"/>
              <a:t>Other (1-</a:t>
            </a:r>
            <a:r>
              <a:rPr lang="el-GR" i="1" dirty="0"/>
              <a:t>π</a:t>
            </a:r>
            <a:r>
              <a:rPr lang="en-GB" dirty="0"/>
              <a:t>) have effects</a:t>
            </a:r>
          </a:p>
          <a:p>
            <a:pPr lvl="1"/>
            <a:r>
              <a:rPr lang="en-GB" dirty="0"/>
              <a:t>distributed as Normal</a:t>
            </a:r>
          </a:p>
          <a:p>
            <a:pPr lvl="1"/>
            <a:r>
              <a:rPr lang="en-GB" dirty="0"/>
              <a:t>i.e. NOT t-distribution</a:t>
            </a:r>
          </a:p>
          <a:p>
            <a:endParaRPr lang="en-GB" dirty="0"/>
          </a:p>
        </p:txBody>
      </p:sp>
      <p:sp>
        <p:nvSpPr>
          <p:cNvPr id="4" name="Date Placeholder 3"/>
          <p:cNvSpPr>
            <a:spLocks noGrp="1"/>
          </p:cNvSpPr>
          <p:nvPr>
            <p:ph type="dt" sz="half" idx="10"/>
          </p:nvPr>
        </p:nvSpPr>
        <p:spPr/>
        <p:txBody>
          <a:bodyPr/>
          <a:lstStyle/>
          <a:p>
            <a:fld id="{8B777F6C-FEE3-4E4E-B879-D16FA29AEADB}"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3451778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Bayesian Alphabet</a:t>
            </a:r>
          </a:p>
        </p:txBody>
      </p:sp>
      <p:sp>
        <p:nvSpPr>
          <p:cNvPr id="3" name="Content Placeholder 2"/>
          <p:cNvSpPr>
            <a:spLocks noGrp="1"/>
          </p:cNvSpPr>
          <p:nvPr>
            <p:ph idx="1"/>
          </p:nvPr>
        </p:nvSpPr>
        <p:spPr/>
        <p:txBody>
          <a:bodyPr/>
          <a:lstStyle/>
          <a:p>
            <a:r>
              <a:rPr lang="en-GB" dirty="0"/>
              <a:t>Such models have proliferated!</a:t>
            </a:r>
          </a:p>
          <a:p>
            <a:pPr lvl="1"/>
            <a:r>
              <a:rPr lang="en-GB" dirty="0"/>
              <a:t>e.g. </a:t>
            </a:r>
            <a:r>
              <a:rPr lang="en-GB" dirty="0">
                <a:solidFill>
                  <a:schemeClr val="accent2"/>
                </a:solidFill>
              </a:rPr>
              <a:t>Laplace</a:t>
            </a:r>
            <a:r>
              <a:rPr lang="en-GB" dirty="0"/>
              <a:t> </a:t>
            </a:r>
            <a:r>
              <a:rPr lang="en-GB" dirty="0">
                <a:solidFill>
                  <a:schemeClr val="accent2"/>
                </a:solidFill>
              </a:rPr>
              <a:t>… </a:t>
            </a:r>
          </a:p>
          <a:p>
            <a:pPr lvl="1"/>
            <a:endParaRPr lang="en-GB" dirty="0"/>
          </a:p>
          <a:p>
            <a:pPr lvl="1"/>
            <a:endParaRPr lang="en-GB" dirty="0"/>
          </a:p>
          <a:p>
            <a:endParaRPr lang="en-GB" dirty="0"/>
          </a:p>
          <a:p>
            <a:endParaRPr lang="en-GB" dirty="0"/>
          </a:p>
          <a:p>
            <a:r>
              <a:rPr lang="en-GB" dirty="0"/>
              <a:t>Common theme</a:t>
            </a:r>
          </a:p>
          <a:p>
            <a:pPr lvl="1"/>
            <a:r>
              <a:rPr lang="en-GB" dirty="0"/>
              <a:t>reduce shrinkage of apparently large effects</a:t>
            </a:r>
          </a:p>
          <a:p>
            <a:pPr lvl="1"/>
            <a:r>
              <a:rPr lang="en-GB" dirty="0"/>
              <a:t>QTL hypothesis</a:t>
            </a:r>
          </a:p>
        </p:txBody>
      </p:sp>
      <p:sp>
        <p:nvSpPr>
          <p:cNvPr id="4" name="Date Placeholder 3"/>
          <p:cNvSpPr>
            <a:spLocks noGrp="1"/>
          </p:cNvSpPr>
          <p:nvPr>
            <p:ph type="dt" sz="half" idx="10"/>
          </p:nvPr>
        </p:nvSpPr>
        <p:spPr/>
        <p:txBody>
          <a:bodyPr/>
          <a:lstStyle/>
          <a:p>
            <a:fld id="{8B777F6C-FEE3-4E4E-B879-D16FA29AEADB}"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pic>
        <p:nvPicPr>
          <p:cNvPr id="7" name="Picture 6"/>
          <p:cNvPicPr>
            <a:picLocks noChangeAspect="1"/>
          </p:cNvPicPr>
          <p:nvPr/>
        </p:nvPicPr>
        <p:blipFill>
          <a:blip r:embed="rId2"/>
          <a:stretch>
            <a:fillRect/>
          </a:stretch>
        </p:blipFill>
        <p:spPr>
          <a:xfrm>
            <a:off x="3288000" y="2559601"/>
            <a:ext cx="3495600" cy="1931211"/>
          </a:xfrm>
          <a:prstGeom prst="rect">
            <a:avLst/>
          </a:prstGeom>
        </p:spPr>
      </p:pic>
      <p:pic>
        <p:nvPicPr>
          <p:cNvPr id="6" name="Picture 5"/>
          <p:cNvPicPr>
            <a:picLocks noChangeAspect="1"/>
          </p:cNvPicPr>
          <p:nvPr/>
        </p:nvPicPr>
        <p:blipFill>
          <a:blip r:embed="rId3"/>
          <a:stretch>
            <a:fillRect/>
          </a:stretch>
        </p:blipFill>
        <p:spPr>
          <a:xfrm>
            <a:off x="5512801" y="1810800"/>
            <a:ext cx="5103515" cy="2808000"/>
          </a:xfrm>
          <a:prstGeom prst="rect">
            <a:avLst/>
          </a:prstGeom>
        </p:spPr>
      </p:pic>
      <p:cxnSp>
        <p:nvCxnSpPr>
          <p:cNvPr id="9" name="Straight Arrow Connector 8">
            <a:extLst>
              <a:ext uri="{FF2B5EF4-FFF2-40B4-BE49-F238E27FC236}">
                <a16:creationId xmlns:a16="http://schemas.microsoft.com/office/drawing/2014/main" id="{DD743ACC-5FBF-4F32-BF15-E9EF80151083}"/>
              </a:ext>
            </a:extLst>
          </p:cNvPr>
          <p:cNvCxnSpPr/>
          <p:nvPr/>
        </p:nvCxnSpPr>
        <p:spPr>
          <a:xfrm>
            <a:off x="3719736" y="2060848"/>
            <a:ext cx="4306664" cy="432048"/>
          </a:xfrm>
          <a:prstGeom prst="straightConnector1">
            <a:avLst/>
          </a:prstGeom>
          <a:ln w="603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5776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Bayes Alphabet</a:t>
            </a:r>
          </a:p>
        </p:txBody>
      </p:sp>
      <p:sp>
        <p:nvSpPr>
          <p:cNvPr id="3" name="Content Placeholder 2"/>
          <p:cNvSpPr>
            <a:spLocks noGrp="1"/>
          </p:cNvSpPr>
          <p:nvPr>
            <p:ph idx="1"/>
          </p:nvPr>
        </p:nvSpPr>
        <p:spPr/>
        <p:txBody>
          <a:bodyPr/>
          <a:lstStyle/>
          <a:p>
            <a:r>
              <a:rPr lang="en-GB" dirty="0"/>
              <a:t>Now have </a:t>
            </a:r>
            <a:r>
              <a:rPr lang="en-GB" u="sng" dirty="0"/>
              <a:t>priors</a:t>
            </a:r>
            <a:r>
              <a:rPr lang="en-GB" dirty="0"/>
              <a:t> on</a:t>
            </a:r>
          </a:p>
          <a:p>
            <a:pPr lvl="1"/>
            <a:r>
              <a:rPr lang="en-GB" dirty="0"/>
              <a:t>fractions of marker loci having an effect</a:t>
            </a:r>
          </a:p>
          <a:p>
            <a:pPr lvl="1"/>
            <a:r>
              <a:rPr lang="en-GB" dirty="0"/>
              <a:t>distributions of marker effects or variance</a:t>
            </a:r>
          </a:p>
          <a:p>
            <a:pPr lvl="1"/>
            <a:r>
              <a:rPr lang="en-GB" dirty="0"/>
              <a:t>forms of subset selection</a:t>
            </a:r>
          </a:p>
          <a:p>
            <a:pPr lvl="2"/>
            <a:r>
              <a:rPr lang="en-GB" dirty="0"/>
              <a:t>identifying subsets with small or large effects</a:t>
            </a:r>
          </a:p>
          <a:p>
            <a:r>
              <a:rPr lang="en-GB" dirty="0"/>
              <a:t>The priors on distributions result in shrinkage</a:t>
            </a:r>
          </a:p>
          <a:p>
            <a:pPr lvl="2"/>
            <a:r>
              <a:rPr lang="en-GB" dirty="0"/>
              <a:t>priors are random distributions on marker effects</a:t>
            </a:r>
          </a:p>
          <a:p>
            <a:pPr lvl="2"/>
            <a:r>
              <a:rPr lang="en-GB" dirty="0"/>
              <a:t>functional form of shrinkage depends on the prior</a:t>
            </a:r>
          </a:p>
        </p:txBody>
      </p:sp>
      <p:sp>
        <p:nvSpPr>
          <p:cNvPr id="4" name="Date Placeholder 3"/>
          <p:cNvSpPr>
            <a:spLocks noGrp="1"/>
          </p:cNvSpPr>
          <p:nvPr>
            <p:ph type="dt" sz="half" idx="10"/>
          </p:nvPr>
        </p:nvSpPr>
        <p:spPr/>
        <p:txBody>
          <a:bodyPr/>
          <a:lstStyle/>
          <a:p>
            <a:fld id="{AE0961B7-864B-451A-A86E-F7FF87066CBF}"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1061924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Bayes Alphabet</a:t>
            </a:r>
          </a:p>
        </p:txBody>
      </p:sp>
      <p:sp>
        <p:nvSpPr>
          <p:cNvPr id="3" name="Content Placeholder 2"/>
          <p:cNvSpPr>
            <a:spLocks noGrp="1"/>
          </p:cNvSpPr>
          <p:nvPr>
            <p:ph idx="1"/>
          </p:nvPr>
        </p:nvSpPr>
        <p:spPr/>
        <p:txBody>
          <a:bodyPr/>
          <a:lstStyle/>
          <a:p>
            <a:r>
              <a:rPr lang="en-GB" dirty="0"/>
              <a:t>Models are simple to write down - but complex to solve!</a:t>
            </a:r>
          </a:p>
          <a:p>
            <a:r>
              <a:rPr lang="en-GB" dirty="0"/>
              <a:t>Use Monte Carlo Markov Chains</a:t>
            </a:r>
          </a:p>
          <a:p>
            <a:pPr lvl="1"/>
            <a:r>
              <a:rPr lang="en-GB" dirty="0"/>
              <a:t>MCMC</a:t>
            </a:r>
          </a:p>
          <a:p>
            <a:pPr lvl="1"/>
            <a:r>
              <a:rPr lang="en-GB" dirty="0"/>
              <a:t>can be applied if one can write down the conditional distributions </a:t>
            </a:r>
          </a:p>
        </p:txBody>
      </p:sp>
      <p:sp>
        <p:nvSpPr>
          <p:cNvPr id="4" name="Date Placeholder 3"/>
          <p:cNvSpPr>
            <a:spLocks noGrp="1"/>
          </p:cNvSpPr>
          <p:nvPr>
            <p:ph type="dt" sz="half" idx="10"/>
          </p:nvPr>
        </p:nvSpPr>
        <p:spPr/>
        <p:txBody>
          <a:bodyPr/>
          <a:lstStyle/>
          <a:p>
            <a:fld id="{6C697B8B-A4F5-476F-A680-8191BD338EC5}"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3487191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F46433-1264-4555-8BE1-8EC0184C33F6}" type="datetime4">
              <a:rPr lang="en-GB" smtClean="0"/>
              <a:t>12 February 2025</a:t>
            </a:fld>
            <a:endParaRPr lang="en-GB"/>
          </a:p>
        </p:txBody>
      </p:sp>
      <p:sp>
        <p:nvSpPr>
          <p:cNvPr id="3" name="Footer Placeholder 2"/>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22411707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67E3EDE-3533-4CFC-A23C-4BCC24CED6D7}"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
        <p:nvSpPr>
          <p:cNvPr id="388098" name="Rectangle 2"/>
          <p:cNvSpPr>
            <a:spLocks noGrp="1" noChangeArrowheads="1"/>
          </p:cNvSpPr>
          <p:nvPr>
            <p:ph type="ctrTitle"/>
          </p:nvPr>
        </p:nvSpPr>
        <p:spPr>
          <a:xfrm>
            <a:off x="2209800" y="2286000"/>
            <a:ext cx="7772400" cy="1143000"/>
          </a:xfrm>
        </p:spPr>
        <p:txBody>
          <a:bodyPr/>
          <a:lstStyle/>
          <a:p>
            <a:r>
              <a:rPr lang="en-GB" dirty="0"/>
              <a:t>… Lecture 10 …</a:t>
            </a:r>
            <a:br>
              <a:rPr lang="en-GB" dirty="0"/>
            </a:br>
            <a:r>
              <a:rPr lang="en-GB" dirty="0"/>
              <a:t>Mainly MCMC Models</a:t>
            </a:r>
          </a:p>
        </p:txBody>
      </p:sp>
      <p:sp>
        <p:nvSpPr>
          <p:cNvPr id="388099" name="Rectangle 3"/>
          <p:cNvSpPr>
            <a:spLocks noGrp="1" noChangeArrowheads="1"/>
          </p:cNvSpPr>
          <p:nvPr>
            <p:ph type="subTitle" idx="1"/>
          </p:nvPr>
        </p:nvSpPr>
        <p:spPr>
          <a:ln/>
        </p:spPr>
        <p:txBody>
          <a:bodyPr/>
          <a:lstStyle/>
          <a:p>
            <a:r>
              <a:rPr lang="en-US" dirty="0"/>
              <a:t>Part 2: </a:t>
            </a:r>
          </a:p>
          <a:p>
            <a:r>
              <a:rPr lang="en-US" dirty="0"/>
              <a:t>‘The Cat at Christmas’ or ‘It’s a Cat’s Life’</a:t>
            </a:r>
          </a:p>
        </p:txBody>
      </p:sp>
    </p:spTree>
    <p:extLst>
      <p:ext uri="{BB962C8B-B14F-4D97-AF65-F5344CB8AC3E}">
        <p14:creationId xmlns:p14="http://schemas.microsoft.com/office/powerpoint/2010/main" val="1702349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85" y="269875"/>
            <a:ext cx="11713633" cy="927100"/>
          </a:xfrm>
        </p:spPr>
        <p:txBody>
          <a:bodyPr/>
          <a:lstStyle/>
          <a:p>
            <a:r>
              <a:rPr lang="en-GB" dirty="0"/>
              <a:t>Markov Chain Example</a:t>
            </a:r>
          </a:p>
        </p:txBody>
      </p:sp>
      <p:sp>
        <p:nvSpPr>
          <p:cNvPr id="3" name="Content Placeholder 2"/>
          <p:cNvSpPr>
            <a:spLocks noGrp="1"/>
          </p:cNvSpPr>
          <p:nvPr>
            <p:ph idx="1"/>
          </p:nvPr>
        </p:nvSpPr>
        <p:spPr>
          <a:xfrm>
            <a:off x="239185" y="1196976"/>
            <a:ext cx="11713633" cy="4968875"/>
          </a:xfrm>
        </p:spPr>
        <p:txBody>
          <a:bodyPr/>
          <a:lstStyle/>
          <a:p>
            <a:r>
              <a:rPr lang="en-GB" dirty="0"/>
              <a:t>Suppose I have a cat</a:t>
            </a:r>
          </a:p>
          <a:p>
            <a:pPr lvl="1"/>
            <a:r>
              <a:rPr lang="en-GB" dirty="0"/>
              <a:t>cat is either indoors or outdoors all day &amp; night</a:t>
            </a:r>
          </a:p>
          <a:p>
            <a:pPr lvl="1"/>
            <a:r>
              <a:rPr lang="en-GB" dirty="0"/>
              <a:t>cat may move indoors/outdoors only when I leave for work and remains until next morning</a:t>
            </a:r>
          </a:p>
          <a:p>
            <a:pPr lvl="1"/>
            <a:r>
              <a:rPr lang="en-GB" dirty="0"/>
              <a:t>what happens depends on where I find the cat</a:t>
            </a:r>
          </a:p>
          <a:p>
            <a:pPr lvl="1"/>
            <a:r>
              <a:rPr lang="en-GB" dirty="0"/>
              <a:t>the transitions are constant over time</a:t>
            </a:r>
          </a:p>
          <a:p>
            <a:pPr lvl="1"/>
            <a:endParaRPr lang="en-GB" dirty="0"/>
          </a:p>
        </p:txBody>
      </p:sp>
      <p:sp>
        <p:nvSpPr>
          <p:cNvPr id="4" name="Date Placeholder 3"/>
          <p:cNvSpPr>
            <a:spLocks noGrp="1"/>
          </p:cNvSpPr>
          <p:nvPr>
            <p:ph type="dt" sz="half" idx="10"/>
          </p:nvPr>
        </p:nvSpPr>
        <p:spPr>
          <a:xfrm>
            <a:off x="914400" y="6248400"/>
            <a:ext cx="2540000" cy="457200"/>
          </a:xfrm>
        </p:spPr>
        <p:txBody>
          <a:bodyPr/>
          <a:lstStyle/>
          <a:p>
            <a:fld id="{C8CC1BB5-6085-4FD7-B7D9-4936EBAEE328}" type="datetime4">
              <a:rPr lang="en-GB" smtClean="0"/>
              <a:pPr/>
              <a:t>12 February 2025</a:t>
            </a:fld>
            <a:endParaRPr lang="en-GB"/>
          </a:p>
        </p:txBody>
      </p:sp>
      <p:sp>
        <p:nvSpPr>
          <p:cNvPr id="5" name="Footer Placeholder 4"/>
          <p:cNvSpPr>
            <a:spLocks noGrp="1"/>
          </p:cNvSpPr>
          <p:nvPr>
            <p:ph type="ftr" sz="quarter" idx="11"/>
          </p:nvPr>
        </p:nvSpPr>
        <p:spPr>
          <a:xfrm>
            <a:off x="4165600" y="6248400"/>
            <a:ext cx="3860800" cy="457200"/>
          </a:xfrm>
        </p:spPr>
        <p:txBody>
          <a:bodyPr/>
          <a:lstStyle/>
          <a:p>
            <a:r>
              <a:rPr lang="en-GB" dirty="0"/>
              <a:t>Lecture 10</a:t>
            </a:r>
          </a:p>
        </p:txBody>
      </p:sp>
      <p:graphicFrame>
        <p:nvGraphicFramePr>
          <p:cNvPr id="7" name="Content Placeholder 5"/>
          <p:cNvGraphicFramePr>
            <a:graphicFrameLocks/>
          </p:cNvGraphicFramePr>
          <p:nvPr/>
        </p:nvGraphicFramePr>
        <p:xfrm>
          <a:off x="1703512" y="4509120"/>
          <a:ext cx="8785224" cy="1483360"/>
        </p:xfrm>
        <a:graphic>
          <a:graphicData uri="http://schemas.openxmlformats.org/drawingml/2006/table">
            <a:tbl>
              <a:tblPr firstRow="1" firstCol="1" bandRow="1">
                <a:tableStyleId>{5C22544A-7EE6-4342-B048-85BDC9FD1C3A}</a:tableStyleId>
              </a:tblPr>
              <a:tblGrid>
                <a:gridCol w="2196306">
                  <a:extLst>
                    <a:ext uri="{9D8B030D-6E8A-4147-A177-3AD203B41FA5}">
                      <a16:colId xmlns:a16="http://schemas.microsoft.com/office/drawing/2014/main" val="20000"/>
                    </a:ext>
                  </a:extLst>
                </a:gridCol>
                <a:gridCol w="2196306">
                  <a:extLst>
                    <a:ext uri="{9D8B030D-6E8A-4147-A177-3AD203B41FA5}">
                      <a16:colId xmlns:a16="http://schemas.microsoft.com/office/drawing/2014/main" val="20001"/>
                    </a:ext>
                  </a:extLst>
                </a:gridCol>
                <a:gridCol w="2196306">
                  <a:extLst>
                    <a:ext uri="{9D8B030D-6E8A-4147-A177-3AD203B41FA5}">
                      <a16:colId xmlns:a16="http://schemas.microsoft.com/office/drawing/2014/main" val="20002"/>
                    </a:ext>
                  </a:extLst>
                </a:gridCol>
                <a:gridCol w="2196306">
                  <a:extLst>
                    <a:ext uri="{9D8B030D-6E8A-4147-A177-3AD203B41FA5}">
                      <a16:colId xmlns:a16="http://schemas.microsoft.com/office/drawing/2014/main" val="20003"/>
                    </a:ext>
                  </a:extLst>
                </a:gridCol>
              </a:tblGrid>
              <a:tr h="370840">
                <a:tc>
                  <a:txBody>
                    <a:bodyPr/>
                    <a:lstStyle/>
                    <a:p>
                      <a:endParaRPr lang="en-GB" dirty="0"/>
                    </a:p>
                  </a:txBody>
                  <a:tcPr/>
                </a:tc>
                <a:tc>
                  <a:txBody>
                    <a:bodyPr/>
                    <a:lstStyle/>
                    <a:p>
                      <a:endParaRPr lang="en-GB" dirty="0"/>
                    </a:p>
                  </a:txBody>
                  <a:tcPr/>
                </a:tc>
                <a:tc>
                  <a:txBody>
                    <a:bodyPr/>
                    <a:lstStyle/>
                    <a:p>
                      <a:r>
                        <a:rPr lang="en-GB" dirty="0"/>
                        <a:t>From</a:t>
                      </a:r>
                    </a:p>
                  </a:txBody>
                  <a:tcPr/>
                </a:tc>
                <a:tc>
                  <a:txBody>
                    <a:bodyPr/>
                    <a:lstStyle/>
                    <a:p>
                      <a:endParaRPr lang="en-GB" dirty="0"/>
                    </a:p>
                  </a:txBody>
                  <a:tcPr/>
                </a:tc>
                <a:extLst>
                  <a:ext uri="{0D108BD9-81ED-4DB2-BD59-A6C34878D82A}">
                    <a16:rowId xmlns:a16="http://schemas.microsoft.com/office/drawing/2014/main" val="10000"/>
                  </a:ext>
                </a:extLst>
              </a:tr>
              <a:tr h="370840">
                <a:tc>
                  <a:txBody>
                    <a:bodyPr/>
                    <a:lstStyle/>
                    <a:p>
                      <a:endParaRPr lang="en-GB" dirty="0"/>
                    </a:p>
                  </a:txBody>
                  <a:tcPr/>
                </a:tc>
                <a:tc>
                  <a:txBody>
                    <a:bodyPr/>
                    <a:lstStyle/>
                    <a:p>
                      <a:endParaRPr lang="en-GB" dirty="0"/>
                    </a:p>
                  </a:txBody>
                  <a:tcPr/>
                </a:tc>
                <a:tc>
                  <a:txBody>
                    <a:bodyPr/>
                    <a:lstStyle/>
                    <a:p>
                      <a:r>
                        <a:rPr lang="en-GB" dirty="0"/>
                        <a:t>Cat is Outside</a:t>
                      </a:r>
                    </a:p>
                  </a:txBody>
                  <a:tcPr/>
                </a:tc>
                <a:tc>
                  <a:txBody>
                    <a:bodyPr/>
                    <a:lstStyle/>
                    <a:p>
                      <a:r>
                        <a:rPr lang="en-GB" dirty="0"/>
                        <a:t>Cat is Inside</a:t>
                      </a:r>
                    </a:p>
                  </a:txBody>
                  <a:tcPr/>
                </a:tc>
                <a:extLst>
                  <a:ext uri="{0D108BD9-81ED-4DB2-BD59-A6C34878D82A}">
                    <a16:rowId xmlns:a16="http://schemas.microsoft.com/office/drawing/2014/main" val="10001"/>
                  </a:ext>
                </a:extLst>
              </a:tr>
              <a:tr h="370840">
                <a:tc>
                  <a:txBody>
                    <a:bodyPr/>
                    <a:lstStyle/>
                    <a:p>
                      <a:r>
                        <a:rPr lang="en-GB" dirty="0"/>
                        <a:t>To</a:t>
                      </a:r>
                    </a:p>
                  </a:txBody>
                  <a:tcPr/>
                </a:tc>
                <a:tc>
                  <a:txBody>
                    <a:bodyPr/>
                    <a:lstStyle/>
                    <a:p>
                      <a:r>
                        <a:rPr lang="en-GB" dirty="0"/>
                        <a:t>Cat is Outside</a:t>
                      </a:r>
                    </a:p>
                  </a:txBody>
                  <a:tcPr/>
                </a:tc>
                <a:tc>
                  <a:txBody>
                    <a:bodyPr/>
                    <a:lstStyle/>
                    <a:p>
                      <a:pPr algn="ctr"/>
                      <a:r>
                        <a:rPr lang="en-GB" dirty="0"/>
                        <a:t>0.8</a:t>
                      </a:r>
                    </a:p>
                  </a:txBody>
                  <a:tcPr/>
                </a:tc>
                <a:tc>
                  <a:txBody>
                    <a:bodyPr/>
                    <a:lstStyle/>
                    <a:p>
                      <a:pPr algn="ctr"/>
                      <a:r>
                        <a:rPr lang="en-GB" dirty="0"/>
                        <a:t>0.4</a:t>
                      </a:r>
                    </a:p>
                  </a:txBody>
                  <a:tcPr/>
                </a:tc>
                <a:extLst>
                  <a:ext uri="{0D108BD9-81ED-4DB2-BD59-A6C34878D82A}">
                    <a16:rowId xmlns:a16="http://schemas.microsoft.com/office/drawing/2014/main" val="10002"/>
                  </a:ext>
                </a:extLst>
              </a:tr>
              <a:tr h="370840">
                <a:tc>
                  <a:txBody>
                    <a:bodyPr/>
                    <a:lstStyle/>
                    <a:p>
                      <a:endParaRPr lang="en-GB"/>
                    </a:p>
                  </a:txBody>
                  <a:tcPr/>
                </a:tc>
                <a:tc>
                  <a:txBody>
                    <a:bodyPr/>
                    <a:lstStyle/>
                    <a:p>
                      <a:r>
                        <a:rPr lang="en-GB" dirty="0"/>
                        <a:t>Cat is Inside</a:t>
                      </a:r>
                    </a:p>
                  </a:txBody>
                  <a:tcPr/>
                </a:tc>
                <a:tc>
                  <a:txBody>
                    <a:bodyPr/>
                    <a:lstStyle/>
                    <a:p>
                      <a:pPr algn="ctr"/>
                      <a:r>
                        <a:rPr lang="en-GB" dirty="0"/>
                        <a:t>0.2</a:t>
                      </a:r>
                    </a:p>
                  </a:txBody>
                  <a:tcPr/>
                </a:tc>
                <a:tc>
                  <a:txBody>
                    <a:bodyPr/>
                    <a:lstStyle/>
                    <a:p>
                      <a:pPr algn="ctr"/>
                      <a:r>
                        <a:rPr lang="en-GB" dirty="0"/>
                        <a:t>0.6</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42029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85" y="269875"/>
            <a:ext cx="11713633" cy="927100"/>
          </a:xfrm>
        </p:spPr>
        <p:txBody>
          <a:bodyPr/>
          <a:lstStyle/>
          <a:p>
            <a:r>
              <a:rPr lang="en-GB" dirty="0"/>
              <a:t>Markov Chain Example</a:t>
            </a:r>
          </a:p>
        </p:txBody>
      </p:sp>
      <p:sp>
        <p:nvSpPr>
          <p:cNvPr id="3" name="Content Placeholder 2"/>
          <p:cNvSpPr>
            <a:spLocks noGrp="1"/>
          </p:cNvSpPr>
          <p:nvPr>
            <p:ph idx="1"/>
          </p:nvPr>
        </p:nvSpPr>
        <p:spPr>
          <a:xfrm>
            <a:off x="239185" y="1196976"/>
            <a:ext cx="11713633" cy="4968875"/>
          </a:xfrm>
        </p:spPr>
        <p:txBody>
          <a:bodyPr/>
          <a:lstStyle/>
          <a:p>
            <a:r>
              <a:rPr lang="en-GB" dirty="0"/>
              <a:t>I have defined the conditional distributions</a:t>
            </a:r>
          </a:p>
          <a:p>
            <a:pPr lvl="1"/>
            <a:r>
              <a:rPr lang="en-GB" dirty="0"/>
              <a:t>P[ Inside at t+1   │Inside at t ] = 0.6</a:t>
            </a:r>
          </a:p>
          <a:p>
            <a:pPr lvl="1"/>
            <a:r>
              <a:rPr lang="en-GB" dirty="0"/>
              <a:t>P[ Outside at t+1│Inside at t ] = 0.4</a:t>
            </a:r>
          </a:p>
          <a:p>
            <a:pPr lvl="1"/>
            <a:r>
              <a:rPr lang="en-GB" dirty="0"/>
              <a:t>can define conditional distribution if ‘Outside at t’</a:t>
            </a:r>
          </a:p>
          <a:p>
            <a:pPr lvl="1"/>
            <a:r>
              <a:rPr lang="en-GB" dirty="0"/>
              <a:t>i.e. given any current state I can define the full conditional distribution for moving to another</a:t>
            </a:r>
          </a:p>
          <a:p>
            <a:pPr lvl="1"/>
            <a:endParaRPr lang="en-GB" dirty="0"/>
          </a:p>
        </p:txBody>
      </p:sp>
      <p:sp>
        <p:nvSpPr>
          <p:cNvPr id="4" name="Date Placeholder 3"/>
          <p:cNvSpPr>
            <a:spLocks noGrp="1"/>
          </p:cNvSpPr>
          <p:nvPr>
            <p:ph type="dt" sz="half" idx="10"/>
          </p:nvPr>
        </p:nvSpPr>
        <p:spPr>
          <a:xfrm>
            <a:off x="914400" y="6248400"/>
            <a:ext cx="2540000" cy="457200"/>
          </a:xfrm>
        </p:spPr>
        <p:txBody>
          <a:bodyPr/>
          <a:lstStyle/>
          <a:p>
            <a:fld id="{DBBC3A99-B40A-4D68-AD0E-F7BDD3CF3F3C}" type="datetime4">
              <a:rPr lang="en-GB" smtClean="0"/>
              <a:pPr/>
              <a:t>12 February 2025</a:t>
            </a:fld>
            <a:endParaRPr lang="en-GB"/>
          </a:p>
        </p:txBody>
      </p:sp>
      <p:sp>
        <p:nvSpPr>
          <p:cNvPr id="5" name="Footer Placeholder 4"/>
          <p:cNvSpPr>
            <a:spLocks noGrp="1"/>
          </p:cNvSpPr>
          <p:nvPr>
            <p:ph type="ftr" sz="quarter" idx="11"/>
          </p:nvPr>
        </p:nvSpPr>
        <p:spPr>
          <a:xfrm>
            <a:off x="4165600" y="6248400"/>
            <a:ext cx="3860800" cy="457200"/>
          </a:xfrm>
        </p:spPr>
        <p:txBody>
          <a:bodyPr/>
          <a:lstStyle/>
          <a:p>
            <a:r>
              <a:rPr lang="en-GB" dirty="0"/>
              <a:t>Lecture 10</a:t>
            </a:r>
          </a:p>
        </p:txBody>
      </p:sp>
      <p:graphicFrame>
        <p:nvGraphicFramePr>
          <p:cNvPr id="7" name="Content Placeholder 5"/>
          <p:cNvGraphicFramePr>
            <a:graphicFrameLocks/>
          </p:cNvGraphicFramePr>
          <p:nvPr/>
        </p:nvGraphicFramePr>
        <p:xfrm>
          <a:off x="1703512" y="4509120"/>
          <a:ext cx="8785224" cy="1483360"/>
        </p:xfrm>
        <a:graphic>
          <a:graphicData uri="http://schemas.openxmlformats.org/drawingml/2006/table">
            <a:tbl>
              <a:tblPr firstRow="1" firstCol="1" bandRow="1">
                <a:tableStyleId>{5C22544A-7EE6-4342-B048-85BDC9FD1C3A}</a:tableStyleId>
              </a:tblPr>
              <a:tblGrid>
                <a:gridCol w="2196306">
                  <a:extLst>
                    <a:ext uri="{9D8B030D-6E8A-4147-A177-3AD203B41FA5}">
                      <a16:colId xmlns:a16="http://schemas.microsoft.com/office/drawing/2014/main" val="20000"/>
                    </a:ext>
                  </a:extLst>
                </a:gridCol>
                <a:gridCol w="2196306">
                  <a:extLst>
                    <a:ext uri="{9D8B030D-6E8A-4147-A177-3AD203B41FA5}">
                      <a16:colId xmlns:a16="http://schemas.microsoft.com/office/drawing/2014/main" val="20001"/>
                    </a:ext>
                  </a:extLst>
                </a:gridCol>
                <a:gridCol w="2196306">
                  <a:extLst>
                    <a:ext uri="{9D8B030D-6E8A-4147-A177-3AD203B41FA5}">
                      <a16:colId xmlns:a16="http://schemas.microsoft.com/office/drawing/2014/main" val="20002"/>
                    </a:ext>
                  </a:extLst>
                </a:gridCol>
                <a:gridCol w="2196306">
                  <a:extLst>
                    <a:ext uri="{9D8B030D-6E8A-4147-A177-3AD203B41FA5}">
                      <a16:colId xmlns:a16="http://schemas.microsoft.com/office/drawing/2014/main" val="20003"/>
                    </a:ext>
                  </a:extLst>
                </a:gridCol>
              </a:tblGrid>
              <a:tr h="370840">
                <a:tc>
                  <a:txBody>
                    <a:bodyPr/>
                    <a:lstStyle/>
                    <a:p>
                      <a:endParaRPr lang="en-GB" dirty="0"/>
                    </a:p>
                  </a:txBody>
                  <a:tcPr/>
                </a:tc>
                <a:tc>
                  <a:txBody>
                    <a:bodyPr/>
                    <a:lstStyle/>
                    <a:p>
                      <a:endParaRPr lang="en-GB" dirty="0"/>
                    </a:p>
                  </a:txBody>
                  <a:tcPr/>
                </a:tc>
                <a:tc>
                  <a:txBody>
                    <a:bodyPr/>
                    <a:lstStyle/>
                    <a:p>
                      <a:r>
                        <a:rPr lang="en-GB" dirty="0"/>
                        <a:t>From</a:t>
                      </a:r>
                    </a:p>
                  </a:txBody>
                  <a:tcPr/>
                </a:tc>
                <a:tc>
                  <a:txBody>
                    <a:bodyPr/>
                    <a:lstStyle/>
                    <a:p>
                      <a:endParaRPr lang="en-GB" dirty="0"/>
                    </a:p>
                  </a:txBody>
                  <a:tcPr/>
                </a:tc>
                <a:extLst>
                  <a:ext uri="{0D108BD9-81ED-4DB2-BD59-A6C34878D82A}">
                    <a16:rowId xmlns:a16="http://schemas.microsoft.com/office/drawing/2014/main" val="10000"/>
                  </a:ext>
                </a:extLst>
              </a:tr>
              <a:tr h="370840">
                <a:tc>
                  <a:txBody>
                    <a:bodyPr/>
                    <a:lstStyle/>
                    <a:p>
                      <a:endParaRPr lang="en-GB" dirty="0"/>
                    </a:p>
                  </a:txBody>
                  <a:tcPr/>
                </a:tc>
                <a:tc>
                  <a:txBody>
                    <a:bodyPr/>
                    <a:lstStyle/>
                    <a:p>
                      <a:endParaRPr lang="en-GB" dirty="0"/>
                    </a:p>
                  </a:txBody>
                  <a:tcPr/>
                </a:tc>
                <a:tc>
                  <a:txBody>
                    <a:bodyPr/>
                    <a:lstStyle/>
                    <a:p>
                      <a:r>
                        <a:rPr lang="en-GB" dirty="0"/>
                        <a:t>Cat is Outside</a:t>
                      </a:r>
                    </a:p>
                  </a:txBody>
                  <a:tcPr/>
                </a:tc>
                <a:tc>
                  <a:txBody>
                    <a:bodyPr/>
                    <a:lstStyle/>
                    <a:p>
                      <a:r>
                        <a:rPr lang="en-GB" dirty="0"/>
                        <a:t>Cat is Inside</a:t>
                      </a:r>
                    </a:p>
                  </a:txBody>
                  <a:tcPr/>
                </a:tc>
                <a:extLst>
                  <a:ext uri="{0D108BD9-81ED-4DB2-BD59-A6C34878D82A}">
                    <a16:rowId xmlns:a16="http://schemas.microsoft.com/office/drawing/2014/main" val="10001"/>
                  </a:ext>
                </a:extLst>
              </a:tr>
              <a:tr h="370840">
                <a:tc>
                  <a:txBody>
                    <a:bodyPr/>
                    <a:lstStyle/>
                    <a:p>
                      <a:r>
                        <a:rPr lang="en-GB" dirty="0"/>
                        <a:t>To</a:t>
                      </a:r>
                    </a:p>
                  </a:txBody>
                  <a:tcPr/>
                </a:tc>
                <a:tc>
                  <a:txBody>
                    <a:bodyPr/>
                    <a:lstStyle/>
                    <a:p>
                      <a:r>
                        <a:rPr lang="en-GB" dirty="0"/>
                        <a:t>Cat is Outside</a:t>
                      </a:r>
                    </a:p>
                  </a:txBody>
                  <a:tcPr/>
                </a:tc>
                <a:tc>
                  <a:txBody>
                    <a:bodyPr/>
                    <a:lstStyle/>
                    <a:p>
                      <a:pPr algn="ctr"/>
                      <a:r>
                        <a:rPr lang="en-GB" dirty="0"/>
                        <a:t>0.8</a:t>
                      </a:r>
                    </a:p>
                  </a:txBody>
                  <a:tcPr/>
                </a:tc>
                <a:tc>
                  <a:txBody>
                    <a:bodyPr/>
                    <a:lstStyle/>
                    <a:p>
                      <a:pPr algn="ctr"/>
                      <a:r>
                        <a:rPr lang="en-GB" dirty="0"/>
                        <a:t>0.4</a:t>
                      </a:r>
                    </a:p>
                  </a:txBody>
                  <a:tcPr/>
                </a:tc>
                <a:extLst>
                  <a:ext uri="{0D108BD9-81ED-4DB2-BD59-A6C34878D82A}">
                    <a16:rowId xmlns:a16="http://schemas.microsoft.com/office/drawing/2014/main" val="10002"/>
                  </a:ext>
                </a:extLst>
              </a:tr>
              <a:tr h="370840">
                <a:tc>
                  <a:txBody>
                    <a:bodyPr/>
                    <a:lstStyle/>
                    <a:p>
                      <a:endParaRPr lang="en-GB"/>
                    </a:p>
                  </a:txBody>
                  <a:tcPr/>
                </a:tc>
                <a:tc>
                  <a:txBody>
                    <a:bodyPr/>
                    <a:lstStyle/>
                    <a:p>
                      <a:r>
                        <a:rPr lang="en-GB" dirty="0"/>
                        <a:t>Cat is Inside</a:t>
                      </a:r>
                    </a:p>
                  </a:txBody>
                  <a:tcPr/>
                </a:tc>
                <a:tc>
                  <a:txBody>
                    <a:bodyPr/>
                    <a:lstStyle/>
                    <a:p>
                      <a:pPr algn="ctr"/>
                      <a:r>
                        <a:rPr lang="en-GB" dirty="0"/>
                        <a:t>0.2</a:t>
                      </a:r>
                    </a:p>
                  </a:txBody>
                  <a:tcPr/>
                </a:tc>
                <a:tc>
                  <a:txBody>
                    <a:bodyPr/>
                    <a:lstStyle/>
                    <a:p>
                      <a:pPr algn="ctr"/>
                      <a:r>
                        <a:rPr lang="en-GB" dirty="0"/>
                        <a:t>0.6</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80794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85" y="269875"/>
            <a:ext cx="11713633" cy="927100"/>
          </a:xfrm>
        </p:spPr>
        <p:txBody>
          <a:bodyPr/>
          <a:lstStyle/>
          <a:p>
            <a:r>
              <a:rPr lang="en-GB" dirty="0"/>
              <a:t>It’s A Cat’s Life</a:t>
            </a:r>
          </a:p>
        </p:txBody>
      </p:sp>
      <p:sp>
        <p:nvSpPr>
          <p:cNvPr id="3" name="Content Placeholder 2"/>
          <p:cNvSpPr>
            <a:spLocks noGrp="1"/>
          </p:cNvSpPr>
          <p:nvPr>
            <p:ph idx="1"/>
          </p:nvPr>
        </p:nvSpPr>
        <p:spPr>
          <a:xfrm>
            <a:off x="239185" y="1196976"/>
            <a:ext cx="11713633" cy="4968875"/>
          </a:xfrm>
        </p:spPr>
        <p:txBody>
          <a:bodyPr/>
          <a:lstStyle/>
          <a:p>
            <a:r>
              <a:rPr lang="en-GB" dirty="0"/>
              <a:t>What is the probability that on Christmas Day the cat will be inside?</a:t>
            </a:r>
          </a:p>
          <a:p>
            <a:pPr lvl="1"/>
            <a:r>
              <a:rPr lang="en-GB" dirty="0"/>
              <a:t>I can solve by some fancy maths!</a:t>
            </a:r>
          </a:p>
        </p:txBody>
      </p:sp>
      <p:sp>
        <p:nvSpPr>
          <p:cNvPr id="4" name="Date Placeholder 3"/>
          <p:cNvSpPr>
            <a:spLocks noGrp="1"/>
          </p:cNvSpPr>
          <p:nvPr>
            <p:ph type="dt" sz="half" idx="10"/>
          </p:nvPr>
        </p:nvSpPr>
        <p:spPr>
          <a:xfrm>
            <a:off x="914400" y="6248400"/>
            <a:ext cx="2540000" cy="457200"/>
          </a:xfrm>
        </p:spPr>
        <p:txBody>
          <a:bodyPr/>
          <a:lstStyle/>
          <a:p>
            <a:fld id="{161A483A-BE4E-4D7D-A960-203D8D65C5B4}" type="datetime4">
              <a:rPr lang="en-GB" smtClean="0"/>
              <a:pPr/>
              <a:t>12 February 2025</a:t>
            </a:fld>
            <a:endParaRPr lang="en-GB"/>
          </a:p>
        </p:txBody>
      </p:sp>
      <p:sp>
        <p:nvSpPr>
          <p:cNvPr id="5" name="Footer Placeholder 4"/>
          <p:cNvSpPr>
            <a:spLocks noGrp="1"/>
          </p:cNvSpPr>
          <p:nvPr>
            <p:ph type="ftr" sz="quarter" idx="11"/>
          </p:nvPr>
        </p:nvSpPr>
        <p:spPr>
          <a:xfrm>
            <a:off x="4165600" y="6248400"/>
            <a:ext cx="3860800" cy="457200"/>
          </a:xfrm>
        </p:spPr>
        <p:txBody>
          <a:bodyPr/>
          <a:lstStyle/>
          <a:p>
            <a:r>
              <a:rPr lang="en-GB" dirty="0"/>
              <a:t>Lecture 10</a:t>
            </a:r>
          </a:p>
        </p:txBody>
      </p:sp>
      <p:graphicFrame>
        <p:nvGraphicFramePr>
          <p:cNvPr id="7" name="Content Placeholder 5"/>
          <p:cNvGraphicFramePr>
            <a:graphicFrameLocks/>
          </p:cNvGraphicFramePr>
          <p:nvPr/>
        </p:nvGraphicFramePr>
        <p:xfrm>
          <a:off x="1703512" y="4509120"/>
          <a:ext cx="8785224" cy="1483360"/>
        </p:xfrm>
        <a:graphic>
          <a:graphicData uri="http://schemas.openxmlformats.org/drawingml/2006/table">
            <a:tbl>
              <a:tblPr firstRow="1" firstCol="1" bandRow="1">
                <a:tableStyleId>{5C22544A-7EE6-4342-B048-85BDC9FD1C3A}</a:tableStyleId>
              </a:tblPr>
              <a:tblGrid>
                <a:gridCol w="2196306">
                  <a:extLst>
                    <a:ext uri="{9D8B030D-6E8A-4147-A177-3AD203B41FA5}">
                      <a16:colId xmlns:a16="http://schemas.microsoft.com/office/drawing/2014/main" val="20000"/>
                    </a:ext>
                  </a:extLst>
                </a:gridCol>
                <a:gridCol w="2196306">
                  <a:extLst>
                    <a:ext uri="{9D8B030D-6E8A-4147-A177-3AD203B41FA5}">
                      <a16:colId xmlns:a16="http://schemas.microsoft.com/office/drawing/2014/main" val="20001"/>
                    </a:ext>
                  </a:extLst>
                </a:gridCol>
                <a:gridCol w="2196306">
                  <a:extLst>
                    <a:ext uri="{9D8B030D-6E8A-4147-A177-3AD203B41FA5}">
                      <a16:colId xmlns:a16="http://schemas.microsoft.com/office/drawing/2014/main" val="20002"/>
                    </a:ext>
                  </a:extLst>
                </a:gridCol>
                <a:gridCol w="2196306">
                  <a:extLst>
                    <a:ext uri="{9D8B030D-6E8A-4147-A177-3AD203B41FA5}">
                      <a16:colId xmlns:a16="http://schemas.microsoft.com/office/drawing/2014/main" val="20003"/>
                    </a:ext>
                  </a:extLst>
                </a:gridCol>
              </a:tblGrid>
              <a:tr h="370840">
                <a:tc>
                  <a:txBody>
                    <a:bodyPr/>
                    <a:lstStyle/>
                    <a:p>
                      <a:endParaRPr lang="en-GB" dirty="0"/>
                    </a:p>
                  </a:txBody>
                  <a:tcPr/>
                </a:tc>
                <a:tc>
                  <a:txBody>
                    <a:bodyPr/>
                    <a:lstStyle/>
                    <a:p>
                      <a:endParaRPr lang="en-GB" dirty="0"/>
                    </a:p>
                  </a:txBody>
                  <a:tcPr/>
                </a:tc>
                <a:tc>
                  <a:txBody>
                    <a:bodyPr/>
                    <a:lstStyle/>
                    <a:p>
                      <a:r>
                        <a:rPr lang="en-GB" dirty="0"/>
                        <a:t>From</a:t>
                      </a:r>
                    </a:p>
                  </a:txBody>
                  <a:tcPr/>
                </a:tc>
                <a:tc>
                  <a:txBody>
                    <a:bodyPr/>
                    <a:lstStyle/>
                    <a:p>
                      <a:endParaRPr lang="en-GB" dirty="0"/>
                    </a:p>
                  </a:txBody>
                  <a:tcPr/>
                </a:tc>
                <a:extLst>
                  <a:ext uri="{0D108BD9-81ED-4DB2-BD59-A6C34878D82A}">
                    <a16:rowId xmlns:a16="http://schemas.microsoft.com/office/drawing/2014/main" val="10000"/>
                  </a:ext>
                </a:extLst>
              </a:tr>
              <a:tr h="370840">
                <a:tc>
                  <a:txBody>
                    <a:bodyPr/>
                    <a:lstStyle/>
                    <a:p>
                      <a:endParaRPr lang="en-GB" dirty="0"/>
                    </a:p>
                  </a:txBody>
                  <a:tcPr/>
                </a:tc>
                <a:tc>
                  <a:txBody>
                    <a:bodyPr/>
                    <a:lstStyle/>
                    <a:p>
                      <a:endParaRPr lang="en-GB" dirty="0"/>
                    </a:p>
                  </a:txBody>
                  <a:tcPr/>
                </a:tc>
                <a:tc>
                  <a:txBody>
                    <a:bodyPr/>
                    <a:lstStyle/>
                    <a:p>
                      <a:r>
                        <a:rPr lang="en-GB" dirty="0"/>
                        <a:t>Cat is Outside</a:t>
                      </a:r>
                    </a:p>
                  </a:txBody>
                  <a:tcPr/>
                </a:tc>
                <a:tc>
                  <a:txBody>
                    <a:bodyPr/>
                    <a:lstStyle/>
                    <a:p>
                      <a:r>
                        <a:rPr lang="en-GB" dirty="0"/>
                        <a:t>Cat is Inside</a:t>
                      </a:r>
                    </a:p>
                  </a:txBody>
                  <a:tcPr/>
                </a:tc>
                <a:extLst>
                  <a:ext uri="{0D108BD9-81ED-4DB2-BD59-A6C34878D82A}">
                    <a16:rowId xmlns:a16="http://schemas.microsoft.com/office/drawing/2014/main" val="10001"/>
                  </a:ext>
                </a:extLst>
              </a:tr>
              <a:tr h="370840">
                <a:tc>
                  <a:txBody>
                    <a:bodyPr/>
                    <a:lstStyle/>
                    <a:p>
                      <a:r>
                        <a:rPr lang="en-GB" dirty="0"/>
                        <a:t>To</a:t>
                      </a:r>
                    </a:p>
                  </a:txBody>
                  <a:tcPr/>
                </a:tc>
                <a:tc>
                  <a:txBody>
                    <a:bodyPr/>
                    <a:lstStyle/>
                    <a:p>
                      <a:r>
                        <a:rPr lang="en-GB" dirty="0"/>
                        <a:t>Cat is Outside</a:t>
                      </a:r>
                    </a:p>
                  </a:txBody>
                  <a:tcPr/>
                </a:tc>
                <a:tc>
                  <a:txBody>
                    <a:bodyPr/>
                    <a:lstStyle/>
                    <a:p>
                      <a:pPr algn="ctr"/>
                      <a:r>
                        <a:rPr lang="en-GB" dirty="0"/>
                        <a:t>0.8</a:t>
                      </a:r>
                    </a:p>
                  </a:txBody>
                  <a:tcPr/>
                </a:tc>
                <a:tc>
                  <a:txBody>
                    <a:bodyPr/>
                    <a:lstStyle/>
                    <a:p>
                      <a:pPr algn="ctr"/>
                      <a:r>
                        <a:rPr lang="en-GB" dirty="0"/>
                        <a:t>0.4</a:t>
                      </a:r>
                    </a:p>
                  </a:txBody>
                  <a:tcPr/>
                </a:tc>
                <a:extLst>
                  <a:ext uri="{0D108BD9-81ED-4DB2-BD59-A6C34878D82A}">
                    <a16:rowId xmlns:a16="http://schemas.microsoft.com/office/drawing/2014/main" val="10002"/>
                  </a:ext>
                </a:extLst>
              </a:tr>
              <a:tr h="370840">
                <a:tc>
                  <a:txBody>
                    <a:bodyPr/>
                    <a:lstStyle/>
                    <a:p>
                      <a:endParaRPr lang="en-GB"/>
                    </a:p>
                  </a:txBody>
                  <a:tcPr/>
                </a:tc>
                <a:tc>
                  <a:txBody>
                    <a:bodyPr/>
                    <a:lstStyle/>
                    <a:p>
                      <a:r>
                        <a:rPr lang="en-GB" dirty="0"/>
                        <a:t>Cat is Inside</a:t>
                      </a:r>
                    </a:p>
                  </a:txBody>
                  <a:tcPr/>
                </a:tc>
                <a:tc>
                  <a:txBody>
                    <a:bodyPr/>
                    <a:lstStyle/>
                    <a:p>
                      <a:pPr algn="ctr"/>
                      <a:r>
                        <a:rPr lang="en-GB" dirty="0"/>
                        <a:t>0.2</a:t>
                      </a:r>
                    </a:p>
                  </a:txBody>
                  <a:tcPr/>
                </a:tc>
                <a:tc>
                  <a:txBody>
                    <a:bodyPr/>
                    <a:lstStyle/>
                    <a:p>
                      <a:pPr algn="ctr"/>
                      <a:r>
                        <a:rPr lang="en-GB" dirty="0"/>
                        <a:t>0.6</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0910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85" y="269875"/>
            <a:ext cx="11713633" cy="927100"/>
          </a:xfrm>
        </p:spPr>
        <p:txBody>
          <a:bodyPr/>
          <a:lstStyle/>
          <a:p>
            <a:r>
              <a:rPr lang="en-GB" dirty="0"/>
              <a:t>It’s A Cat’s Life</a:t>
            </a:r>
          </a:p>
        </p:txBody>
      </p:sp>
      <p:sp>
        <p:nvSpPr>
          <p:cNvPr id="3" name="Content Placeholder 2"/>
          <p:cNvSpPr>
            <a:spLocks noGrp="1"/>
          </p:cNvSpPr>
          <p:nvPr>
            <p:ph idx="1"/>
          </p:nvPr>
        </p:nvSpPr>
        <p:spPr>
          <a:xfrm>
            <a:off x="239185" y="1196976"/>
            <a:ext cx="11713633" cy="4968875"/>
          </a:xfrm>
        </p:spPr>
        <p:txBody>
          <a:bodyPr/>
          <a:lstStyle/>
          <a:p>
            <a:r>
              <a:rPr lang="en-GB" dirty="0"/>
              <a:t>What probability that on Christmas Day the cat will be inside?</a:t>
            </a:r>
          </a:p>
          <a:p>
            <a:pPr lvl="1"/>
            <a:r>
              <a:rPr lang="en-GB" dirty="0"/>
              <a:t>I can also solve by sampling random numbers</a:t>
            </a:r>
          </a:p>
          <a:p>
            <a:pPr lvl="1"/>
            <a:r>
              <a:rPr lang="en-GB" dirty="0"/>
              <a:t>Monte Carlo Markov Chain (MCMC)</a:t>
            </a:r>
          </a:p>
        </p:txBody>
      </p:sp>
      <p:sp>
        <p:nvSpPr>
          <p:cNvPr id="4" name="Date Placeholder 3"/>
          <p:cNvSpPr>
            <a:spLocks noGrp="1"/>
          </p:cNvSpPr>
          <p:nvPr>
            <p:ph type="dt" sz="half" idx="10"/>
          </p:nvPr>
        </p:nvSpPr>
        <p:spPr>
          <a:xfrm>
            <a:off x="914400" y="6248400"/>
            <a:ext cx="2540000" cy="457200"/>
          </a:xfrm>
        </p:spPr>
        <p:txBody>
          <a:bodyPr/>
          <a:lstStyle/>
          <a:p>
            <a:fld id="{235CBF65-865D-44B4-B651-B6BBA2A1D713}" type="datetime4">
              <a:rPr lang="en-GB" smtClean="0"/>
              <a:pPr/>
              <a:t>12 February 2025</a:t>
            </a:fld>
            <a:endParaRPr lang="en-GB"/>
          </a:p>
        </p:txBody>
      </p:sp>
      <p:sp>
        <p:nvSpPr>
          <p:cNvPr id="5" name="Footer Placeholder 4"/>
          <p:cNvSpPr>
            <a:spLocks noGrp="1"/>
          </p:cNvSpPr>
          <p:nvPr>
            <p:ph type="ftr" sz="quarter" idx="11"/>
          </p:nvPr>
        </p:nvSpPr>
        <p:spPr>
          <a:xfrm>
            <a:off x="4165600" y="6248400"/>
            <a:ext cx="3860800" cy="457200"/>
          </a:xfrm>
        </p:spPr>
        <p:txBody>
          <a:bodyPr/>
          <a:lstStyle/>
          <a:p>
            <a:r>
              <a:rPr lang="en-GB" dirty="0"/>
              <a:t>Lecture 10</a:t>
            </a:r>
          </a:p>
        </p:txBody>
      </p:sp>
      <p:graphicFrame>
        <p:nvGraphicFramePr>
          <p:cNvPr id="7" name="Content Placeholder 5"/>
          <p:cNvGraphicFramePr>
            <a:graphicFrameLocks/>
          </p:cNvGraphicFramePr>
          <p:nvPr/>
        </p:nvGraphicFramePr>
        <p:xfrm>
          <a:off x="1703512" y="4509120"/>
          <a:ext cx="8785224" cy="1483360"/>
        </p:xfrm>
        <a:graphic>
          <a:graphicData uri="http://schemas.openxmlformats.org/drawingml/2006/table">
            <a:tbl>
              <a:tblPr firstRow="1" firstCol="1" bandRow="1">
                <a:tableStyleId>{5C22544A-7EE6-4342-B048-85BDC9FD1C3A}</a:tableStyleId>
              </a:tblPr>
              <a:tblGrid>
                <a:gridCol w="2196306">
                  <a:extLst>
                    <a:ext uri="{9D8B030D-6E8A-4147-A177-3AD203B41FA5}">
                      <a16:colId xmlns:a16="http://schemas.microsoft.com/office/drawing/2014/main" val="20000"/>
                    </a:ext>
                  </a:extLst>
                </a:gridCol>
                <a:gridCol w="2196306">
                  <a:extLst>
                    <a:ext uri="{9D8B030D-6E8A-4147-A177-3AD203B41FA5}">
                      <a16:colId xmlns:a16="http://schemas.microsoft.com/office/drawing/2014/main" val="20001"/>
                    </a:ext>
                  </a:extLst>
                </a:gridCol>
                <a:gridCol w="2196306">
                  <a:extLst>
                    <a:ext uri="{9D8B030D-6E8A-4147-A177-3AD203B41FA5}">
                      <a16:colId xmlns:a16="http://schemas.microsoft.com/office/drawing/2014/main" val="20002"/>
                    </a:ext>
                  </a:extLst>
                </a:gridCol>
                <a:gridCol w="2196306">
                  <a:extLst>
                    <a:ext uri="{9D8B030D-6E8A-4147-A177-3AD203B41FA5}">
                      <a16:colId xmlns:a16="http://schemas.microsoft.com/office/drawing/2014/main" val="20003"/>
                    </a:ext>
                  </a:extLst>
                </a:gridCol>
              </a:tblGrid>
              <a:tr h="370840">
                <a:tc>
                  <a:txBody>
                    <a:bodyPr/>
                    <a:lstStyle/>
                    <a:p>
                      <a:endParaRPr lang="en-GB" dirty="0"/>
                    </a:p>
                  </a:txBody>
                  <a:tcPr/>
                </a:tc>
                <a:tc>
                  <a:txBody>
                    <a:bodyPr/>
                    <a:lstStyle/>
                    <a:p>
                      <a:endParaRPr lang="en-GB" dirty="0"/>
                    </a:p>
                  </a:txBody>
                  <a:tcPr/>
                </a:tc>
                <a:tc>
                  <a:txBody>
                    <a:bodyPr/>
                    <a:lstStyle/>
                    <a:p>
                      <a:r>
                        <a:rPr lang="en-GB" dirty="0"/>
                        <a:t>From</a:t>
                      </a:r>
                    </a:p>
                  </a:txBody>
                  <a:tcPr/>
                </a:tc>
                <a:tc>
                  <a:txBody>
                    <a:bodyPr/>
                    <a:lstStyle/>
                    <a:p>
                      <a:endParaRPr lang="en-GB" dirty="0"/>
                    </a:p>
                  </a:txBody>
                  <a:tcPr/>
                </a:tc>
                <a:extLst>
                  <a:ext uri="{0D108BD9-81ED-4DB2-BD59-A6C34878D82A}">
                    <a16:rowId xmlns:a16="http://schemas.microsoft.com/office/drawing/2014/main" val="10000"/>
                  </a:ext>
                </a:extLst>
              </a:tr>
              <a:tr h="370840">
                <a:tc>
                  <a:txBody>
                    <a:bodyPr/>
                    <a:lstStyle/>
                    <a:p>
                      <a:endParaRPr lang="en-GB" dirty="0"/>
                    </a:p>
                  </a:txBody>
                  <a:tcPr/>
                </a:tc>
                <a:tc>
                  <a:txBody>
                    <a:bodyPr/>
                    <a:lstStyle/>
                    <a:p>
                      <a:endParaRPr lang="en-GB" dirty="0"/>
                    </a:p>
                  </a:txBody>
                  <a:tcPr/>
                </a:tc>
                <a:tc>
                  <a:txBody>
                    <a:bodyPr/>
                    <a:lstStyle/>
                    <a:p>
                      <a:r>
                        <a:rPr lang="en-GB" dirty="0"/>
                        <a:t>Cat is Outside</a:t>
                      </a:r>
                    </a:p>
                  </a:txBody>
                  <a:tcPr/>
                </a:tc>
                <a:tc>
                  <a:txBody>
                    <a:bodyPr/>
                    <a:lstStyle/>
                    <a:p>
                      <a:r>
                        <a:rPr lang="en-GB" dirty="0"/>
                        <a:t>Cat is Inside</a:t>
                      </a:r>
                    </a:p>
                  </a:txBody>
                  <a:tcPr/>
                </a:tc>
                <a:extLst>
                  <a:ext uri="{0D108BD9-81ED-4DB2-BD59-A6C34878D82A}">
                    <a16:rowId xmlns:a16="http://schemas.microsoft.com/office/drawing/2014/main" val="10001"/>
                  </a:ext>
                </a:extLst>
              </a:tr>
              <a:tr h="370840">
                <a:tc>
                  <a:txBody>
                    <a:bodyPr/>
                    <a:lstStyle/>
                    <a:p>
                      <a:r>
                        <a:rPr lang="en-GB" dirty="0"/>
                        <a:t>To</a:t>
                      </a:r>
                    </a:p>
                  </a:txBody>
                  <a:tcPr/>
                </a:tc>
                <a:tc>
                  <a:txBody>
                    <a:bodyPr/>
                    <a:lstStyle/>
                    <a:p>
                      <a:r>
                        <a:rPr lang="en-GB" dirty="0"/>
                        <a:t>Cat is Outside</a:t>
                      </a:r>
                    </a:p>
                  </a:txBody>
                  <a:tcPr/>
                </a:tc>
                <a:tc>
                  <a:txBody>
                    <a:bodyPr/>
                    <a:lstStyle/>
                    <a:p>
                      <a:pPr algn="ctr"/>
                      <a:r>
                        <a:rPr lang="en-GB" dirty="0"/>
                        <a:t>0.8</a:t>
                      </a:r>
                    </a:p>
                  </a:txBody>
                  <a:tcPr/>
                </a:tc>
                <a:tc>
                  <a:txBody>
                    <a:bodyPr/>
                    <a:lstStyle/>
                    <a:p>
                      <a:pPr algn="ctr"/>
                      <a:r>
                        <a:rPr lang="en-GB" dirty="0"/>
                        <a:t>0.4</a:t>
                      </a:r>
                    </a:p>
                  </a:txBody>
                  <a:tcPr/>
                </a:tc>
                <a:extLst>
                  <a:ext uri="{0D108BD9-81ED-4DB2-BD59-A6C34878D82A}">
                    <a16:rowId xmlns:a16="http://schemas.microsoft.com/office/drawing/2014/main" val="10002"/>
                  </a:ext>
                </a:extLst>
              </a:tr>
              <a:tr h="370840">
                <a:tc>
                  <a:txBody>
                    <a:bodyPr/>
                    <a:lstStyle/>
                    <a:p>
                      <a:endParaRPr lang="en-GB"/>
                    </a:p>
                  </a:txBody>
                  <a:tcPr/>
                </a:tc>
                <a:tc>
                  <a:txBody>
                    <a:bodyPr/>
                    <a:lstStyle/>
                    <a:p>
                      <a:r>
                        <a:rPr lang="en-GB" dirty="0"/>
                        <a:t>Cat is Inside</a:t>
                      </a:r>
                    </a:p>
                  </a:txBody>
                  <a:tcPr/>
                </a:tc>
                <a:tc>
                  <a:txBody>
                    <a:bodyPr/>
                    <a:lstStyle/>
                    <a:p>
                      <a:pPr algn="ctr"/>
                      <a:r>
                        <a:rPr lang="en-GB" dirty="0"/>
                        <a:t>0.2</a:t>
                      </a:r>
                    </a:p>
                  </a:txBody>
                  <a:tcPr/>
                </a:tc>
                <a:tc>
                  <a:txBody>
                    <a:bodyPr/>
                    <a:lstStyle/>
                    <a:p>
                      <a:pPr algn="ctr"/>
                      <a:r>
                        <a:rPr lang="en-GB" dirty="0"/>
                        <a:t>0.6</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71092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85" y="269875"/>
            <a:ext cx="11713633" cy="927100"/>
          </a:xfrm>
        </p:spPr>
        <p:txBody>
          <a:bodyPr/>
          <a:lstStyle/>
          <a:p>
            <a:r>
              <a:rPr lang="en-GB" dirty="0"/>
              <a:t>It’s A Cat’s Life</a:t>
            </a:r>
          </a:p>
        </p:txBody>
      </p:sp>
      <p:sp>
        <p:nvSpPr>
          <p:cNvPr id="3" name="Content Placeholder 2"/>
          <p:cNvSpPr>
            <a:spLocks noGrp="1"/>
          </p:cNvSpPr>
          <p:nvPr>
            <p:ph idx="1"/>
          </p:nvPr>
        </p:nvSpPr>
        <p:spPr>
          <a:xfrm>
            <a:off x="239185" y="1196976"/>
            <a:ext cx="11713633" cy="4968875"/>
          </a:xfrm>
        </p:spPr>
        <p:txBody>
          <a:bodyPr/>
          <a:lstStyle/>
          <a:p>
            <a:r>
              <a:rPr lang="en-GB" dirty="0"/>
              <a:t>Start by assuming an S(0), say ‘In’</a:t>
            </a:r>
          </a:p>
          <a:p>
            <a:r>
              <a:rPr lang="en-GB" dirty="0"/>
              <a:t>Draw random number X in U[0,1]</a:t>
            </a:r>
          </a:p>
          <a:p>
            <a:pPr lvl="1"/>
            <a:r>
              <a:rPr lang="en-GB" dirty="0"/>
              <a:t>if ‘In’ &amp; X ≤ 0.6, stay ‘In’, else ‘Out’</a:t>
            </a:r>
          </a:p>
          <a:p>
            <a:pPr lvl="1"/>
            <a:r>
              <a:rPr lang="en-GB" dirty="0"/>
              <a:t>if ‘Out’ &amp; X ≤ 0.2, go ‘In’, else stay ‘Out’</a:t>
            </a:r>
          </a:p>
          <a:p>
            <a:r>
              <a:rPr lang="en-GB" dirty="0"/>
              <a:t>If done, say, 1000 times, stop, else go to 2</a:t>
            </a:r>
          </a:p>
        </p:txBody>
      </p:sp>
      <p:sp>
        <p:nvSpPr>
          <p:cNvPr id="4" name="Date Placeholder 3"/>
          <p:cNvSpPr>
            <a:spLocks noGrp="1"/>
          </p:cNvSpPr>
          <p:nvPr>
            <p:ph type="dt" sz="half" idx="10"/>
          </p:nvPr>
        </p:nvSpPr>
        <p:spPr>
          <a:xfrm>
            <a:off x="914400" y="6248400"/>
            <a:ext cx="2540000" cy="457200"/>
          </a:xfrm>
        </p:spPr>
        <p:txBody>
          <a:bodyPr/>
          <a:lstStyle/>
          <a:p>
            <a:fld id="{E6B4BB89-06BD-491C-98CB-043FAF221DA5}" type="datetime4">
              <a:rPr lang="en-GB" smtClean="0"/>
              <a:pPr/>
              <a:t>12 February 2025</a:t>
            </a:fld>
            <a:endParaRPr lang="en-GB"/>
          </a:p>
        </p:txBody>
      </p:sp>
      <p:sp>
        <p:nvSpPr>
          <p:cNvPr id="5" name="Footer Placeholder 4"/>
          <p:cNvSpPr>
            <a:spLocks noGrp="1"/>
          </p:cNvSpPr>
          <p:nvPr>
            <p:ph type="ftr" sz="quarter" idx="11"/>
          </p:nvPr>
        </p:nvSpPr>
        <p:spPr>
          <a:xfrm>
            <a:off x="4165600" y="6248400"/>
            <a:ext cx="3860800" cy="457200"/>
          </a:xfrm>
        </p:spPr>
        <p:txBody>
          <a:bodyPr/>
          <a:lstStyle/>
          <a:p>
            <a:r>
              <a:rPr lang="en-GB" dirty="0"/>
              <a:t>Lecture 10</a:t>
            </a:r>
          </a:p>
        </p:txBody>
      </p:sp>
      <p:graphicFrame>
        <p:nvGraphicFramePr>
          <p:cNvPr id="7" name="Content Placeholder 5"/>
          <p:cNvGraphicFramePr>
            <a:graphicFrameLocks/>
          </p:cNvGraphicFramePr>
          <p:nvPr/>
        </p:nvGraphicFramePr>
        <p:xfrm>
          <a:off x="1703512" y="4509120"/>
          <a:ext cx="8785224" cy="1483360"/>
        </p:xfrm>
        <a:graphic>
          <a:graphicData uri="http://schemas.openxmlformats.org/drawingml/2006/table">
            <a:tbl>
              <a:tblPr firstRow="1" firstCol="1" bandRow="1">
                <a:tableStyleId>{5C22544A-7EE6-4342-B048-85BDC9FD1C3A}</a:tableStyleId>
              </a:tblPr>
              <a:tblGrid>
                <a:gridCol w="2196306">
                  <a:extLst>
                    <a:ext uri="{9D8B030D-6E8A-4147-A177-3AD203B41FA5}">
                      <a16:colId xmlns:a16="http://schemas.microsoft.com/office/drawing/2014/main" val="20000"/>
                    </a:ext>
                  </a:extLst>
                </a:gridCol>
                <a:gridCol w="2196306">
                  <a:extLst>
                    <a:ext uri="{9D8B030D-6E8A-4147-A177-3AD203B41FA5}">
                      <a16:colId xmlns:a16="http://schemas.microsoft.com/office/drawing/2014/main" val="20001"/>
                    </a:ext>
                  </a:extLst>
                </a:gridCol>
                <a:gridCol w="2196306">
                  <a:extLst>
                    <a:ext uri="{9D8B030D-6E8A-4147-A177-3AD203B41FA5}">
                      <a16:colId xmlns:a16="http://schemas.microsoft.com/office/drawing/2014/main" val="20002"/>
                    </a:ext>
                  </a:extLst>
                </a:gridCol>
                <a:gridCol w="2196306">
                  <a:extLst>
                    <a:ext uri="{9D8B030D-6E8A-4147-A177-3AD203B41FA5}">
                      <a16:colId xmlns:a16="http://schemas.microsoft.com/office/drawing/2014/main" val="20003"/>
                    </a:ext>
                  </a:extLst>
                </a:gridCol>
              </a:tblGrid>
              <a:tr h="370840">
                <a:tc>
                  <a:txBody>
                    <a:bodyPr/>
                    <a:lstStyle/>
                    <a:p>
                      <a:endParaRPr lang="en-GB" dirty="0"/>
                    </a:p>
                  </a:txBody>
                  <a:tcPr/>
                </a:tc>
                <a:tc>
                  <a:txBody>
                    <a:bodyPr/>
                    <a:lstStyle/>
                    <a:p>
                      <a:endParaRPr lang="en-GB" dirty="0"/>
                    </a:p>
                  </a:txBody>
                  <a:tcPr/>
                </a:tc>
                <a:tc>
                  <a:txBody>
                    <a:bodyPr/>
                    <a:lstStyle/>
                    <a:p>
                      <a:r>
                        <a:rPr lang="en-GB" dirty="0"/>
                        <a:t>From</a:t>
                      </a:r>
                    </a:p>
                  </a:txBody>
                  <a:tcPr/>
                </a:tc>
                <a:tc>
                  <a:txBody>
                    <a:bodyPr/>
                    <a:lstStyle/>
                    <a:p>
                      <a:endParaRPr lang="en-GB" dirty="0"/>
                    </a:p>
                  </a:txBody>
                  <a:tcPr/>
                </a:tc>
                <a:extLst>
                  <a:ext uri="{0D108BD9-81ED-4DB2-BD59-A6C34878D82A}">
                    <a16:rowId xmlns:a16="http://schemas.microsoft.com/office/drawing/2014/main" val="10000"/>
                  </a:ext>
                </a:extLst>
              </a:tr>
              <a:tr h="370840">
                <a:tc>
                  <a:txBody>
                    <a:bodyPr/>
                    <a:lstStyle/>
                    <a:p>
                      <a:endParaRPr lang="en-GB" dirty="0"/>
                    </a:p>
                  </a:txBody>
                  <a:tcPr/>
                </a:tc>
                <a:tc>
                  <a:txBody>
                    <a:bodyPr/>
                    <a:lstStyle/>
                    <a:p>
                      <a:endParaRPr lang="en-GB" dirty="0"/>
                    </a:p>
                  </a:txBody>
                  <a:tcPr/>
                </a:tc>
                <a:tc>
                  <a:txBody>
                    <a:bodyPr/>
                    <a:lstStyle/>
                    <a:p>
                      <a:r>
                        <a:rPr lang="en-GB" dirty="0"/>
                        <a:t>Cat is Outside</a:t>
                      </a:r>
                    </a:p>
                  </a:txBody>
                  <a:tcPr/>
                </a:tc>
                <a:tc>
                  <a:txBody>
                    <a:bodyPr/>
                    <a:lstStyle/>
                    <a:p>
                      <a:r>
                        <a:rPr lang="en-GB" dirty="0"/>
                        <a:t>Cat is Inside</a:t>
                      </a:r>
                    </a:p>
                  </a:txBody>
                  <a:tcPr/>
                </a:tc>
                <a:extLst>
                  <a:ext uri="{0D108BD9-81ED-4DB2-BD59-A6C34878D82A}">
                    <a16:rowId xmlns:a16="http://schemas.microsoft.com/office/drawing/2014/main" val="10001"/>
                  </a:ext>
                </a:extLst>
              </a:tr>
              <a:tr h="370840">
                <a:tc>
                  <a:txBody>
                    <a:bodyPr/>
                    <a:lstStyle/>
                    <a:p>
                      <a:r>
                        <a:rPr lang="en-GB" dirty="0"/>
                        <a:t>To</a:t>
                      </a:r>
                    </a:p>
                  </a:txBody>
                  <a:tcPr/>
                </a:tc>
                <a:tc>
                  <a:txBody>
                    <a:bodyPr/>
                    <a:lstStyle/>
                    <a:p>
                      <a:r>
                        <a:rPr lang="en-GB" dirty="0"/>
                        <a:t>Cat is Outside</a:t>
                      </a:r>
                    </a:p>
                  </a:txBody>
                  <a:tcPr/>
                </a:tc>
                <a:tc>
                  <a:txBody>
                    <a:bodyPr/>
                    <a:lstStyle/>
                    <a:p>
                      <a:pPr algn="ctr"/>
                      <a:r>
                        <a:rPr lang="en-GB" dirty="0"/>
                        <a:t>0.8</a:t>
                      </a:r>
                    </a:p>
                  </a:txBody>
                  <a:tcPr/>
                </a:tc>
                <a:tc>
                  <a:txBody>
                    <a:bodyPr/>
                    <a:lstStyle/>
                    <a:p>
                      <a:pPr algn="ctr"/>
                      <a:r>
                        <a:rPr lang="en-GB" dirty="0"/>
                        <a:t>0.4</a:t>
                      </a:r>
                    </a:p>
                  </a:txBody>
                  <a:tcPr/>
                </a:tc>
                <a:extLst>
                  <a:ext uri="{0D108BD9-81ED-4DB2-BD59-A6C34878D82A}">
                    <a16:rowId xmlns:a16="http://schemas.microsoft.com/office/drawing/2014/main" val="10002"/>
                  </a:ext>
                </a:extLst>
              </a:tr>
              <a:tr h="370840">
                <a:tc>
                  <a:txBody>
                    <a:bodyPr/>
                    <a:lstStyle/>
                    <a:p>
                      <a:endParaRPr lang="en-GB"/>
                    </a:p>
                  </a:txBody>
                  <a:tcPr/>
                </a:tc>
                <a:tc>
                  <a:txBody>
                    <a:bodyPr/>
                    <a:lstStyle/>
                    <a:p>
                      <a:r>
                        <a:rPr lang="en-GB" dirty="0"/>
                        <a:t>Cat is Inside</a:t>
                      </a:r>
                    </a:p>
                  </a:txBody>
                  <a:tcPr/>
                </a:tc>
                <a:tc>
                  <a:txBody>
                    <a:bodyPr/>
                    <a:lstStyle/>
                    <a:p>
                      <a:pPr algn="ctr"/>
                      <a:r>
                        <a:rPr lang="en-GB" dirty="0"/>
                        <a:t>0.2</a:t>
                      </a:r>
                    </a:p>
                  </a:txBody>
                  <a:tcPr/>
                </a:tc>
                <a:tc>
                  <a:txBody>
                    <a:bodyPr/>
                    <a:lstStyle/>
                    <a:p>
                      <a:pPr algn="ctr"/>
                      <a:r>
                        <a:rPr lang="en-GB" dirty="0"/>
                        <a:t>0.6</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98291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85" y="269875"/>
            <a:ext cx="11713633" cy="927100"/>
          </a:xfrm>
        </p:spPr>
        <p:txBody>
          <a:bodyPr/>
          <a:lstStyle/>
          <a:p>
            <a:r>
              <a:rPr lang="en-GB" dirty="0"/>
              <a:t>It’s A Cat’s Life</a:t>
            </a:r>
          </a:p>
        </p:txBody>
      </p:sp>
      <p:sp>
        <p:nvSpPr>
          <p:cNvPr id="3" name="Content Placeholder 2"/>
          <p:cNvSpPr>
            <a:spLocks noGrp="1"/>
          </p:cNvSpPr>
          <p:nvPr>
            <p:ph idx="1"/>
          </p:nvPr>
        </p:nvSpPr>
        <p:spPr>
          <a:xfrm>
            <a:off x="239185" y="1196976"/>
            <a:ext cx="11713633" cy="4968875"/>
          </a:xfrm>
        </p:spPr>
        <p:txBody>
          <a:bodyPr/>
          <a:lstStyle/>
          <a:p>
            <a:r>
              <a:rPr lang="en-GB" dirty="0"/>
              <a:t>Initial values will depend on starting point</a:t>
            </a:r>
          </a:p>
          <a:p>
            <a:r>
              <a:rPr lang="en-GB" dirty="0"/>
              <a:t>After a while influence of S(0) decays, burn-in </a:t>
            </a:r>
          </a:p>
          <a:p>
            <a:r>
              <a:rPr lang="en-GB" dirty="0"/>
              <a:t>Then sequence is sample from an equilibrium</a:t>
            </a:r>
          </a:p>
          <a:p>
            <a:r>
              <a:rPr lang="en-GB" dirty="0"/>
              <a:t>Look at how frequent ‘In’ occurs in sample</a:t>
            </a:r>
          </a:p>
          <a:p>
            <a:r>
              <a:rPr lang="en-GB" dirty="0"/>
              <a:t>This is the probability of being ‘In’ on 25/12</a:t>
            </a:r>
          </a:p>
        </p:txBody>
      </p:sp>
      <p:sp>
        <p:nvSpPr>
          <p:cNvPr id="4" name="Date Placeholder 3"/>
          <p:cNvSpPr>
            <a:spLocks noGrp="1"/>
          </p:cNvSpPr>
          <p:nvPr>
            <p:ph type="dt" sz="half" idx="10"/>
          </p:nvPr>
        </p:nvSpPr>
        <p:spPr>
          <a:xfrm>
            <a:off x="914400" y="6248400"/>
            <a:ext cx="2540000" cy="457200"/>
          </a:xfrm>
        </p:spPr>
        <p:txBody>
          <a:bodyPr/>
          <a:lstStyle/>
          <a:p>
            <a:fld id="{7D91A5A2-D713-47DD-A749-9F3234CF4155}" type="datetime4">
              <a:rPr lang="en-GB" smtClean="0"/>
              <a:pPr/>
              <a:t>12 February 2025</a:t>
            </a:fld>
            <a:endParaRPr lang="en-GB"/>
          </a:p>
        </p:txBody>
      </p:sp>
      <p:sp>
        <p:nvSpPr>
          <p:cNvPr id="5" name="Footer Placeholder 4"/>
          <p:cNvSpPr>
            <a:spLocks noGrp="1"/>
          </p:cNvSpPr>
          <p:nvPr>
            <p:ph type="ftr" sz="quarter" idx="11"/>
          </p:nvPr>
        </p:nvSpPr>
        <p:spPr>
          <a:xfrm>
            <a:off x="4165600" y="6248400"/>
            <a:ext cx="3860800" cy="457200"/>
          </a:xfrm>
        </p:spPr>
        <p:txBody>
          <a:bodyPr/>
          <a:lstStyle/>
          <a:p>
            <a:r>
              <a:rPr lang="en-GB" dirty="0"/>
              <a:t>Lecture 10</a:t>
            </a:r>
          </a:p>
        </p:txBody>
      </p:sp>
      <p:graphicFrame>
        <p:nvGraphicFramePr>
          <p:cNvPr id="7" name="Content Placeholder 5"/>
          <p:cNvGraphicFramePr>
            <a:graphicFrameLocks/>
          </p:cNvGraphicFramePr>
          <p:nvPr/>
        </p:nvGraphicFramePr>
        <p:xfrm>
          <a:off x="1703512" y="4509120"/>
          <a:ext cx="8785224" cy="1483360"/>
        </p:xfrm>
        <a:graphic>
          <a:graphicData uri="http://schemas.openxmlformats.org/drawingml/2006/table">
            <a:tbl>
              <a:tblPr firstRow="1" firstCol="1" bandRow="1">
                <a:tableStyleId>{5C22544A-7EE6-4342-B048-85BDC9FD1C3A}</a:tableStyleId>
              </a:tblPr>
              <a:tblGrid>
                <a:gridCol w="2196306">
                  <a:extLst>
                    <a:ext uri="{9D8B030D-6E8A-4147-A177-3AD203B41FA5}">
                      <a16:colId xmlns:a16="http://schemas.microsoft.com/office/drawing/2014/main" val="20000"/>
                    </a:ext>
                  </a:extLst>
                </a:gridCol>
                <a:gridCol w="2196306">
                  <a:extLst>
                    <a:ext uri="{9D8B030D-6E8A-4147-A177-3AD203B41FA5}">
                      <a16:colId xmlns:a16="http://schemas.microsoft.com/office/drawing/2014/main" val="20001"/>
                    </a:ext>
                  </a:extLst>
                </a:gridCol>
                <a:gridCol w="2196306">
                  <a:extLst>
                    <a:ext uri="{9D8B030D-6E8A-4147-A177-3AD203B41FA5}">
                      <a16:colId xmlns:a16="http://schemas.microsoft.com/office/drawing/2014/main" val="20002"/>
                    </a:ext>
                  </a:extLst>
                </a:gridCol>
                <a:gridCol w="2196306">
                  <a:extLst>
                    <a:ext uri="{9D8B030D-6E8A-4147-A177-3AD203B41FA5}">
                      <a16:colId xmlns:a16="http://schemas.microsoft.com/office/drawing/2014/main" val="20003"/>
                    </a:ext>
                  </a:extLst>
                </a:gridCol>
              </a:tblGrid>
              <a:tr h="370840">
                <a:tc>
                  <a:txBody>
                    <a:bodyPr/>
                    <a:lstStyle/>
                    <a:p>
                      <a:endParaRPr lang="en-GB" dirty="0"/>
                    </a:p>
                  </a:txBody>
                  <a:tcPr/>
                </a:tc>
                <a:tc>
                  <a:txBody>
                    <a:bodyPr/>
                    <a:lstStyle/>
                    <a:p>
                      <a:endParaRPr lang="en-GB" dirty="0"/>
                    </a:p>
                  </a:txBody>
                  <a:tcPr/>
                </a:tc>
                <a:tc>
                  <a:txBody>
                    <a:bodyPr/>
                    <a:lstStyle/>
                    <a:p>
                      <a:r>
                        <a:rPr lang="en-GB" dirty="0"/>
                        <a:t>From</a:t>
                      </a:r>
                    </a:p>
                  </a:txBody>
                  <a:tcPr/>
                </a:tc>
                <a:tc>
                  <a:txBody>
                    <a:bodyPr/>
                    <a:lstStyle/>
                    <a:p>
                      <a:endParaRPr lang="en-GB" dirty="0"/>
                    </a:p>
                  </a:txBody>
                  <a:tcPr/>
                </a:tc>
                <a:extLst>
                  <a:ext uri="{0D108BD9-81ED-4DB2-BD59-A6C34878D82A}">
                    <a16:rowId xmlns:a16="http://schemas.microsoft.com/office/drawing/2014/main" val="10000"/>
                  </a:ext>
                </a:extLst>
              </a:tr>
              <a:tr h="370840">
                <a:tc>
                  <a:txBody>
                    <a:bodyPr/>
                    <a:lstStyle/>
                    <a:p>
                      <a:endParaRPr lang="en-GB" dirty="0"/>
                    </a:p>
                  </a:txBody>
                  <a:tcPr/>
                </a:tc>
                <a:tc>
                  <a:txBody>
                    <a:bodyPr/>
                    <a:lstStyle/>
                    <a:p>
                      <a:endParaRPr lang="en-GB" dirty="0"/>
                    </a:p>
                  </a:txBody>
                  <a:tcPr/>
                </a:tc>
                <a:tc>
                  <a:txBody>
                    <a:bodyPr/>
                    <a:lstStyle/>
                    <a:p>
                      <a:r>
                        <a:rPr lang="en-GB" dirty="0"/>
                        <a:t>Cat is Outside</a:t>
                      </a:r>
                    </a:p>
                  </a:txBody>
                  <a:tcPr/>
                </a:tc>
                <a:tc>
                  <a:txBody>
                    <a:bodyPr/>
                    <a:lstStyle/>
                    <a:p>
                      <a:r>
                        <a:rPr lang="en-GB" dirty="0"/>
                        <a:t>Cat is Inside</a:t>
                      </a:r>
                    </a:p>
                  </a:txBody>
                  <a:tcPr/>
                </a:tc>
                <a:extLst>
                  <a:ext uri="{0D108BD9-81ED-4DB2-BD59-A6C34878D82A}">
                    <a16:rowId xmlns:a16="http://schemas.microsoft.com/office/drawing/2014/main" val="10001"/>
                  </a:ext>
                </a:extLst>
              </a:tr>
              <a:tr h="370840">
                <a:tc>
                  <a:txBody>
                    <a:bodyPr/>
                    <a:lstStyle/>
                    <a:p>
                      <a:r>
                        <a:rPr lang="en-GB" dirty="0"/>
                        <a:t>To</a:t>
                      </a:r>
                    </a:p>
                  </a:txBody>
                  <a:tcPr/>
                </a:tc>
                <a:tc>
                  <a:txBody>
                    <a:bodyPr/>
                    <a:lstStyle/>
                    <a:p>
                      <a:r>
                        <a:rPr lang="en-GB" dirty="0"/>
                        <a:t>Cat is Outside</a:t>
                      </a:r>
                    </a:p>
                  </a:txBody>
                  <a:tcPr/>
                </a:tc>
                <a:tc>
                  <a:txBody>
                    <a:bodyPr/>
                    <a:lstStyle/>
                    <a:p>
                      <a:pPr algn="ctr"/>
                      <a:r>
                        <a:rPr lang="en-GB" dirty="0"/>
                        <a:t>0.8</a:t>
                      </a:r>
                    </a:p>
                  </a:txBody>
                  <a:tcPr/>
                </a:tc>
                <a:tc>
                  <a:txBody>
                    <a:bodyPr/>
                    <a:lstStyle/>
                    <a:p>
                      <a:pPr algn="ctr"/>
                      <a:r>
                        <a:rPr lang="en-GB" dirty="0"/>
                        <a:t>0.4</a:t>
                      </a:r>
                    </a:p>
                  </a:txBody>
                  <a:tcPr/>
                </a:tc>
                <a:extLst>
                  <a:ext uri="{0D108BD9-81ED-4DB2-BD59-A6C34878D82A}">
                    <a16:rowId xmlns:a16="http://schemas.microsoft.com/office/drawing/2014/main" val="10002"/>
                  </a:ext>
                </a:extLst>
              </a:tr>
              <a:tr h="370840">
                <a:tc>
                  <a:txBody>
                    <a:bodyPr/>
                    <a:lstStyle/>
                    <a:p>
                      <a:endParaRPr lang="en-GB"/>
                    </a:p>
                  </a:txBody>
                  <a:tcPr/>
                </a:tc>
                <a:tc>
                  <a:txBody>
                    <a:bodyPr/>
                    <a:lstStyle/>
                    <a:p>
                      <a:r>
                        <a:rPr lang="en-GB" dirty="0"/>
                        <a:t>Cat is Inside</a:t>
                      </a:r>
                    </a:p>
                  </a:txBody>
                  <a:tcPr/>
                </a:tc>
                <a:tc>
                  <a:txBody>
                    <a:bodyPr/>
                    <a:lstStyle/>
                    <a:p>
                      <a:pPr algn="ctr"/>
                      <a:r>
                        <a:rPr lang="en-GB" dirty="0"/>
                        <a:t>0.2</a:t>
                      </a:r>
                    </a:p>
                  </a:txBody>
                  <a:tcPr/>
                </a:tc>
                <a:tc>
                  <a:txBody>
                    <a:bodyPr/>
                    <a:lstStyle/>
                    <a:p>
                      <a:pPr algn="ctr"/>
                      <a:r>
                        <a:rPr lang="en-GB" dirty="0"/>
                        <a:t>0.6</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16395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It’s A Cat’s Life</a:t>
            </a:r>
          </a:p>
        </p:txBody>
      </p:sp>
      <p:sp>
        <p:nvSpPr>
          <p:cNvPr id="3" name="Date Placeholder 2"/>
          <p:cNvSpPr>
            <a:spLocks noGrp="1"/>
          </p:cNvSpPr>
          <p:nvPr>
            <p:ph type="dt" sz="half" idx="10"/>
          </p:nvPr>
        </p:nvSpPr>
        <p:spPr/>
        <p:txBody>
          <a:bodyPr/>
          <a:lstStyle/>
          <a:p>
            <a:fld id="{3B05F5D2-F5AD-4A05-9984-C485D1AC8D72}" type="datetime4">
              <a:rPr lang="en-GB" smtClean="0"/>
              <a:t>12 February 2025</a:t>
            </a:fld>
            <a:endParaRPr lang="en-GB"/>
          </a:p>
        </p:txBody>
      </p:sp>
      <p:sp>
        <p:nvSpPr>
          <p:cNvPr id="4" name="Footer Placeholder 3"/>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4108018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lstStyle/>
          <a:p>
            <a:r>
              <a:rPr lang="en-GB" dirty="0"/>
              <a:t>It’s A Cat’s Life</a:t>
            </a:r>
          </a:p>
        </p:txBody>
      </p:sp>
      <p:graphicFrame>
        <p:nvGraphicFramePr>
          <p:cNvPr id="6" name="Content Placeholder 5"/>
          <p:cNvGraphicFramePr>
            <a:graphicFrameLocks noGrp="1"/>
          </p:cNvGraphicFramePr>
          <p:nvPr>
            <p:ph idx="1"/>
          </p:nvPr>
        </p:nvGraphicFramePr>
        <p:xfrm>
          <a:off x="1703388" y="1196976"/>
          <a:ext cx="8785296" cy="3528173"/>
        </p:xfrm>
        <a:graphic>
          <a:graphicData uri="http://schemas.openxmlformats.org/drawingml/2006/table">
            <a:tbl>
              <a:tblPr>
                <a:tableStyleId>{5C22544A-7EE6-4342-B048-85BDC9FD1C3A}</a:tableStyleId>
              </a:tblPr>
              <a:tblGrid>
                <a:gridCol w="732108">
                  <a:extLst>
                    <a:ext uri="{9D8B030D-6E8A-4147-A177-3AD203B41FA5}">
                      <a16:colId xmlns:a16="http://schemas.microsoft.com/office/drawing/2014/main" val="20000"/>
                    </a:ext>
                  </a:extLst>
                </a:gridCol>
                <a:gridCol w="732108">
                  <a:extLst>
                    <a:ext uri="{9D8B030D-6E8A-4147-A177-3AD203B41FA5}">
                      <a16:colId xmlns:a16="http://schemas.microsoft.com/office/drawing/2014/main" val="20001"/>
                    </a:ext>
                  </a:extLst>
                </a:gridCol>
                <a:gridCol w="732108">
                  <a:extLst>
                    <a:ext uri="{9D8B030D-6E8A-4147-A177-3AD203B41FA5}">
                      <a16:colId xmlns:a16="http://schemas.microsoft.com/office/drawing/2014/main" val="20002"/>
                    </a:ext>
                  </a:extLst>
                </a:gridCol>
                <a:gridCol w="732108">
                  <a:extLst>
                    <a:ext uri="{9D8B030D-6E8A-4147-A177-3AD203B41FA5}">
                      <a16:colId xmlns:a16="http://schemas.microsoft.com/office/drawing/2014/main" val="20003"/>
                    </a:ext>
                  </a:extLst>
                </a:gridCol>
                <a:gridCol w="732108">
                  <a:extLst>
                    <a:ext uri="{9D8B030D-6E8A-4147-A177-3AD203B41FA5}">
                      <a16:colId xmlns:a16="http://schemas.microsoft.com/office/drawing/2014/main" val="20004"/>
                    </a:ext>
                  </a:extLst>
                </a:gridCol>
                <a:gridCol w="732108">
                  <a:extLst>
                    <a:ext uri="{9D8B030D-6E8A-4147-A177-3AD203B41FA5}">
                      <a16:colId xmlns:a16="http://schemas.microsoft.com/office/drawing/2014/main" val="20005"/>
                    </a:ext>
                  </a:extLst>
                </a:gridCol>
                <a:gridCol w="732108">
                  <a:extLst>
                    <a:ext uri="{9D8B030D-6E8A-4147-A177-3AD203B41FA5}">
                      <a16:colId xmlns:a16="http://schemas.microsoft.com/office/drawing/2014/main" val="20006"/>
                    </a:ext>
                  </a:extLst>
                </a:gridCol>
                <a:gridCol w="732108">
                  <a:extLst>
                    <a:ext uri="{9D8B030D-6E8A-4147-A177-3AD203B41FA5}">
                      <a16:colId xmlns:a16="http://schemas.microsoft.com/office/drawing/2014/main" val="20007"/>
                    </a:ext>
                  </a:extLst>
                </a:gridCol>
                <a:gridCol w="732108">
                  <a:extLst>
                    <a:ext uri="{9D8B030D-6E8A-4147-A177-3AD203B41FA5}">
                      <a16:colId xmlns:a16="http://schemas.microsoft.com/office/drawing/2014/main" val="20008"/>
                    </a:ext>
                  </a:extLst>
                </a:gridCol>
                <a:gridCol w="732108">
                  <a:extLst>
                    <a:ext uri="{9D8B030D-6E8A-4147-A177-3AD203B41FA5}">
                      <a16:colId xmlns:a16="http://schemas.microsoft.com/office/drawing/2014/main" val="20009"/>
                    </a:ext>
                  </a:extLst>
                </a:gridCol>
                <a:gridCol w="732108">
                  <a:extLst>
                    <a:ext uri="{9D8B030D-6E8A-4147-A177-3AD203B41FA5}">
                      <a16:colId xmlns:a16="http://schemas.microsoft.com/office/drawing/2014/main" val="20010"/>
                    </a:ext>
                  </a:extLst>
                </a:gridCol>
                <a:gridCol w="732108">
                  <a:extLst>
                    <a:ext uri="{9D8B030D-6E8A-4147-A177-3AD203B41FA5}">
                      <a16:colId xmlns:a16="http://schemas.microsoft.com/office/drawing/2014/main" val="20011"/>
                    </a:ext>
                  </a:extLst>
                </a:gridCol>
              </a:tblGrid>
              <a:tr h="320743">
                <a:tc>
                  <a:txBody>
                    <a:bodyPr/>
                    <a:lstStyle/>
                    <a:p>
                      <a:pPr algn="ctr" fontAlgn="b"/>
                      <a:r>
                        <a:rPr lang="en-GB" sz="1600" u="none" strike="noStrike" dirty="0">
                          <a:solidFill>
                            <a:schemeClr val="tx1"/>
                          </a:solidFill>
                          <a:effectLst/>
                        </a:rPr>
                        <a:t> </a:t>
                      </a:r>
                      <a:endParaRPr lang="en-GB" sz="1600" b="0" i="0" u="none" strike="noStrike" dirty="0">
                        <a:solidFill>
                          <a:schemeClr val="tx1"/>
                        </a:solidFill>
                        <a:effectLst/>
                        <a:latin typeface="Calibri"/>
                      </a:endParaRPr>
                    </a:p>
                  </a:txBody>
                  <a:tcPr marL="9932" marR="9932" marT="9525" marB="0" anchor="ctr">
                    <a:solidFill>
                      <a:srgbClr val="CC3300"/>
                    </a:solidFill>
                  </a:tcPr>
                </a:tc>
                <a:tc>
                  <a:txBody>
                    <a:bodyPr/>
                    <a:lstStyle/>
                    <a:p>
                      <a:pPr algn="ctr" fontAlgn="b"/>
                      <a:r>
                        <a:rPr lang="en-GB" sz="1600" u="none" strike="noStrike" dirty="0">
                          <a:solidFill>
                            <a:schemeClr val="bg1"/>
                          </a:solidFill>
                          <a:effectLst/>
                        </a:rPr>
                        <a:t>Burn In</a:t>
                      </a:r>
                      <a:endParaRPr lang="en-GB" sz="1600" b="0" i="0" u="none" strike="noStrike" dirty="0">
                        <a:solidFill>
                          <a:schemeClr val="bg1"/>
                        </a:solidFill>
                        <a:effectLst/>
                        <a:latin typeface="Calibri"/>
                      </a:endParaRPr>
                    </a:p>
                  </a:txBody>
                  <a:tcPr marL="9932" marR="9932" marT="9525" marB="0" anchor="ctr">
                    <a:solidFill>
                      <a:srgbClr val="CC3300"/>
                    </a:solidFill>
                  </a:tcPr>
                </a:tc>
                <a:tc>
                  <a:txBody>
                    <a:bodyPr/>
                    <a:lstStyle/>
                    <a:p>
                      <a:pPr algn="ctr" fontAlgn="b"/>
                      <a:r>
                        <a:rPr lang="en-GB" sz="1600" u="none" strike="noStrike" dirty="0">
                          <a:solidFill>
                            <a:schemeClr val="bg1"/>
                          </a:solidFill>
                          <a:effectLst/>
                        </a:rPr>
                        <a:t>0</a:t>
                      </a:r>
                      <a:endParaRPr lang="en-GB" sz="1600" b="0" i="0" u="none" strike="noStrike" dirty="0">
                        <a:solidFill>
                          <a:schemeClr val="bg1"/>
                        </a:solidFill>
                        <a:effectLst/>
                        <a:latin typeface="Calibri"/>
                      </a:endParaRPr>
                    </a:p>
                  </a:txBody>
                  <a:tcPr marL="9932" marR="9932" marT="9525" marB="0" anchor="ctr">
                    <a:solidFill>
                      <a:srgbClr val="CC3300"/>
                    </a:solidFill>
                  </a:tcPr>
                </a:tc>
                <a:tc>
                  <a:txBody>
                    <a:bodyPr/>
                    <a:lstStyle/>
                    <a:p>
                      <a:pPr algn="ctr" fontAlgn="b"/>
                      <a:r>
                        <a:rPr lang="en-GB" sz="1600" u="none" strike="noStrike" dirty="0">
                          <a:solidFill>
                            <a:schemeClr val="bg1"/>
                          </a:solidFill>
                          <a:effectLst/>
                        </a:rPr>
                        <a:t>10</a:t>
                      </a:r>
                      <a:endParaRPr lang="en-GB" sz="1600" b="0" i="0" u="none" strike="noStrike" dirty="0">
                        <a:solidFill>
                          <a:schemeClr val="bg1"/>
                        </a:solidFill>
                        <a:effectLst/>
                        <a:latin typeface="Calibri"/>
                      </a:endParaRPr>
                    </a:p>
                  </a:txBody>
                  <a:tcPr marL="9932" marR="9932" marT="9525" marB="0" anchor="ctr">
                    <a:solidFill>
                      <a:srgbClr val="CC3300"/>
                    </a:solidFill>
                  </a:tcPr>
                </a:tc>
                <a:tc>
                  <a:txBody>
                    <a:bodyPr/>
                    <a:lstStyle/>
                    <a:p>
                      <a:pPr algn="ctr" fontAlgn="b"/>
                      <a:r>
                        <a:rPr lang="en-GB" sz="1600" u="none" strike="noStrike" dirty="0">
                          <a:solidFill>
                            <a:schemeClr val="bg1"/>
                          </a:solidFill>
                          <a:effectLst/>
                        </a:rPr>
                        <a:t>20</a:t>
                      </a:r>
                      <a:endParaRPr lang="en-GB" sz="1600" b="0" i="0" u="none" strike="noStrike" dirty="0">
                        <a:solidFill>
                          <a:schemeClr val="bg1"/>
                        </a:solidFill>
                        <a:effectLst/>
                        <a:latin typeface="Calibri"/>
                      </a:endParaRPr>
                    </a:p>
                  </a:txBody>
                  <a:tcPr marL="9932" marR="9932" marT="9525" marB="0" anchor="ctr">
                    <a:solidFill>
                      <a:srgbClr val="CC3300"/>
                    </a:solidFill>
                  </a:tcPr>
                </a:tc>
                <a:tc>
                  <a:txBody>
                    <a:bodyPr/>
                    <a:lstStyle/>
                    <a:p>
                      <a:pPr algn="ctr" fontAlgn="b"/>
                      <a:r>
                        <a:rPr lang="en-GB" sz="1600" u="none" strike="noStrike" dirty="0">
                          <a:solidFill>
                            <a:schemeClr val="bg1"/>
                          </a:solidFill>
                          <a:effectLst/>
                        </a:rPr>
                        <a:t>30</a:t>
                      </a:r>
                      <a:endParaRPr lang="en-GB" sz="1600" b="0" i="0" u="none" strike="noStrike" dirty="0">
                        <a:solidFill>
                          <a:schemeClr val="bg1"/>
                        </a:solidFill>
                        <a:effectLst/>
                        <a:latin typeface="Calibri"/>
                      </a:endParaRPr>
                    </a:p>
                  </a:txBody>
                  <a:tcPr marL="9932" marR="9932" marT="9525" marB="0" anchor="ctr">
                    <a:solidFill>
                      <a:srgbClr val="CC3300"/>
                    </a:solidFill>
                  </a:tcPr>
                </a:tc>
                <a:tc>
                  <a:txBody>
                    <a:bodyPr/>
                    <a:lstStyle/>
                    <a:p>
                      <a:pPr algn="ctr" fontAlgn="b"/>
                      <a:r>
                        <a:rPr lang="en-GB" sz="1600" u="none" strike="noStrike" dirty="0">
                          <a:solidFill>
                            <a:schemeClr val="bg1"/>
                          </a:solidFill>
                          <a:effectLst/>
                        </a:rPr>
                        <a:t>40</a:t>
                      </a:r>
                      <a:endParaRPr lang="en-GB" sz="1600" b="0" i="0" u="none" strike="noStrike" dirty="0">
                        <a:solidFill>
                          <a:schemeClr val="bg1"/>
                        </a:solidFill>
                        <a:effectLst/>
                        <a:latin typeface="Calibri"/>
                      </a:endParaRPr>
                    </a:p>
                  </a:txBody>
                  <a:tcPr marL="9932" marR="9932" marT="9525" marB="0" anchor="ctr">
                    <a:solidFill>
                      <a:srgbClr val="CC3300"/>
                    </a:solidFill>
                  </a:tcPr>
                </a:tc>
                <a:tc>
                  <a:txBody>
                    <a:bodyPr/>
                    <a:lstStyle/>
                    <a:p>
                      <a:pPr algn="ctr" fontAlgn="b"/>
                      <a:r>
                        <a:rPr lang="en-GB" sz="1600" u="none" strike="noStrike" dirty="0">
                          <a:solidFill>
                            <a:schemeClr val="bg1"/>
                          </a:solidFill>
                          <a:effectLst/>
                        </a:rPr>
                        <a:t>50</a:t>
                      </a:r>
                      <a:endParaRPr lang="en-GB" sz="1600" b="0" i="0" u="none" strike="noStrike" dirty="0">
                        <a:solidFill>
                          <a:schemeClr val="bg1"/>
                        </a:solidFill>
                        <a:effectLst/>
                        <a:latin typeface="Calibri"/>
                      </a:endParaRPr>
                    </a:p>
                  </a:txBody>
                  <a:tcPr marL="9932" marR="9932" marT="9525" marB="0" anchor="ctr">
                    <a:solidFill>
                      <a:srgbClr val="CC3300"/>
                    </a:solidFill>
                  </a:tcPr>
                </a:tc>
                <a:tc>
                  <a:txBody>
                    <a:bodyPr/>
                    <a:lstStyle/>
                    <a:p>
                      <a:pPr algn="ctr" fontAlgn="b"/>
                      <a:r>
                        <a:rPr lang="en-GB" sz="1600" u="none" strike="noStrike" dirty="0">
                          <a:solidFill>
                            <a:schemeClr val="bg1"/>
                          </a:solidFill>
                          <a:effectLst/>
                        </a:rPr>
                        <a:t>60</a:t>
                      </a:r>
                      <a:endParaRPr lang="en-GB" sz="1600" b="0" i="0" u="none" strike="noStrike" dirty="0">
                        <a:solidFill>
                          <a:schemeClr val="bg1"/>
                        </a:solidFill>
                        <a:effectLst/>
                        <a:latin typeface="Calibri"/>
                      </a:endParaRPr>
                    </a:p>
                  </a:txBody>
                  <a:tcPr marL="9932" marR="9932" marT="9525" marB="0" anchor="ctr">
                    <a:solidFill>
                      <a:srgbClr val="CC3300"/>
                    </a:solidFill>
                  </a:tcPr>
                </a:tc>
                <a:tc>
                  <a:txBody>
                    <a:bodyPr/>
                    <a:lstStyle/>
                    <a:p>
                      <a:pPr algn="ctr" fontAlgn="b"/>
                      <a:r>
                        <a:rPr lang="en-GB" sz="1600" u="none" strike="noStrike" dirty="0">
                          <a:solidFill>
                            <a:schemeClr val="bg1"/>
                          </a:solidFill>
                          <a:effectLst/>
                        </a:rPr>
                        <a:t>70</a:t>
                      </a:r>
                      <a:endParaRPr lang="en-GB" sz="1600" b="0" i="0" u="none" strike="noStrike" dirty="0">
                        <a:solidFill>
                          <a:schemeClr val="bg1"/>
                        </a:solidFill>
                        <a:effectLst/>
                        <a:latin typeface="Calibri"/>
                      </a:endParaRPr>
                    </a:p>
                  </a:txBody>
                  <a:tcPr marL="9932" marR="9932" marT="9525" marB="0" anchor="ctr">
                    <a:solidFill>
                      <a:srgbClr val="CC3300"/>
                    </a:solidFill>
                  </a:tcPr>
                </a:tc>
                <a:tc>
                  <a:txBody>
                    <a:bodyPr/>
                    <a:lstStyle/>
                    <a:p>
                      <a:pPr algn="ctr" fontAlgn="b"/>
                      <a:r>
                        <a:rPr lang="en-GB" sz="1600" u="none" strike="noStrike" dirty="0">
                          <a:solidFill>
                            <a:schemeClr val="bg1"/>
                          </a:solidFill>
                          <a:effectLst/>
                        </a:rPr>
                        <a:t>80</a:t>
                      </a:r>
                      <a:endParaRPr lang="en-GB" sz="1600" b="0" i="0" u="none" strike="noStrike" dirty="0">
                        <a:solidFill>
                          <a:schemeClr val="bg1"/>
                        </a:solidFill>
                        <a:effectLst/>
                        <a:latin typeface="Calibri"/>
                      </a:endParaRPr>
                    </a:p>
                  </a:txBody>
                  <a:tcPr marL="9932" marR="9932" marT="9525" marB="0" anchor="ctr">
                    <a:solidFill>
                      <a:srgbClr val="CC3300"/>
                    </a:solidFill>
                  </a:tcPr>
                </a:tc>
                <a:tc>
                  <a:txBody>
                    <a:bodyPr/>
                    <a:lstStyle/>
                    <a:p>
                      <a:pPr algn="ctr" fontAlgn="b"/>
                      <a:r>
                        <a:rPr lang="en-GB" sz="1600" u="none" strike="noStrike" dirty="0">
                          <a:solidFill>
                            <a:schemeClr val="bg1"/>
                          </a:solidFill>
                          <a:effectLst/>
                        </a:rPr>
                        <a:t>90</a:t>
                      </a:r>
                      <a:endParaRPr lang="en-GB" sz="1600" b="0" i="0" u="none" strike="noStrike" dirty="0">
                        <a:solidFill>
                          <a:schemeClr val="bg1"/>
                        </a:solidFill>
                        <a:effectLst/>
                        <a:latin typeface="Calibri"/>
                      </a:endParaRPr>
                    </a:p>
                  </a:txBody>
                  <a:tcPr marL="9932" marR="9932" marT="9525" marB="0" anchor="ctr">
                    <a:solidFill>
                      <a:srgbClr val="CC3300"/>
                    </a:solidFill>
                  </a:tcPr>
                </a:tc>
                <a:extLst>
                  <a:ext uri="{0D108BD9-81ED-4DB2-BD59-A6C34878D82A}">
                    <a16:rowId xmlns:a16="http://schemas.microsoft.com/office/drawing/2014/main" val="10000"/>
                  </a:ext>
                </a:extLst>
              </a:tr>
              <a:tr h="320743">
                <a:tc>
                  <a:txBody>
                    <a:bodyPr/>
                    <a:lstStyle/>
                    <a:p>
                      <a:pPr algn="ctr" fontAlgn="b"/>
                      <a:r>
                        <a:rPr lang="en-GB" sz="1600" u="none" strike="noStrike" kern="1200" dirty="0">
                          <a:solidFill>
                            <a:schemeClr val="bg1"/>
                          </a:solidFill>
                          <a:effectLst/>
                          <a:latin typeface="+mn-lt"/>
                          <a:ea typeface="+mn-ea"/>
                          <a:cs typeface="+mn-cs"/>
                        </a:rPr>
                        <a:t>1</a:t>
                      </a:r>
                    </a:p>
                  </a:txBody>
                  <a:tcPr marL="9932" marR="9932" marT="9525" marB="0" anchor="ctr">
                    <a:solidFill>
                      <a:srgbClr val="669900"/>
                    </a:solidFill>
                  </a:tcPr>
                </a:tc>
                <a:tc>
                  <a:txBody>
                    <a:bodyPr/>
                    <a:lstStyle/>
                    <a:p>
                      <a:endParaRPr lang="en-GB" dirty="0"/>
                    </a:p>
                  </a:txBody>
                  <a:tcPr marL="9932" marR="9932" marT="9525" marB="0" anchor="ctr">
                    <a:solidFill>
                      <a:srgbClr val="FFC000"/>
                    </a:solidFill>
                  </a:tcP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extLst>
                  <a:ext uri="{0D108BD9-81ED-4DB2-BD59-A6C34878D82A}">
                    <a16:rowId xmlns:a16="http://schemas.microsoft.com/office/drawing/2014/main" val="10001"/>
                  </a:ext>
                </a:extLst>
              </a:tr>
              <a:tr h="320743">
                <a:tc>
                  <a:txBody>
                    <a:bodyPr/>
                    <a:lstStyle/>
                    <a:p>
                      <a:pPr algn="ctr" fontAlgn="b"/>
                      <a:r>
                        <a:rPr lang="en-GB" sz="1600" u="none" strike="noStrike" kern="1200" dirty="0">
                          <a:solidFill>
                            <a:schemeClr val="bg1"/>
                          </a:solidFill>
                          <a:effectLst/>
                          <a:latin typeface="+mn-lt"/>
                          <a:ea typeface="+mn-ea"/>
                          <a:cs typeface="+mn-cs"/>
                        </a:rPr>
                        <a:t>2</a:t>
                      </a:r>
                    </a:p>
                  </a:txBody>
                  <a:tcPr marL="9932" marR="9932" marT="9525" marB="0" anchor="ctr">
                    <a:solidFill>
                      <a:srgbClr val="669900"/>
                    </a:solidFill>
                  </a:tcPr>
                </a:tc>
                <a:tc>
                  <a:txBody>
                    <a:bodyPr/>
                    <a:lstStyle/>
                    <a:p>
                      <a:endParaRPr lang="en-GB"/>
                    </a:p>
                  </a:txBody>
                  <a:tcPr marL="9932" marR="9932" marT="9525" marB="0" anchor="ctr">
                    <a:solidFill>
                      <a:srgbClr val="FFC000"/>
                    </a:solidFill>
                  </a:tcP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extLst>
                  <a:ext uri="{0D108BD9-81ED-4DB2-BD59-A6C34878D82A}">
                    <a16:rowId xmlns:a16="http://schemas.microsoft.com/office/drawing/2014/main" val="10002"/>
                  </a:ext>
                </a:extLst>
              </a:tr>
              <a:tr h="320743">
                <a:tc>
                  <a:txBody>
                    <a:bodyPr/>
                    <a:lstStyle/>
                    <a:p>
                      <a:pPr algn="ctr" fontAlgn="b"/>
                      <a:r>
                        <a:rPr lang="en-GB" sz="1600" u="none" strike="noStrike" kern="1200" dirty="0">
                          <a:solidFill>
                            <a:schemeClr val="bg1"/>
                          </a:solidFill>
                          <a:effectLst/>
                          <a:latin typeface="+mn-lt"/>
                          <a:ea typeface="+mn-ea"/>
                          <a:cs typeface="+mn-cs"/>
                        </a:rPr>
                        <a:t>3</a:t>
                      </a:r>
                    </a:p>
                  </a:txBody>
                  <a:tcPr marL="9932" marR="9932" marT="9525" marB="0" anchor="ctr">
                    <a:solidFill>
                      <a:srgbClr val="669900"/>
                    </a:solidFill>
                  </a:tcPr>
                </a:tc>
                <a:tc>
                  <a:txBody>
                    <a:bodyPr/>
                    <a:lstStyle/>
                    <a:p>
                      <a:endParaRPr lang="en-GB"/>
                    </a:p>
                  </a:txBody>
                  <a:tcPr marL="9932" marR="9932" marT="9525" marB="0" anchor="ctr">
                    <a:solidFill>
                      <a:srgbClr val="FFC000"/>
                    </a:solidFill>
                  </a:tcP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extLst>
                  <a:ext uri="{0D108BD9-81ED-4DB2-BD59-A6C34878D82A}">
                    <a16:rowId xmlns:a16="http://schemas.microsoft.com/office/drawing/2014/main" val="10003"/>
                  </a:ext>
                </a:extLst>
              </a:tr>
              <a:tr h="320743">
                <a:tc>
                  <a:txBody>
                    <a:bodyPr/>
                    <a:lstStyle/>
                    <a:p>
                      <a:pPr algn="ctr" fontAlgn="b"/>
                      <a:r>
                        <a:rPr lang="en-GB" sz="1600" u="none" strike="noStrike" kern="1200" dirty="0">
                          <a:solidFill>
                            <a:schemeClr val="bg1"/>
                          </a:solidFill>
                          <a:effectLst/>
                          <a:latin typeface="+mn-lt"/>
                          <a:ea typeface="+mn-ea"/>
                          <a:cs typeface="+mn-cs"/>
                        </a:rPr>
                        <a:t>4</a:t>
                      </a:r>
                    </a:p>
                  </a:txBody>
                  <a:tcPr marL="9932" marR="9932" marT="9525" marB="0" anchor="ctr">
                    <a:solidFill>
                      <a:srgbClr val="669900"/>
                    </a:solidFill>
                  </a:tcPr>
                </a:tc>
                <a:tc>
                  <a:txBody>
                    <a:bodyPr/>
                    <a:lstStyle/>
                    <a:p>
                      <a:endParaRPr lang="en-GB"/>
                    </a:p>
                  </a:txBody>
                  <a:tcPr marL="9932" marR="9932" marT="9525" marB="0" anchor="ctr">
                    <a:solidFill>
                      <a:srgbClr val="FFC000"/>
                    </a:solidFill>
                  </a:tcP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extLst>
                  <a:ext uri="{0D108BD9-81ED-4DB2-BD59-A6C34878D82A}">
                    <a16:rowId xmlns:a16="http://schemas.microsoft.com/office/drawing/2014/main" val="10004"/>
                  </a:ext>
                </a:extLst>
              </a:tr>
              <a:tr h="320743">
                <a:tc>
                  <a:txBody>
                    <a:bodyPr/>
                    <a:lstStyle/>
                    <a:p>
                      <a:pPr algn="ctr" fontAlgn="b"/>
                      <a:r>
                        <a:rPr lang="en-GB" sz="1600" u="none" strike="noStrike" kern="1200" dirty="0">
                          <a:solidFill>
                            <a:schemeClr val="bg1"/>
                          </a:solidFill>
                          <a:effectLst/>
                          <a:latin typeface="+mn-lt"/>
                          <a:ea typeface="+mn-ea"/>
                          <a:cs typeface="+mn-cs"/>
                        </a:rPr>
                        <a:t>5</a:t>
                      </a:r>
                    </a:p>
                  </a:txBody>
                  <a:tcPr marL="9932" marR="9932" marT="9525" marB="0" anchor="ctr">
                    <a:solidFill>
                      <a:srgbClr val="669900"/>
                    </a:solidFill>
                  </a:tcPr>
                </a:tc>
                <a:tc>
                  <a:txBody>
                    <a:bodyPr/>
                    <a:lstStyle/>
                    <a:p>
                      <a:endParaRPr lang="en-GB"/>
                    </a:p>
                  </a:txBody>
                  <a:tcPr marL="9932" marR="9932" marT="9525" marB="0" anchor="ctr">
                    <a:solidFill>
                      <a:srgbClr val="FFC000"/>
                    </a:solidFill>
                  </a:tcP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extLst>
                  <a:ext uri="{0D108BD9-81ED-4DB2-BD59-A6C34878D82A}">
                    <a16:rowId xmlns:a16="http://schemas.microsoft.com/office/drawing/2014/main" val="10005"/>
                  </a:ext>
                </a:extLst>
              </a:tr>
              <a:tr h="320743">
                <a:tc>
                  <a:txBody>
                    <a:bodyPr/>
                    <a:lstStyle/>
                    <a:p>
                      <a:pPr algn="ctr" fontAlgn="b"/>
                      <a:r>
                        <a:rPr lang="en-GB" sz="1600" u="none" strike="noStrike" kern="1200" dirty="0">
                          <a:solidFill>
                            <a:schemeClr val="bg1"/>
                          </a:solidFill>
                          <a:effectLst/>
                          <a:latin typeface="+mn-lt"/>
                          <a:ea typeface="+mn-ea"/>
                          <a:cs typeface="+mn-cs"/>
                        </a:rPr>
                        <a:t>6</a:t>
                      </a:r>
                    </a:p>
                  </a:txBody>
                  <a:tcPr marL="9932" marR="9932" marT="9525" marB="0" anchor="ctr">
                    <a:solidFill>
                      <a:srgbClr val="669900"/>
                    </a:solidFill>
                  </a:tcPr>
                </a:tc>
                <a:tc>
                  <a:txBody>
                    <a:bodyPr/>
                    <a:lstStyle/>
                    <a:p>
                      <a:endParaRPr lang="en-GB"/>
                    </a:p>
                  </a:txBody>
                  <a:tcPr marL="9932" marR="9932" marT="9525" marB="0" anchor="ctr">
                    <a:solidFill>
                      <a:srgbClr val="FFC000"/>
                    </a:solidFill>
                  </a:tcP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extLst>
                  <a:ext uri="{0D108BD9-81ED-4DB2-BD59-A6C34878D82A}">
                    <a16:rowId xmlns:a16="http://schemas.microsoft.com/office/drawing/2014/main" val="10006"/>
                  </a:ext>
                </a:extLst>
              </a:tr>
              <a:tr h="320743">
                <a:tc>
                  <a:txBody>
                    <a:bodyPr/>
                    <a:lstStyle/>
                    <a:p>
                      <a:pPr algn="ctr" fontAlgn="b"/>
                      <a:r>
                        <a:rPr lang="en-GB" sz="1600" u="none" strike="noStrike" kern="1200" dirty="0">
                          <a:solidFill>
                            <a:schemeClr val="bg1"/>
                          </a:solidFill>
                          <a:effectLst/>
                          <a:latin typeface="+mn-lt"/>
                          <a:ea typeface="+mn-ea"/>
                          <a:cs typeface="+mn-cs"/>
                        </a:rPr>
                        <a:t>7</a:t>
                      </a:r>
                    </a:p>
                  </a:txBody>
                  <a:tcPr marL="9932" marR="9932" marT="9525" marB="0" anchor="ctr">
                    <a:solidFill>
                      <a:srgbClr val="669900"/>
                    </a:solidFill>
                  </a:tcPr>
                </a:tc>
                <a:tc>
                  <a:txBody>
                    <a:bodyPr/>
                    <a:lstStyle/>
                    <a:p>
                      <a:endParaRPr lang="en-GB"/>
                    </a:p>
                  </a:txBody>
                  <a:tcPr marL="9932" marR="9932" marT="9525" marB="0" anchor="ctr">
                    <a:solidFill>
                      <a:srgbClr val="FFC000"/>
                    </a:solidFill>
                  </a:tcP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extLst>
                  <a:ext uri="{0D108BD9-81ED-4DB2-BD59-A6C34878D82A}">
                    <a16:rowId xmlns:a16="http://schemas.microsoft.com/office/drawing/2014/main" val="10007"/>
                  </a:ext>
                </a:extLst>
              </a:tr>
              <a:tr h="320743">
                <a:tc>
                  <a:txBody>
                    <a:bodyPr/>
                    <a:lstStyle/>
                    <a:p>
                      <a:pPr algn="ctr" fontAlgn="b"/>
                      <a:r>
                        <a:rPr lang="en-GB" sz="1600" u="none" strike="noStrike" kern="1200" dirty="0">
                          <a:solidFill>
                            <a:schemeClr val="bg1"/>
                          </a:solidFill>
                          <a:effectLst/>
                          <a:latin typeface="+mn-lt"/>
                          <a:ea typeface="+mn-ea"/>
                          <a:cs typeface="+mn-cs"/>
                        </a:rPr>
                        <a:t>8</a:t>
                      </a:r>
                    </a:p>
                  </a:txBody>
                  <a:tcPr marL="9932" marR="9932" marT="9525" marB="0" anchor="ctr">
                    <a:solidFill>
                      <a:srgbClr val="669900"/>
                    </a:solidFill>
                  </a:tcPr>
                </a:tc>
                <a:tc>
                  <a:txBody>
                    <a:bodyPr/>
                    <a:lstStyle/>
                    <a:p>
                      <a:endParaRPr lang="en-GB"/>
                    </a:p>
                  </a:txBody>
                  <a:tcPr marL="9932" marR="9932" marT="9525" marB="0" anchor="ctr">
                    <a:solidFill>
                      <a:srgbClr val="FFC000"/>
                    </a:solidFill>
                  </a:tcP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extLst>
                  <a:ext uri="{0D108BD9-81ED-4DB2-BD59-A6C34878D82A}">
                    <a16:rowId xmlns:a16="http://schemas.microsoft.com/office/drawing/2014/main" val="10008"/>
                  </a:ext>
                </a:extLst>
              </a:tr>
              <a:tr h="320743">
                <a:tc>
                  <a:txBody>
                    <a:bodyPr/>
                    <a:lstStyle/>
                    <a:p>
                      <a:pPr algn="ctr" fontAlgn="b"/>
                      <a:r>
                        <a:rPr lang="en-GB" sz="1600" u="none" strike="noStrike" kern="1200" dirty="0">
                          <a:solidFill>
                            <a:schemeClr val="bg1"/>
                          </a:solidFill>
                          <a:effectLst/>
                          <a:latin typeface="+mn-lt"/>
                          <a:ea typeface="+mn-ea"/>
                          <a:cs typeface="+mn-cs"/>
                        </a:rPr>
                        <a:t>9</a:t>
                      </a:r>
                    </a:p>
                  </a:txBody>
                  <a:tcPr marL="9932" marR="9932" marT="9525" marB="0" anchor="ctr">
                    <a:solidFill>
                      <a:srgbClr val="669900"/>
                    </a:solidFill>
                  </a:tcPr>
                </a:tc>
                <a:tc>
                  <a:txBody>
                    <a:bodyPr/>
                    <a:lstStyle/>
                    <a:p>
                      <a:endParaRPr lang="en-GB"/>
                    </a:p>
                  </a:txBody>
                  <a:tcPr marL="9932" marR="9932" marT="9525" marB="0" anchor="ctr">
                    <a:solidFill>
                      <a:srgbClr val="FFC000"/>
                    </a:solidFill>
                  </a:tcP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extLst>
                  <a:ext uri="{0D108BD9-81ED-4DB2-BD59-A6C34878D82A}">
                    <a16:rowId xmlns:a16="http://schemas.microsoft.com/office/drawing/2014/main" val="10009"/>
                  </a:ext>
                </a:extLst>
              </a:tr>
              <a:tr h="320743">
                <a:tc>
                  <a:txBody>
                    <a:bodyPr/>
                    <a:lstStyle/>
                    <a:p>
                      <a:pPr algn="ctr" fontAlgn="b"/>
                      <a:r>
                        <a:rPr lang="en-GB" sz="1600" u="none" strike="noStrike" kern="1200" dirty="0">
                          <a:solidFill>
                            <a:schemeClr val="bg1"/>
                          </a:solidFill>
                          <a:effectLst/>
                          <a:latin typeface="+mn-lt"/>
                          <a:ea typeface="+mn-ea"/>
                          <a:cs typeface="+mn-cs"/>
                        </a:rPr>
                        <a:t>10</a:t>
                      </a:r>
                    </a:p>
                  </a:txBody>
                  <a:tcPr marL="9932" marR="9932" marT="9525" marB="0" anchor="ctr">
                    <a:solidFill>
                      <a:srgbClr val="669900"/>
                    </a:solidFill>
                  </a:tcPr>
                </a:tc>
                <a:tc>
                  <a:txBody>
                    <a:bodyPr/>
                    <a:lstStyle/>
                    <a:p>
                      <a:endParaRPr lang="en-GB"/>
                    </a:p>
                  </a:txBody>
                  <a:tcPr marL="9932" marR="9932" marT="9525" marB="0" anchor="ctr">
                    <a:solidFill>
                      <a:srgbClr val="FFC000"/>
                    </a:solidFill>
                  </a:tcP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a:p>
                  </a:txBody>
                  <a:tcPr marL="9932" marR="9932" marT="9525" marB="0" anchor="ctr"/>
                </a:tc>
                <a:tc>
                  <a:txBody>
                    <a:bodyPr/>
                    <a:lstStyle/>
                    <a:p>
                      <a:endParaRPr lang="en-GB" dirty="0"/>
                    </a:p>
                  </a:txBody>
                  <a:tcPr marL="9932" marR="9932" marT="9525" marB="0" anchor="ctr"/>
                </a:tc>
                <a:extLst>
                  <a:ext uri="{0D108BD9-81ED-4DB2-BD59-A6C34878D82A}">
                    <a16:rowId xmlns:a16="http://schemas.microsoft.com/office/drawing/2014/main" val="10010"/>
                  </a:ext>
                </a:extLst>
              </a:tr>
            </a:tbl>
          </a:graphicData>
        </a:graphic>
      </p:graphicFrame>
      <p:sp>
        <p:nvSpPr>
          <p:cNvPr id="4" name="Date Placeholder 3"/>
          <p:cNvSpPr>
            <a:spLocks noGrp="1"/>
          </p:cNvSpPr>
          <p:nvPr>
            <p:ph type="dt" sz="half" idx="10"/>
          </p:nvPr>
        </p:nvSpPr>
        <p:spPr/>
        <p:txBody>
          <a:bodyPr/>
          <a:lstStyle/>
          <a:p>
            <a:fld id="{A041125F-3EFF-4BFA-9B80-E5A51BEC759D}"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graphicFrame>
        <p:nvGraphicFramePr>
          <p:cNvPr id="20" name="Content Placeholder 5"/>
          <p:cNvGraphicFramePr>
            <a:graphicFrameLocks/>
          </p:cNvGraphicFramePr>
          <p:nvPr/>
        </p:nvGraphicFramePr>
        <p:xfrm>
          <a:off x="1703512" y="4725144"/>
          <a:ext cx="8785224" cy="1463040"/>
        </p:xfrm>
        <a:graphic>
          <a:graphicData uri="http://schemas.openxmlformats.org/drawingml/2006/table">
            <a:tbl>
              <a:tblPr firstRow="1" firstCol="1" bandRow="1">
                <a:tableStyleId>{5C22544A-7EE6-4342-B048-85BDC9FD1C3A}</a:tableStyleId>
              </a:tblPr>
              <a:tblGrid>
                <a:gridCol w="2196306">
                  <a:extLst>
                    <a:ext uri="{9D8B030D-6E8A-4147-A177-3AD203B41FA5}">
                      <a16:colId xmlns:a16="http://schemas.microsoft.com/office/drawing/2014/main" val="20000"/>
                    </a:ext>
                  </a:extLst>
                </a:gridCol>
                <a:gridCol w="2196306">
                  <a:extLst>
                    <a:ext uri="{9D8B030D-6E8A-4147-A177-3AD203B41FA5}">
                      <a16:colId xmlns:a16="http://schemas.microsoft.com/office/drawing/2014/main" val="20001"/>
                    </a:ext>
                  </a:extLst>
                </a:gridCol>
                <a:gridCol w="2196306">
                  <a:extLst>
                    <a:ext uri="{9D8B030D-6E8A-4147-A177-3AD203B41FA5}">
                      <a16:colId xmlns:a16="http://schemas.microsoft.com/office/drawing/2014/main" val="20002"/>
                    </a:ext>
                  </a:extLst>
                </a:gridCol>
                <a:gridCol w="2196306">
                  <a:extLst>
                    <a:ext uri="{9D8B030D-6E8A-4147-A177-3AD203B41FA5}">
                      <a16:colId xmlns:a16="http://schemas.microsoft.com/office/drawing/2014/main" val="20003"/>
                    </a:ext>
                  </a:extLst>
                </a:gridCol>
              </a:tblGrid>
              <a:tr h="324036">
                <a:tc>
                  <a:txBody>
                    <a:bodyPr/>
                    <a:lstStyle/>
                    <a:p>
                      <a:endParaRPr lang="en-GB" dirty="0"/>
                    </a:p>
                  </a:txBody>
                  <a:tcPr/>
                </a:tc>
                <a:tc>
                  <a:txBody>
                    <a:bodyPr/>
                    <a:lstStyle/>
                    <a:p>
                      <a:endParaRPr lang="en-GB" dirty="0"/>
                    </a:p>
                  </a:txBody>
                  <a:tcPr/>
                </a:tc>
                <a:tc>
                  <a:txBody>
                    <a:bodyPr/>
                    <a:lstStyle/>
                    <a:p>
                      <a:r>
                        <a:rPr lang="en-GB" dirty="0"/>
                        <a:t>From</a:t>
                      </a:r>
                    </a:p>
                  </a:txBody>
                  <a:tcPr>
                    <a:lnB w="76200" cap="flat" cmpd="sng" algn="ctr">
                      <a:solidFill>
                        <a:schemeClr val="tx1"/>
                      </a:solidFill>
                      <a:prstDash val="solid"/>
                      <a:round/>
                      <a:headEnd type="none" w="med" len="med"/>
                      <a:tailEnd type="none" w="med" len="med"/>
                    </a:lnB>
                  </a:tcPr>
                </a:tc>
                <a:tc>
                  <a:txBody>
                    <a:bodyPr/>
                    <a:lstStyle/>
                    <a:p>
                      <a:endParaRPr lang="en-GB" dirty="0"/>
                    </a:p>
                  </a:txBody>
                  <a:tcPr>
                    <a:lnB w="762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4036">
                <a:tc>
                  <a:txBody>
                    <a:bodyPr/>
                    <a:lstStyle/>
                    <a:p>
                      <a:endParaRPr lang="en-GB" dirty="0"/>
                    </a:p>
                  </a:txBody>
                  <a:tcPr/>
                </a:tc>
                <a:tc>
                  <a:txBody>
                    <a:bodyPr/>
                    <a:lstStyle/>
                    <a:p>
                      <a:endParaRPr lang="en-GB" dirty="0"/>
                    </a:p>
                  </a:txBody>
                  <a:tcPr>
                    <a:lnR w="76200" cap="flat" cmpd="sng" algn="ctr">
                      <a:solidFill>
                        <a:schemeClr val="tx1"/>
                      </a:solidFill>
                      <a:prstDash val="solid"/>
                      <a:round/>
                      <a:headEnd type="none" w="med" len="med"/>
                      <a:tailEnd type="none" w="med" len="med"/>
                    </a:lnR>
                  </a:tcPr>
                </a:tc>
                <a:tc>
                  <a:txBody>
                    <a:bodyPr/>
                    <a:lstStyle/>
                    <a:p>
                      <a:r>
                        <a:rPr lang="en-GB" dirty="0"/>
                        <a:t>Cat is </a:t>
                      </a:r>
                      <a:r>
                        <a:rPr lang="en-GB" u="sng" dirty="0"/>
                        <a:t>Outside</a:t>
                      </a: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tcPr>
                </a:tc>
                <a:tc>
                  <a:txBody>
                    <a:bodyPr/>
                    <a:lstStyle/>
                    <a:p>
                      <a:r>
                        <a:rPr lang="en-GB" dirty="0"/>
                        <a:t>Cat is </a:t>
                      </a:r>
                      <a:r>
                        <a:rPr lang="en-GB" u="sng" dirty="0"/>
                        <a:t>Inside</a:t>
                      </a: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24036">
                <a:tc>
                  <a:txBody>
                    <a:bodyPr/>
                    <a:lstStyle/>
                    <a:p>
                      <a:pPr algn="r"/>
                      <a:r>
                        <a:rPr lang="en-GB" dirty="0"/>
                        <a:t>To</a:t>
                      </a:r>
                    </a:p>
                  </a:txBody>
                  <a:tcPr/>
                </a:tc>
                <a:tc>
                  <a:txBody>
                    <a:bodyPr/>
                    <a:lstStyle/>
                    <a:p>
                      <a:r>
                        <a:rPr lang="en-GB" dirty="0"/>
                        <a:t>Cat is Outside</a:t>
                      </a:r>
                    </a:p>
                  </a:txBody>
                  <a:tcPr>
                    <a:lnR w="76200" cap="flat" cmpd="sng" algn="ctr">
                      <a:solidFill>
                        <a:schemeClr val="tx1"/>
                      </a:solidFill>
                      <a:prstDash val="solid"/>
                      <a:round/>
                      <a:headEnd type="none" w="med" len="med"/>
                      <a:tailEnd type="none" w="med" len="med"/>
                    </a:lnR>
                  </a:tcPr>
                </a:tc>
                <a:tc>
                  <a:txBody>
                    <a:bodyPr/>
                    <a:lstStyle/>
                    <a:p>
                      <a:pPr algn="ctr"/>
                      <a:r>
                        <a:rPr lang="en-GB" dirty="0"/>
                        <a:t>1</a:t>
                      </a:r>
                      <a:r>
                        <a:rPr lang="en-GB" baseline="0" dirty="0"/>
                        <a:t>, 2, 3, 4, 5, 6, 7, 8</a:t>
                      </a:r>
                      <a:endParaRPr lang="en-GB" dirty="0"/>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tcPr>
                </a:tc>
                <a:tc>
                  <a:txBody>
                    <a:bodyPr/>
                    <a:lstStyle/>
                    <a:p>
                      <a:pPr algn="ctr"/>
                      <a:r>
                        <a:rPr lang="en-GB" dirty="0"/>
                        <a:t>1</a:t>
                      </a:r>
                      <a:r>
                        <a:rPr lang="en-GB" baseline="0" dirty="0"/>
                        <a:t>, 2, 3, 4</a:t>
                      </a:r>
                      <a:endParaRPr lang="en-GB" dirty="0"/>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24036">
                <a:tc>
                  <a:txBody>
                    <a:bodyPr/>
                    <a:lstStyle/>
                    <a:p>
                      <a:endParaRPr lang="en-GB" dirty="0"/>
                    </a:p>
                  </a:txBody>
                  <a:tcPr/>
                </a:tc>
                <a:tc>
                  <a:txBody>
                    <a:bodyPr/>
                    <a:lstStyle/>
                    <a:p>
                      <a:r>
                        <a:rPr lang="en-GB" dirty="0"/>
                        <a:t>Cat is Inside</a:t>
                      </a:r>
                    </a:p>
                  </a:txBody>
                  <a:tcPr>
                    <a:lnR w="76200" cap="flat" cmpd="sng" algn="ctr">
                      <a:solidFill>
                        <a:schemeClr val="tx1"/>
                      </a:solidFill>
                      <a:prstDash val="solid"/>
                      <a:round/>
                      <a:headEnd type="none" w="med" len="med"/>
                      <a:tailEnd type="none" w="med" len="med"/>
                    </a:lnR>
                  </a:tcPr>
                </a:tc>
                <a:tc>
                  <a:txBody>
                    <a:bodyPr/>
                    <a:lstStyle/>
                    <a:p>
                      <a:pPr algn="ctr"/>
                      <a:r>
                        <a:rPr lang="en-GB" dirty="0"/>
                        <a:t>9</a:t>
                      </a:r>
                      <a:r>
                        <a:rPr lang="en-GB" baseline="0" dirty="0"/>
                        <a:t>, 10</a:t>
                      </a:r>
                      <a:endParaRPr lang="en-GB" dirty="0"/>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B w="76200" cap="flat" cmpd="sng" algn="ctr">
                      <a:solidFill>
                        <a:schemeClr val="tx1"/>
                      </a:solidFill>
                      <a:prstDash val="solid"/>
                      <a:round/>
                      <a:headEnd type="none" w="med" len="med"/>
                      <a:tailEnd type="none" w="med" len="med"/>
                    </a:lnB>
                  </a:tcPr>
                </a:tc>
                <a:tc>
                  <a:txBody>
                    <a:bodyPr/>
                    <a:lstStyle/>
                    <a:p>
                      <a:pPr algn="ctr"/>
                      <a:r>
                        <a:rPr lang="en-GB" baseline="0" dirty="0"/>
                        <a:t>5, 6, 7, 8, 9, 10</a:t>
                      </a:r>
                      <a:endParaRPr lang="en-GB" dirty="0"/>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B w="762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734016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It’s A Cat’s Life</a:t>
            </a:r>
          </a:p>
        </p:txBody>
      </p:sp>
      <p:sp>
        <p:nvSpPr>
          <p:cNvPr id="5" name="Content Placeholder 4"/>
          <p:cNvSpPr>
            <a:spLocks noGrp="1"/>
          </p:cNvSpPr>
          <p:nvPr>
            <p:ph idx="1"/>
          </p:nvPr>
        </p:nvSpPr>
        <p:spPr/>
        <p:txBody>
          <a:bodyPr/>
          <a:lstStyle/>
          <a:p>
            <a:r>
              <a:rPr lang="en-GB" dirty="0"/>
              <a:t>Our answer is 0.33</a:t>
            </a:r>
          </a:p>
          <a:p>
            <a:r>
              <a:rPr lang="en-GB" dirty="0"/>
              <a:t>Analytical answer is 1/3!</a:t>
            </a:r>
          </a:p>
          <a:p>
            <a:r>
              <a:rPr lang="en-GB" dirty="0"/>
              <a:t>MCMC with 100,000 estimate is 0.3342</a:t>
            </a:r>
          </a:p>
          <a:p>
            <a:pPr lvl="1"/>
            <a:r>
              <a:rPr lang="en-GB" dirty="0" err="1"/>
              <a:t>s.e.</a:t>
            </a:r>
            <a:r>
              <a:rPr lang="en-GB" dirty="0"/>
              <a:t> ~ 0.0039</a:t>
            </a:r>
          </a:p>
          <a:p>
            <a:pPr marL="0" indent="0">
              <a:buNone/>
            </a:pPr>
            <a:endParaRPr lang="en-GB" dirty="0"/>
          </a:p>
        </p:txBody>
      </p:sp>
      <p:sp>
        <p:nvSpPr>
          <p:cNvPr id="3" name="Date Placeholder 2"/>
          <p:cNvSpPr>
            <a:spLocks noGrp="1"/>
          </p:cNvSpPr>
          <p:nvPr>
            <p:ph type="dt" sz="half" idx="10"/>
          </p:nvPr>
        </p:nvSpPr>
        <p:spPr/>
        <p:txBody>
          <a:bodyPr/>
          <a:lstStyle/>
          <a:p>
            <a:fld id="{3B05F5D2-F5AD-4A05-9984-C485D1AC8D72}" type="datetime4">
              <a:rPr lang="en-GB" smtClean="0"/>
              <a:t>12 February 2025</a:t>
            </a:fld>
            <a:endParaRPr lang="en-GB"/>
          </a:p>
        </p:txBody>
      </p:sp>
      <p:sp>
        <p:nvSpPr>
          <p:cNvPr id="4" name="Footer Placeholder 3"/>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4099188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67E3EDE-3533-4CFC-A23C-4BCC24CED6D7}"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
        <p:nvSpPr>
          <p:cNvPr id="388098" name="Rectangle 2"/>
          <p:cNvSpPr>
            <a:spLocks noGrp="1" noChangeArrowheads="1"/>
          </p:cNvSpPr>
          <p:nvPr>
            <p:ph type="ctrTitle"/>
          </p:nvPr>
        </p:nvSpPr>
        <p:spPr>
          <a:xfrm>
            <a:off x="2209800" y="2286000"/>
            <a:ext cx="7772400" cy="1143000"/>
          </a:xfrm>
        </p:spPr>
        <p:txBody>
          <a:bodyPr/>
          <a:lstStyle/>
          <a:p>
            <a:r>
              <a:rPr lang="en-GB" dirty="0"/>
              <a:t>… Lecture 10 …</a:t>
            </a:r>
            <a:br>
              <a:rPr lang="en-GB" dirty="0"/>
            </a:br>
            <a:r>
              <a:rPr lang="en-GB" dirty="0"/>
              <a:t>Mainly MCMC Models</a:t>
            </a:r>
          </a:p>
        </p:txBody>
      </p:sp>
      <p:sp>
        <p:nvSpPr>
          <p:cNvPr id="388099" name="Rectangle 3"/>
          <p:cNvSpPr>
            <a:spLocks noGrp="1" noChangeArrowheads="1"/>
          </p:cNvSpPr>
          <p:nvPr>
            <p:ph type="subTitle" idx="1"/>
          </p:nvPr>
        </p:nvSpPr>
        <p:spPr>
          <a:ln/>
        </p:spPr>
        <p:txBody>
          <a:bodyPr/>
          <a:lstStyle/>
          <a:p>
            <a:r>
              <a:rPr lang="en-US" dirty="0"/>
              <a:t>Part 3: </a:t>
            </a:r>
          </a:p>
          <a:p>
            <a:r>
              <a:rPr lang="en-US" dirty="0"/>
              <a:t>MCMC &amp; the amazing Ergodic Theorem!</a:t>
            </a:r>
          </a:p>
        </p:txBody>
      </p:sp>
    </p:spTree>
    <p:extLst>
      <p:ext uri="{BB962C8B-B14F-4D97-AF65-F5344CB8AC3E}">
        <p14:creationId xmlns:p14="http://schemas.microsoft.com/office/powerpoint/2010/main" val="36600521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Monte Carlo Markov Chains</a:t>
            </a:r>
          </a:p>
        </p:txBody>
      </p:sp>
      <p:sp>
        <p:nvSpPr>
          <p:cNvPr id="5" name="Content Placeholder 4"/>
          <p:cNvSpPr>
            <a:spLocks noGrp="1"/>
          </p:cNvSpPr>
          <p:nvPr>
            <p:ph idx="1"/>
          </p:nvPr>
        </p:nvSpPr>
        <p:spPr/>
        <p:txBody>
          <a:bodyPr/>
          <a:lstStyle/>
          <a:p>
            <a:r>
              <a:rPr lang="en-GB" dirty="0"/>
              <a:t>Have n states that describe the problem</a:t>
            </a:r>
          </a:p>
          <a:p>
            <a:pPr lvl="1"/>
            <a:r>
              <a:rPr lang="en-GB" dirty="0"/>
              <a:t>2 in cat example</a:t>
            </a:r>
          </a:p>
          <a:p>
            <a:r>
              <a:rPr lang="en-GB" dirty="0"/>
              <a:t>Have complete set of conditional distributions</a:t>
            </a:r>
          </a:p>
          <a:p>
            <a:pPr lvl="1"/>
            <a:r>
              <a:rPr lang="en-GB" dirty="0"/>
              <a:t>what are the probabilities of the next state given where I am now</a:t>
            </a:r>
          </a:p>
          <a:p>
            <a:pPr lvl="1"/>
            <a:endParaRPr lang="en-GB" dirty="0"/>
          </a:p>
          <a:p>
            <a:pPr marL="0" indent="0">
              <a:buNone/>
            </a:pPr>
            <a:endParaRPr lang="en-GB" dirty="0"/>
          </a:p>
          <a:p>
            <a:endParaRPr lang="en-GB" dirty="0"/>
          </a:p>
          <a:p>
            <a:r>
              <a:rPr lang="en-GB" dirty="0"/>
              <a:t>Can obtain the distribution of solution</a:t>
            </a:r>
          </a:p>
          <a:p>
            <a:endParaRPr lang="en-GB" dirty="0"/>
          </a:p>
        </p:txBody>
      </p:sp>
      <p:sp>
        <p:nvSpPr>
          <p:cNvPr id="3" name="Date Placeholder 2"/>
          <p:cNvSpPr>
            <a:spLocks noGrp="1"/>
          </p:cNvSpPr>
          <p:nvPr>
            <p:ph type="dt" sz="half" idx="10"/>
          </p:nvPr>
        </p:nvSpPr>
        <p:spPr/>
        <p:txBody>
          <a:bodyPr/>
          <a:lstStyle/>
          <a:p>
            <a:fld id="{3B05F5D2-F5AD-4A05-9984-C485D1AC8D72}" type="datetime4">
              <a:rPr lang="en-GB" smtClean="0"/>
              <a:t>12 February 2025</a:t>
            </a:fld>
            <a:endParaRPr lang="en-GB"/>
          </a:p>
        </p:txBody>
      </p:sp>
      <p:sp>
        <p:nvSpPr>
          <p:cNvPr id="4" name="Footer Placeholder 3"/>
          <p:cNvSpPr>
            <a:spLocks noGrp="1"/>
          </p:cNvSpPr>
          <p:nvPr>
            <p:ph type="ftr" sz="quarter" idx="11"/>
          </p:nvPr>
        </p:nvSpPr>
        <p:spPr/>
        <p:txBody>
          <a:bodyPr/>
          <a:lstStyle/>
          <a:p>
            <a:r>
              <a:rPr lang="en-GB" dirty="0"/>
              <a:t>Lecture 10</a:t>
            </a:r>
          </a:p>
        </p:txBody>
      </p:sp>
      <p:graphicFrame>
        <p:nvGraphicFramePr>
          <p:cNvPr id="6" name="Table 5"/>
          <p:cNvGraphicFramePr>
            <a:graphicFrameLocks noGrp="1"/>
          </p:cNvGraphicFramePr>
          <p:nvPr>
            <p:extLst>
              <p:ext uri="{D42A27DB-BD31-4B8C-83A1-F6EECF244321}">
                <p14:modId xmlns:p14="http://schemas.microsoft.com/office/powerpoint/2010/main" val="3905404137"/>
              </p:ext>
            </p:extLst>
          </p:nvPr>
        </p:nvGraphicFramePr>
        <p:xfrm>
          <a:off x="3195557" y="3843888"/>
          <a:ext cx="6588918" cy="1097280"/>
        </p:xfrm>
        <a:graphic>
          <a:graphicData uri="http://schemas.openxmlformats.org/drawingml/2006/table">
            <a:tbl>
              <a:tblPr firstRow="1" firstCol="1" bandRow="1">
                <a:tableStyleId>{5C22544A-7EE6-4342-B048-85BDC9FD1C3A}</a:tableStyleId>
              </a:tblPr>
              <a:tblGrid>
                <a:gridCol w="2196306">
                  <a:extLst>
                    <a:ext uri="{9D8B030D-6E8A-4147-A177-3AD203B41FA5}">
                      <a16:colId xmlns:a16="http://schemas.microsoft.com/office/drawing/2014/main" val="20000"/>
                    </a:ext>
                  </a:extLst>
                </a:gridCol>
                <a:gridCol w="2196306">
                  <a:extLst>
                    <a:ext uri="{9D8B030D-6E8A-4147-A177-3AD203B41FA5}">
                      <a16:colId xmlns:a16="http://schemas.microsoft.com/office/drawing/2014/main" val="20001"/>
                    </a:ext>
                  </a:extLst>
                </a:gridCol>
                <a:gridCol w="2196306">
                  <a:extLst>
                    <a:ext uri="{9D8B030D-6E8A-4147-A177-3AD203B41FA5}">
                      <a16:colId xmlns:a16="http://schemas.microsoft.com/office/drawing/2014/main" val="20002"/>
                    </a:ext>
                  </a:extLst>
                </a:gridCol>
              </a:tblGrid>
              <a:tr h="324036">
                <a:tc>
                  <a:txBody>
                    <a:bodyPr/>
                    <a:lstStyle/>
                    <a:p>
                      <a:endParaRPr lang="en-GB" dirty="0"/>
                    </a:p>
                  </a:txBody>
                  <a:tcPr/>
                </a:tc>
                <a:tc>
                  <a:txBody>
                    <a:bodyPr/>
                    <a:lstStyle/>
                    <a:p>
                      <a:r>
                        <a:rPr lang="en-GB" dirty="0"/>
                        <a:t>Cat is Outside</a:t>
                      </a:r>
                    </a:p>
                  </a:txBody>
                  <a:tcPr/>
                </a:tc>
                <a:tc>
                  <a:txBody>
                    <a:bodyPr/>
                    <a:lstStyle/>
                    <a:p>
                      <a:r>
                        <a:rPr lang="en-GB" dirty="0"/>
                        <a:t>Cat is Inside</a:t>
                      </a:r>
                    </a:p>
                  </a:txBody>
                  <a:tcPr/>
                </a:tc>
                <a:extLst>
                  <a:ext uri="{0D108BD9-81ED-4DB2-BD59-A6C34878D82A}">
                    <a16:rowId xmlns:a16="http://schemas.microsoft.com/office/drawing/2014/main" val="10000"/>
                  </a:ext>
                </a:extLst>
              </a:tr>
              <a:tr h="324036">
                <a:tc>
                  <a:txBody>
                    <a:bodyPr/>
                    <a:lstStyle/>
                    <a:p>
                      <a:r>
                        <a:rPr lang="en-GB" dirty="0"/>
                        <a:t>Cat is Outside</a:t>
                      </a:r>
                    </a:p>
                  </a:txBody>
                  <a:tcPr/>
                </a:tc>
                <a:tc>
                  <a:txBody>
                    <a:bodyPr/>
                    <a:lstStyle/>
                    <a:p>
                      <a:pPr algn="ctr"/>
                      <a:r>
                        <a:rPr lang="en-GB" dirty="0"/>
                        <a:t>1</a:t>
                      </a:r>
                      <a:r>
                        <a:rPr lang="en-GB" baseline="0" dirty="0"/>
                        <a:t> to 8</a:t>
                      </a:r>
                      <a:endParaRPr lang="en-GB" dirty="0"/>
                    </a:p>
                  </a:txBody>
                  <a:tcPr/>
                </a:tc>
                <a:tc>
                  <a:txBody>
                    <a:bodyPr/>
                    <a:lstStyle/>
                    <a:p>
                      <a:pPr algn="ctr"/>
                      <a:r>
                        <a:rPr lang="en-GB" dirty="0"/>
                        <a:t>1</a:t>
                      </a:r>
                      <a:r>
                        <a:rPr lang="en-GB" baseline="0" dirty="0"/>
                        <a:t> to 4</a:t>
                      </a:r>
                      <a:endParaRPr lang="en-GB" dirty="0"/>
                    </a:p>
                  </a:txBody>
                  <a:tcPr/>
                </a:tc>
                <a:extLst>
                  <a:ext uri="{0D108BD9-81ED-4DB2-BD59-A6C34878D82A}">
                    <a16:rowId xmlns:a16="http://schemas.microsoft.com/office/drawing/2014/main" val="10001"/>
                  </a:ext>
                </a:extLst>
              </a:tr>
              <a:tr h="324036">
                <a:tc>
                  <a:txBody>
                    <a:bodyPr/>
                    <a:lstStyle/>
                    <a:p>
                      <a:r>
                        <a:rPr lang="en-GB" dirty="0"/>
                        <a:t>Cat is Inside</a:t>
                      </a:r>
                    </a:p>
                  </a:txBody>
                  <a:tcPr/>
                </a:tc>
                <a:tc>
                  <a:txBody>
                    <a:bodyPr/>
                    <a:lstStyle/>
                    <a:p>
                      <a:pPr algn="ctr"/>
                      <a:r>
                        <a:rPr lang="en-GB" baseline="0" dirty="0"/>
                        <a:t>9 to 10</a:t>
                      </a:r>
                      <a:endParaRPr lang="en-GB" dirty="0"/>
                    </a:p>
                  </a:txBody>
                  <a:tcPr/>
                </a:tc>
                <a:tc>
                  <a:txBody>
                    <a:bodyPr/>
                    <a:lstStyle/>
                    <a:p>
                      <a:pPr algn="ctr"/>
                      <a:r>
                        <a:rPr lang="en-GB" baseline="0" dirty="0"/>
                        <a:t>5 to 10</a:t>
                      </a:r>
                      <a:endParaRPr lang="en-GB" dirty="0"/>
                    </a:p>
                  </a:txBody>
                  <a:tcPr/>
                </a:tc>
                <a:extLst>
                  <a:ext uri="{0D108BD9-81ED-4DB2-BD59-A6C34878D82A}">
                    <a16:rowId xmlns:a16="http://schemas.microsoft.com/office/drawing/2014/main" val="10002"/>
                  </a:ext>
                </a:extLst>
              </a:tr>
            </a:tbl>
          </a:graphicData>
        </a:graphic>
      </p:graphicFrame>
      <p:sp>
        <p:nvSpPr>
          <p:cNvPr id="7" name="TextBox 6"/>
          <p:cNvSpPr txBox="1"/>
          <p:nvPr/>
        </p:nvSpPr>
        <p:spPr>
          <a:xfrm>
            <a:off x="7176120" y="3429000"/>
            <a:ext cx="1656184" cy="369332"/>
          </a:xfrm>
          <a:prstGeom prst="rect">
            <a:avLst/>
          </a:prstGeom>
          <a:noFill/>
        </p:spPr>
        <p:txBody>
          <a:bodyPr wrap="square" rtlCol="0">
            <a:spAutoFit/>
          </a:bodyPr>
          <a:lstStyle/>
          <a:p>
            <a:r>
              <a:rPr lang="en-GB" dirty="0"/>
              <a:t>FROM</a:t>
            </a:r>
          </a:p>
        </p:txBody>
      </p:sp>
      <p:sp>
        <p:nvSpPr>
          <p:cNvPr id="8" name="TextBox 7"/>
          <p:cNvSpPr txBox="1"/>
          <p:nvPr/>
        </p:nvSpPr>
        <p:spPr>
          <a:xfrm>
            <a:off x="2495600" y="4211796"/>
            <a:ext cx="1656184" cy="369332"/>
          </a:xfrm>
          <a:prstGeom prst="rect">
            <a:avLst/>
          </a:prstGeom>
          <a:noFill/>
        </p:spPr>
        <p:txBody>
          <a:bodyPr wrap="square" rtlCol="0">
            <a:spAutoFit/>
          </a:bodyPr>
          <a:lstStyle/>
          <a:p>
            <a:r>
              <a:rPr lang="en-GB" dirty="0"/>
              <a:t>TO</a:t>
            </a:r>
          </a:p>
        </p:txBody>
      </p:sp>
    </p:spTree>
    <p:extLst>
      <p:ext uri="{BB962C8B-B14F-4D97-AF65-F5344CB8AC3E}">
        <p14:creationId xmlns:p14="http://schemas.microsoft.com/office/powerpoint/2010/main" val="226049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Monte Carlo Markov Chains</a:t>
            </a:r>
          </a:p>
        </p:txBody>
      </p:sp>
      <p:sp>
        <p:nvSpPr>
          <p:cNvPr id="3" name="Content Placeholder 2"/>
          <p:cNvSpPr>
            <a:spLocks noGrp="1"/>
          </p:cNvSpPr>
          <p:nvPr>
            <p:ph idx="1"/>
          </p:nvPr>
        </p:nvSpPr>
        <p:spPr/>
        <p:txBody>
          <a:bodyPr/>
          <a:lstStyle/>
          <a:p>
            <a:r>
              <a:rPr lang="en-GB" dirty="0"/>
              <a:t>Can go from 2 to n states S</a:t>
            </a:r>
            <a:r>
              <a:rPr lang="en-GB" baseline="-25000" dirty="0"/>
              <a:t>1</a:t>
            </a:r>
            <a:r>
              <a:rPr lang="en-GB" dirty="0"/>
              <a:t>, S</a:t>
            </a:r>
            <a:r>
              <a:rPr lang="en-GB" baseline="-25000" dirty="0"/>
              <a:t>2</a:t>
            </a:r>
            <a:r>
              <a:rPr lang="en-GB" dirty="0"/>
              <a:t> … </a:t>
            </a:r>
            <a:r>
              <a:rPr lang="en-GB" dirty="0" err="1"/>
              <a:t>S</a:t>
            </a:r>
            <a:r>
              <a:rPr lang="en-GB" baseline="-25000" dirty="0" err="1"/>
              <a:t>n</a:t>
            </a:r>
            <a:endParaRPr lang="en-GB" dirty="0"/>
          </a:p>
          <a:p>
            <a:pPr lvl="1"/>
            <a:r>
              <a:rPr lang="en-GB" dirty="0"/>
              <a:t>if we can define P[S(</a:t>
            </a:r>
            <a:r>
              <a:rPr lang="en-GB" i="1" dirty="0"/>
              <a:t>t+1</a:t>
            </a:r>
            <a:r>
              <a:rPr lang="en-GB" dirty="0"/>
              <a:t>)=</a:t>
            </a:r>
            <a:r>
              <a:rPr lang="en-GB" dirty="0" err="1"/>
              <a:t>S</a:t>
            </a:r>
            <a:r>
              <a:rPr lang="en-GB" i="1" baseline="-25000" dirty="0" err="1"/>
              <a:t>i</a:t>
            </a:r>
            <a:r>
              <a:rPr lang="en-GB" dirty="0" err="1"/>
              <a:t>│S</a:t>
            </a:r>
            <a:r>
              <a:rPr lang="en-GB" dirty="0"/>
              <a:t>(</a:t>
            </a:r>
            <a:r>
              <a:rPr lang="en-GB" i="1" dirty="0"/>
              <a:t>t</a:t>
            </a:r>
            <a:r>
              <a:rPr lang="en-GB" dirty="0"/>
              <a:t>)=S</a:t>
            </a:r>
            <a:r>
              <a:rPr lang="en-GB" i="1" baseline="-25000" dirty="0"/>
              <a:t>j</a:t>
            </a:r>
            <a:r>
              <a:rPr lang="en-GB" dirty="0"/>
              <a:t>] = </a:t>
            </a:r>
            <a:r>
              <a:rPr lang="en-GB" i="1" dirty="0" err="1"/>
              <a:t>c</a:t>
            </a:r>
            <a:r>
              <a:rPr lang="en-GB" i="1" baseline="-25000" dirty="0" err="1"/>
              <a:t>ij</a:t>
            </a:r>
            <a:endParaRPr lang="en-GB" i="1" baseline="-25000" dirty="0"/>
          </a:p>
          <a:p>
            <a:pPr lvl="1"/>
            <a:r>
              <a:rPr lang="en-GB" dirty="0"/>
              <a:t>for all </a:t>
            </a:r>
            <a:r>
              <a:rPr lang="en-GB" i="1" dirty="0" err="1"/>
              <a:t>i</a:t>
            </a:r>
            <a:r>
              <a:rPr lang="en-GB" dirty="0"/>
              <a:t> and </a:t>
            </a:r>
            <a:r>
              <a:rPr lang="en-GB" i="1" dirty="0"/>
              <a:t>j</a:t>
            </a:r>
            <a:r>
              <a:rPr lang="en-GB" dirty="0"/>
              <a:t>, </a:t>
            </a:r>
            <a:r>
              <a:rPr lang="en-GB" i="1" dirty="0" err="1"/>
              <a:t>c</a:t>
            </a:r>
            <a:r>
              <a:rPr lang="en-GB" i="1" baseline="-25000" dirty="0" err="1"/>
              <a:t>ij</a:t>
            </a:r>
            <a:r>
              <a:rPr lang="en-GB" dirty="0"/>
              <a:t> remains constant over time</a:t>
            </a:r>
          </a:p>
          <a:p>
            <a:pPr lvl="1"/>
            <a:r>
              <a:rPr lang="en-GB" dirty="0"/>
              <a:t>e.g.</a:t>
            </a:r>
          </a:p>
        </p:txBody>
      </p:sp>
      <p:sp>
        <p:nvSpPr>
          <p:cNvPr id="4" name="Date Placeholder 3"/>
          <p:cNvSpPr>
            <a:spLocks noGrp="1"/>
          </p:cNvSpPr>
          <p:nvPr>
            <p:ph type="dt" sz="half" idx="10"/>
          </p:nvPr>
        </p:nvSpPr>
        <p:spPr/>
        <p:txBody>
          <a:bodyPr/>
          <a:lstStyle/>
          <a:p>
            <a:fld id="{DCC1E397-5CC3-4A5E-AFC5-77436F24634E}"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graphicFrame>
        <p:nvGraphicFramePr>
          <p:cNvPr id="6" name="Table 5">
            <a:extLst>
              <a:ext uri="{FF2B5EF4-FFF2-40B4-BE49-F238E27FC236}">
                <a16:creationId xmlns:a16="http://schemas.microsoft.com/office/drawing/2014/main" id="{15C7EAE4-8FBB-494B-89D1-730E47F7ED6C}"/>
              </a:ext>
            </a:extLst>
          </p:cNvPr>
          <p:cNvGraphicFramePr>
            <a:graphicFrameLocks noGrp="1"/>
          </p:cNvGraphicFramePr>
          <p:nvPr>
            <p:extLst>
              <p:ext uri="{D42A27DB-BD31-4B8C-83A1-F6EECF244321}">
                <p14:modId xmlns:p14="http://schemas.microsoft.com/office/powerpoint/2010/main" val="852837041"/>
              </p:ext>
            </p:extLst>
          </p:nvPr>
        </p:nvGraphicFramePr>
        <p:xfrm>
          <a:off x="1559496" y="3843888"/>
          <a:ext cx="9217024" cy="1463040"/>
        </p:xfrm>
        <a:graphic>
          <a:graphicData uri="http://schemas.openxmlformats.org/drawingml/2006/table">
            <a:tbl>
              <a:tblPr firstRow="1" firstCol="1" bandRow="1">
                <a:tableStyleId>{5C22544A-7EE6-4342-B048-85BDC9FD1C3A}</a:tableStyleId>
              </a:tblPr>
              <a:tblGrid>
                <a:gridCol w="2304256">
                  <a:extLst>
                    <a:ext uri="{9D8B030D-6E8A-4147-A177-3AD203B41FA5}">
                      <a16:colId xmlns:a16="http://schemas.microsoft.com/office/drawing/2014/main" val="20000"/>
                    </a:ext>
                  </a:extLst>
                </a:gridCol>
                <a:gridCol w="2304256">
                  <a:extLst>
                    <a:ext uri="{9D8B030D-6E8A-4147-A177-3AD203B41FA5}">
                      <a16:colId xmlns:a16="http://schemas.microsoft.com/office/drawing/2014/main" val="20001"/>
                    </a:ext>
                  </a:extLst>
                </a:gridCol>
                <a:gridCol w="2304256">
                  <a:extLst>
                    <a:ext uri="{9D8B030D-6E8A-4147-A177-3AD203B41FA5}">
                      <a16:colId xmlns:a16="http://schemas.microsoft.com/office/drawing/2014/main" val="20002"/>
                    </a:ext>
                  </a:extLst>
                </a:gridCol>
                <a:gridCol w="2304256">
                  <a:extLst>
                    <a:ext uri="{9D8B030D-6E8A-4147-A177-3AD203B41FA5}">
                      <a16:colId xmlns:a16="http://schemas.microsoft.com/office/drawing/2014/main" val="3038452090"/>
                    </a:ext>
                  </a:extLst>
                </a:gridCol>
              </a:tblGrid>
              <a:tr h="324036">
                <a:tc>
                  <a:txBody>
                    <a:bodyPr/>
                    <a:lstStyle/>
                    <a:p>
                      <a:endParaRPr lang="en-GB" dirty="0"/>
                    </a:p>
                  </a:txBody>
                  <a:tcPr/>
                </a:tc>
                <a:tc>
                  <a:txBody>
                    <a:bodyPr/>
                    <a:lstStyle/>
                    <a:p>
                      <a:r>
                        <a:rPr lang="en-GB" dirty="0"/>
                        <a:t>Cat is Absent</a:t>
                      </a:r>
                    </a:p>
                  </a:txBody>
                  <a:tcPr/>
                </a:tc>
                <a:tc>
                  <a:txBody>
                    <a:bodyPr/>
                    <a:lstStyle/>
                    <a:p>
                      <a:r>
                        <a:rPr lang="en-GB" dirty="0"/>
                        <a:t>Cat is Outside</a:t>
                      </a:r>
                    </a:p>
                  </a:txBody>
                  <a:tcPr/>
                </a:tc>
                <a:tc>
                  <a:txBody>
                    <a:bodyPr/>
                    <a:lstStyle/>
                    <a:p>
                      <a:r>
                        <a:rPr lang="en-GB" dirty="0"/>
                        <a:t>Cat is Inside</a:t>
                      </a:r>
                    </a:p>
                  </a:txBody>
                  <a:tcPr/>
                </a:tc>
                <a:extLst>
                  <a:ext uri="{0D108BD9-81ED-4DB2-BD59-A6C34878D82A}">
                    <a16:rowId xmlns:a16="http://schemas.microsoft.com/office/drawing/2014/main" val="10000"/>
                  </a:ext>
                </a:extLst>
              </a:tr>
              <a:tr h="324036">
                <a:tc>
                  <a:txBody>
                    <a:bodyPr/>
                    <a:lstStyle/>
                    <a:p>
                      <a:r>
                        <a:rPr lang="en-GB" dirty="0"/>
                        <a:t>Cat is Absent</a:t>
                      </a:r>
                    </a:p>
                  </a:txBody>
                  <a:tcPr/>
                </a:tc>
                <a:tc>
                  <a:txBody>
                    <a:bodyPr/>
                    <a:lstStyle/>
                    <a:p>
                      <a:pPr algn="ctr"/>
                      <a:r>
                        <a:rPr lang="en-GB" dirty="0"/>
                        <a:t>0</a:t>
                      </a:r>
                    </a:p>
                  </a:txBody>
                  <a:tcPr/>
                </a:tc>
                <a:tc>
                  <a:txBody>
                    <a:bodyPr/>
                    <a:lstStyle/>
                    <a:p>
                      <a:pPr algn="ctr"/>
                      <a:r>
                        <a:rPr lang="en-GB" dirty="0"/>
                        <a:t>0.05</a:t>
                      </a:r>
                    </a:p>
                  </a:txBody>
                  <a:tcPr/>
                </a:tc>
                <a:tc>
                  <a:txBody>
                    <a:bodyPr/>
                    <a:lstStyle/>
                    <a:p>
                      <a:pPr algn="ctr"/>
                      <a:r>
                        <a:rPr lang="en-GB" dirty="0"/>
                        <a:t>0.10</a:t>
                      </a:r>
                    </a:p>
                  </a:txBody>
                  <a:tcPr/>
                </a:tc>
                <a:extLst>
                  <a:ext uri="{0D108BD9-81ED-4DB2-BD59-A6C34878D82A}">
                    <a16:rowId xmlns:a16="http://schemas.microsoft.com/office/drawing/2014/main" val="10001"/>
                  </a:ext>
                </a:extLst>
              </a:tr>
              <a:tr h="324036">
                <a:tc>
                  <a:txBody>
                    <a:bodyPr/>
                    <a:lstStyle/>
                    <a:p>
                      <a:pPr algn="l"/>
                      <a:r>
                        <a:rPr lang="en-GB" dirty="0"/>
                        <a:t>Cat is Outside</a:t>
                      </a:r>
                    </a:p>
                  </a:txBody>
                  <a:tcPr/>
                </a:tc>
                <a:tc>
                  <a:txBody>
                    <a:bodyPr/>
                    <a:lstStyle/>
                    <a:p>
                      <a:pPr algn="ctr"/>
                      <a:r>
                        <a:rPr lang="en-GB" dirty="0"/>
                        <a:t>1</a:t>
                      </a:r>
                    </a:p>
                  </a:txBody>
                  <a:tcPr/>
                </a:tc>
                <a:tc>
                  <a:txBody>
                    <a:bodyPr/>
                    <a:lstStyle/>
                    <a:p>
                      <a:pPr algn="ctr"/>
                      <a:r>
                        <a:rPr lang="en-GB" dirty="0"/>
                        <a:t>0.35</a:t>
                      </a:r>
                    </a:p>
                  </a:txBody>
                  <a:tcPr/>
                </a:tc>
                <a:tc>
                  <a:txBody>
                    <a:bodyPr/>
                    <a:lstStyle/>
                    <a:p>
                      <a:pPr algn="ctr"/>
                      <a:r>
                        <a:rPr lang="en-GB" dirty="0"/>
                        <a:t>0.50</a:t>
                      </a:r>
                    </a:p>
                  </a:txBody>
                  <a:tcPr/>
                </a:tc>
                <a:extLst>
                  <a:ext uri="{0D108BD9-81ED-4DB2-BD59-A6C34878D82A}">
                    <a16:rowId xmlns:a16="http://schemas.microsoft.com/office/drawing/2014/main" val="2960201332"/>
                  </a:ext>
                </a:extLst>
              </a:tr>
              <a:tr h="324036">
                <a:tc>
                  <a:txBody>
                    <a:bodyPr/>
                    <a:lstStyle/>
                    <a:p>
                      <a:pPr algn="l"/>
                      <a:r>
                        <a:rPr lang="en-GB" dirty="0"/>
                        <a:t>Cat is Inside</a:t>
                      </a:r>
                    </a:p>
                  </a:txBody>
                  <a:tcPr/>
                </a:tc>
                <a:tc>
                  <a:txBody>
                    <a:bodyPr/>
                    <a:lstStyle/>
                    <a:p>
                      <a:pPr algn="ctr"/>
                      <a:r>
                        <a:rPr lang="en-GB" baseline="0" dirty="0"/>
                        <a:t>0</a:t>
                      </a:r>
                      <a:endParaRPr lang="en-GB" dirty="0"/>
                    </a:p>
                  </a:txBody>
                  <a:tcPr/>
                </a:tc>
                <a:tc>
                  <a:txBody>
                    <a:bodyPr/>
                    <a:lstStyle/>
                    <a:p>
                      <a:pPr algn="ctr"/>
                      <a:r>
                        <a:rPr lang="en-GB" baseline="0" dirty="0"/>
                        <a:t>0.60</a:t>
                      </a:r>
                      <a:endParaRPr lang="en-GB" dirty="0"/>
                    </a:p>
                  </a:txBody>
                  <a:tcPr/>
                </a:tc>
                <a:tc>
                  <a:txBody>
                    <a:bodyPr/>
                    <a:lstStyle/>
                    <a:p>
                      <a:pPr algn="ctr"/>
                      <a:r>
                        <a:rPr lang="en-GB" dirty="0"/>
                        <a:t>0.40</a:t>
                      </a:r>
                    </a:p>
                  </a:txBody>
                  <a:tcPr/>
                </a:tc>
                <a:extLst>
                  <a:ext uri="{0D108BD9-81ED-4DB2-BD59-A6C34878D82A}">
                    <a16:rowId xmlns:a16="http://schemas.microsoft.com/office/drawing/2014/main" val="10002"/>
                  </a:ext>
                </a:extLst>
              </a:tr>
            </a:tbl>
          </a:graphicData>
        </a:graphic>
      </p:graphicFrame>
      <p:sp>
        <p:nvSpPr>
          <p:cNvPr id="9" name="TextBox 8">
            <a:extLst>
              <a:ext uri="{FF2B5EF4-FFF2-40B4-BE49-F238E27FC236}">
                <a16:creationId xmlns:a16="http://schemas.microsoft.com/office/drawing/2014/main" id="{DA6234B9-C0AC-4731-992D-3E9CEB32444B}"/>
              </a:ext>
            </a:extLst>
          </p:cNvPr>
          <p:cNvSpPr txBox="1"/>
          <p:nvPr/>
        </p:nvSpPr>
        <p:spPr>
          <a:xfrm>
            <a:off x="5663952" y="3429000"/>
            <a:ext cx="1656184" cy="369332"/>
          </a:xfrm>
          <a:prstGeom prst="rect">
            <a:avLst/>
          </a:prstGeom>
          <a:noFill/>
        </p:spPr>
        <p:txBody>
          <a:bodyPr wrap="square" rtlCol="0">
            <a:spAutoFit/>
          </a:bodyPr>
          <a:lstStyle/>
          <a:p>
            <a:r>
              <a:rPr lang="en-GB" dirty="0"/>
              <a:t>FROM</a:t>
            </a:r>
          </a:p>
        </p:txBody>
      </p:sp>
      <p:sp>
        <p:nvSpPr>
          <p:cNvPr id="10" name="TextBox 9">
            <a:extLst>
              <a:ext uri="{FF2B5EF4-FFF2-40B4-BE49-F238E27FC236}">
                <a16:creationId xmlns:a16="http://schemas.microsoft.com/office/drawing/2014/main" id="{81405592-3209-4D9E-82B6-CED1773DF54C}"/>
              </a:ext>
            </a:extLst>
          </p:cNvPr>
          <p:cNvSpPr txBox="1"/>
          <p:nvPr/>
        </p:nvSpPr>
        <p:spPr>
          <a:xfrm>
            <a:off x="911424" y="4427820"/>
            <a:ext cx="1656184" cy="369332"/>
          </a:xfrm>
          <a:prstGeom prst="rect">
            <a:avLst/>
          </a:prstGeom>
          <a:noFill/>
        </p:spPr>
        <p:txBody>
          <a:bodyPr wrap="square" rtlCol="0">
            <a:spAutoFit/>
          </a:bodyPr>
          <a:lstStyle/>
          <a:p>
            <a:r>
              <a:rPr lang="en-GB" dirty="0"/>
              <a:t>TO</a:t>
            </a:r>
          </a:p>
        </p:txBody>
      </p:sp>
    </p:spTree>
    <p:extLst>
      <p:ext uri="{BB962C8B-B14F-4D97-AF65-F5344CB8AC3E}">
        <p14:creationId xmlns:p14="http://schemas.microsoft.com/office/powerpoint/2010/main" val="3016801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Monte Carlo Markov Chains</a:t>
            </a:r>
          </a:p>
        </p:txBody>
      </p:sp>
      <p:sp>
        <p:nvSpPr>
          <p:cNvPr id="3" name="Content Placeholder 2"/>
          <p:cNvSpPr>
            <a:spLocks noGrp="1"/>
          </p:cNvSpPr>
          <p:nvPr>
            <p:ph idx="1"/>
          </p:nvPr>
        </p:nvSpPr>
        <p:spPr/>
        <p:txBody>
          <a:bodyPr/>
          <a:lstStyle/>
          <a:p>
            <a:r>
              <a:rPr lang="en-GB" dirty="0">
                <a:solidFill>
                  <a:schemeClr val="bg1">
                    <a:lumMod val="65000"/>
                  </a:schemeClr>
                </a:solidFill>
              </a:rPr>
              <a:t>Can go from 2 to n states S</a:t>
            </a:r>
            <a:r>
              <a:rPr lang="en-GB" baseline="-25000" dirty="0">
                <a:solidFill>
                  <a:schemeClr val="bg1">
                    <a:lumMod val="65000"/>
                  </a:schemeClr>
                </a:solidFill>
              </a:rPr>
              <a:t>1</a:t>
            </a:r>
            <a:r>
              <a:rPr lang="en-GB" dirty="0">
                <a:solidFill>
                  <a:schemeClr val="bg1">
                    <a:lumMod val="65000"/>
                  </a:schemeClr>
                </a:solidFill>
              </a:rPr>
              <a:t>, S</a:t>
            </a:r>
            <a:r>
              <a:rPr lang="en-GB" baseline="-25000" dirty="0">
                <a:solidFill>
                  <a:schemeClr val="bg1">
                    <a:lumMod val="65000"/>
                  </a:schemeClr>
                </a:solidFill>
              </a:rPr>
              <a:t>2</a:t>
            </a:r>
            <a:r>
              <a:rPr lang="en-GB" dirty="0">
                <a:solidFill>
                  <a:schemeClr val="bg1">
                    <a:lumMod val="65000"/>
                  </a:schemeClr>
                </a:solidFill>
              </a:rPr>
              <a:t> … </a:t>
            </a:r>
            <a:r>
              <a:rPr lang="en-GB" dirty="0" err="1">
                <a:solidFill>
                  <a:schemeClr val="bg1">
                    <a:lumMod val="65000"/>
                  </a:schemeClr>
                </a:solidFill>
              </a:rPr>
              <a:t>S</a:t>
            </a:r>
            <a:r>
              <a:rPr lang="en-GB" baseline="-25000" dirty="0" err="1">
                <a:solidFill>
                  <a:schemeClr val="bg1">
                    <a:lumMod val="65000"/>
                  </a:schemeClr>
                </a:solidFill>
              </a:rPr>
              <a:t>n</a:t>
            </a:r>
            <a:endParaRPr lang="en-GB" dirty="0">
              <a:solidFill>
                <a:schemeClr val="bg1">
                  <a:lumMod val="65000"/>
                </a:schemeClr>
              </a:solidFill>
            </a:endParaRPr>
          </a:p>
          <a:p>
            <a:pPr lvl="1"/>
            <a:r>
              <a:rPr lang="en-GB" dirty="0">
                <a:solidFill>
                  <a:schemeClr val="bg1">
                    <a:lumMod val="65000"/>
                  </a:schemeClr>
                </a:solidFill>
              </a:rPr>
              <a:t>if we can define P[S(</a:t>
            </a:r>
            <a:r>
              <a:rPr lang="en-GB" i="1" dirty="0">
                <a:solidFill>
                  <a:schemeClr val="bg1">
                    <a:lumMod val="65000"/>
                  </a:schemeClr>
                </a:solidFill>
              </a:rPr>
              <a:t>t+1</a:t>
            </a:r>
            <a:r>
              <a:rPr lang="en-GB" dirty="0">
                <a:solidFill>
                  <a:schemeClr val="bg1">
                    <a:lumMod val="65000"/>
                  </a:schemeClr>
                </a:solidFill>
              </a:rPr>
              <a:t>)=</a:t>
            </a:r>
            <a:r>
              <a:rPr lang="en-GB" dirty="0" err="1">
                <a:solidFill>
                  <a:schemeClr val="bg1">
                    <a:lumMod val="65000"/>
                  </a:schemeClr>
                </a:solidFill>
              </a:rPr>
              <a:t>S</a:t>
            </a:r>
            <a:r>
              <a:rPr lang="en-GB" i="1" baseline="-25000" dirty="0" err="1">
                <a:solidFill>
                  <a:schemeClr val="bg1">
                    <a:lumMod val="65000"/>
                  </a:schemeClr>
                </a:solidFill>
              </a:rPr>
              <a:t>i</a:t>
            </a:r>
            <a:r>
              <a:rPr lang="en-GB" dirty="0" err="1">
                <a:solidFill>
                  <a:schemeClr val="bg1">
                    <a:lumMod val="65000"/>
                  </a:schemeClr>
                </a:solidFill>
              </a:rPr>
              <a:t>│S</a:t>
            </a:r>
            <a:r>
              <a:rPr lang="en-GB" dirty="0">
                <a:solidFill>
                  <a:schemeClr val="bg1">
                    <a:lumMod val="65000"/>
                  </a:schemeClr>
                </a:solidFill>
              </a:rPr>
              <a:t>(</a:t>
            </a:r>
            <a:r>
              <a:rPr lang="en-GB" i="1" dirty="0">
                <a:solidFill>
                  <a:schemeClr val="bg1">
                    <a:lumMod val="65000"/>
                  </a:schemeClr>
                </a:solidFill>
              </a:rPr>
              <a:t>t</a:t>
            </a:r>
            <a:r>
              <a:rPr lang="en-GB" dirty="0">
                <a:solidFill>
                  <a:schemeClr val="bg1">
                    <a:lumMod val="65000"/>
                  </a:schemeClr>
                </a:solidFill>
              </a:rPr>
              <a:t>)=S</a:t>
            </a:r>
            <a:r>
              <a:rPr lang="en-GB" i="1" baseline="-25000" dirty="0">
                <a:solidFill>
                  <a:schemeClr val="bg1">
                    <a:lumMod val="65000"/>
                  </a:schemeClr>
                </a:solidFill>
              </a:rPr>
              <a:t>j</a:t>
            </a:r>
            <a:r>
              <a:rPr lang="en-GB" dirty="0">
                <a:solidFill>
                  <a:schemeClr val="bg1">
                    <a:lumMod val="65000"/>
                  </a:schemeClr>
                </a:solidFill>
              </a:rPr>
              <a:t>] = </a:t>
            </a:r>
            <a:r>
              <a:rPr lang="en-GB" i="1" dirty="0" err="1">
                <a:solidFill>
                  <a:schemeClr val="bg1">
                    <a:lumMod val="65000"/>
                  </a:schemeClr>
                </a:solidFill>
              </a:rPr>
              <a:t>c</a:t>
            </a:r>
            <a:r>
              <a:rPr lang="en-GB" i="1" baseline="-25000" dirty="0" err="1">
                <a:solidFill>
                  <a:schemeClr val="bg1">
                    <a:lumMod val="65000"/>
                  </a:schemeClr>
                </a:solidFill>
              </a:rPr>
              <a:t>ij</a:t>
            </a:r>
            <a:endParaRPr lang="en-GB" i="1" baseline="-25000" dirty="0">
              <a:solidFill>
                <a:schemeClr val="bg1">
                  <a:lumMod val="65000"/>
                </a:schemeClr>
              </a:solidFill>
            </a:endParaRPr>
          </a:p>
          <a:p>
            <a:pPr lvl="1"/>
            <a:r>
              <a:rPr lang="en-GB" dirty="0">
                <a:solidFill>
                  <a:schemeClr val="bg1">
                    <a:lumMod val="65000"/>
                  </a:schemeClr>
                </a:solidFill>
              </a:rPr>
              <a:t>for all </a:t>
            </a:r>
            <a:r>
              <a:rPr lang="en-GB" i="1" dirty="0" err="1">
                <a:solidFill>
                  <a:schemeClr val="bg1">
                    <a:lumMod val="65000"/>
                  </a:schemeClr>
                </a:solidFill>
              </a:rPr>
              <a:t>i</a:t>
            </a:r>
            <a:r>
              <a:rPr lang="en-GB" dirty="0">
                <a:solidFill>
                  <a:schemeClr val="bg1">
                    <a:lumMod val="65000"/>
                  </a:schemeClr>
                </a:solidFill>
              </a:rPr>
              <a:t> and </a:t>
            </a:r>
            <a:r>
              <a:rPr lang="en-GB" i="1" dirty="0">
                <a:solidFill>
                  <a:schemeClr val="bg1">
                    <a:lumMod val="65000"/>
                  </a:schemeClr>
                </a:solidFill>
              </a:rPr>
              <a:t>j</a:t>
            </a:r>
            <a:r>
              <a:rPr lang="en-GB" dirty="0">
                <a:solidFill>
                  <a:schemeClr val="bg1">
                    <a:lumMod val="65000"/>
                  </a:schemeClr>
                </a:solidFill>
              </a:rPr>
              <a:t>, </a:t>
            </a:r>
            <a:r>
              <a:rPr lang="en-GB" i="1" dirty="0" err="1">
                <a:solidFill>
                  <a:schemeClr val="bg1">
                    <a:lumMod val="65000"/>
                  </a:schemeClr>
                </a:solidFill>
              </a:rPr>
              <a:t>c</a:t>
            </a:r>
            <a:r>
              <a:rPr lang="en-GB" i="1" baseline="-25000" dirty="0" err="1">
                <a:solidFill>
                  <a:schemeClr val="bg1">
                    <a:lumMod val="65000"/>
                  </a:schemeClr>
                </a:solidFill>
              </a:rPr>
              <a:t>ij</a:t>
            </a:r>
            <a:r>
              <a:rPr lang="en-GB" dirty="0">
                <a:solidFill>
                  <a:schemeClr val="bg1">
                    <a:lumMod val="65000"/>
                  </a:schemeClr>
                </a:solidFill>
              </a:rPr>
              <a:t> remains constant over time</a:t>
            </a:r>
          </a:p>
          <a:p>
            <a:pPr lvl="1"/>
            <a:r>
              <a:rPr lang="en-GB" dirty="0"/>
              <a:t>the </a:t>
            </a:r>
            <a:r>
              <a:rPr lang="en-GB" i="1" dirty="0" err="1"/>
              <a:t>c</a:t>
            </a:r>
            <a:r>
              <a:rPr lang="en-GB" i="1" baseline="-25000" dirty="0" err="1"/>
              <a:t>ij</a:t>
            </a:r>
            <a:r>
              <a:rPr lang="en-GB" dirty="0"/>
              <a:t> are </a:t>
            </a:r>
            <a:r>
              <a:rPr lang="en-GB" u="sng" dirty="0"/>
              <a:t>conditional</a:t>
            </a:r>
            <a:r>
              <a:rPr lang="en-GB" dirty="0"/>
              <a:t> probabilities … ‘probability of moving to </a:t>
            </a:r>
            <a:r>
              <a:rPr lang="en-GB" i="1" dirty="0" err="1"/>
              <a:t>i</a:t>
            </a:r>
            <a:r>
              <a:rPr lang="en-GB" dirty="0"/>
              <a:t> </a:t>
            </a:r>
            <a:r>
              <a:rPr lang="en-GB" u="sng" dirty="0"/>
              <a:t>given</a:t>
            </a:r>
            <a:r>
              <a:rPr lang="en-GB" dirty="0"/>
              <a:t> now in </a:t>
            </a:r>
            <a:r>
              <a:rPr lang="en-GB" i="1" dirty="0"/>
              <a:t>j </a:t>
            </a:r>
            <a:r>
              <a:rPr lang="en-GB" dirty="0"/>
              <a:t>’</a:t>
            </a:r>
          </a:p>
          <a:p>
            <a:pPr lvl="1"/>
            <a:r>
              <a:rPr lang="en-GB" dirty="0"/>
              <a:t>i.e. can write down conditional distributions for moving from one state to another</a:t>
            </a:r>
          </a:p>
        </p:txBody>
      </p:sp>
      <p:sp>
        <p:nvSpPr>
          <p:cNvPr id="4" name="Date Placeholder 3"/>
          <p:cNvSpPr>
            <a:spLocks noGrp="1"/>
          </p:cNvSpPr>
          <p:nvPr>
            <p:ph type="dt" sz="half" idx="10"/>
          </p:nvPr>
        </p:nvSpPr>
        <p:spPr/>
        <p:txBody>
          <a:bodyPr/>
          <a:lstStyle/>
          <a:p>
            <a:fld id="{DCC1E397-5CC3-4A5E-AFC5-77436F24634E}"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3727720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Monte Carlo Markov Chains</a:t>
            </a:r>
          </a:p>
        </p:txBody>
      </p:sp>
      <p:sp>
        <p:nvSpPr>
          <p:cNvPr id="3" name="Content Placeholder 2"/>
          <p:cNvSpPr>
            <a:spLocks noGrp="1"/>
          </p:cNvSpPr>
          <p:nvPr>
            <p:ph idx="1"/>
          </p:nvPr>
        </p:nvSpPr>
        <p:spPr/>
        <p:txBody>
          <a:bodyPr/>
          <a:lstStyle/>
          <a:p>
            <a:r>
              <a:rPr lang="en-GB" dirty="0">
                <a:solidFill>
                  <a:schemeClr val="bg1">
                    <a:lumMod val="65000"/>
                  </a:schemeClr>
                </a:solidFill>
              </a:rPr>
              <a:t>Can go from 2 to n states S</a:t>
            </a:r>
            <a:r>
              <a:rPr lang="en-GB" baseline="-25000" dirty="0">
                <a:solidFill>
                  <a:schemeClr val="bg1">
                    <a:lumMod val="65000"/>
                  </a:schemeClr>
                </a:solidFill>
              </a:rPr>
              <a:t>1</a:t>
            </a:r>
            <a:r>
              <a:rPr lang="en-GB" dirty="0">
                <a:solidFill>
                  <a:schemeClr val="bg1">
                    <a:lumMod val="65000"/>
                  </a:schemeClr>
                </a:solidFill>
              </a:rPr>
              <a:t>, S</a:t>
            </a:r>
            <a:r>
              <a:rPr lang="en-GB" baseline="-25000" dirty="0">
                <a:solidFill>
                  <a:schemeClr val="bg1">
                    <a:lumMod val="65000"/>
                  </a:schemeClr>
                </a:solidFill>
              </a:rPr>
              <a:t>2</a:t>
            </a:r>
            <a:r>
              <a:rPr lang="en-GB" dirty="0">
                <a:solidFill>
                  <a:schemeClr val="bg1">
                    <a:lumMod val="65000"/>
                  </a:schemeClr>
                </a:solidFill>
              </a:rPr>
              <a:t> … </a:t>
            </a:r>
            <a:r>
              <a:rPr lang="en-GB" dirty="0" err="1">
                <a:solidFill>
                  <a:schemeClr val="bg1">
                    <a:lumMod val="65000"/>
                  </a:schemeClr>
                </a:solidFill>
              </a:rPr>
              <a:t>S</a:t>
            </a:r>
            <a:r>
              <a:rPr lang="en-GB" baseline="-25000" dirty="0" err="1">
                <a:solidFill>
                  <a:schemeClr val="bg1">
                    <a:lumMod val="65000"/>
                  </a:schemeClr>
                </a:solidFill>
              </a:rPr>
              <a:t>n</a:t>
            </a:r>
            <a:endParaRPr lang="en-GB" dirty="0">
              <a:solidFill>
                <a:schemeClr val="bg1">
                  <a:lumMod val="65000"/>
                </a:schemeClr>
              </a:solidFill>
            </a:endParaRPr>
          </a:p>
          <a:p>
            <a:pPr lvl="1"/>
            <a:r>
              <a:rPr lang="en-GB" dirty="0">
                <a:solidFill>
                  <a:schemeClr val="bg1">
                    <a:lumMod val="65000"/>
                  </a:schemeClr>
                </a:solidFill>
              </a:rPr>
              <a:t>if we can define P[S(</a:t>
            </a:r>
            <a:r>
              <a:rPr lang="en-GB" i="1" dirty="0">
                <a:solidFill>
                  <a:schemeClr val="bg1">
                    <a:lumMod val="65000"/>
                  </a:schemeClr>
                </a:solidFill>
              </a:rPr>
              <a:t>t+1</a:t>
            </a:r>
            <a:r>
              <a:rPr lang="en-GB" dirty="0">
                <a:solidFill>
                  <a:schemeClr val="bg1">
                    <a:lumMod val="65000"/>
                  </a:schemeClr>
                </a:solidFill>
              </a:rPr>
              <a:t>)=</a:t>
            </a:r>
            <a:r>
              <a:rPr lang="en-GB" dirty="0" err="1">
                <a:solidFill>
                  <a:schemeClr val="bg1">
                    <a:lumMod val="65000"/>
                  </a:schemeClr>
                </a:solidFill>
              </a:rPr>
              <a:t>S</a:t>
            </a:r>
            <a:r>
              <a:rPr lang="en-GB" i="1" baseline="-25000" dirty="0" err="1">
                <a:solidFill>
                  <a:schemeClr val="bg1">
                    <a:lumMod val="65000"/>
                  </a:schemeClr>
                </a:solidFill>
              </a:rPr>
              <a:t>i</a:t>
            </a:r>
            <a:r>
              <a:rPr lang="en-GB" dirty="0" err="1">
                <a:solidFill>
                  <a:schemeClr val="bg1">
                    <a:lumMod val="65000"/>
                  </a:schemeClr>
                </a:solidFill>
              </a:rPr>
              <a:t>│S</a:t>
            </a:r>
            <a:r>
              <a:rPr lang="en-GB" dirty="0">
                <a:solidFill>
                  <a:schemeClr val="bg1">
                    <a:lumMod val="65000"/>
                  </a:schemeClr>
                </a:solidFill>
              </a:rPr>
              <a:t>(</a:t>
            </a:r>
            <a:r>
              <a:rPr lang="en-GB" i="1" dirty="0">
                <a:solidFill>
                  <a:schemeClr val="bg1">
                    <a:lumMod val="65000"/>
                  </a:schemeClr>
                </a:solidFill>
              </a:rPr>
              <a:t>t</a:t>
            </a:r>
            <a:r>
              <a:rPr lang="en-GB" dirty="0">
                <a:solidFill>
                  <a:schemeClr val="bg1">
                    <a:lumMod val="65000"/>
                  </a:schemeClr>
                </a:solidFill>
              </a:rPr>
              <a:t>)=S</a:t>
            </a:r>
            <a:r>
              <a:rPr lang="en-GB" i="1" baseline="-25000" dirty="0">
                <a:solidFill>
                  <a:schemeClr val="bg1">
                    <a:lumMod val="65000"/>
                  </a:schemeClr>
                </a:solidFill>
              </a:rPr>
              <a:t>j</a:t>
            </a:r>
            <a:r>
              <a:rPr lang="en-GB" dirty="0">
                <a:solidFill>
                  <a:schemeClr val="bg1">
                    <a:lumMod val="65000"/>
                  </a:schemeClr>
                </a:solidFill>
              </a:rPr>
              <a:t>] = </a:t>
            </a:r>
            <a:r>
              <a:rPr lang="en-GB" i="1" dirty="0" err="1">
                <a:solidFill>
                  <a:schemeClr val="bg1">
                    <a:lumMod val="65000"/>
                  </a:schemeClr>
                </a:solidFill>
              </a:rPr>
              <a:t>c</a:t>
            </a:r>
            <a:r>
              <a:rPr lang="en-GB" i="1" baseline="-25000" dirty="0" err="1">
                <a:solidFill>
                  <a:schemeClr val="bg1">
                    <a:lumMod val="65000"/>
                  </a:schemeClr>
                </a:solidFill>
              </a:rPr>
              <a:t>ij</a:t>
            </a:r>
            <a:endParaRPr lang="en-GB" i="1" baseline="-25000" dirty="0">
              <a:solidFill>
                <a:schemeClr val="bg1">
                  <a:lumMod val="65000"/>
                </a:schemeClr>
              </a:solidFill>
            </a:endParaRPr>
          </a:p>
          <a:p>
            <a:pPr lvl="1"/>
            <a:r>
              <a:rPr lang="en-GB" dirty="0">
                <a:solidFill>
                  <a:schemeClr val="bg1">
                    <a:lumMod val="65000"/>
                  </a:schemeClr>
                </a:solidFill>
              </a:rPr>
              <a:t>for all </a:t>
            </a:r>
            <a:r>
              <a:rPr lang="en-GB" i="1" dirty="0" err="1">
                <a:solidFill>
                  <a:schemeClr val="bg1">
                    <a:lumMod val="65000"/>
                  </a:schemeClr>
                </a:solidFill>
              </a:rPr>
              <a:t>i</a:t>
            </a:r>
            <a:r>
              <a:rPr lang="en-GB" dirty="0">
                <a:solidFill>
                  <a:schemeClr val="bg1">
                    <a:lumMod val="65000"/>
                  </a:schemeClr>
                </a:solidFill>
              </a:rPr>
              <a:t> and </a:t>
            </a:r>
            <a:r>
              <a:rPr lang="en-GB" i="1" dirty="0">
                <a:solidFill>
                  <a:schemeClr val="bg1">
                    <a:lumMod val="65000"/>
                  </a:schemeClr>
                </a:solidFill>
              </a:rPr>
              <a:t>j</a:t>
            </a:r>
            <a:r>
              <a:rPr lang="en-GB" dirty="0">
                <a:solidFill>
                  <a:schemeClr val="bg1">
                    <a:lumMod val="65000"/>
                  </a:schemeClr>
                </a:solidFill>
              </a:rPr>
              <a:t>, </a:t>
            </a:r>
            <a:r>
              <a:rPr lang="en-GB" i="1" dirty="0" err="1">
                <a:solidFill>
                  <a:schemeClr val="bg1">
                    <a:lumMod val="65000"/>
                  </a:schemeClr>
                </a:solidFill>
              </a:rPr>
              <a:t>c</a:t>
            </a:r>
            <a:r>
              <a:rPr lang="en-GB" i="1" baseline="-25000" dirty="0" err="1">
                <a:solidFill>
                  <a:schemeClr val="bg1">
                    <a:lumMod val="65000"/>
                  </a:schemeClr>
                </a:solidFill>
              </a:rPr>
              <a:t>ij</a:t>
            </a:r>
            <a:r>
              <a:rPr lang="en-GB" dirty="0">
                <a:solidFill>
                  <a:schemeClr val="bg1">
                    <a:lumMod val="65000"/>
                  </a:schemeClr>
                </a:solidFill>
              </a:rPr>
              <a:t> remains constant over time</a:t>
            </a:r>
          </a:p>
          <a:p>
            <a:pPr lvl="1"/>
            <a:r>
              <a:rPr lang="en-GB" dirty="0"/>
              <a:t>the </a:t>
            </a:r>
            <a:r>
              <a:rPr lang="en-GB" i="1" dirty="0" err="1"/>
              <a:t>c</a:t>
            </a:r>
            <a:r>
              <a:rPr lang="en-GB" i="1" baseline="-25000" dirty="0" err="1"/>
              <a:t>ij</a:t>
            </a:r>
            <a:r>
              <a:rPr lang="en-GB" dirty="0"/>
              <a:t> are </a:t>
            </a:r>
            <a:r>
              <a:rPr lang="en-GB" u="sng" dirty="0"/>
              <a:t>conditional</a:t>
            </a:r>
            <a:r>
              <a:rPr lang="en-GB" dirty="0"/>
              <a:t> probabilities … ‘probability of moving to </a:t>
            </a:r>
            <a:r>
              <a:rPr lang="en-GB" i="1" dirty="0" err="1"/>
              <a:t>i</a:t>
            </a:r>
            <a:r>
              <a:rPr lang="en-GB" dirty="0"/>
              <a:t> </a:t>
            </a:r>
            <a:r>
              <a:rPr lang="en-GB" u="sng" dirty="0"/>
              <a:t>given</a:t>
            </a:r>
            <a:r>
              <a:rPr lang="en-GB" dirty="0"/>
              <a:t> now in </a:t>
            </a:r>
            <a:r>
              <a:rPr lang="en-GB" i="1" dirty="0"/>
              <a:t>j </a:t>
            </a:r>
            <a:r>
              <a:rPr lang="en-GB" dirty="0"/>
              <a:t>’</a:t>
            </a:r>
          </a:p>
          <a:p>
            <a:pPr lvl="1"/>
            <a:r>
              <a:rPr lang="en-GB" dirty="0"/>
              <a:t>i.e. we can write down the conditional distributions for moving from one state to another</a:t>
            </a:r>
          </a:p>
          <a:p>
            <a:r>
              <a:rPr lang="en-GB" dirty="0"/>
              <a:t>Can use </a:t>
            </a:r>
            <a:r>
              <a:rPr lang="en-GB" u="sng" dirty="0"/>
              <a:t>M</a:t>
            </a:r>
            <a:r>
              <a:rPr lang="en-GB" dirty="0"/>
              <a:t>onte </a:t>
            </a:r>
            <a:r>
              <a:rPr lang="en-GB" u="sng" dirty="0"/>
              <a:t>C</a:t>
            </a:r>
            <a:r>
              <a:rPr lang="en-GB" dirty="0"/>
              <a:t>arlo </a:t>
            </a:r>
            <a:r>
              <a:rPr lang="en-GB" u="sng" dirty="0"/>
              <a:t>M</a:t>
            </a:r>
            <a:r>
              <a:rPr lang="en-GB" dirty="0"/>
              <a:t>arkov </a:t>
            </a:r>
            <a:r>
              <a:rPr lang="en-GB" u="sng" dirty="0"/>
              <a:t>C</a:t>
            </a:r>
            <a:r>
              <a:rPr lang="en-GB" dirty="0"/>
              <a:t>hains</a:t>
            </a:r>
          </a:p>
          <a:p>
            <a:pPr lvl="1"/>
            <a:r>
              <a:rPr lang="en-GB" dirty="0"/>
              <a:t>can find probabilities of states from ‘stationary’ distribution </a:t>
            </a:r>
          </a:p>
        </p:txBody>
      </p:sp>
      <p:sp>
        <p:nvSpPr>
          <p:cNvPr id="4" name="Date Placeholder 3"/>
          <p:cNvSpPr>
            <a:spLocks noGrp="1"/>
          </p:cNvSpPr>
          <p:nvPr>
            <p:ph type="dt" sz="half" idx="10"/>
          </p:nvPr>
        </p:nvSpPr>
        <p:spPr/>
        <p:txBody>
          <a:bodyPr/>
          <a:lstStyle/>
          <a:p>
            <a:fld id="{DCC1E397-5CC3-4A5E-AFC5-77436F24634E}"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21230319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1B56F0-3EF4-4A55-87D7-D292D43AA596}"/>
              </a:ext>
            </a:extLst>
          </p:cNvPr>
          <p:cNvSpPr>
            <a:spLocks noGrp="1"/>
          </p:cNvSpPr>
          <p:nvPr>
            <p:ph type="dt" sz="half" idx="10"/>
          </p:nvPr>
        </p:nvSpPr>
        <p:spPr/>
        <p:txBody>
          <a:bodyPr/>
          <a:lstStyle/>
          <a:p>
            <a:fld id="{A81067C3-4C7E-434C-BBC8-747F571B7119}" type="datetime4">
              <a:rPr lang="en-GB" smtClean="0"/>
              <a:pPr/>
              <a:t>12 February 2025</a:t>
            </a:fld>
            <a:endParaRPr lang="en-GB"/>
          </a:p>
        </p:txBody>
      </p:sp>
      <p:sp>
        <p:nvSpPr>
          <p:cNvPr id="3" name="Footer Placeholder 2">
            <a:extLst>
              <a:ext uri="{FF2B5EF4-FFF2-40B4-BE49-F238E27FC236}">
                <a16:creationId xmlns:a16="http://schemas.microsoft.com/office/drawing/2014/main" id="{CAA34C89-264C-48AF-ACEE-E0850831ADB9}"/>
              </a:ext>
            </a:extLst>
          </p:cNvPr>
          <p:cNvSpPr>
            <a:spLocks noGrp="1"/>
          </p:cNvSpPr>
          <p:nvPr>
            <p:ph type="ftr" sz="quarter" idx="11"/>
          </p:nvPr>
        </p:nvSpPr>
        <p:spPr/>
        <p:txBody>
          <a:bodyPr/>
          <a:lstStyle/>
          <a:p>
            <a:r>
              <a:rPr lang="en-GB"/>
              <a:t>Lecture 10</a:t>
            </a:r>
            <a:endParaRPr lang="en-GB" dirty="0"/>
          </a:p>
        </p:txBody>
      </p:sp>
    </p:spTree>
    <p:extLst>
      <p:ext uri="{BB962C8B-B14F-4D97-AF65-F5344CB8AC3E}">
        <p14:creationId xmlns:p14="http://schemas.microsoft.com/office/powerpoint/2010/main" val="890901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Continuous Variables</a:t>
            </a:r>
          </a:p>
        </p:txBody>
      </p:sp>
      <p:sp>
        <p:nvSpPr>
          <p:cNvPr id="3" name="Content Placeholder 2"/>
          <p:cNvSpPr>
            <a:spLocks noGrp="1"/>
          </p:cNvSpPr>
          <p:nvPr>
            <p:ph idx="1"/>
          </p:nvPr>
        </p:nvSpPr>
        <p:spPr/>
        <p:txBody>
          <a:bodyPr/>
          <a:lstStyle/>
          <a:p>
            <a:r>
              <a:rPr lang="en-GB" dirty="0"/>
              <a:t>Observe data </a:t>
            </a:r>
            <a:r>
              <a:rPr lang="en-GB" b="1" dirty="0"/>
              <a:t>y</a:t>
            </a:r>
          </a:p>
          <a:p>
            <a:r>
              <a:rPr lang="en-GB" dirty="0"/>
              <a:t>Model </a:t>
            </a:r>
            <a:r>
              <a:rPr lang="en-GB" b="1" dirty="0"/>
              <a:t>y </a:t>
            </a:r>
            <a:r>
              <a:rPr lang="en-GB" dirty="0"/>
              <a:t>with parameters </a:t>
            </a:r>
            <a:r>
              <a:rPr lang="en-GB" b="1" dirty="0"/>
              <a:t>u</a:t>
            </a:r>
          </a:p>
          <a:p>
            <a:pPr lvl="1"/>
            <a:r>
              <a:rPr lang="en-GB" b="1" dirty="0"/>
              <a:t>u</a:t>
            </a:r>
            <a:r>
              <a:rPr lang="en-GB" dirty="0"/>
              <a:t> will have prior distributions, </a:t>
            </a:r>
            <a:r>
              <a:rPr lang="el-GR" i="1" dirty="0"/>
              <a:t>θ</a:t>
            </a:r>
            <a:r>
              <a:rPr lang="en-GB" dirty="0"/>
              <a:t>(</a:t>
            </a:r>
            <a:r>
              <a:rPr lang="en-GB" b="1" dirty="0"/>
              <a:t>u</a:t>
            </a:r>
            <a:r>
              <a:rPr lang="en-GB" dirty="0"/>
              <a:t>)</a:t>
            </a:r>
          </a:p>
          <a:p>
            <a:r>
              <a:rPr lang="en-GB" dirty="0"/>
              <a:t>Can consider posterior distribution of </a:t>
            </a:r>
            <a:r>
              <a:rPr lang="en-GB" b="1" dirty="0"/>
              <a:t>u </a:t>
            </a:r>
            <a:r>
              <a:rPr lang="en-GB" dirty="0"/>
              <a:t> given (conditional on) </a:t>
            </a:r>
            <a:r>
              <a:rPr lang="en-GB" b="1" dirty="0"/>
              <a:t>y</a:t>
            </a:r>
            <a:r>
              <a:rPr lang="en-GB" dirty="0"/>
              <a:t> and priors</a:t>
            </a:r>
            <a:r>
              <a:rPr lang="en-GB" b="1" dirty="0"/>
              <a:t> </a:t>
            </a:r>
            <a:r>
              <a:rPr lang="el-GR" i="1" dirty="0"/>
              <a:t>θ</a:t>
            </a:r>
            <a:r>
              <a:rPr lang="en-GB" dirty="0"/>
              <a:t>(</a:t>
            </a:r>
            <a:r>
              <a:rPr lang="en-GB" b="1" dirty="0"/>
              <a:t>u</a:t>
            </a:r>
            <a:r>
              <a:rPr lang="en-GB" dirty="0"/>
              <a:t>)</a:t>
            </a:r>
          </a:p>
          <a:p>
            <a:r>
              <a:rPr lang="en-GB" dirty="0"/>
              <a:t>Our states become all possible values of </a:t>
            </a:r>
            <a:r>
              <a:rPr lang="en-GB" b="1" dirty="0"/>
              <a:t>u</a:t>
            </a:r>
          </a:p>
          <a:p>
            <a:r>
              <a:rPr lang="en-GB" dirty="0"/>
              <a:t>Infinite number of states as </a:t>
            </a:r>
            <a:r>
              <a:rPr lang="en-GB" b="1" dirty="0"/>
              <a:t>u</a:t>
            </a:r>
            <a:r>
              <a:rPr lang="en-GB" dirty="0"/>
              <a:t> continuous</a:t>
            </a:r>
          </a:p>
          <a:p>
            <a:r>
              <a:rPr lang="en-GB" dirty="0"/>
              <a:t>Solution is probability distribution (density) over all the states</a:t>
            </a:r>
          </a:p>
        </p:txBody>
      </p:sp>
      <p:sp>
        <p:nvSpPr>
          <p:cNvPr id="4" name="Date Placeholder 3"/>
          <p:cNvSpPr>
            <a:spLocks noGrp="1"/>
          </p:cNvSpPr>
          <p:nvPr>
            <p:ph type="dt" sz="half" idx="10"/>
          </p:nvPr>
        </p:nvSpPr>
        <p:spPr/>
        <p:txBody>
          <a:bodyPr/>
          <a:lstStyle/>
          <a:p>
            <a:fld id="{B742A4F9-C1FA-4F20-A9F3-A35D82FF50C4}"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
        <p:nvSpPr>
          <p:cNvPr id="6" name="Rectangle 5">
            <a:extLst>
              <a:ext uri="{FF2B5EF4-FFF2-40B4-BE49-F238E27FC236}">
                <a16:creationId xmlns:a16="http://schemas.microsoft.com/office/drawing/2014/main" id="{CE098FA2-A8D8-431A-9898-B3BA05EEDA58}"/>
              </a:ext>
            </a:extLst>
          </p:cNvPr>
          <p:cNvSpPr/>
          <p:nvPr/>
        </p:nvSpPr>
        <p:spPr>
          <a:xfrm>
            <a:off x="8184232" y="1484784"/>
            <a:ext cx="3456384" cy="792088"/>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t>We are now in Bayesian Statistics!</a:t>
            </a:r>
          </a:p>
        </p:txBody>
      </p:sp>
      <p:sp>
        <p:nvSpPr>
          <p:cNvPr id="9" name="Rectangle 8">
            <a:extLst>
              <a:ext uri="{FF2B5EF4-FFF2-40B4-BE49-F238E27FC236}">
                <a16:creationId xmlns:a16="http://schemas.microsoft.com/office/drawing/2014/main" id="{67975272-617F-4929-BE90-8078C581FCA1}"/>
              </a:ext>
            </a:extLst>
          </p:cNvPr>
          <p:cNvSpPr/>
          <p:nvPr/>
        </p:nvSpPr>
        <p:spPr>
          <a:xfrm>
            <a:off x="983432" y="2348880"/>
            <a:ext cx="5544616" cy="57606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Straight Arrow Connector 10">
            <a:extLst>
              <a:ext uri="{FF2B5EF4-FFF2-40B4-BE49-F238E27FC236}">
                <a16:creationId xmlns:a16="http://schemas.microsoft.com/office/drawing/2014/main" id="{CEB1CEC7-C910-4EAF-B3F3-F2EDFCDB3BB6}"/>
              </a:ext>
            </a:extLst>
          </p:cNvPr>
          <p:cNvCxnSpPr>
            <a:stCxn id="6" idx="1"/>
          </p:cNvCxnSpPr>
          <p:nvPr/>
        </p:nvCxnSpPr>
        <p:spPr>
          <a:xfrm flipH="1">
            <a:off x="6528048" y="1880828"/>
            <a:ext cx="1656184" cy="756084"/>
          </a:xfrm>
          <a:prstGeom prst="straightConnector1">
            <a:avLst/>
          </a:prstGeom>
          <a:ln w="60325">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5113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Continuous Variables</a:t>
            </a:r>
          </a:p>
        </p:txBody>
      </p:sp>
      <p:sp>
        <p:nvSpPr>
          <p:cNvPr id="3" name="Content Placeholder 2"/>
          <p:cNvSpPr>
            <a:spLocks noGrp="1"/>
          </p:cNvSpPr>
          <p:nvPr>
            <p:ph idx="1"/>
          </p:nvPr>
        </p:nvSpPr>
        <p:spPr/>
        <p:txBody>
          <a:bodyPr/>
          <a:lstStyle/>
          <a:p>
            <a:r>
              <a:rPr lang="en-GB" dirty="0"/>
              <a:t>Observe data </a:t>
            </a:r>
            <a:r>
              <a:rPr lang="en-GB" b="1" dirty="0"/>
              <a:t>y</a:t>
            </a:r>
          </a:p>
          <a:p>
            <a:r>
              <a:rPr lang="en-GB" dirty="0"/>
              <a:t>Model </a:t>
            </a:r>
            <a:r>
              <a:rPr lang="en-GB" b="1" dirty="0"/>
              <a:t>y </a:t>
            </a:r>
            <a:r>
              <a:rPr lang="en-GB" dirty="0"/>
              <a:t>with parameters </a:t>
            </a:r>
            <a:r>
              <a:rPr lang="en-GB" b="1" dirty="0"/>
              <a:t>u</a:t>
            </a:r>
          </a:p>
          <a:p>
            <a:pPr lvl="1"/>
            <a:r>
              <a:rPr lang="en-GB" b="1" dirty="0"/>
              <a:t>u</a:t>
            </a:r>
            <a:r>
              <a:rPr lang="en-GB" dirty="0"/>
              <a:t> will have prior distributions, </a:t>
            </a:r>
            <a:r>
              <a:rPr lang="el-GR" i="1" dirty="0"/>
              <a:t>θ</a:t>
            </a:r>
            <a:r>
              <a:rPr lang="en-GB" dirty="0"/>
              <a:t>(</a:t>
            </a:r>
            <a:r>
              <a:rPr lang="en-GB" b="1" dirty="0"/>
              <a:t>u</a:t>
            </a:r>
            <a:r>
              <a:rPr lang="en-GB" dirty="0"/>
              <a:t>)</a:t>
            </a:r>
          </a:p>
          <a:p>
            <a:r>
              <a:rPr lang="en-GB" dirty="0"/>
              <a:t>Can consider posterior distribution of </a:t>
            </a:r>
            <a:r>
              <a:rPr lang="en-GB" b="1" dirty="0"/>
              <a:t>u </a:t>
            </a:r>
            <a:r>
              <a:rPr lang="en-GB" dirty="0"/>
              <a:t> given (conditional on) </a:t>
            </a:r>
            <a:r>
              <a:rPr lang="en-GB" b="1" dirty="0"/>
              <a:t>y</a:t>
            </a:r>
            <a:r>
              <a:rPr lang="en-GB" dirty="0"/>
              <a:t> and priors</a:t>
            </a:r>
            <a:r>
              <a:rPr lang="en-GB" b="1" dirty="0"/>
              <a:t> </a:t>
            </a:r>
            <a:r>
              <a:rPr lang="el-GR" i="1" dirty="0"/>
              <a:t>θ</a:t>
            </a:r>
            <a:r>
              <a:rPr lang="en-GB" dirty="0"/>
              <a:t>(</a:t>
            </a:r>
            <a:r>
              <a:rPr lang="en-GB" b="1" dirty="0"/>
              <a:t>u</a:t>
            </a:r>
            <a:r>
              <a:rPr lang="en-GB" dirty="0"/>
              <a:t>)</a:t>
            </a:r>
          </a:p>
          <a:p>
            <a:r>
              <a:rPr lang="en-GB" dirty="0"/>
              <a:t>Our states become all possible values of </a:t>
            </a:r>
            <a:r>
              <a:rPr lang="en-GB" b="1" dirty="0"/>
              <a:t>u</a:t>
            </a:r>
          </a:p>
          <a:p>
            <a:r>
              <a:rPr lang="en-GB" dirty="0"/>
              <a:t>Infinite number of states as </a:t>
            </a:r>
            <a:r>
              <a:rPr lang="en-GB" b="1" dirty="0"/>
              <a:t>u</a:t>
            </a:r>
            <a:r>
              <a:rPr lang="en-GB" dirty="0"/>
              <a:t> continuous</a:t>
            </a:r>
          </a:p>
          <a:p>
            <a:r>
              <a:rPr lang="en-GB" dirty="0"/>
              <a:t>Solution is probability distribution (density) over all the states</a:t>
            </a:r>
          </a:p>
        </p:txBody>
      </p:sp>
      <p:sp>
        <p:nvSpPr>
          <p:cNvPr id="4" name="Date Placeholder 3"/>
          <p:cNvSpPr>
            <a:spLocks noGrp="1"/>
          </p:cNvSpPr>
          <p:nvPr>
            <p:ph type="dt" sz="half" idx="10"/>
          </p:nvPr>
        </p:nvSpPr>
        <p:spPr/>
        <p:txBody>
          <a:bodyPr/>
          <a:lstStyle/>
          <a:p>
            <a:fld id="{B742A4F9-C1FA-4F20-A9F3-A35D82FF50C4}"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935741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(Amazing) Ergodic Theorem</a:t>
            </a:r>
          </a:p>
        </p:txBody>
      </p:sp>
      <p:sp>
        <p:nvSpPr>
          <p:cNvPr id="3" name="Content Placeholder 2"/>
          <p:cNvSpPr>
            <a:spLocks noGrp="1"/>
          </p:cNvSpPr>
          <p:nvPr>
            <p:ph idx="1"/>
          </p:nvPr>
        </p:nvSpPr>
        <p:spPr/>
        <p:txBody>
          <a:bodyPr/>
          <a:lstStyle/>
          <a:p>
            <a:pPr marL="0" indent="0">
              <a:buNone/>
            </a:pPr>
            <a:r>
              <a:rPr lang="en-GB" dirty="0"/>
              <a:t>If I have data </a:t>
            </a:r>
            <a:r>
              <a:rPr lang="en-GB" b="1" dirty="0"/>
              <a:t>y </a:t>
            </a:r>
            <a:r>
              <a:rPr lang="en-GB" dirty="0"/>
              <a:t>… continuous or categorical</a:t>
            </a:r>
          </a:p>
          <a:p>
            <a:pPr marL="914400" lvl="1" indent="-514350">
              <a:buFont typeface="+mj-lt"/>
              <a:buAutoNum type="arabicPeriod"/>
            </a:pPr>
            <a:r>
              <a:rPr lang="en-GB" dirty="0"/>
              <a:t>List parameters </a:t>
            </a:r>
            <a:r>
              <a:rPr lang="en-GB" b="1" dirty="0"/>
              <a:t>u </a:t>
            </a:r>
            <a:r>
              <a:rPr lang="en-GB" dirty="0"/>
              <a:t>= </a:t>
            </a:r>
            <a:r>
              <a:rPr lang="en-GB" i="1" dirty="0"/>
              <a:t>u</a:t>
            </a:r>
            <a:r>
              <a:rPr lang="en-GB" i="1" baseline="-25000" dirty="0"/>
              <a:t>1</a:t>
            </a:r>
            <a:r>
              <a:rPr lang="en-GB" dirty="0"/>
              <a:t>,</a:t>
            </a:r>
            <a:r>
              <a:rPr lang="en-GB" baseline="-25000" dirty="0"/>
              <a:t> </a:t>
            </a:r>
            <a:r>
              <a:rPr lang="en-GB" i="1" dirty="0"/>
              <a:t>u</a:t>
            </a:r>
            <a:r>
              <a:rPr lang="en-GB" i="1" baseline="-25000" dirty="0"/>
              <a:t>2</a:t>
            </a:r>
            <a:r>
              <a:rPr lang="en-GB" dirty="0"/>
              <a:t> …</a:t>
            </a:r>
            <a:r>
              <a:rPr lang="en-GB" baseline="-25000" dirty="0"/>
              <a:t> </a:t>
            </a:r>
            <a:r>
              <a:rPr lang="en-GB" i="1" dirty="0"/>
              <a:t>u</a:t>
            </a:r>
            <a:r>
              <a:rPr lang="en-GB" i="1" baseline="-25000" dirty="0"/>
              <a:t>n</a:t>
            </a:r>
            <a:r>
              <a:rPr lang="en-GB" dirty="0"/>
              <a:t> with data </a:t>
            </a:r>
            <a:r>
              <a:rPr lang="en-GB" b="1" dirty="0"/>
              <a:t>y</a:t>
            </a:r>
            <a:endParaRPr lang="en-GB" b="1" baseline="-25000" dirty="0"/>
          </a:p>
          <a:p>
            <a:pPr marL="914400" lvl="1" indent="-514350">
              <a:buFont typeface="+mj-lt"/>
              <a:buAutoNum type="arabicPeriod"/>
            </a:pPr>
            <a:r>
              <a:rPr lang="en-GB" dirty="0"/>
              <a:t>Write down all conditional distributions  </a:t>
            </a:r>
          </a:p>
          <a:p>
            <a:pPr marL="457200" lvl="1" indent="0">
              <a:buNone/>
            </a:pPr>
            <a:r>
              <a:rPr lang="en-GB" i="1" dirty="0"/>
              <a:t>		</a:t>
            </a:r>
            <a:r>
              <a:rPr lang="en-GB" sz="2400" dirty="0"/>
              <a:t>i.e.</a:t>
            </a:r>
            <a:r>
              <a:rPr lang="en-GB" sz="2400" i="1" dirty="0"/>
              <a:t> </a:t>
            </a:r>
            <a:r>
              <a:rPr lang="en-GB" sz="2400" i="1" dirty="0" err="1"/>
              <a:t>u</a:t>
            </a:r>
            <a:r>
              <a:rPr lang="en-GB" sz="2400" i="1" baseline="-25000" dirty="0" err="1"/>
              <a:t>i</a:t>
            </a:r>
            <a:r>
              <a:rPr lang="en-GB" sz="2400" baseline="-25000" dirty="0"/>
              <a:t> </a:t>
            </a:r>
            <a:r>
              <a:rPr lang="en-GB" sz="2400" dirty="0"/>
              <a:t>│</a:t>
            </a:r>
            <a:r>
              <a:rPr lang="en-GB" sz="2400" i="1" dirty="0"/>
              <a:t>u</a:t>
            </a:r>
            <a:r>
              <a:rPr lang="en-GB" sz="2400" i="1" baseline="-25000" dirty="0"/>
              <a:t>1</a:t>
            </a:r>
            <a:r>
              <a:rPr lang="en-GB" sz="2400" dirty="0"/>
              <a:t>,</a:t>
            </a:r>
            <a:r>
              <a:rPr lang="en-GB" sz="2400" baseline="-25000" dirty="0"/>
              <a:t> </a:t>
            </a:r>
            <a:r>
              <a:rPr lang="en-GB" sz="2400" i="1" dirty="0"/>
              <a:t>u</a:t>
            </a:r>
            <a:r>
              <a:rPr lang="en-GB" sz="2400" i="1" baseline="-25000" dirty="0"/>
              <a:t>2</a:t>
            </a:r>
            <a:r>
              <a:rPr lang="en-GB" sz="2400" dirty="0"/>
              <a:t> …</a:t>
            </a:r>
            <a:r>
              <a:rPr lang="en-GB" sz="2400" i="1" dirty="0"/>
              <a:t>u</a:t>
            </a:r>
            <a:r>
              <a:rPr lang="en-GB" sz="2400" i="1" baseline="-25000" dirty="0"/>
              <a:t>i-1</a:t>
            </a:r>
            <a:r>
              <a:rPr lang="en-GB" sz="2400" dirty="0"/>
              <a:t>,    </a:t>
            </a:r>
            <a:r>
              <a:rPr lang="en-GB" sz="2400" i="1" dirty="0"/>
              <a:t>u</a:t>
            </a:r>
            <a:r>
              <a:rPr lang="en-GB" sz="2400" i="1" baseline="-25000" dirty="0"/>
              <a:t>i+1</a:t>
            </a:r>
            <a:r>
              <a:rPr lang="en-GB" sz="2400" dirty="0"/>
              <a:t>,</a:t>
            </a:r>
            <a:r>
              <a:rPr lang="en-GB" sz="2400" baseline="-25000" dirty="0"/>
              <a:t> </a:t>
            </a:r>
            <a:r>
              <a:rPr lang="en-GB" sz="2400" i="1" dirty="0"/>
              <a:t>u</a:t>
            </a:r>
            <a:r>
              <a:rPr lang="en-GB" sz="2400" i="1" baseline="-25000" dirty="0"/>
              <a:t>n</a:t>
            </a:r>
            <a:r>
              <a:rPr lang="en-GB" sz="2400" dirty="0"/>
              <a:t>, </a:t>
            </a:r>
            <a:r>
              <a:rPr lang="en-GB" sz="2400" b="1" dirty="0"/>
              <a:t>y </a:t>
            </a:r>
            <a:r>
              <a:rPr lang="en-GB" sz="2400" dirty="0"/>
              <a:t>for all </a:t>
            </a:r>
            <a:r>
              <a:rPr lang="en-GB" sz="2400" i="1" dirty="0" err="1"/>
              <a:t>i</a:t>
            </a:r>
            <a:r>
              <a:rPr lang="en-GB" sz="2400" i="1" dirty="0"/>
              <a:t>, </a:t>
            </a:r>
            <a:r>
              <a:rPr lang="en-GB" sz="2400" dirty="0"/>
              <a:t>and priors </a:t>
            </a:r>
            <a:r>
              <a:rPr lang="el-GR" sz="2800" i="1" dirty="0"/>
              <a:t>θ</a:t>
            </a:r>
            <a:r>
              <a:rPr lang="en-GB" sz="2800" dirty="0"/>
              <a:t>()</a:t>
            </a:r>
            <a:r>
              <a:rPr lang="en-GB" sz="2400" dirty="0"/>
              <a:t> </a:t>
            </a:r>
            <a:endParaRPr lang="en-GB" sz="2400" baseline="-25000" dirty="0"/>
          </a:p>
          <a:p>
            <a:pPr marL="914400" lvl="1" indent="-514350">
              <a:buFont typeface="+mj-lt"/>
              <a:buAutoNum type="arabicPeriod" startAt="3"/>
            </a:pPr>
            <a:r>
              <a:rPr lang="en-GB" dirty="0"/>
              <a:t>Find some starting values, </a:t>
            </a:r>
            <a:r>
              <a:rPr lang="en-GB" b="1" dirty="0"/>
              <a:t>u</a:t>
            </a:r>
            <a:r>
              <a:rPr lang="en-GB" baseline="30000" dirty="0"/>
              <a:t>0</a:t>
            </a:r>
            <a:r>
              <a:rPr lang="en-GB" dirty="0"/>
              <a:t>, say </a:t>
            </a:r>
            <a:r>
              <a:rPr lang="en-GB" i="1" dirty="0"/>
              <a:t>u</a:t>
            </a:r>
            <a:r>
              <a:rPr lang="en-GB" i="1" baseline="-25000" dirty="0"/>
              <a:t>1</a:t>
            </a:r>
            <a:r>
              <a:rPr lang="en-GB" i="1" baseline="30000" dirty="0"/>
              <a:t>0</a:t>
            </a:r>
            <a:r>
              <a:rPr lang="en-GB" dirty="0"/>
              <a:t>,</a:t>
            </a:r>
            <a:r>
              <a:rPr lang="en-GB" baseline="-25000" dirty="0"/>
              <a:t> </a:t>
            </a:r>
            <a:r>
              <a:rPr lang="en-GB" i="1" dirty="0"/>
              <a:t>u</a:t>
            </a:r>
            <a:r>
              <a:rPr lang="en-GB" i="1" baseline="-25000" dirty="0"/>
              <a:t>2</a:t>
            </a:r>
            <a:r>
              <a:rPr lang="en-GB" i="1" baseline="30000" dirty="0"/>
              <a:t>0</a:t>
            </a:r>
            <a:r>
              <a:rPr lang="en-GB" dirty="0"/>
              <a:t> …</a:t>
            </a:r>
            <a:r>
              <a:rPr lang="en-GB" baseline="-25000" dirty="0"/>
              <a:t> </a:t>
            </a:r>
            <a:r>
              <a:rPr lang="en-GB" i="1" dirty="0"/>
              <a:t>u</a:t>
            </a:r>
            <a:r>
              <a:rPr lang="en-GB" i="1" baseline="-25000" dirty="0"/>
              <a:t>n</a:t>
            </a:r>
            <a:r>
              <a:rPr lang="en-GB" i="1" baseline="30000" dirty="0"/>
              <a:t>0</a:t>
            </a:r>
            <a:endParaRPr lang="en-GB" dirty="0"/>
          </a:p>
          <a:p>
            <a:pPr marL="914400" lvl="1" indent="-514350">
              <a:buFont typeface="+mj-lt"/>
              <a:buAutoNum type="arabicPeriod" startAt="3"/>
            </a:pPr>
            <a:r>
              <a:rPr lang="en-GB" dirty="0"/>
              <a:t>Sample from conditional distributions e.g. if </a:t>
            </a:r>
            <a:r>
              <a:rPr lang="en-GB" i="1" dirty="0"/>
              <a:t>n</a:t>
            </a:r>
            <a:r>
              <a:rPr lang="en-GB" dirty="0"/>
              <a:t>=3 </a:t>
            </a:r>
          </a:p>
          <a:p>
            <a:pPr marL="914400" lvl="2" indent="0">
              <a:buNone/>
            </a:pPr>
            <a:r>
              <a:rPr lang="en-GB" b="1" dirty="0"/>
              <a:t>u</a:t>
            </a:r>
            <a:r>
              <a:rPr lang="en-GB" baseline="30000" dirty="0"/>
              <a:t>1</a:t>
            </a:r>
            <a:r>
              <a:rPr lang="en-GB" dirty="0"/>
              <a:t> = (</a:t>
            </a:r>
            <a:r>
              <a:rPr lang="en-GB" i="1" dirty="0"/>
              <a:t>u</a:t>
            </a:r>
            <a:r>
              <a:rPr lang="en-GB" i="1" baseline="-25000" dirty="0"/>
              <a:t>1</a:t>
            </a:r>
            <a:r>
              <a:rPr lang="en-GB" i="1" baseline="30000" dirty="0"/>
              <a:t>1</a:t>
            </a:r>
            <a:r>
              <a:rPr lang="en-GB" baseline="-25000" dirty="0"/>
              <a:t> </a:t>
            </a:r>
            <a:r>
              <a:rPr lang="en-GB" dirty="0"/>
              <a:t>│</a:t>
            </a:r>
            <a:r>
              <a:rPr lang="en-GB" i="1" dirty="0"/>
              <a:t>u</a:t>
            </a:r>
            <a:r>
              <a:rPr lang="en-GB" i="1" baseline="-25000" dirty="0"/>
              <a:t>2</a:t>
            </a:r>
            <a:r>
              <a:rPr lang="en-GB" i="1" baseline="30000" dirty="0"/>
              <a:t>0</a:t>
            </a:r>
            <a:r>
              <a:rPr lang="en-GB" dirty="0"/>
              <a:t>,</a:t>
            </a:r>
            <a:r>
              <a:rPr lang="en-GB" baseline="-25000" dirty="0"/>
              <a:t> </a:t>
            </a:r>
            <a:r>
              <a:rPr lang="en-GB" i="1" dirty="0"/>
              <a:t>u</a:t>
            </a:r>
            <a:r>
              <a:rPr lang="en-GB" i="1" baseline="-25000" dirty="0"/>
              <a:t>3</a:t>
            </a:r>
            <a:r>
              <a:rPr lang="en-GB" i="1" baseline="30000" dirty="0"/>
              <a:t>0</a:t>
            </a:r>
            <a:r>
              <a:rPr lang="en-GB" dirty="0"/>
              <a:t>, </a:t>
            </a:r>
            <a:r>
              <a:rPr lang="en-GB" b="1" dirty="0"/>
              <a:t>y</a:t>
            </a:r>
            <a:r>
              <a:rPr lang="en-GB" dirty="0"/>
              <a:t>), (</a:t>
            </a:r>
            <a:r>
              <a:rPr lang="en-GB" i="1" dirty="0"/>
              <a:t>u</a:t>
            </a:r>
            <a:r>
              <a:rPr lang="en-GB" i="1" baseline="-25000" dirty="0"/>
              <a:t>2</a:t>
            </a:r>
            <a:r>
              <a:rPr lang="en-GB" i="1" baseline="30000" dirty="0"/>
              <a:t>1</a:t>
            </a:r>
            <a:r>
              <a:rPr lang="en-GB" baseline="-25000" dirty="0"/>
              <a:t> </a:t>
            </a:r>
            <a:r>
              <a:rPr lang="en-GB" dirty="0"/>
              <a:t>│</a:t>
            </a:r>
            <a:r>
              <a:rPr lang="en-GB" i="1" dirty="0"/>
              <a:t>u</a:t>
            </a:r>
            <a:r>
              <a:rPr lang="en-GB" i="1" baseline="-25000" dirty="0"/>
              <a:t>1</a:t>
            </a:r>
            <a:r>
              <a:rPr lang="en-GB" i="1" baseline="30000" dirty="0"/>
              <a:t>1</a:t>
            </a:r>
            <a:r>
              <a:rPr lang="en-GB" dirty="0"/>
              <a:t>,</a:t>
            </a:r>
            <a:r>
              <a:rPr lang="en-GB" baseline="-25000" dirty="0"/>
              <a:t> </a:t>
            </a:r>
            <a:r>
              <a:rPr lang="en-GB" i="1" dirty="0"/>
              <a:t>u</a:t>
            </a:r>
            <a:r>
              <a:rPr lang="en-GB" i="1" baseline="-25000" dirty="0"/>
              <a:t>3</a:t>
            </a:r>
            <a:r>
              <a:rPr lang="en-GB" i="1" baseline="30000" dirty="0"/>
              <a:t>0</a:t>
            </a:r>
            <a:r>
              <a:rPr lang="en-GB" dirty="0"/>
              <a:t>, </a:t>
            </a:r>
            <a:r>
              <a:rPr lang="en-GB" b="1" dirty="0"/>
              <a:t>y</a:t>
            </a:r>
            <a:r>
              <a:rPr lang="en-GB" dirty="0"/>
              <a:t>), (</a:t>
            </a:r>
            <a:r>
              <a:rPr lang="en-GB" i="1" dirty="0"/>
              <a:t>u</a:t>
            </a:r>
            <a:r>
              <a:rPr lang="en-GB" i="1" baseline="-25000" dirty="0"/>
              <a:t>3</a:t>
            </a:r>
            <a:r>
              <a:rPr lang="en-GB" i="1" baseline="30000" dirty="0"/>
              <a:t>1</a:t>
            </a:r>
            <a:r>
              <a:rPr lang="en-GB" baseline="-25000" dirty="0"/>
              <a:t> </a:t>
            </a:r>
            <a:r>
              <a:rPr lang="en-GB" dirty="0"/>
              <a:t>│</a:t>
            </a:r>
            <a:r>
              <a:rPr lang="en-GB" i="1" dirty="0"/>
              <a:t>u</a:t>
            </a:r>
            <a:r>
              <a:rPr lang="en-GB" i="1" baseline="-25000" dirty="0"/>
              <a:t>1</a:t>
            </a:r>
            <a:r>
              <a:rPr lang="en-GB" i="1" baseline="30000" dirty="0"/>
              <a:t>1</a:t>
            </a:r>
            <a:r>
              <a:rPr lang="en-GB" dirty="0"/>
              <a:t>,</a:t>
            </a:r>
            <a:r>
              <a:rPr lang="en-GB" baseline="-25000" dirty="0"/>
              <a:t> </a:t>
            </a:r>
            <a:r>
              <a:rPr lang="en-GB" i="1" dirty="0"/>
              <a:t>u</a:t>
            </a:r>
            <a:r>
              <a:rPr lang="en-GB" i="1" baseline="-25000" dirty="0"/>
              <a:t>2</a:t>
            </a:r>
            <a:r>
              <a:rPr lang="en-GB" i="1" baseline="30000" dirty="0"/>
              <a:t>1</a:t>
            </a:r>
            <a:r>
              <a:rPr lang="en-GB" dirty="0"/>
              <a:t>, </a:t>
            </a:r>
            <a:r>
              <a:rPr lang="en-GB" b="1" dirty="0"/>
              <a:t>y</a:t>
            </a:r>
            <a:r>
              <a:rPr lang="en-GB" dirty="0"/>
              <a:t>)</a:t>
            </a:r>
          </a:p>
          <a:p>
            <a:pPr marL="457200" lvl="1" indent="0">
              <a:buNone/>
            </a:pPr>
            <a:endParaRPr lang="en-GB" dirty="0"/>
          </a:p>
        </p:txBody>
      </p:sp>
      <p:sp>
        <p:nvSpPr>
          <p:cNvPr id="4" name="Date Placeholder 3"/>
          <p:cNvSpPr>
            <a:spLocks noGrp="1"/>
          </p:cNvSpPr>
          <p:nvPr>
            <p:ph type="dt" sz="half" idx="10"/>
          </p:nvPr>
        </p:nvSpPr>
        <p:spPr/>
        <p:txBody>
          <a:bodyPr/>
          <a:lstStyle/>
          <a:p>
            <a:fld id="{7FEB596B-D5BB-448B-A4A2-F12011FDF10E}" type="datetime4">
              <a:rPr lang="en-GB" smtClean="0"/>
              <a:t>12 February 2025</a:t>
            </a:fld>
            <a:endParaRPr lang="en-GB" dirty="0"/>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23281931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(Amazing) Ergodic Theorem</a:t>
            </a:r>
          </a:p>
        </p:txBody>
      </p:sp>
      <p:sp>
        <p:nvSpPr>
          <p:cNvPr id="3" name="Content Placeholder 2"/>
          <p:cNvSpPr>
            <a:spLocks noGrp="1"/>
          </p:cNvSpPr>
          <p:nvPr>
            <p:ph idx="1"/>
          </p:nvPr>
        </p:nvSpPr>
        <p:spPr/>
        <p:txBody>
          <a:bodyPr/>
          <a:lstStyle/>
          <a:p>
            <a:pPr marL="0" indent="0">
              <a:buNone/>
            </a:pPr>
            <a:r>
              <a:rPr lang="en-GB" dirty="0"/>
              <a:t>If I have data </a:t>
            </a:r>
            <a:r>
              <a:rPr lang="en-GB" b="1" dirty="0"/>
              <a:t>y </a:t>
            </a:r>
            <a:r>
              <a:rPr lang="en-GB" dirty="0"/>
              <a:t>… continuous or categorical</a:t>
            </a:r>
          </a:p>
          <a:p>
            <a:pPr marL="914400" lvl="1" indent="-514350">
              <a:buFont typeface="+mj-lt"/>
              <a:buAutoNum type="arabicPeriod"/>
            </a:pPr>
            <a:r>
              <a:rPr lang="en-GB" dirty="0"/>
              <a:t>List parameters </a:t>
            </a:r>
            <a:r>
              <a:rPr lang="en-GB" b="1" dirty="0"/>
              <a:t>u</a:t>
            </a:r>
            <a:r>
              <a:rPr lang="en-GB" dirty="0"/>
              <a:t> = </a:t>
            </a:r>
            <a:r>
              <a:rPr lang="en-GB" i="1" dirty="0"/>
              <a:t>u</a:t>
            </a:r>
            <a:r>
              <a:rPr lang="en-GB" i="1" baseline="-25000" dirty="0"/>
              <a:t>1</a:t>
            </a:r>
            <a:r>
              <a:rPr lang="en-GB" i="1" dirty="0"/>
              <a:t>, u</a:t>
            </a:r>
            <a:r>
              <a:rPr lang="en-GB" i="1" baseline="-25000" dirty="0"/>
              <a:t>2</a:t>
            </a:r>
            <a:r>
              <a:rPr lang="en-GB" i="1" dirty="0"/>
              <a:t> … u</a:t>
            </a:r>
            <a:r>
              <a:rPr lang="en-GB" i="1" baseline="-25000" dirty="0"/>
              <a:t>n</a:t>
            </a:r>
            <a:r>
              <a:rPr lang="en-GB" dirty="0"/>
              <a:t> with data </a:t>
            </a:r>
            <a:r>
              <a:rPr lang="en-GB" b="1" dirty="0"/>
              <a:t>y</a:t>
            </a:r>
          </a:p>
          <a:p>
            <a:pPr marL="914400" lvl="1" indent="-514350">
              <a:buFont typeface="+mj-lt"/>
              <a:buAutoNum type="arabicPeriod"/>
            </a:pPr>
            <a:r>
              <a:rPr lang="en-GB" dirty="0"/>
              <a:t>Write down all conditional distributions  </a:t>
            </a:r>
          </a:p>
          <a:p>
            <a:pPr marL="457200" lvl="1" indent="0">
              <a:buNone/>
            </a:pPr>
            <a:r>
              <a:rPr lang="en-GB" i="1" dirty="0"/>
              <a:t>		</a:t>
            </a:r>
            <a:r>
              <a:rPr lang="en-GB" sz="2400" dirty="0"/>
              <a:t>i.e.</a:t>
            </a:r>
            <a:r>
              <a:rPr lang="en-GB" sz="2400" i="1" dirty="0"/>
              <a:t> </a:t>
            </a:r>
            <a:r>
              <a:rPr lang="en-GB" sz="2400" i="1" dirty="0" err="1"/>
              <a:t>u</a:t>
            </a:r>
            <a:r>
              <a:rPr lang="en-GB" sz="2400" i="1" baseline="-25000" dirty="0" err="1"/>
              <a:t>i</a:t>
            </a:r>
            <a:r>
              <a:rPr lang="en-GB" sz="2400" baseline="-25000" dirty="0"/>
              <a:t> </a:t>
            </a:r>
            <a:r>
              <a:rPr lang="en-GB" sz="2400" dirty="0"/>
              <a:t>│</a:t>
            </a:r>
            <a:r>
              <a:rPr lang="en-GB" sz="2400" i="1" dirty="0"/>
              <a:t>u</a:t>
            </a:r>
            <a:r>
              <a:rPr lang="en-GB" sz="2400" i="1" baseline="-25000" dirty="0"/>
              <a:t>1</a:t>
            </a:r>
            <a:r>
              <a:rPr lang="en-GB" sz="2400" dirty="0"/>
              <a:t>,</a:t>
            </a:r>
            <a:r>
              <a:rPr lang="en-GB" sz="2400" baseline="-25000" dirty="0"/>
              <a:t> </a:t>
            </a:r>
            <a:r>
              <a:rPr lang="en-GB" sz="2400" i="1" dirty="0"/>
              <a:t>u</a:t>
            </a:r>
            <a:r>
              <a:rPr lang="en-GB" sz="2400" i="1" baseline="-25000" dirty="0"/>
              <a:t>2</a:t>
            </a:r>
            <a:r>
              <a:rPr lang="en-GB" sz="2400" dirty="0"/>
              <a:t> …</a:t>
            </a:r>
            <a:r>
              <a:rPr lang="en-GB" sz="2400" i="1" dirty="0"/>
              <a:t>u</a:t>
            </a:r>
            <a:r>
              <a:rPr lang="en-GB" sz="2400" i="1" baseline="-25000" dirty="0"/>
              <a:t>i-1</a:t>
            </a:r>
            <a:r>
              <a:rPr lang="en-GB" sz="2400" dirty="0"/>
              <a:t>,   </a:t>
            </a:r>
            <a:r>
              <a:rPr lang="en-GB" sz="2400" i="1" dirty="0"/>
              <a:t>u</a:t>
            </a:r>
            <a:r>
              <a:rPr lang="en-GB" sz="2400" i="1" baseline="-25000" dirty="0"/>
              <a:t>i+1</a:t>
            </a:r>
            <a:r>
              <a:rPr lang="en-GB" sz="2400" dirty="0"/>
              <a:t>,</a:t>
            </a:r>
            <a:r>
              <a:rPr lang="en-GB" sz="2400" baseline="-25000" dirty="0"/>
              <a:t> </a:t>
            </a:r>
            <a:r>
              <a:rPr lang="en-GB" sz="2400" i="1" dirty="0"/>
              <a:t>u</a:t>
            </a:r>
            <a:r>
              <a:rPr lang="en-GB" sz="2400" i="1" baseline="-25000" dirty="0"/>
              <a:t>n</a:t>
            </a:r>
            <a:r>
              <a:rPr lang="en-GB" sz="2400" dirty="0"/>
              <a:t>, </a:t>
            </a:r>
            <a:r>
              <a:rPr lang="en-GB" sz="2400" b="1" dirty="0"/>
              <a:t>y </a:t>
            </a:r>
            <a:r>
              <a:rPr lang="en-GB" sz="2400" dirty="0"/>
              <a:t>for all </a:t>
            </a:r>
            <a:r>
              <a:rPr lang="en-GB" sz="2400" i="1" dirty="0" err="1"/>
              <a:t>i</a:t>
            </a:r>
            <a:r>
              <a:rPr lang="en-GB" sz="2400" i="1" dirty="0"/>
              <a:t>, </a:t>
            </a:r>
            <a:r>
              <a:rPr lang="en-GB" sz="2400" dirty="0"/>
              <a:t>and priors </a:t>
            </a:r>
            <a:r>
              <a:rPr lang="el-GR" sz="2800" i="1" dirty="0"/>
              <a:t>θ</a:t>
            </a:r>
            <a:r>
              <a:rPr lang="en-GB" sz="2800" dirty="0"/>
              <a:t>()</a:t>
            </a:r>
            <a:endParaRPr lang="en-GB" sz="2400" i="1" baseline="-25000" dirty="0"/>
          </a:p>
          <a:p>
            <a:pPr marL="971550" lvl="1" indent="-514350">
              <a:buFont typeface="+mj-lt"/>
              <a:buAutoNum type="arabicPeriod" startAt="3"/>
            </a:pPr>
            <a:r>
              <a:rPr lang="en-GB" dirty="0"/>
              <a:t>Find some starting values, </a:t>
            </a:r>
            <a:r>
              <a:rPr lang="en-GB" b="1" dirty="0"/>
              <a:t>u</a:t>
            </a:r>
            <a:r>
              <a:rPr lang="en-GB" baseline="30000" dirty="0"/>
              <a:t>0</a:t>
            </a:r>
            <a:r>
              <a:rPr lang="en-GB" dirty="0"/>
              <a:t>, say </a:t>
            </a:r>
            <a:r>
              <a:rPr lang="en-GB" i="1" dirty="0"/>
              <a:t>u</a:t>
            </a:r>
            <a:r>
              <a:rPr lang="en-GB" baseline="-25000" dirty="0"/>
              <a:t>1</a:t>
            </a:r>
            <a:r>
              <a:rPr lang="en-GB" baseline="30000" dirty="0"/>
              <a:t>0</a:t>
            </a:r>
            <a:r>
              <a:rPr lang="en-GB" dirty="0"/>
              <a:t>, </a:t>
            </a:r>
            <a:r>
              <a:rPr lang="en-GB" i="1" dirty="0"/>
              <a:t>u</a:t>
            </a:r>
            <a:r>
              <a:rPr lang="en-GB" baseline="-25000" dirty="0"/>
              <a:t>2</a:t>
            </a:r>
            <a:r>
              <a:rPr lang="en-GB" baseline="30000" dirty="0"/>
              <a:t>0</a:t>
            </a:r>
            <a:r>
              <a:rPr lang="en-GB" dirty="0"/>
              <a:t> … </a:t>
            </a:r>
            <a:r>
              <a:rPr lang="en-GB" i="1" dirty="0"/>
              <a:t>u</a:t>
            </a:r>
            <a:r>
              <a:rPr lang="en-GB" baseline="-25000" dirty="0"/>
              <a:t>n</a:t>
            </a:r>
            <a:r>
              <a:rPr lang="en-GB" baseline="30000" dirty="0"/>
              <a:t>0</a:t>
            </a:r>
          </a:p>
          <a:p>
            <a:pPr marL="971550" lvl="1" indent="-514350">
              <a:buFont typeface="+mj-lt"/>
              <a:buAutoNum type="arabicPeriod" startAt="3"/>
            </a:pPr>
            <a:r>
              <a:rPr lang="en-GB" dirty="0"/>
              <a:t>Sample from conditional distributions e.g. if n=3 </a:t>
            </a:r>
          </a:p>
          <a:p>
            <a:pPr marL="914400" lvl="2" indent="0">
              <a:buNone/>
            </a:pPr>
            <a:r>
              <a:rPr lang="en-GB" b="1" dirty="0"/>
              <a:t>	u</a:t>
            </a:r>
            <a:r>
              <a:rPr lang="en-GB" baseline="30000" dirty="0"/>
              <a:t>1</a:t>
            </a:r>
            <a:r>
              <a:rPr lang="en-GB" dirty="0"/>
              <a:t> = (</a:t>
            </a:r>
            <a:r>
              <a:rPr lang="en-GB" i="1" dirty="0"/>
              <a:t>u</a:t>
            </a:r>
            <a:r>
              <a:rPr lang="en-GB" i="1" baseline="-25000" dirty="0"/>
              <a:t>1</a:t>
            </a:r>
            <a:r>
              <a:rPr lang="en-GB" i="1" baseline="30000" dirty="0"/>
              <a:t>1</a:t>
            </a:r>
            <a:r>
              <a:rPr lang="en-GB" baseline="-25000" dirty="0"/>
              <a:t> </a:t>
            </a:r>
            <a:r>
              <a:rPr lang="en-GB" dirty="0"/>
              <a:t>│</a:t>
            </a:r>
            <a:r>
              <a:rPr lang="en-GB" i="1" dirty="0"/>
              <a:t>u</a:t>
            </a:r>
            <a:r>
              <a:rPr lang="en-GB" i="1" baseline="-25000" dirty="0"/>
              <a:t>2</a:t>
            </a:r>
            <a:r>
              <a:rPr lang="en-GB" i="1" baseline="30000" dirty="0"/>
              <a:t>0</a:t>
            </a:r>
            <a:r>
              <a:rPr lang="en-GB" dirty="0"/>
              <a:t>,</a:t>
            </a:r>
            <a:r>
              <a:rPr lang="en-GB" baseline="-25000" dirty="0"/>
              <a:t> </a:t>
            </a:r>
            <a:r>
              <a:rPr lang="en-GB" i="1" dirty="0"/>
              <a:t>u</a:t>
            </a:r>
            <a:r>
              <a:rPr lang="en-GB" i="1" baseline="-25000" dirty="0"/>
              <a:t>3</a:t>
            </a:r>
            <a:r>
              <a:rPr lang="en-GB" i="1" baseline="30000" dirty="0"/>
              <a:t>0</a:t>
            </a:r>
            <a:r>
              <a:rPr lang="en-GB" dirty="0"/>
              <a:t>, </a:t>
            </a:r>
            <a:r>
              <a:rPr lang="en-GB" b="1" dirty="0"/>
              <a:t>y</a:t>
            </a:r>
            <a:r>
              <a:rPr lang="en-GB" dirty="0"/>
              <a:t>), (</a:t>
            </a:r>
            <a:r>
              <a:rPr lang="en-GB" i="1" dirty="0"/>
              <a:t>u</a:t>
            </a:r>
            <a:r>
              <a:rPr lang="en-GB" i="1" baseline="-25000" dirty="0"/>
              <a:t>2</a:t>
            </a:r>
            <a:r>
              <a:rPr lang="en-GB" i="1" baseline="30000" dirty="0"/>
              <a:t>1</a:t>
            </a:r>
            <a:r>
              <a:rPr lang="en-GB" baseline="-25000" dirty="0"/>
              <a:t> </a:t>
            </a:r>
            <a:r>
              <a:rPr lang="en-GB" dirty="0"/>
              <a:t>│</a:t>
            </a:r>
            <a:r>
              <a:rPr lang="en-GB" i="1" dirty="0"/>
              <a:t>u</a:t>
            </a:r>
            <a:r>
              <a:rPr lang="en-GB" i="1" baseline="-25000" dirty="0"/>
              <a:t>1</a:t>
            </a:r>
            <a:r>
              <a:rPr lang="en-GB" i="1" baseline="30000" dirty="0"/>
              <a:t>1</a:t>
            </a:r>
            <a:r>
              <a:rPr lang="en-GB" dirty="0"/>
              <a:t>,</a:t>
            </a:r>
            <a:r>
              <a:rPr lang="en-GB" baseline="-25000" dirty="0"/>
              <a:t> </a:t>
            </a:r>
            <a:r>
              <a:rPr lang="en-GB" i="1" dirty="0"/>
              <a:t>u</a:t>
            </a:r>
            <a:r>
              <a:rPr lang="en-GB" i="1" baseline="-25000" dirty="0"/>
              <a:t>3</a:t>
            </a:r>
            <a:r>
              <a:rPr lang="en-GB" i="1" baseline="30000" dirty="0"/>
              <a:t>0</a:t>
            </a:r>
            <a:r>
              <a:rPr lang="en-GB" dirty="0"/>
              <a:t>, </a:t>
            </a:r>
            <a:r>
              <a:rPr lang="en-GB" b="1" dirty="0"/>
              <a:t>y</a:t>
            </a:r>
            <a:r>
              <a:rPr lang="en-GB" dirty="0"/>
              <a:t>), (</a:t>
            </a:r>
            <a:r>
              <a:rPr lang="en-GB" i="1" dirty="0"/>
              <a:t>u</a:t>
            </a:r>
            <a:r>
              <a:rPr lang="en-GB" i="1" baseline="-25000" dirty="0"/>
              <a:t>3</a:t>
            </a:r>
            <a:r>
              <a:rPr lang="en-GB" i="1" baseline="30000" dirty="0"/>
              <a:t>1</a:t>
            </a:r>
            <a:r>
              <a:rPr lang="en-GB" baseline="-25000" dirty="0"/>
              <a:t> </a:t>
            </a:r>
            <a:r>
              <a:rPr lang="en-GB" dirty="0"/>
              <a:t>│</a:t>
            </a:r>
            <a:r>
              <a:rPr lang="en-GB" i="1" dirty="0"/>
              <a:t>u</a:t>
            </a:r>
            <a:r>
              <a:rPr lang="en-GB" i="1" baseline="-25000" dirty="0"/>
              <a:t>1</a:t>
            </a:r>
            <a:r>
              <a:rPr lang="en-GB" i="1" baseline="30000" dirty="0"/>
              <a:t>1</a:t>
            </a:r>
            <a:r>
              <a:rPr lang="en-GB" dirty="0"/>
              <a:t>,</a:t>
            </a:r>
            <a:r>
              <a:rPr lang="en-GB" baseline="-25000" dirty="0"/>
              <a:t> </a:t>
            </a:r>
            <a:r>
              <a:rPr lang="en-GB" i="1" dirty="0"/>
              <a:t>u</a:t>
            </a:r>
            <a:r>
              <a:rPr lang="en-GB" i="1" baseline="-25000" dirty="0"/>
              <a:t>2</a:t>
            </a:r>
            <a:r>
              <a:rPr lang="en-GB" i="1" baseline="30000" dirty="0"/>
              <a:t>1</a:t>
            </a:r>
            <a:r>
              <a:rPr lang="en-GB" dirty="0"/>
              <a:t>, </a:t>
            </a:r>
            <a:r>
              <a:rPr lang="en-GB" b="1" dirty="0"/>
              <a:t>y</a:t>
            </a:r>
            <a:r>
              <a:rPr lang="en-GB" dirty="0"/>
              <a:t>)</a:t>
            </a:r>
          </a:p>
          <a:p>
            <a:pPr marL="1028700" lvl="1" indent="-514350">
              <a:buFont typeface="+mj-lt"/>
              <a:buAutoNum type="arabicPeriod" startAt="5"/>
            </a:pPr>
            <a:r>
              <a:rPr lang="en-GB" dirty="0"/>
              <a:t>Repeat Step 4, using </a:t>
            </a:r>
            <a:r>
              <a:rPr lang="en-GB" b="1" dirty="0" err="1"/>
              <a:t>u</a:t>
            </a:r>
            <a:r>
              <a:rPr lang="en-GB" baseline="30000" dirty="0" err="1"/>
              <a:t>t</a:t>
            </a:r>
            <a:r>
              <a:rPr lang="en-GB" dirty="0"/>
              <a:t> to get </a:t>
            </a:r>
            <a:r>
              <a:rPr lang="en-GB" b="1" dirty="0"/>
              <a:t>u</a:t>
            </a:r>
            <a:r>
              <a:rPr lang="en-GB" baseline="30000" dirty="0"/>
              <a:t>t+1</a:t>
            </a:r>
            <a:r>
              <a:rPr lang="en-GB" dirty="0"/>
              <a:t> … to large t</a:t>
            </a:r>
          </a:p>
          <a:p>
            <a:pPr marL="914400" lvl="2" indent="0">
              <a:buNone/>
            </a:pPr>
            <a:endParaRPr lang="en-GB" dirty="0"/>
          </a:p>
          <a:p>
            <a:pPr marL="514350" lvl="1" indent="0">
              <a:buNone/>
            </a:pPr>
            <a:endParaRPr lang="en-GB" dirty="0"/>
          </a:p>
          <a:p>
            <a:pPr marL="514350" lvl="1" indent="0">
              <a:buNone/>
            </a:pPr>
            <a:endParaRPr lang="en-GB" dirty="0"/>
          </a:p>
          <a:p>
            <a:pPr marL="457200" lvl="1" indent="0">
              <a:buNone/>
            </a:pPr>
            <a:endParaRPr lang="en-GB" dirty="0"/>
          </a:p>
        </p:txBody>
      </p:sp>
      <p:sp>
        <p:nvSpPr>
          <p:cNvPr id="4" name="Date Placeholder 3"/>
          <p:cNvSpPr>
            <a:spLocks noGrp="1"/>
          </p:cNvSpPr>
          <p:nvPr>
            <p:ph type="dt" sz="half" idx="10"/>
          </p:nvPr>
        </p:nvSpPr>
        <p:spPr/>
        <p:txBody>
          <a:bodyPr/>
          <a:lstStyle/>
          <a:p>
            <a:fld id="{7FEB596B-D5BB-448B-A4A2-F12011FDF10E}" type="datetime4">
              <a:rPr lang="en-GB" smtClean="0"/>
              <a:t>12 February 2025</a:t>
            </a:fld>
            <a:endParaRPr lang="en-GB" dirty="0"/>
          </a:p>
        </p:txBody>
      </p:sp>
      <p:sp>
        <p:nvSpPr>
          <p:cNvPr id="5" name="Footer Placeholder 4"/>
          <p:cNvSpPr>
            <a:spLocks noGrp="1"/>
          </p:cNvSpPr>
          <p:nvPr>
            <p:ph type="ftr" sz="quarter" idx="11"/>
          </p:nvPr>
        </p:nvSpPr>
        <p:spPr/>
        <p:txBody>
          <a:bodyPr/>
          <a:lstStyle/>
          <a:p>
            <a:r>
              <a:rPr lang="en-GB" dirty="0"/>
              <a:t>Lecture 10</a:t>
            </a:r>
          </a:p>
        </p:txBody>
      </p:sp>
      <p:sp>
        <p:nvSpPr>
          <p:cNvPr id="6" name="Curved Down Arrow 5">
            <a:extLst>
              <a:ext uri="{FF2B5EF4-FFF2-40B4-BE49-F238E27FC236}">
                <a16:creationId xmlns:a16="http://schemas.microsoft.com/office/drawing/2014/main" id="{37D24AB3-926C-4D1E-8D1E-13ECACD0A3AE}"/>
              </a:ext>
            </a:extLst>
          </p:cNvPr>
          <p:cNvSpPr/>
          <p:nvPr/>
        </p:nvSpPr>
        <p:spPr>
          <a:xfrm rot="16200000">
            <a:off x="119336" y="4365104"/>
            <a:ext cx="828092" cy="39604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4273338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A813E15-E984-4F9F-B5AE-03F5BAE285C0}"/>
              </a:ext>
            </a:extLst>
          </p:cNvPr>
          <p:cNvSpPr>
            <a:spLocks noGrp="1"/>
          </p:cNvSpPr>
          <p:nvPr>
            <p:ph idx="1"/>
          </p:nvPr>
        </p:nvSpPr>
        <p:spPr/>
        <p:txBody>
          <a:bodyPr/>
          <a:lstStyle/>
          <a:p>
            <a:r>
              <a:rPr lang="en-GB" dirty="0"/>
              <a:t>Breeding values of 11 individuals, </a:t>
            </a:r>
            <a:r>
              <a:rPr lang="en-GB" i="1" dirty="0" err="1"/>
              <a:t>u</a:t>
            </a:r>
            <a:r>
              <a:rPr lang="en-GB" i="1" baseline="-25000" dirty="0" err="1"/>
              <a:t>a</a:t>
            </a:r>
            <a:r>
              <a:rPr lang="en-GB" dirty="0"/>
              <a:t>, </a:t>
            </a:r>
            <a:r>
              <a:rPr lang="en-GB" i="1" dirty="0" err="1"/>
              <a:t>u</a:t>
            </a:r>
            <a:r>
              <a:rPr lang="en-GB" i="1" baseline="-25000" dirty="0" err="1"/>
              <a:t>b</a:t>
            </a:r>
            <a:r>
              <a:rPr lang="en-GB" i="1" dirty="0"/>
              <a:t> … </a:t>
            </a:r>
            <a:r>
              <a:rPr lang="en-GB" i="1" dirty="0" err="1"/>
              <a:t>u</a:t>
            </a:r>
            <a:r>
              <a:rPr lang="en-GB" i="1" baseline="-25000" dirty="0" err="1"/>
              <a:t>k</a:t>
            </a:r>
            <a:endParaRPr lang="en-GB" i="1" dirty="0"/>
          </a:p>
          <a:p>
            <a:pPr lvl="1"/>
            <a:r>
              <a:rPr lang="en-GB" dirty="0"/>
              <a:t>8 known without error          , 3 unknown parameters</a:t>
            </a:r>
          </a:p>
          <a:p>
            <a:pPr lvl="1"/>
            <a:r>
              <a:rPr lang="en-GB" dirty="0"/>
              <a:t>also assume V</a:t>
            </a:r>
            <a:r>
              <a:rPr lang="en-GB" baseline="-25000" dirty="0"/>
              <a:t>A</a:t>
            </a:r>
            <a:r>
              <a:rPr lang="en-GB" dirty="0"/>
              <a:t> =1, known without error &amp; infinitesimal model</a:t>
            </a:r>
          </a:p>
          <a:p>
            <a:pPr lvl="1"/>
            <a:r>
              <a:rPr lang="en-GB" dirty="0"/>
              <a:t>how likely is ‘k’ best breeding value?</a:t>
            </a:r>
          </a:p>
          <a:p>
            <a:pPr marL="457200" lvl="1" indent="0">
              <a:buNone/>
            </a:pPr>
            <a:r>
              <a:rPr kumimoji="0" lang="en-GB" altLang="en-US" sz="1600" b="0" i="0" u="none" strike="noStrike" cap="none" normalizeH="0" baseline="0" dirty="0">
                <a:ln>
                  <a:noFill/>
                </a:ln>
                <a:solidFill>
                  <a:srgbClr val="000000"/>
                </a:solidFill>
                <a:effectLst/>
              </a:rPr>
              <a:t>              </a:t>
            </a:r>
          </a:p>
          <a:p>
            <a:pPr marL="457200" lvl="1" indent="0">
              <a:buNone/>
            </a:pPr>
            <a:endParaRPr lang="en-GB" altLang="en-US" sz="1600" dirty="0">
              <a:solidFill>
                <a:srgbClr val="000000"/>
              </a:solidFill>
            </a:endParaRPr>
          </a:p>
          <a:p>
            <a:pPr marL="457200" lvl="1" indent="0">
              <a:buNone/>
            </a:pPr>
            <a:r>
              <a:rPr kumimoji="0" lang="en-GB" altLang="en-US" sz="1600" b="0" i="0" u="none" strike="noStrike" cap="none" normalizeH="0" baseline="0" dirty="0">
                <a:ln>
                  <a:noFill/>
                </a:ln>
                <a:solidFill>
                  <a:srgbClr val="000000"/>
                </a:solidFill>
                <a:effectLst/>
              </a:rPr>
              <a:t>                                                   </a:t>
            </a:r>
            <a:r>
              <a:rPr kumimoji="0" lang="en-US" altLang="en-US" sz="1600" b="0" i="0" u="none" strike="noStrike" cap="none" normalizeH="0" baseline="0" dirty="0">
                <a:ln>
                  <a:noFill/>
                </a:ln>
                <a:solidFill>
                  <a:srgbClr val="000000"/>
                </a:solidFill>
                <a:effectLst/>
              </a:rPr>
              <a:t>0.80        0.64       -0.77           ?            ?           0.70</a:t>
            </a:r>
          </a:p>
          <a:p>
            <a:pPr marL="457200" lvl="1" indent="0">
              <a:buNone/>
            </a:pPr>
            <a:endParaRPr lang="en-US" sz="1600" dirty="0">
              <a:solidFill>
                <a:srgbClr val="000000"/>
              </a:solidFill>
            </a:endParaRPr>
          </a:p>
          <a:p>
            <a:pPr marL="457200" lvl="1" indent="0">
              <a:buNone/>
            </a:pPr>
            <a:endParaRPr lang="en-US" sz="1600" dirty="0">
              <a:solidFill>
                <a:srgbClr val="000000"/>
              </a:solidFill>
            </a:endParaRPr>
          </a:p>
          <a:p>
            <a:pPr marL="457200" lvl="1" indent="0">
              <a:buNone/>
            </a:pPr>
            <a:endParaRPr lang="en-US" sz="1600" dirty="0">
              <a:solidFill>
                <a:srgbClr val="000000"/>
              </a:solidFill>
            </a:endParaRPr>
          </a:p>
          <a:p>
            <a:pPr marL="457200" lvl="1" indent="0" algn="r">
              <a:buNone/>
            </a:pPr>
            <a:endParaRPr lang="en-US" sz="1600" dirty="0">
              <a:solidFill>
                <a:srgbClr val="000000"/>
              </a:solidFill>
            </a:endParaRPr>
          </a:p>
          <a:p>
            <a:pPr marL="457200" lvl="1" indent="0" algn="r">
              <a:buNone/>
            </a:pPr>
            <a:endParaRPr lang="en-US" sz="1600" dirty="0">
              <a:solidFill>
                <a:srgbClr val="000000"/>
              </a:solidFill>
            </a:endParaRPr>
          </a:p>
          <a:p>
            <a:pPr marL="457200" lvl="1" indent="0" algn="r">
              <a:buNone/>
            </a:pPr>
            <a:r>
              <a:rPr lang="en-GB" sz="1600" dirty="0"/>
              <a:t>seed 7803260</a:t>
            </a:r>
            <a:endParaRPr lang="en-US" sz="1600" dirty="0">
              <a:solidFill>
                <a:srgbClr val="000000"/>
              </a:solidFill>
            </a:endParaRPr>
          </a:p>
          <a:p>
            <a:pPr marL="457200" lvl="1" indent="0">
              <a:buNone/>
            </a:pPr>
            <a:r>
              <a:rPr kumimoji="0" lang="en-GB" altLang="en-US" sz="1600" b="0" i="0" u="none" strike="noStrike" cap="none" normalizeH="0" baseline="0" dirty="0">
                <a:ln>
                  <a:noFill/>
                </a:ln>
                <a:solidFill>
                  <a:srgbClr val="000000"/>
                </a:solidFill>
                <a:effectLst/>
              </a:rPr>
              <a:t>                                                            -0.17</a:t>
            </a:r>
            <a:r>
              <a:rPr kumimoji="0" lang="en-US" altLang="en-US" sz="1600" b="0" i="0" u="none" strike="noStrike" cap="none" normalizeH="0" baseline="0" dirty="0">
                <a:ln>
                  <a:noFill/>
                </a:ln>
                <a:solidFill>
                  <a:srgbClr val="000000"/>
                </a:solidFill>
                <a:effectLst/>
              </a:rPr>
              <a:t>       -1.01        0.56        0.15          ?                                          </a:t>
            </a:r>
            <a:r>
              <a:rPr kumimoji="0" lang="en-GB" altLang="en-US" sz="1600" b="0" i="0" u="none" strike="noStrike" cap="none" normalizeH="0" baseline="0" dirty="0">
                <a:ln>
                  <a:noFill/>
                </a:ln>
                <a:solidFill>
                  <a:srgbClr val="000000"/>
                </a:solidFill>
                <a:effectLst/>
              </a:rPr>
              <a:t>   </a:t>
            </a:r>
            <a:r>
              <a:rPr lang="en-GB" sz="1600" dirty="0"/>
              <a:t>from Schaeffer</a:t>
            </a:r>
          </a:p>
          <a:p>
            <a:endParaRPr lang="en-GB" dirty="0"/>
          </a:p>
          <a:p>
            <a:endParaRPr lang="en-GB" dirty="0"/>
          </a:p>
        </p:txBody>
      </p:sp>
      <p:sp>
        <p:nvSpPr>
          <p:cNvPr id="6" name="Title 5">
            <a:extLst>
              <a:ext uri="{FF2B5EF4-FFF2-40B4-BE49-F238E27FC236}">
                <a16:creationId xmlns:a16="http://schemas.microsoft.com/office/drawing/2014/main" id="{CF8D2E1A-BD22-4A37-BC5E-A0DA84A1F052}"/>
              </a:ext>
            </a:extLst>
          </p:cNvPr>
          <p:cNvSpPr>
            <a:spLocks noGrp="1"/>
          </p:cNvSpPr>
          <p:nvPr>
            <p:ph type="title"/>
          </p:nvPr>
        </p:nvSpPr>
        <p:spPr/>
        <p:txBody>
          <a:bodyPr/>
          <a:lstStyle/>
          <a:p>
            <a:r>
              <a:rPr lang="en-GB" dirty="0"/>
              <a:t>Example (Step 1)</a:t>
            </a:r>
          </a:p>
        </p:txBody>
      </p:sp>
      <p:sp>
        <p:nvSpPr>
          <p:cNvPr id="4" name="Date Placeholder 3">
            <a:extLst>
              <a:ext uri="{FF2B5EF4-FFF2-40B4-BE49-F238E27FC236}">
                <a16:creationId xmlns:a16="http://schemas.microsoft.com/office/drawing/2014/main" id="{A2C36368-3020-4A12-B910-CADFAA2EED6D}"/>
              </a:ext>
            </a:extLst>
          </p:cNvPr>
          <p:cNvSpPr>
            <a:spLocks noGrp="1"/>
          </p:cNvSpPr>
          <p:nvPr>
            <p:ph type="dt" sz="half" idx="10"/>
          </p:nvPr>
        </p:nvSpPr>
        <p:spPr/>
        <p:txBody>
          <a:bodyPr/>
          <a:lstStyle/>
          <a:p>
            <a:fld id="{F40735AC-8509-4286-B41F-026BC07FE1F9}" type="datetime4">
              <a:rPr lang="en-GB" smtClean="0"/>
              <a:pPr/>
              <a:t>12 February 2025</a:t>
            </a:fld>
            <a:endParaRPr lang="en-GB"/>
          </a:p>
        </p:txBody>
      </p:sp>
      <p:sp>
        <p:nvSpPr>
          <p:cNvPr id="5" name="Footer Placeholder 4">
            <a:extLst>
              <a:ext uri="{FF2B5EF4-FFF2-40B4-BE49-F238E27FC236}">
                <a16:creationId xmlns:a16="http://schemas.microsoft.com/office/drawing/2014/main" id="{4CECAC86-0508-414A-BE76-7710C93ACED0}"/>
              </a:ext>
            </a:extLst>
          </p:cNvPr>
          <p:cNvSpPr>
            <a:spLocks noGrp="1"/>
          </p:cNvSpPr>
          <p:nvPr>
            <p:ph type="ftr" sz="quarter" idx="11"/>
          </p:nvPr>
        </p:nvSpPr>
        <p:spPr/>
        <p:txBody>
          <a:bodyPr/>
          <a:lstStyle/>
          <a:p>
            <a:r>
              <a:rPr lang="en-GB"/>
              <a:t>Lecture 10</a:t>
            </a:r>
            <a:endParaRPr lang="en-GB" dirty="0"/>
          </a:p>
        </p:txBody>
      </p:sp>
      <p:sp>
        <p:nvSpPr>
          <p:cNvPr id="31" name="Oval 30">
            <a:extLst>
              <a:ext uri="{FF2B5EF4-FFF2-40B4-BE49-F238E27FC236}">
                <a16:creationId xmlns:a16="http://schemas.microsoft.com/office/drawing/2014/main" id="{410E026A-030A-4ABD-86C4-6AF007276BDF}"/>
              </a:ext>
            </a:extLst>
          </p:cNvPr>
          <p:cNvSpPr/>
          <p:nvPr/>
        </p:nvSpPr>
        <p:spPr>
          <a:xfrm>
            <a:off x="4799856" y="1795159"/>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anose="020B0604020202020204" pitchFamily="34" charset="0"/>
              <a:cs typeface="Arial" panose="020B0604020202020204" pitchFamily="34" charset="0"/>
            </a:endParaRPr>
          </a:p>
        </p:txBody>
      </p:sp>
      <p:sp>
        <p:nvSpPr>
          <p:cNvPr id="35" name="Oval 34">
            <a:extLst>
              <a:ext uri="{FF2B5EF4-FFF2-40B4-BE49-F238E27FC236}">
                <a16:creationId xmlns:a16="http://schemas.microsoft.com/office/drawing/2014/main" id="{CFAE911C-F7BE-41F9-AB94-8B7EF15D85D2}"/>
              </a:ext>
            </a:extLst>
          </p:cNvPr>
          <p:cNvSpPr/>
          <p:nvPr/>
        </p:nvSpPr>
        <p:spPr>
          <a:xfrm>
            <a:off x="9552384" y="1808880"/>
            <a:ext cx="540000" cy="540000"/>
          </a:xfrm>
          <a:prstGeom prst="ellipse">
            <a:avLst/>
          </a:prstGeom>
          <a:gradFill>
            <a:gsLst>
              <a:gs pos="0">
                <a:schemeClr val="bg1"/>
              </a:gs>
              <a:gs pos="100000">
                <a:srgbClr val="FF0000"/>
              </a:gs>
            </a:gsLst>
            <a:path path="circle">
              <a:fillToRect l="50000" t="50000" r="50000" b="50000"/>
            </a:path>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anose="020B0604020202020204" pitchFamily="34" charset="0"/>
              <a:cs typeface="Arial" panose="020B0604020202020204" pitchFamily="34" charset="0"/>
            </a:endParaRPr>
          </a:p>
        </p:txBody>
      </p:sp>
      <p:grpSp>
        <p:nvGrpSpPr>
          <p:cNvPr id="36" name="Group 35">
            <a:extLst>
              <a:ext uri="{FF2B5EF4-FFF2-40B4-BE49-F238E27FC236}">
                <a16:creationId xmlns:a16="http://schemas.microsoft.com/office/drawing/2014/main" id="{24826517-CE70-4B9A-9843-1B46929EC27A}"/>
              </a:ext>
            </a:extLst>
          </p:cNvPr>
          <p:cNvGrpSpPr/>
          <p:nvPr/>
        </p:nvGrpSpPr>
        <p:grpSpPr>
          <a:xfrm>
            <a:off x="3675784" y="4193765"/>
            <a:ext cx="4840431" cy="1683507"/>
            <a:chOff x="2279232" y="3668685"/>
            <a:chExt cx="4840431" cy="1683507"/>
          </a:xfrm>
        </p:grpSpPr>
        <p:sp>
          <p:nvSpPr>
            <p:cNvPr id="37" name="Oval 36">
              <a:extLst>
                <a:ext uri="{FF2B5EF4-FFF2-40B4-BE49-F238E27FC236}">
                  <a16:creationId xmlns:a16="http://schemas.microsoft.com/office/drawing/2014/main" id="{E56A9DAA-3F68-42A2-8545-E87EFFEFC86B}"/>
                </a:ext>
              </a:extLst>
            </p:cNvPr>
            <p:cNvSpPr/>
            <p:nvPr/>
          </p:nvSpPr>
          <p:spPr>
            <a:xfrm>
              <a:off x="2279232"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a</a:t>
              </a:r>
            </a:p>
          </p:txBody>
        </p:sp>
        <p:sp>
          <p:nvSpPr>
            <p:cNvPr id="38" name="Oval 37">
              <a:extLst>
                <a:ext uri="{FF2B5EF4-FFF2-40B4-BE49-F238E27FC236}">
                  <a16:creationId xmlns:a16="http://schemas.microsoft.com/office/drawing/2014/main" id="{1C00D0DF-FB41-468F-9044-FA4762CCC827}"/>
                </a:ext>
              </a:extLst>
            </p:cNvPr>
            <p:cNvSpPr/>
            <p:nvPr/>
          </p:nvSpPr>
          <p:spPr>
            <a:xfrm>
              <a:off x="4515042"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latin typeface="Arial" panose="020B0604020202020204" pitchFamily="34" charset="0"/>
                  <a:cs typeface="Arial" panose="020B0604020202020204" pitchFamily="34" charset="0"/>
                </a:rPr>
                <a:t>i</a:t>
              </a:r>
              <a:endParaRPr lang="en-GB" dirty="0">
                <a:solidFill>
                  <a:schemeClr val="tx1"/>
                </a:solidFill>
                <a:latin typeface="Arial" panose="020B0604020202020204" pitchFamily="34" charset="0"/>
                <a:cs typeface="Arial" panose="020B0604020202020204" pitchFamily="34" charset="0"/>
              </a:endParaRPr>
            </a:p>
          </p:txBody>
        </p:sp>
        <p:sp>
          <p:nvSpPr>
            <p:cNvPr id="39" name="Oval 38">
              <a:extLst>
                <a:ext uri="{FF2B5EF4-FFF2-40B4-BE49-F238E27FC236}">
                  <a16:creationId xmlns:a16="http://schemas.microsoft.com/office/drawing/2014/main" id="{3E16081D-32DD-456A-8B82-1147AE521B21}"/>
                </a:ext>
              </a:extLst>
            </p:cNvPr>
            <p:cNvSpPr/>
            <p:nvPr/>
          </p:nvSpPr>
          <p:spPr>
            <a:xfrm>
              <a:off x="3651661"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h</a:t>
              </a:r>
            </a:p>
          </p:txBody>
        </p:sp>
        <p:sp>
          <p:nvSpPr>
            <p:cNvPr id="40" name="Oval 39">
              <a:extLst>
                <a:ext uri="{FF2B5EF4-FFF2-40B4-BE49-F238E27FC236}">
                  <a16:creationId xmlns:a16="http://schemas.microsoft.com/office/drawing/2014/main" id="{BB9CE31B-61AF-4161-91E2-D7968CA7A781}"/>
                </a:ext>
              </a:extLst>
            </p:cNvPr>
            <p:cNvSpPr/>
            <p:nvPr/>
          </p:nvSpPr>
          <p:spPr>
            <a:xfrm>
              <a:off x="3999855"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c</a:t>
              </a:r>
            </a:p>
          </p:txBody>
        </p:sp>
        <p:sp>
          <p:nvSpPr>
            <p:cNvPr id="41" name="Oval 40">
              <a:extLst>
                <a:ext uri="{FF2B5EF4-FFF2-40B4-BE49-F238E27FC236}">
                  <a16:creationId xmlns:a16="http://schemas.microsoft.com/office/drawing/2014/main" id="{CDD104CB-2666-483F-A516-9711CB4C1910}"/>
                </a:ext>
              </a:extLst>
            </p:cNvPr>
            <p:cNvSpPr/>
            <p:nvPr/>
          </p:nvSpPr>
          <p:spPr>
            <a:xfrm>
              <a:off x="2788281"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g</a:t>
              </a:r>
            </a:p>
          </p:txBody>
        </p:sp>
        <p:sp>
          <p:nvSpPr>
            <p:cNvPr id="42" name="Oval 41">
              <a:extLst>
                <a:ext uri="{FF2B5EF4-FFF2-40B4-BE49-F238E27FC236}">
                  <a16:creationId xmlns:a16="http://schemas.microsoft.com/office/drawing/2014/main" id="{CEAA977E-F3A3-48F5-90A6-B853F28D1036}"/>
                </a:ext>
              </a:extLst>
            </p:cNvPr>
            <p:cNvSpPr/>
            <p:nvPr/>
          </p:nvSpPr>
          <p:spPr>
            <a:xfrm>
              <a:off x="3139919"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b</a:t>
              </a:r>
            </a:p>
          </p:txBody>
        </p:sp>
        <p:sp>
          <p:nvSpPr>
            <p:cNvPr id="43" name="Oval 42">
              <a:extLst>
                <a:ext uri="{FF2B5EF4-FFF2-40B4-BE49-F238E27FC236}">
                  <a16:creationId xmlns:a16="http://schemas.microsoft.com/office/drawing/2014/main" id="{3F497CF3-CBCC-43A0-A00C-098CE637AFCB}"/>
                </a:ext>
              </a:extLst>
            </p:cNvPr>
            <p:cNvSpPr/>
            <p:nvPr/>
          </p:nvSpPr>
          <p:spPr>
            <a:xfrm>
              <a:off x="6579663"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f</a:t>
              </a:r>
            </a:p>
          </p:txBody>
        </p:sp>
        <p:sp>
          <p:nvSpPr>
            <p:cNvPr id="44" name="Oval 43">
              <a:extLst>
                <a:ext uri="{FF2B5EF4-FFF2-40B4-BE49-F238E27FC236}">
                  <a16:creationId xmlns:a16="http://schemas.microsoft.com/office/drawing/2014/main" id="{40497182-FA6D-494D-8284-DDBA9A82321E}"/>
                </a:ext>
              </a:extLst>
            </p:cNvPr>
            <p:cNvSpPr/>
            <p:nvPr/>
          </p:nvSpPr>
          <p:spPr>
            <a:xfrm>
              <a:off x="5378423" y="4757206"/>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j</a:t>
              </a:r>
            </a:p>
          </p:txBody>
        </p:sp>
        <p:sp>
          <p:nvSpPr>
            <p:cNvPr id="45" name="Oval 44">
              <a:extLst>
                <a:ext uri="{FF2B5EF4-FFF2-40B4-BE49-F238E27FC236}">
                  <a16:creationId xmlns:a16="http://schemas.microsoft.com/office/drawing/2014/main" id="{29E3B50C-6E5A-4679-BEF3-40B2328BA50D}"/>
                </a:ext>
              </a:extLst>
            </p:cNvPr>
            <p:cNvSpPr/>
            <p:nvPr/>
          </p:nvSpPr>
          <p:spPr>
            <a:xfrm>
              <a:off x="4859791" y="3668685"/>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d</a:t>
              </a:r>
            </a:p>
          </p:txBody>
        </p:sp>
        <p:sp>
          <p:nvSpPr>
            <p:cNvPr id="46" name="Oval 45">
              <a:extLst>
                <a:ext uri="{FF2B5EF4-FFF2-40B4-BE49-F238E27FC236}">
                  <a16:creationId xmlns:a16="http://schemas.microsoft.com/office/drawing/2014/main" id="{B5D1FFA3-070B-4073-9719-AF7812BDC09B}"/>
                </a:ext>
              </a:extLst>
            </p:cNvPr>
            <p:cNvSpPr/>
            <p:nvPr/>
          </p:nvSpPr>
          <p:spPr>
            <a:xfrm>
              <a:off x="5716283" y="3668685"/>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e</a:t>
              </a:r>
            </a:p>
          </p:txBody>
        </p:sp>
        <p:sp>
          <p:nvSpPr>
            <p:cNvPr id="47" name="Oval 46">
              <a:extLst>
                <a:ext uri="{FF2B5EF4-FFF2-40B4-BE49-F238E27FC236}">
                  <a16:creationId xmlns:a16="http://schemas.microsoft.com/office/drawing/2014/main" id="{BDD47600-682A-4387-AAD9-84EC28C156E2}"/>
                </a:ext>
              </a:extLst>
            </p:cNvPr>
            <p:cNvSpPr/>
            <p:nvPr/>
          </p:nvSpPr>
          <p:spPr>
            <a:xfrm>
              <a:off x="6241803" y="4757206"/>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k</a:t>
              </a:r>
            </a:p>
          </p:txBody>
        </p:sp>
        <p:cxnSp>
          <p:nvCxnSpPr>
            <p:cNvPr id="48" name="Straight Arrow Connector 47">
              <a:extLst>
                <a:ext uri="{FF2B5EF4-FFF2-40B4-BE49-F238E27FC236}">
                  <a16:creationId xmlns:a16="http://schemas.microsoft.com/office/drawing/2014/main" id="{E6584433-6266-4535-8C31-86350681EAC1}"/>
                </a:ext>
              </a:extLst>
            </p:cNvPr>
            <p:cNvCxnSpPr>
              <a:stCxn id="43" idx="3"/>
              <a:endCxn id="38" idx="7"/>
            </p:cNvCxnSpPr>
            <p:nvPr/>
          </p:nvCxnSpPr>
          <p:spPr>
            <a:xfrm flipH="1">
              <a:off x="4975961" y="4129604"/>
              <a:ext cx="1682783"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9E8EB6E-E4A1-4F88-B8FC-4B159B9039BB}"/>
                </a:ext>
              </a:extLst>
            </p:cNvPr>
            <p:cNvCxnSpPr>
              <a:cxnSpLocks/>
              <a:stCxn id="43" idx="3"/>
              <a:endCxn id="44" idx="7"/>
            </p:cNvCxnSpPr>
            <p:nvPr/>
          </p:nvCxnSpPr>
          <p:spPr>
            <a:xfrm flipH="1">
              <a:off x="5839342" y="4129604"/>
              <a:ext cx="819402" cy="706683"/>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041DC01-5AB9-428F-94D2-E0527D43179C}"/>
                </a:ext>
              </a:extLst>
            </p:cNvPr>
            <p:cNvCxnSpPr>
              <a:cxnSpLocks/>
              <a:stCxn id="43" idx="3"/>
              <a:endCxn id="47" idx="0"/>
            </p:cNvCxnSpPr>
            <p:nvPr/>
          </p:nvCxnSpPr>
          <p:spPr>
            <a:xfrm flipH="1">
              <a:off x="6511803" y="4129604"/>
              <a:ext cx="146941"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092E669-1187-4F2C-B796-9EC032F7B711}"/>
                </a:ext>
              </a:extLst>
            </p:cNvPr>
            <p:cNvCxnSpPr>
              <a:cxnSpLocks/>
              <a:stCxn id="46" idx="3"/>
              <a:endCxn id="41" idx="7"/>
            </p:cNvCxnSpPr>
            <p:nvPr/>
          </p:nvCxnSpPr>
          <p:spPr>
            <a:xfrm flipH="1">
              <a:off x="3249200" y="4129604"/>
              <a:ext cx="2546164"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E3AC024-854B-41B4-AF0A-CDD69A32F3D8}"/>
                </a:ext>
              </a:extLst>
            </p:cNvPr>
            <p:cNvCxnSpPr>
              <a:cxnSpLocks/>
              <a:stCxn id="37" idx="4"/>
              <a:endCxn id="41" idx="1"/>
            </p:cNvCxnSpPr>
            <p:nvPr/>
          </p:nvCxnSpPr>
          <p:spPr>
            <a:xfrm>
              <a:off x="2549232" y="4208685"/>
              <a:ext cx="318130"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FB5CF99-FB81-4142-BF90-BC382850C110}"/>
                </a:ext>
              </a:extLst>
            </p:cNvPr>
            <p:cNvCxnSpPr>
              <a:cxnSpLocks/>
              <a:stCxn id="46" idx="3"/>
              <a:endCxn id="39" idx="7"/>
            </p:cNvCxnSpPr>
            <p:nvPr/>
          </p:nvCxnSpPr>
          <p:spPr>
            <a:xfrm flipH="1">
              <a:off x="4112580" y="4129604"/>
              <a:ext cx="1682784"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CEC72D6-B14F-4B84-8C83-397A429229F5}"/>
                </a:ext>
              </a:extLst>
            </p:cNvPr>
            <p:cNvCxnSpPr>
              <a:cxnSpLocks/>
              <a:stCxn id="42" idx="4"/>
              <a:endCxn id="39" idx="1"/>
            </p:cNvCxnSpPr>
            <p:nvPr/>
          </p:nvCxnSpPr>
          <p:spPr>
            <a:xfrm>
              <a:off x="3409919" y="4208685"/>
              <a:ext cx="320823"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6CE4AFF-ADFA-4E00-8E5E-1B74A795E7E9}"/>
                </a:ext>
              </a:extLst>
            </p:cNvPr>
            <p:cNvCxnSpPr>
              <a:cxnSpLocks/>
              <a:stCxn id="40" idx="4"/>
              <a:endCxn id="38" idx="1"/>
            </p:cNvCxnSpPr>
            <p:nvPr/>
          </p:nvCxnSpPr>
          <p:spPr>
            <a:xfrm>
              <a:off x="4269855" y="4208685"/>
              <a:ext cx="324268"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112F627B-6C45-41DB-ACA8-797D2408FB92}"/>
                </a:ext>
              </a:extLst>
            </p:cNvPr>
            <p:cNvCxnSpPr>
              <a:cxnSpLocks/>
              <a:stCxn id="45" idx="4"/>
              <a:endCxn id="44" idx="1"/>
            </p:cNvCxnSpPr>
            <p:nvPr/>
          </p:nvCxnSpPr>
          <p:spPr>
            <a:xfrm>
              <a:off x="5129791" y="4208685"/>
              <a:ext cx="327713"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5EB8D270-1D2C-49A5-B72D-7A4905A8C66F}"/>
                </a:ext>
              </a:extLst>
            </p:cNvPr>
            <p:cNvCxnSpPr>
              <a:cxnSpLocks/>
              <a:stCxn id="45" idx="4"/>
              <a:endCxn id="47" idx="1"/>
            </p:cNvCxnSpPr>
            <p:nvPr/>
          </p:nvCxnSpPr>
          <p:spPr>
            <a:xfrm>
              <a:off x="5129791" y="4208685"/>
              <a:ext cx="1191093"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529098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F6436-BE22-4165-80C8-28EFD2190B81}"/>
              </a:ext>
            </a:extLst>
          </p:cNvPr>
          <p:cNvSpPr>
            <a:spLocks noGrp="1"/>
          </p:cNvSpPr>
          <p:nvPr>
            <p:ph type="title"/>
          </p:nvPr>
        </p:nvSpPr>
        <p:spPr/>
        <p:txBody>
          <a:bodyPr/>
          <a:lstStyle/>
          <a:p>
            <a:r>
              <a:rPr lang="en-GB" dirty="0"/>
              <a:t>Example (Step 2)</a:t>
            </a:r>
          </a:p>
        </p:txBody>
      </p:sp>
      <p:sp>
        <p:nvSpPr>
          <p:cNvPr id="3" name="Content Placeholder 2">
            <a:extLst>
              <a:ext uri="{FF2B5EF4-FFF2-40B4-BE49-F238E27FC236}">
                <a16:creationId xmlns:a16="http://schemas.microsoft.com/office/drawing/2014/main" id="{FD98DC7A-7C85-4EE6-896E-CB5F03B0B70B}"/>
              </a:ext>
            </a:extLst>
          </p:cNvPr>
          <p:cNvSpPr>
            <a:spLocks noGrp="1"/>
          </p:cNvSpPr>
          <p:nvPr>
            <p:ph idx="1"/>
          </p:nvPr>
        </p:nvSpPr>
        <p:spPr/>
        <p:txBody>
          <a:bodyPr/>
          <a:lstStyle/>
          <a:p>
            <a:r>
              <a:rPr lang="en-GB" dirty="0"/>
              <a:t>Conditional distributions</a:t>
            </a:r>
          </a:p>
          <a:p>
            <a:pPr lvl="2"/>
            <a:r>
              <a:rPr lang="en-GB" dirty="0"/>
              <a:t>on all other parameters, assuming they are known </a:t>
            </a:r>
          </a:p>
          <a:p>
            <a:pPr lvl="2"/>
            <a:r>
              <a:rPr lang="en-GB" dirty="0"/>
              <a:t>depend on only on parents, mates and offspring</a:t>
            </a:r>
          </a:p>
          <a:p>
            <a:pPr lvl="2"/>
            <a:r>
              <a:rPr lang="en-GB" i="1" dirty="0" err="1"/>
              <a:t>u</a:t>
            </a:r>
            <a:r>
              <a:rPr lang="en-GB" i="1" baseline="-25000" dirty="0" err="1"/>
              <a:t>d</a:t>
            </a:r>
            <a:r>
              <a:rPr lang="en-GB" i="1" dirty="0"/>
              <a:t> </a:t>
            </a:r>
            <a:r>
              <a:rPr lang="en-GB" dirty="0"/>
              <a:t>given {</a:t>
            </a:r>
            <a:r>
              <a:rPr lang="en-GB" i="1" dirty="0" err="1"/>
              <a:t>u</a:t>
            </a:r>
            <a:r>
              <a:rPr lang="en-GB" i="1" baseline="-25000" dirty="0" err="1"/>
              <a:t>a</a:t>
            </a:r>
            <a:r>
              <a:rPr lang="en-GB" i="1" dirty="0"/>
              <a:t>,…</a:t>
            </a:r>
            <a:r>
              <a:rPr lang="en-GB" i="1" dirty="0" err="1"/>
              <a:t>u</a:t>
            </a:r>
            <a:r>
              <a:rPr lang="en-GB" i="1" baseline="-25000" dirty="0" err="1"/>
              <a:t>c</a:t>
            </a:r>
            <a:r>
              <a:rPr lang="en-GB" i="1" dirty="0"/>
              <a:t>, </a:t>
            </a:r>
            <a:r>
              <a:rPr lang="en-GB" i="1" dirty="0" err="1"/>
              <a:t>u</a:t>
            </a:r>
            <a:r>
              <a:rPr lang="en-GB" i="1" baseline="-25000" dirty="0" err="1"/>
              <a:t>e</a:t>
            </a:r>
            <a:r>
              <a:rPr lang="en-GB" i="1" dirty="0"/>
              <a:t>,…</a:t>
            </a:r>
            <a:r>
              <a:rPr lang="en-GB" i="1" dirty="0" err="1"/>
              <a:t>u</a:t>
            </a:r>
            <a:r>
              <a:rPr lang="en-GB" i="1" baseline="-25000" dirty="0" err="1"/>
              <a:t>k</a:t>
            </a:r>
            <a:r>
              <a:rPr lang="en-GB" i="1" dirty="0" err="1"/>
              <a:t>,V</a:t>
            </a:r>
            <a:r>
              <a:rPr lang="en-GB" i="1" baseline="-25000" dirty="0" err="1"/>
              <a:t>A</a:t>
            </a:r>
            <a:r>
              <a:rPr lang="en-GB" dirty="0"/>
              <a:t>}</a:t>
            </a:r>
            <a:r>
              <a:rPr lang="en-GB" i="1" dirty="0"/>
              <a:t>  	</a:t>
            </a:r>
            <a:r>
              <a:rPr lang="en-GB" dirty="0"/>
              <a:t>is N(-0.27</a:t>
            </a:r>
            <a:r>
              <a:rPr lang="en-GB" i="1" baseline="-25000" dirty="0"/>
              <a:t> </a:t>
            </a:r>
            <a:r>
              <a:rPr lang="en-GB" dirty="0"/>
              <a:t>+0.5</a:t>
            </a:r>
            <a:r>
              <a:rPr lang="en-GB" i="1" dirty="0"/>
              <a:t>u</a:t>
            </a:r>
            <a:r>
              <a:rPr lang="en-GB" i="1" baseline="-25000" dirty="0"/>
              <a:t>k</a:t>
            </a:r>
            <a:r>
              <a:rPr lang="en-GB" dirty="0"/>
              <a:t>, 0.5)</a:t>
            </a:r>
          </a:p>
          <a:p>
            <a:pPr lvl="2"/>
            <a:r>
              <a:rPr lang="en-GB" i="1" dirty="0" err="1"/>
              <a:t>u</a:t>
            </a:r>
            <a:r>
              <a:rPr lang="en-GB" i="1" baseline="-25000" dirty="0" err="1"/>
              <a:t>e</a:t>
            </a:r>
            <a:r>
              <a:rPr lang="en-GB" i="1" dirty="0"/>
              <a:t> </a:t>
            </a:r>
            <a:r>
              <a:rPr lang="en-GB" dirty="0"/>
              <a:t>given {</a:t>
            </a:r>
            <a:r>
              <a:rPr lang="en-GB" i="1" dirty="0" err="1"/>
              <a:t>u</a:t>
            </a:r>
            <a:r>
              <a:rPr lang="en-GB" i="1" baseline="-25000" dirty="0" err="1"/>
              <a:t>a</a:t>
            </a:r>
            <a:r>
              <a:rPr lang="en-GB" i="1" dirty="0"/>
              <a:t>,…</a:t>
            </a:r>
            <a:r>
              <a:rPr lang="en-GB" i="1" dirty="0" err="1"/>
              <a:t>u</a:t>
            </a:r>
            <a:r>
              <a:rPr lang="en-GB" i="1" baseline="-25000" dirty="0" err="1"/>
              <a:t>d</a:t>
            </a:r>
            <a:r>
              <a:rPr lang="en-GB" i="1" dirty="0"/>
              <a:t>, </a:t>
            </a:r>
            <a:r>
              <a:rPr lang="en-GB" i="1" dirty="0" err="1"/>
              <a:t>u</a:t>
            </a:r>
            <a:r>
              <a:rPr lang="en-GB" i="1" baseline="-25000" dirty="0" err="1"/>
              <a:t>f</a:t>
            </a:r>
            <a:r>
              <a:rPr lang="en-GB" i="1" dirty="0"/>
              <a:t>,…</a:t>
            </a:r>
            <a:r>
              <a:rPr lang="en-GB" i="1" dirty="0" err="1"/>
              <a:t>u</a:t>
            </a:r>
            <a:r>
              <a:rPr lang="en-GB" i="1" baseline="-25000" dirty="0" err="1"/>
              <a:t>k</a:t>
            </a:r>
            <a:r>
              <a:rPr lang="en-GB" i="1" dirty="0" err="1"/>
              <a:t>,V</a:t>
            </a:r>
            <a:r>
              <a:rPr lang="en-GB" i="1" baseline="-25000" dirty="0" err="1"/>
              <a:t>A</a:t>
            </a:r>
            <a:r>
              <a:rPr lang="en-GB" dirty="0"/>
              <a:t>}</a:t>
            </a:r>
            <a:r>
              <a:rPr lang="en-GB" i="1" dirty="0"/>
              <a:t>  	</a:t>
            </a:r>
            <a:r>
              <a:rPr lang="en-GB" dirty="0"/>
              <a:t>is N(-0.95, 0.5)</a:t>
            </a:r>
          </a:p>
          <a:p>
            <a:pPr lvl="2"/>
            <a:r>
              <a:rPr lang="en-GB" i="1" dirty="0" err="1"/>
              <a:t>u</a:t>
            </a:r>
            <a:r>
              <a:rPr lang="en-GB" i="1" baseline="-25000" dirty="0" err="1"/>
              <a:t>k</a:t>
            </a:r>
            <a:r>
              <a:rPr lang="en-GB" i="1" dirty="0"/>
              <a:t> </a:t>
            </a:r>
            <a:r>
              <a:rPr lang="en-GB" dirty="0"/>
              <a:t>given {</a:t>
            </a:r>
            <a:r>
              <a:rPr lang="en-GB" i="1" dirty="0" err="1"/>
              <a:t>u</a:t>
            </a:r>
            <a:r>
              <a:rPr lang="en-GB" i="1" baseline="-25000" dirty="0" err="1"/>
              <a:t>a</a:t>
            </a:r>
            <a:r>
              <a:rPr lang="en-GB" i="1" dirty="0"/>
              <a:t>,…</a:t>
            </a:r>
            <a:r>
              <a:rPr lang="en-GB" i="1" dirty="0" err="1"/>
              <a:t>u</a:t>
            </a:r>
            <a:r>
              <a:rPr lang="en-GB" i="1" baseline="-25000" dirty="0" err="1"/>
              <a:t>j</a:t>
            </a:r>
            <a:r>
              <a:rPr lang="en-GB" i="1" dirty="0" err="1"/>
              <a:t>,V</a:t>
            </a:r>
            <a:r>
              <a:rPr lang="en-GB" i="1" baseline="-25000" dirty="0" err="1"/>
              <a:t>A</a:t>
            </a:r>
            <a:r>
              <a:rPr lang="en-GB" dirty="0"/>
              <a:t>}</a:t>
            </a:r>
            <a:r>
              <a:rPr lang="en-GB" i="1" dirty="0"/>
              <a:t>  		</a:t>
            </a:r>
            <a:r>
              <a:rPr lang="en-GB" dirty="0"/>
              <a:t>is N( 0.35</a:t>
            </a:r>
            <a:r>
              <a:rPr lang="en-GB" i="1" baseline="-25000" dirty="0"/>
              <a:t> </a:t>
            </a:r>
            <a:r>
              <a:rPr lang="en-GB" dirty="0"/>
              <a:t>+0.5</a:t>
            </a:r>
            <a:r>
              <a:rPr lang="en-GB" i="1" dirty="0"/>
              <a:t>u</a:t>
            </a:r>
            <a:r>
              <a:rPr lang="en-GB" i="1" baseline="-25000" dirty="0"/>
              <a:t>d</a:t>
            </a:r>
            <a:r>
              <a:rPr lang="en-GB" dirty="0"/>
              <a:t>, 0.5)</a:t>
            </a:r>
          </a:p>
          <a:p>
            <a:pPr marL="457200" lvl="1" indent="0">
              <a:buNone/>
            </a:pPr>
            <a:endParaRPr lang="en-GB" dirty="0"/>
          </a:p>
        </p:txBody>
      </p:sp>
      <p:sp>
        <p:nvSpPr>
          <p:cNvPr id="4" name="Date Placeholder 3">
            <a:extLst>
              <a:ext uri="{FF2B5EF4-FFF2-40B4-BE49-F238E27FC236}">
                <a16:creationId xmlns:a16="http://schemas.microsoft.com/office/drawing/2014/main" id="{5F36A8B5-265E-49EB-AF0E-C9A24701160E}"/>
              </a:ext>
            </a:extLst>
          </p:cNvPr>
          <p:cNvSpPr>
            <a:spLocks noGrp="1"/>
          </p:cNvSpPr>
          <p:nvPr>
            <p:ph type="dt" sz="half" idx="10"/>
          </p:nvPr>
        </p:nvSpPr>
        <p:spPr/>
        <p:txBody>
          <a:bodyPr/>
          <a:lstStyle/>
          <a:p>
            <a:fld id="{F40735AC-8509-4286-B41F-026BC07FE1F9}" type="datetime4">
              <a:rPr lang="en-GB" smtClean="0"/>
              <a:pPr/>
              <a:t>12 February 2025</a:t>
            </a:fld>
            <a:endParaRPr lang="en-GB"/>
          </a:p>
        </p:txBody>
      </p:sp>
      <p:sp>
        <p:nvSpPr>
          <p:cNvPr id="5" name="Footer Placeholder 4">
            <a:extLst>
              <a:ext uri="{FF2B5EF4-FFF2-40B4-BE49-F238E27FC236}">
                <a16:creationId xmlns:a16="http://schemas.microsoft.com/office/drawing/2014/main" id="{75C6E538-45ED-40BF-84E5-E2D6EFCA46A7}"/>
              </a:ext>
            </a:extLst>
          </p:cNvPr>
          <p:cNvSpPr>
            <a:spLocks noGrp="1"/>
          </p:cNvSpPr>
          <p:nvPr>
            <p:ph type="ftr" sz="quarter" idx="11"/>
          </p:nvPr>
        </p:nvSpPr>
        <p:spPr/>
        <p:txBody>
          <a:bodyPr/>
          <a:lstStyle/>
          <a:p>
            <a:r>
              <a:rPr lang="en-GB"/>
              <a:t>Lecture 10</a:t>
            </a:r>
            <a:endParaRPr lang="en-GB" dirty="0"/>
          </a:p>
        </p:txBody>
      </p:sp>
      <p:grpSp>
        <p:nvGrpSpPr>
          <p:cNvPr id="6" name="Group 5">
            <a:extLst>
              <a:ext uri="{FF2B5EF4-FFF2-40B4-BE49-F238E27FC236}">
                <a16:creationId xmlns:a16="http://schemas.microsoft.com/office/drawing/2014/main" id="{D54C3C1A-DC18-4F1B-8069-C0C316E92577}"/>
              </a:ext>
            </a:extLst>
          </p:cNvPr>
          <p:cNvGrpSpPr/>
          <p:nvPr/>
        </p:nvGrpSpPr>
        <p:grpSpPr>
          <a:xfrm>
            <a:off x="3675784" y="4337781"/>
            <a:ext cx="4840431" cy="1683507"/>
            <a:chOff x="2279232" y="3668685"/>
            <a:chExt cx="4840431" cy="1683507"/>
          </a:xfrm>
        </p:grpSpPr>
        <p:sp>
          <p:nvSpPr>
            <p:cNvPr id="7" name="Oval 6">
              <a:extLst>
                <a:ext uri="{FF2B5EF4-FFF2-40B4-BE49-F238E27FC236}">
                  <a16:creationId xmlns:a16="http://schemas.microsoft.com/office/drawing/2014/main" id="{EC7A0F9C-6AC2-45F6-B0EB-07924941F509}"/>
                </a:ext>
              </a:extLst>
            </p:cNvPr>
            <p:cNvSpPr/>
            <p:nvPr/>
          </p:nvSpPr>
          <p:spPr>
            <a:xfrm>
              <a:off x="2279232"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a</a:t>
              </a:r>
            </a:p>
          </p:txBody>
        </p:sp>
        <p:sp>
          <p:nvSpPr>
            <p:cNvPr id="8" name="Oval 7">
              <a:extLst>
                <a:ext uri="{FF2B5EF4-FFF2-40B4-BE49-F238E27FC236}">
                  <a16:creationId xmlns:a16="http://schemas.microsoft.com/office/drawing/2014/main" id="{C3556771-F4FF-4C9B-A562-93CEB5A75653}"/>
                </a:ext>
              </a:extLst>
            </p:cNvPr>
            <p:cNvSpPr/>
            <p:nvPr/>
          </p:nvSpPr>
          <p:spPr>
            <a:xfrm>
              <a:off x="4515042"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latin typeface="Arial" panose="020B0604020202020204" pitchFamily="34" charset="0"/>
                  <a:cs typeface="Arial" panose="020B0604020202020204" pitchFamily="34" charset="0"/>
                </a:rPr>
                <a:t>i</a:t>
              </a:r>
              <a:endParaRPr lang="en-GB" dirty="0">
                <a:solidFill>
                  <a:schemeClr val="tx1"/>
                </a:solidFill>
                <a:latin typeface="Arial" panose="020B0604020202020204" pitchFamily="34" charset="0"/>
                <a:cs typeface="Arial" panose="020B0604020202020204" pitchFamily="34" charset="0"/>
              </a:endParaRPr>
            </a:p>
          </p:txBody>
        </p:sp>
        <p:sp>
          <p:nvSpPr>
            <p:cNvPr id="9" name="Oval 8">
              <a:extLst>
                <a:ext uri="{FF2B5EF4-FFF2-40B4-BE49-F238E27FC236}">
                  <a16:creationId xmlns:a16="http://schemas.microsoft.com/office/drawing/2014/main" id="{9A8D08E7-C14F-422F-840C-F4246F32AC9B}"/>
                </a:ext>
              </a:extLst>
            </p:cNvPr>
            <p:cNvSpPr/>
            <p:nvPr/>
          </p:nvSpPr>
          <p:spPr>
            <a:xfrm>
              <a:off x="3651661"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h</a:t>
              </a:r>
            </a:p>
          </p:txBody>
        </p:sp>
        <p:sp>
          <p:nvSpPr>
            <p:cNvPr id="10" name="Oval 9">
              <a:extLst>
                <a:ext uri="{FF2B5EF4-FFF2-40B4-BE49-F238E27FC236}">
                  <a16:creationId xmlns:a16="http://schemas.microsoft.com/office/drawing/2014/main" id="{B7D2C975-2C34-4BDE-9751-7B47F037AE9C}"/>
                </a:ext>
              </a:extLst>
            </p:cNvPr>
            <p:cNvSpPr/>
            <p:nvPr/>
          </p:nvSpPr>
          <p:spPr>
            <a:xfrm>
              <a:off x="3999855"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c</a:t>
              </a:r>
            </a:p>
          </p:txBody>
        </p:sp>
        <p:sp>
          <p:nvSpPr>
            <p:cNvPr id="11" name="Oval 10">
              <a:extLst>
                <a:ext uri="{FF2B5EF4-FFF2-40B4-BE49-F238E27FC236}">
                  <a16:creationId xmlns:a16="http://schemas.microsoft.com/office/drawing/2014/main" id="{C9CD8B93-B6DA-408C-A655-2B11EAE78C27}"/>
                </a:ext>
              </a:extLst>
            </p:cNvPr>
            <p:cNvSpPr/>
            <p:nvPr/>
          </p:nvSpPr>
          <p:spPr>
            <a:xfrm>
              <a:off x="2788281"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g</a:t>
              </a:r>
            </a:p>
          </p:txBody>
        </p:sp>
        <p:sp>
          <p:nvSpPr>
            <p:cNvPr id="12" name="Oval 11">
              <a:extLst>
                <a:ext uri="{FF2B5EF4-FFF2-40B4-BE49-F238E27FC236}">
                  <a16:creationId xmlns:a16="http://schemas.microsoft.com/office/drawing/2014/main" id="{C2E89FBD-5F65-4737-99D5-B2A99D4AA121}"/>
                </a:ext>
              </a:extLst>
            </p:cNvPr>
            <p:cNvSpPr/>
            <p:nvPr/>
          </p:nvSpPr>
          <p:spPr>
            <a:xfrm>
              <a:off x="3139919"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b</a:t>
              </a:r>
            </a:p>
          </p:txBody>
        </p:sp>
        <p:sp>
          <p:nvSpPr>
            <p:cNvPr id="13" name="Oval 12">
              <a:extLst>
                <a:ext uri="{FF2B5EF4-FFF2-40B4-BE49-F238E27FC236}">
                  <a16:creationId xmlns:a16="http://schemas.microsoft.com/office/drawing/2014/main" id="{C11D756C-37C1-40A4-9A7A-9235FE256034}"/>
                </a:ext>
              </a:extLst>
            </p:cNvPr>
            <p:cNvSpPr/>
            <p:nvPr/>
          </p:nvSpPr>
          <p:spPr>
            <a:xfrm>
              <a:off x="6579663"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f</a:t>
              </a:r>
            </a:p>
          </p:txBody>
        </p:sp>
        <p:sp>
          <p:nvSpPr>
            <p:cNvPr id="14" name="Oval 13">
              <a:extLst>
                <a:ext uri="{FF2B5EF4-FFF2-40B4-BE49-F238E27FC236}">
                  <a16:creationId xmlns:a16="http://schemas.microsoft.com/office/drawing/2014/main" id="{87D15D41-BCC9-4D99-B2B5-7BA8EDF91CAA}"/>
                </a:ext>
              </a:extLst>
            </p:cNvPr>
            <p:cNvSpPr/>
            <p:nvPr/>
          </p:nvSpPr>
          <p:spPr>
            <a:xfrm>
              <a:off x="5378423" y="4757206"/>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j</a:t>
              </a:r>
            </a:p>
          </p:txBody>
        </p:sp>
        <p:sp>
          <p:nvSpPr>
            <p:cNvPr id="15" name="Oval 14">
              <a:extLst>
                <a:ext uri="{FF2B5EF4-FFF2-40B4-BE49-F238E27FC236}">
                  <a16:creationId xmlns:a16="http://schemas.microsoft.com/office/drawing/2014/main" id="{091584F2-BD30-4870-8CE8-59207CC7A40B}"/>
                </a:ext>
              </a:extLst>
            </p:cNvPr>
            <p:cNvSpPr/>
            <p:nvPr/>
          </p:nvSpPr>
          <p:spPr>
            <a:xfrm>
              <a:off x="4859791" y="3668685"/>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d</a:t>
              </a:r>
            </a:p>
          </p:txBody>
        </p:sp>
        <p:sp>
          <p:nvSpPr>
            <p:cNvPr id="16" name="Oval 15">
              <a:extLst>
                <a:ext uri="{FF2B5EF4-FFF2-40B4-BE49-F238E27FC236}">
                  <a16:creationId xmlns:a16="http://schemas.microsoft.com/office/drawing/2014/main" id="{C083346B-2ED2-4817-B832-E04B15169A91}"/>
                </a:ext>
              </a:extLst>
            </p:cNvPr>
            <p:cNvSpPr/>
            <p:nvPr/>
          </p:nvSpPr>
          <p:spPr>
            <a:xfrm>
              <a:off x="5716283" y="3668685"/>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e</a:t>
              </a:r>
            </a:p>
          </p:txBody>
        </p:sp>
        <p:sp>
          <p:nvSpPr>
            <p:cNvPr id="17" name="Oval 16">
              <a:extLst>
                <a:ext uri="{FF2B5EF4-FFF2-40B4-BE49-F238E27FC236}">
                  <a16:creationId xmlns:a16="http://schemas.microsoft.com/office/drawing/2014/main" id="{F99A032B-5CC8-4CC1-AB09-5E307AD71D0C}"/>
                </a:ext>
              </a:extLst>
            </p:cNvPr>
            <p:cNvSpPr/>
            <p:nvPr/>
          </p:nvSpPr>
          <p:spPr>
            <a:xfrm>
              <a:off x="6241803" y="4757206"/>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k</a:t>
              </a:r>
            </a:p>
          </p:txBody>
        </p:sp>
        <p:cxnSp>
          <p:nvCxnSpPr>
            <p:cNvPr id="18" name="Straight Arrow Connector 17">
              <a:extLst>
                <a:ext uri="{FF2B5EF4-FFF2-40B4-BE49-F238E27FC236}">
                  <a16:creationId xmlns:a16="http://schemas.microsoft.com/office/drawing/2014/main" id="{12614F73-0186-450A-A9EE-B758CBDDCED0}"/>
                </a:ext>
              </a:extLst>
            </p:cNvPr>
            <p:cNvCxnSpPr>
              <a:cxnSpLocks/>
              <a:stCxn id="13" idx="3"/>
              <a:endCxn id="8" idx="7"/>
            </p:cNvCxnSpPr>
            <p:nvPr/>
          </p:nvCxnSpPr>
          <p:spPr>
            <a:xfrm flipH="1">
              <a:off x="4975961" y="4129604"/>
              <a:ext cx="1682783"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C8C83F6-318D-4113-9D4F-E1A641446E0C}"/>
                </a:ext>
              </a:extLst>
            </p:cNvPr>
            <p:cNvCxnSpPr>
              <a:cxnSpLocks/>
              <a:stCxn id="13" idx="3"/>
              <a:endCxn id="14" idx="7"/>
            </p:cNvCxnSpPr>
            <p:nvPr/>
          </p:nvCxnSpPr>
          <p:spPr>
            <a:xfrm flipH="1">
              <a:off x="5839342" y="4129604"/>
              <a:ext cx="819402" cy="706683"/>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ADF4B38-93E9-497E-BDFE-5260A2B55AB8}"/>
                </a:ext>
              </a:extLst>
            </p:cNvPr>
            <p:cNvCxnSpPr>
              <a:cxnSpLocks/>
              <a:stCxn id="13" idx="3"/>
              <a:endCxn id="17" idx="0"/>
            </p:cNvCxnSpPr>
            <p:nvPr/>
          </p:nvCxnSpPr>
          <p:spPr>
            <a:xfrm flipH="1">
              <a:off x="6511803" y="4129604"/>
              <a:ext cx="146941"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AFA49CD-DBF8-4591-A180-BB28B6AC7731}"/>
                </a:ext>
              </a:extLst>
            </p:cNvPr>
            <p:cNvCxnSpPr>
              <a:cxnSpLocks/>
              <a:stCxn id="16" idx="3"/>
              <a:endCxn id="11" idx="7"/>
            </p:cNvCxnSpPr>
            <p:nvPr/>
          </p:nvCxnSpPr>
          <p:spPr>
            <a:xfrm flipH="1">
              <a:off x="3249200" y="4129604"/>
              <a:ext cx="2546164"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79FB200-8B82-4BCA-93B5-DA3BDD1E28DB}"/>
                </a:ext>
              </a:extLst>
            </p:cNvPr>
            <p:cNvCxnSpPr>
              <a:cxnSpLocks/>
              <a:stCxn id="7" idx="4"/>
              <a:endCxn id="11" idx="1"/>
            </p:cNvCxnSpPr>
            <p:nvPr/>
          </p:nvCxnSpPr>
          <p:spPr>
            <a:xfrm>
              <a:off x="2549232" y="4208685"/>
              <a:ext cx="318130"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D65C437-C381-4278-B53F-99AE21575345}"/>
                </a:ext>
              </a:extLst>
            </p:cNvPr>
            <p:cNvCxnSpPr>
              <a:cxnSpLocks/>
              <a:stCxn id="16" idx="3"/>
              <a:endCxn id="9" idx="7"/>
            </p:cNvCxnSpPr>
            <p:nvPr/>
          </p:nvCxnSpPr>
          <p:spPr>
            <a:xfrm flipH="1">
              <a:off x="4112580" y="4129604"/>
              <a:ext cx="1682784"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64387A1-97A9-47C0-9CBA-47060461F81C}"/>
                </a:ext>
              </a:extLst>
            </p:cNvPr>
            <p:cNvCxnSpPr>
              <a:cxnSpLocks/>
              <a:stCxn id="12" idx="4"/>
              <a:endCxn id="9" idx="1"/>
            </p:cNvCxnSpPr>
            <p:nvPr/>
          </p:nvCxnSpPr>
          <p:spPr>
            <a:xfrm>
              <a:off x="3409919" y="4208685"/>
              <a:ext cx="320823"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0DD6A61-509F-4244-AF3B-065CEB6AC181}"/>
                </a:ext>
              </a:extLst>
            </p:cNvPr>
            <p:cNvCxnSpPr>
              <a:cxnSpLocks/>
              <a:stCxn id="10" idx="4"/>
              <a:endCxn id="8" idx="1"/>
            </p:cNvCxnSpPr>
            <p:nvPr/>
          </p:nvCxnSpPr>
          <p:spPr>
            <a:xfrm>
              <a:off x="4269855" y="4208685"/>
              <a:ext cx="324268"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9580E76-7328-4B03-AC6F-5ABF26CABAA2}"/>
                </a:ext>
              </a:extLst>
            </p:cNvPr>
            <p:cNvCxnSpPr>
              <a:cxnSpLocks/>
              <a:stCxn id="15" idx="4"/>
              <a:endCxn id="14" idx="1"/>
            </p:cNvCxnSpPr>
            <p:nvPr/>
          </p:nvCxnSpPr>
          <p:spPr>
            <a:xfrm>
              <a:off x="5129791" y="4208685"/>
              <a:ext cx="327713"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E548F6D-AE0E-427B-B1DA-103E169629B6}"/>
                </a:ext>
              </a:extLst>
            </p:cNvPr>
            <p:cNvCxnSpPr>
              <a:cxnSpLocks/>
              <a:stCxn id="15" idx="4"/>
              <a:endCxn id="17" idx="1"/>
            </p:cNvCxnSpPr>
            <p:nvPr/>
          </p:nvCxnSpPr>
          <p:spPr>
            <a:xfrm>
              <a:off x="5129791" y="4208685"/>
              <a:ext cx="1191093"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467295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F6436-BE22-4165-80C8-28EFD2190B81}"/>
              </a:ext>
            </a:extLst>
          </p:cNvPr>
          <p:cNvSpPr>
            <a:spLocks noGrp="1"/>
          </p:cNvSpPr>
          <p:nvPr>
            <p:ph type="title"/>
          </p:nvPr>
        </p:nvSpPr>
        <p:spPr/>
        <p:txBody>
          <a:bodyPr/>
          <a:lstStyle/>
          <a:p>
            <a:r>
              <a:rPr lang="en-GB" dirty="0"/>
              <a:t>Example (Step 3)</a:t>
            </a:r>
          </a:p>
        </p:txBody>
      </p:sp>
      <p:sp>
        <p:nvSpPr>
          <p:cNvPr id="3" name="Content Placeholder 2">
            <a:extLst>
              <a:ext uri="{FF2B5EF4-FFF2-40B4-BE49-F238E27FC236}">
                <a16:creationId xmlns:a16="http://schemas.microsoft.com/office/drawing/2014/main" id="{FD98DC7A-7C85-4EE6-896E-CB5F03B0B70B}"/>
              </a:ext>
            </a:extLst>
          </p:cNvPr>
          <p:cNvSpPr>
            <a:spLocks noGrp="1"/>
          </p:cNvSpPr>
          <p:nvPr>
            <p:ph idx="1"/>
          </p:nvPr>
        </p:nvSpPr>
        <p:spPr/>
        <p:txBody>
          <a:bodyPr/>
          <a:lstStyle/>
          <a:p>
            <a:r>
              <a:rPr lang="en-GB" dirty="0"/>
              <a:t>Starting values </a:t>
            </a:r>
            <a:r>
              <a:rPr lang="en-GB" b="1" dirty="0"/>
              <a:t>u</a:t>
            </a:r>
            <a:r>
              <a:rPr lang="en-GB" baseline="30000" dirty="0"/>
              <a:t>0</a:t>
            </a:r>
            <a:r>
              <a:rPr lang="en-GB" dirty="0"/>
              <a:t> is MVN(0, 0.7</a:t>
            </a:r>
            <a:r>
              <a:rPr lang="en-GB" b="1" dirty="0"/>
              <a:t>I</a:t>
            </a:r>
            <a:r>
              <a:rPr lang="en-GB" baseline="-25000" dirty="0"/>
              <a:t>3</a:t>
            </a:r>
            <a:r>
              <a:rPr lang="en-GB" dirty="0"/>
              <a:t>) for unknown parameters</a:t>
            </a:r>
          </a:p>
          <a:p>
            <a:pPr marL="457200" lvl="1" indent="0">
              <a:buNone/>
            </a:pPr>
            <a:endParaRPr lang="en-GB" dirty="0"/>
          </a:p>
        </p:txBody>
      </p:sp>
      <p:sp>
        <p:nvSpPr>
          <p:cNvPr id="4" name="Date Placeholder 3">
            <a:extLst>
              <a:ext uri="{FF2B5EF4-FFF2-40B4-BE49-F238E27FC236}">
                <a16:creationId xmlns:a16="http://schemas.microsoft.com/office/drawing/2014/main" id="{5F36A8B5-265E-49EB-AF0E-C9A24701160E}"/>
              </a:ext>
            </a:extLst>
          </p:cNvPr>
          <p:cNvSpPr>
            <a:spLocks noGrp="1"/>
          </p:cNvSpPr>
          <p:nvPr>
            <p:ph type="dt" sz="half" idx="10"/>
          </p:nvPr>
        </p:nvSpPr>
        <p:spPr/>
        <p:txBody>
          <a:bodyPr/>
          <a:lstStyle/>
          <a:p>
            <a:fld id="{F40735AC-8509-4286-B41F-026BC07FE1F9}" type="datetime4">
              <a:rPr lang="en-GB" smtClean="0"/>
              <a:pPr/>
              <a:t>12 February 2025</a:t>
            </a:fld>
            <a:endParaRPr lang="en-GB"/>
          </a:p>
        </p:txBody>
      </p:sp>
      <p:sp>
        <p:nvSpPr>
          <p:cNvPr id="5" name="Footer Placeholder 4">
            <a:extLst>
              <a:ext uri="{FF2B5EF4-FFF2-40B4-BE49-F238E27FC236}">
                <a16:creationId xmlns:a16="http://schemas.microsoft.com/office/drawing/2014/main" id="{75C6E538-45ED-40BF-84E5-E2D6EFCA46A7}"/>
              </a:ext>
            </a:extLst>
          </p:cNvPr>
          <p:cNvSpPr>
            <a:spLocks noGrp="1"/>
          </p:cNvSpPr>
          <p:nvPr>
            <p:ph type="ftr" sz="quarter" idx="11"/>
          </p:nvPr>
        </p:nvSpPr>
        <p:spPr/>
        <p:txBody>
          <a:bodyPr/>
          <a:lstStyle/>
          <a:p>
            <a:r>
              <a:rPr lang="en-GB"/>
              <a:t>Lecture 10</a:t>
            </a:r>
            <a:endParaRPr lang="en-GB" dirty="0"/>
          </a:p>
        </p:txBody>
      </p:sp>
      <p:grpSp>
        <p:nvGrpSpPr>
          <p:cNvPr id="28" name="Group 27">
            <a:extLst>
              <a:ext uri="{FF2B5EF4-FFF2-40B4-BE49-F238E27FC236}">
                <a16:creationId xmlns:a16="http://schemas.microsoft.com/office/drawing/2014/main" id="{F9F0C6E5-8BAA-450C-B36A-67082C8A9E66}"/>
              </a:ext>
            </a:extLst>
          </p:cNvPr>
          <p:cNvGrpSpPr/>
          <p:nvPr/>
        </p:nvGrpSpPr>
        <p:grpSpPr>
          <a:xfrm>
            <a:off x="3675784" y="4337781"/>
            <a:ext cx="4840431" cy="1683507"/>
            <a:chOff x="2279232" y="3668685"/>
            <a:chExt cx="4840431" cy="1683507"/>
          </a:xfrm>
        </p:grpSpPr>
        <p:sp>
          <p:nvSpPr>
            <p:cNvPr id="29" name="Oval 28">
              <a:extLst>
                <a:ext uri="{FF2B5EF4-FFF2-40B4-BE49-F238E27FC236}">
                  <a16:creationId xmlns:a16="http://schemas.microsoft.com/office/drawing/2014/main" id="{1B406189-ADC1-4C35-B0A5-960928026F50}"/>
                </a:ext>
              </a:extLst>
            </p:cNvPr>
            <p:cNvSpPr/>
            <p:nvPr/>
          </p:nvSpPr>
          <p:spPr>
            <a:xfrm>
              <a:off x="2279232"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a</a:t>
              </a:r>
            </a:p>
          </p:txBody>
        </p:sp>
        <p:sp>
          <p:nvSpPr>
            <p:cNvPr id="30" name="Oval 29">
              <a:extLst>
                <a:ext uri="{FF2B5EF4-FFF2-40B4-BE49-F238E27FC236}">
                  <a16:creationId xmlns:a16="http://schemas.microsoft.com/office/drawing/2014/main" id="{3483B02F-192C-46D4-A361-C49074387275}"/>
                </a:ext>
              </a:extLst>
            </p:cNvPr>
            <p:cNvSpPr/>
            <p:nvPr/>
          </p:nvSpPr>
          <p:spPr>
            <a:xfrm>
              <a:off x="4515042"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latin typeface="Arial" panose="020B0604020202020204" pitchFamily="34" charset="0"/>
                  <a:cs typeface="Arial" panose="020B0604020202020204" pitchFamily="34" charset="0"/>
                </a:rPr>
                <a:t>i</a:t>
              </a:r>
              <a:endParaRPr lang="en-GB" dirty="0">
                <a:solidFill>
                  <a:schemeClr val="tx1"/>
                </a:solidFill>
                <a:latin typeface="Arial" panose="020B0604020202020204" pitchFamily="34" charset="0"/>
                <a:cs typeface="Arial" panose="020B0604020202020204" pitchFamily="34" charset="0"/>
              </a:endParaRPr>
            </a:p>
          </p:txBody>
        </p:sp>
        <p:sp>
          <p:nvSpPr>
            <p:cNvPr id="31" name="Oval 30">
              <a:extLst>
                <a:ext uri="{FF2B5EF4-FFF2-40B4-BE49-F238E27FC236}">
                  <a16:creationId xmlns:a16="http://schemas.microsoft.com/office/drawing/2014/main" id="{53AB3CFD-28FA-46B8-B0E4-9E22AA38D1F1}"/>
                </a:ext>
              </a:extLst>
            </p:cNvPr>
            <p:cNvSpPr/>
            <p:nvPr/>
          </p:nvSpPr>
          <p:spPr>
            <a:xfrm>
              <a:off x="3651661"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h</a:t>
              </a:r>
            </a:p>
          </p:txBody>
        </p:sp>
        <p:sp>
          <p:nvSpPr>
            <p:cNvPr id="32" name="Oval 31">
              <a:extLst>
                <a:ext uri="{FF2B5EF4-FFF2-40B4-BE49-F238E27FC236}">
                  <a16:creationId xmlns:a16="http://schemas.microsoft.com/office/drawing/2014/main" id="{01F1943E-41F9-4836-AD7F-79857399B1E0}"/>
                </a:ext>
              </a:extLst>
            </p:cNvPr>
            <p:cNvSpPr/>
            <p:nvPr/>
          </p:nvSpPr>
          <p:spPr>
            <a:xfrm>
              <a:off x="3999855"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c</a:t>
              </a:r>
            </a:p>
          </p:txBody>
        </p:sp>
        <p:sp>
          <p:nvSpPr>
            <p:cNvPr id="33" name="Oval 32">
              <a:extLst>
                <a:ext uri="{FF2B5EF4-FFF2-40B4-BE49-F238E27FC236}">
                  <a16:creationId xmlns:a16="http://schemas.microsoft.com/office/drawing/2014/main" id="{36CFE68B-24EB-4091-9F97-A31A6922F747}"/>
                </a:ext>
              </a:extLst>
            </p:cNvPr>
            <p:cNvSpPr/>
            <p:nvPr/>
          </p:nvSpPr>
          <p:spPr>
            <a:xfrm>
              <a:off x="2788281"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g</a:t>
              </a:r>
            </a:p>
          </p:txBody>
        </p:sp>
        <p:sp>
          <p:nvSpPr>
            <p:cNvPr id="34" name="Oval 33">
              <a:extLst>
                <a:ext uri="{FF2B5EF4-FFF2-40B4-BE49-F238E27FC236}">
                  <a16:creationId xmlns:a16="http://schemas.microsoft.com/office/drawing/2014/main" id="{2EE8D03C-2EB7-446D-A47B-7EA42FFFFA4D}"/>
                </a:ext>
              </a:extLst>
            </p:cNvPr>
            <p:cNvSpPr/>
            <p:nvPr/>
          </p:nvSpPr>
          <p:spPr>
            <a:xfrm>
              <a:off x="3139919"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b</a:t>
              </a:r>
            </a:p>
          </p:txBody>
        </p:sp>
        <p:sp>
          <p:nvSpPr>
            <p:cNvPr id="35" name="Oval 34">
              <a:extLst>
                <a:ext uri="{FF2B5EF4-FFF2-40B4-BE49-F238E27FC236}">
                  <a16:creationId xmlns:a16="http://schemas.microsoft.com/office/drawing/2014/main" id="{8BB8B7EB-3529-4CEF-97C4-0458827EC055}"/>
                </a:ext>
              </a:extLst>
            </p:cNvPr>
            <p:cNvSpPr/>
            <p:nvPr/>
          </p:nvSpPr>
          <p:spPr>
            <a:xfrm>
              <a:off x="6579663"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f</a:t>
              </a:r>
            </a:p>
          </p:txBody>
        </p:sp>
        <p:sp>
          <p:nvSpPr>
            <p:cNvPr id="36" name="Oval 35">
              <a:extLst>
                <a:ext uri="{FF2B5EF4-FFF2-40B4-BE49-F238E27FC236}">
                  <a16:creationId xmlns:a16="http://schemas.microsoft.com/office/drawing/2014/main" id="{2C5F39A0-0064-4F06-A8CF-2D28E6A76F52}"/>
                </a:ext>
              </a:extLst>
            </p:cNvPr>
            <p:cNvSpPr/>
            <p:nvPr/>
          </p:nvSpPr>
          <p:spPr>
            <a:xfrm>
              <a:off x="5378423" y="4757206"/>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j</a:t>
              </a:r>
            </a:p>
          </p:txBody>
        </p:sp>
        <p:sp>
          <p:nvSpPr>
            <p:cNvPr id="37" name="Oval 36">
              <a:extLst>
                <a:ext uri="{FF2B5EF4-FFF2-40B4-BE49-F238E27FC236}">
                  <a16:creationId xmlns:a16="http://schemas.microsoft.com/office/drawing/2014/main" id="{361D08F1-F620-49C4-95C9-AAFFD4FFF69A}"/>
                </a:ext>
              </a:extLst>
            </p:cNvPr>
            <p:cNvSpPr/>
            <p:nvPr/>
          </p:nvSpPr>
          <p:spPr>
            <a:xfrm>
              <a:off x="4859791" y="3668685"/>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d</a:t>
              </a:r>
            </a:p>
          </p:txBody>
        </p:sp>
        <p:sp>
          <p:nvSpPr>
            <p:cNvPr id="38" name="Oval 37">
              <a:extLst>
                <a:ext uri="{FF2B5EF4-FFF2-40B4-BE49-F238E27FC236}">
                  <a16:creationId xmlns:a16="http://schemas.microsoft.com/office/drawing/2014/main" id="{F3D189A2-5F85-4917-BBEC-9DBE85E33D80}"/>
                </a:ext>
              </a:extLst>
            </p:cNvPr>
            <p:cNvSpPr/>
            <p:nvPr/>
          </p:nvSpPr>
          <p:spPr>
            <a:xfrm>
              <a:off x="5716283" y="3668685"/>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e</a:t>
              </a:r>
            </a:p>
          </p:txBody>
        </p:sp>
        <p:sp>
          <p:nvSpPr>
            <p:cNvPr id="39" name="Oval 38">
              <a:extLst>
                <a:ext uri="{FF2B5EF4-FFF2-40B4-BE49-F238E27FC236}">
                  <a16:creationId xmlns:a16="http://schemas.microsoft.com/office/drawing/2014/main" id="{7E49E210-F165-470D-8F64-E075B51B6A71}"/>
                </a:ext>
              </a:extLst>
            </p:cNvPr>
            <p:cNvSpPr/>
            <p:nvPr/>
          </p:nvSpPr>
          <p:spPr>
            <a:xfrm>
              <a:off x="6241803" y="4757206"/>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k</a:t>
              </a:r>
            </a:p>
          </p:txBody>
        </p:sp>
        <p:cxnSp>
          <p:nvCxnSpPr>
            <p:cNvPr id="40" name="Straight Arrow Connector 39">
              <a:extLst>
                <a:ext uri="{FF2B5EF4-FFF2-40B4-BE49-F238E27FC236}">
                  <a16:creationId xmlns:a16="http://schemas.microsoft.com/office/drawing/2014/main" id="{7D294317-D49B-478A-B0BB-3B28277234AD}"/>
                </a:ext>
              </a:extLst>
            </p:cNvPr>
            <p:cNvCxnSpPr>
              <a:cxnSpLocks/>
              <a:stCxn id="35" idx="3"/>
              <a:endCxn id="30" idx="7"/>
            </p:cNvCxnSpPr>
            <p:nvPr/>
          </p:nvCxnSpPr>
          <p:spPr>
            <a:xfrm flipH="1">
              <a:off x="4975961" y="4129604"/>
              <a:ext cx="1682783"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FD48F57-FD42-44B1-9C0C-32B6999C68BA}"/>
                </a:ext>
              </a:extLst>
            </p:cNvPr>
            <p:cNvCxnSpPr>
              <a:cxnSpLocks/>
              <a:stCxn id="35" idx="3"/>
              <a:endCxn id="36" idx="7"/>
            </p:cNvCxnSpPr>
            <p:nvPr/>
          </p:nvCxnSpPr>
          <p:spPr>
            <a:xfrm flipH="1">
              <a:off x="5839342" y="4129604"/>
              <a:ext cx="819402" cy="706683"/>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CA7A60A-C7C2-4A02-B3AD-520C0591F39A}"/>
                </a:ext>
              </a:extLst>
            </p:cNvPr>
            <p:cNvCxnSpPr>
              <a:cxnSpLocks/>
              <a:stCxn id="35" idx="3"/>
              <a:endCxn id="39" idx="0"/>
            </p:cNvCxnSpPr>
            <p:nvPr/>
          </p:nvCxnSpPr>
          <p:spPr>
            <a:xfrm flipH="1">
              <a:off x="6511803" y="4129604"/>
              <a:ext cx="146941"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2C99E3B-3B3C-40A3-AB5F-BEE5D18A35B6}"/>
                </a:ext>
              </a:extLst>
            </p:cNvPr>
            <p:cNvCxnSpPr>
              <a:cxnSpLocks/>
              <a:stCxn id="38" idx="3"/>
              <a:endCxn id="33" idx="7"/>
            </p:cNvCxnSpPr>
            <p:nvPr/>
          </p:nvCxnSpPr>
          <p:spPr>
            <a:xfrm flipH="1">
              <a:off x="3249200" y="4129604"/>
              <a:ext cx="2546164"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17BD5C7-D9DC-4215-A903-F90CB50A9AA9}"/>
                </a:ext>
              </a:extLst>
            </p:cNvPr>
            <p:cNvCxnSpPr>
              <a:cxnSpLocks/>
              <a:stCxn id="29" idx="4"/>
              <a:endCxn id="33" idx="1"/>
            </p:cNvCxnSpPr>
            <p:nvPr/>
          </p:nvCxnSpPr>
          <p:spPr>
            <a:xfrm>
              <a:off x="2549232" y="4208685"/>
              <a:ext cx="318130"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D0520B5B-95F7-49F4-A944-A53F77A153D4}"/>
                </a:ext>
              </a:extLst>
            </p:cNvPr>
            <p:cNvCxnSpPr>
              <a:cxnSpLocks/>
              <a:stCxn id="38" idx="3"/>
              <a:endCxn id="31" idx="7"/>
            </p:cNvCxnSpPr>
            <p:nvPr/>
          </p:nvCxnSpPr>
          <p:spPr>
            <a:xfrm flipH="1">
              <a:off x="4112580" y="4129604"/>
              <a:ext cx="1682784"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23D908B-04FD-4871-83AD-F51180B9EFB9}"/>
                </a:ext>
              </a:extLst>
            </p:cNvPr>
            <p:cNvCxnSpPr>
              <a:cxnSpLocks/>
              <a:stCxn id="34" idx="4"/>
              <a:endCxn id="31" idx="1"/>
            </p:cNvCxnSpPr>
            <p:nvPr/>
          </p:nvCxnSpPr>
          <p:spPr>
            <a:xfrm>
              <a:off x="3409919" y="4208685"/>
              <a:ext cx="320823"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820D9E1-74CE-454B-8D9C-90E99ABF3F94}"/>
                </a:ext>
              </a:extLst>
            </p:cNvPr>
            <p:cNvCxnSpPr>
              <a:cxnSpLocks/>
              <a:stCxn id="32" idx="4"/>
              <a:endCxn id="30" idx="1"/>
            </p:cNvCxnSpPr>
            <p:nvPr/>
          </p:nvCxnSpPr>
          <p:spPr>
            <a:xfrm>
              <a:off x="4269855" y="4208685"/>
              <a:ext cx="324268"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8C426C7-00E9-42E8-9469-91298BD9A653}"/>
                </a:ext>
              </a:extLst>
            </p:cNvPr>
            <p:cNvCxnSpPr>
              <a:cxnSpLocks/>
              <a:stCxn id="37" idx="4"/>
              <a:endCxn id="36" idx="1"/>
            </p:cNvCxnSpPr>
            <p:nvPr/>
          </p:nvCxnSpPr>
          <p:spPr>
            <a:xfrm>
              <a:off x="5129791" y="4208685"/>
              <a:ext cx="327713"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21817D7-E5E5-4C8B-B638-06B61CB02EC2}"/>
                </a:ext>
              </a:extLst>
            </p:cNvPr>
            <p:cNvCxnSpPr>
              <a:cxnSpLocks/>
              <a:stCxn id="37" idx="4"/>
              <a:endCxn id="39" idx="1"/>
            </p:cNvCxnSpPr>
            <p:nvPr/>
          </p:nvCxnSpPr>
          <p:spPr>
            <a:xfrm>
              <a:off x="5129791" y="4208685"/>
              <a:ext cx="1191093"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338350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(Amazing) Ergodic Theorem</a:t>
            </a:r>
          </a:p>
        </p:txBody>
      </p:sp>
      <p:sp>
        <p:nvSpPr>
          <p:cNvPr id="3" name="Content Placeholder 2"/>
          <p:cNvSpPr>
            <a:spLocks noGrp="1"/>
          </p:cNvSpPr>
          <p:nvPr>
            <p:ph idx="1"/>
          </p:nvPr>
        </p:nvSpPr>
        <p:spPr/>
        <p:txBody>
          <a:bodyPr/>
          <a:lstStyle/>
          <a:p>
            <a:pPr marL="0" indent="0">
              <a:buNone/>
            </a:pPr>
            <a:r>
              <a:rPr lang="en-GB" dirty="0"/>
              <a:t>If I have data </a:t>
            </a:r>
            <a:r>
              <a:rPr lang="en-GB" b="1" dirty="0"/>
              <a:t>y </a:t>
            </a:r>
            <a:r>
              <a:rPr lang="en-GB" dirty="0"/>
              <a:t>… continuous or categorical</a:t>
            </a:r>
          </a:p>
          <a:p>
            <a:pPr marL="914400" lvl="1" indent="-514350">
              <a:buFont typeface="+mj-lt"/>
              <a:buAutoNum type="arabicPeriod"/>
            </a:pPr>
            <a:r>
              <a:rPr lang="en-GB" dirty="0"/>
              <a:t>List parameters u = u</a:t>
            </a:r>
            <a:r>
              <a:rPr lang="en-GB" baseline="-25000" dirty="0"/>
              <a:t>1,</a:t>
            </a:r>
            <a:r>
              <a:rPr lang="en-GB" dirty="0"/>
              <a:t> u</a:t>
            </a:r>
            <a:r>
              <a:rPr lang="en-GB" baseline="-25000" dirty="0"/>
              <a:t>2</a:t>
            </a:r>
            <a:r>
              <a:rPr lang="en-GB" dirty="0"/>
              <a:t> … u</a:t>
            </a:r>
            <a:r>
              <a:rPr lang="en-GB" baseline="-25000" dirty="0"/>
              <a:t>n</a:t>
            </a:r>
            <a:r>
              <a:rPr lang="en-GB" dirty="0"/>
              <a:t> with data </a:t>
            </a:r>
            <a:r>
              <a:rPr lang="en-GB" b="1" dirty="0"/>
              <a:t>y</a:t>
            </a:r>
          </a:p>
          <a:p>
            <a:pPr marL="914400" lvl="1" indent="-514350">
              <a:buFont typeface="+mj-lt"/>
              <a:buAutoNum type="arabicPeriod"/>
            </a:pPr>
            <a:r>
              <a:rPr lang="en-GB" dirty="0"/>
              <a:t>Write down all conditional distributions  </a:t>
            </a:r>
          </a:p>
          <a:p>
            <a:pPr marL="457200" lvl="1" indent="0">
              <a:buNone/>
            </a:pPr>
            <a:r>
              <a:rPr lang="en-GB" i="1" dirty="0"/>
              <a:t>		</a:t>
            </a:r>
            <a:r>
              <a:rPr lang="en-GB" sz="2400" dirty="0"/>
              <a:t>i.e.</a:t>
            </a:r>
            <a:r>
              <a:rPr lang="en-GB" sz="2400" i="1" dirty="0"/>
              <a:t> </a:t>
            </a:r>
            <a:r>
              <a:rPr lang="en-GB" sz="2400" i="1" dirty="0" err="1"/>
              <a:t>u</a:t>
            </a:r>
            <a:r>
              <a:rPr lang="en-GB" sz="2400" i="1" baseline="-25000" dirty="0" err="1"/>
              <a:t>i</a:t>
            </a:r>
            <a:r>
              <a:rPr lang="en-GB" sz="2400" baseline="-25000" dirty="0"/>
              <a:t> </a:t>
            </a:r>
            <a:r>
              <a:rPr lang="en-GB" sz="2400" dirty="0"/>
              <a:t>│</a:t>
            </a:r>
            <a:r>
              <a:rPr lang="en-GB" sz="2400" i="1" dirty="0"/>
              <a:t>u</a:t>
            </a:r>
            <a:r>
              <a:rPr lang="en-GB" sz="2400" i="1" baseline="-25000" dirty="0"/>
              <a:t>1</a:t>
            </a:r>
            <a:r>
              <a:rPr lang="en-GB" sz="2400" dirty="0"/>
              <a:t>,</a:t>
            </a:r>
            <a:r>
              <a:rPr lang="en-GB" sz="2400" baseline="-25000" dirty="0"/>
              <a:t> </a:t>
            </a:r>
            <a:r>
              <a:rPr lang="en-GB" sz="2400" i="1" dirty="0"/>
              <a:t>u</a:t>
            </a:r>
            <a:r>
              <a:rPr lang="en-GB" sz="2400" i="1" baseline="-25000" dirty="0"/>
              <a:t>2</a:t>
            </a:r>
            <a:r>
              <a:rPr lang="en-GB" sz="2400" dirty="0"/>
              <a:t> …</a:t>
            </a:r>
            <a:r>
              <a:rPr lang="en-GB" sz="2400" i="1" dirty="0"/>
              <a:t>u</a:t>
            </a:r>
            <a:r>
              <a:rPr lang="en-GB" sz="2400" i="1" baseline="-25000" dirty="0"/>
              <a:t>i-1</a:t>
            </a:r>
            <a:r>
              <a:rPr lang="en-GB" sz="2400" dirty="0"/>
              <a:t>, </a:t>
            </a:r>
            <a:r>
              <a:rPr lang="en-GB" sz="2400" i="1" dirty="0"/>
              <a:t>u</a:t>
            </a:r>
            <a:r>
              <a:rPr lang="en-GB" sz="2400" i="1" baseline="-25000" dirty="0"/>
              <a:t>i+1</a:t>
            </a:r>
            <a:r>
              <a:rPr lang="en-GB" sz="2400" dirty="0"/>
              <a:t>,</a:t>
            </a:r>
            <a:r>
              <a:rPr lang="en-GB" sz="2400" baseline="-25000" dirty="0"/>
              <a:t> </a:t>
            </a:r>
            <a:r>
              <a:rPr lang="en-GB" sz="2400" i="1" dirty="0"/>
              <a:t>u</a:t>
            </a:r>
            <a:r>
              <a:rPr lang="en-GB" sz="2400" i="1" baseline="-25000" dirty="0"/>
              <a:t>n</a:t>
            </a:r>
            <a:r>
              <a:rPr lang="en-GB" sz="2400" dirty="0"/>
              <a:t>, </a:t>
            </a:r>
            <a:r>
              <a:rPr lang="en-GB" sz="2400" b="1" dirty="0"/>
              <a:t>y </a:t>
            </a:r>
            <a:r>
              <a:rPr lang="en-GB" sz="2400" dirty="0"/>
              <a:t>for all </a:t>
            </a:r>
            <a:r>
              <a:rPr lang="en-GB" sz="2400" i="1" dirty="0" err="1"/>
              <a:t>i</a:t>
            </a:r>
            <a:endParaRPr lang="en-GB" sz="2400" i="1" baseline="-25000" dirty="0"/>
          </a:p>
          <a:p>
            <a:pPr marL="971550" lvl="1" indent="-514350">
              <a:buFont typeface="+mj-lt"/>
              <a:buAutoNum type="arabicPeriod" startAt="3"/>
            </a:pPr>
            <a:r>
              <a:rPr lang="en-GB" dirty="0"/>
              <a:t>Find some starting values, </a:t>
            </a:r>
            <a:r>
              <a:rPr lang="en-GB" b="1" dirty="0"/>
              <a:t>u</a:t>
            </a:r>
            <a:r>
              <a:rPr lang="en-GB" baseline="30000" dirty="0"/>
              <a:t>0</a:t>
            </a:r>
            <a:r>
              <a:rPr lang="en-GB" dirty="0"/>
              <a:t>, say </a:t>
            </a:r>
            <a:r>
              <a:rPr lang="en-GB" i="1" dirty="0"/>
              <a:t>u</a:t>
            </a:r>
            <a:r>
              <a:rPr lang="en-GB" baseline="-25000" dirty="0"/>
              <a:t>1</a:t>
            </a:r>
            <a:r>
              <a:rPr lang="en-GB" baseline="30000" dirty="0"/>
              <a:t>0</a:t>
            </a:r>
            <a:r>
              <a:rPr lang="en-GB" dirty="0"/>
              <a:t>, </a:t>
            </a:r>
            <a:r>
              <a:rPr lang="en-GB" i="1" dirty="0"/>
              <a:t>u</a:t>
            </a:r>
            <a:r>
              <a:rPr lang="en-GB" baseline="-25000" dirty="0"/>
              <a:t>2</a:t>
            </a:r>
            <a:r>
              <a:rPr lang="en-GB" baseline="30000" dirty="0"/>
              <a:t>0</a:t>
            </a:r>
            <a:r>
              <a:rPr lang="en-GB" dirty="0"/>
              <a:t> … </a:t>
            </a:r>
            <a:r>
              <a:rPr lang="en-GB" i="1" dirty="0"/>
              <a:t>u</a:t>
            </a:r>
            <a:r>
              <a:rPr lang="en-GB" baseline="-25000" dirty="0"/>
              <a:t>n</a:t>
            </a:r>
            <a:r>
              <a:rPr lang="en-GB" baseline="30000" dirty="0"/>
              <a:t>0</a:t>
            </a:r>
          </a:p>
          <a:p>
            <a:pPr marL="971550" lvl="1" indent="-514350">
              <a:buFont typeface="+mj-lt"/>
              <a:buAutoNum type="arabicPeriod" startAt="3"/>
            </a:pPr>
            <a:r>
              <a:rPr lang="en-GB" dirty="0"/>
              <a:t>Sample from conditional distributions e.g. if n=3 </a:t>
            </a:r>
          </a:p>
          <a:p>
            <a:pPr marL="914400" lvl="2" indent="0">
              <a:buNone/>
            </a:pPr>
            <a:r>
              <a:rPr lang="en-GB" b="1" dirty="0"/>
              <a:t>	u</a:t>
            </a:r>
            <a:r>
              <a:rPr lang="en-GB" baseline="30000" dirty="0"/>
              <a:t>1</a:t>
            </a:r>
            <a:r>
              <a:rPr lang="en-GB" dirty="0"/>
              <a:t> = (</a:t>
            </a:r>
            <a:r>
              <a:rPr lang="en-GB" i="1" dirty="0"/>
              <a:t>u</a:t>
            </a:r>
            <a:r>
              <a:rPr lang="en-GB" i="1" baseline="-25000" dirty="0"/>
              <a:t>1</a:t>
            </a:r>
            <a:r>
              <a:rPr lang="en-GB" i="1" baseline="30000" dirty="0"/>
              <a:t>1</a:t>
            </a:r>
            <a:r>
              <a:rPr lang="en-GB" baseline="-25000" dirty="0"/>
              <a:t> </a:t>
            </a:r>
            <a:r>
              <a:rPr lang="en-GB" dirty="0"/>
              <a:t>│</a:t>
            </a:r>
            <a:r>
              <a:rPr lang="en-GB" i="1" dirty="0"/>
              <a:t>u</a:t>
            </a:r>
            <a:r>
              <a:rPr lang="en-GB" i="1" baseline="-25000" dirty="0"/>
              <a:t>2</a:t>
            </a:r>
            <a:r>
              <a:rPr lang="en-GB" i="1" baseline="30000" dirty="0"/>
              <a:t>0</a:t>
            </a:r>
            <a:r>
              <a:rPr lang="en-GB" dirty="0"/>
              <a:t>,</a:t>
            </a:r>
            <a:r>
              <a:rPr lang="en-GB" baseline="-25000" dirty="0"/>
              <a:t> </a:t>
            </a:r>
            <a:r>
              <a:rPr lang="en-GB" i="1" dirty="0"/>
              <a:t>u</a:t>
            </a:r>
            <a:r>
              <a:rPr lang="en-GB" i="1" baseline="-25000" dirty="0"/>
              <a:t>3</a:t>
            </a:r>
            <a:r>
              <a:rPr lang="en-GB" i="1" baseline="30000" dirty="0"/>
              <a:t>0</a:t>
            </a:r>
            <a:r>
              <a:rPr lang="en-GB" dirty="0"/>
              <a:t>, </a:t>
            </a:r>
            <a:r>
              <a:rPr lang="en-GB" b="1" dirty="0"/>
              <a:t>y</a:t>
            </a:r>
            <a:r>
              <a:rPr lang="en-GB" dirty="0"/>
              <a:t>), (</a:t>
            </a:r>
            <a:r>
              <a:rPr lang="en-GB" i="1" dirty="0"/>
              <a:t>u</a:t>
            </a:r>
            <a:r>
              <a:rPr lang="en-GB" i="1" baseline="-25000" dirty="0"/>
              <a:t>2</a:t>
            </a:r>
            <a:r>
              <a:rPr lang="en-GB" i="1" baseline="30000" dirty="0"/>
              <a:t>1</a:t>
            </a:r>
            <a:r>
              <a:rPr lang="en-GB" baseline="-25000" dirty="0"/>
              <a:t> </a:t>
            </a:r>
            <a:r>
              <a:rPr lang="en-GB" dirty="0"/>
              <a:t>│</a:t>
            </a:r>
            <a:r>
              <a:rPr lang="en-GB" i="1" dirty="0"/>
              <a:t>u</a:t>
            </a:r>
            <a:r>
              <a:rPr lang="en-GB" i="1" baseline="-25000" dirty="0"/>
              <a:t>1</a:t>
            </a:r>
            <a:r>
              <a:rPr lang="en-GB" i="1" baseline="30000" dirty="0"/>
              <a:t>1</a:t>
            </a:r>
            <a:r>
              <a:rPr lang="en-GB" dirty="0"/>
              <a:t>,</a:t>
            </a:r>
            <a:r>
              <a:rPr lang="en-GB" baseline="-25000" dirty="0"/>
              <a:t> </a:t>
            </a:r>
            <a:r>
              <a:rPr lang="en-GB" i="1" dirty="0"/>
              <a:t>u</a:t>
            </a:r>
            <a:r>
              <a:rPr lang="en-GB" i="1" baseline="-25000" dirty="0"/>
              <a:t>3</a:t>
            </a:r>
            <a:r>
              <a:rPr lang="en-GB" i="1" baseline="30000" dirty="0"/>
              <a:t>0</a:t>
            </a:r>
            <a:r>
              <a:rPr lang="en-GB" dirty="0"/>
              <a:t>, </a:t>
            </a:r>
            <a:r>
              <a:rPr lang="en-GB" b="1" dirty="0"/>
              <a:t>y</a:t>
            </a:r>
            <a:r>
              <a:rPr lang="en-GB" dirty="0"/>
              <a:t>), (</a:t>
            </a:r>
            <a:r>
              <a:rPr lang="en-GB" i="1" dirty="0"/>
              <a:t>u</a:t>
            </a:r>
            <a:r>
              <a:rPr lang="en-GB" i="1" baseline="-25000" dirty="0"/>
              <a:t>3</a:t>
            </a:r>
            <a:r>
              <a:rPr lang="en-GB" i="1" baseline="30000" dirty="0"/>
              <a:t>1</a:t>
            </a:r>
            <a:r>
              <a:rPr lang="en-GB" baseline="-25000" dirty="0"/>
              <a:t> </a:t>
            </a:r>
            <a:r>
              <a:rPr lang="en-GB" dirty="0"/>
              <a:t>│</a:t>
            </a:r>
            <a:r>
              <a:rPr lang="en-GB" i="1" dirty="0"/>
              <a:t>u</a:t>
            </a:r>
            <a:r>
              <a:rPr lang="en-GB" i="1" baseline="-25000" dirty="0"/>
              <a:t>1</a:t>
            </a:r>
            <a:r>
              <a:rPr lang="en-GB" i="1" baseline="30000" dirty="0"/>
              <a:t>1</a:t>
            </a:r>
            <a:r>
              <a:rPr lang="en-GB" dirty="0"/>
              <a:t>,</a:t>
            </a:r>
            <a:r>
              <a:rPr lang="en-GB" baseline="-25000" dirty="0"/>
              <a:t> </a:t>
            </a:r>
            <a:r>
              <a:rPr lang="en-GB" i="1" dirty="0"/>
              <a:t>u</a:t>
            </a:r>
            <a:r>
              <a:rPr lang="en-GB" i="1" baseline="-25000" dirty="0"/>
              <a:t>2</a:t>
            </a:r>
            <a:r>
              <a:rPr lang="en-GB" i="1" baseline="30000" dirty="0"/>
              <a:t>1</a:t>
            </a:r>
            <a:r>
              <a:rPr lang="en-GB" dirty="0"/>
              <a:t>, </a:t>
            </a:r>
            <a:r>
              <a:rPr lang="en-GB" b="1" dirty="0"/>
              <a:t>y</a:t>
            </a:r>
            <a:r>
              <a:rPr lang="en-GB" dirty="0"/>
              <a:t>)</a:t>
            </a:r>
          </a:p>
          <a:p>
            <a:pPr marL="1028700" lvl="1" indent="-514350">
              <a:buFont typeface="+mj-lt"/>
              <a:buAutoNum type="arabicPeriod" startAt="5"/>
            </a:pPr>
            <a:r>
              <a:rPr lang="en-GB" dirty="0"/>
              <a:t>Repeat Step 4, using </a:t>
            </a:r>
            <a:r>
              <a:rPr lang="en-GB" b="1" dirty="0" err="1"/>
              <a:t>u</a:t>
            </a:r>
            <a:r>
              <a:rPr lang="en-GB" baseline="30000" dirty="0" err="1"/>
              <a:t>t</a:t>
            </a:r>
            <a:r>
              <a:rPr lang="en-GB" dirty="0"/>
              <a:t> to get </a:t>
            </a:r>
            <a:r>
              <a:rPr lang="en-GB" b="1" dirty="0"/>
              <a:t>u</a:t>
            </a:r>
            <a:r>
              <a:rPr lang="en-GB" baseline="30000" dirty="0"/>
              <a:t>t+1</a:t>
            </a:r>
            <a:r>
              <a:rPr lang="en-GB" dirty="0"/>
              <a:t> … to large t</a:t>
            </a:r>
          </a:p>
          <a:p>
            <a:pPr marL="1028700" lvl="1" indent="-514350">
              <a:buFont typeface="+mj-lt"/>
              <a:buAutoNum type="arabicPeriod" startAt="5"/>
            </a:pPr>
            <a:r>
              <a:rPr lang="en-GB" dirty="0"/>
              <a:t> </a:t>
            </a:r>
            <a:r>
              <a:rPr lang="en-GB" b="1" dirty="0" err="1"/>
              <a:t>u</a:t>
            </a:r>
            <a:r>
              <a:rPr lang="en-GB" baseline="30000" dirty="0" err="1"/>
              <a:t>t</a:t>
            </a:r>
            <a:r>
              <a:rPr lang="en-GB" dirty="0"/>
              <a:t> is sample of posterior distribution </a:t>
            </a:r>
            <a:r>
              <a:rPr lang="en-GB" b="1" dirty="0"/>
              <a:t>u</a:t>
            </a:r>
            <a:r>
              <a:rPr lang="en-GB" dirty="0"/>
              <a:t> given </a:t>
            </a:r>
            <a:r>
              <a:rPr lang="en-GB" b="1" dirty="0"/>
              <a:t>y</a:t>
            </a:r>
            <a:r>
              <a:rPr lang="en-GB" dirty="0"/>
              <a:t> </a:t>
            </a:r>
          </a:p>
          <a:p>
            <a:pPr lvl="3"/>
            <a:r>
              <a:rPr lang="en-GB" dirty="0"/>
              <a:t>for t &gt; </a:t>
            </a:r>
            <a:r>
              <a:rPr lang="en-GB" dirty="0" err="1"/>
              <a:t>t</a:t>
            </a:r>
            <a:r>
              <a:rPr lang="en-GB" baseline="-25000" dirty="0" err="1"/>
              <a:t>burn</a:t>
            </a:r>
            <a:r>
              <a:rPr lang="en-GB" baseline="-25000" dirty="0"/>
              <a:t>-in</a:t>
            </a:r>
            <a:r>
              <a:rPr lang="en-GB" dirty="0"/>
              <a:t> i.e. for large enough t</a:t>
            </a:r>
          </a:p>
          <a:p>
            <a:pPr marL="457200" lvl="1" indent="0">
              <a:buNone/>
            </a:pPr>
            <a:endParaRPr lang="en-GB" dirty="0"/>
          </a:p>
        </p:txBody>
      </p:sp>
      <p:sp>
        <p:nvSpPr>
          <p:cNvPr id="4" name="Date Placeholder 3"/>
          <p:cNvSpPr>
            <a:spLocks noGrp="1"/>
          </p:cNvSpPr>
          <p:nvPr>
            <p:ph type="dt" sz="half" idx="10"/>
          </p:nvPr>
        </p:nvSpPr>
        <p:spPr/>
        <p:txBody>
          <a:bodyPr/>
          <a:lstStyle/>
          <a:p>
            <a:fld id="{7FEB596B-D5BB-448B-A4A2-F12011FDF10E}" type="datetime4">
              <a:rPr lang="en-GB" smtClean="0"/>
              <a:t>12 February 2025</a:t>
            </a:fld>
            <a:endParaRPr lang="en-GB" dirty="0"/>
          </a:p>
        </p:txBody>
      </p:sp>
      <p:sp>
        <p:nvSpPr>
          <p:cNvPr id="5" name="Footer Placeholder 4"/>
          <p:cNvSpPr>
            <a:spLocks noGrp="1"/>
          </p:cNvSpPr>
          <p:nvPr>
            <p:ph type="ftr" sz="quarter" idx="11"/>
          </p:nvPr>
        </p:nvSpPr>
        <p:spPr/>
        <p:txBody>
          <a:bodyPr/>
          <a:lstStyle/>
          <a:p>
            <a:r>
              <a:rPr lang="en-GB" dirty="0"/>
              <a:t>Lecture 10</a:t>
            </a:r>
          </a:p>
        </p:txBody>
      </p:sp>
      <p:sp>
        <p:nvSpPr>
          <p:cNvPr id="6" name="Curved Down Arrow 5"/>
          <p:cNvSpPr/>
          <p:nvPr/>
        </p:nvSpPr>
        <p:spPr>
          <a:xfrm rot="16200000">
            <a:off x="119336" y="4365104"/>
            <a:ext cx="828092" cy="39604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7835442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A813E15-E984-4F9F-B5AE-03F5BAE285C0}"/>
              </a:ext>
            </a:extLst>
          </p:cNvPr>
          <p:cNvSpPr>
            <a:spLocks noGrp="1"/>
          </p:cNvSpPr>
          <p:nvPr>
            <p:ph idx="1"/>
          </p:nvPr>
        </p:nvSpPr>
        <p:spPr/>
        <p:txBody>
          <a:bodyPr/>
          <a:lstStyle/>
          <a:p>
            <a:r>
              <a:rPr lang="en-GB" dirty="0"/>
              <a:t>Breeding values of 11 individuals, </a:t>
            </a:r>
            <a:r>
              <a:rPr lang="en-GB" i="1" dirty="0" err="1"/>
              <a:t>u</a:t>
            </a:r>
            <a:r>
              <a:rPr lang="en-GB" i="1" baseline="-25000" dirty="0" err="1"/>
              <a:t>a</a:t>
            </a:r>
            <a:r>
              <a:rPr lang="en-GB" dirty="0"/>
              <a:t>, </a:t>
            </a:r>
            <a:r>
              <a:rPr lang="en-GB" i="1" dirty="0" err="1"/>
              <a:t>u</a:t>
            </a:r>
            <a:r>
              <a:rPr lang="en-GB" i="1" baseline="-25000" dirty="0" err="1"/>
              <a:t>b</a:t>
            </a:r>
            <a:r>
              <a:rPr lang="en-GB" i="1" dirty="0"/>
              <a:t> … </a:t>
            </a:r>
            <a:r>
              <a:rPr lang="en-GB" i="1" dirty="0" err="1"/>
              <a:t>u</a:t>
            </a:r>
            <a:r>
              <a:rPr lang="en-GB" i="1" baseline="-25000" dirty="0" err="1"/>
              <a:t>k</a:t>
            </a:r>
            <a:endParaRPr lang="en-GB" i="1" dirty="0"/>
          </a:p>
          <a:p>
            <a:pPr lvl="1"/>
            <a:r>
              <a:rPr lang="en-GB" dirty="0"/>
              <a:t>8 known without error          , 3 unknown parameters</a:t>
            </a:r>
          </a:p>
          <a:p>
            <a:pPr lvl="1"/>
            <a:r>
              <a:rPr lang="en-GB" dirty="0"/>
              <a:t>also assume V</a:t>
            </a:r>
            <a:r>
              <a:rPr lang="en-GB" baseline="-25000" dirty="0"/>
              <a:t>A</a:t>
            </a:r>
            <a:r>
              <a:rPr lang="en-GB" dirty="0"/>
              <a:t> =1, known without error &amp; infinitesimal model</a:t>
            </a:r>
          </a:p>
          <a:p>
            <a:pPr lvl="1"/>
            <a:r>
              <a:rPr lang="en-GB" dirty="0"/>
              <a:t>how likely is ‘k’ best breeding value?</a:t>
            </a:r>
          </a:p>
          <a:p>
            <a:pPr marL="457200" lvl="1" indent="0">
              <a:buNone/>
            </a:pPr>
            <a:r>
              <a:rPr kumimoji="0" lang="en-GB" altLang="en-US" sz="1600" b="0" i="0" u="none" strike="noStrike" cap="none" normalizeH="0" baseline="0" dirty="0">
                <a:ln>
                  <a:noFill/>
                </a:ln>
                <a:solidFill>
                  <a:srgbClr val="000000"/>
                </a:solidFill>
                <a:effectLst/>
              </a:rPr>
              <a:t>              </a:t>
            </a:r>
          </a:p>
          <a:p>
            <a:pPr marL="457200" lvl="1" indent="0">
              <a:buNone/>
            </a:pPr>
            <a:endParaRPr lang="en-GB" altLang="en-US" sz="1600" dirty="0">
              <a:solidFill>
                <a:srgbClr val="000000"/>
              </a:solidFill>
            </a:endParaRPr>
          </a:p>
          <a:p>
            <a:pPr marL="457200" lvl="1" indent="0">
              <a:buNone/>
            </a:pPr>
            <a:r>
              <a:rPr kumimoji="0" lang="en-GB" altLang="en-US" sz="1600" b="0" i="0" u="none" strike="noStrike" cap="none" normalizeH="0" baseline="0" dirty="0">
                <a:ln>
                  <a:noFill/>
                </a:ln>
                <a:solidFill>
                  <a:srgbClr val="000000"/>
                </a:solidFill>
                <a:effectLst/>
              </a:rPr>
              <a:t>                                                   </a:t>
            </a:r>
            <a:r>
              <a:rPr kumimoji="0" lang="en-US" altLang="en-US" sz="1600" b="0" i="0" u="none" strike="noStrike" cap="none" normalizeH="0" baseline="0" dirty="0">
                <a:ln>
                  <a:noFill/>
                </a:ln>
                <a:solidFill>
                  <a:srgbClr val="000000"/>
                </a:solidFill>
                <a:effectLst/>
              </a:rPr>
              <a:t>0.80        0.64       -0.77           ?            ?           0.70</a:t>
            </a:r>
          </a:p>
          <a:p>
            <a:pPr marL="457200" lvl="1" indent="0">
              <a:buNone/>
            </a:pPr>
            <a:endParaRPr lang="en-US" sz="1600" dirty="0">
              <a:solidFill>
                <a:srgbClr val="000000"/>
              </a:solidFill>
            </a:endParaRPr>
          </a:p>
          <a:p>
            <a:pPr marL="457200" lvl="1" indent="0">
              <a:buNone/>
            </a:pPr>
            <a:endParaRPr lang="en-US" sz="1600" dirty="0">
              <a:solidFill>
                <a:srgbClr val="000000"/>
              </a:solidFill>
            </a:endParaRPr>
          </a:p>
          <a:p>
            <a:pPr marL="457200" lvl="1" indent="0">
              <a:buNone/>
            </a:pPr>
            <a:endParaRPr lang="en-US" sz="1600" dirty="0">
              <a:solidFill>
                <a:srgbClr val="000000"/>
              </a:solidFill>
            </a:endParaRPr>
          </a:p>
          <a:p>
            <a:pPr marL="457200" lvl="1" indent="0" algn="r">
              <a:buNone/>
            </a:pPr>
            <a:endParaRPr lang="en-US" sz="1600" dirty="0">
              <a:solidFill>
                <a:srgbClr val="000000"/>
              </a:solidFill>
            </a:endParaRPr>
          </a:p>
          <a:p>
            <a:pPr marL="457200" lvl="1" indent="0" algn="r">
              <a:buNone/>
            </a:pPr>
            <a:endParaRPr lang="en-US" sz="1600" dirty="0">
              <a:solidFill>
                <a:srgbClr val="000000"/>
              </a:solidFill>
            </a:endParaRPr>
          </a:p>
          <a:p>
            <a:pPr marL="457200" lvl="1" indent="0" algn="r">
              <a:buNone/>
            </a:pPr>
            <a:r>
              <a:rPr lang="en-GB" sz="1600" dirty="0"/>
              <a:t>seed 7803260</a:t>
            </a:r>
            <a:endParaRPr lang="en-US" sz="1600" dirty="0">
              <a:solidFill>
                <a:srgbClr val="000000"/>
              </a:solidFill>
            </a:endParaRPr>
          </a:p>
          <a:p>
            <a:pPr marL="457200" lvl="1" indent="0">
              <a:buNone/>
            </a:pPr>
            <a:r>
              <a:rPr kumimoji="0" lang="en-GB" altLang="en-US" sz="1600" b="0" i="0" u="none" strike="noStrike" cap="none" normalizeH="0" baseline="0" dirty="0">
                <a:ln>
                  <a:noFill/>
                </a:ln>
                <a:solidFill>
                  <a:srgbClr val="000000"/>
                </a:solidFill>
                <a:effectLst/>
              </a:rPr>
              <a:t>                                                            -0.17</a:t>
            </a:r>
            <a:r>
              <a:rPr kumimoji="0" lang="en-US" altLang="en-US" sz="1600" b="0" i="0" u="none" strike="noStrike" cap="none" normalizeH="0" baseline="0" dirty="0">
                <a:ln>
                  <a:noFill/>
                </a:ln>
                <a:solidFill>
                  <a:srgbClr val="000000"/>
                </a:solidFill>
                <a:effectLst/>
              </a:rPr>
              <a:t>       -1.01        0.56        0.15          ?                                          </a:t>
            </a:r>
            <a:r>
              <a:rPr kumimoji="0" lang="en-GB" altLang="en-US" sz="1600" b="0" i="0" u="none" strike="noStrike" cap="none" normalizeH="0" baseline="0" dirty="0">
                <a:ln>
                  <a:noFill/>
                </a:ln>
                <a:solidFill>
                  <a:srgbClr val="000000"/>
                </a:solidFill>
                <a:effectLst/>
              </a:rPr>
              <a:t>   </a:t>
            </a:r>
            <a:r>
              <a:rPr lang="en-GB" sz="1600" dirty="0"/>
              <a:t>from Schaeffer</a:t>
            </a:r>
          </a:p>
          <a:p>
            <a:endParaRPr lang="en-GB" dirty="0"/>
          </a:p>
          <a:p>
            <a:endParaRPr lang="en-GB" dirty="0"/>
          </a:p>
        </p:txBody>
      </p:sp>
      <p:sp>
        <p:nvSpPr>
          <p:cNvPr id="6" name="Title 5">
            <a:extLst>
              <a:ext uri="{FF2B5EF4-FFF2-40B4-BE49-F238E27FC236}">
                <a16:creationId xmlns:a16="http://schemas.microsoft.com/office/drawing/2014/main" id="{CF8D2E1A-BD22-4A37-BC5E-A0DA84A1F052}"/>
              </a:ext>
            </a:extLst>
          </p:cNvPr>
          <p:cNvSpPr>
            <a:spLocks noGrp="1"/>
          </p:cNvSpPr>
          <p:nvPr>
            <p:ph type="title"/>
          </p:nvPr>
        </p:nvSpPr>
        <p:spPr/>
        <p:txBody>
          <a:bodyPr/>
          <a:lstStyle/>
          <a:p>
            <a:r>
              <a:rPr lang="en-GB" dirty="0"/>
              <a:t>Example</a:t>
            </a:r>
          </a:p>
        </p:txBody>
      </p:sp>
      <p:sp>
        <p:nvSpPr>
          <p:cNvPr id="4" name="Date Placeholder 3">
            <a:extLst>
              <a:ext uri="{FF2B5EF4-FFF2-40B4-BE49-F238E27FC236}">
                <a16:creationId xmlns:a16="http://schemas.microsoft.com/office/drawing/2014/main" id="{A2C36368-3020-4A12-B910-CADFAA2EED6D}"/>
              </a:ext>
            </a:extLst>
          </p:cNvPr>
          <p:cNvSpPr>
            <a:spLocks noGrp="1"/>
          </p:cNvSpPr>
          <p:nvPr>
            <p:ph type="dt" sz="half" idx="10"/>
          </p:nvPr>
        </p:nvSpPr>
        <p:spPr/>
        <p:txBody>
          <a:bodyPr/>
          <a:lstStyle/>
          <a:p>
            <a:fld id="{F40735AC-8509-4286-B41F-026BC07FE1F9}" type="datetime4">
              <a:rPr lang="en-GB" smtClean="0"/>
              <a:pPr/>
              <a:t>12 February 2025</a:t>
            </a:fld>
            <a:endParaRPr lang="en-GB"/>
          </a:p>
        </p:txBody>
      </p:sp>
      <p:sp>
        <p:nvSpPr>
          <p:cNvPr id="5" name="Footer Placeholder 4">
            <a:extLst>
              <a:ext uri="{FF2B5EF4-FFF2-40B4-BE49-F238E27FC236}">
                <a16:creationId xmlns:a16="http://schemas.microsoft.com/office/drawing/2014/main" id="{4CECAC86-0508-414A-BE76-7710C93ACED0}"/>
              </a:ext>
            </a:extLst>
          </p:cNvPr>
          <p:cNvSpPr>
            <a:spLocks noGrp="1"/>
          </p:cNvSpPr>
          <p:nvPr>
            <p:ph type="ftr" sz="quarter" idx="11"/>
          </p:nvPr>
        </p:nvSpPr>
        <p:spPr/>
        <p:txBody>
          <a:bodyPr/>
          <a:lstStyle/>
          <a:p>
            <a:r>
              <a:rPr lang="en-GB"/>
              <a:t>Lecture 10</a:t>
            </a:r>
            <a:endParaRPr lang="en-GB" dirty="0"/>
          </a:p>
        </p:txBody>
      </p:sp>
      <p:sp>
        <p:nvSpPr>
          <p:cNvPr id="31" name="Oval 30">
            <a:extLst>
              <a:ext uri="{FF2B5EF4-FFF2-40B4-BE49-F238E27FC236}">
                <a16:creationId xmlns:a16="http://schemas.microsoft.com/office/drawing/2014/main" id="{410E026A-030A-4ABD-86C4-6AF007276BDF}"/>
              </a:ext>
            </a:extLst>
          </p:cNvPr>
          <p:cNvSpPr/>
          <p:nvPr/>
        </p:nvSpPr>
        <p:spPr>
          <a:xfrm>
            <a:off x="4799856" y="1795159"/>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anose="020B0604020202020204" pitchFamily="34" charset="0"/>
              <a:cs typeface="Arial" panose="020B0604020202020204" pitchFamily="34" charset="0"/>
            </a:endParaRPr>
          </a:p>
        </p:txBody>
      </p:sp>
      <p:sp>
        <p:nvSpPr>
          <p:cNvPr id="35" name="Oval 34">
            <a:extLst>
              <a:ext uri="{FF2B5EF4-FFF2-40B4-BE49-F238E27FC236}">
                <a16:creationId xmlns:a16="http://schemas.microsoft.com/office/drawing/2014/main" id="{CFAE911C-F7BE-41F9-AB94-8B7EF15D85D2}"/>
              </a:ext>
            </a:extLst>
          </p:cNvPr>
          <p:cNvSpPr/>
          <p:nvPr/>
        </p:nvSpPr>
        <p:spPr>
          <a:xfrm>
            <a:off x="9552384" y="1808880"/>
            <a:ext cx="540000" cy="540000"/>
          </a:xfrm>
          <a:prstGeom prst="ellipse">
            <a:avLst/>
          </a:prstGeom>
          <a:gradFill>
            <a:gsLst>
              <a:gs pos="0">
                <a:schemeClr val="bg1"/>
              </a:gs>
              <a:gs pos="100000">
                <a:srgbClr val="FF0000"/>
              </a:gs>
            </a:gsLst>
            <a:path path="circle">
              <a:fillToRect l="50000" t="50000" r="50000" b="50000"/>
            </a:path>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Arial" panose="020B0604020202020204" pitchFamily="34" charset="0"/>
              <a:cs typeface="Arial" panose="020B0604020202020204" pitchFamily="34" charset="0"/>
            </a:endParaRPr>
          </a:p>
        </p:txBody>
      </p:sp>
      <p:grpSp>
        <p:nvGrpSpPr>
          <p:cNvPr id="36" name="Group 35">
            <a:extLst>
              <a:ext uri="{FF2B5EF4-FFF2-40B4-BE49-F238E27FC236}">
                <a16:creationId xmlns:a16="http://schemas.microsoft.com/office/drawing/2014/main" id="{24826517-CE70-4B9A-9843-1B46929EC27A}"/>
              </a:ext>
            </a:extLst>
          </p:cNvPr>
          <p:cNvGrpSpPr/>
          <p:nvPr/>
        </p:nvGrpSpPr>
        <p:grpSpPr>
          <a:xfrm>
            <a:off x="3675784" y="4193765"/>
            <a:ext cx="4840431" cy="1683507"/>
            <a:chOff x="2279232" y="3668685"/>
            <a:chExt cx="4840431" cy="1683507"/>
          </a:xfrm>
        </p:grpSpPr>
        <p:sp>
          <p:nvSpPr>
            <p:cNvPr id="37" name="Oval 36">
              <a:extLst>
                <a:ext uri="{FF2B5EF4-FFF2-40B4-BE49-F238E27FC236}">
                  <a16:creationId xmlns:a16="http://schemas.microsoft.com/office/drawing/2014/main" id="{E56A9DAA-3F68-42A2-8545-E87EFFEFC86B}"/>
                </a:ext>
              </a:extLst>
            </p:cNvPr>
            <p:cNvSpPr/>
            <p:nvPr/>
          </p:nvSpPr>
          <p:spPr>
            <a:xfrm>
              <a:off x="2279232"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a</a:t>
              </a:r>
            </a:p>
          </p:txBody>
        </p:sp>
        <p:sp>
          <p:nvSpPr>
            <p:cNvPr id="38" name="Oval 37">
              <a:extLst>
                <a:ext uri="{FF2B5EF4-FFF2-40B4-BE49-F238E27FC236}">
                  <a16:creationId xmlns:a16="http://schemas.microsoft.com/office/drawing/2014/main" id="{1C00D0DF-FB41-468F-9044-FA4762CCC827}"/>
                </a:ext>
              </a:extLst>
            </p:cNvPr>
            <p:cNvSpPr/>
            <p:nvPr/>
          </p:nvSpPr>
          <p:spPr>
            <a:xfrm>
              <a:off x="4515042"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latin typeface="Arial" panose="020B0604020202020204" pitchFamily="34" charset="0"/>
                  <a:cs typeface="Arial" panose="020B0604020202020204" pitchFamily="34" charset="0"/>
                </a:rPr>
                <a:t>i</a:t>
              </a:r>
              <a:endParaRPr lang="en-GB" dirty="0">
                <a:solidFill>
                  <a:schemeClr val="tx1"/>
                </a:solidFill>
                <a:latin typeface="Arial" panose="020B0604020202020204" pitchFamily="34" charset="0"/>
                <a:cs typeface="Arial" panose="020B0604020202020204" pitchFamily="34" charset="0"/>
              </a:endParaRPr>
            </a:p>
          </p:txBody>
        </p:sp>
        <p:sp>
          <p:nvSpPr>
            <p:cNvPr id="39" name="Oval 38">
              <a:extLst>
                <a:ext uri="{FF2B5EF4-FFF2-40B4-BE49-F238E27FC236}">
                  <a16:creationId xmlns:a16="http://schemas.microsoft.com/office/drawing/2014/main" id="{3E16081D-32DD-456A-8B82-1147AE521B21}"/>
                </a:ext>
              </a:extLst>
            </p:cNvPr>
            <p:cNvSpPr/>
            <p:nvPr/>
          </p:nvSpPr>
          <p:spPr>
            <a:xfrm>
              <a:off x="3651661"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h</a:t>
              </a:r>
            </a:p>
          </p:txBody>
        </p:sp>
        <p:sp>
          <p:nvSpPr>
            <p:cNvPr id="40" name="Oval 39">
              <a:extLst>
                <a:ext uri="{FF2B5EF4-FFF2-40B4-BE49-F238E27FC236}">
                  <a16:creationId xmlns:a16="http://schemas.microsoft.com/office/drawing/2014/main" id="{BB9CE31B-61AF-4161-91E2-D7968CA7A781}"/>
                </a:ext>
              </a:extLst>
            </p:cNvPr>
            <p:cNvSpPr/>
            <p:nvPr/>
          </p:nvSpPr>
          <p:spPr>
            <a:xfrm>
              <a:off x="3999855"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c</a:t>
              </a:r>
            </a:p>
          </p:txBody>
        </p:sp>
        <p:sp>
          <p:nvSpPr>
            <p:cNvPr id="41" name="Oval 40">
              <a:extLst>
                <a:ext uri="{FF2B5EF4-FFF2-40B4-BE49-F238E27FC236}">
                  <a16:creationId xmlns:a16="http://schemas.microsoft.com/office/drawing/2014/main" id="{CDD104CB-2666-483F-A516-9711CB4C1910}"/>
                </a:ext>
              </a:extLst>
            </p:cNvPr>
            <p:cNvSpPr/>
            <p:nvPr/>
          </p:nvSpPr>
          <p:spPr>
            <a:xfrm>
              <a:off x="2788281" y="4812192"/>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g</a:t>
              </a:r>
            </a:p>
          </p:txBody>
        </p:sp>
        <p:sp>
          <p:nvSpPr>
            <p:cNvPr id="42" name="Oval 41">
              <a:extLst>
                <a:ext uri="{FF2B5EF4-FFF2-40B4-BE49-F238E27FC236}">
                  <a16:creationId xmlns:a16="http://schemas.microsoft.com/office/drawing/2014/main" id="{CEAA977E-F3A3-48F5-90A6-B853F28D1036}"/>
                </a:ext>
              </a:extLst>
            </p:cNvPr>
            <p:cNvSpPr/>
            <p:nvPr/>
          </p:nvSpPr>
          <p:spPr>
            <a:xfrm>
              <a:off x="3139919"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b</a:t>
              </a:r>
            </a:p>
          </p:txBody>
        </p:sp>
        <p:sp>
          <p:nvSpPr>
            <p:cNvPr id="43" name="Oval 42">
              <a:extLst>
                <a:ext uri="{FF2B5EF4-FFF2-40B4-BE49-F238E27FC236}">
                  <a16:creationId xmlns:a16="http://schemas.microsoft.com/office/drawing/2014/main" id="{3F497CF3-CBCC-43A0-A00C-098CE637AFCB}"/>
                </a:ext>
              </a:extLst>
            </p:cNvPr>
            <p:cNvSpPr/>
            <p:nvPr/>
          </p:nvSpPr>
          <p:spPr>
            <a:xfrm>
              <a:off x="6579663" y="3668685"/>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f</a:t>
              </a:r>
            </a:p>
          </p:txBody>
        </p:sp>
        <p:sp>
          <p:nvSpPr>
            <p:cNvPr id="44" name="Oval 43">
              <a:extLst>
                <a:ext uri="{FF2B5EF4-FFF2-40B4-BE49-F238E27FC236}">
                  <a16:creationId xmlns:a16="http://schemas.microsoft.com/office/drawing/2014/main" id="{40497182-FA6D-494D-8284-DDBA9A82321E}"/>
                </a:ext>
              </a:extLst>
            </p:cNvPr>
            <p:cNvSpPr/>
            <p:nvPr/>
          </p:nvSpPr>
          <p:spPr>
            <a:xfrm>
              <a:off x="5378423" y="4757206"/>
              <a:ext cx="540000" cy="540000"/>
            </a:xfrm>
            <a:prstGeom prst="ellipse">
              <a:avLst/>
            </a:prstGeom>
            <a:gradFill flip="none" rotWithShape="1">
              <a:gsLst>
                <a:gs pos="0">
                  <a:schemeClr val="bg1"/>
                </a:gs>
                <a:gs pos="100000">
                  <a:srgbClr val="92D050">
                    <a:shade val="100000"/>
                    <a:satMod val="115000"/>
                  </a:srgbClr>
                </a:gs>
              </a:gsLst>
              <a:path path="circle">
                <a:fillToRect l="50000" t="50000" r="50000" b="50000"/>
              </a:path>
              <a:tileRect/>
            </a:gra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j</a:t>
              </a:r>
            </a:p>
          </p:txBody>
        </p:sp>
        <p:sp>
          <p:nvSpPr>
            <p:cNvPr id="45" name="Oval 44">
              <a:extLst>
                <a:ext uri="{FF2B5EF4-FFF2-40B4-BE49-F238E27FC236}">
                  <a16:creationId xmlns:a16="http://schemas.microsoft.com/office/drawing/2014/main" id="{29E3B50C-6E5A-4679-BEF3-40B2328BA50D}"/>
                </a:ext>
              </a:extLst>
            </p:cNvPr>
            <p:cNvSpPr/>
            <p:nvPr/>
          </p:nvSpPr>
          <p:spPr>
            <a:xfrm>
              <a:off x="4859791" y="3668685"/>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d</a:t>
              </a:r>
            </a:p>
          </p:txBody>
        </p:sp>
        <p:sp>
          <p:nvSpPr>
            <p:cNvPr id="46" name="Oval 45">
              <a:extLst>
                <a:ext uri="{FF2B5EF4-FFF2-40B4-BE49-F238E27FC236}">
                  <a16:creationId xmlns:a16="http://schemas.microsoft.com/office/drawing/2014/main" id="{B5D1FFA3-070B-4073-9719-AF7812BDC09B}"/>
                </a:ext>
              </a:extLst>
            </p:cNvPr>
            <p:cNvSpPr/>
            <p:nvPr/>
          </p:nvSpPr>
          <p:spPr>
            <a:xfrm>
              <a:off x="5716283" y="3668685"/>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e</a:t>
              </a:r>
            </a:p>
          </p:txBody>
        </p:sp>
        <p:sp>
          <p:nvSpPr>
            <p:cNvPr id="47" name="Oval 46">
              <a:extLst>
                <a:ext uri="{FF2B5EF4-FFF2-40B4-BE49-F238E27FC236}">
                  <a16:creationId xmlns:a16="http://schemas.microsoft.com/office/drawing/2014/main" id="{BDD47600-682A-4387-AAD9-84EC28C156E2}"/>
                </a:ext>
              </a:extLst>
            </p:cNvPr>
            <p:cNvSpPr/>
            <p:nvPr/>
          </p:nvSpPr>
          <p:spPr>
            <a:xfrm>
              <a:off x="6241803" y="4757206"/>
              <a:ext cx="540000" cy="540000"/>
            </a:xfrm>
            <a:prstGeom prst="ellipse">
              <a:avLst/>
            </a:prstGeom>
            <a:gradFill flip="none" rotWithShape="1">
              <a:gsLst>
                <a:gs pos="0">
                  <a:schemeClr val="bg1"/>
                </a:gs>
                <a:gs pos="100000">
                  <a:srgbClr val="FF0000"/>
                </a:gs>
              </a:gsLst>
              <a:path path="circle">
                <a:fillToRect l="50000" t="50000" r="50000" b="50000"/>
              </a:path>
              <a:tileRect/>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rPr>
                <a:t>k</a:t>
              </a:r>
            </a:p>
          </p:txBody>
        </p:sp>
        <p:cxnSp>
          <p:nvCxnSpPr>
            <p:cNvPr id="48" name="Straight Arrow Connector 47">
              <a:extLst>
                <a:ext uri="{FF2B5EF4-FFF2-40B4-BE49-F238E27FC236}">
                  <a16:creationId xmlns:a16="http://schemas.microsoft.com/office/drawing/2014/main" id="{E6584433-6266-4535-8C31-86350681EAC1}"/>
                </a:ext>
              </a:extLst>
            </p:cNvPr>
            <p:cNvCxnSpPr>
              <a:stCxn id="43" idx="3"/>
              <a:endCxn id="38" idx="7"/>
            </p:cNvCxnSpPr>
            <p:nvPr/>
          </p:nvCxnSpPr>
          <p:spPr>
            <a:xfrm flipH="1">
              <a:off x="4975961" y="4129604"/>
              <a:ext cx="1682783"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9E8EB6E-E4A1-4F88-B8FC-4B159B9039BB}"/>
                </a:ext>
              </a:extLst>
            </p:cNvPr>
            <p:cNvCxnSpPr>
              <a:cxnSpLocks/>
              <a:stCxn id="43" idx="3"/>
              <a:endCxn id="44" idx="7"/>
            </p:cNvCxnSpPr>
            <p:nvPr/>
          </p:nvCxnSpPr>
          <p:spPr>
            <a:xfrm flipH="1">
              <a:off x="5839342" y="4129604"/>
              <a:ext cx="819402" cy="706683"/>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041DC01-5AB9-428F-94D2-E0527D43179C}"/>
                </a:ext>
              </a:extLst>
            </p:cNvPr>
            <p:cNvCxnSpPr>
              <a:cxnSpLocks/>
              <a:stCxn id="43" idx="3"/>
              <a:endCxn id="47" idx="0"/>
            </p:cNvCxnSpPr>
            <p:nvPr/>
          </p:nvCxnSpPr>
          <p:spPr>
            <a:xfrm flipH="1">
              <a:off x="6511803" y="4129604"/>
              <a:ext cx="146941"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092E669-1187-4F2C-B796-9EC032F7B711}"/>
                </a:ext>
              </a:extLst>
            </p:cNvPr>
            <p:cNvCxnSpPr>
              <a:cxnSpLocks/>
              <a:stCxn id="46" idx="3"/>
              <a:endCxn id="41" idx="7"/>
            </p:cNvCxnSpPr>
            <p:nvPr/>
          </p:nvCxnSpPr>
          <p:spPr>
            <a:xfrm flipH="1">
              <a:off x="3249200" y="4129604"/>
              <a:ext cx="2546164"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E3AC024-854B-41B4-AF0A-CDD69A32F3D8}"/>
                </a:ext>
              </a:extLst>
            </p:cNvPr>
            <p:cNvCxnSpPr>
              <a:cxnSpLocks/>
              <a:stCxn id="37" idx="4"/>
              <a:endCxn id="41" idx="1"/>
            </p:cNvCxnSpPr>
            <p:nvPr/>
          </p:nvCxnSpPr>
          <p:spPr>
            <a:xfrm>
              <a:off x="2549232" y="4208685"/>
              <a:ext cx="318130"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FB5CF99-FB81-4142-BF90-BC382850C110}"/>
                </a:ext>
              </a:extLst>
            </p:cNvPr>
            <p:cNvCxnSpPr>
              <a:cxnSpLocks/>
              <a:stCxn id="46" idx="3"/>
              <a:endCxn id="39" idx="7"/>
            </p:cNvCxnSpPr>
            <p:nvPr/>
          </p:nvCxnSpPr>
          <p:spPr>
            <a:xfrm flipH="1">
              <a:off x="4112580" y="4129604"/>
              <a:ext cx="1682784" cy="761669"/>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CEC72D6-B14F-4B84-8C83-397A429229F5}"/>
                </a:ext>
              </a:extLst>
            </p:cNvPr>
            <p:cNvCxnSpPr>
              <a:cxnSpLocks/>
              <a:stCxn id="42" idx="4"/>
              <a:endCxn id="39" idx="1"/>
            </p:cNvCxnSpPr>
            <p:nvPr/>
          </p:nvCxnSpPr>
          <p:spPr>
            <a:xfrm>
              <a:off x="3409919" y="4208685"/>
              <a:ext cx="320823"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6CE4AFF-ADFA-4E00-8E5E-1B74A795E7E9}"/>
                </a:ext>
              </a:extLst>
            </p:cNvPr>
            <p:cNvCxnSpPr>
              <a:cxnSpLocks/>
              <a:stCxn id="40" idx="4"/>
              <a:endCxn id="38" idx="1"/>
            </p:cNvCxnSpPr>
            <p:nvPr/>
          </p:nvCxnSpPr>
          <p:spPr>
            <a:xfrm>
              <a:off x="4269855" y="4208685"/>
              <a:ext cx="324268" cy="682588"/>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112F627B-6C45-41DB-ACA8-797D2408FB92}"/>
                </a:ext>
              </a:extLst>
            </p:cNvPr>
            <p:cNvCxnSpPr>
              <a:cxnSpLocks/>
              <a:stCxn id="45" idx="4"/>
              <a:endCxn id="44" idx="1"/>
            </p:cNvCxnSpPr>
            <p:nvPr/>
          </p:nvCxnSpPr>
          <p:spPr>
            <a:xfrm>
              <a:off x="5129791" y="4208685"/>
              <a:ext cx="327713"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5EB8D270-1D2C-49A5-B72D-7A4905A8C66F}"/>
                </a:ext>
              </a:extLst>
            </p:cNvPr>
            <p:cNvCxnSpPr>
              <a:cxnSpLocks/>
              <a:stCxn id="45" idx="4"/>
              <a:endCxn id="47" idx="1"/>
            </p:cNvCxnSpPr>
            <p:nvPr/>
          </p:nvCxnSpPr>
          <p:spPr>
            <a:xfrm>
              <a:off x="5129791" y="4208685"/>
              <a:ext cx="1191093" cy="627602"/>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F306A9E1-F931-4505-BAF5-545AEE4D11E7}"/>
              </a:ext>
            </a:extLst>
          </p:cNvPr>
          <p:cNvSpPr/>
          <p:nvPr/>
        </p:nvSpPr>
        <p:spPr>
          <a:xfrm rot="21129366">
            <a:off x="516429" y="4914074"/>
            <a:ext cx="4680520" cy="863877"/>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rPr>
              <a:t>Answer 0.64</a:t>
            </a:r>
          </a:p>
        </p:txBody>
      </p:sp>
    </p:spTree>
    <p:extLst>
      <p:ext uri="{BB962C8B-B14F-4D97-AF65-F5344CB8AC3E}">
        <p14:creationId xmlns:p14="http://schemas.microsoft.com/office/powerpoint/2010/main" val="32907813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algn="just"/>
            <a:r>
              <a:rPr lang="en-GB" dirty="0"/>
              <a:t>Can calculate summaries from posterior…</a:t>
            </a:r>
          </a:p>
          <a:p>
            <a:pPr marL="857250" lvl="1" algn="just"/>
            <a:r>
              <a:rPr lang="en-GB" dirty="0"/>
              <a:t>e.g. sample mean is parameter estimate</a:t>
            </a:r>
          </a:p>
          <a:p>
            <a:pPr marL="857250" lvl="1" algn="just"/>
            <a:r>
              <a:rPr lang="en-GB" dirty="0"/>
              <a:t>e.g. sample </a:t>
            </a:r>
            <a:r>
              <a:rPr lang="en-GB" dirty="0" err="1"/>
              <a:t>s.d.</a:t>
            </a:r>
            <a:r>
              <a:rPr lang="en-GB" dirty="0"/>
              <a:t> is measure of uncertainty</a:t>
            </a:r>
          </a:p>
          <a:p>
            <a:pPr marL="857250" lvl="1" algn="just"/>
            <a:r>
              <a:rPr lang="en-GB" dirty="0"/>
              <a:t>e.g. distribution of f(</a:t>
            </a:r>
            <a:r>
              <a:rPr lang="en-GB" b="1" dirty="0"/>
              <a:t>u</a:t>
            </a:r>
            <a:r>
              <a:rPr lang="en-GB" dirty="0"/>
              <a:t>) for any function f</a:t>
            </a:r>
          </a:p>
        </p:txBody>
      </p:sp>
      <p:sp>
        <p:nvSpPr>
          <p:cNvPr id="2" name="Title 1"/>
          <p:cNvSpPr>
            <a:spLocks noGrp="1"/>
          </p:cNvSpPr>
          <p:nvPr>
            <p:ph type="title"/>
          </p:nvPr>
        </p:nvSpPr>
        <p:spPr/>
        <p:txBody>
          <a:bodyPr/>
          <a:lstStyle/>
          <a:p>
            <a:r>
              <a:rPr lang="en-GB" dirty="0"/>
              <a:t>The (Amazing) Ergodic Theorem</a:t>
            </a:r>
          </a:p>
        </p:txBody>
      </p:sp>
      <p:sp>
        <p:nvSpPr>
          <p:cNvPr id="4" name="Date Placeholder 3"/>
          <p:cNvSpPr>
            <a:spLocks noGrp="1"/>
          </p:cNvSpPr>
          <p:nvPr>
            <p:ph type="dt" sz="half" idx="10"/>
          </p:nvPr>
        </p:nvSpPr>
        <p:spPr/>
        <p:txBody>
          <a:bodyPr/>
          <a:lstStyle/>
          <a:p>
            <a:fld id="{7FEB596B-D5BB-448B-A4A2-F12011FDF10E}" type="datetime4">
              <a:rPr lang="en-GB" smtClean="0"/>
              <a:t>12 February 2025</a:t>
            </a:fld>
            <a:endParaRPr lang="en-GB" dirty="0"/>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3545938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dirty="0"/>
              <a:t>Can solve complex models by defining all conditional distributions   </a:t>
            </a:r>
            <a:r>
              <a:rPr lang="en-GB" i="1" dirty="0" err="1"/>
              <a:t>u</a:t>
            </a:r>
            <a:r>
              <a:rPr lang="en-GB" i="1" baseline="-25000" dirty="0" err="1"/>
              <a:t>i</a:t>
            </a:r>
            <a:r>
              <a:rPr lang="en-GB" baseline="-25000" dirty="0"/>
              <a:t> </a:t>
            </a:r>
            <a:r>
              <a:rPr lang="en-GB" dirty="0"/>
              <a:t>│</a:t>
            </a:r>
            <a:r>
              <a:rPr lang="en-GB" i="1" dirty="0"/>
              <a:t>u</a:t>
            </a:r>
            <a:r>
              <a:rPr lang="en-GB" i="1" baseline="-25000" dirty="0"/>
              <a:t>1</a:t>
            </a:r>
            <a:r>
              <a:rPr lang="en-GB" dirty="0"/>
              <a:t>,</a:t>
            </a:r>
            <a:r>
              <a:rPr lang="en-GB" baseline="-25000" dirty="0"/>
              <a:t> </a:t>
            </a:r>
            <a:r>
              <a:rPr lang="en-GB" i="1" dirty="0"/>
              <a:t>u</a:t>
            </a:r>
            <a:r>
              <a:rPr lang="en-GB" i="1" baseline="-25000" dirty="0"/>
              <a:t>2</a:t>
            </a:r>
            <a:r>
              <a:rPr lang="en-GB" dirty="0"/>
              <a:t> …</a:t>
            </a:r>
            <a:r>
              <a:rPr lang="en-GB" i="1" dirty="0"/>
              <a:t>u</a:t>
            </a:r>
            <a:r>
              <a:rPr lang="en-GB" i="1" baseline="-25000" dirty="0"/>
              <a:t>i-1</a:t>
            </a:r>
            <a:r>
              <a:rPr lang="en-GB" dirty="0"/>
              <a:t>, </a:t>
            </a:r>
            <a:r>
              <a:rPr lang="en-GB" i="1" dirty="0"/>
              <a:t>u</a:t>
            </a:r>
            <a:r>
              <a:rPr lang="en-GB" i="1" baseline="-25000" dirty="0"/>
              <a:t>i+1</a:t>
            </a:r>
            <a:r>
              <a:rPr lang="en-GB" dirty="0"/>
              <a:t>,</a:t>
            </a:r>
            <a:r>
              <a:rPr lang="en-GB" baseline="-25000" dirty="0"/>
              <a:t> </a:t>
            </a:r>
            <a:r>
              <a:rPr lang="en-GB" i="1" dirty="0"/>
              <a:t>u</a:t>
            </a:r>
            <a:r>
              <a:rPr lang="en-GB" i="1" baseline="-25000" dirty="0"/>
              <a:t>n</a:t>
            </a:r>
            <a:r>
              <a:rPr lang="en-GB" dirty="0"/>
              <a:t>, </a:t>
            </a:r>
            <a:r>
              <a:rPr lang="en-GB" b="1" dirty="0"/>
              <a:t>y</a:t>
            </a:r>
            <a:endParaRPr lang="en-GB" dirty="0"/>
          </a:p>
          <a:p>
            <a:r>
              <a:rPr lang="en-GB" dirty="0"/>
              <a:t>Must ensure </a:t>
            </a:r>
            <a:r>
              <a:rPr lang="en-GB" i="1" dirty="0"/>
              <a:t>stationarity </a:t>
            </a:r>
            <a:r>
              <a:rPr lang="en-GB" dirty="0"/>
              <a:t>(c.f. convergence)</a:t>
            </a:r>
          </a:p>
          <a:p>
            <a:pPr lvl="1"/>
            <a:r>
              <a:rPr lang="en-GB" dirty="0"/>
              <a:t>posterior does not depend on starting values</a:t>
            </a:r>
          </a:p>
          <a:p>
            <a:pPr lvl="1"/>
            <a:r>
              <a:rPr lang="en-GB" dirty="0"/>
              <a:t>all regions of posterior distribution explored</a:t>
            </a:r>
          </a:p>
          <a:p>
            <a:pPr lvl="2"/>
            <a:r>
              <a:rPr lang="en-GB" dirty="0"/>
              <a:t> more parameters, more cycles</a:t>
            </a:r>
          </a:p>
          <a:p>
            <a:pPr lvl="2"/>
            <a:r>
              <a:rPr lang="en-GB" dirty="0"/>
              <a:t> ‘mixing speed’ slow for genotypes</a:t>
            </a:r>
          </a:p>
          <a:p>
            <a:r>
              <a:rPr lang="en-GB" dirty="0"/>
              <a:t>Time = # parameters x # cycles x ‘unit </a:t>
            </a:r>
            <a:r>
              <a:rPr lang="en-GB" dirty="0" err="1"/>
              <a:t>cpu</a:t>
            </a:r>
            <a:r>
              <a:rPr lang="en-GB" dirty="0"/>
              <a:t>’</a:t>
            </a:r>
          </a:p>
          <a:p>
            <a:pPr lvl="2"/>
            <a:r>
              <a:rPr lang="en-GB" dirty="0"/>
              <a:t>cycle number is large … say multiples of 10,000!</a:t>
            </a:r>
          </a:p>
        </p:txBody>
      </p:sp>
      <p:sp>
        <p:nvSpPr>
          <p:cNvPr id="2" name="Title 1"/>
          <p:cNvSpPr>
            <a:spLocks noGrp="1"/>
          </p:cNvSpPr>
          <p:nvPr>
            <p:ph type="title"/>
          </p:nvPr>
        </p:nvSpPr>
        <p:spPr/>
        <p:txBody>
          <a:bodyPr/>
          <a:lstStyle/>
          <a:p>
            <a:r>
              <a:rPr lang="en-GB" dirty="0"/>
              <a:t>The (Amazing) Ergodic Theorem</a:t>
            </a:r>
          </a:p>
        </p:txBody>
      </p:sp>
      <p:sp>
        <p:nvSpPr>
          <p:cNvPr id="4" name="Date Placeholder 3"/>
          <p:cNvSpPr>
            <a:spLocks noGrp="1"/>
          </p:cNvSpPr>
          <p:nvPr>
            <p:ph type="dt" sz="half" idx="10"/>
          </p:nvPr>
        </p:nvSpPr>
        <p:spPr/>
        <p:txBody>
          <a:bodyPr/>
          <a:lstStyle/>
          <a:p>
            <a:fld id="{7FEB596B-D5BB-448B-A4A2-F12011FDF10E}" type="datetime4">
              <a:rPr lang="en-GB" smtClean="0"/>
              <a:t>12 February 2025</a:t>
            </a:fld>
            <a:endParaRPr lang="en-GB" dirty="0"/>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16666445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9185" y="1196975"/>
            <a:ext cx="11713633" cy="4968875"/>
          </a:xfrm>
        </p:spPr>
        <p:txBody>
          <a:bodyPr/>
          <a:lstStyle/>
          <a:p>
            <a:pPr marL="457200" algn="just"/>
            <a:r>
              <a:rPr lang="en-GB" dirty="0"/>
              <a:t>Sampling procedure used was ‘Gibbs Sampling’</a:t>
            </a:r>
          </a:p>
          <a:p>
            <a:pPr marL="114300" indent="0" algn="ctr">
              <a:buNone/>
            </a:pPr>
            <a:r>
              <a:rPr lang="en-GB" sz="2400" b="1" dirty="0"/>
              <a:t>u</a:t>
            </a:r>
            <a:r>
              <a:rPr lang="en-GB" sz="2400" baseline="30000" dirty="0"/>
              <a:t>t+1</a:t>
            </a:r>
            <a:r>
              <a:rPr lang="en-GB" sz="2400" dirty="0"/>
              <a:t> = (</a:t>
            </a:r>
            <a:r>
              <a:rPr lang="en-GB" sz="2400" i="1" dirty="0"/>
              <a:t>u</a:t>
            </a:r>
            <a:r>
              <a:rPr lang="en-GB" sz="2400" i="1" baseline="-25000" dirty="0"/>
              <a:t>1</a:t>
            </a:r>
            <a:r>
              <a:rPr lang="en-GB" sz="2400" i="1" baseline="30000" dirty="0"/>
              <a:t>t+1</a:t>
            </a:r>
            <a:r>
              <a:rPr lang="en-GB" sz="2400" baseline="-25000" dirty="0"/>
              <a:t> </a:t>
            </a:r>
            <a:r>
              <a:rPr lang="en-GB" sz="2400" dirty="0"/>
              <a:t>│</a:t>
            </a:r>
            <a:r>
              <a:rPr lang="en-GB" sz="2400" i="1" dirty="0"/>
              <a:t>u</a:t>
            </a:r>
            <a:r>
              <a:rPr lang="en-GB" sz="2400" i="1" baseline="-25000" dirty="0"/>
              <a:t>2</a:t>
            </a:r>
            <a:r>
              <a:rPr lang="en-GB" sz="2400" i="1" baseline="30000" dirty="0"/>
              <a:t>t</a:t>
            </a:r>
            <a:r>
              <a:rPr lang="en-GB" sz="2400" dirty="0"/>
              <a:t>,</a:t>
            </a:r>
            <a:r>
              <a:rPr lang="en-GB" sz="2400" baseline="-25000" dirty="0"/>
              <a:t> </a:t>
            </a:r>
            <a:r>
              <a:rPr lang="en-GB" sz="2400" i="1" dirty="0"/>
              <a:t>u</a:t>
            </a:r>
            <a:r>
              <a:rPr lang="en-GB" sz="2400" i="1" baseline="-25000" dirty="0"/>
              <a:t>3</a:t>
            </a:r>
            <a:r>
              <a:rPr lang="en-GB" sz="2400" i="1" baseline="30000" dirty="0"/>
              <a:t>t</a:t>
            </a:r>
            <a:r>
              <a:rPr lang="en-GB" sz="2400" dirty="0"/>
              <a:t>, </a:t>
            </a:r>
            <a:r>
              <a:rPr lang="en-GB" sz="2400" b="1" dirty="0"/>
              <a:t>y</a:t>
            </a:r>
            <a:r>
              <a:rPr lang="en-GB" sz="2400" dirty="0"/>
              <a:t>), (</a:t>
            </a:r>
            <a:r>
              <a:rPr lang="en-GB" sz="2400" i="1" dirty="0"/>
              <a:t>u</a:t>
            </a:r>
            <a:r>
              <a:rPr lang="en-GB" sz="2400" i="1" baseline="-25000" dirty="0"/>
              <a:t>2</a:t>
            </a:r>
            <a:r>
              <a:rPr lang="en-GB" sz="2400" i="1" baseline="30000" dirty="0"/>
              <a:t>t+1</a:t>
            </a:r>
            <a:r>
              <a:rPr lang="en-GB" sz="2400" baseline="-25000" dirty="0"/>
              <a:t> </a:t>
            </a:r>
            <a:r>
              <a:rPr lang="en-GB" sz="2400" dirty="0"/>
              <a:t>│</a:t>
            </a:r>
            <a:r>
              <a:rPr lang="en-GB" sz="2400" i="1" dirty="0"/>
              <a:t>u</a:t>
            </a:r>
            <a:r>
              <a:rPr lang="en-GB" sz="2400" i="1" baseline="-25000" dirty="0"/>
              <a:t>1</a:t>
            </a:r>
            <a:r>
              <a:rPr lang="en-GB" sz="2400" i="1" baseline="30000" dirty="0"/>
              <a:t>t+1</a:t>
            </a:r>
            <a:r>
              <a:rPr lang="en-GB" sz="2400" dirty="0"/>
              <a:t>,</a:t>
            </a:r>
            <a:r>
              <a:rPr lang="en-GB" sz="2400" baseline="-25000" dirty="0"/>
              <a:t> </a:t>
            </a:r>
            <a:r>
              <a:rPr lang="en-GB" sz="2400" i="1" dirty="0"/>
              <a:t>u</a:t>
            </a:r>
            <a:r>
              <a:rPr lang="en-GB" sz="2400" i="1" baseline="-25000" dirty="0"/>
              <a:t>3</a:t>
            </a:r>
            <a:r>
              <a:rPr lang="en-GB" sz="2400" i="1" baseline="30000" dirty="0"/>
              <a:t>t</a:t>
            </a:r>
            <a:r>
              <a:rPr lang="en-GB" sz="2400" dirty="0"/>
              <a:t>, </a:t>
            </a:r>
            <a:r>
              <a:rPr lang="en-GB" sz="2400" b="1" dirty="0"/>
              <a:t>y</a:t>
            </a:r>
            <a:r>
              <a:rPr lang="en-GB" sz="2400" dirty="0"/>
              <a:t>), (</a:t>
            </a:r>
            <a:r>
              <a:rPr lang="en-GB" sz="2400" i="1" dirty="0"/>
              <a:t>u</a:t>
            </a:r>
            <a:r>
              <a:rPr lang="en-GB" sz="2400" i="1" baseline="-25000" dirty="0"/>
              <a:t>3</a:t>
            </a:r>
            <a:r>
              <a:rPr lang="en-GB" sz="2400" i="1" baseline="30000" dirty="0"/>
              <a:t>t+1</a:t>
            </a:r>
            <a:r>
              <a:rPr lang="en-GB" sz="2400" baseline="-25000" dirty="0"/>
              <a:t> </a:t>
            </a:r>
            <a:r>
              <a:rPr lang="en-GB" sz="2400" dirty="0"/>
              <a:t>│</a:t>
            </a:r>
            <a:r>
              <a:rPr lang="en-GB" sz="2400" i="1" dirty="0"/>
              <a:t>u</a:t>
            </a:r>
            <a:r>
              <a:rPr lang="en-GB" sz="2400" i="1" baseline="-25000" dirty="0"/>
              <a:t>1</a:t>
            </a:r>
            <a:r>
              <a:rPr lang="en-GB" sz="2400" i="1" baseline="30000" dirty="0"/>
              <a:t>t+1</a:t>
            </a:r>
            <a:r>
              <a:rPr lang="en-GB" sz="2400" dirty="0"/>
              <a:t>,</a:t>
            </a:r>
            <a:r>
              <a:rPr lang="en-GB" sz="2400" baseline="-25000" dirty="0"/>
              <a:t> </a:t>
            </a:r>
            <a:r>
              <a:rPr lang="en-GB" sz="2400" i="1" dirty="0"/>
              <a:t>u</a:t>
            </a:r>
            <a:r>
              <a:rPr lang="en-GB" sz="2400" i="1" baseline="-25000" dirty="0"/>
              <a:t>2</a:t>
            </a:r>
            <a:r>
              <a:rPr lang="en-GB" sz="2400" i="1" baseline="30000" dirty="0"/>
              <a:t>t+1</a:t>
            </a:r>
            <a:r>
              <a:rPr lang="en-GB" sz="2400" dirty="0"/>
              <a:t>, </a:t>
            </a:r>
            <a:r>
              <a:rPr lang="en-GB" sz="2400" b="1" dirty="0"/>
              <a:t>y</a:t>
            </a:r>
            <a:r>
              <a:rPr lang="en-GB" sz="2400" dirty="0"/>
              <a:t>)</a:t>
            </a:r>
          </a:p>
          <a:p>
            <a:pPr lvl="1"/>
            <a:r>
              <a:rPr lang="en-GB" dirty="0"/>
              <a:t>slow</a:t>
            </a:r>
          </a:p>
          <a:p>
            <a:pPr lvl="1"/>
            <a:r>
              <a:rPr lang="en-GB" dirty="0"/>
              <a:t>more complex procedures can speed mixing and stationarity</a:t>
            </a:r>
          </a:p>
          <a:p>
            <a:r>
              <a:rPr lang="en-GB" dirty="0"/>
              <a:t>Generally, need to sample from many different distributions</a:t>
            </a:r>
          </a:p>
          <a:p>
            <a:pPr lvl="1"/>
            <a:r>
              <a:rPr lang="en-GB" dirty="0"/>
              <a:t>e.g. priors on variances are ‘inverse chi-squared’</a:t>
            </a:r>
          </a:p>
          <a:p>
            <a:pPr lvl="1"/>
            <a:r>
              <a:rPr lang="en-GB" dirty="0"/>
              <a:t>avoided in example by assuming V</a:t>
            </a:r>
            <a:r>
              <a:rPr lang="en-GB" baseline="-25000" dirty="0"/>
              <a:t>A</a:t>
            </a:r>
            <a:r>
              <a:rPr lang="en-GB" dirty="0"/>
              <a:t> known, i.e. Prob(V</a:t>
            </a:r>
            <a:r>
              <a:rPr lang="en-GB" baseline="-25000" dirty="0"/>
              <a:t>A</a:t>
            </a:r>
            <a:r>
              <a:rPr lang="en-GB" dirty="0"/>
              <a:t>=1) = 1</a:t>
            </a:r>
          </a:p>
          <a:p>
            <a:r>
              <a:rPr lang="en-GB" dirty="0"/>
              <a:t>Use of ‘uninformative priors’</a:t>
            </a:r>
          </a:p>
          <a:p>
            <a:pPr lvl="1"/>
            <a:r>
              <a:rPr lang="en-GB" dirty="0"/>
              <a:t>how much have the priors influenced the results</a:t>
            </a:r>
          </a:p>
        </p:txBody>
      </p:sp>
      <p:sp>
        <p:nvSpPr>
          <p:cNvPr id="2" name="Title 1"/>
          <p:cNvSpPr>
            <a:spLocks noGrp="1"/>
          </p:cNvSpPr>
          <p:nvPr>
            <p:ph type="title"/>
          </p:nvPr>
        </p:nvSpPr>
        <p:spPr/>
        <p:txBody>
          <a:bodyPr/>
          <a:lstStyle/>
          <a:p>
            <a:r>
              <a:rPr lang="en-GB" dirty="0"/>
              <a:t>The (Amazing) Ergodic Theorem</a:t>
            </a:r>
          </a:p>
        </p:txBody>
      </p:sp>
      <p:sp>
        <p:nvSpPr>
          <p:cNvPr id="4" name="Date Placeholder 3"/>
          <p:cNvSpPr>
            <a:spLocks noGrp="1"/>
          </p:cNvSpPr>
          <p:nvPr>
            <p:ph type="dt" sz="half" idx="10"/>
          </p:nvPr>
        </p:nvSpPr>
        <p:spPr/>
        <p:txBody>
          <a:bodyPr/>
          <a:lstStyle/>
          <a:p>
            <a:fld id="{7FEB596B-D5BB-448B-A4A2-F12011FDF10E}" type="datetime4">
              <a:rPr lang="en-GB" smtClean="0"/>
              <a:t>12 February 2025</a:t>
            </a:fld>
            <a:endParaRPr lang="en-GB" dirty="0"/>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33037608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a:p>
          <a:p>
            <a:endParaRPr lang="en-GB" dirty="0"/>
          </a:p>
          <a:p>
            <a:endParaRPr lang="en-GB" dirty="0"/>
          </a:p>
          <a:p>
            <a:endParaRPr lang="en-GB" dirty="0"/>
          </a:p>
          <a:p>
            <a:endParaRPr lang="en-GB" dirty="0"/>
          </a:p>
          <a:p>
            <a:pPr lvl="2"/>
            <a:r>
              <a:rPr lang="en-GB" sz="2800" dirty="0"/>
              <a:t>Bayesian Methods do not require MCMC </a:t>
            </a:r>
          </a:p>
          <a:p>
            <a:pPr lvl="2"/>
            <a:r>
              <a:rPr lang="en-GB" sz="2800" dirty="0"/>
              <a:t>MCMC makes complex models feasible</a:t>
            </a:r>
          </a:p>
        </p:txBody>
      </p:sp>
      <p:sp>
        <p:nvSpPr>
          <p:cNvPr id="2" name="Title 1"/>
          <p:cNvSpPr>
            <a:spLocks noGrp="1"/>
          </p:cNvSpPr>
          <p:nvPr>
            <p:ph type="title"/>
          </p:nvPr>
        </p:nvSpPr>
        <p:spPr>
          <a:xfrm>
            <a:off x="1703388" y="228600"/>
            <a:ext cx="8785225" cy="927100"/>
          </a:xfrm>
        </p:spPr>
        <p:txBody>
          <a:bodyPr/>
          <a:lstStyle/>
          <a:p>
            <a:r>
              <a:rPr lang="en-GB" dirty="0"/>
              <a:t>‘Bayesian Methods’ &amp; MCMC</a:t>
            </a:r>
          </a:p>
        </p:txBody>
      </p:sp>
      <p:sp>
        <p:nvSpPr>
          <p:cNvPr id="4" name="Date Placeholder 3"/>
          <p:cNvSpPr>
            <a:spLocks noGrp="1"/>
          </p:cNvSpPr>
          <p:nvPr>
            <p:ph type="dt" sz="half" idx="10"/>
          </p:nvPr>
        </p:nvSpPr>
        <p:spPr/>
        <p:txBody>
          <a:bodyPr/>
          <a:lstStyle/>
          <a:p>
            <a:fld id="{7FEB596B-D5BB-448B-A4A2-F12011FDF10E}" type="datetime4">
              <a:rPr lang="en-GB" smtClean="0"/>
              <a:t>12 February 2025</a:t>
            </a:fld>
            <a:endParaRPr lang="en-GB" dirty="0"/>
          </a:p>
        </p:txBody>
      </p:sp>
      <p:sp>
        <p:nvSpPr>
          <p:cNvPr id="5" name="Footer Placeholder 4"/>
          <p:cNvSpPr>
            <a:spLocks noGrp="1"/>
          </p:cNvSpPr>
          <p:nvPr>
            <p:ph type="ftr" sz="quarter" idx="11"/>
          </p:nvPr>
        </p:nvSpPr>
        <p:spPr/>
        <p:txBody>
          <a:bodyPr/>
          <a:lstStyle/>
          <a:p>
            <a:r>
              <a:rPr lang="en-GB" dirty="0"/>
              <a:t>Lecture 10</a:t>
            </a:r>
          </a:p>
        </p:txBody>
      </p:sp>
      <p:grpSp>
        <p:nvGrpSpPr>
          <p:cNvPr id="27" name="Group 26">
            <a:extLst>
              <a:ext uri="{FF2B5EF4-FFF2-40B4-BE49-F238E27FC236}">
                <a16:creationId xmlns:a16="http://schemas.microsoft.com/office/drawing/2014/main" id="{E162F6DE-9CA5-403B-8720-7215BE4B99DE}"/>
              </a:ext>
            </a:extLst>
          </p:cNvPr>
          <p:cNvGrpSpPr/>
          <p:nvPr/>
        </p:nvGrpSpPr>
        <p:grpSpPr>
          <a:xfrm>
            <a:off x="1922355" y="1412777"/>
            <a:ext cx="8347288" cy="2407543"/>
            <a:chOff x="398355" y="1412776"/>
            <a:chExt cx="8347288" cy="2407543"/>
          </a:xfrm>
        </p:grpSpPr>
        <p:sp>
          <p:nvSpPr>
            <p:cNvPr id="8" name="Rectangle 7">
              <a:extLst>
                <a:ext uri="{FF2B5EF4-FFF2-40B4-BE49-F238E27FC236}">
                  <a16:creationId xmlns:a16="http://schemas.microsoft.com/office/drawing/2014/main" id="{A323628C-B0AF-40DE-9406-AA0346A2D503}"/>
                </a:ext>
              </a:extLst>
            </p:cNvPr>
            <p:cNvSpPr/>
            <p:nvPr/>
          </p:nvSpPr>
          <p:spPr>
            <a:xfrm>
              <a:off x="3311999" y="1412776"/>
              <a:ext cx="2520000" cy="927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Data </a:t>
              </a:r>
              <a:r>
                <a:rPr lang="en-GB" b="1" dirty="0"/>
                <a:t>y</a:t>
              </a:r>
              <a:endParaRPr lang="en-GB" dirty="0"/>
            </a:p>
          </p:txBody>
        </p:sp>
        <p:sp>
          <p:nvSpPr>
            <p:cNvPr id="6" name="Rectangle 5">
              <a:extLst>
                <a:ext uri="{FF2B5EF4-FFF2-40B4-BE49-F238E27FC236}">
                  <a16:creationId xmlns:a16="http://schemas.microsoft.com/office/drawing/2014/main" id="{ABC97C4A-B79B-4C7C-860C-1EA363031846}"/>
                </a:ext>
              </a:extLst>
            </p:cNvPr>
            <p:cNvSpPr/>
            <p:nvPr/>
          </p:nvSpPr>
          <p:spPr>
            <a:xfrm>
              <a:off x="398355" y="2893219"/>
              <a:ext cx="2520000" cy="927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Parameterised model</a:t>
              </a:r>
            </a:p>
            <a:p>
              <a:pPr algn="ctr"/>
              <a:r>
                <a:rPr lang="en-GB" dirty="0"/>
                <a:t>with ‘priors’ on parameters </a:t>
              </a:r>
            </a:p>
          </p:txBody>
        </p:sp>
        <p:sp>
          <p:nvSpPr>
            <p:cNvPr id="9" name="Rectangle 8">
              <a:extLst>
                <a:ext uri="{FF2B5EF4-FFF2-40B4-BE49-F238E27FC236}">
                  <a16:creationId xmlns:a16="http://schemas.microsoft.com/office/drawing/2014/main" id="{B5C25746-E7E2-4912-BCBF-286A9CF37703}"/>
                </a:ext>
              </a:extLst>
            </p:cNvPr>
            <p:cNvSpPr/>
            <p:nvPr/>
          </p:nvSpPr>
          <p:spPr>
            <a:xfrm>
              <a:off x="3311999" y="2893219"/>
              <a:ext cx="2520000" cy="9271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MCMC</a:t>
              </a:r>
            </a:p>
          </p:txBody>
        </p:sp>
        <p:sp>
          <p:nvSpPr>
            <p:cNvPr id="10" name="Rectangle 9">
              <a:extLst>
                <a:ext uri="{FF2B5EF4-FFF2-40B4-BE49-F238E27FC236}">
                  <a16:creationId xmlns:a16="http://schemas.microsoft.com/office/drawing/2014/main" id="{05C66C57-5F39-4013-B3B4-E6C671DE240B}"/>
                </a:ext>
              </a:extLst>
            </p:cNvPr>
            <p:cNvSpPr/>
            <p:nvPr/>
          </p:nvSpPr>
          <p:spPr>
            <a:xfrm>
              <a:off x="6225643" y="2893219"/>
              <a:ext cx="2520000" cy="927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‘Posterior’ distributions</a:t>
              </a:r>
            </a:p>
            <a:p>
              <a:pPr algn="ctr"/>
              <a:r>
                <a:rPr lang="en-GB" dirty="0"/>
                <a:t>for parameters</a:t>
              </a:r>
            </a:p>
            <a:p>
              <a:pPr algn="ctr"/>
              <a:r>
                <a:rPr lang="en-GB" dirty="0"/>
                <a:t>conditional on </a:t>
              </a:r>
              <a:r>
                <a:rPr lang="en-GB" b="1" dirty="0"/>
                <a:t>y</a:t>
              </a:r>
              <a:endParaRPr lang="en-GB" dirty="0"/>
            </a:p>
          </p:txBody>
        </p:sp>
        <p:cxnSp>
          <p:nvCxnSpPr>
            <p:cNvPr id="13" name="Straight Arrow Connector 12">
              <a:extLst>
                <a:ext uri="{FF2B5EF4-FFF2-40B4-BE49-F238E27FC236}">
                  <a16:creationId xmlns:a16="http://schemas.microsoft.com/office/drawing/2014/main" id="{66B2ACAB-C23A-4E85-B22A-6639E4D6B2B6}"/>
                </a:ext>
              </a:extLst>
            </p:cNvPr>
            <p:cNvCxnSpPr>
              <a:stCxn id="6" idx="3"/>
              <a:endCxn id="9" idx="1"/>
            </p:cNvCxnSpPr>
            <p:nvPr/>
          </p:nvCxnSpPr>
          <p:spPr>
            <a:xfrm>
              <a:off x="2918355" y="3356769"/>
              <a:ext cx="393644"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459D26-428C-461C-987E-9777EA665069}"/>
                </a:ext>
              </a:extLst>
            </p:cNvPr>
            <p:cNvCxnSpPr>
              <a:cxnSpLocks/>
              <a:endCxn id="10" idx="1"/>
            </p:cNvCxnSpPr>
            <p:nvPr/>
          </p:nvCxnSpPr>
          <p:spPr>
            <a:xfrm>
              <a:off x="5831999" y="3356769"/>
              <a:ext cx="393644"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C646EBD-8337-47D3-AC8E-CD5498AA043F}"/>
                </a:ext>
              </a:extLst>
            </p:cNvPr>
            <p:cNvCxnSpPr>
              <a:cxnSpLocks/>
              <a:stCxn id="8" idx="2"/>
            </p:cNvCxnSpPr>
            <p:nvPr/>
          </p:nvCxnSpPr>
          <p:spPr>
            <a:xfrm>
              <a:off x="4571999" y="2339876"/>
              <a:ext cx="1" cy="58506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DDF11499-A775-4D45-AEC6-D8511A83AADF}"/>
              </a:ext>
            </a:extLst>
          </p:cNvPr>
          <p:cNvSpPr txBox="1"/>
          <p:nvPr/>
        </p:nvSpPr>
        <p:spPr>
          <a:xfrm>
            <a:off x="7392144" y="5333051"/>
            <a:ext cx="4536504" cy="646331"/>
          </a:xfrm>
          <a:prstGeom prst="rect">
            <a:avLst/>
          </a:prstGeom>
          <a:noFill/>
        </p:spPr>
        <p:txBody>
          <a:bodyPr wrap="square" rtlCol="0">
            <a:spAutoFit/>
          </a:bodyPr>
          <a:lstStyle/>
          <a:p>
            <a:pPr algn="ctr"/>
            <a:r>
              <a:rPr lang="en-GB" dirty="0">
                <a:solidFill>
                  <a:srgbClr val="FF0000"/>
                </a:solidFill>
              </a:rPr>
              <a:t>Thomas Bayes studied Logic &amp; Theology,</a:t>
            </a:r>
          </a:p>
          <a:p>
            <a:pPr algn="ctr"/>
            <a:r>
              <a:rPr lang="en-GB" dirty="0">
                <a:solidFill>
                  <a:srgbClr val="FF0000"/>
                </a:solidFill>
              </a:rPr>
              <a:t>University of Edinburgh 1719-1722!</a:t>
            </a:r>
          </a:p>
        </p:txBody>
      </p:sp>
    </p:spTree>
    <p:extLst>
      <p:ext uri="{BB962C8B-B14F-4D97-AF65-F5344CB8AC3E}">
        <p14:creationId xmlns:p14="http://schemas.microsoft.com/office/powerpoint/2010/main" val="12471747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MCMCglmm</a:t>
            </a:r>
            <a:endParaRPr lang="en-GB" dirty="0"/>
          </a:p>
        </p:txBody>
      </p:sp>
      <p:sp>
        <p:nvSpPr>
          <p:cNvPr id="3" name="Content Placeholder 2"/>
          <p:cNvSpPr>
            <a:spLocks noGrp="1"/>
          </p:cNvSpPr>
          <p:nvPr>
            <p:ph idx="1"/>
          </p:nvPr>
        </p:nvSpPr>
        <p:spPr/>
        <p:txBody>
          <a:bodyPr/>
          <a:lstStyle/>
          <a:p>
            <a:r>
              <a:rPr lang="en-GB" dirty="0"/>
              <a:t>R package</a:t>
            </a:r>
          </a:p>
          <a:p>
            <a:pPr lvl="1"/>
            <a:r>
              <a:rPr lang="en-GB" dirty="0"/>
              <a:t>by Jarod Hadfield</a:t>
            </a:r>
          </a:p>
          <a:p>
            <a:pPr lvl="1"/>
            <a:r>
              <a:rPr lang="en-GB" dirty="0"/>
              <a:t>use for Blue Tit data in Tutorial 10!</a:t>
            </a:r>
          </a:p>
        </p:txBody>
      </p:sp>
      <p:sp>
        <p:nvSpPr>
          <p:cNvPr id="4" name="Date Placeholder 3"/>
          <p:cNvSpPr>
            <a:spLocks noGrp="1"/>
          </p:cNvSpPr>
          <p:nvPr>
            <p:ph type="dt" sz="half" idx="10"/>
          </p:nvPr>
        </p:nvSpPr>
        <p:spPr/>
        <p:txBody>
          <a:bodyPr/>
          <a:lstStyle/>
          <a:p>
            <a:fld id="{6C697B8B-A4F5-476F-A680-8191BD338EC5}"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1901091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67E3EDE-3533-4CFC-A23C-4BCC24CED6D7}"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
        <p:nvSpPr>
          <p:cNvPr id="388098" name="Rectangle 2"/>
          <p:cNvSpPr>
            <a:spLocks noGrp="1" noChangeArrowheads="1"/>
          </p:cNvSpPr>
          <p:nvPr>
            <p:ph type="ctrTitle"/>
          </p:nvPr>
        </p:nvSpPr>
        <p:spPr>
          <a:xfrm>
            <a:off x="2209800" y="2286000"/>
            <a:ext cx="7772400" cy="1143000"/>
          </a:xfrm>
        </p:spPr>
        <p:txBody>
          <a:bodyPr/>
          <a:lstStyle/>
          <a:p>
            <a:r>
              <a:rPr lang="en-GB" dirty="0"/>
              <a:t>… Lecture 10 …</a:t>
            </a:r>
            <a:br>
              <a:rPr lang="en-GB" dirty="0"/>
            </a:br>
            <a:r>
              <a:rPr lang="en-GB" dirty="0"/>
              <a:t>Mainly MCMC Models</a:t>
            </a:r>
          </a:p>
        </p:txBody>
      </p:sp>
      <p:sp>
        <p:nvSpPr>
          <p:cNvPr id="388099" name="Rectangle 3"/>
          <p:cNvSpPr>
            <a:spLocks noGrp="1" noChangeArrowheads="1"/>
          </p:cNvSpPr>
          <p:nvPr>
            <p:ph type="subTitle" idx="1"/>
          </p:nvPr>
        </p:nvSpPr>
        <p:spPr>
          <a:ln/>
        </p:spPr>
        <p:txBody>
          <a:bodyPr/>
          <a:lstStyle/>
          <a:p>
            <a:r>
              <a:rPr lang="en-US" dirty="0"/>
              <a:t>Part 4: </a:t>
            </a:r>
          </a:p>
          <a:p>
            <a:r>
              <a:rPr lang="en-US" dirty="0"/>
              <a:t>Back to the Bayesian Alphabet</a:t>
            </a:r>
          </a:p>
        </p:txBody>
      </p:sp>
    </p:spTree>
    <p:extLst>
      <p:ext uri="{BB962C8B-B14F-4D97-AF65-F5344CB8AC3E}">
        <p14:creationId xmlns:p14="http://schemas.microsoft.com/office/powerpoint/2010/main" val="39496516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Bayesian Alphabet</a:t>
            </a:r>
          </a:p>
        </p:txBody>
      </p:sp>
      <p:sp>
        <p:nvSpPr>
          <p:cNvPr id="3" name="Content Placeholder 2"/>
          <p:cNvSpPr>
            <a:spLocks noGrp="1"/>
          </p:cNvSpPr>
          <p:nvPr>
            <p:ph idx="1"/>
          </p:nvPr>
        </p:nvSpPr>
        <p:spPr/>
        <p:txBody>
          <a:bodyPr/>
          <a:lstStyle/>
          <a:p>
            <a:r>
              <a:rPr lang="en-GB" dirty="0"/>
              <a:t>Bayes A, B, C, … can be solved using MCMC</a:t>
            </a:r>
          </a:p>
          <a:p>
            <a:pPr lvl="1"/>
            <a:r>
              <a:rPr lang="en-GB" dirty="0"/>
              <a:t>as we can write down all conditional distributions</a:t>
            </a:r>
          </a:p>
          <a:p>
            <a:pPr lvl="2"/>
            <a:r>
              <a:rPr lang="en-GB" dirty="0"/>
              <a:t>and sample from them</a:t>
            </a:r>
          </a:p>
          <a:p>
            <a:pPr lvl="1"/>
            <a:r>
              <a:rPr lang="en-GB" dirty="0"/>
              <a:t>computationally snail-paced c.f. GBLUP</a:t>
            </a:r>
          </a:p>
          <a:p>
            <a:pPr lvl="1"/>
            <a:r>
              <a:rPr lang="en-GB" dirty="0"/>
              <a:t>there are fast ‘approximate’ algorithms</a:t>
            </a:r>
          </a:p>
          <a:p>
            <a:endParaRPr lang="en-GB" dirty="0"/>
          </a:p>
          <a:p>
            <a:pPr marL="457200" lvl="1" indent="0">
              <a:buNone/>
            </a:pPr>
            <a:endParaRPr lang="en-GB" dirty="0"/>
          </a:p>
          <a:p>
            <a:pPr marL="914400" lvl="2" indent="0">
              <a:buNone/>
            </a:pPr>
            <a:endParaRPr lang="en-GB" dirty="0"/>
          </a:p>
          <a:p>
            <a:endParaRPr lang="en-GB" dirty="0"/>
          </a:p>
        </p:txBody>
      </p:sp>
      <p:sp>
        <p:nvSpPr>
          <p:cNvPr id="4" name="Date Placeholder 3"/>
          <p:cNvSpPr>
            <a:spLocks noGrp="1"/>
          </p:cNvSpPr>
          <p:nvPr>
            <p:ph type="dt" sz="half" idx="10"/>
          </p:nvPr>
        </p:nvSpPr>
        <p:spPr/>
        <p:txBody>
          <a:bodyPr/>
          <a:lstStyle/>
          <a:p>
            <a:fld id="{054C5712-81FA-49C3-A754-FC2E8E98F825}" type="datetime4">
              <a:rPr lang="en-GB" smtClean="0"/>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14971415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39185" y="269875"/>
            <a:ext cx="11713633" cy="927100"/>
          </a:xfrm>
        </p:spPr>
        <p:txBody>
          <a:bodyPr/>
          <a:lstStyle/>
          <a:p>
            <a:r>
              <a:rPr lang="en-GB"/>
              <a:t>Factors for Accuracy</a:t>
            </a:r>
          </a:p>
        </p:txBody>
      </p:sp>
      <p:sp>
        <p:nvSpPr>
          <p:cNvPr id="4" name="Content Placeholder 3">
            <a:extLst>
              <a:ext uri="{FF2B5EF4-FFF2-40B4-BE49-F238E27FC236}">
                <a16:creationId xmlns:a16="http://schemas.microsoft.com/office/drawing/2014/main" id="{10BA8A7B-4D7D-455C-A721-60A034240D53}"/>
              </a:ext>
            </a:extLst>
          </p:cNvPr>
          <p:cNvSpPr>
            <a:spLocks noGrp="1"/>
          </p:cNvSpPr>
          <p:nvPr>
            <p:ph idx="1"/>
          </p:nvPr>
        </p:nvSpPr>
        <p:spPr/>
        <p:txBody>
          <a:bodyPr/>
          <a:lstStyle/>
          <a:p>
            <a:endParaRPr lang="en-GB"/>
          </a:p>
        </p:txBody>
      </p:sp>
      <p:grpSp>
        <p:nvGrpSpPr>
          <p:cNvPr id="2" name="Group 1">
            <a:extLst>
              <a:ext uri="{FF2B5EF4-FFF2-40B4-BE49-F238E27FC236}">
                <a16:creationId xmlns:a16="http://schemas.microsoft.com/office/drawing/2014/main" id="{FC0C0581-AA57-4456-8573-76BF757C5999}"/>
              </a:ext>
            </a:extLst>
          </p:cNvPr>
          <p:cNvGrpSpPr/>
          <p:nvPr/>
        </p:nvGrpSpPr>
        <p:grpSpPr>
          <a:xfrm>
            <a:off x="1774823" y="1916833"/>
            <a:ext cx="8642352" cy="4824413"/>
            <a:chOff x="250823" y="1916832"/>
            <a:chExt cx="8642352" cy="4824413"/>
          </a:xfrm>
        </p:grpSpPr>
        <p:sp>
          <p:nvSpPr>
            <p:cNvPr id="29701" name="Oval 4"/>
            <p:cNvSpPr>
              <a:spLocks noChangeArrowheads="1"/>
            </p:cNvSpPr>
            <p:nvPr/>
          </p:nvSpPr>
          <p:spPr bwMode="auto">
            <a:xfrm>
              <a:off x="250823" y="1988270"/>
              <a:ext cx="2449513" cy="1152525"/>
            </a:xfrm>
            <a:prstGeom prst="ellipse">
              <a:avLst/>
            </a:prstGeom>
            <a:solidFill>
              <a:srgbClr val="99CCFF"/>
            </a:solidFill>
            <a:ln w="9525">
              <a:solidFill>
                <a:schemeClr val="accent2"/>
              </a:solidFill>
              <a:round/>
              <a:headEnd/>
              <a:tailEnd/>
            </a:ln>
          </p:spPr>
          <p:txBody>
            <a:bodyPr wrap="none" anchor="ctr"/>
            <a:lstStyle/>
            <a:p>
              <a:pPr algn="ctr"/>
              <a:r>
                <a:rPr lang="en-GB"/>
                <a:t>Phenotypes</a:t>
              </a:r>
            </a:p>
          </p:txBody>
        </p:sp>
        <p:sp>
          <p:nvSpPr>
            <p:cNvPr id="29727" name="Oval 6"/>
            <p:cNvSpPr>
              <a:spLocks noChangeAspect="1" noChangeArrowheads="1"/>
            </p:cNvSpPr>
            <p:nvPr/>
          </p:nvSpPr>
          <p:spPr bwMode="auto">
            <a:xfrm>
              <a:off x="2123084" y="3140795"/>
              <a:ext cx="1295400" cy="1295400"/>
            </a:xfrm>
            <a:prstGeom prst="ellipse">
              <a:avLst/>
            </a:prstGeom>
            <a:solidFill>
              <a:srgbClr val="D9D9D9"/>
            </a:solidFill>
            <a:ln w="9525">
              <a:solidFill>
                <a:srgbClr val="ACACAC"/>
              </a:solidFill>
              <a:round/>
              <a:headEnd/>
              <a:tailEnd/>
            </a:ln>
          </p:spPr>
          <p:txBody>
            <a:bodyPr wrap="none" anchor="ctr"/>
            <a:lstStyle/>
            <a:p>
              <a:pPr algn="ctr"/>
              <a:r>
                <a:rPr lang="en-GB" sz="1600" dirty="0">
                  <a:solidFill>
                    <a:srgbClr val="7F7F7F"/>
                  </a:solidFill>
                </a:rPr>
                <a:t>Heritability</a:t>
              </a:r>
            </a:p>
            <a:p>
              <a:pPr algn="ctr"/>
              <a:r>
                <a:rPr lang="en-GB" sz="1600" dirty="0">
                  <a:solidFill>
                    <a:srgbClr val="7F7F7F"/>
                  </a:solidFill>
                </a:rPr>
                <a:t>(h</a:t>
              </a:r>
              <a:r>
                <a:rPr lang="en-GB" sz="1600" baseline="30000" dirty="0">
                  <a:solidFill>
                    <a:srgbClr val="7F7F7F"/>
                  </a:solidFill>
                </a:rPr>
                <a:t>2</a:t>
              </a:r>
              <a:r>
                <a:rPr lang="en-GB" sz="1600" dirty="0">
                  <a:solidFill>
                    <a:srgbClr val="7F7F7F"/>
                  </a:solidFill>
                </a:rPr>
                <a:t>)</a:t>
              </a:r>
            </a:p>
          </p:txBody>
        </p:sp>
        <p:sp>
          <p:nvSpPr>
            <p:cNvPr id="29728" name="Oval 7"/>
            <p:cNvSpPr>
              <a:spLocks noChangeAspect="1" noChangeArrowheads="1"/>
            </p:cNvSpPr>
            <p:nvPr/>
          </p:nvSpPr>
          <p:spPr bwMode="auto">
            <a:xfrm>
              <a:off x="3165473" y="1916832"/>
              <a:ext cx="1295400" cy="1295400"/>
            </a:xfrm>
            <a:prstGeom prst="ellipse">
              <a:avLst/>
            </a:prstGeom>
            <a:solidFill>
              <a:srgbClr val="FFCC99"/>
            </a:solidFill>
            <a:ln w="9525">
              <a:solidFill>
                <a:srgbClr val="FB2E29"/>
              </a:solidFill>
              <a:round/>
              <a:headEnd/>
              <a:tailEnd/>
            </a:ln>
          </p:spPr>
          <p:txBody>
            <a:bodyPr wrap="none" anchor="ctr"/>
            <a:lstStyle/>
            <a:p>
              <a:pPr algn="ctr"/>
              <a:r>
                <a:rPr lang="en-GB" sz="1600" dirty="0"/>
                <a:t>Genetic </a:t>
              </a:r>
            </a:p>
            <a:p>
              <a:pPr algn="ctr"/>
              <a:r>
                <a:rPr lang="en-GB" sz="1600" dirty="0"/>
                <a:t>Architecture</a:t>
              </a:r>
            </a:p>
          </p:txBody>
        </p:sp>
        <p:sp>
          <p:nvSpPr>
            <p:cNvPr id="29729" name="Oval 8"/>
            <p:cNvSpPr>
              <a:spLocks noChangeAspect="1" noChangeArrowheads="1"/>
            </p:cNvSpPr>
            <p:nvPr/>
          </p:nvSpPr>
          <p:spPr bwMode="auto">
            <a:xfrm>
              <a:off x="1080096" y="4364757"/>
              <a:ext cx="1295400" cy="1295400"/>
            </a:xfrm>
            <a:prstGeom prst="ellipse">
              <a:avLst/>
            </a:prstGeom>
            <a:solidFill>
              <a:srgbClr val="D9D9D9"/>
            </a:solidFill>
            <a:ln w="9525">
              <a:solidFill>
                <a:srgbClr val="ACACAC"/>
              </a:solidFill>
              <a:round/>
              <a:headEnd/>
              <a:tailEnd/>
            </a:ln>
          </p:spPr>
          <p:txBody>
            <a:bodyPr wrap="none" anchor="ctr"/>
            <a:lstStyle/>
            <a:p>
              <a:pPr algn="ctr"/>
              <a:r>
                <a:rPr lang="en-GB" sz="1600" dirty="0">
                  <a:solidFill>
                    <a:srgbClr val="7F7F7F"/>
                  </a:solidFill>
                </a:rPr>
                <a:t>Number </a:t>
              </a:r>
            </a:p>
            <a:p>
              <a:pPr algn="ctr"/>
              <a:r>
                <a:rPr lang="en-GB" sz="1600" dirty="0">
                  <a:solidFill>
                    <a:srgbClr val="7F7F7F"/>
                  </a:solidFill>
                </a:rPr>
                <a:t>Records</a:t>
              </a:r>
            </a:p>
            <a:p>
              <a:pPr algn="ctr"/>
              <a:r>
                <a:rPr lang="en-GB" sz="1600" dirty="0">
                  <a:solidFill>
                    <a:srgbClr val="7F7F7F"/>
                  </a:solidFill>
                </a:rPr>
                <a:t>(N)</a:t>
              </a:r>
            </a:p>
          </p:txBody>
        </p:sp>
        <p:sp>
          <p:nvSpPr>
            <p:cNvPr id="29703" name="Oval 9"/>
            <p:cNvSpPr>
              <a:spLocks noChangeAspect="1" noChangeArrowheads="1"/>
            </p:cNvSpPr>
            <p:nvPr/>
          </p:nvSpPr>
          <p:spPr bwMode="auto">
            <a:xfrm>
              <a:off x="3924298" y="3715470"/>
              <a:ext cx="1295400" cy="1295400"/>
            </a:xfrm>
            <a:prstGeom prst="ellipse">
              <a:avLst/>
            </a:prstGeom>
            <a:solidFill>
              <a:srgbClr val="FFCC00"/>
            </a:solidFill>
            <a:ln w="9525">
              <a:solidFill>
                <a:srgbClr val="FF9900"/>
              </a:solidFill>
              <a:round/>
              <a:headEnd/>
              <a:tailEnd/>
            </a:ln>
          </p:spPr>
          <p:txBody>
            <a:bodyPr wrap="none" anchor="ctr"/>
            <a:lstStyle/>
            <a:p>
              <a:pPr algn="ctr"/>
              <a:r>
                <a:rPr lang="en-GB" sz="1600"/>
                <a:t>Methodology</a:t>
              </a:r>
            </a:p>
          </p:txBody>
        </p:sp>
        <p:sp>
          <p:nvSpPr>
            <p:cNvPr id="29704" name="Oval 10"/>
            <p:cNvSpPr>
              <a:spLocks noChangeAspect="1" noChangeArrowheads="1"/>
            </p:cNvSpPr>
            <p:nvPr/>
          </p:nvSpPr>
          <p:spPr bwMode="auto">
            <a:xfrm>
              <a:off x="3924298" y="5445845"/>
              <a:ext cx="1295400" cy="1295400"/>
            </a:xfrm>
            <a:prstGeom prst="ellipse">
              <a:avLst/>
            </a:prstGeom>
            <a:solidFill>
              <a:srgbClr val="FFCC00"/>
            </a:solidFill>
            <a:ln w="9525">
              <a:solidFill>
                <a:srgbClr val="FF9900"/>
              </a:solidFill>
              <a:round/>
              <a:headEnd/>
              <a:tailEnd/>
            </a:ln>
          </p:spPr>
          <p:txBody>
            <a:bodyPr wrap="none" anchor="ctr"/>
            <a:lstStyle/>
            <a:p>
              <a:pPr algn="ctr"/>
              <a:r>
                <a:rPr lang="en-GB" sz="1600" dirty="0"/>
                <a:t>Accuracy</a:t>
              </a:r>
            </a:p>
          </p:txBody>
        </p:sp>
        <p:sp>
          <p:nvSpPr>
            <p:cNvPr id="29724" name="Freeform 12"/>
            <p:cNvSpPr>
              <a:spLocks/>
            </p:cNvSpPr>
            <p:nvPr/>
          </p:nvSpPr>
          <p:spPr bwMode="auto">
            <a:xfrm>
              <a:off x="538164" y="3135672"/>
              <a:ext cx="595313" cy="1517650"/>
            </a:xfrm>
            <a:custGeom>
              <a:avLst/>
              <a:gdLst>
                <a:gd name="T0" fmla="*/ 141 w 375"/>
                <a:gd name="T1" fmla="*/ 0 h 956"/>
                <a:gd name="T2" fmla="*/ 12 w 375"/>
                <a:gd name="T3" fmla="*/ 278 h 956"/>
                <a:gd name="T4" fmla="*/ 67 w 375"/>
                <a:gd name="T5" fmla="*/ 696 h 956"/>
                <a:gd name="T6" fmla="*/ 375 w 375"/>
                <a:gd name="T7" fmla="*/ 956 h 956"/>
                <a:gd name="T8" fmla="*/ 0 60000 65536"/>
                <a:gd name="T9" fmla="*/ 0 60000 65536"/>
                <a:gd name="T10" fmla="*/ 0 60000 65536"/>
                <a:gd name="T11" fmla="*/ 0 60000 65536"/>
                <a:gd name="T12" fmla="*/ 0 w 375"/>
                <a:gd name="T13" fmla="*/ 0 h 956"/>
                <a:gd name="T14" fmla="*/ 375 w 375"/>
                <a:gd name="T15" fmla="*/ 956 h 956"/>
              </a:gdLst>
              <a:ahLst/>
              <a:cxnLst>
                <a:cxn ang="T8">
                  <a:pos x="T0" y="T1"/>
                </a:cxn>
                <a:cxn ang="T9">
                  <a:pos x="T2" y="T3"/>
                </a:cxn>
                <a:cxn ang="T10">
                  <a:pos x="T4" y="T5"/>
                </a:cxn>
                <a:cxn ang="T11">
                  <a:pos x="T6" y="T7"/>
                </a:cxn>
              </a:cxnLst>
              <a:rect l="T12" t="T13" r="T14" b="T15"/>
              <a:pathLst>
                <a:path w="375" h="956">
                  <a:moveTo>
                    <a:pt x="141" y="0"/>
                  </a:moveTo>
                  <a:cubicBezTo>
                    <a:pt x="120" y="46"/>
                    <a:pt x="24" y="162"/>
                    <a:pt x="12" y="278"/>
                  </a:cubicBezTo>
                  <a:cubicBezTo>
                    <a:pt x="0" y="394"/>
                    <a:pt x="7" y="583"/>
                    <a:pt x="67" y="696"/>
                  </a:cubicBezTo>
                  <a:cubicBezTo>
                    <a:pt x="127" y="809"/>
                    <a:pt x="311" y="902"/>
                    <a:pt x="375" y="956"/>
                  </a:cubicBezTo>
                </a:path>
              </a:pathLst>
            </a:custGeom>
            <a:noFill/>
            <a:ln w="57150" cmpd="sng">
              <a:solidFill>
                <a:srgbClr val="BFBFB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9725" name="Freeform 13"/>
            <p:cNvSpPr>
              <a:spLocks/>
            </p:cNvSpPr>
            <p:nvPr/>
          </p:nvSpPr>
          <p:spPr bwMode="auto">
            <a:xfrm>
              <a:off x="1616745" y="3207110"/>
              <a:ext cx="434975" cy="509588"/>
            </a:xfrm>
            <a:custGeom>
              <a:avLst/>
              <a:gdLst>
                <a:gd name="T0" fmla="*/ 0 w 274"/>
                <a:gd name="T1" fmla="*/ 0 h 321"/>
                <a:gd name="T2" fmla="*/ 48 w 274"/>
                <a:gd name="T3" fmla="*/ 268 h 321"/>
                <a:gd name="T4" fmla="*/ 274 w 274"/>
                <a:gd name="T5" fmla="*/ 319 h 321"/>
                <a:gd name="T6" fmla="*/ 0 60000 65536"/>
                <a:gd name="T7" fmla="*/ 0 60000 65536"/>
                <a:gd name="T8" fmla="*/ 0 60000 65536"/>
                <a:gd name="T9" fmla="*/ 0 w 274"/>
                <a:gd name="T10" fmla="*/ 0 h 321"/>
                <a:gd name="T11" fmla="*/ 274 w 274"/>
                <a:gd name="T12" fmla="*/ 321 h 321"/>
              </a:gdLst>
              <a:ahLst/>
              <a:cxnLst>
                <a:cxn ang="T6">
                  <a:pos x="T0" y="T1"/>
                </a:cxn>
                <a:cxn ang="T7">
                  <a:pos x="T2" y="T3"/>
                </a:cxn>
                <a:cxn ang="T8">
                  <a:pos x="T4" y="T5"/>
                </a:cxn>
              </a:cxnLst>
              <a:rect l="T9" t="T10" r="T11" b="T12"/>
              <a:pathLst>
                <a:path w="274" h="321">
                  <a:moveTo>
                    <a:pt x="0" y="0"/>
                  </a:moveTo>
                  <a:cubicBezTo>
                    <a:pt x="8" y="45"/>
                    <a:pt x="2" y="215"/>
                    <a:pt x="48" y="268"/>
                  </a:cubicBezTo>
                  <a:cubicBezTo>
                    <a:pt x="94" y="321"/>
                    <a:pt x="227" y="309"/>
                    <a:pt x="274" y="319"/>
                  </a:cubicBezTo>
                </a:path>
              </a:pathLst>
            </a:custGeom>
            <a:noFill/>
            <a:ln w="57150" cmpd="sng">
              <a:solidFill>
                <a:srgbClr val="BFBFB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47" name="Freeform 14">
              <a:extLst>
                <a:ext uri="{FF2B5EF4-FFF2-40B4-BE49-F238E27FC236}">
                  <a16:creationId xmlns:a16="http://schemas.microsoft.com/office/drawing/2014/main" id="{7342CB8C-0E37-4E75-A7B9-8FCE79F85C67}"/>
                </a:ext>
              </a:extLst>
            </p:cNvPr>
            <p:cNvSpPr>
              <a:spLocks/>
            </p:cNvSpPr>
            <p:nvPr/>
          </p:nvSpPr>
          <p:spPr bwMode="auto">
            <a:xfrm>
              <a:off x="2490784" y="2060848"/>
              <a:ext cx="723900" cy="152400"/>
            </a:xfrm>
            <a:custGeom>
              <a:avLst/>
              <a:gdLst>
                <a:gd name="T0" fmla="*/ 0 w 418"/>
                <a:gd name="T1" fmla="*/ 88 h 96"/>
                <a:gd name="T2" fmla="*/ 229 w 418"/>
                <a:gd name="T3" fmla="*/ 1 h 96"/>
                <a:gd name="T4" fmla="*/ 418 w 418"/>
                <a:gd name="T5" fmla="*/ 96 h 96"/>
                <a:gd name="T6" fmla="*/ 0 60000 65536"/>
                <a:gd name="T7" fmla="*/ 0 60000 65536"/>
                <a:gd name="T8" fmla="*/ 0 60000 65536"/>
                <a:gd name="T9" fmla="*/ 0 w 418"/>
                <a:gd name="T10" fmla="*/ 0 h 96"/>
                <a:gd name="T11" fmla="*/ 418 w 418"/>
                <a:gd name="T12" fmla="*/ 96 h 96"/>
              </a:gdLst>
              <a:ahLst/>
              <a:cxnLst>
                <a:cxn ang="T6">
                  <a:pos x="T0" y="T1"/>
                </a:cxn>
                <a:cxn ang="T7">
                  <a:pos x="T2" y="T3"/>
                </a:cxn>
                <a:cxn ang="T8">
                  <a:pos x="T4" y="T5"/>
                </a:cxn>
              </a:cxnLst>
              <a:rect l="T9" t="T10" r="T11" b="T12"/>
              <a:pathLst>
                <a:path w="418" h="96">
                  <a:moveTo>
                    <a:pt x="0" y="88"/>
                  </a:moveTo>
                  <a:cubicBezTo>
                    <a:pt x="37" y="74"/>
                    <a:pt x="159" y="0"/>
                    <a:pt x="229" y="1"/>
                  </a:cubicBezTo>
                  <a:cubicBezTo>
                    <a:pt x="299" y="2"/>
                    <a:pt x="379" y="76"/>
                    <a:pt x="418" y="96"/>
                  </a:cubicBezTo>
                </a:path>
              </a:pathLst>
            </a:custGeom>
            <a:noFill/>
            <a:ln w="57150"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9706" name="AutoShape 15"/>
            <p:cNvSpPr>
              <a:spLocks noChangeArrowheads="1"/>
            </p:cNvSpPr>
            <p:nvPr/>
          </p:nvSpPr>
          <p:spPr bwMode="auto">
            <a:xfrm>
              <a:off x="4284661" y="5085482"/>
              <a:ext cx="576262" cy="287338"/>
            </a:xfrm>
            <a:prstGeom prst="downArrow">
              <a:avLst>
                <a:gd name="adj1" fmla="val 50000"/>
                <a:gd name="adj2" fmla="val 25000"/>
              </a:avLst>
            </a:prstGeom>
            <a:solidFill>
              <a:srgbClr val="FFCC00"/>
            </a:solidFill>
            <a:ln w="9525">
              <a:solidFill>
                <a:srgbClr val="FF9900"/>
              </a:solidFill>
              <a:miter lim="800000"/>
              <a:headEnd/>
              <a:tailEnd/>
            </a:ln>
          </p:spPr>
          <p:txBody>
            <a:bodyPr wrap="none" anchor="ctr"/>
            <a:lstStyle/>
            <a:p>
              <a:endParaRPr lang="en-GB"/>
            </a:p>
          </p:txBody>
        </p:sp>
        <p:sp>
          <p:nvSpPr>
            <p:cNvPr id="29721" name="Line 17"/>
            <p:cNvSpPr>
              <a:spLocks noChangeShapeType="1"/>
            </p:cNvSpPr>
            <p:nvPr/>
          </p:nvSpPr>
          <p:spPr bwMode="auto">
            <a:xfrm flipV="1">
              <a:off x="2411409" y="4507632"/>
              <a:ext cx="1439863" cy="360363"/>
            </a:xfrm>
            <a:prstGeom prst="line">
              <a:avLst/>
            </a:prstGeom>
            <a:noFill/>
            <a:ln w="57150">
              <a:solidFill>
                <a:srgbClr val="BFBFBF"/>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9722" name="Line 18"/>
            <p:cNvSpPr>
              <a:spLocks noChangeShapeType="1"/>
            </p:cNvSpPr>
            <p:nvPr/>
          </p:nvSpPr>
          <p:spPr bwMode="auto">
            <a:xfrm>
              <a:off x="3493346" y="3934545"/>
              <a:ext cx="431800" cy="144463"/>
            </a:xfrm>
            <a:prstGeom prst="line">
              <a:avLst/>
            </a:prstGeom>
            <a:noFill/>
            <a:ln w="57150">
              <a:solidFill>
                <a:srgbClr val="BFBFBF"/>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48" name="Line 19">
              <a:extLst>
                <a:ext uri="{FF2B5EF4-FFF2-40B4-BE49-F238E27FC236}">
                  <a16:creationId xmlns:a16="http://schemas.microsoft.com/office/drawing/2014/main" id="{7888928F-16AE-45DA-AFAE-EA91ED4CE2B2}"/>
                </a:ext>
              </a:extLst>
            </p:cNvPr>
            <p:cNvSpPr>
              <a:spLocks noChangeShapeType="1"/>
            </p:cNvSpPr>
            <p:nvPr/>
          </p:nvSpPr>
          <p:spPr bwMode="auto">
            <a:xfrm>
              <a:off x="4066184" y="3213820"/>
              <a:ext cx="217488" cy="50323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dirty="0"/>
            </a:p>
          </p:txBody>
        </p:sp>
        <p:sp>
          <p:nvSpPr>
            <p:cNvPr id="29708" name="Oval 20"/>
            <p:cNvSpPr>
              <a:spLocks noChangeArrowheads="1"/>
            </p:cNvSpPr>
            <p:nvPr/>
          </p:nvSpPr>
          <p:spPr bwMode="auto">
            <a:xfrm>
              <a:off x="6443663" y="1988270"/>
              <a:ext cx="2449512" cy="1152525"/>
            </a:xfrm>
            <a:prstGeom prst="ellipse">
              <a:avLst/>
            </a:prstGeom>
            <a:solidFill>
              <a:schemeClr val="bg1">
                <a:lumMod val="85000"/>
              </a:schemeClr>
            </a:solidFill>
            <a:ln w="9525">
              <a:solidFill>
                <a:schemeClr val="bg1">
                  <a:lumMod val="65000"/>
                </a:schemeClr>
              </a:solidFill>
              <a:round/>
              <a:headEnd/>
              <a:tailEnd/>
            </a:ln>
          </p:spPr>
          <p:txBody>
            <a:bodyPr wrap="none" anchor="ctr"/>
            <a:lstStyle/>
            <a:p>
              <a:pPr algn="ctr"/>
              <a:r>
                <a:rPr lang="en-GB" dirty="0">
                  <a:solidFill>
                    <a:schemeClr val="bg1">
                      <a:lumMod val="50000"/>
                    </a:schemeClr>
                  </a:solidFill>
                </a:rPr>
                <a:t>Genome Data</a:t>
              </a:r>
            </a:p>
          </p:txBody>
        </p:sp>
        <p:grpSp>
          <p:nvGrpSpPr>
            <p:cNvPr id="29709" name="Group 21"/>
            <p:cNvGrpSpPr>
              <a:grpSpLocks/>
            </p:cNvGrpSpPr>
            <p:nvPr/>
          </p:nvGrpSpPr>
          <p:grpSpPr bwMode="auto">
            <a:xfrm flipH="1">
              <a:off x="4719636" y="1916832"/>
              <a:ext cx="3381375" cy="3743325"/>
              <a:chOff x="680" y="1178"/>
              <a:chExt cx="2130" cy="2358"/>
            </a:xfrm>
          </p:grpSpPr>
          <p:sp>
            <p:nvSpPr>
              <p:cNvPr id="29718" name="Oval 22"/>
              <p:cNvSpPr>
                <a:spLocks noChangeAspect="1" noChangeArrowheads="1"/>
              </p:cNvSpPr>
              <p:nvPr/>
            </p:nvSpPr>
            <p:spPr bwMode="auto">
              <a:xfrm>
                <a:off x="1337" y="1949"/>
                <a:ext cx="816" cy="816"/>
              </a:xfrm>
              <a:prstGeom prst="ellipse">
                <a:avLst/>
              </a:prstGeom>
              <a:solidFill>
                <a:schemeClr val="bg1">
                  <a:lumMod val="85000"/>
                </a:schemeClr>
              </a:solidFill>
              <a:ln w="9525">
                <a:solidFill>
                  <a:schemeClr val="bg1">
                    <a:lumMod val="65000"/>
                  </a:schemeClr>
                </a:solidFill>
                <a:round/>
                <a:headEnd/>
                <a:tailEnd/>
              </a:ln>
            </p:spPr>
            <p:txBody>
              <a:bodyPr wrap="none" anchor="ctr"/>
              <a:lstStyle/>
              <a:p>
                <a:pPr algn="ctr"/>
                <a:r>
                  <a:rPr lang="en-GB" sz="1600" dirty="0">
                    <a:solidFill>
                      <a:schemeClr val="bg1">
                        <a:lumMod val="50000"/>
                      </a:schemeClr>
                    </a:solidFill>
                  </a:rPr>
                  <a:t>Number </a:t>
                </a:r>
              </a:p>
              <a:p>
                <a:pPr algn="ctr"/>
                <a:r>
                  <a:rPr lang="en-GB" sz="1600" dirty="0">
                    <a:solidFill>
                      <a:schemeClr val="bg1">
                        <a:lumMod val="50000"/>
                      </a:schemeClr>
                    </a:solidFill>
                  </a:rPr>
                  <a:t>Markers</a:t>
                </a:r>
              </a:p>
              <a:p>
                <a:pPr algn="ctr"/>
                <a:r>
                  <a:rPr lang="en-GB" sz="1600" dirty="0">
                    <a:solidFill>
                      <a:schemeClr val="bg1">
                        <a:lumMod val="50000"/>
                      </a:schemeClr>
                    </a:solidFill>
                  </a:rPr>
                  <a:t>(m)</a:t>
                </a:r>
              </a:p>
            </p:txBody>
          </p:sp>
          <p:sp>
            <p:nvSpPr>
              <p:cNvPr id="29719" name="Oval 23"/>
              <p:cNvSpPr>
                <a:spLocks noChangeAspect="1" noChangeArrowheads="1"/>
              </p:cNvSpPr>
              <p:nvPr/>
            </p:nvSpPr>
            <p:spPr bwMode="auto">
              <a:xfrm>
                <a:off x="1994" y="1178"/>
                <a:ext cx="816" cy="816"/>
              </a:xfrm>
              <a:prstGeom prst="ellipse">
                <a:avLst/>
              </a:prstGeom>
              <a:solidFill>
                <a:schemeClr val="bg1">
                  <a:lumMod val="85000"/>
                </a:schemeClr>
              </a:solidFill>
              <a:ln w="9525">
                <a:solidFill>
                  <a:schemeClr val="bg1">
                    <a:lumMod val="65000"/>
                  </a:schemeClr>
                </a:solidFill>
                <a:round/>
                <a:headEnd/>
                <a:tailEnd/>
              </a:ln>
            </p:spPr>
            <p:txBody>
              <a:bodyPr wrap="none" anchor="ctr"/>
              <a:lstStyle/>
              <a:p>
                <a:pPr algn="ctr"/>
                <a:r>
                  <a:rPr lang="en-GB" sz="1600" dirty="0">
                    <a:solidFill>
                      <a:schemeClr val="bg1">
                        <a:lumMod val="50000"/>
                      </a:schemeClr>
                    </a:solidFill>
                  </a:rPr>
                  <a:t>Population</a:t>
                </a:r>
              </a:p>
              <a:p>
                <a:pPr algn="ctr"/>
                <a:r>
                  <a:rPr lang="en-GB" sz="1600" dirty="0">
                    <a:solidFill>
                      <a:schemeClr val="bg1">
                        <a:lumMod val="50000"/>
                      </a:schemeClr>
                    </a:solidFill>
                  </a:rPr>
                  <a:t>Genome</a:t>
                </a:r>
              </a:p>
              <a:p>
                <a:pPr algn="ctr"/>
                <a:r>
                  <a:rPr lang="en-GB" sz="1600" dirty="0">
                    <a:solidFill>
                      <a:schemeClr val="bg1">
                        <a:lumMod val="50000"/>
                      </a:schemeClr>
                    </a:solidFill>
                  </a:rPr>
                  <a:t>Structure</a:t>
                </a:r>
              </a:p>
            </p:txBody>
          </p:sp>
          <p:sp>
            <p:nvSpPr>
              <p:cNvPr id="29720" name="Oval 24"/>
              <p:cNvSpPr>
                <a:spLocks noChangeAspect="1" noChangeArrowheads="1"/>
              </p:cNvSpPr>
              <p:nvPr/>
            </p:nvSpPr>
            <p:spPr bwMode="auto">
              <a:xfrm>
                <a:off x="680" y="2720"/>
                <a:ext cx="816" cy="816"/>
              </a:xfrm>
              <a:prstGeom prst="ellipse">
                <a:avLst/>
              </a:prstGeom>
              <a:solidFill>
                <a:schemeClr val="bg1">
                  <a:lumMod val="85000"/>
                </a:schemeClr>
              </a:solidFill>
              <a:ln w="9525">
                <a:solidFill>
                  <a:schemeClr val="bg1">
                    <a:lumMod val="65000"/>
                  </a:schemeClr>
                </a:solidFill>
                <a:round/>
                <a:headEnd/>
                <a:tailEnd/>
              </a:ln>
            </p:spPr>
            <p:txBody>
              <a:bodyPr wrap="none" anchor="ctr"/>
              <a:lstStyle/>
              <a:p>
                <a:pPr algn="ctr"/>
                <a:r>
                  <a:rPr lang="en-GB" sz="1600">
                    <a:solidFill>
                      <a:schemeClr val="bg1">
                        <a:lumMod val="50000"/>
                      </a:schemeClr>
                    </a:solidFill>
                  </a:rPr>
                  <a:t>Marker</a:t>
                </a:r>
              </a:p>
              <a:p>
                <a:pPr algn="ctr"/>
                <a:r>
                  <a:rPr lang="en-GB" sz="1600">
                    <a:solidFill>
                      <a:schemeClr val="bg1">
                        <a:lumMod val="50000"/>
                      </a:schemeClr>
                    </a:solidFill>
                  </a:rPr>
                  <a:t>Selection</a:t>
                </a:r>
              </a:p>
            </p:txBody>
          </p:sp>
        </p:grpSp>
        <p:sp>
          <p:nvSpPr>
            <p:cNvPr id="49" name="Line 26">
              <a:extLst>
                <a:ext uri="{FF2B5EF4-FFF2-40B4-BE49-F238E27FC236}">
                  <a16:creationId xmlns:a16="http://schemas.microsoft.com/office/drawing/2014/main" id="{B4984E96-F2AD-4696-B0C6-7C3FD20D7AA3}"/>
                </a:ext>
              </a:extLst>
            </p:cNvPr>
            <p:cNvSpPr>
              <a:spLocks noChangeShapeType="1"/>
            </p:cNvSpPr>
            <p:nvPr/>
          </p:nvSpPr>
          <p:spPr bwMode="auto">
            <a:xfrm flipH="1" flipV="1">
              <a:off x="5292723" y="4509120"/>
              <a:ext cx="1439863" cy="360363"/>
            </a:xfrm>
            <a:prstGeom prst="line">
              <a:avLst/>
            </a:prstGeom>
            <a:noFill/>
            <a:ln w="57150">
              <a:solidFill>
                <a:schemeClr val="bg1">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0" name="Line 27">
              <a:extLst>
                <a:ext uri="{FF2B5EF4-FFF2-40B4-BE49-F238E27FC236}">
                  <a16:creationId xmlns:a16="http://schemas.microsoft.com/office/drawing/2014/main" id="{CD98C715-B816-43B1-B1CC-670E242EA4B8}"/>
                </a:ext>
              </a:extLst>
            </p:cNvPr>
            <p:cNvSpPr>
              <a:spLocks noChangeShapeType="1"/>
            </p:cNvSpPr>
            <p:nvPr/>
          </p:nvSpPr>
          <p:spPr bwMode="auto">
            <a:xfrm flipH="1">
              <a:off x="5213346" y="3933056"/>
              <a:ext cx="431800" cy="144463"/>
            </a:xfrm>
            <a:prstGeom prst="line">
              <a:avLst/>
            </a:prstGeom>
            <a:noFill/>
            <a:ln w="57150">
              <a:solidFill>
                <a:schemeClr val="bg1">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1" name="Line 28">
              <a:extLst>
                <a:ext uri="{FF2B5EF4-FFF2-40B4-BE49-F238E27FC236}">
                  <a16:creationId xmlns:a16="http://schemas.microsoft.com/office/drawing/2014/main" id="{A802CCA0-F7BA-47BE-817D-E12EBD3108C3}"/>
                </a:ext>
              </a:extLst>
            </p:cNvPr>
            <p:cNvSpPr>
              <a:spLocks noChangeShapeType="1"/>
            </p:cNvSpPr>
            <p:nvPr/>
          </p:nvSpPr>
          <p:spPr bwMode="auto">
            <a:xfrm flipH="1">
              <a:off x="4860032" y="3213820"/>
              <a:ext cx="217488" cy="503238"/>
            </a:xfrm>
            <a:prstGeom prst="line">
              <a:avLst/>
            </a:prstGeom>
            <a:noFill/>
            <a:ln w="57150">
              <a:solidFill>
                <a:schemeClr val="bg1">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52" name="Freeform 32">
              <a:extLst>
                <a:ext uri="{FF2B5EF4-FFF2-40B4-BE49-F238E27FC236}">
                  <a16:creationId xmlns:a16="http://schemas.microsoft.com/office/drawing/2014/main" id="{5F2394DA-FB9D-4E18-B3AB-F9F0A26EA913}"/>
                </a:ext>
              </a:extLst>
            </p:cNvPr>
            <p:cNvSpPr>
              <a:spLocks/>
            </p:cNvSpPr>
            <p:nvPr/>
          </p:nvSpPr>
          <p:spPr bwMode="auto">
            <a:xfrm flipH="1">
              <a:off x="5911849" y="2060848"/>
              <a:ext cx="723900" cy="152400"/>
            </a:xfrm>
            <a:custGeom>
              <a:avLst/>
              <a:gdLst>
                <a:gd name="T0" fmla="*/ 0 w 418"/>
                <a:gd name="T1" fmla="*/ 88 h 96"/>
                <a:gd name="T2" fmla="*/ 229 w 418"/>
                <a:gd name="T3" fmla="*/ 1 h 96"/>
                <a:gd name="T4" fmla="*/ 418 w 418"/>
                <a:gd name="T5" fmla="*/ 96 h 96"/>
                <a:gd name="T6" fmla="*/ 0 60000 65536"/>
                <a:gd name="T7" fmla="*/ 0 60000 65536"/>
                <a:gd name="T8" fmla="*/ 0 60000 65536"/>
                <a:gd name="T9" fmla="*/ 0 w 418"/>
                <a:gd name="T10" fmla="*/ 0 h 96"/>
                <a:gd name="T11" fmla="*/ 418 w 418"/>
                <a:gd name="T12" fmla="*/ 96 h 96"/>
              </a:gdLst>
              <a:ahLst/>
              <a:cxnLst>
                <a:cxn ang="T6">
                  <a:pos x="T0" y="T1"/>
                </a:cxn>
                <a:cxn ang="T7">
                  <a:pos x="T2" y="T3"/>
                </a:cxn>
                <a:cxn ang="T8">
                  <a:pos x="T4" y="T5"/>
                </a:cxn>
              </a:cxnLst>
              <a:rect l="T9" t="T10" r="T11" b="T12"/>
              <a:pathLst>
                <a:path w="418" h="96">
                  <a:moveTo>
                    <a:pt x="0" y="88"/>
                  </a:moveTo>
                  <a:cubicBezTo>
                    <a:pt x="37" y="74"/>
                    <a:pt x="159" y="0"/>
                    <a:pt x="229" y="1"/>
                  </a:cubicBezTo>
                  <a:cubicBezTo>
                    <a:pt x="299" y="2"/>
                    <a:pt x="379" y="76"/>
                    <a:pt x="418" y="96"/>
                  </a:cubicBezTo>
                </a:path>
              </a:pathLst>
            </a:custGeom>
            <a:noFill/>
            <a:ln w="57150" cmpd="sng">
              <a:solidFill>
                <a:schemeClr val="bg1">
                  <a:lumMod val="75000"/>
                </a:schemeClr>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3" name="Freeform 30">
              <a:extLst>
                <a:ext uri="{FF2B5EF4-FFF2-40B4-BE49-F238E27FC236}">
                  <a16:creationId xmlns:a16="http://schemas.microsoft.com/office/drawing/2014/main" id="{FEF1DB21-7DAF-4FF7-8CB4-084D44104F7A}"/>
                </a:ext>
              </a:extLst>
            </p:cNvPr>
            <p:cNvSpPr>
              <a:spLocks/>
            </p:cNvSpPr>
            <p:nvPr/>
          </p:nvSpPr>
          <p:spPr bwMode="auto">
            <a:xfrm flipH="1">
              <a:off x="8009135" y="3135672"/>
              <a:ext cx="595313" cy="1517650"/>
            </a:xfrm>
            <a:custGeom>
              <a:avLst/>
              <a:gdLst>
                <a:gd name="T0" fmla="*/ 141 w 375"/>
                <a:gd name="T1" fmla="*/ 0 h 956"/>
                <a:gd name="T2" fmla="*/ 12 w 375"/>
                <a:gd name="T3" fmla="*/ 278 h 956"/>
                <a:gd name="T4" fmla="*/ 67 w 375"/>
                <a:gd name="T5" fmla="*/ 696 h 956"/>
                <a:gd name="T6" fmla="*/ 375 w 375"/>
                <a:gd name="T7" fmla="*/ 956 h 956"/>
                <a:gd name="T8" fmla="*/ 0 60000 65536"/>
                <a:gd name="T9" fmla="*/ 0 60000 65536"/>
                <a:gd name="T10" fmla="*/ 0 60000 65536"/>
                <a:gd name="T11" fmla="*/ 0 60000 65536"/>
                <a:gd name="T12" fmla="*/ 0 w 375"/>
                <a:gd name="T13" fmla="*/ 0 h 956"/>
                <a:gd name="T14" fmla="*/ 375 w 375"/>
                <a:gd name="T15" fmla="*/ 956 h 956"/>
              </a:gdLst>
              <a:ahLst/>
              <a:cxnLst>
                <a:cxn ang="T8">
                  <a:pos x="T0" y="T1"/>
                </a:cxn>
                <a:cxn ang="T9">
                  <a:pos x="T2" y="T3"/>
                </a:cxn>
                <a:cxn ang="T10">
                  <a:pos x="T4" y="T5"/>
                </a:cxn>
                <a:cxn ang="T11">
                  <a:pos x="T6" y="T7"/>
                </a:cxn>
              </a:cxnLst>
              <a:rect l="T12" t="T13" r="T14" b="T15"/>
              <a:pathLst>
                <a:path w="375" h="956">
                  <a:moveTo>
                    <a:pt x="141" y="0"/>
                  </a:moveTo>
                  <a:cubicBezTo>
                    <a:pt x="120" y="46"/>
                    <a:pt x="24" y="162"/>
                    <a:pt x="12" y="278"/>
                  </a:cubicBezTo>
                  <a:cubicBezTo>
                    <a:pt x="0" y="394"/>
                    <a:pt x="7" y="583"/>
                    <a:pt x="67" y="696"/>
                  </a:cubicBezTo>
                  <a:cubicBezTo>
                    <a:pt x="127" y="809"/>
                    <a:pt x="311" y="902"/>
                    <a:pt x="375" y="956"/>
                  </a:cubicBezTo>
                </a:path>
              </a:pathLst>
            </a:custGeom>
            <a:noFill/>
            <a:ln w="57150" cmpd="sng">
              <a:solidFill>
                <a:schemeClr val="bg1">
                  <a:lumMod val="75000"/>
                </a:schemeClr>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4" name="Freeform 31">
              <a:extLst>
                <a:ext uri="{FF2B5EF4-FFF2-40B4-BE49-F238E27FC236}">
                  <a16:creationId xmlns:a16="http://schemas.microsoft.com/office/drawing/2014/main" id="{B39712C7-9B38-4BF7-B7F3-6BBD550442BE}"/>
                </a:ext>
              </a:extLst>
            </p:cNvPr>
            <p:cNvSpPr>
              <a:spLocks/>
            </p:cNvSpPr>
            <p:nvPr/>
          </p:nvSpPr>
          <p:spPr bwMode="auto">
            <a:xfrm flipH="1">
              <a:off x="7092280" y="3207110"/>
              <a:ext cx="434975" cy="509588"/>
            </a:xfrm>
            <a:custGeom>
              <a:avLst/>
              <a:gdLst>
                <a:gd name="T0" fmla="*/ 0 w 274"/>
                <a:gd name="T1" fmla="*/ 0 h 321"/>
                <a:gd name="T2" fmla="*/ 48 w 274"/>
                <a:gd name="T3" fmla="*/ 268 h 321"/>
                <a:gd name="T4" fmla="*/ 274 w 274"/>
                <a:gd name="T5" fmla="*/ 319 h 321"/>
                <a:gd name="T6" fmla="*/ 0 60000 65536"/>
                <a:gd name="T7" fmla="*/ 0 60000 65536"/>
                <a:gd name="T8" fmla="*/ 0 60000 65536"/>
                <a:gd name="T9" fmla="*/ 0 w 274"/>
                <a:gd name="T10" fmla="*/ 0 h 321"/>
                <a:gd name="T11" fmla="*/ 274 w 274"/>
                <a:gd name="T12" fmla="*/ 321 h 321"/>
              </a:gdLst>
              <a:ahLst/>
              <a:cxnLst>
                <a:cxn ang="T6">
                  <a:pos x="T0" y="T1"/>
                </a:cxn>
                <a:cxn ang="T7">
                  <a:pos x="T2" y="T3"/>
                </a:cxn>
                <a:cxn ang="T8">
                  <a:pos x="T4" y="T5"/>
                </a:cxn>
              </a:cxnLst>
              <a:rect l="T9" t="T10" r="T11" b="T12"/>
              <a:pathLst>
                <a:path w="274" h="321">
                  <a:moveTo>
                    <a:pt x="0" y="0"/>
                  </a:moveTo>
                  <a:cubicBezTo>
                    <a:pt x="8" y="45"/>
                    <a:pt x="2" y="215"/>
                    <a:pt x="48" y="268"/>
                  </a:cubicBezTo>
                  <a:cubicBezTo>
                    <a:pt x="94" y="321"/>
                    <a:pt x="227" y="309"/>
                    <a:pt x="274" y="319"/>
                  </a:cubicBezTo>
                </a:path>
              </a:pathLst>
            </a:custGeom>
            <a:noFill/>
            <a:ln w="57150" cmpd="sng">
              <a:solidFill>
                <a:schemeClr val="bg1">
                  <a:lumMod val="75000"/>
                </a:schemeClr>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grpSp>
      <p:pic>
        <p:nvPicPr>
          <p:cNvPr id="29" name="Picture 60" descr="TzeenieWheenie_red_green_OK_not_OK_Icons_3.png">
            <a:extLst>
              <a:ext uri="{FF2B5EF4-FFF2-40B4-BE49-F238E27FC236}">
                <a16:creationId xmlns:a16="http://schemas.microsoft.com/office/drawing/2014/main" id="{6BFE5C67-4AB4-4336-BDB0-E71F246EEA9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9261" y="4226142"/>
            <a:ext cx="72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60" descr="TzeenieWheenie_red_green_OK_not_OK_Icons_3.png">
            <a:extLst>
              <a:ext uri="{FF2B5EF4-FFF2-40B4-BE49-F238E27FC236}">
                <a16:creationId xmlns:a16="http://schemas.microsoft.com/office/drawing/2014/main" id="{C814C692-C59E-4FFB-8026-F667B9365E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4337" y="3212233"/>
            <a:ext cx="72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60" descr="TzeenieWheenie_red_green_OK_not_OK_Icons_3.png">
            <a:extLst>
              <a:ext uri="{FF2B5EF4-FFF2-40B4-BE49-F238E27FC236}">
                <a16:creationId xmlns:a16="http://schemas.microsoft.com/office/drawing/2014/main" id="{D8EEE7B6-107F-4B9B-8444-38EB6BBD5D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33349" y="1862424"/>
            <a:ext cx="72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60" descr="TzeenieWheenie_red_green_OK_not_OK_Icons_3.png">
            <a:extLst>
              <a:ext uri="{FF2B5EF4-FFF2-40B4-BE49-F238E27FC236}">
                <a16:creationId xmlns:a16="http://schemas.microsoft.com/office/drawing/2014/main" id="{6D2E2DEB-C063-4E36-ADC1-C11829807B4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89723" y="3134384"/>
            <a:ext cx="72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60" descr="TzeenieWheenie_red_green_OK_not_OK_Icons_3.png">
            <a:extLst>
              <a:ext uri="{FF2B5EF4-FFF2-40B4-BE49-F238E27FC236}">
                <a16:creationId xmlns:a16="http://schemas.microsoft.com/office/drawing/2014/main" id="{F27A2FC5-30C6-4408-8808-DE1DBD0973A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2370" y="4214504"/>
            <a:ext cx="72000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42806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Bayesian Methods</a:t>
            </a:r>
            <a:endParaRPr lang="en-GB" dirty="0"/>
          </a:p>
        </p:txBody>
      </p:sp>
      <p:sp>
        <p:nvSpPr>
          <p:cNvPr id="3" name="Content Placeholder 2"/>
          <p:cNvSpPr>
            <a:spLocks noGrp="1"/>
          </p:cNvSpPr>
          <p:nvPr>
            <p:ph idx="1"/>
          </p:nvPr>
        </p:nvSpPr>
        <p:spPr/>
        <p:txBody>
          <a:bodyPr/>
          <a:lstStyle/>
          <a:p>
            <a:r>
              <a:rPr lang="en-GB" dirty="0"/>
              <a:t>Bayesian methods can put prior on numbers of contributing loci</a:t>
            </a:r>
          </a:p>
          <a:p>
            <a:pPr lvl="1"/>
            <a:r>
              <a:rPr lang="en-GB" dirty="0"/>
              <a:t>e.g. Bayes B</a:t>
            </a:r>
          </a:p>
          <a:p>
            <a:r>
              <a:rPr lang="en-GB" dirty="0"/>
              <a:t>When better than GBLUP?</a:t>
            </a:r>
          </a:p>
          <a:p>
            <a:pPr lvl="1"/>
            <a:r>
              <a:rPr lang="en-GB" dirty="0"/>
              <a:t>GBLUP treats as if </a:t>
            </a:r>
            <a:r>
              <a:rPr lang="en-GB" i="1" dirty="0"/>
              <a:t>Me</a:t>
            </a:r>
            <a:r>
              <a:rPr lang="en-GB" dirty="0"/>
              <a:t> ‘loci’</a:t>
            </a:r>
          </a:p>
          <a:p>
            <a:pPr lvl="2"/>
            <a:r>
              <a:rPr lang="en-GB" dirty="0"/>
              <a:t>‘number of beans in bean bag’</a:t>
            </a:r>
          </a:p>
          <a:p>
            <a:pPr lvl="1"/>
            <a:r>
              <a:rPr lang="en-GB" dirty="0"/>
              <a:t>prior useful if  # QTL less than </a:t>
            </a:r>
            <a:r>
              <a:rPr lang="en-GB" i="1" dirty="0"/>
              <a:t>Me</a:t>
            </a:r>
            <a:endParaRPr lang="en-GB" i="1" baseline="-25000" dirty="0"/>
          </a:p>
          <a:p>
            <a:pPr lvl="1"/>
            <a:r>
              <a:rPr lang="en-GB" dirty="0"/>
              <a:t>best evaluation method depends on population genome</a:t>
            </a:r>
          </a:p>
          <a:p>
            <a:pPr lvl="2"/>
            <a:r>
              <a:rPr lang="en-GB" dirty="0"/>
              <a:t>i.e. ‘number of beans in population’s bean bag’</a:t>
            </a:r>
          </a:p>
          <a:p>
            <a:pPr lvl="2"/>
            <a:endParaRPr lang="en-GB" dirty="0"/>
          </a:p>
          <a:p>
            <a:pPr marL="457200" lvl="1" indent="0">
              <a:buNone/>
            </a:pPr>
            <a:endParaRPr lang="en-GB" dirty="0"/>
          </a:p>
          <a:p>
            <a:pPr lvl="1"/>
            <a:endParaRPr lang="en-GB" dirty="0"/>
          </a:p>
          <a:p>
            <a:endParaRPr lang="en-GB" dirty="0"/>
          </a:p>
          <a:p>
            <a:endParaRPr lang="en-GB" dirty="0"/>
          </a:p>
        </p:txBody>
      </p:sp>
      <p:sp>
        <p:nvSpPr>
          <p:cNvPr id="4" name="Date Placeholder 3"/>
          <p:cNvSpPr>
            <a:spLocks noGrp="1"/>
          </p:cNvSpPr>
          <p:nvPr>
            <p:ph type="dt" sz="half" idx="10"/>
          </p:nvPr>
        </p:nvSpPr>
        <p:spPr/>
        <p:txBody>
          <a:bodyPr/>
          <a:lstStyle/>
          <a:p>
            <a:fld id="{F40735AC-8509-4286-B41F-026BC07FE1F9}" type="datetime4">
              <a:rPr lang="en-GB" smtClean="0"/>
              <a:pPr/>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41817986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Accuracy as f(#</a:t>
            </a:r>
            <a:r>
              <a:rPr lang="en-GB" i="1" dirty="0"/>
              <a:t>QTN</a:t>
            </a:r>
            <a:r>
              <a:rPr lang="en-GB" dirty="0"/>
              <a:t>)</a:t>
            </a:r>
          </a:p>
        </p:txBody>
      </p:sp>
      <p:sp>
        <p:nvSpPr>
          <p:cNvPr id="3" name="Date Placeholder 2"/>
          <p:cNvSpPr>
            <a:spLocks noGrp="1"/>
          </p:cNvSpPr>
          <p:nvPr>
            <p:ph type="dt" sz="half" idx="10"/>
          </p:nvPr>
        </p:nvSpPr>
        <p:spPr/>
        <p:txBody>
          <a:bodyPr/>
          <a:lstStyle/>
          <a:p>
            <a:fld id="{2C9AE3D7-F25E-4CD4-A433-5D0EB803E1A3}" type="datetime4">
              <a:rPr lang="en-GB" smtClean="0"/>
              <a:pPr/>
              <a:t>12 February 2025</a:t>
            </a:fld>
            <a:endParaRPr lang="en-GB"/>
          </a:p>
        </p:txBody>
      </p:sp>
      <p:sp>
        <p:nvSpPr>
          <p:cNvPr id="4" name="Footer Placeholder 3"/>
          <p:cNvSpPr>
            <a:spLocks noGrp="1"/>
          </p:cNvSpPr>
          <p:nvPr>
            <p:ph type="ftr" sz="quarter" idx="11"/>
          </p:nvPr>
        </p:nvSpPr>
        <p:spPr/>
        <p:txBody>
          <a:bodyPr/>
          <a:lstStyle/>
          <a:p>
            <a:r>
              <a:rPr lang="en-GB" dirty="0"/>
              <a:t>Lecture 10</a:t>
            </a:r>
          </a:p>
        </p:txBody>
      </p:sp>
      <p:grpSp>
        <p:nvGrpSpPr>
          <p:cNvPr id="10" name="Group 9"/>
          <p:cNvGrpSpPr/>
          <p:nvPr/>
        </p:nvGrpSpPr>
        <p:grpSpPr>
          <a:xfrm>
            <a:off x="2438400" y="1556792"/>
            <a:ext cx="7315200" cy="3851910"/>
            <a:chOff x="914400" y="1793214"/>
            <a:chExt cx="7315200" cy="385191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793214"/>
              <a:ext cx="7315200" cy="3851910"/>
            </a:xfrm>
            <a:prstGeom prst="rect">
              <a:avLst/>
            </a:prstGeom>
            <a:ln>
              <a:solidFill>
                <a:schemeClr val="bg1">
                  <a:lumMod val="75000"/>
                </a:schemeClr>
              </a:solidFill>
            </a:ln>
          </p:spPr>
        </p:pic>
        <p:pic>
          <p:nvPicPr>
            <p:cNvPr id="6" name="Picture 5"/>
            <p:cNvPicPr>
              <a:picLocks noChangeAspect="1"/>
            </p:cNvPicPr>
            <p:nvPr/>
          </p:nvPicPr>
          <p:blipFill rotWithShape="1">
            <a:blip r:embed="rId3"/>
            <a:srcRect t="-20074" b="20074"/>
            <a:stretch/>
          </p:blipFill>
          <p:spPr>
            <a:xfrm>
              <a:off x="3995936" y="2041200"/>
              <a:ext cx="1879200" cy="223401"/>
            </a:xfrm>
            <a:prstGeom prst="rect">
              <a:avLst/>
            </a:prstGeom>
          </p:spPr>
        </p:pic>
        <p:pic>
          <p:nvPicPr>
            <p:cNvPr id="7" name="Picture 6"/>
            <p:cNvPicPr>
              <a:picLocks noChangeAspect="1"/>
            </p:cNvPicPr>
            <p:nvPr/>
          </p:nvPicPr>
          <p:blipFill>
            <a:blip r:embed="rId4"/>
            <a:stretch>
              <a:fillRect/>
            </a:stretch>
          </p:blipFill>
          <p:spPr>
            <a:xfrm>
              <a:off x="2125828" y="2091453"/>
              <a:ext cx="1879200" cy="198285"/>
            </a:xfrm>
            <a:prstGeom prst="rect">
              <a:avLst/>
            </a:prstGeom>
          </p:spPr>
        </p:pic>
        <p:pic>
          <p:nvPicPr>
            <p:cNvPr id="8" name="Picture 7"/>
            <p:cNvPicPr>
              <a:picLocks noChangeAspect="1"/>
            </p:cNvPicPr>
            <p:nvPr/>
          </p:nvPicPr>
          <p:blipFill>
            <a:blip r:embed="rId5"/>
            <a:stretch>
              <a:fillRect/>
            </a:stretch>
          </p:blipFill>
          <p:spPr>
            <a:xfrm>
              <a:off x="3995936" y="1796400"/>
              <a:ext cx="1879092" cy="219456"/>
            </a:xfrm>
            <a:prstGeom prst="rect">
              <a:avLst/>
            </a:prstGeom>
          </p:spPr>
        </p:pic>
        <p:pic>
          <p:nvPicPr>
            <p:cNvPr id="9" name="Picture 8"/>
            <p:cNvPicPr>
              <a:picLocks noChangeAspect="1"/>
            </p:cNvPicPr>
            <p:nvPr/>
          </p:nvPicPr>
          <p:blipFill rotWithShape="1">
            <a:blip r:embed="rId6"/>
            <a:srcRect t="18051" b="16158"/>
            <a:stretch/>
          </p:blipFill>
          <p:spPr>
            <a:xfrm>
              <a:off x="5922000" y="1800251"/>
              <a:ext cx="1879200" cy="180000"/>
            </a:xfrm>
            <a:prstGeom prst="rect">
              <a:avLst/>
            </a:prstGeom>
          </p:spPr>
        </p:pic>
      </p:grpSp>
      <p:sp>
        <p:nvSpPr>
          <p:cNvPr id="11" name="TextBox 10"/>
          <p:cNvSpPr txBox="1"/>
          <p:nvPr/>
        </p:nvSpPr>
        <p:spPr>
          <a:xfrm>
            <a:off x="4439816" y="5517233"/>
            <a:ext cx="3528392" cy="646331"/>
          </a:xfrm>
          <a:prstGeom prst="rect">
            <a:avLst/>
          </a:prstGeom>
          <a:noFill/>
        </p:spPr>
        <p:txBody>
          <a:bodyPr wrap="square" rtlCol="0">
            <a:spAutoFit/>
          </a:bodyPr>
          <a:lstStyle/>
          <a:p>
            <a:r>
              <a:rPr lang="en-GB" dirty="0"/>
              <a:t>QTNs in data, ‘sequence-ready’; </a:t>
            </a:r>
            <a:r>
              <a:rPr lang="en-GB" i="1" dirty="0"/>
              <a:t>N</a:t>
            </a:r>
            <a:r>
              <a:rPr lang="en-GB" i="1" baseline="-25000" dirty="0"/>
              <a:t>e</a:t>
            </a:r>
            <a:r>
              <a:rPr lang="en-GB" dirty="0"/>
              <a:t> =1000,</a:t>
            </a:r>
            <a:r>
              <a:rPr lang="en-GB" i="1" dirty="0"/>
              <a:t> L</a:t>
            </a:r>
            <a:r>
              <a:rPr lang="en-GB" dirty="0"/>
              <a:t>=10M, </a:t>
            </a:r>
            <a:r>
              <a:rPr lang="en-GB" i="1" dirty="0"/>
              <a:t>N</a:t>
            </a:r>
            <a:r>
              <a:rPr lang="en-GB" dirty="0"/>
              <a:t>=1000</a:t>
            </a:r>
          </a:p>
        </p:txBody>
      </p:sp>
      <p:sp>
        <p:nvSpPr>
          <p:cNvPr id="12" name="TextBox 11"/>
          <p:cNvSpPr txBox="1"/>
          <p:nvPr/>
        </p:nvSpPr>
        <p:spPr>
          <a:xfrm>
            <a:off x="1991544" y="1196975"/>
            <a:ext cx="2376264" cy="369332"/>
          </a:xfrm>
          <a:prstGeom prst="rect">
            <a:avLst/>
          </a:prstGeom>
          <a:noFill/>
        </p:spPr>
        <p:txBody>
          <a:bodyPr wrap="square" rtlCol="0">
            <a:spAutoFit/>
          </a:bodyPr>
          <a:lstStyle/>
          <a:p>
            <a:r>
              <a:rPr lang="en-GB" dirty="0"/>
              <a:t>Correlation with TBV</a:t>
            </a:r>
          </a:p>
        </p:txBody>
      </p:sp>
      <p:sp>
        <p:nvSpPr>
          <p:cNvPr id="13" name="TextBox 12"/>
          <p:cNvSpPr txBox="1"/>
          <p:nvPr/>
        </p:nvSpPr>
        <p:spPr>
          <a:xfrm>
            <a:off x="1619850" y="5785520"/>
            <a:ext cx="2494950" cy="307777"/>
          </a:xfrm>
          <a:prstGeom prst="rect">
            <a:avLst/>
          </a:prstGeom>
          <a:noFill/>
        </p:spPr>
        <p:txBody>
          <a:bodyPr wrap="square" rtlCol="0">
            <a:spAutoFit/>
          </a:bodyPr>
          <a:lstStyle/>
          <a:p>
            <a:r>
              <a:rPr lang="en-GB" sz="1400" dirty="0"/>
              <a:t>From Daetwyler et al. 2010</a:t>
            </a:r>
          </a:p>
        </p:txBody>
      </p:sp>
    </p:spTree>
    <p:extLst>
      <p:ext uri="{BB962C8B-B14F-4D97-AF65-F5344CB8AC3E}">
        <p14:creationId xmlns:p14="http://schemas.microsoft.com/office/powerpoint/2010/main" val="31622102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Bayesian Alphabet</a:t>
            </a:r>
          </a:p>
        </p:txBody>
      </p:sp>
      <p:sp>
        <p:nvSpPr>
          <p:cNvPr id="3" name="Content Placeholder 2"/>
          <p:cNvSpPr>
            <a:spLocks noGrp="1"/>
          </p:cNvSpPr>
          <p:nvPr>
            <p:ph idx="1"/>
          </p:nvPr>
        </p:nvSpPr>
        <p:spPr/>
        <p:txBody>
          <a:bodyPr/>
          <a:lstStyle/>
          <a:p>
            <a:r>
              <a:rPr lang="en-GB" dirty="0"/>
              <a:t>Early simulations always had few QTN </a:t>
            </a:r>
            <a:r>
              <a:rPr lang="en-GB" dirty="0" err="1"/>
              <a:t>cf</a:t>
            </a:r>
            <a:r>
              <a:rPr lang="en-GB" dirty="0"/>
              <a:t> </a:t>
            </a:r>
            <a:r>
              <a:rPr lang="en-GB" i="1" dirty="0"/>
              <a:t>M</a:t>
            </a:r>
            <a:r>
              <a:rPr lang="en-GB" i="1" baseline="-25000" dirty="0"/>
              <a:t>e</a:t>
            </a:r>
          </a:p>
          <a:p>
            <a:r>
              <a:rPr lang="en-GB" dirty="0"/>
              <a:t>Always found </a:t>
            </a:r>
            <a:r>
              <a:rPr lang="en-GB" dirty="0" err="1"/>
              <a:t>BayesB</a:t>
            </a:r>
            <a:r>
              <a:rPr lang="en-GB" dirty="0"/>
              <a:t> better!</a:t>
            </a:r>
          </a:p>
          <a:p>
            <a:r>
              <a:rPr lang="en-GB" dirty="0"/>
              <a:t>Practical cattle data had no benefit of </a:t>
            </a:r>
            <a:r>
              <a:rPr lang="en-GB" dirty="0" err="1"/>
              <a:t>BayesB</a:t>
            </a:r>
            <a:endParaRPr lang="en-GB" dirty="0"/>
          </a:p>
          <a:p>
            <a:r>
              <a:rPr lang="en-GB" dirty="0"/>
              <a:t>Relative merit of method depends on species</a:t>
            </a:r>
          </a:p>
          <a:p>
            <a:pPr lvl="1"/>
            <a:r>
              <a:rPr lang="en-GB" dirty="0"/>
              <a:t>dairy cattle, low </a:t>
            </a:r>
            <a:r>
              <a:rPr lang="en-GB" i="1" dirty="0"/>
              <a:t>N</a:t>
            </a:r>
            <a:r>
              <a:rPr lang="en-GB" i="1" baseline="-25000" dirty="0"/>
              <a:t>e</a:t>
            </a:r>
            <a:r>
              <a:rPr lang="en-GB" dirty="0"/>
              <a:t>, GBLUP as good</a:t>
            </a:r>
          </a:p>
          <a:p>
            <a:pPr lvl="1"/>
            <a:r>
              <a:rPr lang="en-GB" dirty="0"/>
              <a:t>medical, high </a:t>
            </a:r>
            <a:r>
              <a:rPr lang="en-GB" i="1" dirty="0"/>
              <a:t>N</a:t>
            </a:r>
            <a:r>
              <a:rPr lang="en-GB" i="1" baseline="-25000" dirty="0"/>
              <a:t>e</a:t>
            </a:r>
            <a:r>
              <a:rPr lang="en-GB" dirty="0"/>
              <a:t>, </a:t>
            </a:r>
            <a:r>
              <a:rPr lang="en-GB" dirty="0" err="1"/>
              <a:t>BayesB</a:t>
            </a:r>
            <a:r>
              <a:rPr lang="en-GB" dirty="0"/>
              <a:t>-type more likely a benefit</a:t>
            </a:r>
          </a:p>
          <a:p>
            <a:pPr lvl="1"/>
            <a:r>
              <a:rPr lang="en-GB" dirty="0"/>
              <a:t>however need to compute!</a:t>
            </a:r>
          </a:p>
          <a:p>
            <a:r>
              <a:rPr lang="en-GB" dirty="0"/>
              <a:t>Changing distributions has only small effect</a:t>
            </a:r>
          </a:p>
          <a:p>
            <a:pPr lvl="1"/>
            <a:endParaRPr lang="en-GB" dirty="0"/>
          </a:p>
          <a:p>
            <a:pPr marL="457200" lvl="1" indent="0">
              <a:buNone/>
            </a:pPr>
            <a:endParaRPr lang="en-GB" dirty="0"/>
          </a:p>
          <a:p>
            <a:pPr lvl="1"/>
            <a:endParaRPr lang="en-GB" dirty="0"/>
          </a:p>
          <a:p>
            <a:endParaRPr lang="en-GB" dirty="0"/>
          </a:p>
          <a:p>
            <a:endParaRPr lang="en-GB" dirty="0"/>
          </a:p>
        </p:txBody>
      </p:sp>
      <p:sp>
        <p:nvSpPr>
          <p:cNvPr id="4" name="Date Placeholder 3"/>
          <p:cNvSpPr>
            <a:spLocks noGrp="1"/>
          </p:cNvSpPr>
          <p:nvPr>
            <p:ph type="dt" sz="half" idx="10"/>
          </p:nvPr>
        </p:nvSpPr>
        <p:spPr/>
        <p:txBody>
          <a:bodyPr/>
          <a:lstStyle/>
          <a:p>
            <a:fld id="{F40735AC-8509-4286-B41F-026BC07FE1F9}" type="datetime4">
              <a:rPr lang="en-GB" smtClean="0"/>
              <a:pPr/>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42915066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F46433-1264-4555-8BE1-8EC0184C33F6}" type="datetime4">
              <a:rPr lang="en-GB" smtClean="0"/>
              <a:t>12 February 2025</a:t>
            </a:fld>
            <a:endParaRPr lang="en-GB"/>
          </a:p>
        </p:txBody>
      </p:sp>
      <p:sp>
        <p:nvSpPr>
          <p:cNvPr id="3" name="Footer Placeholder 2"/>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259169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D07BF56-F99F-4BBD-9878-7E7AD3B26356}" type="datetime4">
              <a:rPr lang="en-GB"/>
              <a:pPr/>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
        <p:nvSpPr>
          <p:cNvPr id="388098" name="Rectangle 2"/>
          <p:cNvSpPr>
            <a:spLocks noGrp="1" noChangeArrowheads="1"/>
          </p:cNvSpPr>
          <p:nvPr>
            <p:ph type="ctrTitle"/>
          </p:nvPr>
        </p:nvSpPr>
        <p:spPr>
          <a:xfrm>
            <a:off x="2028664" y="2286000"/>
            <a:ext cx="8134672" cy="1143000"/>
          </a:xfrm>
        </p:spPr>
        <p:txBody>
          <a:bodyPr/>
          <a:lstStyle/>
          <a:p>
            <a:r>
              <a:rPr lang="en-GB" dirty="0"/>
              <a:t>… Lecture 10 …</a:t>
            </a:r>
            <a:br>
              <a:rPr lang="en-GB" dirty="0"/>
            </a:br>
            <a:r>
              <a:rPr lang="en-GB" dirty="0"/>
              <a:t>Mainly MCMC Models</a:t>
            </a:r>
          </a:p>
        </p:txBody>
      </p:sp>
      <p:sp>
        <p:nvSpPr>
          <p:cNvPr id="388099" name="Rectangle 3"/>
          <p:cNvSpPr>
            <a:spLocks noGrp="1" noChangeArrowheads="1"/>
          </p:cNvSpPr>
          <p:nvPr>
            <p:ph type="subTitle" idx="1"/>
          </p:nvPr>
        </p:nvSpPr>
        <p:spPr>
          <a:ln/>
        </p:spPr>
        <p:txBody>
          <a:bodyPr/>
          <a:lstStyle/>
          <a:p>
            <a:r>
              <a:rPr lang="en-US" dirty="0"/>
              <a:t>Part 5: </a:t>
            </a:r>
          </a:p>
          <a:p>
            <a:r>
              <a:rPr lang="en-US" dirty="0"/>
              <a:t>QG Revisited &amp; the Impact of Genomics</a:t>
            </a:r>
          </a:p>
        </p:txBody>
      </p:sp>
    </p:spTree>
    <p:extLst>
      <p:ext uri="{BB962C8B-B14F-4D97-AF65-F5344CB8AC3E}">
        <p14:creationId xmlns:p14="http://schemas.microsoft.com/office/powerpoint/2010/main" val="27796610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Breeding Limitations</a:t>
            </a:r>
          </a:p>
        </p:txBody>
      </p:sp>
      <p:sp>
        <p:nvSpPr>
          <p:cNvPr id="3" name="Content Placeholder 2"/>
          <p:cNvSpPr>
            <a:spLocks noGrp="1"/>
          </p:cNvSpPr>
          <p:nvPr>
            <p:ph idx="1"/>
          </p:nvPr>
        </p:nvSpPr>
        <p:spPr/>
        <p:txBody>
          <a:bodyPr/>
          <a:lstStyle/>
          <a:p>
            <a:r>
              <a:rPr lang="en-GB" dirty="0"/>
              <a:t>Sex-limited</a:t>
            </a:r>
          </a:p>
          <a:p>
            <a:r>
              <a:rPr lang="en-GB" dirty="0"/>
              <a:t>Age-limited</a:t>
            </a:r>
          </a:p>
          <a:p>
            <a:r>
              <a:rPr lang="en-GB" dirty="0"/>
              <a:t>Destructive traits</a:t>
            </a:r>
          </a:p>
        </p:txBody>
      </p:sp>
      <p:sp>
        <p:nvSpPr>
          <p:cNvPr id="4" name="Date Placeholder 3"/>
          <p:cNvSpPr>
            <a:spLocks noGrp="1"/>
          </p:cNvSpPr>
          <p:nvPr>
            <p:ph type="dt" sz="half" idx="10"/>
          </p:nvPr>
        </p:nvSpPr>
        <p:spPr/>
        <p:txBody>
          <a:bodyPr/>
          <a:lstStyle/>
          <a:p>
            <a:fld id="{F40735AC-8509-4286-B41F-026BC07FE1F9}" type="datetime4">
              <a:rPr lang="en-GB" smtClean="0"/>
              <a:pPr/>
              <a:t>12 February 2025</a:t>
            </a:fld>
            <a:endParaRPr lang="en-GB"/>
          </a:p>
        </p:txBody>
      </p:sp>
      <p:sp>
        <p:nvSpPr>
          <p:cNvPr id="5" name="Footer Placeholder 4"/>
          <p:cNvSpPr>
            <a:spLocks noGrp="1"/>
          </p:cNvSpPr>
          <p:nvPr>
            <p:ph type="ftr" sz="quarter" idx="11"/>
          </p:nvPr>
        </p:nvSpPr>
        <p:spPr/>
        <p:txBody>
          <a:bodyPr/>
          <a:lstStyle/>
          <a:p>
            <a:r>
              <a:rPr lang="en-GB" dirty="0"/>
              <a:t>Lecture 10</a:t>
            </a:r>
          </a:p>
        </p:txBody>
      </p:sp>
    </p:spTree>
    <p:extLst>
      <p:ext uri="{BB962C8B-B14F-4D97-AF65-F5344CB8AC3E}">
        <p14:creationId xmlns:p14="http://schemas.microsoft.com/office/powerpoint/2010/main" val="28874812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GB" altLang="en-US" dirty="0"/>
              <a:t>Salmon Breeding: Example</a:t>
            </a:r>
          </a:p>
        </p:txBody>
      </p:sp>
      <p:sp>
        <p:nvSpPr>
          <p:cNvPr id="35843" name="Rectangle 3"/>
          <p:cNvSpPr>
            <a:spLocks noGrp="1" noChangeArrowheads="1"/>
          </p:cNvSpPr>
          <p:nvPr>
            <p:ph type="body" idx="1"/>
          </p:nvPr>
        </p:nvSpPr>
        <p:spPr/>
        <p:txBody>
          <a:bodyPr/>
          <a:lstStyle/>
          <a:p>
            <a:pPr eaLnBrk="1" hangingPunct="1"/>
            <a:r>
              <a:rPr lang="en-GB" altLang="en-US" dirty="0"/>
              <a:t>Important objective is disease resistance</a:t>
            </a:r>
          </a:p>
          <a:p>
            <a:pPr eaLnBrk="1" hangingPunct="1"/>
            <a:r>
              <a:rPr lang="en-GB" altLang="en-US" dirty="0"/>
              <a:t>Candidates must be free of disease</a:t>
            </a:r>
          </a:p>
          <a:p>
            <a:pPr eaLnBrk="1" hangingPunct="1"/>
            <a:r>
              <a:rPr lang="en-GB" altLang="en-US" dirty="0"/>
              <a:t>Large full-sib families, each generation</a:t>
            </a:r>
          </a:p>
          <a:p>
            <a:pPr lvl="1" eaLnBrk="1" hangingPunct="1"/>
            <a:r>
              <a:rPr lang="en-GB" altLang="en-US" dirty="0"/>
              <a:t>split into two populations </a:t>
            </a:r>
          </a:p>
          <a:p>
            <a:pPr lvl="2"/>
            <a:r>
              <a:rPr lang="en-GB" altLang="en-US" dirty="0"/>
              <a:t>one for breeding</a:t>
            </a:r>
          </a:p>
          <a:p>
            <a:pPr lvl="2"/>
            <a:r>
              <a:rPr lang="en-GB" altLang="en-US" dirty="0"/>
              <a:t>one for exposing to pathogens &amp; recording mortality</a:t>
            </a:r>
          </a:p>
          <a:p>
            <a:pPr marL="0" indent="0">
              <a:buNone/>
            </a:pPr>
            <a:r>
              <a:rPr lang="en-GB" altLang="en-US" dirty="0"/>
              <a:t> </a:t>
            </a:r>
          </a:p>
        </p:txBody>
      </p:sp>
    </p:spTree>
    <p:extLst>
      <p:ext uri="{BB962C8B-B14F-4D97-AF65-F5344CB8AC3E}">
        <p14:creationId xmlns:p14="http://schemas.microsoft.com/office/powerpoint/2010/main" val="16944145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GB" altLang="en-US" dirty="0"/>
              <a:t>Salmon Breeding: Example</a:t>
            </a:r>
          </a:p>
        </p:txBody>
      </p:sp>
      <p:sp>
        <p:nvSpPr>
          <p:cNvPr id="35843" name="Rectangle 3"/>
          <p:cNvSpPr>
            <a:spLocks noGrp="1" noChangeArrowheads="1"/>
          </p:cNvSpPr>
          <p:nvPr>
            <p:ph type="body" idx="1"/>
          </p:nvPr>
        </p:nvSpPr>
        <p:spPr/>
        <p:txBody>
          <a:bodyPr/>
          <a:lstStyle/>
          <a:p>
            <a:pPr eaLnBrk="1" hangingPunct="1"/>
            <a:r>
              <a:rPr lang="en-GB" altLang="en-US" dirty="0"/>
              <a:t>Selection on </a:t>
            </a:r>
            <a:r>
              <a:rPr lang="en-GB" altLang="en-US" u="sng" dirty="0"/>
              <a:t>own</a:t>
            </a:r>
            <a:r>
              <a:rPr lang="en-GB" altLang="en-US" dirty="0"/>
              <a:t> growth and </a:t>
            </a:r>
            <a:r>
              <a:rPr lang="en-GB" altLang="en-US" u="sng" dirty="0"/>
              <a:t>family</a:t>
            </a:r>
            <a:r>
              <a:rPr lang="en-GB" altLang="en-US" dirty="0"/>
              <a:t> mean disease resistance</a:t>
            </a:r>
          </a:p>
          <a:p>
            <a:pPr lvl="1"/>
            <a:r>
              <a:rPr lang="en-GB" altLang="en-US" dirty="0"/>
              <a:t>individuals are ‘only as good as their family’</a:t>
            </a:r>
          </a:p>
          <a:p>
            <a:pPr lvl="1" eaLnBrk="1" hangingPunct="1"/>
            <a:r>
              <a:rPr lang="en-GB" altLang="en-US" dirty="0"/>
              <a:t>cannot distinguish full-sibs on disease resistance</a:t>
            </a:r>
          </a:p>
          <a:p>
            <a:pPr lvl="1" eaLnBrk="1" hangingPunct="1"/>
            <a:r>
              <a:rPr lang="en-GB" altLang="en-US" dirty="0"/>
              <a:t>promotes inbreeding </a:t>
            </a:r>
          </a:p>
        </p:txBody>
      </p:sp>
      <p:sp>
        <p:nvSpPr>
          <p:cNvPr id="38" name="Oval 37"/>
          <p:cNvSpPr/>
          <p:nvPr/>
        </p:nvSpPr>
        <p:spPr>
          <a:xfrm>
            <a:off x="7032104" y="4570906"/>
            <a:ext cx="2592288" cy="1152128"/>
          </a:xfrm>
          <a:prstGeom prst="ellips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p:cNvSpPr/>
          <p:nvPr/>
        </p:nvSpPr>
        <p:spPr>
          <a:xfrm>
            <a:off x="6456040" y="3795098"/>
            <a:ext cx="360000" cy="36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p:cNvSpPr/>
          <p:nvPr/>
        </p:nvSpPr>
        <p:spPr>
          <a:xfrm>
            <a:off x="7320176" y="3795098"/>
            <a:ext cx="360000" cy="36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p:cNvSpPr/>
          <p:nvPr/>
        </p:nvSpPr>
        <p:spPr>
          <a:xfrm>
            <a:off x="7707489" y="4786930"/>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p:cNvSpPr/>
          <p:nvPr/>
        </p:nvSpPr>
        <p:spPr>
          <a:xfrm>
            <a:off x="8571625" y="4786930"/>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p:cNvSpPr/>
          <p:nvPr/>
        </p:nvSpPr>
        <p:spPr>
          <a:xfrm>
            <a:off x="7859889" y="5363034"/>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p:cNvSpPr/>
          <p:nvPr/>
        </p:nvSpPr>
        <p:spPr>
          <a:xfrm>
            <a:off x="8724025" y="5363034"/>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p:cNvSpPr/>
          <p:nvPr/>
        </p:nvSpPr>
        <p:spPr>
          <a:xfrm>
            <a:off x="8235410" y="5129207"/>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p:cNvSpPr/>
          <p:nvPr/>
        </p:nvSpPr>
        <p:spPr>
          <a:xfrm>
            <a:off x="9099546" y="5129207"/>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3838163" y="4570906"/>
            <a:ext cx="2592288" cy="1152128"/>
          </a:xfrm>
          <a:prstGeom prst="ellips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p:cNvSpPr/>
          <p:nvPr/>
        </p:nvSpPr>
        <p:spPr>
          <a:xfrm>
            <a:off x="4513548" y="4786930"/>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p:cNvSpPr/>
          <p:nvPr/>
        </p:nvSpPr>
        <p:spPr>
          <a:xfrm>
            <a:off x="5377684" y="4786930"/>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p:cNvSpPr/>
          <p:nvPr/>
        </p:nvSpPr>
        <p:spPr>
          <a:xfrm>
            <a:off x="4665948" y="5363034"/>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5530084" y="5363034"/>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p:cNvSpPr/>
          <p:nvPr/>
        </p:nvSpPr>
        <p:spPr>
          <a:xfrm>
            <a:off x="5041469" y="5129207"/>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52"/>
          <p:cNvSpPr/>
          <p:nvPr/>
        </p:nvSpPr>
        <p:spPr>
          <a:xfrm>
            <a:off x="5905605" y="5129207"/>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4" name="Straight Arrow Connector 53"/>
          <p:cNvCxnSpPr>
            <a:stCxn id="39" idx="2"/>
            <a:endCxn id="47" idx="7"/>
          </p:cNvCxnSpPr>
          <p:nvPr/>
        </p:nvCxnSpPr>
        <p:spPr>
          <a:xfrm flipH="1">
            <a:off x="6050820" y="4155099"/>
            <a:ext cx="585221" cy="584533"/>
          </a:xfrm>
          <a:prstGeom prst="straightConnector1">
            <a:avLst/>
          </a:prstGeom>
          <a:ln w="381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40" idx="2"/>
            <a:endCxn id="47" idx="7"/>
          </p:cNvCxnSpPr>
          <p:nvPr/>
        </p:nvCxnSpPr>
        <p:spPr>
          <a:xfrm flipH="1">
            <a:off x="6050820" y="4155099"/>
            <a:ext cx="1449357" cy="584533"/>
          </a:xfrm>
          <a:prstGeom prst="straightConnector1">
            <a:avLst/>
          </a:prstGeom>
          <a:ln w="381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39" idx="2"/>
            <a:endCxn id="38" idx="0"/>
          </p:cNvCxnSpPr>
          <p:nvPr/>
        </p:nvCxnSpPr>
        <p:spPr>
          <a:xfrm>
            <a:off x="6636040" y="4155098"/>
            <a:ext cx="1692208" cy="415808"/>
          </a:xfrm>
          <a:prstGeom prst="straightConnector1">
            <a:avLst/>
          </a:prstGeom>
          <a:ln w="381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0" idx="2"/>
            <a:endCxn id="38" idx="0"/>
          </p:cNvCxnSpPr>
          <p:nvPr/>
        </p:nvCxnSpPr>
        <p:spPr>
          <a:xfrm>
            <a:off x="7500176" y="4155098"/>
            <a:ext cx="828072" cy="415808"/>
          </a:xfrm>
          <a:prstGeom prst="straightConnector1">
            <a:avLst/>
          </a:prstGeom>
          <a:ln w="381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4028558" y="5795972"/>
            <a:ext cx="2283466" cy="369332"/>
          </a:xfrm>
          <a:prstGeom prst="rect">
            <a:avLst/>
          </a:prstGeom>
          <a:noFill/>
        </p:spPr>
        <p:txBody>
          <a:bodyPr wrap="square" rtlCol="0">
            <a:spAutoFit/>
          </a:bodyPr>
          <a:lstStyle/>
          <a:p>
            <a:r>
              <a:rPr lang="en-GB" dirty="0"/>
              <a:t>Disease Challenge</a:t>
            </a:r>
          </a:p>
        </p:txBody>
      </p:sp>
      <p:sp>
        <p:nvSpPr>
          <p:cNvPr id="59" name="TextBox 58"/>
          <p:cNvSpPr txBox="1"/>
          <p:nvPr/>
        </p:nvSpPr>
        <p:spPr>
          <a:xfrm>
            <a:off x="7364241" y="5795972"/>
            <a:ext cx="2476175" cy="369332"/>
          </a:xfrm>
          <a:prstGeom prst="rect">
            <a:avLst/>
          </a:prstGeom>
          <a:noFill/>
        </p:spPr>
        <p:txBody>
          <a:bodyPr wrap="square" rtlCol="0">
            <a:spAutoFit/>
          </a:bodyPr>
          <a:lstStyle/>
          <a:p>
            <a:r>
              <a:rPr lang="en-GB" dirty="0"/>
              <a:t>Growth on Candidates</a:t>
            </a:r>
          </a:p>
        </p:txBody>
      </p:sp>
      <p:sp>
        <p:nvSpPr>
          <p:cNvPr id="60" name="Curved Down Arrow 59"/>
          <p:cNvSpPr/>
          <p:nvPr/>
        </p:nvSpPr>
        <p:spPr>
          <a:xfrm>
            <a:off x="4996924" y="3861048"/>
            <a:ext cx="3674296" cy="1080120"/>
          </a:xfrm>
          <a:prstGeom prst="curvedDown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8317882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GB" altLang="en-US"/>
              <a:t>Salmon Breeding: Example</a:t>
            </a:r>
          </a:p>
        </p:txBody>
      </p:sp>
      <p:sp>
        <p:nvSpPr>
          <p:cNvPr id="36867" name="Content Placeholder 2"/>
          <p:cNvSpPr>
            <a:spLocks noGrp="1"/>
          </p:cNvSpPr>
          <p:nvPr>
            <p:ph idx="1"/>
          </p:nvPr>
        </p:nvSpPr>
        <p:spPr/>
        <p:txBody>
          <a:bodyPr/>
          <a:lstStyle/>
          <a:p>
            <a:pPr eaLnBrk="1" hangingPunct="1"/>
            <a:r>
              <a:rPr lang="en-GB" altLang="en-US" dirty="0"/>
              <a:t>‘Within-family’ genomic selection among sibs</a:t>
            </a:r>
          </a:p>
          <a:p>
            <a:pPr lvl="1" eaLnBrk="1" hangingPunct="1"/>
            <a:r>
              <a:rPr lang="en-GB" altLang="en-US" dirty="0"/>
              <a:t>obtain accurate Mendelian estimates if large</a:t>
            </a:r>
          </a:p>
          <a:p>
            <a:pPr lvl="1" eaLnBrk="1" hangingPunct="1"/>
            <a:r>
              <a:rPr lang="en-GB" altLang="en-US" dirty="0"/>
              <a:t>allows selection on individual merit within families</a:t>
            </a:r>
          </a:p>
          <a:p>
            <a:pPr lvl="2"/>
            <a:r>
              <a:rPr lang="en-GB" altLang="en-US" dirty="0"/>
              <a:t>even for disease</a:t>
            </a:r>
          </a:p>
          <a:p>
            <a:pPr lvl="2"/>
            <a:r>
              <a:rPr lang="en-GB" altLang="en-US" dirty="0"/>
              <a:t>reduces reliance on pedigrees </a:t>
            </a:r>
          </a:p>
        </p:txBody>
      </p:sp>
      <p:sp>
        <p:nvSpPr>
          <p:cNvPr id="4" name="Oval 3"/>
          <p:cNvSpPr/>
          <p:nvPr/>
        </p:nvSpPr>
        <p:spPr>
          <a:xfrm>
            <a:off x="7032104" y="4570906"/>
            <a:ext cx="2592288" cy="1152128"/>
          </a:xfrm>
          <a:prstGeom prst="ellips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6456040" y="3795098"/>
            <a:ext cx="360000" cy="36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7320176" y="3795098"/>
            <a:ext cx="360000" cy="36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7707489" y="4786930"/>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8571625" y="4786930"/>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7859889" y="5363034"/>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p:nvSpPr>
        <p:spPr>
          <a:xfrm>
            <a:off x="8724025" y="5363034"/>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p:nvSpPr>
        <p:spPr>
          <a:xfrm>
            <a:off x="8235410" y="5129207"/>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9099546" y="5129207"/>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3838163" y="4570906"/>
            <a:ext cx="2592288" cy="1152128"/>
          </a:xfrm>
          <a:prstGeom prst="ellipse">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4513548" y="4786930"/>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p:nvSpPr>
        <p:spPr>
          <a:xfrm>
            <a:off x="5377684" y="4786930"/>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p:cNvSpPr/>
          <p:nvPr/>
        </p:nvSpPr>
        <p:spPr>
          <a:xfrm>
            <a:off x="4665948" y="5363034"/>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5530084" y="5363034"/>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p:cNvSpPr/>
          <p:nvPr/>
        </p:nvSpPr>
        <p:spPr>
          <a:xfrm>
            <a:off x="5041469" y="5129207"/>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p:cNvSpPr/>
          <p:nvPr/>
        </p:nvSpPr>
        <p:spPr>
          <a:xfrm>
            <a:off x="5905605" y="5129207"/>
            <a:ext cx="180000" cy="180000"/>
          </a:xfrm>
          <a:prstGeom prst="rect">
            <a:avLst/>
          </a:prstGeom>
          <a:solidFill>
            <a:schemeClr val="accent5">
              <a:lumMod val="7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Arrow Connector 19"/>
          <p:cNvCxnSpPr>
            <a:stCxn id="5" idx="2"/>
            <a:endCxn id="13" idx="7"/>
          </p:cNvCxnSpPr>
          <p:nvPr/>
        </p:nvCxnSpPr>
        <p:spPr>
          <a:xfrm flipH="1">
            <a:off x="6050820" y="4155099"/>
            <a:ext cx="585221" cy="584533"/>
          </a:xfrm>
          <a:prstGeom prst="straightConnector1">
            <a:avLst/>
          </a:prstGeom>
          <a:ln w="381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2"/>
            <a:endCxn id="13" idx="7"/>
          </p:cNvCxnSpPr>
          <p:nvPr/>
        </p:nvCxnSpPr>
        <p:spPr>
          <a:xfrm flipH="1">
            <a:off x="6050820" y="4155099"/>
            <a:ext cx="1449357" cy="584533"/>
          </a:xfrm>
          <a:prstGeom prst="straightConnector1">
            <a:avLst/>
          </a:prstGeom>
          <a:ln w="381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5" idx="2"/>
            <a:endCxn id="4" idx="0"/>
          </p:cNvCxnSpPr>
          <p:nvPr/>
        </p:nvCxnSpPr>
        <p:spPr>
          <a:xfrm>
            <a:off x="6636040" y="4155098"/>
            <a:ext cx="1692208" cy="415808"/>
          </a:xfrm>
          <a:prstGeom prst="straightConnector1">
            <a:avLst/>
          </a:prstGeom>
          <a:ln w="381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6" idx="2"/>
            <a:endCxn id="4" idx="0"/>
          </p:cNvCxnSpPr>
          <p:nvPr/>
        </p:nvCxnSpPr>
        <p:spPr>
          <a:xfrm>
            <a:off x="7500176" y="4155098"/>
            <a:ext cx="828072" cy="415808"/>
          </a:xfrm>
          <a:prstGeom prst="straightConnector1">
            <a:avLst/>
          </a:prstGeom>
          <a:ln w="381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4028558" y="5795972"/>
            <a:ext cx="2283466" cy="369332"/>
          </a:xfrm>
          <a:prstGeom prst="rect">
            <a:avLst/>
          </a:prstGeom>
          <a:noFill/>
        </p:spPr>
        <p:txBody>
          <a:bodyPr wrap="square" rtlCol="0">
            <a:spAutoFit/>
          </a:bodyPr>
          <a:lstStyle/>
          <a:p>
            <a:r>
              <a:rPr lang="en-GB" dirty="0"/>
              <a:t>Disease Challenge</a:t>
            </a:r>
          </a:p>
        </p:txBody>
      </p:sp>
      <p:sp>
        <p:nvSpPr>
          <p:cNvPr id="25" name="TextBox 24"/>
          <p:cNvSpPr txBox="1"/>
          <p:nvPr/>
        </p:nvSpPr>
        <p:spPr>
          <a:xfrm>
            <a:off x="7364241" y="5795972"/>
            <a:ext cx="2476175" cy="369332"/>
          </a:xfrm>
          <a:prstGeom prst="rect">
            <a:avLst/>
          </a:prstGeom>
          <a:noFill/>
        </p:spPr>
        <p:txBody>
          <a:bodyPr wrap="square" rtlCol="0">
            <a:spAutoFit/>
          </a:bodyPr>
          <a:lstStyle/>
          <a:p>
            <a:r>
              <a:rPr lang="en-GB" dirty="0"/>
              <a:t>Growth on Candidates</a:t>
            </a:r>
          </a:p>
        </p:txBody>
      </p:sp>
      <p:sp>
        <p:nvSpPr>
          <p:cNvPr id="26" name="Curved Down Arrow 25"/>
          <p:cNvSpPr/>
          <p:nvPr/>
        </p:nvSpPr>
        <p:spPr>
          <a:xfrm flipV="1">
            <a:off x="4996924" y="5013176"/>
            <a:ext cx="3674296" cy="1080120"/>
          </a:xfrm>
          <a:prstGeom prst="curvedDown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41989067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GB" altLang="en-US" dirty="0"/>
              <a:t>Prior to Genomics &amp; OC</a:t>
            </a:r>
          </a:p>
        </p:txBody>
      </p:sp>
      <p:sp>
        <p:nvSpPr>
          <p:cNvPr id="38915" name="Rectangle 3"/>
          <p:cNvSpPr>
            <a:spLocks noGrp="1" noChangeArrowheads="1"/>
          </p:cNvSpPr>
          <p:nvPr>
            <p:ph type="body" idx="1"/>
          </p:nvPr>
        </p:nvSpPr>
        <p:spPr/>
        <p:txBody>
          <a:bodyPr/>
          <a:lstStyle/>
          <a:p>
            <a:r>
              <a:rPr lang="en-GB" altLang="en-US" dirty="0"/>
              <a:t>Selective advantage of truncation selection relied on EBV </a:t>
            </a:r>
          </a:p>
          <a:p>
            <a:pPr eaLnBrk="1" hangingPunct="1"/>
            <a:r>
              <a:rPr lang="en-GB" altLang="en-US" dirty="0"/>
              <a:t>EBVs relied on pedigree</a:t>
            </a:r>
          </a:p>
          <a:p>
            <a:pPr lvl="1"/>
            <a:r>
              <a:rPr lang="en-GB" altLang="en-US" dirty="0"/>
              <a:t>used information on relatives to ↑ accuracy</a:t>
            </a:r>
          </a:p>
          <a:p>
            <a:pPr lvl="1"/>
            <a:r>
              <a:rPr lang="en-GB" altLang="en-US" dirty="0"/>
              <a:t>often ancestral information via sire and dam</a:t>
            </a:r>
          </a:p>
          <a:p>
            <a:r>
              <a:rPr lang="en-GB" altLang="en-US" dirty="0"/>
              <a:t>Family background has major role in selection</a:t>
            </a:r>
          </a:p>
          <a:p>
            <a:pPr lvl="1"/>
            <a:endParaRPr lang="en-GB" altLang="en-US" dirty="0"/>
          </a:p>
          <a:p>
            <a:pPr lvl="1"/>
            <a:endParaRPr lang="en-GB" altLang="en-US" dirty="0"/>
          </a:p>
          <a:p>
            <a:endParaRPr lang="en-GB" altLang="en-US" dirty="0"/>
          </a:p>
        </p:txBody>
      </p:sp>
    </p:spTree>
    <p:extLst>
      <p:ext uri="{BB962C8B-B14F-4D97-AF65-F5344CB8AC3E}">
        <p14:creationId xmlns:p14="http://schemas.microsoft.com/office/powerpoint/2010/main" val="15323883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GB" altLang="en-US" dirty="0"/>
              <a:t>Optimum Contributions (OC)</a:t>
            </a:r>
          </a:p>
        </p:txBody>
      </p:sp>
      <p:sp>
        <p:nvSpPr>
          <p:cNvPr id="37891" name="Text Box 3"/>
          <p:cNvSpPr txBox="1">
            <a:spLocks noChangeArrowheads="1"/>
          </p:cNvSpPr>
          <p:nvPr/>
        </p:nvSpPr>
        <p:spPr bwMode="auto">
          <a:xfrm>
            <a:off x="3052764" y="5457825"/>
            <a:ext cx="6084887"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GB" altLang="en-US" sz="2800" baseline="0">
                <a:solidFill>
                  <a:schemeClr val="tx2"/>
                </a:solidFill>
              </a:rPr>
              <a:t>Predicted Mendelian Sampling Term</a:t>
            </a:r>
          </a:p>
        </p:txBody>
      </p:sp>
      <p:sp>
        <p:nvSpPr>
          <p:cNvPr id="37892" name="Line 4"/>
          <p:cNvSpPr>
            <a:spLocks noChangeShapeType="1"/>
          </p:cNvSpPr>
          <p:nvPr/>
        </p:nvSpPr>
        <p:spPr bwMode="auto">
          <a:xfrm flipH="1" flipV="1">
            <a:off x="5900738" y="2238375"/>
            <a:ext cx="0" cy="295275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en-GB"/>
          </a:p>
        </p:txBody>
      </p:sp>
      <p:sp>
        <p:nvSpPr>
          <p:cNvPr id="37893" name="Line 5"/>
          <p:cNvSpPr>
            <a:spLocks noChangeShapeType="1"/>
          </p:cNvSpPr>
          <p:nvPr/>
        </p:nvSpPr>
        <p:spPr bwMode="auto">
          <a:xfrm>
            <a:off x="2243138" y="5210175"/>
            <a:ext cx="741680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en-GB"/>
          </a:p>
        </p:txBody>
      </p:sp>
      <p:sp>
        <p:nvSpPr>
          <p:cNvPr id="37894" name="Line 6"/>
          <p:cNvSpPr>
            <a:spLocks noChangeShapeType="1"/>
          </p:cNvSpPr>
          <p:nvPr/>
        </p:nvSpPr>
        <p:spPr bwMode="auto">
          <a:xfrm flipV="1">
            <a:off x="6611939" y="2352675"/>
            <a:ext cx="2166937" cy="285750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en-GB"/>
          </a:p>
        </p:txBody>
      </p:sp>
      <p:sp>
        <p:nvSpPr>
          <p:cNvPr id="37895" name="Line 7"/>
          <p:cNvSpPr>
            <a:spLocks noChangeShapeType="1"/>
          </p:cNvSpPr>
          <p:nvPr/>
        </p:nvSpPr>
        <p:spPr bwMode="auto">
          <a:xfrm flipH="1">
            <a:off x="2243138" y="5210175"/>
            <a:ext cx="43688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en-GB"/>
          </a:p>
        </p:txBody>
      </p:sp>
      <p:sp>
        <p:nvSpPr>
          <p:cNvPr id="37896" name="Line 8"/>
          <p:cNvSpPr>
            <a:spLocks noChangeShapeType="1"/>
          </p:cNvSpPr>
          <p:nvPr/>
        </p:nvSpPr>
        <p:spPr bwMode="auto">
          <a:xfrm flipV="1">
            <a:off x="6611938" y="2085975"/>
            <a:ext cx="0" cy="339090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en-GB"/>
          </a:p>
        </p:txBody>
      </p:sp>
      <p:sp>
        <p:nvSpPr>
          <p:cNvPr id="37897" name="Text Box 9"/>
          <p:cNvSpPr txBox="1">
            <a:spLocks noChangeArrowheads="1"/>
          </p:cNvSpPr>
          <p:nvPr/>
        </p:nvSpPr>
        <p:spPr bwMode="auto">
          <a:xfrm>
            <a:off x="3597276" y="1438275"/>
            <a:ext cx="4843463"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a:spcBef>
                <a:spcPct val="50000"/>
              </a:spcBef>
            </a:pPr>
            <a:r>
              <a:rPr lang="en-GB" altLang="en-US" sz="2800" baseline="0">
                <a:solidFill>
                  <a:schemeClr val="tx2"/>
                </a:solidFill>
              </a:rPr>
              <a:t>Long-term contribution</a:t>
            </a:r>
          </a:p>
        </p:txBody>
      </p:sp>
      <p:sp>
        <p:nvSpPr>
          <p:cNvPr id="37898" name="Oval 10"/>
          <p:cNvSpPr>
            <a:spLocks noChangeArrowheads="1"/>
          </p:cNvSpPr>
          <p:nvPr/>
        </p:nvSpPr>
        <p:spPr bwMode="auto">
          <a:xfrm>
            <a:off x="7040564" y="5057775"/>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899" name="Oval 11"/>
          <p:cNvSpPr>
            <a:spLocks noChangeArrowheads="1"/>
          </p:cNvSpPr>
          <p:nvPr/>
        </p:nvSpPr>
        <p:spPr bwMode="auto">
          <a:xfrm>
            <a:off x="6383339" y="4841875"/>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00" name="Oval 12"/>
          <p:cNvSpPr>
            <a:spLocks noChangeArrowheads="1"/>
          </p:cNvSpPr>
          <p:nvPr/>
        </p:nvSpPr>
        <p:spPr bwMode="auto">
          <a:xfrm>
            <a:off x="8531226" y="3762375"/>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01" name="Oval 13"/>
          <p:cNvSpPr>
            <a:spLocks noChangeArrowheads="1"/>
          </p:cNvSpPr>
          <p:nvPr/>
        </p:nvSpPr>
        <p:spPr bwMode="auto">
          <a:xfrm>
            <a:off x="7610476" y="2771775"/>
            <a:ext cx="125413"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02" name="Oval 14"/>
          <p:cNvSpPr>
            <a:spLocks noChangeArrowheads="1"/>
          </p:cNvSpPr>
          <p:nvPr/>
        </p:nvSpPr>
        <p:spPr bwMode="auto">
          <a:xfrm>
            <a:off x="8974138" y="2722563"/>
            <a:ext cx="125412"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03" name="Oval 15"/>
          <p:cNvSpPr>
            <a:spLocks noChangeArrowheads="1"/>
          </p:cNvSpPr>
          <p:nvPr/>
        </p:nvSpPr>
        <p:spPr bwMode="auto">
          <a:xfrm>
            <a:off x="8288339" y="2022475"/>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04" name="Oval 16"/>
          <p:cNvSpPr>
            <a:spLocks noChangeArrowheads="1"/>
          </p:cNvSpPr>
          <p:nvPr/>
        </p:nvSpPr>
        <p:spPr bwMode="auto">
          <a:xfrm>
            <a:off x="7781926" y="4841875"/>
            <a:ext cx="125413"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05" name="Oval 17"/>
          <p:cNvSpPr>
            <a:spLocks noChangeArrowheads="1"/>
          </p:cNvSpPr>
          <p:nvPr/>
        </p:nvSpPr>
        <p:spPr bwMode="auto">
          <a:xfrm>
            <a:off x="5562601" y="4449763"/>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06" name="Oval 18"/>
          <p:cNvSpPr>
            <a:spLocks noChangeArrowheads="1"/>
          </p:cNvSpPr>
          <p:nvPr/>
        </p:nvSpPr>
        <p:spPr bwMode="auto">
          <a:xfrm>
            <a:off x="6764339" y="4437063"/>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07" name="Oval 19"/>
          <p:cNvSpPr>
            <a:spLocks noChangeArrowheads="1"/>
          </p:cNvSpPr>
          <p:nvPr/>
        </p:nvSpPr>
        <p:spPr bwMode="auto">
          <a:xfrm>
            <a:off x="7221539" y="4589463"/>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08" name="Oval 20"/>
          <p:cNvSpPr>
            <a:spLocks noChangeArrowheads="1"/>
          </p:cNvSpPr>
          <p:nvPr/>
        </p:nvSpPr>
        <p:spPr bwMode="auto">
          <a:xfrm>
            <a:off x="7373939" y="3533775"/>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09" name="Oval 21"/>
          <p:cNvSpPr>
            <a:spLocks noChangeArrowheads="1"/>
          </p:cNvSpPr>
          <p:nvPr/>
        </p:nvSpPr>
        <p:spPr bwMode="auto">
          <a:xfrm>
            <a:off x="7526339" y="3990975"/>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10" name="Oval 22"/>
          <p:cNvSpPr>
            <a:spLocks noChangeArrowheads="1"/>
          </p:cNvSpPr>
          <p:nvPr/>
        </p:nvSpPr>
        <p:spPr bwMode="auto">
          <a:xfrm>
            <a:off x="7935914" y="4079875"/>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11" name="Oval 23"/>
          <p:cNvSpPr>
            <a:spLocks noChangeArrowheads="1"/>
          </p:cNvSpPr>
          <p:nvPr/>
        </p:nvSpPr>
        <p:spPr bwMode="auto">
          <a:xfrm>
            <a:off x="7069139" y="4437063"/>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37912" name="Oval 24"/>
          <p:cNvSpPr>
            <a:spLocks noChangeArrowheads="1"/>
          </p:cNvSpPr>
          <p:nvPr/>
        </p:nvSpPr>
        <p:spPr bwMode="auto">
          <a:xfrm>
            <a:off x="7021514" y="3686175"/>
            <a:ext cx="123825" cy="139700"/>
          </a:xfrm>
          <a:prstGeom prst="ellipse">
            <a:avLst/>
          </a:prstGeom>
          <a:solidFill>
            <a:schemeClr val="tx2"/>
          </a:solid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aseline="300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aseline="300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aseline="300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aseline="300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aseline="30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baseline="300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Tree>
    <p:extLst>
      <p:ext uri="{BB962C8B-B14F-4D97-AF65-F5344CB8AC3E}">
        <p14:creationId xmlns:p14="http://schemas.microsoft.com/office/powerpoint/2010/main" val="1095323075"/>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GB" altLang="en-US" dirty="0"/>
              <a:t>Genomic Evaluation &amp; OC</a:t>
            </a:r>
          </a:p>
        </p:txBody>
      </p:sp>
      <p:sp>
        <p:nvSpPr>
          <p:cNvPr id="38915" name="Rectangle 3"/>
          <p:cNvSpPr>
            <a:spLocks noGrp="1" noChangeArrowheads="1"/>
          </p:cNvSpPr>
          <p:nvPr>
            <p:ph type="body" idx="1"/>
          </p:nvPr>
        </p:nvSpPr>
        <p:spPr/>
        <p:txBody>
          <a:bodyPr/>
          <a:lstStyle/>
          <a:p>
            <a:pPr eaLnBrk="1" hangingPunct="1"/>
            <a:r>
              <a:rPr lang="el-GR" altLang="en-US" dirty="0"/>
              <a:t>Δ</a:t>
            </a:r>
            <a:r>
              <a:rPr lang="en-GB" altLang="en-US" dirty="0"/>
              <a:t>G arises by promoting best Mendelian terms</a:t>
            </a:r>
          </a:p>
          <a:p>
            <a:pPr eaLnBrk="1" hangingPunct="1"/>
            <a:r>
              <a:rPr lang="en-GB" altLang="en-US" dirty="0"/>
              <a:t>Optimum contributions maximise </a:t>
            </a:r>
            <a:r>
              <a:rPr lang="el-GR" altLang="en-US" dirty="0"/>
              <a:t>Δ</a:t>
            </a:r>
            <a:r>
              <a:rPr lang="en-GB" altLang="en-US" dirty="0"/>
              <a:t>G for </a:t>
            </a:r>
            <a:r>
              <a:rPr lang="el-GR" altLang="en-US" dirty="0"/>
              <a:t>Δ</a:t>
            </a:r>
            <a:r>
              <a:rPr lang="en-GB" altLang="en-US" dirty="0"/>
              <a:t>F</a:t>
            </a:r>
            <a:endParaRPr lang="el-GR" altLang="en-US" dirty="0"/>
          </a:p>
          <a:p>
            <a:pPr eaLnBrk="1" hangingPunct="1"/>
            <a:r>
              <a:rPr lang="en-GB" altLang="en-US" dirty="0"/>
              <a:t>Selective advantage of OC is estimated Mendelian term</a:t>
            </a:r>
          </a:p>
          <a:p>
            <a:pPr lvl="1" eaLnBrk="1" hangingPunct="1"/>
            <a:r>
              <a:rPr lang="en-GB" altLang="en-US" dirty="0"/>
              <a:t>merit unique to the individual</a:t>
            </a:r>
          </a:p>
          <a:p>
            <a:pPr eaLnBrk="1" hangingPunct="1"/>
            <a:r>
              <a:rPr lang="en-GB" altLang="en-US" dirty="0"/>
              <a:t>Genomic selection increases accuracy of selective advantage of OC</a:t>
            </a:r>
          </a:p>
          <a:p>
            <a:pPr eaLnBrk="1" hangingPunct="1"/>
            <a:r>
              <a:rPr lang="en-GB" altLang="en-US" dirty="0"/>
              <a:t>Genomic selection will ↑ </a:t>
            </a:r>
            <a:r>
              <a:rPr lang="el-GR" altLang="en-US" dirty="0"/>
              <a:t>Δ</a:t>
            </a:r>
            <a:r>
              <a:rPr lang="en-GB" altLang="en-US" dirty="0"/>
              <a:t>G at same </a:t>
            </a:r>
            <a:r>
              <a:rPr lang="el-GR" altLang="en-US" dirty="0"/>
              <a:t>Δ</a:t>
            </a:r>
            <a:r>
              <a:rPr lang="en-GB" altLang="en-US" dirty="0"/>
              <a:t>F</a:t>
            </a:r>
          </a:p>
        </p:txBody>
      </p:sp>
    </p:spTree>
    <p:extLst>
      <p:ext uri="{BB962C8B-B14F-4D97-AF65-F5344CB8AC3E}">
        <p14:creationId xmlns:p14="http://schemas.microsoft.com/office/powerpoint/2010/main" val="8282742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GB" altLang="en-US"/>
              <a:t>Conclusion</a:t>
            </a:r>
          </a:p>
        </p:txBody>
      </p:sp>
      <p:sp>
        <p:nvSpPr>
          <p:cNvPr id="39939" name="Rectangle 3"/>
          <p:cNvSpPr>
            <a:spLocks noGrp="1" noChangeArrowheads="1"/>
          </p:cNvSpPr>
          <p:nvPr>
            <p:ph type="body" idx="1"/>
          </p:nvPr>
        </p:nvSpPr>
        <p:spPr/>
        <p:txBody>
          <a:bodyPr/>
          <a:lstStyle/>
          <a:p>
            <a:pPr algn="ctr" eaLnBrk="1" hangingPunct="1">
              <a:buFontTx/>
              <a:buNone/>
            </a:pPr>
            <a:endParaRPr lang="en-GB" altLang="en-US" dirty="0"/>
          </a:p>
          <a:p>
            <a:pPr algn="ctr" eaLnBrk="1" hangingPunct="1">
              <a:buFontTx/>
              <a:buNone/>
            </a:pPr>
            <a:endParaRPr lang="en-GB" altLang="en-US" dirty="0"/>
          </a:p>
          <a:p>
            <a:pPr algn="ctr" eaLnBrk="1" hangingPunct="1">
              <a:buFontTx/>
              <a:buNone/>
            </a:pPr>
            <a:r>
              <a:rPr lang="en-GB" altLang="en-US" dirty="0"/>
              <a:t>From aristocracy to meritocracy the (genomic) revolution is coming!</a:t>
            </a:r>
          </a:p>
          <a:p>
            <a:pPr algn="ctr" eaLnBrk="1" hangingPunct="1">
              <a:buFontTx/>
              <a:buNone/>
            </a:pPr>
            <a:r>
              <a:rPr lang="en-GB" altLang="en-US" dirty="0"/>
              <a:t>(I still hope)</a:t>
            </a:r>
          </a:p>
        </p:txBody>
      </p:sp>
    </p:spTree>
    <p:extLst>
      <p:ext uri="{BB962C8B-B14F-4D97-AF65-F5344CB8AC3E}">
        <p14:creationId xmlns:p14="http://schemas.microsoft.com/office/powerpoint/2010/main" val="10016873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6410B-5667-43BA-A3ED-C1F6E4ED901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2E22500-86B3-4743-8D9A-584C3B30BFDA}"/>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A60A2992-94A9-44A8-943B-DD6A5F57E061}"/>
              </a:ext>
            </a:extLst>
          </p:cNvPr>
          <p:cNvSpPr>
            <a:spLocks noGrp="1"/>
          </p:cNvSpPr>
          <p:nvPr>
            <p:ph type="dt" sz="half" idx="10"/>
          </p:nvPr>
        </p:nvSpPr>
        <p:spPr/>
        <p:txBody>
          <a:bodyPr/>
          <a:lstStyle/>
          <a:p>
            <a:fld id="{F40735AC-8509-4286-B41F-026BC07FE1F9}" type="datetime4">
              <a:rPr lang="en-GB" smtClean="0"/>
              <a:pPr/>
              <a:t>12 February 2025</a:t>
            </a:fld>
            <a:endParaRPr lang="en-GB"/>
          </a:p>
        </p:txBody>
      </p:sp>
      <p:sp>
        <p:nvSpPr>
          <p:cNvPr id="5" name="Footer Placeholder 4">
            <a:extLst>
              <a:ext uri="{FF2B5EF4-FFF2-40B4-BE49-F238E27FC236}">
                <a16:creationId xmlns:a16="http://schemas.microsoft.com/office/drawing/2014/main" id="{708D01D0-8DA7-48D3-AE09-D77BB8212411}"/>
              </a:ext>
            </a:extLst>
          </p:cNvPr>
          <p:cNvSpPr>
            <a:spLocks noGrp="1"/>
          </p:cNvSpPr>
          <p:nvPr>
            <p:ph type="ftr" sz="quarter" idx="11"/>
          </p:nvPr>
        </p:nvSpPr>
        <p:spPr/>
        <p:txBody>
          <a:bodyPr/>
          <a:lstStyle/>
          <a:p>
            <a:r>
              <a:rPr lang="en-GB"/>
              <a:t>Lecture 10</a:t>
            </a:r>
            <a:endParaRPr lang="en-GB" dirty="0"/>
          </a:p>
        </p:txBody>
      </p:sp>
    </p:spTree>
    <p:extLst>
      <p:ext uri="{BB962C8B-B14F-4D97-AF65-F5344CB8AC3E}">
        <p14:creationId xmlns:p14="http://schemas.microsoft.com/office/powerpoint/2010/main" val="4161421434"/>
      </p:ext>
    </p:extLst>
  </p:cSld>
  <p:clrMapOvr>
    <a:masterClrMapping/>
  </p:clrMapOvr>
</p:sld>
</file>

<file path=ppt/theme/theme1.xml><?xml version="1.0" encoding="utf-8"?>
<a:theme xmlns:a="http://schemas.openxmlformats.org/drawingml/2006/main" name="1_Default Design">
  <a:themeElements>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13663</TotalTime>
  <Words>3548</Words>
  <Application>Microsoft Office PowerPoint</Application>
  <PresentationFormat>Widescreen</PresentationFormat>
  <Paragraphs>771</Paragraphs>
  <Slides>68</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68</vt:i4>
      </vt:variant>
    </vt:vector>
  </HeadingPairs>
  <TitlesOfParts>
    <vt:vector size="72" baseType="lpstr">
      <vt:lpstr>Arial</vt:lpstr>
      <vt:lpstr>Calibri</vt:lpstr>
      <vt:lpstr>Times New Roman</vt:lpstr>
      <vt:lpstr>1_Default Design</vt:lpstr>
      <vt:lpstr>… Lecture 10 … Mainly MCMC Models</vt:lpstr>
      <vt:lpstr>… Lecture 10 … Mainly MCMC Models</vt:lpstr>
      <vt:lpstr>Factors for Accuracy</vt:lpstr>
      <vt:lpstr>Genetic Architecture</vt:lpstr>
      <vt:lpstr>Van Raden Model 1</vt:lpstr>
      <vt:lpstr>Van Raden Model 1</vt:lpstr>
      <vt:lpstr>Van Raden Model 1</vt:lpstr>
      <vt:lpstr>Van Raden Model 2</vt:lpstr>
      <vt:lpstr>Van Raden Model 2</vt:lpstr>
      <vt:lpstr>More Models</vt:lpstr>
      <vt:lpstr>Bayes A</vt:lpstr>
      <vt:lpstr>Bayes A</vt:lpstr>
      <vt:lpstr>Bayes A</vt:lpstr>
      <vt:lpstr>Bayes A</vt:lpstr>
      <vt:lpstr>Bayes B</vt:lpstr>
      <vt:lpstr>Bayes C</vt:lpstr>
      <vt:lpstr>Bayes Cπ</vt:lpstr>
      <vt:lpstr>Bayesian Alphabet</vt:lpstr>
      <vt:lpstr>Bayes Alphabet</vt:lpstr>
      <vt:lpstr>Bayes Alphabet</vt:lpstr>
      <vt:lpstr>PowerPoint Presentation</vt:lpstr>
      <vt:lpstr>… Lecture 10 … Mainly MCMC Models</vt:lpstr>
      <vt:lpstr>Markov Chain Example</vt:lpstr>
      <vt:lpstr>Markov Chain Example</vt:lpstr>
      <vt:lpstr>It’s A Cat’s Life</vt:lpstr>
      <vt:lpstr>It’s A Cat’s Life</vt:lpstr>
      <vt:lpstr>It’s A Cat’s Life</vt:lpstr>
      <vt:lpstr>It’s A Cat’s Life</vt:lpstr>
      <vt:lpstr>It’s A Cat’s Life</vt:lpstr>
      <vt:lpstr>It’s A Cat’s Life</vt:lpstr>
      <vt:lpstr>It’s A Cat’s Life</vt:lpstr>
      <vt:lpstr>… Lecture 10 … Mainly MCMC Models</vt:lpstr>
      <vt:lpstr>Monte Carlo Markov Chains</vt:lpstr>
      <vt:lpstr>Monte Carlo Markov Chains</vt:lpstr>
      <vt:lpstr>Monte Carlo Markov Chains</vt:lpstr>
      <vt:lpstr>Monte Carlo Markov Chains</vt:lpstr>
      <vt:lpstr>PowerPoint Presentation</vt:lpstr>
      <vt:lpstr>Continuous Variables</vt:lpstr>
      <vt:lpstr>Continuous Variables</vt:lpstr>
      <vt:lpstr>The (Amazing) Ergodic Theorem</vt:lpstr>
      <vt:lpstr>The (Amazing) Ergodic Theorem</vt:lpstr>
      <vt:lpstr>Example (Step 1)</vt:lpstr>
      <vt:lpstr>Example (Step 2)</vt:lpstr>
      <vt:lpstr>Example (Step 3)</vt:lpstr>
      <vt:lpstr>The (Amazing) Ergodic Theorem</vt:lpstr>
      <vt:lpstr>Example</vt:lpstr>
      <vt:lpstr>The (Amazing) Ergodic Theorem</vt:lpstr>
      <vt:lpstr>The (Amazing) Ergodic Theorem</vt:lpstr>
      <vt:lpstr>The (Amazing) Ergodic Theorem</vt:lpstr>
      <vt:lpstr>‘Bayesian Methods’ &amp; MCMC</vt:lpstr>
      <vt:lpstr>MCMCglmm</vt:lpstr>
      <vt:lpstr>… Lecture 10 … Mainly MCMC Models</vt:lpstr>
      <vt:lpstr>Bayesian Alphabet</vt:lpstr>
      <vt:lpstr>Factors for Accuracy</vt:lpstr>
      <vt:lpstr>Bayesian Methods</vt:lpstr>
      <vt:lpstr>Accuracy as f(#QTN)</vt:lpstr>
      <vt:lpstr>Bayesian Alphabet</vt:lpstr>
      <vt:lpstr>PowerPoint Presentation</vt:lpstr>
      <vt:lpstr>… Lecture 10 … Mainly MCMC Models</vt:lpstr>
      <vt:lpstr>Breeding Limitations</vt:lpstr>
      <vt:lpstr>Salmon Breeding: Example</vt:lpstr>
      <vt:lpstr>Salmon Breeding: Example</vt:lpstr>
      <vt:lpstr>Salmon Breeding: Example</vt:lpstr>
      <vt:lpstr>Prior to Genomics &amp; OC</vt:lpstr>
      <vt:lpstr>Optimum Contributions (OC)</vt:lpstr>
      <vt:lpstr>Genomic Evaluation &amp; OC</vt:lpstr>
      <vt:lpstr>Conclusion</vt:lpstr>
      <vt:lpstr>PowerPoint Presentation</vt:lpstr>
    </vt:vector>
  </TitlesOfParts>
  <Company>Roslin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 Population Size: Calculation and Use</dc:title>
  <dc:creator>woollja</dc:creator>
  <cp:lastModifiedBy>John Woolliams</cp:lastModifiedBy>
  <cp:revision>451</cp:revision>
  <cp:lastPrinted>2021-02-07T13:38:40Z</cp:lastPrinted>
  <dcterms:created xsi:type="dcterms:W3CDTF">2007-10-16T08:44:29Z</dcterms:created>
  <dcterms:modified xsi:type="dcterms:W3CDTF">2025-02-12T20:37:51Z</dcterms:modified>
</cp:coreProperties>
</file>