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64" r:id="rId2"/>
  </p:sldMasterIdLst>
  <p:notesMasterIdLst>
    <p:notesMasterId r:id="rId92"/>
  </p:notesMasterIdLst>
  <p:sldIdLst>
    <p:sldId id="256" r:id="rId3"/>
    <p:sldId id="422" r:id="rId4"/>
    <p:sldId id="362" r:id="rId5"/>
    <p:sldId id="391" r:id="rId6"/>
    <p:sldId id="289" r:id="rId7"/>
    <p:sldId id="290" r:id="rId8"/>
    <p:sldId id="291" r:id="rId9"/>
    <p:sldId id="360" r:id="rId10"/>
    <p:sldId id="292" r:id="rId11"/>
    <p:sldId id="326" r:id="rId12"/>
    <p:sldId id="332" r:id="rId13"/>
    <p:sldId id="359" r:id="rId14"/>
    <p:sldId id="293" r:id="rId15"/>
    <p:sldId id="294" r:id="rId16"/>
    <p:sldId id="327" r:id="rId17"/>
    <p:sldId id="309" r:id="rId18"/>
    <p:sldId id="334" r:id="rId19"/>
    <p:sldId id="335" r:id="rId20"/>
    <p:sldId id="336" r:id="rId21"/>
    <p:sldId id="406" r:id="rId22"/>
    <p:sldId id="295" r:id="rId23"/>
    <p:sldId id="301" r:id="rId24"/>
    <p:sldId id="392" r:id="rId25"/>
    <p:sldId id="302" r:id="rId26"/>
    <p:sldId id="393" r:id="rId27"/>
    <p:sldId id="423" r:id="rId28"/>
    <p:sldId id="311" r:id="rId29"/>
    <p:sldId id="407" r:id="rId30"/>
    <p:sldId id="307" r:id="rId31"/>
    <p:sldId id="424" r:id="rId32"/>
    <p:sldId id="411" r:id="rId33"/>
    <p:sldId id="308" r:id="rId34"/>
    <p:sldId id="310" r:id="rId35"/>
    <p:sldId id="312" r:id="rId36"/>
    <p:sldId id="313" r:id="rId37"/>
    <p:sldId id="315" r:id="rId38"/>
    <p:sldId id="363" r:id="rId39"/>
    <p:sldId id="364" r:id="rId40"/>
    <p:sldId id="316" r:id="rId41"/>
    <p:sldId id="375" r:id="rId42"/>
    <p:sldId id="373" r:id="rId43"/>
    <p:sldId id="376" r:id="rId44"/>
    <p:sldId id="403" r:id="rId45"/>
    <p:sldId id="350" r:id="rId46"/>
    <p:sldId id="351" r:id="rId47"/>
    <p:sldId id="352" r:id="rId48"/>
    <p:sldId id="353" r:id="rId49"/>
    <p:sldId id="357" r:id="rId50"/>
    <p:sldId id="347" r:id="rId51"/>
    <p:sldId id="346" r:id="rId52"/>
    <p:sldId id="342" r:id="rId53"/>
    <p:sldId id="341" r:id="rId54"/>
    <p:sldId id="425" r:id="rId55"/>
    <p:sldId id="358" r:id="rId56"/>
    <p:sldId id="354" r:id="rId57"/>
    <p:sldId id="426" r:id="rId58"/>
    <p:sldId id="343" r:id="rId59"/>
    <p:sldId id="344" r:id="rId60"/>
    <p:sldId id="345" r:id="rId61"/>
    <p:sldId id="427" r:id="rId62"/>
    <p:sldId id="323" r:id="rId63"/>
    <p:sldId id="320" r:id="rId64"/>
    <p:sldId id="321" r:id="rId65"/>
    <p:sldId id="322" r:id="rId66"/>
    <p:sldId id="366" r:id="rId67"/>
    <p:sldId id="365" r:id="rId68"/>
    <p:sldId id="337" r:id="rId69"/>
    <p:sldId id="412" r:id="rId70"/>
    <p:sldId id="385" r:id="rId71"/>
    <p:sldId id="386" r:id="rId72"/>
    <p:sldId id="387" r:id="rId73"/>
    <p:sldId id="325" r:id="rId74"/>
    <p:sldId id="384" r:id="rId75"/>
    <p:sldId id="381" r:id="rId76"/>
    <p:sldId id="382" r:id="rId77"/>
    <p:sldId id="383" r:id="rId78"/>
    <p:sldId id="339" r:id="rId79"/>
    <p:sldId id="388" r:id="rId80"/>
    <p:sldId id="367" r:id="rId81"/>
    <p:sldId id="370" r:id="rId82"/>
    <p:sldId id="371" r:id="rId83"/>
    <p:sldId id="369" r:id="rId84"/>
    <p:sldId id="389" r:id="rId85"/>
    <p:sldId id="372" r:id="rId86"/>
    <p:sldId id="413" r:id="rId87"/>
    <p:sldId id="377" r:id="rId88"/>
    <p:sldId id="378" r:id="rId89"/>
    <p:sldId id="368" r:id="rId90"/>
    <p:sldId id="379" r:id="rId91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  <a:srgbClr val="008000"/>
    <a:srgbClr val="FFFF99"/>
    <a:srgbClr val="FF0000"/>
    <a:srgbClr val="000099"/>
    <a:srgbClr val="5F5F5F"/>
    <a:srgbClr val="4D4D4D"/>
    <a:srgbClr val="666666"/>
    <a:srgbClr val="EAEAEA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3250" autoAdjust="0"/>
  </p:normalViewPr>
  <p:slideViewPr>
    <p:cSldViewPr>
      <p:cViewPr varScale="1">
        <p:scale>
          <a:sx n="71" d="100"/>
          <a:sy n="71" d="100"/>
        </p:scale>
        <p:origin x="432" y="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2508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theme" Target="theme/theme1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\\ris-fas1a.roslin.ed.ac.uk\jwoollia\Lectures%20and%20Examining\Edinburgh\MSc2013\genetic_models\roc_curves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\\ris-fas1a.roslin.ed.ac.uk\jwoollia\Lectures%20and%20Examining\Edinburgh\MSc2013\genetic_models\roc_curve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square"/>
            <c:size val="7"/>
            <c:spPr>
              <a:solidFill>
                <a:schemeClr val="accent1"/>
              </a:solidFill>
            </c:spPr>
          </c:marker>
          <c:xVal>
            <c:numRef>
              <c:f>Sheet2!$O$1:$O$12</c:f>
              <c:numCache>
                <c:formatCode>0.00</c:formatCode>
                <c:ptCount val="12"/>
                <c:pt idx="0">
                  <c:v>0.26810066225165563</c:v>
                </c:pt>
                <c:pt idx="1">
                  <c:v>0.78942516556291387</c:v>
                </c:pt>
                <c:pt idx="2">
                  <c:v>0.78942516556291387</c:v>
                </c:pt>
                <c:pt idx="3">
                  <c:v>0.80214039735099329</c:v>
                </c:pt>
                <c:pt idx="4">
                  <c:v>1.4251867549668875</c:v>
                </c:pt>
                <c:pt idx="5">
                  <c:v>1.4251867549668875</c:v>
                </c:pt>
                <c:pt idx="6">
                  <c:v>0.36982251655629139</c:v>
                </c:pt>
                <c:pt idx="7">
                  <c:v>0.90386225165562917</c:v>
                </c:pt>
                <c:pt idx="8">
                  <c:v>0.36982251655629134</c:v>
                </c:pt>
                <c:pt idx="9">
                  <c:v>0.36982251655629134</c:v>
                </c:pt>
                <c:pt idx="10">
                  <c:v>0.26810066225165563</c:v>
                </c:pt>
                <c:pt idx="11">
                  <c:v>1.7557827814569538</c:v>
                </c:pt>
              </c:numCache>
            </c:numRef>
          </c:xVal>
          <c:yVal>
            <c:numRef>
              <c:f>Sheet2!$P$1:$P$12</c:f>
              <c:numCache>
                <c:formatCode>General</c:formatCode>
                <c:ptCount val="12"/>
                <c:pt idx="0">
                  <c:v>0.31</c:v>
                </c:pt>
                <c:pt idx="1">
                  <c:v>0.83</c:v>
                </c:pt>
                <c:pt idx="2">
                  <c:v>0.83</c:v>
                </c:pt>
                <c:pt idx="3">
                  <c:v>0.74</c:v>
                </c:pt>
                <c:pt idx="4">
                  <c:v>1.29</c:v>
                </c:pt>
                <c:pt idx="5">
                  <c:v>1.29</c:v>
                </c:pt>
                <c:pt idx="6">
                  <c:v>0.43</c:v>
                </c:pt>
                <c:pt idx="7">
                  <c:v>0.86</c:v>
                </c:pt>
                <c:pt idx="8">
                  <c:v>0.43</c:v>
                </c:pt>
                <c:pt idx="9">
                  <c:v>0.43</c:v>
                </c:pt>
                <c:pt idx="10">
                  <c:v>0.31</c:v>
                </c:pt>
                <c:pt idx="11">
                  <c:v>1.55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02C-4007-BA36-9D2DA9D5060E}"/>
            </c:ext>
          </c:extLst>
        </c:ser>
        <c:ser>
          <c:idx val="1"/>
          <c:order val="1"/>
          <c:spPr>
            <a:ln w="28575">
              <a:noFill/>
            </a:ln>
          </c:spPr>
          <c:marker>
            <c:spPr>
              <a:solidFill>
                <a:schemeClr val="bg1">
                  <a:alpha val="0"/>
                </a:schemeClr>
              </a:solidFill>
              <a:ln w="19050">
                <a:solidFill>
                  <a:schemeClr val="accent2"/>
                </a:solidFill>
              </a:ln>
            </c:spPr>
          </c:marker>
          <c:xVal>
            <c:numRef>
              <c:f>Sheet2!$Q$1:$Q$66</c:f>
              <c:numCache>
                <c:formatCode>0.00</c:formatCode>
                <c:ptCount val="66"/>
                <c:pt idx="0">
                  <c:v>-0.42487947019867545</c:v>
                </c:pt>
                <c:pt idx="1">
                  <c:v>-0.42487947019867545</c:v>
                </c:pt>
                <c:pt idx="2">
                  <c:v>0.21723973509933769</c:v>
                </c:pt>
                <c:pt idx="3">
                  <c:v>-0.10699867549668873</c:v>
                </c:pt>
                <c:pt idx="4">
                  <c:v>-0.10699867549668873</c:v>
                </c:pt>
                <c:pt idx="5">
                  <c:v>1.0807947019867703E-3</c:v>
                </c:pt>
                <c:pt idx="6">
                  <c:v>-4.9780132450331138E-2</c:v>
                </c:pt>
                <c:pt idx="7">
                  <c:v>1.0807947019867703E-3</c:v>
                </c:pt>
                <c:pt idx="8">
                  <c:v>1.0807947019867703E-3</c:v>
                </c:pt>
                <c:pt idx="9">
                  <c:v>0.26810066225165563</c:v>
                </c:pt>
                <c:pt idx="10">
                  <c:v>0.37618013245033111</c:v>
                </c:pt>
                <c:pt idx="11">
                  <c:v>0.78942516556291387</c:v>
                </c:pt>
                <c:pt idx="12">
                  <c:v>-0.47574039735099333</c:v>
                </c:pt>
                <c:pt idx="13">
                  <c:v>0.47154437086092715</c:v>
                </c:pt>
                <c:pt idx="14">
                  <c:v>0.47154437086092715</c:v>
                </c:pt>
                <c:pt idx="15">
                  <c:v>-5.6137748344370852E-2</c:v>
                </c:pt>
                <c:pt idx="16">
                  <c:v>-0.10699867549668873</c:v>
                </c:pt>
                <c:pt idx="17">
                  <c:v>-5.6137748344370852E-2</c:v>
                </c:pt>
                <c:pt idx="18">
                  <c:v>-5.6137748344370852E-2</c:v>
                </c:pt>
                <c:pt idx="19">
                  <c:v>-0.42487947019867545</c:v>
                </c:pt>
                <c:pt idx="20">
                  <c:v>-0.95256158940397351</c:v>
                </c:pt>
                <c:pt idx="21">
                  <c:v>-0.47574039735099333</c:v>
                </c:pt>
                <c:pt idx="22">
                  <c:v>0.47154437086092715</c:v>
                </c:pt>
                <c:pt idx="23">
                  <c:v>0.47154437086092715</c:v>
                </c:pt>
                <c:pt idx="24">
                  <c:v>-5.6137748344370852E-2</c:v>
                </c:pt>
                <c:pt idx="25">
                  <c:v>-0.10699867549668873</c:v>
                </c:pt>
                <c:pt idx="26">
                  <c:v>-5.6137748344370852E-2</c:v>
                </c:pt>
                <c:pt idx="27">
                  <c:v>-5.6137748344370852E-2</c:v>
                </c:pt>
                <c:pt idx="28">
                  <c:v>-0.42487947019867545</c:v>
                </c:pt>
                <c:pt idx="29">
                  <c:v>-0.95256158940397351</c:v>
                </c:pt>
                <c:pt idx="30">
                  <c:v>-0.79362119205298021</c:v>
                </c:pt>
                <c:pt idx="31">
                  <c:v>-0.79362119205298021</c:v>
                </c:pt>
                <c:pt idx="32">
                  <c:v>-4.9780132450331138E-2</c:v>
                </c:pt>
                <c:pt idx="33">
                  <c:v>0.53512052980132463</c:v>
                </c:pt>
                <c:pt idx="34">
                  <c:v>-4.9780132450331138E-2</c:v>
                </c:pt>
                <c:pt idx="35">
                  <c:v>-4.9780132450331138E-2</c:v>
                </c:pt>
                <c:pt idx="36">
                  <c:v>0.21723973509933769</c:v>
                </c:pt>
                <c:pt idx="37">
                  <c:v>0.96108079470198682</c:v>
                </c:pt>
                <c:pt idx="38">
                  <c:v>1.4251867549668875</c:v>
                </c:pt>
                <c:pt idx="39">
                  <c:v>0.26174304635761586</c:v>
                </c:pt>
                <c:pt idx="40">
                  <c:v>-1.060641059602649</c:v>
                </c:pt>
                <c:pt idx="41">
                  <c:v>-0.37401854304635757</c:v>
                </c:pt>
                <c:pt idx="42">
                  <c:v>-0.37401854304635757</c:v>
                </c:pt>
                <c:pt idx="43">
                  <c:v>-0.10699867549668873</c:v>
                </c:pt>
                <c:pt idx="44">
                  <c:v>-1.2704423841059604</c:v>
                </c:pt>
                <c:pt idx="45">
                  <c:v>0.26174304635761586</c:v>
                </c:pt>
                <c:pt idx="46">
                  <c:v>-1.060641059602649</c:v>
                </c:pt>
                <c:pt idx="47">
                  <c:v>-0.37401854304635757</c:v>
                </c:pt>
                <c:pt idx="48">
                  <c:v>-0.37401854304635757</c:v>
                </c:pt>
                <c:pt idx="49">
                  <c:v>-0.10699867549668873</c:v>
                </c:pt>
                <c:pt idx="50">
                  <c:v>-1.2704423841059604</c:v>
                </c:pt>
                <c:pt idx="51">
                  <c:v>-0.31679999999999997</c:v>
                </c:pt>
                <c:pt idx="52">
                  <c:v>-0.26593907284768203</c:v>
                </c:pt>
                <c:pt idx="53">
                  <c:v>-0.26593907284768203</c:v>
                </c:pt>
                <c:pt idx="54">
                  <c:v>1.0807947019867703E-3</c:v>
                </c:pt>
                <c:pt idx="55">
                  <c:v>0.10916026490066227</c:v>
                </c:pt>
                <c:pt idx="56">
                  <c:v>0.31896158940397346</c:v>
                </c:pt>
                <c:pt idx="57">
                  <c:v>0.31896158940397346</c:v>
                </c:pt>
                <c:pt idx="58">
                  <c:v>-4.9780132450331138E-2</c:v>
                </c:pt>
                <c:pt idx="59">
                  <c:v>0.69406092715231793</c:v>
                </c:pt>
                <c:pt idx="60">
                  <c:v>0.36982251655629134</c:v>
                </c:pt>
                <c:pt idx="61">
                  <c:v>1.0807947019867703E-3</c:v>
                </c:pt>
                <c:pt idx="62">
                  <c:v>0.10916026490066227</c:v>
                </c:pt>
                <c:pt idx="63">
                  <c:v>1.0807947019867703E-3</c:v>
                </c:pt>
                <c:pt idx="64">
                  <c:v>0.10916026490066227</c:v>
                </c:pt>
                <c:pt idx="65">
                  <c:v>0.37618013245033111</c:v>
                </c:pt>
              </c:numCache>
            </c:numRef>
          </c:xVal>
          <c:yVal>
            <c:numRef>
              <c:f>Sheet2!$R$1:$R$66</c:f>
              <c:numCache>
                <c:formatCode>General</c:formatCode>
                <c:ptCount val="66"/>
                <c:pt idx="0">
                  <c:v>-0.47</c:v>
                </c:pt>
                <c:pt idx="1">
                  <c:v>-0.47</c:v>
                </c:pt>
                <c:pt idx="2">
                  <c:v>0.27</c:v>
                </c:pt>
                <c:pt idx="3">
                  <c:v>-0.11</c:v>
                </c:pt>
                <c:pt idx="4">
                  <c:v>-0.11</c:v>
                </c:pt>
                <c:pt idx="5">
                  <c:v>-0.01</c:v>
                </c:pt>
                <c:pt idx="6">
                  <c:v>-0.06</c:v>
                </c:pt>
                <c:pt idx="7">
                  <c:v>-0.01</c:v>
                </c:pt>
                <c:pt idx="8">
                  <c:v>-0.01</c:v>
                </c:pt>
                <c:pt idx="9">
                  <c:v>0.31</c:v>
                </c:pt>
                <c:pt idx="10">
                  <c:v>0.4</c:v>
                </c:pt>
                <c:pt idx="11">
                  <c:v>0.83</c:v>
                </c:pt>
                <c:pt idx="12">
                  <c:v>-0.51</c:v>
                </c:pt>
                <c:pt idx="13">
                  <c:v>0.42</c:v>
                </c:pt>
                <c:pt idx="14">
                  <c:v>0.42</c:v>
                </c:pt>
                <c:pt idx="15">
                  <c:v>-0.03</c:v>
                </c:pt>
                <c:pt idx="16">
                  <c:v>-7.0000000000000007E-2</c:v>
                </c:pt>
                <c:pt idx="17">
                  <c:v>-0.03</c:v>
                </c:pt>
                <c:pt idx="18">
                  <c:v>-0.03</c:v>
                </c:pt>
                <c:pt idx="19">
                  <c:v>-0.47</c:v>
                </c:pt>
                <c:pt idx="20">
                  <c:v>-0.92</c:v>
                </c:pt>
                <c:pt idx="21">
                  <c:v>-0.51</c:v>
                </c:pt>
                <c:pt idx="22">
                  <c:v>0.42</c:v>
                </c:pt>
                <c:pt idx="23">
                  <c:v>0.42</c:v>
                </c:pt>
                <c:pt idx="24">
                  <c:v>-0.03</c:v>
                </c:pt>
                <c:pt idx="25">
                  <c:v>-7.0000000000000007E-2</c:v>
                </c:pt>
                <c:pt idx="26">
                  <c:v>-0.03</c:v>
                </c:pt>
                <c:pt idx="27">
                  <c:v>-0.03</c:v>
                </c:pt>
                <c:pt idx="28">
                  <c:v>-0.47</c:v>
                </c:pt>
                <c:pt idx="29">
                  <c:v>-0.92</c:v>
                </c:pt>
                <c:pt idx="30">
                  <c:v>-0.66</c:v>
                </c:pt>
                <c:pt idx="31">
                  <c:v>-0.66</c:v>
                </c:pt>
                <c:pt idx="32">
                  <c:v>-0.06</c:v>
                </c:pt>
                <c:pt idx="33">
                  <c:v>0.41</c:v>
                </c:pt>
                <c:pt idx="34">
                  <c:v>-0.06</c:v>
                </c:pt>
                <c:pt idx="35">
                  <c:v>-0.06</c:v>
                </c:pt>
                <c:pt idx="36">
                  <c:v>0.27</c:v>
                </c:pt>
                <c:pt idx="37">
                  <c:v>0.87</c:v>
                </c:pt>
                <c:pt idx="38">
                  <c:v>1.29</c:v>
                </c:pt>
                <c:pt idx="39">
                  <c:v>0.34</c:v>
                </c:pt>
                <c:pt idx="40">
                  <c:v>-0.98</c:v>
                </c:pt>
                <c:pt idx="41">
                  <c:v>-0.43</c:v>
                </c:pt>
                <c:pt idx="42">
                  <c:v>-0.43</c:v>
                </c:pt>
                <c:pt idx="43">
                  <c:v>-0.11</c:v>
                </c:pt>
                <c:pt idx="44">
                  <c:v>-1.07</c:v>
                </c:pt>
                <c:pt idx="45">
                  <c:v>0.34</c:v>
                </c:pt>
                <c:pt idx="46">
                  <c:v>-0.98</c:v>
                </c:pt>
                <c:pt idx="47">
                  <c:v>-0.43</c:v>
                </c:pt>
                <c:pt idx="48">
                  <c:v>-0.43</c:v>
                </c:pt>
                <c:pt idx="49">
                  <c:v>-0.11</c:v>
                </c:pt>
                <c:pt idx="50">
                  <c:v>-1.07</c:v>
                </c:pt>
                <c:pt idx="51">
                  <c:v>-0.38</c:v>
                </c:pt>
                <c:pt idx="52">
                  <c:v>-0.34</c:v>
                </c:pt>
                <c:pt idx="53">
                  <c:v>-0.34</c:v>
                </c:pt>
                <c:pt idx="54">
                  <c:v>-0.01</c:v>
                </c:pt>
                <c:pt idx="55">
                  <c:v>0.08</c:v>
                </c:pt>
                <c:pt idx="56">
                  <c:v>0.39</c:v>
                </c:pt>
                <c:pt idx="57">
                  <c:v>0.39</c:v>
                </c:pt>
                <c:pt idx="58">
                  <c:v>-0.06</c:v>
                </c:pt>
                <c:pt idx="59">
                  <c:v>0.55000000000000004</c:v>
                </c:pt>
                <c:pt idx="60">
                  <c:v>0.43</c:v>
                </c:pt>
                <c:pt idx="61">
                  <c:v>-0.01</c:v>
                </c:pt>
                <c:pt idx="62">
                  <c:v>0.08</c:v>
                </c:pt>
                <c:pt idx="63">
                  <c:v>-0.01</c:v>
                </c:pt>
                <c:pt idx="64">
                  <c:v>0.08</c:v>
                </c:pt>
                <c:pt idx="65">
                  <c:v>0.4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02C-4007-BA36-9D2DA9D5060E}"/>
            </c:ext>
          </c:extLst>
        </c:ser>
        <c:ser>
          <c:idx val="2"/>
          <c:order val="2"/>
          <c:spPr>
            <a:ln w="28575">
              <a:noFill/>
            </a:ln>
          </c:spPr>
          <c:marker>
            <c:symbol val="none"/>
          </c:marker>
          <c:trendline>
            <c:trendlineType val="linear"/>
            <c:dispRSqr val="0"/>
            <c:dispEq val="0"/>
          </c:trendline>
          <c:xVal>
            <c:numRef>
              <c:f>Sheet2!$S$1:$S$2</c:f>
              <c:numCache>
                <c:formatCode>0.00</c:formatCode>
                <c:ptCount val="2"/>
                <c:pt idx="0">
                  <c:v>-1.5</c:v>
                </c:pt>
                <c:pt idx="1">
                  <c:v>2</c:v>
                </c:pt>
              </c:numCache>
            </c:numRef>
          </c:xVal>
          <c:yVal>
            <c:numRef>
              <c:f>Sheet2!$T$1:$T$2</c:f>
              <c:numCache>
                <c:formatCode>General</c:formatCode>
                <c:ptCount val="2"/>
                <c:pt idx="0">
                  <c:v>-1.5</c:v>
                </c:pt>
                <c:pt idx="1">
                  <c:v>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902C-4007-BA36-9D2DA9D506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19713584"/>
        <c:axId val="319713976"/>
      </c:scatterChart>
      <c:valAx>
        <c:axId val="319713584"/>
        <c:scaling>
          <c:orientation val="minMax"/>
          <c:max val="2"/>
          <c:min val="-1.5"/>
        </c:scaling>
        <c:delete val="0"/>
        <c:axPos val="b"/>
        <c:majorGridlines>
          <c:spPr>
            <a:ln>
              <a:solidFill>
                <a:schemeClr val="bg1">
                  <a:lumMod val="75000"/>
                </a:schemeClr>
              </a:solidFill>
            </a:ln>
          </c:spPr>
        </c:majorGridlines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319713976"/>
        <c:crosses val="autoZero"/>
        <c:crossBetween val="midCat"/>
      </c:valAx>
      <c:valAx>
        <c:axId val="319713976"/>
        <c:scaling>
          <c:orientation val="minMax"/>
          <c:max val="2"/>
          <c:min val="-1.5"/>
        </c:scaling>
        <c:delete val="0"/>
        <c:axPos val="l"/>
        <c:majorGridlines>
          <c:spPr>
            <a:ln>
              <a:solidFill>
                <a:schemeClr val="bg1">
                  <a:lumMod val="75000"/>
                </a:schemeClr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319713584"/>
        <c:crosses val="autoZero"/>
        <c:crossBetween val="midCat"/>
      </c:valAx>
      <c:spPr>
        <a:solidFill>
          <a:schemeClr val="bg1">
            <a:lumMod val="95000"/>
          </a:schemeClr>
        </a:solidFill>
      </c:spPr>
    </c:plotArea>
    <c:plotVisOnly val="1"/>
    <c:dispBlanksAs val="gap"/>
    <c:showDLblsOverMax val="0"/>
  </c:chart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7853810240198736"/>
          <c:y val="9.3162735492654816E-2"/>
          <c:w val="0.779391607818823"/>
          <c:h val="0.79425295956737285"/>
        </c:manualLayout>
      </c:layout>
      <c:scatterChart>
        <c:scatterStyle val="lineMarker"/>
        <c:varyColors val="0"/>
        <c:ser>
          <c:idx val="0"/>
          <c:order val="0"/>
          <c:spPr>
            <a:ln>
              <a:noFill/>
            </a:ln>
          </c:spPr>
          <c:marker>
            <c:symbol val="square"/>
            <c:size val="7"/>
            <c:spPr>
              <a:noFill/>
              <a:ln>
                <a:noFill/>
              </a:ln>
            </c:spPr>
          </c:marker>
          <c:xVal>
            <c:numRef>
              <c:f>Sheet1!$F$1:$F$32</c:f>
              <c:numCache>
                <c:formatCode>General</c:formatCode>
                <c:ptCount val="32"/>
                <c:pt idx="0">
                  <c:v>1</c:v>
                </c:pt>
                <c:pt idx="1">
                  <c:v>0.9</c:v>
                </c:pt>
                <c:pt idx="2">
                  <c:v>0.8</c:v>
                </c:pt>
                <c:pt idx="3">
                  <c:v>0.8</c:v>
                </c:pt>
                <c:pt idx="4">
                  <c:v>0.7</c:v>
                </c:pt>
                <c:pt idx="5">
                  <c:v>0.7</c:v>
                </c:pt>
                <c:pt idx="6">
                  <c:v>0.6</c:v>
                </c:pt>
                <c:pt idx="7">
                  <c:v>0.6</c:v>
                </c:pt>
                <c:pt idx="8">
                  <c:v>0.6</c:v>
                </c:pt>
                <c:pt idx="9">
                  <c:v>0.5</c:v>
                </c:pt>
                <c:pt idx="10">
                  <c:v>0.5</c:v>
                </c:pt>
                <c:pt idx="11">
                  <c:v>0.4</c:v>
                </c:pt>
                <c:pt idx="12">
                  <c:v>0.4</c:v>
                </c:pt>
                <c:pt idx="13">
                  <c:v>0.4</c:v>
                </c:pt>
                <c:pt idx="14">
                  <c:v>0.4</c:v>
                </c:pt>
                <c:pt idx="15">
                  <c:v>0.4</c:v>
                </c:pt>
                <c:pt idx="16">
                  <c:v>0.30000000000000004</c:v>
                </c:pt>
                <c:pt idx="17">
                  <c:v>0.30000000000000004</c:v>
                </c:pt>
                <c:pt idx="18">
                  <c:v>0.19999999999999996</c:v>
                </c:pt>
                <c:pt idx="19">
                  <c:v>0.19999999999999996</c:v>
                </c:pt>
                <c:pt idx="20">
                  <c:v>0.19999999999999996</c:v>
                </c:pt>
                <c:pt idx="21">
                  <c:v>0.19999999999999996</c:v>
                </c:pt>
                <c:pt idx="22">
                  <c:v>9.9999999999999978E-2</c:v>
                </c:pt>
                <c:pt idx="23">
                  <c:v>9.9999999999999978E-2</c:v>
                </c:pt>
                <c:pt idx="24">
                  <c:v>9.9999999999999978E-2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</c:numCache>
            </c:numRef>
          </c:xVal>
          <c:yVal>
            <c:numRef>
              <c:f>Sheet1!$D$1:$D$32</c:f>
              <c:numCache>
                <c:formatCode>General</c:formatCode>
                <c:ptCount val="3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0.83333333333333337</c:v>
                </c:pt>
                <c:pt idx="6">
                  <c:v>0.83333333333333337</c:v>
                </c:pt>
                <c:pt idx="7">
                  <c:v>0.83333333333333337</c:v>
                </c:pt>
                <c:pt idx="8">
                  <c:v>0.83333333333333337</c:v>
                </c:pt>
                <c:pt idx="9">
                  <c:v>0.83333333333333337</c:v>
                </c:pt>
                <c:pt idx="10">
                  <c:v>0.83333333333333337</c:v>
                </c:pt>
                <c:pt idx="11">
                  <c:v>0.83333333333333337</c:v>
                </c:pt>
                <c:pt idx="12">
                  <c:v>0.83333333333333337</c:v>
                </c:pt>
                <c:pt idx="13">
                  <c:v>0.83333333333333337</c:v>
                </c:pt>
                <c:pt idx="14">
                  <c:v>0.66666666666666663</c:v>
                </c:pt>
                <c:pt idx="15">
                  <c:v>0.66666666666666663</c:v>
                </c:pt>
                <c:pt idx="16">
                  <c:v>0.66666666666666663</c:v>
                </c:pt>
                <c:pt idx="17">
                  <c:v>0.66666666666666663</c:v>
                </c:pt>
                <c:pt idx="18">
                  <c:v>0.66666666666666663</c:v>
                </c:pt>
                <c:pt idx="19">
                  <c:v>0.66666666666666663</c:v>
                </c:pt>
                <c:pt idx="20">
                  <c:v>0.66666666666666663</c:v>
                </c:pt>
                <c:pt idx="21">
                  <c:v>0.66666666666666663</c:v>
                </c:pt>
                <c:pt idx="22">
                  <c:v>0.66666666666666663</c:v>
                </c:pt>
                <c:pt idx="23">
                  <c:v>0.5</c:v>
                </c:pt>
                <c:pt idx="24">
                  <c:v>0.5</c:v>
                </c:pt>
                <c:pt idx="25">
                  <c:v>0.5</c:v>
                </c:pt>
                <c:pt idx="26">
                  <c:v>0.33333333333333331</c:v>
                </c:pt>
                <c:pt idx="27">
                  <c:v>0.33333333333333331</c:v>
                </c:pt>
                <c:pt idx="28">
                  <c:v>0.33333333333333331</c:v>
                </c:pt>
                <c:pt idx="29">
                  <c:v>0.16666666666666666</c:v>
                </c:pt>
                <c:pt idx="30">
                  <c:v>0</c:v>
                </c:pt>
                <c:pt idx="3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E29-4C41-B8BA-8EFF453C58F2}"/>
            </c:ext>
          </c:extLst>
        </c:ser>
        <c:ser>
          <c:idx val="1"/>
          <c:order val="1"/>
          <c:spPr>
            <a:ln>
              <a:solidFill>
                <a:srgbClr val="FF0000"/>
              </a:solidFill>
            </a:ln>
          </c:spPr>
          <c:marker>
            <c:spPr>
              <a:solidFill>
                <a:srgbClr val="FF0000"/>
              </a:solidFill>
              <a:ln>
                <a:solidFill>
                  <a:srgbClr val="FF0000"/>
                </a:solidFill>
              </a:ln>
            </c:spPr>
          </c:marker>
          <c:xVal>
            <c:numRef>
              <c:f>Sheet1!$I$1:$I$31</c:f>
              <c:numCache>
                <c:formatCode>General</c:formatCode>
                <c:ptCount val="31"/>
                <c:pt idx="0">
                  <c:v>1</c:v>
                </c:pt>
                <c:pt idx="1">
                  <c:v>0.9</c:v>
                </c:pt>
                <c:pt idx="2">
                  <c:v>0.8</c:v>
                </c:pt>
                <c:pt idx="3">
                  <c:v>0.8</c:v>
                </c:pt>
                <c:pt idx="4">
                  <c:v>0.7</c:v>
                </c:pt>
                <c:pt idx="5">
                  <c:v>0.6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0.4</c:v>
                </c:pt>
                <c:pt idx="10">
                  <c:v>0.4</c:v>
                </c:pt>
                <c:pt idx="11">
                  <c:v>0.30000000000000004</c:v>
                </c:pt>
                <c:pt idx="12">
                  <c:v>0.30000000000000004</c:v>
                </c:pt>
                <c:pt idx="13">
                  <c:v>0.30000000000000004</c:v>
                </c:pt>
                <c:pt idx="14">
                  <c:v>0.19999999999999996</c:v>
                </c:pt>
                <c:pt idx="15">
                  <c:v>0.19999999999999996</c:v>
                </c:pt>
                <c:pt idx="16">
                  <c:v>9.9999999999999978E-2</c:v>
                </c:pt>
                <c:pt idx="17">
                  <c:v>9.9999999999999978E-2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</c:numCache>
            </c:numRef>
          </c:xVal>
          <c:yVal>
            <c:numRef>
              <c:f>Sheet1!$G$1:$G$32</c:f>
              <c:numCache>
                <c:formatCode>General</c:formatCode>
                <c:ptCount val="3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0.83333333333333337</c:v>
                </c:pt>
                <c:pt idx="23">
                  <c:v>0.66666666666666663</c:v>
                </c:pt>
                <c:pt idx="24">
                  <c:v>0.5</c:v>
                </c:pt>
                <c:pt idx="25">
                  <c:v>0.5</c:v>
                </c:pt>
                <c:pt idx="26">
                  <c:v>0.33333333333333331</c:v>
                </c:pt>
                <c:pt idx="27">
                  <c:v>0.33333333333333331</c:v>
                </c:pt>
                <c:pt idx="28">
                  <c:v>0.33333333333333331</c:v>
                </c:pt>
                <c:pt idx="29">
                  <c:v>0.16666666666666666</c:v>
                </c:pt>
                <c:pt idx="30">
                  <c:v>0</c:v>
                </c:pt>
                <c:pt idx="3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E29-4C41-B8BA-8EFF453C58F2}"/>
            </c:ext>
          </c:extLst>
        </c:ser>
        <c:ser>
          <c:idx val="2"/>
          <c:order val="2"/>
          <c:spPr>
            <a:ln>
              <a:solidFill>
                <a:schemeClr val="bg1">
                  <a:lumMod val="65000"/>
                </a:schemeClr>
              </a:solidFill>
              <a:prstDash val="dash"/>
            </a:ln>
          </c:spPr>
          <c:marker>
            <c:symbol val="none"/>
          </c:marker>
          <c:xVal>
            <c:numRef>
              <c:f>Sheet1!$J$1:$J$2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Sheet1!$K$1:$K$2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E29-4C41-B8BA-8EFF453C58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2846968"/>
        <c:axId val="152847360"/>
      </c:scatterChart>
      <c:valAx>
        <c:axId val="152846968"/>
        <c:scaling>
          <c:orientation val="minMax"/>
          <c:max val="1"/>
        </c:scaling>
        <c:delete val="0"/>
        <c:axPos val="b"/>
        <c:minorGridlines>
          <c:spPr>
            <a:ln>
              <a:solidFill>
                <a:schemeClr val="bg1">
                  <a:lumMod val="95000"/>
                </a:schemeClr>
              </a:solidFill>
            </a:ln>
          </c:spPr>
        </c:minorGridlines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1-Sp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52847360"/>
        <c:crosses val="autoZero"/>
        <c:crossBetween val="midCat"/>
        <c:minorUnit val="0.1"/>
      </c:valAx>
      <c:valAx>
        <c:axId val="152847360"/>
        <c:scaling>
          <c:orientation val="minMax"/>
          <c:max val="1"/>
        </c:scaling>
        <c:delete val="0"/>
        <c:axPos val="l"/>
        <c:majorGridlines>
          <c:spPr>
            <a:ln>
              <a:solidFill>
                <a:schemeClr val="bg1">
                  <a:lumMod val="95000"/>
                </a:schemeClr>
              </a:solidFill>
            </a:ln>
          </c:spPr>
        </c:majorGridlines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Se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52846968"/>
        <c:crosses val="autoZero"/>
        <c:crossBetween val="midCat"/>
        <c:majorUnit val="0.2"/>
      </c:valAx>
    </c:plotArea>
    <c:plotVisOnly val="1"/>
    <c:dispBlanksAs val="gap"/>
    <c:showDLblsOverMax val="0"/>
  </c:chart>
  <c:spPr>
    <a:ln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7853810240198736"/>
          <c:y val="9.3162735492654816E-2"/>
          <c:w val="0.779391607818823"/>
          <c:h val="0.79425295956737285"/>
        </c:manualLayout>
      </c:layout>
      <c:scatterChart>
        <c:scatterStyle val="lineMarker"/>
        <c:varyColors val="0"/>
        <c:ser>
          <c:idx val="0"/>
          <c:order val="0"/>
          <c:spPr>
            <a:ln>
              <a:solidFill>
                <a:schemeClr val="accent6"/>
              </a:solidFill>
            </a:ln>
          </c:spPr>
          <c:marker>
            <c:symbol val="square"/>
            <c:size val="7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</c:spPr>
          </c:marker>
          <c:xVal>
            <c:numRef>
              <c:f>Sheet1!$F$1:$F$32</c:f>
              <c:numCache>
                <c:formatCode>General</c:formatCode>
                <c:ptCount val="32"/>
                <c:pt idx="0">
                  <c:v>1</c:v>
                </c:pt>
                <c:pt idx="1">
                  <c:v>0.9</c:v>
                </c:pt>
                <c:pt idx="2">
                  <c:v>0.8</c:v>
                </c:pt>
                <c:pt idx="3">
                  <c:v>0.8</c:v>
                </c:pt>
                <c:pt idx="4">
                  <c:v>0.7</c:v>
                </c:pt>
                <c:pt idx="5">
                  <c:v>0.7</c:v>
                </c:pt>
                <c:pt idx="6">
                  <c:v>0.6</c:v>
                </c:pt>
                <c:pt idx="7">
                  <c:v>0.6</c:v>
                </c:pt>
                <c:pt idx="8">
                  <c:v>0.6</c:v>
                </c:pt>
                <c:pt idx="9">
                  <c:v>0.5</c:v>
                </c:pt>
                <c:pt idx="10">
                  <c:v>0.5</c:v>
                </c:pt>
                <c:pt idx="11">
                  <c:v>0.4</c:v>
                </c:pt>
                <c:pt idx="12">
                  <c:v>0.4</c:v>
                </c:pt>
                <c:pt idx="13">
                  <c:v>0.4</c:v>
                </c:pt>
                <c:pt idx="14">
                  <c:v>0.4</c:v>
                </c:pt>
                <c:pt idx="15">
                  <c:v>0.4</c:v>
                </c:pt>
                <c:pt idx="16">
                  <c:v>0.30000000000000004</c:v>
                </c:pt>
                <c:pt idx="17">
                  <c:v>0.30000000000000004</c:v>
                </c:pt>
                <c:pt idx="18">
                  <c:v>0.19999999999999996</c:v>
                </c:pt>
                <c:pt idx="19">
                  <c:v>0.19999999999999996</c:v>
                </c:pt>
                <c:pt idx="20">
                  <c:v>0.19999999999999996</c:v>
                </c:pt>
                <c:pt idx="21">
                  <c:v>0.19999999999999996</c:v>
                </c:pt>
                <c:pt idx="22">
                  <c:v>9.9999999999999978E-2</c:v>
                </c:pt>
                <c:pt idx="23">
                  <c:v>9.9999999999999978E-2</c:v>
                </c:pt>
                <c:pt idx="24">
                  <c:v>9.9999999999999978E-2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</c:numCache>
            </c:numRef>
          </c:xVal>
          <c:yVal>
            <c:numRef>
              <c:f>Sheet1!$D$1:$D$32</c:f>
              <c:numCache>
                <c:formatCode>General</c:formatCode>
                <c:ptCount val="3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0.83333333333333337</c:v>
                </c:pt>
                <c:pt idx="6">
                  <c:v>0.83333333333333337</c:v>
                </c:pt>
                <c:pt idx="7">
                  <c:v>0.83333333333333337</c:v>
                </c:pt>
                <c:pt idx="8">
                  <c:v>0.83333333333333337</c:v>
                </c:pt>
                <c:pt idx="9">
                  <c:v>0.83333333333333337</c:v>
                </c:pt>
                <c:pt idx="10">
                  <c:v>0.83333333333333337</c:v>
                </c:pt>
                <c:pt idx="11">
                  <c:v>0.83333333333333337</c:v>
                </c:pt>
                <c:pt idx="12">
                  <c:v>0.83333333333333337</c:v>
                </c:pt>
                <c:pt idx="13">
                  <c:v>0.83333333333333337</c:v>
                </c:pt>
                <c:pt idx="14">
                  <c:v>0.66666666666666663</c:v>
                </c:pt>
                <c:pt idx="15">
                  <c:v>0.66666666666666663</c:v>
                </c:pt>
                <c:pt idx="16">
                  <c:v>0.66666666666666663</c:v>
                </c:pt>
                <c:pt idx="17">
                  <c:v>0.66666666666666663</c:v>
                </c:pt>
                <c:pt idx="18">
                  <c:v>0.66666666666666663</c:v>
                </c:pt>
                <c:pt idx="19">
                  <c:v>0.66666666666666663</c:v>
                </c:pt>
                <c:pt idx="20">
                  <c:v>0.66666666666666663</c:v>
                </c:pt>
                <c:pt idx="21">
                  <c:v>0.66666666666666663</c:v>
                </c:pt>
                <c:pt idx="22">
                  <c:v>0.66666666666666663</c:v>
                </c:pt>
                <c:pt idx="23">
                  <c:v>0.5</c:v>
                </c:pt>
                <c:pt idx="24">
                  <c:v>0.5</c:v>
                </c:pt>
                <c:pt idx="25">
                  <c:v>0.5</c:v>
                </c:pt>
                <c:pt idx="26">
                  <c:v>0.33333333333333331</c:v>
                </c:pt>
                <c:pt idx="27">
                  <c:v>0.33333333333333331</c:v>
                </c:pt>
                <c:pt idx="28">
                  <c:v>0.33333333333333331</c:v>
                </c:pt>
                <c:pt idx="29">
                  <c:v>0.16666666666666666</c:v>
                </c:pt>
                <c:pt idx="30">
                  <c:v>0</c:v>
                </c:pt>
                <c:pt idx="3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20F-483D-8555-3E417C21C9EA}"/>
            </c:ext>
          </c:extLst>
        </c:ser>
        <c:ser>
          <c:idx val="1"/>
          <c:order val="1"/>
          <c:spPr>
            <a:ln>
              <a:solidFill>
                <a:srgbClr val="FF0000"/>
              </a:solidFill>
            </a:ln>
          </c:spPr>
          <c:marker>
            <c:spPr>
              <a:solidFill>
                <a:srgbClr val="FF0000"/>
              </a:solidFill>
              <a:ln>
                <a:solidFill>
                  <a:srgbClr val="FF0000"/>
                </a:solidFill>
              </a:ln>
            </c:spPr>
          </c:marker>
          <c:xVal>
            <c:numRef>
              <c:f>Sheet1!$I$1:$I$31</c:f>
              <c:numCache>
                <c:formatCode>General</c:formatCode>
                <c:ptCount val="31"/>
                <c:pt idx="0">
                  <c:v>1</c:v>
                </c:pt>
                <c:pt idx="1">
                  <c:v>0.9</c:v>
                </c:pt>
                <c:pt idx="2">
                  <c:v>0.8</c:v>
                </c:pt>
                <c:pt idx="3">
                  <c:v>0.8</c:v>
                </c:pt>
                <c:pt idx="4">
                  <c:v>0.7</c:v>
                </c:pt>
                <c:pt idx="5">
                  <c:v>0.6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0.4</c:v>
                </c:pt>
                <c:pt idx="10">
                  <c:v>0.4</c:v>
                </c:pt>
                <c:pt idx="11">
                  <c:v>0.30000000000000004</c:v>
                </c:pt>
                <c:pt idx="12">
                  <c:v>0.30000000000000004</c:v>
                </c:pt>
                <c:pt idx="13">
                  <c:v>0.30000000000000004</c:v>
                </c:pt>
                <c:pt idx="14">
                  <c:v>0.19999999999999996</c:v>
                </c:pt>
                <c:pt idx="15">
                  <c:v>0.19999999999999996</c:v>
                </c:pt>
                <c:pt idx="16">
                  <c:v>9.9999999999999978E-2</c:v>
                </c:pt>
                <c:pt idx="17">
                  <c:v>9.9999999999999978E-2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</c:numCache>
            </c:numRef>
          </c:xVal>
          <c:yVal>
            <c:numRef>
              <c:f>Sheet1!$G$1:$G$32</c:f>
              <c:numCache>
                <c:formatCode>General</c:formatCode>
                <c:ptCount val="3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0.83333333333333337</c:v>
                </c:pt>
                <c:pt idx="23">
                  <c:v>0.66666666666666663</c:v>
                </c:pt>
                <c:pt idx="24">
                  <c:v>0.5</c:v>
                </c:pt>
                <c:pt idx="25">
                  <c:v>0.5</c:v>
                </c:pt>
                <c:pt idx="26">
                  <c:v>0.33333333333333331</c:v>
                </c:pt>
                <c:pt idx="27">
                  <c:v>0.33333333333333331</c:v>
                </c:pt>
                <c:pt idx="28">
                  <c:v>0.33333333333333331</c:v>
                </c:pt>
                <c:pt idx="29">
                  <c:v>0.16666666666666666</c:v>
                </c:pt>
                <c:pt idx="30">
                  <c:v>0</c:v>
                </c:pt>
                <c:pt idx="3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20F-483D-8555-3E417C21C9EA}"/>
            </c:ext>
          </c:extLst>
        </c:ser>
        <c:ser>
          <c:idx val="2"/>
          <c:order val="2"/>
          <c:spPr>
            <a:ln>
              <a:solidFill>
                <a:schemeClr val="bg1">
                  <a:lumMod val="65000"/>
                </a:schemeClr>
              </a:solidFill>
              <a:prstDash val="dash"/>
            </a:ln>
          </c:spPr>
          <c:marker>
            <c:symbol val="none"/>
          </c:marker>
          <c:xVal>
            <c:numRef>
              <c:f>Sheet1!$J$1:$J$2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Sheet1!$K$1:$K$2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920F-483D-8555-3E417C21C9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2848144"/>
        <c:axId val="152848536"/>
      </c:scatterChart>
      <c:valAx>
        <c:axId val="152848144"/>
        <c:scaling>
          <c:orientation val="minMax"/>
          <c:max val="1"/>
        </c:scaling>
        <c:delete val="0"/>
        <c:axPos val="b"/>
        <c:minorGridlines>
          <c:spPr>
            <a:ln>
              <a:solidFill>
                <a:schemeClr val="bg1">
                  <a:lumMod val="95000"/>
                </a:schemeClr>
              </a:solidFill>
            </a:ln>
          </c:spPr>
        </c:minorGridlines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1-Sp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52848536"/>
        <c:crosses val="autoZero"/>
        <c:crossBetween val="midCat"/>
        <c:minorUnit val="0.1"/>
      </c:valAx>
      <c:valAx>
        <c:axId val="152848536"/>
        <c:scaling>
          <c:orientation val="minMax"/>
          <c:max val="1"/>
        </c:scaling>
        <c:delete val="0"/>
        <c:axPos val="l"/>
        <c:majorGridlines>
          <c:spPr>
            <a:ln>
              <a:solidFill>
                <a:schemeClr val="bg1">
                  <a:lumMod val="95000"/>
                </a:schemeClr>
              </a:solidFill>
            </a:ln>
          </c:spPr>
        </c:majorGridlines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Se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52848144"/>
        <c:crosses val="autoZero"/>
        <c:crossBetween val="midCat"/>
        <c:majorUnit val="0.2"/>
      </c:valAx>
    </c:plotArea>
    <c:plotVisOnly val="1"/>
    <c:dispBlanksAs val="gap"/>
    <c:showDLblsOverMax val="0"/>
  </c:chart>
  <c:spPr>
    <a:ln>
      <a:noFill/>
    </a:ln>
  </c:sp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4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GB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D99FC11-17B9-4DF3-92D0-073BC9F6791A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54778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0327C0-0BE4-45EB-ADFA-49CAB22BBE06}" type="slidenum">
              <a:rPr lang="en-GB"/>
              <a:pPr/>
              <a:t>1</a:t>
            </a:fld>
            <a:endParaRPr lang="en-GB"/>
          </a:p>
        </p:txBody>
      </p:sp>
      <p:sp>
        <p:nvSpPr>
          <p:cNvPr id="389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89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796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0327C0-0BE4-45EB-ADFA-49CAB22BBE06}" type="slidenum">
              <a:rPr lang="en-GB"/>
              <a:pPr/>
              <a:t>3</a:t>
            </a:fld>
            <a:endParaRPr lang="en-GB"/>
          </a:p>
        </p:txBody>
      </p:sp>
      <p:sp>
        <p:nvSpPr>
          <p:cNvPr id="389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89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8580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99FC11-17B9-4DF3-92D0-073BC9F6791A}" type="slidenum">
              <a:rPr lang="en-GB" smtClean="0"/>
              <a:pPr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1598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60327C0-0BE4-45EB-ADFA-49CAB22BBE06}" type="slidenum"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89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89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0916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99FC11-17B9-4DF3-92D0-073BC9F6791A}" type="slidenum">
              <a:rPr lang="en-GB" smtClean="0"/>
              <a:pPr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3390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99FC11-17B9-4DF3-92D0-073BC9F6791A}" type="slidenum">
              <a:rPr lang="en-GB" smtClean="0"/>
              <a:pPr/>
              <a:t>59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3600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422F0DB-DF50-4C4B-89E1-751225CA0E2F}" type="slidenum">
              <a:rPr lang="en-GB" smtClean="0"/>
              <a:pPr>
                <a:defRPr/>
              </a:pPr>
              <a:t>62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0881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422F0DB-DF50-4C4B-89E1-751225CA0E2F}" type="slidenum">
              <a:rPr lang="en-GB" smtClean="0"/>
              <a:pPr>
                <a:defRPr/>
              </a:pPr>
              <a:t>63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08812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0327C0-0BE4-45EB-ADFA-49CAB22BBE06}" type="slidenum">
              <a:rPr lang="en-GB"/>
              <a:pPr/>
              <a:t>66</a:t>
            </a:fld>
            <a:endParaRPr lang="en-GB"/>
          </a:p>
        </p:txBody>
      </p:sp>
      <p:sp>
        <p:nvSpPr>
          <p:cNvPr id="389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89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8430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0327C0-0BE4-45EB-ADFA-49CAB22BBE06}" type="slidenum">
              <a:rPr lang="en-GB"/>
              <a:pPr/>
              <a:t>79</a:t>
            </a:fld>
            <a:endParaRPr lang="en-GB"/>
          </a:p>
        </p:txBody>
      </p:sp>
      <p:sp>
        <p:nvSpPr>
          <p:cNvPr id="389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89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6952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99FC11-17B9-4DF3-92D0-073BC9F6791A}" type="slidenum">
              <a:rPr lang="en-GB" smtClean="0"/>
              <a:pPr/>
              <a:t>86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0242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783089C-8191-4060-B544-ED844B86DB2D}" type="datetime4">
              <a:rPr lang="en-GB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Lecture 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95966F-3723-497E-90BA-6AC8459AF35C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628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C00000"/>
              </a:buClr>
              <a:defRPr/>
            </a:lvl1pPr>
            <a:lvl2pPr>
              <a:buClr>
                <a:srgbClr val="C00000"/>
              </a:buClr>
              <a:defRPr/>
            </a:lvl2pPr>
            <a:lvl3pPr>
              <a:buClr>
                <a:srgbClr val="C00000"/>
              </a:buClr>
              <a:defRPr/>
            </a:lvl3pPr>
            <a:lvl4pPr>
              <a:buClr>
                <a:srgbClr val="C00000"/>
              </a:buClr>
              <a:defRPr sz="2400"/>
            </a:lvl4pPr>
            <a:lvl5pPr>
              <a:buClr>
                <a:srgbClr val="C00000"/>
              </a:buCl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0735AC-8509-4286-B41F-026BC07FE1F9}" type="datetime4">
              <a:rPr lang="en-GB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Lecture 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3C62B4-D659-4986-A106-F54448397AD7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7913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AE3D7-F25E-4CD4-A433-5D0EB803E1A3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AFDA5-DB8F-4C0A-984C-83722AC373E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4991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9184" y="1196976"/>
            <a:ext cx="5755216" cy="4968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196976"/>
            <a:ext cx="5755217" cy="4968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C7DCCE7-68A7-442A-AA7A-2E7473D4FC32}" type="datetime4">
              <a:rPr lang="en-GB"/>
              <a:pPr/>
              <a:t>05 February 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Lecture 8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99E4A5-1AE5-41FB-A351-8DA8656252AA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0228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1372A39-98A4-489E-BCB3-AF6228FB6663}" type="datetime4">
              <a:rPr lang="en-GB"/>
              <a:pPr/>
              <a:t>05 February 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Lecture 8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4992BF-F812-4ACC-A2E5-7A0CB50EA49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579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7718B7E-3715-4EA7-B199-09C09FE60381}" type="datetime4">
              <a:rPr lang="en-GB"/>
              <a:pPr/>
              <a:t>05 February 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Lecture 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A9DAEF-49BF-4E64-B9FA-4176E9A7F449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4791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1067C3-4C7E-434C-BBC8-747F571B7119}" type="datetime4">
              <a:rPr lang="en-GB"/>
              <a:pPr/>
              <a:t>05 February 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Lecture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E6E065-78C5-4121-A03E-B493A710BB1A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1355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9BC88B5-C73D-4CBD-84F0-0BA6B96DCE74}" type="datetime4">
              <a:rPr lang="en-GB"/>
              <a:pPr/>
              <a:t>05 February 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Lecture 8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4E3B90-6D42-48B6-B178-560C9C4A7255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4447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2438CCA-41BB-4C2E-A796-F2FCEBB6A06A}" type="datetime4">
              <a:rPr lang="en-GB"/>
              <a:pPr/>
              <a:t>05 February 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Lecture 8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398779-24BE-4776-9404-2FBB564F2A8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370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624858-2E5A-453A-9475-B2F07730183D}" type="datetime4">
              <a:rPr lang="en-GB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Lecture 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6E84ED-5D94-4D2D-9963-4BD5C1E2F9C4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8223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25467" y="269876"/>
            <a:ext cx="2927351" cy="58959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9184" y="269876"/>
            <a:ext cx="8583083" cy="5895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C43A915-436D-4AA1-9E2A-009DE4634485}" type="datetime4">
              <a:rPr lang="en-GB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Lecture 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D57723-A289-4712-B113-901C1B817E8C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68362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7C75F43-D511-49B7-8D92-10A36FD29FE8}" type="datetime4">
              <a:rPr lang="en-GB" smtClean="0"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Lecture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95966F-3723-497E-90BA-6AC8459AF35C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97066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C00000"/>
              </a:buClr>
              <a:defRPr/>
            </a:lvl1pPr>
            <a:lvl2pPr>
              <a:buClr>
                <a:srgbClr val="C00000"/>
              </a:buClr>
              <a:defRPr/>
            </a:lvl2pPr>
            <a:lvl3pPr>
              <a:buClr>
                <a:srgbClr val="C00000"/>
              </a:buClr>
              <a:defRPr sz="2400"/>
            </a:lvl3pPr>
            <a:lvl4pPr>
              <a:buClr>
                <a:srgbClr val="C00000"/>
              </a:buClr>
              <a:defRPr sz="2400"/>
            </a:lvl4pPr>
            <a:lvl5pPr>
              <a:buClr>
                <a:srgbClr val="C00000"/>
              </a:buCl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42FE8D1-EAB5-466B-B7C2-85C2DBF307F7}" type="datetime4">
              <a:rPr lang="en-GB" smtClean="0"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Lecture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3C62B4-D659-4986-A106-F54448397AD7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6161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08D33-A22E-4BC9-97A6-00C6DA0B9FA6}" type="datetime4">
              <a:rPr lang="en-GB" smtClean="0"/>
              <a:t>05 February 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AFDA5-DB8F-4C0A-984C-83722AC373E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964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074CAB-EE5F-4A7E-B71D-7F21B71C9CB7}" type="datetime4">
              <a:rPr lang="en-GB" smtClean="0"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Lecture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B3725C-B60D-4C41-915A-469CFE5A31BE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58816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9184" y="1196976"/>
            <a:ext cx="5755216" cy="4968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196976"/>
            <a:ext cx="5755217" cy="4968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4E02D89-5C04-4FAC-9E99-2A68640E6BD7}" type="datetime4">
              <a:rPr lang="en-GB" smtClean="0"/>
              <a:t>05 February 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Lecture 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99E4A5-1AE5-41FB-A351-8DA8656252AA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07945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7D00F82-8BFC-4E44-BFD9-72973508BC17}" type="datetime4">
              <a:rPr lang="en-GB" smtClean="0"/>
              <a:t>05 February 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Lecture 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4992BF-F812-4ACC-A2E5-7A0CB50EA49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28877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4EFC132-E522-42A3-BE12-32A1CBC9351E}" type="datetime4">
              <a:rPr lang="en-GB" smtClean="0"/>
              <a:t>05 February 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Lecture 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A9DAEF-49BF-4E64-B9FA-4176E9A7F449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37139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6FE5668-2A3D-472A-B627-1F293DDD90CA}" type="datetime4">
              <a:rPr lang="en-GB" smtClean="0"/>
              <a:t>05 February 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Lecture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E6E065-78C5-4121-A03E-B493A710BB1A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2193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1014BC-FAD9-40C7-90CD-AA82A6AE19E4}" type="datetime4">
              <a:rPr lang="en-GB" smtClean="0"/>
              <a:t>05 February 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Lecture 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4E3B90-6D42-48B6-B178-560C9C4A7255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1559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053A25C-F0E7-4A82-BCF3-F2D1C35B4BEA}" type="datetime4">
              <a:rPr lang="en-GB" smtClean="0"/>
              <a:t>05 February 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Lecture 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398779-24BE-4776-9404-2FBB564F2A8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20555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A3837F8-14BF-4DFE-96B7-1ED423EAFE03}" type="datetime4">
              <a:rPr lang="en-GB" smtClean="0"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Lecture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6E84ED-5D94-4D2D-9963-4BD5C1E2F9C4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11349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25467" y="269876"/>
            <a:ext cx="2927351" cy="58959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9184" y="269876"/>
            <a:ext cx="8583083" cy="5895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21F0C20-317F-4D2E-8B8D-650CF8083B8A}" type="datetime4">
              <a:rPr lang="en-GB" smtClean="0"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Lecture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D57723-A289-4712-B113-901C1B817E8C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9938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DDDDDD">
                <a:gamma/>
                <a:tint val="73725"/>
                <a:invGamma/>
              </a:srgbClr>
            </a:gs>
            <a:gs pos="50000">
              <a:srgbClr val="DDDDDD"/>
            </a:gs>
            <a:gs pos="100000">
              <a:srgbClr val="DDDDDD">
                <a:gamma/>
                <a:tint val="73725"/>
                <a:invGamma/>
              </a:srgbClr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5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9185" y="269875"/>
            <a:ext cx="11713633" cy="92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5785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9185" y="1196976"/>
            <a:ext cx="11713633" cy="49688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F5F5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785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2C9AE3D7-F25E-4CD4-A433-5D0EB803E1A3}" type="datetime4">
              <a:rPr lang="en-GB"/>
              <a:pPr/>
              <a:t>05 February 2025</a:t>
            </a:fld>
            <a:endParaRPr lang="en-GB"/>
          </a:p>
        </p:txBody>
      </p:sp>
      <p:sp>
        <p:nvSpPr>
          <p:cNvPr id="5785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GB" dirty="0"/>
              <a:t>Lecture 8</a:t>
            </a:r>
          </a:p>
        </p:txBody>
      </p:sp>
      <p:sp>
        <p:nvSpPr>
          <p:cNvPr id="5785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73AFDA5-DB8F-4C0A-984C-83722AC373E2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578567" name="Text Box 7"/>
          <p:cNvSpPr txBox="1">
            <a:spLocks noChangeArrowheads="1"/>
          </p:cNvSpPr>
          <p:nvPr userDrawn="1"/>
        </p:nvSpPr>
        <p:spPr bwMode="auto">
          <a:xfrm>
            <a:off x="143934" y="212725"/>
            <a:ext cx="662516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sz="1600" b="1">
              <a:solidFill>
                <a:schemeClr val="bg1"/>
              </a:solidFill>
            </a:endParaRPr>
          </a:p>
        </p:txBody>
      </p:sp>
      <p:pic>
        <p:nvPicPr>
          <p:cNvPr id="578569" name="Picture 9" descr="roslin new logo Blk"/>
          <p:cNvPicPr>
            <a:picLocks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328" y="6336000"/>
            <a:ext cx="1055767" cy="290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8570" name="Picture 5" descr="R(D)SVSlogofade3.psd"/>
          <p:cNvPicPr>
            <a:picLocks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6480" y="6211889"/>
            <a:ext cx="1537929" cy="522287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8571" name="Picture 11"/>
          <p:cNvPicPr>
            <a:picLocks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85" y="6219825"/>
            <a:ext cx="515851" cy="522288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63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sldNum="0" hdr="0"/>
  <p:txStyles>
    <p:titleStyle>
      <a:lvl1pPr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C00000"/>
        </a:buClr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C00000"/>
        </a:buClr>
        <a:buFont typeface="Times New Roman" pitchFamily="18" charset="0"/>
        <a:buChar char="»"/>
        <a:defRPr sz="2800">
          <a:solidFill>
            <a:srgbClr val="4D4D4D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C00000"/>
        </a:buClr>
        <a:buFont typeface="Times New Roman" pitchFamily="18" charset="0"/>
        <a:buChar char="»"/>
        <a:defRPr sz="2400">
          <a:solidFill>
            <a:srgbClr val="4D4D4D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C00000"/>
        </a:buClr>
        <a:buFont typeface="Times New Roman" pitchFamily="18" charset="0"/>
        <a:buChar char="»"/>
        <a:defRPr sz="2400">
          <a:solidFill>
            <a:srgbClr val="4D4D4D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C00000"/>
        </a:buClr>
        <a:buFont typeface="Times New Roman" pitchFamily="18" charset="0"/>
        <a:buChar char="»"/>
        <a:defRPr sz="2400">
          <a:solidFill>
            <a:srgbClr val="4D4D4D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4D4D4D"/>
        </a:buClr>
        <a:buFont typeface="Times New Roman" pitchFamily="18" charset="0"/>
        <a:buChar char="»"/>
        <a:defRPr sz="2000">
          <a:solidFill>
            <a:srgbClr val="4D4D4D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4D4D4D"/>
        </a:buClr>
        <a:buFont typeface="Times New Roman" pitchFamily="18" charset="0"/>
        <a:buChar char="»"/>
        <a:defRPr sz="2000">
          <a:solidFill>
            <a:srgbClr val="4D4D4D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4D4D4D"/>
        </a:buClr>
        <a:buFont typeface="Times New Roman" pitchFamily="18" charset="0"/>
        <a:buChar char="»"/>
        <a:defRPr sz="2000">
          <a:solidFill>
            <a:srgbClr val="4D4D4D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4D4D4D"/>
        </a:buClr>
        <a:buFont typeface="Times New Roman" pitchFamily="18" charset="0"/>
        <a:buChar char="»"/>
        <a:defRPr sz="2000">
          <a:solidFill>
            <a:srgbClr val="4D4D4D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DDDDDD">
                <a:gamma/>
                <a:tint val="73725"/>
                <a:invGamma/>
              </a:srgbClr>
            </a:gs>
            <a:gs pos="50000">
              <a:srgbClr val="DDDDDD"/>
            </a:gs>
            <a:gs pos="100000">
              <a:srgbClr val="DDDDDD">
                <a:gamma/>
                <a:tint val="73725"/>
                <a:invGamma/>
              </a:srgbClr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5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9185" y="269875"/>
            <a:ext cx="11713633" cy="92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5785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9185" y="1196976"/>
            <a:ext cx="11713633" cy="49688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F5F5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785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375132B6-8E0C-4FC4-A0BB-9F867AC2C312}" type="datetime4">
              <a:rPr lang="en-GB" smtClean="0"/>
              <a:t>05 February 2025</a:t>
            </a:fld>
            <a:endParaRPr lang="en-GB"/>
          </a:p>
        </p:txBody>
      </p:sp>
      <p:sp>
        <p:nvSpPr>
          <p:cNvPr id="5785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GB"/>
              <a:t>Lecture 6</a:t>
            </a:r>
          </a:p>
        </p:txBody>
      </p:sp>
      <p:sp>
        <p:nvSpPr>
          <p:cNvPr id="5785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73AFDA5-DB8F-4C0A-984C-83722AC373E2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578567" name="Text Box 7"/>
          <p:cNvSpPr txBox="1">
            <a:spLocks noChangeArrowheads="1"/>
          </p:cNvSpPr>
          <p:nvPr userDrawn="1"/>
        </p:nvSpPr>
        <p:spPr bwMode="auto">
          <a:xfrm>
            <a:off x="143934" y="212725"/>
            <a:ext cx="662516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sz="1600" b="1">
              <a:solidFill>
                <a:schemeClr val="bg1"/>
              </a:solidFill>
            </a:endParaRPr>
          </a:p>
        </p:txBody>
      </p:sp>
      <p:pic>
        <p:nvPicPr>
          <p:cNvPr id="578569" name="Picture 9" descr="roslin new logo Blk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4245" y="6211889"/>
            <a:ext cx="1405467" cy="290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8570" name="Picture 5" descr="R(D)SVSlogofade3.psd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884" y="6211889"/>
            <a:ext cx="2048933" cy="522287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8571" name="Picture 11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85" y="6219825"/>
            <a:ext cx="690033" cy="522288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8797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hf sldNum="0" hdr="0"/>
  <p:txStyles>
    <p:titleStyle>
      <a:lvl1pPr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C00000"/>
        </a:buClr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C00000"/>
        </a:buClr>
        <a:buFont typeface="Times New Roman" pitchFamily="18" charset="0"/>
        <a:buChar char="»"/>
        <a:defRPr sz="2800">
          <a:solidFill>
            <a:srgbClr val="4D4D4D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C00000"/>
        </a:buClr>
        <a:buFont typeface="Times New Roman" pitchFamily="18" charset="0"/>
        <a:buChar char="»"/>
        <a:defRPr sz="2400">
          <a:solidFill>
            <a:srgbClr val="4D4D4D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C00000"/>
        </a:buClr>
        <a:buFont typeface="Times New Roman" pitchFamily="18" charset="0"/>
        <a:buChar char="»"/>
        <a:defRPr sz="2400">
          <a:solidFill>
            <a:srgbClr val="4D4D4D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C00000"/>
        </a:buClr>
        <a:buFont typeface="Times New Roman" pitchFamily="18" charset="0"/>
        <a:buChar char="»"/>
        <a:defRPr sz="2400">
          <a:solidFill>
            <a:srgbClr val="4D4D4D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4D4D4D"/>
        </a:buClr>
        <a:buFont typeface="Times New Roman" pitchFamily="18" charset="0"/>
        <a:buChar char="»"/>
        <a:defRPr sz="2000">
          <a:solidFill>
            <a:srgbClr val="4D4D4D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4D4D4D"/>
        </a:buClr>
        <a:buFont typeface="Times New Roman" pitchFamily="18" charset="0"/>
        <a:buChar char="»"/>
        <a:defRPr sz="2000">
          <a:solidFill>
            <a:srgbClr val="4D4D4D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4D4D4D"/>
        </a:buClr>
        <a:buFont typeface="Times New Roman" pitchFamily="18" charset="0"/>
        <a:buChar char="»"/>
        <a:defRPr sz="2000">
          <a:solidFill>
            <a:srgbClr val="4D4D4D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4D4D4D"/>
        </a:buClr>
        <a:buFont typeface="Times New Roman" pitchFamily="18" charset="0"/>
        <a:buChar char="»"/>
        <a:defRPr sz="2000">
          <a:solidFill>
            <a:srgbClr val="4D4D4D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w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8.bin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8.wmf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2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1.bin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7BF56-F99F-4BBD-9878-7E7AD3B26356}" type="datetime4">
              <a:rPr lang="en-GB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8</a:t>
            </a:r>
          </a:p>
        </p:txBody>
      </p:sp>
      <p:sp>
        <p:nvSpPr>
          <p:cNvPr id="388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286000"/>
            <a:ext cx="7772400" cy="1143000"/>
          </a:xfrm>
        </p:spPr>
        <p:txBody>
          <a:bodyPr/>
          <a:lstStyle/>
          <a:p>
            <a:r>
              <a:rPr lang="en-GB" dirty="0"/>
              <a:t>… Lecture 8 …</a:t>
            </a:r>
            <a:br>
              <a:rPr lang="en-GB" dirty="0"/>
            </a:br>
            <a:r>
              <a:rPr lang="en-GB" dirty="0"/>
              <a:t>Genomic Evaluation</a:t>
            </a:r>
          </a:p>
        </p:txBody>
      </p:sp>
      <p:sp>
        <p:nvSpPr>
          <p:cNvPr id="388099" name="Rectangle 3"/>
          <p:cNvSpPr>
            <a:spLocks noGrp="1" noChangeArrowheads="1"/>
          </p:cNvSpPr>
          <p:nvPr>
            <p:ph type="subTitle" idx="1"/>
          </p:nvPr>
        </p:nvSpPr>
        <p:spPr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Marker Effects</a:t>
            </a:r>
          </a:p>
        </p:txBody>
      </p:sp>
      <p:sp>
        <p:nvSpPr>
          <p:cNvPr id="757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Estimates from Van </a:t>
            </a:r>
            <a:r>
              <a:rPr lang="en-GB" altLang="en-US" dirty="0" err="1"/>
              <a:t>Raden</a:t>
            </a:r>
            <a:r>
              <a:rPr lang="en-GB" altLang="en-US" dirty="0"/>
              <a:t> models are EBV</a:t>
            </a:r>
          </a:p>
          <a:p>
            <a:pPr eaLnBrk="1" hangingPunct="1"/>
            <a:r>
              <a:rPr lang="en-GB" altLang="en-US" dirty="0"/>
              <a:t>Can obtain marker effects as</a:t>
            </a:r>
          </a:p>
          <a:p>
            <a:pPr lvl="1" eaLnBrk="1" hangingPunct="1"/>
            <a:r>
              <a:rPr lang="en-GB" altLang="en-US" dirty="0"/>
              <a:t>Van </a:t>
            </a:r>
            <a:r>
              <a:rPr lang="en-GB" altLang="en-US" dirty="0" err="1"/>
              <a:t>Raden</a:t>
            </a:r>
            <a:r>
              <a:rPr lang="en-GB" altLang="en-US" dirty="0"/>
              <a:t> Model 1</a:t>
            </a:r>
          </a:p>
          <a:p>
            <a:pPr lvl="2" eaLnBrk="1" hangingPunct="1"/>
            <a:r>
              <a:rPr lang="en-GB" altLang="en-US" dirty="0"/>
              <a:t>units are ‘y-units’ per allele count </a:t>
            </a:r>
          </a:p>
          <a:p>
            <a:pPr lvl="1" eaLnBrk="1" hangingPunct="1"/>
            <a:r>
              <a:rPr lang="en-GB" altLang="en-US" dirty="0"/>
              <a:t>Van </a:t>
            </a:r>
            <a:r>
              <a:rPr lang="en-GB" altLang="en-US" dirty="0" err="1"/>
              <a:t>Raden</a:t>
            </a:r>
            <a:r>
              <a:rPr lang="en-GB" altLang="en-US" dirty="0"/>
              <a:t> Model 2 </a:t>
            </a:r>
          </a:p>
          <a:p>
            <a:pPr lvl="2" eaLnBrk="1" hangingPunct="1"/>
            <a:r>
              <a:rPr lang="en-GB" altLang="en-US" dirty="0"/>
              <a:t>units are ‘y-units’ per standardised allele count</a:t>
            </a:r>
          </a:p>
          <a:p>
            <a:pPr lvl="2" eaLnBrk="1" hangingPunct="1"/>
            <a:r>
              <a:rPr lang="en-GB" altLang="en-US" dirty="0"/>
              <a:t>to obtain as ‘y-units’ per allele count </a:t>
            </a:r>
          </a:p>
          <a:p>
            <a:pPr lvl="2" eaLnBrk="1" hangingPunct="1"/>
            <a:r>
              <a:rPr lang="en-GB" altLang="en-US" dirty="0"/>
              <a:t>where</a:t>
            </a:r>
            <a:r>
              <a:rPr lang="en-GB" altLang="en-US" b="1" dirty="0"/>
              <a:t> D</a:t>
            </a:r>
            <a:r>
              <a:rPr lang="en-GB" altLang="en-US" dirty="0"/>
              <a:t> is </a:t>
            </a:r>
            <a:r>
              <a:rPr lang="en-GB" altLang="en-US" i="1" dirty="0"/>
              <a:t>m </a:t>
            </a:r>
            <a:r>
              <a:rPr lang="en-GB" altLang="en-US" dirty="0"/>
              <a:t>x </a:t>
            </a:r>
            <a:r>
              <a:rPr lang="en-GB" altLang="en-US" i="1" dirty="0"/>
              <a:t>m</a:t>
            </a:r>
            <a:r>
              <a:rPr lang="en-GB" altLang="en-US" dirty="0"/>
              <a:t> diagonal matrix</a:t>
            </a:r>
            <a:r>
              <a:rPr lang="en-GB" altLang="en-US" b="1" dirty="0"/>
              <a:t> </a:t>
            </a:r>
            <a:r>
              <a:rPr lang="en-GB" altLang="en-US" dirty="0"/>
              <a:t>with </a:t>
            </a:r>
            <a:r>
              <a:rPr lang="en-GB" altLang="en-US" i="1" dirty="0" err="1"/>
              <a:t>d</a:t>
            </a:r>
            <a:r>
              <a:rPr lang="en-GB" altLang="en-US" i="1" baseline="-25000" dirty="0" err="1"/>
              <a:t>jj</a:t>
            </a:r>
            <a:r>
              <a:rPr lang="en-GB" altLang="en-US" i="1" dirty="0"/>
              <a:t>=2p</a:t>
            </a:r>
            <a:r>
              <a:rPr lang="en-GB" altLang="en-US" i="1" baseline="-25000" dirty="0"/>
              <a:t>j</a:t>
            </a:r>
            <a:r>
              <a:rPr lang="en-GB" altLang="en-US" dirty="0"/>
              <a:t>(</a:t>
            </a:r>
            <a:r>
              <a:rPr lang="en-GB" altLang="en-US" i="1" dirty="0"/>
              <a:t>1-p</a:t>
            </a:r>
            <a:r>
              <a:rPr lang="en-GB" altLang="en-US" i="1" baseline="-25000" dirty="0"/>
              <a:t>j</a:t>
            </a:r>
            <a:r>
              <a:rPr lang="en-GB" altLang="en-US" dirty="0"/>
              <a:t>)</a:t>
            </a:r>
          </a:p>
          <a:p>
            <a:pPr eaLnBrk="1" hangingPunct="1"/>
            <a:r>
              <a:rPr lang="en-GB" altLang="en-US" dirty="0"/>
              <a:t>They are different! </a:t>
            </a:r>
          </a:p>
          <a:p>
            <a:pPr lvl="1" eaLnBrk="1" hangingPunct="1"/>
            <a:r>
              <a:rPr lang="en-GB" altLang="en-US"/>
              <a:t>more </a:t>
            </a:r>
            <a:r>
              <a:rPr lang="en-GB" altLang="en-US" dirty="0"/>
              <a:t>in Tutorial 8</a:t>
            </a:r>
          </a:p>
          <a:p>
            <a:pPr eaLnBrk="1" hangingPunct="1"/>
            <a:endParaRPr lang="en-GB" altLang="en-US" dirty="0"/>
          </a:p>
        </p:txBody>
      </p:sp>
      <p:sp>
        <p:nvSpPr>
          <p:cNvPr id="7578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4C6473F-E3AE-49F5-8E50-58A1AB136FBE}" type="datetime4">
              <a:rPr lang="en-GB" altLang="en-US"/>
              <a:pPr/>
              <a:t>05 February 2025</a:t>
            </a:fld>
            <a:endParaRPr lang="en-GB" altLang="en-US"/>
          </a:p>
        </p:txBody>
      </p:sp>
      <p:sp>
        <p:nvSpPr>
          <p:cNvPr id="7578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75782" name="Rectangle 64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75783" name="Object 10"/>
          <p:cNvGraphicFramePr>
            <a:graphicFrameLocks noChangeAspect="1"/>
          </p:cNvGraphicFramePr>
          <p:nvPr/>
        </p:nvGraphicFramePr>
        <p:xfrm>
          <a:off x="6200775" y="2319339"/>
          <a:ext cx="2300288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83" name="Equation" r:id="rId3" imgW="1066680" imgH="266400" progId="Equation.DSMT4">
                  <p:embed/>
                </p:oleObj>
              </mc:Choice>
              <mc:Fallback>
                <p:oleObj name="Equation" r:id="rId3" imgW="1066680" imgH="266400" progId="Equation.DSMT4">
                  <p:embed/>
                  <p:pic>
                    <p:nvPicPr>
                      <p:cNvPr id="75783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0775" y="2319339"/>
                        <a:ext cx="2300288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4" name="Object 11"/>
          <p:cNvGraphicFramePr>
            <a:graphicFrameLocks noChangeAspect="1"/>
          </p:cNvGraphicFramePr>
          <p:nvPr/>
        </p:nvGraphicFramePr>
        <p:xfrm>
          <a:off x="6184900" y="3259386"/>
          <a:ext cx="2401888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84" name="Equation" r:id="rId5" imgW="1066680" imgH="266400" progId="Equation.DSMT4">
                  <p:embed/>
                </p:oleObj>
              </mc:Choice>
              <mc:Fallback>
                <p:oleObj name="Equation" r:id="rId5" imgW="1066680" imgH="266400" progId="Equation.DSMT4">
                  <p:embed/>
                  <p:pic>
                    <p:nvPicPr>
                      <p:cNvPr id="75784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3259386"/>
                        <a:ext cx="2401888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5" name="Rectangle 70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5786" name="Rectangle 71"/>
          <p:cNvSpPr>
            <a:spLocks noChangeArrowheads="1"/>
          </p:cNvSpPr>
          <p:nvPr/>
        </p:nvSpPr>
        <p:spPr bwMode="auto">
          <a:xfrm>
            <a:off x="1524000" y="539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5787" name="Rectangle 72"/>
          <p:cNvSpPr>
            <a:spLocks noChangeArrowheads="1"/>
          </p:cNvSpPr>
          <p:nvPr/>
        </p:nvSpPr>
        <p:spPr bwMode="auto">
          <a:xfrm>
            <a:off x="1524000" y="805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7896201" y="4175125"/>
          <a:ext cx="973137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85" name="Equation" r:id="rId7" imgW="431640" imgH="253800" progId="Equation.DSMT4">
                  <p:embed/>
                </p:oleObj>
              </mc:Choice>
              <mc:Fallback>
                <p:oleObj name="Equation" r:id="rId7" imgW="431640" imgH="253800" progId="Equation.DSMT4">
                  <p:embed/>
                  <p:pic>
                    <p:nvPicPr>
                      <p:cNvPr id="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6201" y="4175125"/>
                        <a:ext cx="973137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2805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7BF56-F99F-4BBD-9878-7E7AD3B26356}" type="datetime4">
              <a:rPr lang="en-GB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8</a:t>
            </a:r>
          </a:p>
        </p:txBody>
      </p:sp>
      <p:sp>
        <p:nvSpPr>
          <p:cNvPr id="388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286000"/>
            <a:ext cx="7772400" cy="1143000"/>
          </a:xfrm>
        </p:spPr>
        <p:txBody>
          <a:bodyPr/>
          <a:lstStyle/>
          <a:p>
            <a:r>
              <a:rPr lang="en-GB" dirty="0"/>
              <a:t>… Lecture 8 …</a:t>
            </a:r>
            <a:br>
              <a:rPr lang="en-GB" dirty="0"/>
            </a:br>
            <a:r>
              <a:rPr lang="en-GB" dirty="0"/>
              <a:t>Genomic Evaluation</a:t>
            </a:r>
          </a:p>
        </p:txBody>
      </p:sp>
      <p:sp>
        <p:nvSpPr>
          <p:cNvPr id="388099" name="Rectangle 3"/>
          <p:cNvSpPr>
            <a:spLocks noGrp="1" noChangeArrowheads="1"/>
          </p:cNvSpPr>
          <p:nvPr>
            <p:ph type="subTitle" idx="1"/>
          </p:nvPr>
        </p:nvSpPr>
        <p:spPr>
          <a:ln/>
        </p:spPr>
        <p:txBody>
          <a:bodyPr/>
          <a:lstStyle/>
          <a:p>
            <a:r>
              <a:rPr lang="en-US" dirty="0"/>
              <a:t>Part 1: Looking at </a:t>
            </a:r>
            <a:r>
              <a:rPr lang="en-US" b="1" dirty="0"/>
              <a:t>G </a:t>
            </a:r>
            <a:r>
              <a:rPr lang="en-US" dirty="0"/>
              <a:t>matrices</a:t>
            </a:r>
          </a:p>
        </p:txBody>
      </p:sp>
    </p:spTree>
    <p:extLst>
      <p:ext uri="{BB962C8B-B14F-4D97-AF65-F5344CB8AC3E}">
        <p14:creationId xmlns:p14="http://schemas.microsoft.com/office/powerpoint/2010/main" val="1051340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Lecture 6 Population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39185" y="4461493"/>
            <a:ext cx="11713633" cy="1704358"/>
          </a:xfrm>
        </p:spPr>
        <p:txBody>
          <a:bodyPr/>
          <a:lstStyle/>
          <a:p>
            <a:r>
              <a:rPr lang="en-GB" sz="2800" dirty="0"/>
              <a:t>Add markers assumed dense &amp; genome-wide</a:t>
            </a:r>
          </a:p>
          <a:p>
            <a:r>
              <a:rPr lang="en-GB" sz="2800" u="sng" dirty="0"/>
              <a:t>No</a:t>
            </a:r>
            <a:r>
              <a:rPr lang="en-GB" sz="2800" dirty="0"/>
              <a:t> requirement for map position or order</a:t>
            </a:r>
          </a:p>
          <a:p>
            <a:pPr lvl="1"/>
            <a:r>
              <a:rPr lang="en-GB" dirty="0"/>
              <a:t>sufficient numbers will be discussed in Lecture 9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067C3-4C7E-434C-BBC8-747F571B711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  <p:grpSp>
        <p:nvGrpSpPr>
          <p:cNvPr id="9" name="Group 8"/>
          <p:cNvGrpSpPr>
            <a:grpSpLocks/>
          </p:cNvGrpSpPr>
          <p:nvPr/>
        </p:nvGrpSpPr>
        <p:grpSpPr>
          <a:xfrm>
            <a:off x="3643908" y="1221133"/>
            <a:ext cx="4904184" cy="3240360"/>
            <a:chOff x="683568" y="692696"/>
            <a:chExt cx="6480720" cy="4320480"/>
          </a:xfrm>
        </p:grpSpPr>
        <p:sp>
          <p:nvSpPr>
            <p:cNvPr id="10" name="Rectangle 9"/>
            <p:cNvSpPr/>
            <p:nvPr/>
          </p:nvSpPr>
          <p:spPr>
            <a:xfrm>
              <a:off x="1691680" y="692696"/>
              <a:ext cx="720080" cy="72008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699792" y="692696"/>
              <a:ext cx="720080" cy="72008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436096" y="692696"/>
              <a:ext cx="720080" cy="72008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444208" y="692696"/>
              <a:ext cx="720080" cy="72008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83568" y="2492896"/>
              <a:ext cx="720080" cy="72008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691680" y="2492896"/>
              <a:ext cx="720080" cy="72008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436096" y="2492896"/>
              <a:ext cx="720080" cy="72008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444208" y="2492896"/>
              <a:ext cx="720080" cy="72008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699792" y="2492896"/>
              <a:ext cx="720080" cy="72008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707904" y="2492896"/>
              <a:ext cx="720080" cy="72008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275856" y="4293096"/>
              <a:ext cx="720080" cy="72008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283968" y="4293096"/>
              <a:ext cx="720080" cy="72008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12</a:t>
              </a:r>
            </a:p>
          </p:txBody>
        </p:sp>
        <p:cxnSp>
          <p:nvCxnSpPr>
            <p:cNvPr id="22" name="Straight Arrow Connector 21"/>
            <p:cNvCxnSpPr>
              <a:stCxn id="10" idx="2"/>
              <a:endCxn id="14" idx="0"/>
            </p:cNvCxnSpPr>
            <p:nvPr/>
          </p:nvCxnSpPr>
          <p:spPr>
            <a:xfrm flipH="1">
              <a:off x="1043608" y="1412776"/>
              <a:ext cx="1008112" cy="10801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11" idx="2"/>
              <a:endCxn id="14" idx="0"/>
            </p:cNvCxnSpPr>
            <p:nvPr/>
          </p:nvCxnSpPr>
          <p:spPr>
            <a:xfrm flipH="1">
              <a:off x="1043608" y="1412776"/>
              <a:ext cx="2016224" cy="10801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10" idx="2"/>
              <a:endCxn id="15" idx="0"/>
            </p:cNvCxnSpPr>
            <p:nvPr/>
          </p:nvCxnSpPr>
          <p:spPr>
            <a:xfrm>
              <a:off x="2051720" y="1412776"/>
              <a:ext cx="0" cy="10801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11" idx="2"/>
              <a:endCxn id="15" idx="0"/>
            </p:cNvCxnSpPr>
            <p:nvPr/>
          </p:nvCxnSpPr>
          <p:spPr>
            <a:xfrm flipH="1">
              <a:off x="2051720" y="1412776"/>
              <a:ext cx="1008112" cy="10801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10" idx="2"/>
              <a:endCxn id="18" idx="0"/>
            </p:cNvCxnSpPr>
            <p:nvPr/>
          </p:nvCxnSpPr>
          <p:spPr>
            <a:xfrm>
              <a:off x="2051720" y="1412776"/>
              <a:ext cx="1008112" cy="10801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1" idx="2"/>
              <a:endCxn id="18" idx="0"/>
            </p:cNvCxnSpPr>
            <p:nvPr/>
          </p:nvCxnSpPr>
          <p:spPr>
            <a:xfrm>
              <a:off x="3059832" y="1412776"/>
              <a:ext cx="0" cy="10801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10" idx="2"/>
              <a:endCxn id="19" idx="0"/>
            </p:cNvCxnSpPr>
            <p:nvPr/>
          </p:nvCxnSpPr>
          <p:spPr>
            <a:xfrm>
              <a:off x="2051720" y="1412776"/>
              <a:ext cx="2016224" cy="10801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1" idx="2"/>
              <a:endCxn id="19" idx="0"/>
            </p:cNvCxnSpPr>
            <p:nvPr/>
          </p:nvCxnSpPr>
          <p:spPr>
            <a:xfrm>
              <a:off x="3059832" y="1412776"/>
              <a:ext cx="1008112" cy="10801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12" idx="2"/>
              <a:endCxn id="16" idx="0"/>
            </p:cNvCxnSpPr>
            <p:nvPr/>
          </p:nvCxnSpPr>
          <p:spPr>
            <a:xfrm>
              <a:off x="5796136" y="1412776"/>
              <a:ext cx="0" cy="10801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18" idx="2"/>
              <a:endCxn id="21" idx="0"/>
            </p:cNvCxnSpPr>
            <p:nvPr/>
          </p:nvCxnSpPr>
          <p:spPr>
            <a:xfrm>
              <a:off x="3059832" y="3212976"/>
              <a:ext cx="1584176" cy="10801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12" idx="2"/>
              <a:endCxn id="17" idx="0"/>
            </p:cNvCxnSpPr>
            <p:nvPr/>
          </p:nvCxnSpPr>
          <p:spPr>
            <a:xfrm>
              <a:off x="5796136" y="1412776"/>
              <a:ext cx="1008112" cy="10801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13" idx="2"/>
              <a:endCxn id="17" idx="0"/>
            </p:cNvCxnSpPr>
            <p:nvPr/>
          </p:nvCxnSpPr>
          <p:spPr>
            <a:xfrm>
              <a:off x="6804248" y="1412776"/>
              <a:ext cx="0" cy="10801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13" idx="2"/>
              <a:endCxn id="16" idx="0"/>
            </p:cNvCxnSpPr>
            <p:nvPr/>
          </p:nvCxnSpPr>
          <p:spPr>
            <a:xfrm flipH="1">
              <a:off x="5796136" y="1412776"/>
              <a:ext cx="1008112" cy="10801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>
              <a:stCxn id="17" idx="2"/>
              <a:endCxn id="21" idx="0"/>
            </p:cNvCxnSpPr>
            <p:nvPr/>
          </p:nvCxnSpPr>
          <p:spPr>
            <a:xfrm flipH="1">
              <a:off x="4644008" y="3212976"/>
              <a:ext cx="2160240" cy="10801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>
              <a:stCxn id="16" idx="2"/>
              <a:endCxn id="20" idx="0"/>
            </p:cNvCxnSpPr>
            <p:nvPr/>
          </p:nvCxnSpPr>
          <p:spPr>
            <a:xfrm flipH="1">
              <a:off x="3635896" y="3212976"/>
              <a:ext cx="2160240" cy="10801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stCxn id="15" idx="2"/>
              <a:endCxn id="20" idx="0"/>
            </p:cNvCxnSpPr>
            <p:nvPr/>
          </p:nvCxnSpPr>
          <p:spPr>
            <a:xfrm>
              <a:off x="2051720" y="3212976"/>
              <a:ext cx="1584176" cy="10801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151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0" name="Straight Connector 249"/>
          <p:cNvCxnSpPr/>
          <p:nvPr/>
        </p:nvCxnSpPr>
        <p:spPr>
          <a:xfrm>
            <a:off x="3179648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/>
          <p:cNvCxnSpPr/>
          <p:nvPr/>
        </p:nvCxnSpPr>
        <p:spPr>
          <a:xfrm>
            <a:off x="3551680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/>
          <p:cNvCxnSpPr/>
          <p:nvPr/>
        </p:nvCxnSpPr>
        <p:spPr>
          <a:xfrm flipH="1">
            <a:off x="3923712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/>
          <p:cNvCxnSpPr/>
          <p:nvPr/>
        </p:nvCxnSpPr>
        <p:spPr>
          <a:xfrm>
            <a:off x="3179648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/>
          <p:cNvCxnSpPr/>
          <p:nvPr/>
        </p:nvCxnSpPr>
        <p:spPr>
          <a:xfrm>
            <a:off x="3551680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8</a:t>
            </a:r>
          </a:p>
        </p:txBody>
      </p:sp>
      <p:cxnSp>
        <p:nvCxnSpPr>
          <p:cNvPr id="222" name="Straight Arrow Connector 221"/>
          <p:cNvCxnSpPr/>
          <p:nvPr/>
        </p:nvCxnSpPr>
        <p:spPr>
          <a:xfrm flipH="1">
            <a:off x="2395013" y="1340769"/>
            <a:ext cx="1246737" cy="11665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/>
          <p:cNvCxnSpPr/>
          <p:nvPr/>
        </p:nvCxnSpPr>
        <p:spPr>
          <a:xfrm>
            <a:off x="3659158" y="1340769"/>
            <a:ext cx="384587" cy="11247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Arrow Connector 223"/>
          <p:cNvCxnSpPr/>
          <p:nvPr/>
        </p:nvCxnSpPr>
        <p:spPr>
          <a:xfrm>
            <a:off x="3659158" y="1340769"/>
            <a:ext cx="1746599" cy="11247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/>
          <p:cNvCxnSpPr/>
          <p:nvPr/>
        </p:nvCxnSpPr>
        <p:spPr>
          <a:xfrm>
            <a:off x="3641750" y="1340769"/>
            <a:ext cx="3222355" cy="112053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/>
          <p:cNvCxnSpPr/>
          <p:nvPr/>
        </p:nvCxnSpPr>
        <p:spPr>
          <a:xfrm flipH="1">
            <a:off x="2444942" y="1340769"/>
            <a:ext cx="2564915" cy="11247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/>
          <p:cNvCxnSpPr/>
          <p:nvPr/>
        </p:nvCxnSpPr>
        <p:spPr>
          <a:xfrm flipH="1">
            <a:off x="4043746" y="1316737"/>
            <a:ext cx="979358" cy="114875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227"/>
          <p:cNvCxnSpPr/>
          <p:nvPr/>
        </p:nvCxnSpPr>
        <p:spPr>
          <a:xfrm>
            <a:off x="5032314" y="1340769"/>
            <a:ext cx="349574" cy="11247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/>
          <p:cNvCxnSpPr/>
          <p:nvPr/>
        </p:nvCxnSpPr>
        <p:spPr>
          <a:xfrm>
            <a:off x="5032314" y="1340769"/>
            <a:ext cx="1849174" cy="11532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/>
          <p:cNvCxnSpPr/>
          <p:nvPr/>
        </p:nvCxnSpPr>
        <p:spPr>
          <a:xfrm>
            <a:off x="8064200" y="1340768"/>
            <a:ext cx="1836176" cy="1008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Arrow Connector 230"/>
          <p:cNvCxnSpPr/>
          <p:nvPr/>
        </p:nvCxnSpPr>
        <p:spPr>
          <a:xfrm>
            <a:off x="9444344" y="1340768"/>
            <a:ext cx="576064" cy="1008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Arrow Connector 231"/>
          <p:cNvCxnSpPr/>
          <p:nvPr/>
        </p:nvCxnSpPr>
        <p:spPr>
          <a:xfrm>
            <a:off x="8075644" y="1340768"/>
            <a:ext cx="348609" cy="1008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/>
          <p:cNvCxnSpPr/>
          <p:nvPr/>
        </p:nvCxnSpPr>
        <p:spPr>
          <a:xfrm flipH="1">
            <a:off x="8436234" y="1340768"/>
            <a:ext cx="1015680" cy="1008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Arrow Connector 233"/>
          <p:cNvCxnSpPr/>
          <p:nvPr/>
        </p:nvCxnSpPr>
        <p:spPr>
          <a:xfrm>
            <a:off x="3923712" y="3223490"/>
            <a:ext cx="1230194" cy="9975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Arrow Connector 234"/>
          <p:cNvCxnSpPr/>
          <p:nvPr/>
        </p:nvCxnSpPr>
        <p:spPr>
          <a:xfrm>
            <a:off x="5356174" y="3223490"/>
            <a:ext cx="1627962" cy="9975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/>
          <p:cNvCxnSpPr/>
          <p:nvPr/>
        </p:nvCxnSpPr>
        <p:spPr>
          <a:xfrm flipH="1">
            <a:off x="7038095" y="3223490"/>
            <a:ext cx="2778282" cy="997599"/>
          </a:xfrm>
          <a:prstGeom prst="straightConnector1">
            <a:avLst/>
          </a:prstGeom>
          <a:ln w="63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Arrow Connector 236"/>
          <p:cNvCxnSpPr/>
          <p:nvPr/>
        </p:nvCxnSpPr>
        <p:spPr>
          <a:xfrm flipH="1">
            <a:off x="5195873" y="3223490"/>
            <a:ext cx="3120329" cy="9975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TextBox 237"/>
          <p:cNvSpPr txBox="1"/>
          <p:nvPr/>
        </p:nvSpPr>
        <p:spPr>
          <a:xfrm>
            <a:off x="3508314" y="27231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1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032314" y="27231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2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8004114" y="26064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9451914" y="26064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4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2212914" y="21235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5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3697878" y="21235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6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5182842" y="21235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7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6667806" y="21235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8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8152770" y="21235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9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9637736" y="212356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10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5015880" y="4067780"/>
            <a:ext cx="428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11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6675512" y="405611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12</a:t>
            </a:r>
          </a:p>
        </p:txBody>
      </p:sp>
      <p:sp>
        <p:nvSpPr>
          <p:cNvPr id="714" name="TextBox 713"/>
          <p:cNvSpPr txBox="1"/>
          <p:nvPr/>
        </p:nvSpPr>
        <p:spPr>
          <a:xfrm>
            <a:off x="6463172" y="9820401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694" name="TextBox 693"/>
          <p:cNvSpPr txBox="1">
            <a:spLocks/>
          </p:cNvSpPr>
          <p:nvPr/>
        </p:nvSpPr>
        <p:spPr>
          <a:xfrm>
            <a:off x="3299680" y="674132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696" name="TextBox 695"/>
          <p:cNvSpPr txBox="1">
            <a:spLocks/>
          </p:cNvSpPr>
          <p:nvPr/>
        </p:nvSpPr>
        <p:spPr>
          <a:xfrm>
            <a:off x="4043744" y="674132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698" name="TextBox 697"/>
          <p:cNvSpPr txBox="1">
            <a:spLocks/>
          </p:cNvSpPr>
          <p:nvPr/>
        </p:nvSpPr>
        <p:spPr>
          <a:xfrm>
            <a:off x="3671712" y="674132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727" name="TextBox 726"/>
          <p:cNvSpPr txBox="1">
            <a:spLocks/>
          </p:cNvSpPr>
          <p:nvPr/>
        </p:nvSpPr>
        <p:spPr>
          <a:xfrm>
            <a:off x="2927648" y="674132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768" name="TextBox 767"/>
          <p:cNvSpPr txBox="1">
            <a:spLocks/>
          </p:cNvSpPr>
          <p:nvPr/>
        </p:nvSpPr>
        <p:spPr>
          <a:xfrm>
            <a:off x="3299680" y="948782"/>
            <a:ext cx="252000" cy="252000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769" name="TextBox 768"/>
          <p:cNvSpPr txBox="1">
            <a:spLocks/>
          </p:cNvSpPr>
          <p:nvPr/>
        </p:nvSpPr>
        <p:spPr>
          <a:xfrm>
            <a:off x="4043744" y="948782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770" name="TextBox 769"/>
          <p:cNvSpPr txBox="1">
            <a:spLocks/>
          </p:cNvSpPr>
          <p:nvPr/>
        </p:nvSpPr>
        <p:spPr>
          <a:xfrm>
            <a:off x="3671712" y="948782"/>
            <a:ext cx="252000" cy="252000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771" name="TextBox 770"/>
          <p:cNvSpPr txBox="1">
            <a:spLocks/>
          </p:cNvSpPr>
          <p:nvPr/>
        </p:nvSpPr>
        <p:spPr>
          <a:xfrm>
            <a:off x="2927648" y="948782"/>
            <a:ext cx="252000" cy="252000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774" name="Straight Connector 773"/>
          <p:cNvCxnSpPr>
            <a:stCxn id="769" idx="1"/>
            <a:endCxn id="770" idx="3"/>
          </p:cNvCxnSpPr>
          <p:nvPr/>
        </p:nvCxnSpPr>
        <p:spPr>
          <a:xfrm flipH="1">
            <a:off x="3923712" y="107478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6" name="TextBox 785"/>
          <p:cNvSpPr txBox="1">
            <a:spLocks/>
          </p:cNvSpPr>
          <p:nvPr/>
        </p:nvSpPr>
        <p:spPr>
          <a:xfrm>
            <a:off x="4883856" y="670102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787" name="TextBox 786"/>
          <p:cNvSpPr txBox="1">
            <a:spLocks/>
          </p:cNvSpPr>
          <p:nvPr/>
        </p:nvSpPr>
        <p:spPr>
          <a:xfrm>
            <a:off x="5627920" y="670102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788" name="TextBox 787"/>
          <p:cNvSpPr txBox="1">
            <a:spLocks/>
          </p:cNvSpPr>
          <p:nvPr/>
        </p:nvSpPr>
        <p:spPr>
          <a:xfrm>
            <a:off x="5255888" y="670102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789" name="TextBox 788"/>
          <p:cNvSpPr txBox="1">
            <a:spLocks/>
          </p:cNvSpPr>
          <p:nvPr/>
        </p:nvSpPr>
        <p:spPr>
          <a:xfrm>
            <a:off x="4511824" y="670102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790" name="Straight Connector 789"/>
          <p:cNvCxnSpPr>
            <a:endCxn id="786" idx="1"/>
          </p:cNvCxnSpPr>
          <p:nvPr/>
        </p:nvCxnSpPr>
        <p:spPr>
          <a:xfrm>
            <a:off x="4763824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1" name="Straight Connector 790"/>
          <p:cNvCxnSpPr>
            <a:stCxn id="786" idx="3"/>
            <a:endCxn id="788" idx="1"/>
          </p:cNvCxnSpPr>
          <p:nvPr/>
        </p:nvCxnSpPr>
        <p:spPr>
          <a:xfrm>
            <a:off x="5135856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2" name="Straight Connector 791"/>
          <p:cNvCxnSpPr>
            <a:stCxn id="787" idx="1"/>
            <a:endCxn id="788" idx="3"/>
          </p:cNvCxnSpPr>
          <p:nvPr/>
        </p:nvCxnSpPr>
        <p:spPr>
          <a:xfrm flipH="1">
            <a:off x="5507888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9" name="TextBox 778"/>
          <p:cNvSpPr txBox="1">
            <a:spLocks/>
          </p:cNvSpPr>
          <p:nvPr/>
        </p:nvSpPr>
        <p:spPr>
          <a:xfrm>
            <a:off x="4883856" y="944752"/>
            <a:ext cx="252000" cy="25200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780" name="TextBox 779"/>
          <p:cNvSpPr txBox="1">
            <a:spLocks/>
          </p:cNvSpPr>
          <p:nvPr/>
        </p:nvSpPr>
        <p:spPr>
          <a:xfrm>
            <a:off x="5627920" y="944752"/>
            <a:ext cx="252000" cy="25200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781" name="TextBox 780"/>
          <p:cNvSpPr txBox="1">
            <a:spLocks/>
          </p:cNvSpPr>
          <p:nvPr/>
        </p:nvSpPr>
        <p:spPr>
          <a:xfrm>
            <a:off x="5255888" y="944752"/>
            <a:ext cx="252000" cy="25200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782" name="TextBox 781"/>
          <p:cNvSpPr txBox="1">
            <a:spLocks/>
          </p:cNvSpPr>
          <p:nvPr/>
        </p:nvSpPr>
        <p:spPr>
          <a:xfrm>
            <a:off x="4511824" y="944752"/>
            <a:ext cx="252000" cy="25200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783" name="Straight Connector 782"/>
          <p:cNvCxnSpPr>
            <a:endCxn id="779" idx="1"/>
          </p:cNvCxnSpPr>
          <p:nvPr/>
        </p:nvCxnSpPr>
        <p:spPr>
          <a:xfrm>
            <a:off x="4763824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4" name="Straight Connector 783"/>
          <p:cNvCxnSpPr>
            <a:stCxn id="779" idx="3"/>
            <a:endCxn id="781" idx="1"/>
          </p:cNvCxnSpPr>
          <p:nvPr/>
        </p:nvCxnSpPr>
        <p:spPr>
          <a:xfrm>
            <a:off x="5135856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5" name="Straight Connector 784"/>
          <p:cNvCxnSpPr>
            <a:stCxn id="780" idx="1"/>
            <a:endCxn id="781" idx="3"/>
          </p:cNvCxnSpPr>
          <p:nvPr/>
        </p:nvCxnSpPr>
        <p:spPr>
          <a:xfrm flipH="1">
            <a:off x="5507888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3" name="TextBox 802"/>
          <p:cNvSpPr txBox="1">
            <a:spLocks/>
          </p:cNvSpPr>
          <p:nvPr/>
        </p:nvSpPr>
        <p:spPr>
          <a:xfrm>
            <a:off x="7692168" y="670102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04" name="TextBox 803"/>
          <p:cNvSpPr txBox="1">
            <a:spLocks/>
          </p:cNvSpPr>
          <p:nvPr/>
        </p:nvSpPr>
        <p:spPr>
          <a:xfrm>
            <a:off x="8436232" y="670102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05" name="TextBox 804"/>
          <p:cNvSpPr txBox="1">
            <a:spLocks/>
          </p:cNvSpPr>
          <p:nvPr/>
        </p:nvSpPr>
        <p:spPr>
          <a:xfrm>
            <a:off x="8064200" y="670102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806" name="TextBox 805"/>
          <p:cNvSpPr txBox="1">
            <a:spLocks/>
          </p:cNvSpPr>
          <p:nvPr/>
        </p:nvSpPr>
        <p:spPr>
          <a:xfrm>
            <a:off x="7320136" y="670102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807" name="Straight Connector 806"/>
          <p:cNvCxnSpPr>
            <a:endCxn id="803" idx="1"/>
          </p:cNvCxnSpPr>
          <p:nvPr/>
        </p:nvCxnSpPr>
        <p:spPr>
          <a:xfrm>
            <a:off x="7572136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807"/>
          <p:cNvCxnSpPr>
            <a:stCxn id="803" idx="3"/>
            <a:endCxn id="805" idx="1"/>
          </p:cNvCxnSpPr>
          <p:nvPr/>
        </p:nvCxnSpPr>
        <p:spPr>
          <a:xfrm>
            <a:off x="7944168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9" name="Straight Connector 808"/>
          <p:cNvCxnSpPr>
            <a:stCxn id="804" idx="1"/>
            <a:endCxn id="805" idx="3"/>
          </p:cNvCxnSpPr>
          <p:nvPr/>
        </p:nvCxnSpPr>
        <p:spPr>
          <a:xfrm flipH="1">
            <a:off x="8316200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6" name="TextBox 795"/>
          <p:cNvSpPr txBox="1">
            <a:spLocks/>
          </p:cNvSpPr>
          <p:nvPr/>
        </p:nvSpPr>
        <p:spPr>
          <a:xfrm>
            <a:off x="7692168" y="944752"/>
            <a:ext cx="252000" cy="252000"/>
          </a:xfrm>
          <a:prstGeom prst="rect">
            <a:avLst/>
          </a:prstGeom>
          <a:noFill/>
          <a:ln w="19050">
            <a:solidFill>
              <a:srgbClr val="008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797" name="TextBox 796"/>
          <p:cNvSpPr txBox="1">
            <a:spLocks/>
          </p:cNvSpPr>
          <p:nvPr/>
        </p:nvSpPr>
        <p:spPr>
          <a:xfrm>
            <a:off x="8436232" y="944752"/>
            <a:ext cx="252000" cy="252000"/>
          </a:xfrm>
          <a:prstGeom prst="rect">
            <a:avLst/>
          </a:prstGeom>
          <a:noFill/>
          <a:ln w="19050">
            <a:solidFill>
              <a:srgbClr val="008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798" name="TextBox 797"/>
          <p:cNvSpPr txBox="1">
            <a:spLocks/>
          </p:cNvSpPr>
          <p:nvPr/>
        </p:nvSpPr>
        <p:spPr>
          <a:xfrm>
            <a:off x="8064200" y="944752"/>
            <a:ext cx="252000" cy="252000"/>
          </a:xfrm>
          <a:prstGeom prst="rect">
            <a:avLst/>
          </a:prstGeom>
          <a:noFill/>
          <a:ln w="19050">
            <a:solidFill>
              <a:srgbClr val="008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799" name="TextBox 798"/>
          <p:cNvSpPr txBox="1">
            <a:spLocks/>
          </p:cNvSpPr>
          <p:nvPr/>
        </p:nvSpPr>
        <p:spPr>
          <a:xfrm>
            <a:off x="7320136" y="944752"/>
            <a:ext cx="252000" cy="252000"/>
          </a:xfrm>
          <a:prstGeom prst="rect">
            <a:avLst/>
          </a:prstGeom>
          <a:noFill/>
          <a:ln w="19050">
            <a:solidFill>
              <a:srgbClr val="008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800" name="Straight Connector 799"/>
          <p:cNvCxnSpPr>
            <a:endCxn id="796" idx="1"/>
          </p:cNvCxnSpPr>
          <p:nvPr/>
        </p:nvCxnSpPr>
        <p:spPr>
          <a:xfrm>
            <a:off x="7572136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1" name="Straight Connector 800"/>
          <p:cNvCxnSpPr>
            <a:stCxn id="796" idx="3"/>
            <a:endCxn id="798" idx="1"/>
          </p:cNvCxnSpPr>
          <p:nvPr/>
        </p:nvCxnSpPr>
        <p:spPr>
          <a:xfrm>
            <a:off x="7944168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2" name="Straight Connector 801"/>
          <p:cNvCxnSpPr>
            <a:stCxn id="797" idx="1"/>
            <a:endCxn id="798" idx="3"/>
          </p:cNvCxnSpPr>
          <p:nvPr/>
        </p:nvCxnSpPr>
        <p:spPr>
          <a:xfrm flipH="1">
            <a:off x="8316200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0" name="TextBox 819"/>
          <p:cNvSpPr txBox="1">
            <a:spLocks/>
          </p:cNvSpPr>
          <p:nvPr/>
        </p:nvSpPr>
        <p:spPr>
          <a:xfrm>
            <a:off x="9276344" y="670102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21" name="TextBox 820"/>
          <p:cNvSpPr txBox="1">
            <a:spLocks/>
          </p:cNvSpPr>
          <p:nvPr/>
        </p:nvSpPr>
        <p:spPr>
          <a:xfrm>
            <a:off x="10020408" y="670102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22" name="TextBox 821"/>
          <p:cNvSpPr txBox="1">
            <a:spLocks/>
          </p:cNvSpPr>
          <p:nvPr/>
        </p:nvSpPr>
        <p:spPr>
          <a:xfrm>
            <a:off x="9648376" y="670102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23" name="TextBox 822"/>
          <p:cNvSpPr txBox="1">
            <a:spLocks/>
          </p:cNvSpPr>
          <p:nvPr/>
        </p:nvSpPr>
        <p:spPr>
          <a:xfrm>
            <a:off x="8904312" y="670102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824" name="Straight Connector 823"/>
          <p:cNvCxnSpPr>
            <a:endCxn id="820" idx="1"/>
          </p:cNvCxnSpPr>
          <p:nvPr/>
        </p:nvCxnSpPr>
        <p:spPr>
          <a:xfrm>
            <a:off x="9156312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824"/>
          <p:cNvCxnSpPr>
            <a:stCxn id="820" idx="3"/>
            <a:endCxn id="822" idx="1"/>
          </p:cNvCxnSpPr>
          <p:nvPr/>
        </p:nvCxnSpPr>
        <p:spPr>
          <a:xfrm>
            <a:off x="9528344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6" name="Straight Connector 825"/>
          <p:cNvCxnSpPr>
            <a:stCxn id="821" idx="1"/>
            <a:endCxn id="822" idx="3"/>
          </p:cNvCxnSpPr>
          <p:nvPr/>
        </p:nvCxnSpPr>
        <p:spPr>
          <a:xfrm flipH="1">
            <a:off x="9900376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3" name="TextBox 812"/>
          <p:cNvSpPr txBox="1">
            <a:spLocks/>
          </p:cNvSpPr>
          <p:nvPr/>
        </p:nvSpPr>
        <p:spPr>
          <a:xfrm>
            <a:off x="9276344" y="944752"/>
            <a:ext cx="252000" cy="25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14" name="TextBox 813"/>
          <p:cNvSpPr txBox="1">
            <a:spLocks/>
          </p:cNvSpPr>
          <p:nvPr/>
        </p:nvSpPr>
        <p:spPr>
          <a:xfrm>
            <a:off x="10020408" y="944752"/>
            <a:ext cx="252000" cy="25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15" name="TextBox 814"/>
          <p:cNvSpPr txBox="1">
            <a:spLocks/>
          </p:cNvSpPr>
          <p:nvPr/>
        </p:nvSpPr>
        <p:spPr>
          <a:xfrm>
            <a:off x="9648376" y="944752"/>
            <a:ext cx="252000" cy="25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16" name="TextBox 815"/>
          <p:cNvSpPr txBox="1">
            <a:spLocks/>
          </p:cNvSpPr>
          <p:nvPr/>
        </p:nvSpPr>
        <p:spPr>
          <a:xfrm>
            <a:off x="8904312" y="944752"/>
            <a:ext cx="252000" cy="25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817" name="Straight Connector 816"/>
          <p:cNvCxnSpPr>
            <a:endCxn id="813" idx="1"/>
          </p:cNvCxnSpPr>
          <p:nvPr/>
        </p:nvCxnSpPr>
        <p:spPr>
          <a:xfrm>
            <a:off x="9156312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Connector 817"/>
          <p:cNvCxnSpPr>
            <a:stCxn id="813" idx="3"/>
            <a:endCxn id="815" idx="1"/>
          </p:cNvCxnSpPr>
          <p:nvPr/>
        </p:nvCxnSpPr>
        <p:spPr>
          <a:xfrm>
            <a:off x="9528344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818"/>
          <p:cNvCxnSpPr>
            <a:stCxn id="814" idx="1"/>
            <a:endCxn id="815" idx="3"/>
          </p:cNvCxnSpPr>
          <p:nvPr/>
        </p:nvCxnSpPr>
        <p:spPr>
          <a:xfrm flipH="1">
            <a:off x="9900376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7" name="TextBox 836"/>
          <p:cNvSpPr txBox="1">
            <a:spLocks/>
          </p:cNvSpPr>
          <p:nvPr/>
        </p:nvSpPr>
        <p:spPr>
          <a:xfrm>
            <a:off x="2003592" y="2558930"/>
            <a:ext cx="252000" cy="252000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38" name="TextBox 837"/>
          <p:cNvSpPr txBox="1">
            <a:spLocks/>
          </p:cNvSpPr>
          <p:nvPr/>
        </p:nvSpPr>
        <p:spPr>
          <a:xfrm>
            <a:off x="2747656" y="2558930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39" name="TextBox 838"/>
          <p:cNvSpPr txBox="1">
            <a:spLocks/>
          </p:cNvSpPr>
          <p:nvPr/>
        </p:nvSpPr>
        <p:spPr>
          <a:xfrm>
            <a:off x="2375624" y="2558930"/>
            <a:ext cx="252000" cy="252000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40" name="TextBox 839"/>
          <p:cNvSpPr txBox="1">
            <a:spLocks/>
          </p:cNvSpPr>
          <p:nvPr/>
        </p:nvSpPr>
        <p:spPr>
          <a:xfrm>
            <a:off x="1631560" y="2558930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841" name="Straight Connector 840"/>
          <p:cNvCxnSpPr>
            <a:endCxn id="837" idx="1"/>
          </p:cNvCxnSpPr>
          <p:nvPr/>
        </p:nvCxnSpPr>
        <p:spPr>
          <a:xfrm>
            <a:off x="1883560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Straight Connector 841"/>
          <p:cNvCxnSpPr>
            <a:stCxn id="837" idx="3"/>
            <a:endCxn id="839" idx="1"/>
          </p:cNvCxnSpPr>
          <p:nvPr/>
        </p:nvCxnSpPr>
        <p:spPr>
          <a:xfrm>
            <a:off x="2255592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3" name="Straight Connector 842"/>
          <p:cNvCxnSpPr>
            <a:stCxn id="838" idx="1"/>
            <a:endCxn id="839" idx="3"/>
          </p:cNvCxnSpPr>
          <p:nvPr/>
        </p:nvCxnSpPr>
        <p:spPr>
          <a:xfrm flipH="1">
            <a:off x="2627624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0" name="TextBox 829"/>
          <p:cNvSpPr txBox="1">
            <a:spLocks/>
          </p:cNvSpPr>
          <p:nvPr/>
        </p:nvSpPr>
        <p:spPr>
          <a:xfrm>
            <a:off x="2003592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31" name="TextBox 830"/>
          <p:cNvSpPr txBox="1">
            <a:spLocks/>
          </p:cNvSpPr>
          <p:nvPr/>
        </p:nvSpPr>
        <p:spPr>
          <a:xfrm>
            <a:off x="2747656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832" name="TextBox 831"/>
          <p:cNvSpPr txBox="1">
            <a:spLocks/>
          </p:cNvSpPr>
          <p:nvPr/>
        </p:nvSpPr>
        <p:spPr>
          <a:xfrm>
            <a:off x="2375624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33" name="TextBox 832"/>
          <p:cNvSpPr txBox="1">
            <a:spLocks/>
          </p:cNvSpPr>
          <p:nvPr/>
        </p:nvSpPr>
        <p:spPr>
          <a:xfrm>
            <a:off x="1631560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834" name="Straight Connector 833"/>
          <p:cNvCxnSpPr>
            <a:endCxn id="830" idx="1"/>
          </p:cNvCxnSpPr>
          <p:nvPr/>
        </p:nvCxnSpPr>
        <p:spPr>
          <a:xfrm>
            <a:off x="1883560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5" name="Straight Connector 834"/>
          <p:cNvCxnSpPr>
            <a:stCxn id="830" idx="3"/>
            <a:endCxn id="832" idx="1"/>
          </p:cNvCxnSpPr>
          <p:nvPr/>
        </p:nvCxnSpPr>
        <p:spPr>
          <a:xfrm>
            <a:off x="2255592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6" name="Straight Connector 835"/>
          <p:cNvCxnSpPr>
            <a:stCxn id="831" idx="1"/>
            <a:endCxn id="832" idx="3"/>
          </p:cNvCxnSpPr>
          <p:nvPr/>
        </p:nvCxnSpPr>
        <p:spPr>
          <a:xfrm flipH="1">
            <a:off x="2627624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4" name="TextBox 853"/>
          <p:cNvSpPr txBox="1">
            <a:spLocks/>
          </p:cNvSpPr>
          <p:nvPr/>
        </p:nvSpPr>
        <p:spPr>
          <a:xfrm>
            <a:off x="3515749" y="2558930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55" name="TextBox 854"/>
          <p:cNvSpPr txBox="1">
            <a:spLocks/>
          </p:cNvSpPr>
          <p:nvPr/>
        </p:nvSpPr>
        <p:spPr>
          <a:xfrm>
            <a:off x="4259813" y="2558930"/>
            <a:ext cx="252000" cy="252000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56" name="TextBox 855"/>
          <p:cNvSpPr txBox="1">
            <a:spLocks/>
          </p:cNvSpPr>
          <p:nvPr/>
        </p:nvSpPr>
        <p:spPr>
          <a:xfrm>
            <a:off x="3887781" y="2558930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57" name="TextBox 856"/>
          <p:cNvSpPr txBox="1">
            <a:spLocks/>
          </p:cNvSpPr>
          <p:nvPr/>
        </p:nvSpPr>
        <p:spPr>
          <a:xfrm>
            <a:off x="3143717" y="2558930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858" name="Straight Connector 857"/>
          <p:cNvCxnSpPr>
            <a:endCxn id="854" idx="1"/>
          </p:cNvCxnSpPr>
          <p:nvPr/>
        </p:nvCxnSpPr>
        <p:spPr>
          <a:xfrm>
            <a:off x="3395717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9" name="Straight Connector 858"/>
          <p:cNvCxnSpPr>
            <a:stCxn id="854" idx="3"/>
            <a:endCxn id="856" idx="1"/>
          </p:cNvCxnSpPr>
          <p:nvPr/>
        </p:nvCxnSpPr>
        <p:spPr>
          <a:xfrm>
            <a:off x="3767749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0" name="Straight Connector 859"/>
          <p:cNvCxnSpPr>
            <a:stCxn id="855" idx="1"/>
            <a:endCxn id="856" idx="3"/>
          </p:cNvCxnSpPr>
          <p:nvPr/>
        </p:nvCxnSpPr>
        <p:spPr>
          <a:xfrm flipH="1">
            <a:off x="4139781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7" name="TextBox 846"/>
          <p:cNvSpPr txBox="1">
            <a:spLocks/>
          </p:cNvSpPr>
          <p:nvPr/>
        </p:nvSpPr>
        <p:spPr>
          <a:xfrm>
            <a:off x="3515749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48" name="TextBox 847"/>
          <p:cNvSpPr txBox="1">
            <a:spLocks/>
          </p:cNvSpPr>
          <p:nvPr/>
        </p:nvSpPr>
        <p:spPr>
          <a:xfrm>
            <a:off x="4259813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849" name="TextBox 848"/>
          <p:cNvSpPr txBox="1">
            <a:spLocks/>
          </p:cNvSpPr>
          <p:nvPr/>
        </p:nvSpPr>
        <p:spPr>
          <a:xfrm>
            <a:off x="3887781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50" name="TextBox 849"/>
          <p:cNvSpPr txBox="1">
            <a:spLocks/>
          </p:cNvSpPr>
          <p:nvPr/>
        </p:nvSpPr>
        <p:spPr>
          <a:xfrm>
            <a:off x="3143717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851" name="Straight Connector 850"/>
          <p:cNvCxnSpPr>
            <a:endCxn id="847" idx="1"/>
          </p:cNvCxnSpPr>
          <p:nvPr/>
        </p:nvCxnSpPr>
        <p:spPr>
          <a:xfrm>
            <a:off x="3395717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2" name="Straight Connector 851"/>
          <p:cNvCxnSpPr>
            <a:stCxn id="847" idx="3"/>
            <a:endCxn id="849" idx="1"/>
          </p:cNvCxnSpPr>
          <p:nvPr/>
        </p:nvCxnSpPr>
        <p:spPr>
          <a:xfrm>
            <a:off x="3767749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3" name="Straight Connector 852"/>
          <p:cNvCxnSpPr>
            <a:stCxn id="848" idx="1"/>
            <a:endCxn id="849" idx="3"/>
          </p:cNvCxnSpPr>
          <p:nvPr/>
        </p:nvCxnSpPr>
        <p:spPr>
          <a:xfrm flipH="1">
            <a:off x="4139781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1" name="TextBox 870"/>
          <p:cNvSpPr txBox="1">
            <a:spLocks/>
          </p:cNvSpPr>
          <p:nvPr/>
        </p:nvSpPr>
        <p:spPr>
          <a:xfrm>
            <a:off x="5027906" y="255893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72" name="TextBox 871"/>
          <p:cNvSpPr txBox="1">
            <a:spLocks/>
          </p:cNvSpPr>
          <p:nvPr/>
        </p:nvSpPr>
        <p:spPr>
          <a:xfrm>
            <a:off x="5771970" y="255893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73" name="TextBox 872"/>
          <p:cNvSpPr txBox="1">
            <a:spLocks/>
          </p:cNvSpPr>
          <p:nvPr/>
        </p:nvSpPr>
        <p:spPr>
          <a:xfrm>
            <a:off x="5399938" y="255893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74" name="TextBox 873"/>
          <p:cNvSpPr txBox="1">
            <a:spLocks/>
          </p:cNvSpPr>
          <p:nvPr/>
        </p:nvSpPr>
        <p:spPr>
          <a:xfrm>
            <a:off x="4655874" y="2558930"/>
            <a:ext cx="252000" cy="252000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875" name="Straight Connector 874"/>
          <p:cNvCxnSpPr>
            <a:endCxn id="871" idx="1"/>
          </p:cNvCxnSpPr>
          <p:nvPr/>
        </p:nvCxnSpPr>
        <p:spPr>
          <a:xfrm>
            <a:off x="4907874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6" name="Straight Connector 875"/>
          <p:cNvCxnSpPr>
            <a:stCxn id="871" idx="3"/>
            <a:endCxn id="873" idx="1"/>
          </p:cNvCxnSpPr>
          <p:nvPr/>
        </p:nvCxnSpPr>
        <p:spPr>
          <a:xfrm>
            <a:off x="5279906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7" name="Straight Connector 876"/>
          <p:cNvCxnSpPr>
            <a:stCxn id="872" idx="1"/>
            <a:endCxn id="873" idx="3"/>
          </p:cNvCxnSpPr>
          <p:nvPr/>
        </p:nvCxnSpPr>
        <p:spPr>
          <a:xfrm flipH="1">
            <a:off x="5651938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4" name="TextBox 863"/>
          <p:cNvSpPr txBox="1">
            <a:spLocks/>
          </p:cNvSpPr>
          <p:nvPr/>
        </p:nvSpPr>
        <p:spPr>
          <a:xfrm>
            <a:off x="5027906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65" name="TextBox 864"/>
          <p:cNvSpPr txBox="1">
            <a:spLocks/>
          </p:cNvSpPr>
          <p:nvPr/>
        </p:nvSpPr>
        <p:spPr>
          <a:xfrm>
            <a:off x="5771970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866" name="TextBox 865"/>
          <p:cNvSpPr txBox="1">
            <a:spLocks/>
          </p:cNvSpPr>
          <p:nvPr/>
        </p:nvSpPr>
        <p:spPr>
          <a:xfrm>
            <a:off x="5399938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67" name="TextBox 866"/>
          <p:cNvSpPr txBox="1">
            <a:spLocks/>
          </p:cNvSpPr>
          <p:nvPr/>
        </p:nvSpPr>
        <p:spPr>
          <a:xfrm>
            <a:off x="4655874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868" name="Straight Connector 867"/>
          <p:cNvCxnSpPr>
            <a:endCxn id="864" idx="1"/>
          </p:cNvCxnSpPr>
          <p:nvPr/>
        </p:nvCxnSpPr>
        <p:spPr>
          <a:xfrm>
            <a:off x="4907874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9" name="Straight Connector 868"/>
          <p:cNvCxnSpPr>
            <a:stCxn id="864" idx="3"/>
            <a:endCxn id="866" idx="1"/>
          </p:cNvCxnSpPr>
          <p:nvPr/>
        </p:nvCxnSpPr>
        <p:spPr>
          <a:xfrm>
            <a:off x="5279906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0" name="Straight Connector 869"/>
          <p:cNvCxnSpPr>
            <a:stCxn id="865" idx="1"/>
            <a:endCxn id="866" idx="3"/>
          </p:cNvCxnSpPr>
          <p:nvPr/>
        </p:nvCxnSpPr>
        <p:spPr>
          <a:xfrm flipH="1">
            <a:off x="5651938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8" name="TextBox 887"/>
          <p:cNvSpPr txBox="1">
            <a:spLocks/>
          </p:cNvSpPr>
          <p:nvPr/>
        </p:nvSpPr>
        <p:spPr>
          <a:xfrm>
            <a:off x="6540063" y="255893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89" name="TextBox 888"/>
          <p:cNvSpPr txBox="1">
            <a:spLocks/>
          </p:cNvSpPr>
          <p:nvPr/>
        </p:nvSpPr>
        <p:spPr>
          <a:xfrm>
            <a:off x="7284127" y="255893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90" name="TextBox 889"/>
          <p:cNvSpPr txBox="1">
            <a:spLocks/>
          </p:cNvSpPr>
          <p:nvPr/>
        </p:nvSpPr>
        <p:spPr>
          <a:xfrm>
            <a:off x="6912095" y="255893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91" name="TextBox 890"/>
          <p:cNvSpPr txBox="1">
            <a:spLocks/>
          </p:cNvSpPr>
          <p:nvPr/>
        </p:nvSpPr>
        <p:spPr>
          <a:xfrm>
            <a:off x="6168031" y="255893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892" name="Straight Connector 891"/>
          <p:cNvCxnSpPr>
            <a:endCxn id="888" idx="1"/>
          </p:cNvCxnSpPr>
          <p:nvPr/>
        </p:nvCxnSpPr>
        <p:spPr>
          <a:xfrm>
            <a:off x="6420031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3" name="Straight Connector 892"/>
          <p:cNvCxnSpPr>
            <a:stCxn id="888" idx="3"/>
            <a:endCxn id="890" idx="1"/>
          </p:cNvCxnSpPr>
          <p:nvPr/>
        </p:nvCxnSpPr>
        <p:spPr>
          <a:xfrm>
            <a:off x="6792063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4" name="Straight Connector 893"/>
          <p:cNvCxnSpPr>
            <a:stCxn id="889" idx="1"/>
            <a:endCxn id="890" idx="3"/>
          </p:cNvCxnSpPr>
          <p:nvPr/>
        </p:nvCxnSpPr>
        <p:spPr>
          <a:xfrm flipH="1">
            <a:off x="7164095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1" name="TextBox 880"/>
          <p:cNvSpPr txBox="1">
            <a:spLocks/>
          </p:cNvSpPr>
          <p:nvPr/>
        </p:nvSpPr>
        <p:spPr>
          <a:xfrm>
            <a:off x="6540063" y="2833580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82" name="TextBox 881"/>
          <p:cNvSpPr txBox="1">
            <a:spLocks/>
          </p:cNvSpPr>
          <p:nvPr/>
        </p:nvSpPr>
        <p:spPr>
          <a:xfrm>
            <a:off x="7284127" y="2833580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83" name="TextBox 882"/>
          <p:cNvSpPr txBox="1">
            <a:spLocks/>
          </p:cNvSpPr>
          <p:nvPr/>
        </p:nvSpPr>
        <p:spPr>
          <a:xfrm>
            <a:off x="6912095" y="2833580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884" name="TextBox 883"/>
          <p:cNvSpPr txBox="1">
            <a:spLocks/>
          </p:cNvSpPr>
          <p:nvPr/>
        </p:nvSpPr>
        <p:spPr>
          <a:xfrm>
            <a:off x="6168031" y="2833580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885" name="Straight Connector 884"/>
          <p:cNvCxnSpPr>
            <a:endCxn id="881" idx="1"/>
          </p:cNvCxnSpPr>
          <p:nvPr/>
        </p:nvCxnSpPr>
        <p:spPr>
          <a:xfrm>
            <a:off x="6420031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6" name="Straight Connector 885"/>
          <p:cNvCxnSpPr>
            <a:stCxn id="881" idx="3"/>
            <a:endCxn id="883" idx="1"/>
          </p:cNvCxnSpPr>
          <p:nvPr/>
        </p:nvCxnSpPr>
        <p:spPr>
          <a:xfrm>
            <a:off x="6792063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7" name="Straight Connector 886"/>
          <p:cNvCxnSpPr>
            <a:stCxn id="882" idx="1"/>
            <a:endCxn id="883" idx="3"/>
          </p:cNvCxnSpPr>
          <p:nvPr/>
        </p:nvCxnSpPr>
        <p:spPr>
          <a:xfrm flipH="1">
            <a:off x="7164095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9" name="TextBox 938"/>
          <p:cNvSpPr txBox="1">
            <a:spLocks/>
          </p:cNvSpPr>
          <p:nvPr/>
        </p:nvSpPr>
        <p:spPr>
          <a:xfrm>
            <a:off x="8052220" y="2558930"/>
            <a:ext cx="252000" cy="2520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40" name="TextBox 939"/>
          <p:cNvSpPr txBox="1">
            <a:spLocks/>
          </p:cNvSpPr>
          <p:nvPr/>
        </p:nvSpPr>
        <p:spPr>
          <a:xfrm>
            <a:off x="8796284" y="2558930"/>
            <a:ext cx="252000" cy="2520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41" name="TextBox 940"/>
          <p:cNvSpPr txBox="1">
            <a:spLocks/>
          </p:cNvSpPr>
          <p:nvPr/>
        </p:nvSpPr>
        <p:spPr>
          <a:xfrm>
            <a:off x="8424252" y="2558930"/>
            <a:ext cx="252000" cy="2520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942" name="TextBox 941"/>
          <p:cNvSpPr txBox="1">
            <a:spLocks/>
          </p:cNvSpPr>
          <p:nvPr/>
        </p:nvSpPr>
        <p:spPr>
          <a:xfrm>
            <a:off x="7680188" y="2558930"/>
            <a:ext cx="252000" cy="2520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943" name="Straight Connector 942"/>
          <p:cNvCxnSpPr>
            <a:endCxn id="939" idx="1"/>
          </p:cNvCxnSpPr>
          <p:nvPr/>
        </p:nvCxnSpPr>
        <p:spPr>
          <a:xfrm>
            <a:off x="7932188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4" name="Straight Connector 943"/>
          <p:cNvCxnSpPr>
            <a:stCxn id="939" idx="3"/>
            <a:endCxn id="941" idx="1"/>
          </p:cNvCxnSpPr>
          <p:nvPr/>
        </p:nvCxnSpPr>
        <p:spPr>
          <a:xfrm>
            <a:off x="8304220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5" name="Straight Connector 944"/>
          <p:cNvCxnSpPr>
            <a:stCxn id="940" idx="1"/>
            <a:endCxn id="941" idx="3"/>
          </p:cNvCxnSpPr>
          <p:nvPr/>
        </p:nvCxnSpPr>
        <p:spPr>
          <a:xfrm flipH="1">
            <a:off x="8676252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2" name="TextBox 931"/>
          <p:cNvSpPr txBox="1">
            <a:spLocks/>
          </p:cNvSpPr>
          <p:nvPr/>
        </p:nvSpPr>
        <p:spPr>
          <a:xfrm>
            <a:off x="8052220" y="2833580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33" name="TextBox 932"/>
          <p:cNvSpPr txBox="1">
            <a:spLocks/>
          </p:cNvSpPr>
          <p:nvPr/>
        </p:nvSpPr>
        <p:spPr>
          <a:xfrm>
            <a:off x="8796284" y="2833580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34" name="TextBox 933"/>
          <p:cNvSpPr txBox="1">
            <a:spLocks/>
          </p:cNvSpPr>
          <p:nvPr/>
        </p:nvSpPr>
        <p:spPr>
          <a:xfrm>
            <a:off x="8424252" y="2833580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35" name="TextBox 934"/>
          <p:cNvSpPr txBox="1">
            <a:spLocks/>
          </p:cNvSpPr>
          <p:nvPr/>
        </p:nvSpPr>
        <p:spPr>
          <a:xfrm>
            <a:off x="7680188" y="2833580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936" name="Straight Connector 935"/>
          <p:cNvCxnSpPr>
            <a:endCxn id="932" idx="1"/>
          </p:cNvCxnSpPr>
          <p:nvPr/>
        </p:nvCxnSpPr>
        <p:spPr>
          <a:xfrm>
            <a:off x="7932188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7" name="Straight Connector 936"/>
          <p:cNvCxnSpPr>
            <a:stCxn id="932" idx="3"/>
            <a:endCxn id="934" idx="1"/>
          </p:cNvCxnSpPr>
          <p:nvPr/>
        </p:nvCxnSpPr>
        <p:spPr>
          <a:xfrm>
            <a:off x="8304220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8" name="Straight Connector 937"/>
          <p:cNvCxnSpPr>
            <a:stCxn id="933" idx="1"/>
            <a:endCxn id="934" idx="3"/>
          </p:cNvCxnSpPr>
          <p:nvPr/>
        </p:nvCxnSpPr>
        <p:spPr>
          <a:xfrm flipH="1">
            <a:off x="8676252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6" name="TextBox 955"/>
          <p:cNvSpPr txBox="1">
            <a:spLocks/>
          </p:cNvSpPr>
          <p:nvPr/>
        </p:nvSpPr>
        <p:spPr>
          <a:xfrm>
            <a:off x="9564376" y="2558930"/>
            <a:ext cx="252000" cy="2520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57" name="TextBox 956"/>
          <p:cNvSpPr txBox="1">
            <a:spLocks/>
          </p:cNvSpPr>
          <p:nvPr/>
        </p:nvSpPr>
        <p:spPr>
          <a:xfrm>
            <a:off x="10308440" y="2558930"/>
            <a:ext cx="252000" cy="2520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58" name="TextBox 957"/>
          <p:cNvSpPr txBox="1">
            <a:spLocks/>
          </p:cNvSpPr>
          <p:nvPr/>
        </p:nvSpPr>
        <p:spPr>
          <a:xfrm>
            <a:off x="9936408" y="2558930"/>
            <a:ext cx="252000" cy="2520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959" name="TextBox 958"/>
          <p:cNvSpPr txBox="1">
            <a:spLocks/>
          </p:cNvSpPr>
          <p:nvPr/>
        </p:nvSpPr>
        <p:spPr>
          <a:xfrm>
            <a:off x="9192344" y="2558930"/>
            <a:ext cx="252000" cy="2520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960" name="Straight Connector 959"/>
          <p:cNvCxnSpPr>
            <a:endCxn id="956" idx="1"/>
          </p:cNvCxnSpPr>
          <p:nvPr/>
        </p:nvCxnSpPr>
        <p:spPr>
          <a:xfrm>
            <a:off x="9444344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1" name="Straight Connector 960"/>
          <p:cNvCxnSpPr>
            <a:stCxn id="956" idx="3"/>
            <a:endCxn id="958" idx="1"/>
          </p:cNvCxnSpPr>
          <p:nvPr/>
        </p:nvCxnSpPr>
        <p:spPr>
          <a:xfrm>
            <a:off x="9816376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2" name="Straight Connector 961"/>
          <p:cNvCxnSpPr>
            <a:stCxn id="957" idx="1"/>
            <a:endCxn id="958" idx="3"/>
          </p:cNvCxnSpPr>
          <p:nvPr/>
        </p:nvCxnSpPr>
        <p:spPr>
          <a:xfrm flipH="1">
            <a:off x="10188408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9" name="TextBox 948"/>
          <p:cNvSpPr txBox="1">
            <a:spLocks/>
          </p:cNvSpPr>
          <p:nvPr/>
        </p:nvSpPr>
        <p:spPr>
          <a:xfrm>
            <a:off x="9564376" y="2833580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50" name="TextBox 949"/>
          <p:cNvSpPr txBox="1">
            <a:spLocks/>
          </p:cNvSpPr>
          <p:nvPr/>
        </p:nvSpPr>
        <p:spPr>
          <a:xfrm>
            <a:off x="10308440" y="2833580"/>
            <a:ext cx="252000" cy="25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51" name="TextBox 950"/>
          <p:cNvSpPr txBox="1">
            <a:spLocks/>
          </p:cNvSpPr>
          <p:nvPr/>
        </p:nvSpPr>
        <p:spPr>
          <a:xfrm>
            <a:off x="9936408" y="2833580"/>
            <a:ext cx="252000" cy="25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52" name="TextBox 951"/>
          <p:cNvSpPr txBox="1">
            <a:spLocks/>
          </p:cNvSpPr>
          <p:nvPr/>
        </p:nvSpPr>
        <p:spPr>
          <a:xfrm>
            <a:off x="9192344" y="2833580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953" name="Straight Connector 952"/>
          <p:cNvCxnSpPr>
            <a:endCxn id="949" idx="1"/>
          </p:cNvCxnSpPr>
          <p:nvPr/>
        </p:nvCxnSpPr>
        <p:spPr>
          <a:xfrm>
            <a:off x="9444344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4" name="Straight Connector 953"/>
          <p:cNvCxnSpPr>
            <a:stCxn id="949" idx="3"/>
            <a:endCxn id="951" idx="1"/>
          </p:cNvCxnSpPr>
          <p:nvPr/>
        </p:nvCxnSpPr>
        <p:spPr>
          <a:xfrm>
            <a:off x="9816376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5" name="Straight Connector 954"/>
          <p:cNvCxnSpPr>
            <a:stCxn id="950" idx="1"/>
            <a:endCxn id="951" idx="3"/>
          </p:cNvCxnSpPr>
          <p:nvPr/>
        </p:nvCxnSpPr>
        <p:spPr>
          <a:xfrm flipH="1">
            <a:off x="10188408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3" name="TextBox 982"/>
          <p:cNvSpPr txBox="1">
            <a:spLocks/>
          </p:cNvSpPr>
          <p:nvPr/>
        </p:nvSpPr>
        <p:spPr>
          <a:xfrm>
            <a:off x="4883856" y="4486526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84" name="TextBox 983"/>
          <p:cNvSpPr txBox="1">
            <a:spLocks/>
          </p:cNvSpPr>
          <p:nvPr/>
        </p:nvSpPr>
        <p:spPr>
          <a:xfrm>
            <a:off x="5627920" y="4486526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85" name="TextBox 984"/>
          <p:cNvSpPr txBox="1">
            <a:spLocks/>
          </p:cNvSpPr>
          <p:nvPr/>
        </p:nvSpPr>
        <p:spPr>
          <a:xfrm>
            <a:off x="5255888" y="4486526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86" name="TextBox 985"/>
          <p:cNvSpPr txBox="1">
            <a:spLocks/>
          </p:cNvSpPr>
          <p:nvPr/>
        </p:nvSpPr>
        <p:spPr>
          <a:xfrm>
            <a:off x="4511824" y="4486526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987" name="Straight Connector 986"/>
          <p:cNvCxnSpPr>
            <a:endCxn id="983" idx="1"/>
          </p:cNvCxnSpPr>
          <p:nvPr/>
        </p:nvCxnSpPr>
        <p:spPr>
          <a:xfrm>
            <a:off x="4763824" y="461252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8" name="Straight Connector 987"/>
          <p:cNvCxnSpPr>
            <a:stCxn id="983" idx="3"/>
            <a:endCxn id="985" idx="1"/>
          </p:cNvCxnSpPr>
          <p:nvPr/>
        </p:nvCxnSpPr>
        <p:spPr>
          <a:xfrm>
            <a:off x="5135856" y="461252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9" name="Straight Connector 988"/>
          <p:cNvCxnSpPr>
            <a:stCxn id="984" idx="1"/>
            <a:endCxn id="985" idx="3"/>
          </p:cNvCxnSpPr>
          <p:nvPr/>
        </p:nvCxnSpPr>
        <p:spPr>
          <a:xfrm flipH="1">
            <a:off x="5507888" y="461252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6" name="TextBox 975"/>
          <p:cNvSpPr txBox="1">
            <a:spLocks/>
          </p:cNvSpPr>
          <p:nvPr/>
        </p:nvSpPr>
        <p:spPr>
          <a:xfrm>
            <a:off x="4883856" y="4761176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77" name="TextBox 976"/>
          <p:cNvSpPr txBox="1">
            <a:spLocks/>
          </p:cNvSpPr>
          <p:nvPr/>
        </p:nvSpPr>
        <p:spPr>
          <a:xfrm>
            <a:off x="5627920" y="4761176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78" name="TextBox 977"/>
          <p:cNvSpPr txBox="1">
            <a:spLocks/>
          </p:cNvSpPr>
          <p:nvPr/>
        </p:nvSpPr>
        <p:spPr>
          <a:xfrm>
            <a:off x="5255888" y="4761176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79" name="TextBox 978"/>
          <p:cNvSpPr txBox="1">
            <a:spLocks/>
          </p:cNvSpPr>
          <p:nvPr/>
        </p:nvSpPr>
        <p:spPr>
          <a:xfrm>
            <a:off x="4511824" y="4761176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980" name="Straight Connector 979"/>
          <p:cNvCxnSpPr>
            <a:endCxn id="976" idx="1"/>
          </p:cNvCxnSpPr>
          <p:nvPr/>
        </p:nvCxnSpPr>
        <p:spPr>
          <a:xfrm>
            <a:off x="4763824" y="488717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1" name="Straight Connector 980"/>
          <p:cNvCxnSpPr>
            <a:stCxn id="976" idx="3"/>
            <a:endCxn id="978" idx="1"/>
          </p:cNvCxnSpPr>
          <p:nvPr/>
        </p:nvCxnSpPr>
        <p:spPr>
          <a:xfrm>
            <a:off x="5135856" y="488717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2" name="Straight Connector 981"/>
          <p:cNvCxnSpPr>
            <a:stCxn id="977" idx="1"/>
            <a:endCxn id="978" idx="3"/>
          </p:cNvCxnSpPr>
          <p:nvPr/>
        </p:nvCxnSpPr>
        <p:spPr>
          <a:xfrm flipH="1">
            <a:off x="5507888" y="488717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0" name="TextBox 999"/>
          <p:cNvSpPr txBox="1">
            <a:spLocks/>
          </p:cNvSpPr>
          <p:nvPr/>
        </p:nvSpPr>
        <p:spPr>
          <a:xfrm>
            <a:off x="6612104" y="4486526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001" name="TextBox 1000"/>
          <p:cNvSpPr txBox="1">
            <a:spLocks/>
          </p:cNvSpPr>
          <p:nvPr/>
        </p:nvSpPr>
        <p:spPr>
          <a:xfrm>
            <a:off x="7356168" y="4486526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002" name="TextBox 1001"/>
          <p:cNvSpPr txBox="1">
            <a:spLocks/>
          </p:cNvSpPr>
          <p:nvPr/>
        </p:nvSpPr>
        <p:spPr>
          <a:xfrm>
            <a:off x="6984136" y="4486526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003" name="TextBox 1002"/>
          <p:cNvSpPr txBox="1">
            <a:spLocks/>
          </p:cNvSpPr>
          <p:nvPr/>
        </p:nvSpPr>
        <p:spPr>
          <a:xfrm>
            <a:off x="6240072" y="4486526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1004" name="Straight Connector 1003"/>
          <p:cNvCxnSpPr>
            <a:endCxn id="1000" idx="1"/>
          </p:cNvCxnSpPr>
          <p:nvPr/>
        </p:nvCxnSpPr>
        <p:spPr>
          <a:xfrm>
            <a:off x="6492072" y="461252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5" name="Straight Connector 1004"/>
          <p:cNvCxnSpPr>
            <a:stCxn id="1000" idx="3"/>
            <a:endCxn id="1002" idx="1"/>
          </p:cNvCxnSpPr>
          <p:nvPr/>
        </p:nvCxnSpPr>
        <p:spPr>
          <a:xfrm>
            <a:off x="6864104" y="461252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6" name="Straight Connector 1005"/>
          <p:cNvCxnSpPr>
            <a:stCxn id="1001" idx="1"/>
            <a:endCxn id="1002" idx="3"/>
          </p:cNvCxnSpPr>
          <p:nvPr/>
        </p:nvCxnSpPr>
        <p:spPr>
          <a:xfrm flipH="1">
            <a:off x="7236136" y="461252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3" name="TextBox 992"/>
          <p:cNvSpPr txBox="1">
            <a:spLocks/>
          </p:cNvSpPr>
          <p:nvPr/>
        </p:nvSpPr>
        <p:spPr>
          <a:xfrm>
            <a:off x="6612104" y="4761176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94" name="TextBox 993"/>
          <p:cNvSpPr txBox="1">
            <a:spLocks/>
          </p:cNvSpPr>
          <p:nvPr/>
        </p:nvSpPr>
        <p:spPr>
          <a:xfrm>
            <a:off x="7356168" y="4761176"/>
            <a:ext cx="252000" cy="25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95" name="TextBox 994"/>
          <p:cNvSpPr txBox="1">
            <a:spLocks/>
          </p:cNvSpPr>
          <p:nvPr/>
        </p:nvSpPr>
        <p:spPr>
          <a:xfrm>
            <a:off x="6984136" y="4761176"/>
            <a:ext cx="252000" cy="25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96" name="TextBox 995"/>
          <p:cNvSpPr txBox="1">
            <a:spLocks/>
          </p:cNvSpPr>
          <p:nvPr/>
        </p:nvSpPr>
        <p:spPr>
          <a:xfrm>
            <a:off x="6240072" y="4761176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997" name="Straight Connector 996"/>
          <p:cNvCxnSpPr>
            <a:endCxn id="993" idx="1"/>
          </p:cNvCxnSpPr>
          <p:nvPr/>
        </p:nvCxnSpPr>
        <p:spPr>
          <a:xfrm>
            <a:off x="6492072" y="488717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8" name="Straight Connector 997"/>
          <p:cNvCxnSpPr>
            <a:stCxn id="993" idx="3"/>
            <a:endCxn id="995" idx="1"/>
          </p:cNvCxnSpPr>
          <p:nvPr/>
        </p:nvCxnSpPr>
        <p:spPr>
          <a:xfrm>
            <a:off x="6864104" y="488717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9" name="Straight Connector 998"/>
          <p:cNvCxnSpPr>
            <a:stCxn id="994" idx="1"/>
            <a:endCxn id="995" idx="3"/>
          </p:cNvCxnSpPr>
          <p:nvPr/>
        </p:nvCxnSpPr>
        <p:spPr>
          <a:xfrm flipH="1">
            <a:off x="7236136" y="488717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6" name="TextBox 895"/>
          <p:cNvSpPr txBox="1">
            <a:spLocks/>
          </p:cNvSpPr>
          <p:nvPr/>
        </p:nvSpPr>
        <p:spPr>
          <a:xfrm>
            <a:off x="3299680" y="675353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97" name="TextBox 896"/>
          <p:cNvSpPr txBox="1">
            <a:spLocks/>
          </p:cNvSpPr>
          <p:nvPr/>
        </p:nvSpPr>
        <p:spPr>
          <a:xfrm>
            <a:off x="4043744" y="675353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98" name="TextBox 897"/>
          <p:cNvSpPr txBox="1">
            <a:spLocks/>
          </p:cNvSpPr>
          <p:nvPr/>
        </p:nvSpPr>
        <p:spPr>
          <a:xfrm>
            <a:off x="3671712" y="675353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99" name="TextBox 898"/>
          <p:cNvSpPr txBox="1">
            <a:spLocks/>
          </p:cNvSpPr>
          <p:nvPr/>
        </p:nvSpPr>
        <p:spPr>
          <a:xfrm>
            <a:off x="2927648" y="675353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900" name="TextBox 899"/>
          <p:cNvSpPr txBox="1">
            <a:spLocks/>
          </p:cNvSpPr>
          <p:nvPr/>
        </p:nvSpPr>
        <p:spPr>
          <a:xfrm>
            <a:off x="4883856" y="671323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01" name="TextBox 900"/>
          <p:cNvSpPr txBox="1">
            <a:spLocks/>
          </p:cNvSpPr>
          <p:nvPr/>
        </p:nvSpPr>
        <p:spPr>
          <a:xfrm>
            <a:off x="5627920" y="671323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902" name="TextBox 901"/>
          <p:cNvSpPr txBox="1">
            <a:spLocks/>
          </p:cNvSpPr>
          <p:nvPr/>
        </p:nvSpPr>
        <p:spPr>
          <a:xfrm>
            <a:off x="5255888" y="671323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03" name="TextBox 902"/>
          <p:cNvSpPr txBox="1">
            <a:spLocks/>
          </p:cNvSpPr>
          <p:nvPr/>
        </p:nvSpPr>
        <p:spPr>
          <a:xfrm>
            <a:off x="4511824" y="671323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70" name="TextBox 1469"/>
          <p:cNvSpPr txBox="1">
            <a:spLocks/>
          </p:cNvSpPr>
          <p:nvPr/>
        </p:nvSpPr>
        <p:spPr>
          <a:xfrm>
            <a:off x="7692168" y="669270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71" name="TextBox 1470"/>
          <p:cNvSpPr txBox="1">
            <a:spLocks/>
          </p:cNvSpPr>
          <p:nvPr/>
        </p:nvSpPr>
        <p:spPr>
          <a:xfrm>
            <a:off x="8436232" y="669270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472" name="TextBox 1471"/>
          <p:cNvSpPr txBox="1">
            <a:spLocks/>
          </p:cNvSpPr>
          <p:nvPr/>
        </p:nvSpPr>
        <p:spPr>
          <a:xfrm>
            <a:off x="8064200" y="669270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1473" name="TextBox 1472"/>
          <p:cNvSpPr txBox="1">
            <a:spLocks/>
          </p:cNvSpPr>
          <p:nvPr/>
        </p:nvSpPr>
        <p:spPr>
          <a:xfrm>
            <a:off x="7320136" y="669270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74" name="TextBox 1473"/>
          <p:cNvSpPr txBox="1">
            <a:spLocks/>
          </p:cNvSpPr>
          <p:nvPr/>
        </p:nvSpPr>
        <p:spPr>
          <a:xfrm>
            <a:off x="9276344" y="669270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475" name="TextBox 1474"/>
          <p:cNvSpPr txBox="1">
            <a:spLocks/>
          </p:cNvSpPr>
          <p:nvPr/>
        </p:nvSpPr>
        <p:spPr>
          <a:xfrm>
            <a:off x="10020408" y="669270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476" name="TextBox 1475"/>
          <p:cNvSpPr txBox="1">
            <a:spLocks/>
          </p:cNvSpPr>
          <p:nvPr/>
        </p:nvSpPr>
        <p:spPr>
          <a:xfrm>
            <a:off x="9648376" y="669270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77" name="TextBox 1476"/>
          <p:cNvSpPr txBox="1">
            <a:spLocks/>
          </p:cNvSpPr>
          <p:nvPr/>
        </p:nvSpPr>
        <p:spPr>
          <a:xfrm>
            <a:off x="8904312" y="669270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78" name="TextBox 1477"/>
          <p:cNvSpPr txBox="1">
            <a:spLocks/>
          </p:cNvSpPr>
          <p:nvPr/>
        </p:nvSpPr>
        <p:spPr>
          <a:xfrm>
            <a:off x="2003592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79" name="TextBox 1478"/>
          <p:cNvSpPr txBox="1">
            <a:spLocks/>
          </p:cNvSpPr>
          <p:nvPr/>
        </p:nvSpPr>
        <p:spPr>
          <a:xfrm>
            <a:off x="2747656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80" name="TextBox 1479"/>
          <p:cNvSpPr txBox="1">
            <a:spLocks/>
          </p:cNvSpPr>
          <p:nvPr/>
        </p:nvSpPr>
        <p:spPr>
          <a:xfrm>
            <a:off x="2375624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81" name="TextBox 1480"/>
          <p:cNvSpPr txBox="1">
            <a:spLocks/>
          </p:cNvSpPr>
          <p:nvPr/>
        </p:nvSpPr>
        <p:spPr>
          <a:xfrm>
            <a:off x="1631560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82" name="TextBox 1481"/>
          <p:cNvSpPr txBox="1">
            <a:spLocks/>
          </p:cNvSpPr>
          <p:nvPr/>
        </p:nvSpPr>
        <p:spPr>
          <a:xfrm>
            <a:off x="3515749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83" name="TextBox 1482"/>
          <p:cNvSpPr txBox="1">
            <a:spLocks/>
          </p:cNvSpPr>
          <p:nvPr/>
        </p:nvSpPr>
        <p:spPr>
          <a:xfrm>
            <a:off x="4259813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84" name="TextBox 1483"/>
          <p:cNvSpPr txBox="1">
            <a:spLocks/>
          </p:cNvSpPr>
          <p:nvPr/>
        </p:nvSpPr>
        <p:spPr>
          <a:xfrm>
            <a:off x="3887781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85" name="TextBox 1484"/>
          <p:cNvSpPr txBox="1">
            <a:spLocks/>
          </p:cNvSpPr>
          <p:nvPr/>
        </p:nvSpPr>
        <p:spPr>
          <a:xfrm>
            <a:off x="3143717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86" name="TextBox 1485"/>
          <p:cNvSpPr txBox="1">
            <a:spLocks/>
          </p:cNvSpPr>
          <p:nvPr/>
        </p:nvSpPr>
        <p:spPr>
          <a:xfrm>
            <a:off x="5027906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87" name="TextBox 1486"/>
          <p:cNvSpPr txBox="1">
            <a:spLocks/>
          </p:cNvSpPr>
          <p:nvPr/>
        </p:nvSpPr>
        <p:spPr>
          <a:xfrm>
            <a:off x="5771970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88" name="TextBox 1487"/>
          <p:cNvSpPr txBox="1">
            <a:spLocks/>
          </p:cNvSpPr>
          <p:nvPr/>
        </p:nvSpPr>
        <p:spPr>
          <a:xfrm>
            <a:off x="5399938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89" name="TextBox 1488"/>
          <p:cNvSpPr txBox="1">
            <a:spLocks/>
          </p:cNvSpPr>
          <p:nvPr/>
        </p:nvSpPr>
        <p:spPr>
          <a:xfrm>
            <a:off x="4655874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90" name="TextBox 1489"/>
          <p:cNvSpPr txBox="1">
            <a:spLocks/>
          </p:cNvSpPr>
          <p:nvPr/>
        </p:nvSpPr>
        <p:spPr>
          <a:xfrm>
            <a:off x="6540063" y="2832748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91" name="TextBox 1490"/>
          <p:cNvSpPr txBox="1">
            <a:spLocks/>
          </p:cNvSpPr>
          <p:nvPr/>
        </p:nvSpPr>
        <p:spPr>
          <a:xfrm>
            <a:off x="6168031" y="2832748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92" name="TextBox 1491"/>
          <p:cNvSpPr txBox="1">
            <a:spLocks/>
          </p:cNvSpPr>
          <p:nvPr/>
        </p:nvSpPr>
        <p:spPr>
          <a:xfrm>
            <a:off x="3299680" y="674521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93" name="TextBox 1492"/>
          <p:cNvSpPr txBox="1">
            <a:spLocks/>
          </p:cNvSpPr>
          <p:nvPr/>
        </p:nvSpPr>
        <p:spPr>
          <a:xfrm>
            <a:off x="4043744" y="674521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494" name="TextBox 1493"/>
          <p:cNvSpPr txBox="1">
            <a:spLocks/>
          </p:cNvSpPr>
          <p:nvPr/>
        </p:nvSpPr>
        <p:spPr>
          <a:xfrm>
            <a:off x="3671712" y="674521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95" name="TextBox 1494"/>
          <p:cNvSpPr txBox="1">
            <a:spLocks/>
          </p:cNvSpPr>
          <p:nvPr/>
        </p:nvSpPr>
        <p:spPr>
          <a:xfrm>
            <a:off x="2927648" y="674521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96" name="TextBox 1495"/>
          <p:cNvSpPr txBox="1">
            <a:spLocks/>
          </p:cNvSpPr>
          <p:nvPr/>
        </p:nvSpPr>
        <p:spPr>
          <a:xfrm>
            <a:off x="4883856" y="670491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97" name="TextBox 1496"/>
          <p:cNvSpPr txBox="1">
            <a:spLocks/>
          </p:cNvSpPr>
          <p:nvPr/>
        </p:nvSpPr>
        <p:spPr>
          <a:xfrm>
            <a:off x="5627920" y="670491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98" name="TextBox 1497"/>
          <p:cNvSpPr txBox="1">
            <a:spLocks/>
          </p:cNvSpPr>
          <p:nvPr/>
        </p:nvSpPr>
        <p:spPr>
          <a:xfrm>
            <a:off x="5255888" y="670491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99" name="TextBox 1498"/>
          <p:cNvSpPr txBox="1">
            <a:spLocks/>
          </p:cNvSpPr>
          <p:nvPr/>
        </p:nvSpPr>
        <p:spPr>
          <a:xfrm>
            <a:off x="4511824" y="670491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06" name="TextBox 1505"/>
          <p:cNvSpPr txBox="1">
            <a:spLocks/>
          </p:cNvSpPr>
          <p:nvPr/>
        </p:nvSpPr>
        <p:spPr>
          <a:xfrm>
            <a:off x="7284127" y="2832051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07" name="TextBox 1506"/>
          <p:cNvSpPr txBox="1">
            <a:spLocks/>
          </p:cNvSpPr>
          <p:nvPr/>
        </p:nvSpPr>
        <p:spPr>
          <a:xfrm>
            <a:off x="6912095" y="2832051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1508" name="TextBox 1507"/>
          <p:cNvSpPr txBox="1">
            <a:spLocks/>
          </p:cNvSpPr>
          <p:nvPr/>
        </p:nvSpPr>
        <p:spPr>
          <a:xfrm>
            <a:off x="7680188" y="2832051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09" name="TextBox 1508"/>
          <p:cNvSpPr txBox="1">
            <a:spLocks/>
          </p:cNvSpPr>
          <p:nvPr/>
        </p:nvSpPr>
        <p:spPr>
          <a:xfrm>
            <a:off x="7692168" y="667741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10" name="TextBox 1509"/>
          <p:cNvSpPr txBox="1">
            <a:spLocks/>
          </p:cNvSpPr>
          <p:nvPr/>
        </p:nvSpPr>
        <p:spPr>
          <a:xfrm>
            <a:off x="8436232" y="667741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11" name="TextBox 1510"/>
          <p:cNvSpPr txBox="1">
            <a:spLocks/>
          </p:cNvSpPr>
          <p:nvPr/>
        </p:nvSpPr>
        <p:spPr>
          <a:xfrm>
            <a:off x="8064200" y="667741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1512" name="TextBox 1511"/>
          <p:cNvSpPr txBox="1">
            <a:spLocks/>
          </p:cNvSpPr>
          <p:nvPr/>
        </p:nvSpPr>
        <p:spPr>
          <a:xfrm>
            <a:off x="7320136" y="667741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13" name="TextBox 1512"/>
          <p:cNvSpPr txBox="1">
            <a:spLocks/>
          </p:cNvSpPr>
          <p:nvPr/>
        </p:nvSpPr>
        <p:spPr>
          <a:xfrm>
            <a:off x="9276344" y="667741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14" name="TextBox 1513"/>
          <p:cNvSpPr txBox="1">
            <a:spLocks/>
          </p:cNvSpPr>
          <p:nvPr/>
        </p:nvSpPr>
        <p:spPr>
          <a:xfrm>
            <a:off x="10020408" y="667741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15" name="TextBox 1514"/>
          <p:cNvSpPr txBox="1">
            <a:spLocks/>
          </p:cNvSpPr>
          <p:nvPr/>
        </p:nvSpPr>
        <p:spPr>
          <a:xfrm>
            <a:off x="9648376" y="667741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16" name="TextBox 1515"/>
          <p:cNvSpPr txBox="1">
            <a:spLocks/>
          </p:cNvSpPr>
          <p:nvPr/>
        </p:nvSpPr>
        <p:spPr>
          <a:xfrm>
            <a:off x="8904312" y="667741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17" name="TextBox 1516"/>
          <p:cNvSpPr txBox="1">
            <a:spLocks/>
          </p:cNvSpPr>
          <p:nvPr/>
        </p:nvSpPr>
        <p:spPr>
          <a:xfrm>
            <a:off x="2003592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18" name="TextBox 1517"/>
          <p:cNvSpPr txBox="1">
            <a:spLocks/>
          </p:cNvSpPr>
          <p:nvPr/>
        </p:nvSpPr>
        <p:spPr>
          <a:xfrm>
            <a:off x="2747656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19" name="TextBox 1518"/>
          <p:cNvSpPr txBox="1">
            <a:spLocks/>
          </p:cNvSpPr>
          <p:nvPr/>
        </p:nvSpPr>
        <p:spPr>
          <a:xfrm>
            <a:off x="2375624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20" name="TextBox 1519"/>
          <p:cNvSpPr txBox="1">
            <a:spLocks/>
          </p:cNvSpPr>
          <p:nvPr/>
        </p:nvSpPr>
        <p:spPr>
          <a:xfrm>
            <a:off x="1631560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21" name="TextBox 1520"/>
          <p:cNvSpPr txBox="1">
            <a:spLocks/>
          </p:cNvSpPr>
          <p:nvPr/>
        </p:nvSpPr>
        <p:spPr>
          <a:xfrm>
            <a:off x="3515749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22" name="TextBox 1521"/>
          <p:cNvSpPr txBox="1">
            <a:spLocks/>
          </p:cNvSpPr>
          <p:nvPr/>
        </p:nvSpPr>
        <p:spPr>
          <a:xfrm>
            <a:off x="4259813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23" name="TextBox 1522"/>
          <p:cNvSpPr txBox="1">
            <a:spLocks/>
          </p:cNvSpPr>
          <p:nvPr/>
        </p:nvSpPr>
        <p:spPr>
          <a:xfrm>
            <a:off x="3887781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24" name="TextBox 1523"/>
          <p:cNvSpPr txBox="1">
            <a:spLocks/>
          </p:cNvSpPr>
          <p:nvPr/>
        </p:nvSpPr>
        <p:spPr>
          <a:xfrm>
            <a:off x="3143717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25" name="TextBox 1524"/>
          <p:cNvSpPr txBox="1">
            <a:spLocks/>
          </p:cNvSpPr>
          <p:nvPr/>
        </p:nvSpPr>
        <p:spPr>
          <a:xfrm>
            <a:off x="5027906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26" name="TextBox 1525"/>
          <p:cNvSpPr txBox="1">
            <a:spLocks/>
          </p:cNvSpPr>
          <p:nvPr/>
        </p:nvSpPr>
        <p:spPr>
          <a:xfrm>
            <a:off x="5771970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27" name="TextBox 1526"/>
          <p:cNvSpPr txBox="1">
            <a:spLocks/>
          </p:cNvSpPr>
          <p:nvPr/>
        </p:nvSpPr>
        <p:spPr>
          <a:xfrm>
            <a:off x="5399938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28" name="TextBox 1527"/>
          <p:cNvSpPr txBox="1">
            <a:spLocks/>
          </p:cNvSpPr>
          <p:nvPr/>
        </p:nvSpPr>
        <p:spPr>
          <a:xfrm>
            <a:off x="4655874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29" name="TextBox 1528"/>
          <p:cNvSpPr txBox="1">
            <a:spLocks/>
          </p:cNvSpPr>
          <p:nvPr/>
        </p:nvSpPr>
        <p:spPr>
          <a:xfrm>
            <a:off x="6540063" y="2831219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30" name="TextBox 1529"/>
          <p:cNvSpPr txBox="1">
            <a:spLocks/>
          </p:cNvSpPr>
          <p:nvPr/>
        </p:nvSpPr>
        <p:spPr>
          <a:xfrm>
            <a:off x="6168031" y="2831219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31" name="TextBox 1530"/>
          <p:cNvSpPr txBox="1">
            <a:spLocks/>
          </p:cNvSpPr>
          <p:nvPr/>
        </p:nvSpPr>
        <p:spPr>
          <a:xfrm>
            <a:off x="3299680" y="672992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32" name="TextBox 1531"/>
          <p:cNvSpPr txBox="1">
            <a:spLocks/>
          </p:cNvSpPr>
          <p:nvPr/>
        </p:nvSpPr>
        <p:spPr>
          <a:xfrm>
            <a:off x="4043744" y="672992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33" name="TextBox 1532"/>
          <p:cNvSpPr txBox="1">
            <a:spLocks/>
          </p:cNvSpPr>
          <p:nvPr/>
        </p:nvSpPr>
        <p:spPr>
          <a:xfrm>
            <a:off x="3671712" y="672992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34" name="TextBox 1533"/>
          <p:cNvSpPr txBox="1">
            <a:spLocks/>
          </p:cNvSpPr>
          <p:nvPr/>
        </p:nvSpPr>
        <p:spPr>
          <a:xfrm>
            <a:off x="2927648" y="672992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35" name="TextBox 1534"/>
          <p:cNvSpPr txBox="1">
            <a:spLocks/>
          </p:cNvSpPr>
          <p:nvPr/>
        </p:nvSpPr>
        <p:spPr>
          <a:xfrm>
            <a:off x="4883856" y="668962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36" name="TextBox 1535"/>
          <p:cNvSpPr txBox="1">
            <a:spLocks/>
          </p:cNvSpPr>
          <p:nvPr/>
        </p:nvSpPr>
        <p:spPr>
          <a:xfrm>
            <a:off x="5627920" y="668962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37" name="TextBox 1536"/>
          <p:cNvSpPr txBox="1">
            <a:spLocks/>
          </p:cNvSpPr>
          <p:nvPr/>
        </p:nvSpPr>
        <p:spPr>
          <a:xfrm>
            <a:off x="5255888" y="668962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38" name="TextBox 1537"/>
          <p:cNvSpPr txBox="1">
            <a:spLocks/>
          </p:cNvSpPr>
          <p:nvPr/>
        </p:nvSpPr>
        <p:spPr>
          <a:xfrm>
            <a:off x="4511824" y="668962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42" name="TextBox 1541"/>
          <p:cNvSpPr txBox="1">
            <a:spLocks/>
          </p:cNvSpPr>
          <p:nvPr/>
        </p:nvSpPr>
        <p:spPr>
          <a:xfrm>
            <a:off x="8052220" y="2832051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43" name="TextBox 1542"/>
          <p:cNvSpPr txBox="1">
            <a:spLocks/>
          </p:cNvSpPr>
          <p:nvPr/>
        </p:nvSpPr>
        <p:spPr>
          <a:xfrm>
            <a:off x="8424252" y="2832051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44" name="TextBox 1543"/>
          <p:cNvSpPr txBox="1">
            <a:spLocks/>
          </p:cNvSpPr>
          <p:nvPr/>
        </p:nvSpPr>
        <p:spPr>
          <a:xfrm>
            <a:off x="7284127" y="2830522"/>
            <a:ext cx="252000" cy="25200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45" name="TextBox 1544"/>
          <p:cNvSpPr txBox="1">
            <a:spLocks/>
          </p:cNvSpPr>
          <p:nvPr/>
        </p:nvSpPr>
        <p:spPr>
          <a:xfrm>
            <a:off x="6912095" y="2830522"/>
            <a:ext cx="252000" cy="25200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1546" name="TextBox 1545"/>
          <p:cNvSpPr txBox="1">
            <a:spLocks/>
          </p:cNvSpPr>
          <p:nvPr/>
        </p:nvSpPr>
        <p:spPr>
          <a:xfrm>
            <a:off x="7680188" y="2830522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47" name="TextBox 1546"/>
          <p:cNvSpPr txBox="1">
            <a:spLocks/>
          </p:cNvSpPr>
          <p:nvPr/>
        </p:nvSpPr>
        <p:spPr>
          <a:xfrm>
            <a:off x="7692168" y="666212"/>
            <a:ext cx="252000" cy="25200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48" name="TextBox 1547"/>
          <p:cNvSpPr txBox="1">
            <a:spLocks/>
          </p:cNvSpPr>
          <p:nvPr/>
        </p:nvSpPr>
        <p:spPr>
          <a:xfrm>
            <a:off x="8436232" y="666212"/>
            <a:ext cx="252000" cy="25200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49" name="TextBox 1548"/>
          <p:cNvSpPr txBox="1">
            <a:spLocks/>
          </p:cNvSpPr>
          <p:nvPr/>
        </p:nvSpPr>
        <p:spPr>
          <a:xfrm>
            <a:off x="8064200" y="666212"/>
            <a:ext cx="252000" cy="25200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1550" name="TextBox 1549"/>
          <p:cNvSpPr txBox="1">
            <a:spLocks/>
          </p:cNvSpPr>
          <p:nvPr/>
        </p:nvSpPr>
        <p:spPr>
          <a:xfrm>
            <a:off x="7320136" y="666212"/>
            <a:ext cx="252000" cy="25200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51" name="TextBox 1550"/>
          <p:cNvSpPr txBox="1">
            <a:spLocks/>
          </p:cNvSpPr>
          <p:nvPr/>
        </p:nvSpPr>
        <p:spPr>
          <a:xfrm>
            <a:off x="9276344" y="666212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52" name="TextBox 1551"/>
          <p:cNvSpPr txBox="1">
            <a:spLocks/>
          </p:cNvSpPr>
          <p:nvPr/>
        </p:nvSpPr>
        <p:spPr>
          <a:xfrm>
            <a:off x="10020408" y="666212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53" name="TextBox 1552"/>
          <p:cNvSpPr txBox="1">
            <a:spLocks/>
          </p:cNvSpPr>
          <p:nvPr/>
        </p:nvSpPr>
        <p:spPr>
          <a:xfrm>
            <a:off x="9648376" y="666212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54" name="TextBox 1553"/>
          <p:cNvSpPr txBox="1">
            <a:spLocks/>
          </p:cNvSpPr>
          <p:nvPr/>
        </p:nvSpPr>
        <p:spPr>
          <a:xfrm>
            <a:off x="8904312" y="666212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55" name="TextBox 1554"/>
          <p:cNvSpPr txBox="1">
            <a:spLocks/>
          </p:cNvSpPr>
          <p:nvPr/>
        </p:nvSpPr>
        <p:spPr>
          <a:xfrm>
            <a:off x="2003592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56" name="TextBox 1555"/>
          <p:cNvSpPr txBox="1">
            <a:spLocks/>
          </p:cNvSpPr>
          <p:nvPr/>
        </p:nvSpPr>
        <p:spPr>
          <a:xfrm>
            <a:off x="2747656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57" name="TextBox 1556"/>
          <p:cNvSpPr txBox="1">
            <a:spLocks/>
          </p:cNvSpPr>
          <p:nvPr/>
        </p:nvSpPr>
        <p:spPr>
          <a:xfrm>
            <a:off x="2375624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58" name="TextBox 1557"/>
          <p:cNvSpPr txBox="1">
            <a:spLocks/>
          </p:cNvSpPr>
          <p:nvPr/>
        </p:nvSpPr>
        <p:spPr>
          <a:xfrm>
            <a:off x="1631560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59" name="TextBox 1558"/>
          <p:cNvSpPr txBox="1">
            <a:spLocks/>
          </p:cNvSpPr>
          <p:nvPr/>
        </p:nvSpPr>
        <p:spPr>
          <a:xfrm>
            <a:off x="3515749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60" name="TextBox 1559"/>
          <p:cNvSpPr txBox="1">
            <a:spLocks/>
          </p:cNvSpPr>
          <p:nvPr/>
        </p:nvSpPr>
        <p:spPr>
          <a:xfrm>
            <a:off x="4259813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61" name="TextBox 1560"/>
          <p:cNvSpPr txBox="1">
            <a:spLocks/>
          </p:cNvSpPr>
          <p:nvPr/>
        </p:nvSpPr>
        <p:spPr>
          <a:xfrm>
            <a:off x="3887781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62" name="TextBox 1561"/>
          <p:cNvSpPr txBox="1">
            <a:spLocks/>
          </p:cNvSpPr>
          <p:nvPr/>
        </p:nvSpPr>
        <p:spPr>
          <a:xfrm>
            <a:off x="3143717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63" name="TextBox 1562"/>
          <p:cNvSpPr txBox="1">
            <a:spLocks/>
          </p:cNvSpPr>
          <p:nvPr/>
        </p:nvSpPr>
        <p:spPr>
          <a:xfrm>
            <a:off x="5027906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64" name="TextBox 1563"/>
          <p:cNvSpPr txBox="1">
            <a:spLocks/>
          </p:cNvSpPr>
          <p:nvPr/>
        </p:nvSpPr>
        <p:spPr>
          <a:xfrm>
            <a:off x="5771970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65" name="TextBox 1564"/>
          <p:cNvSpPr txBox="1">
            <a:spLocks/>
          </p:cNvSpPr>
          <p:nvPr/>
        </p:nvSpPr>
        <p:spPr>
          <a:xfrm>
            <a:off x="5399938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66" name="TextBox 1565"/>
          <p:cNvSpPr txBox="1">
            <a:spLocks/>
          </p:cNvSpPr>
          <p:nvPr/>
        </p:nvSpPr>
        <p:spPr>
          <a:xfrm>
            <a:off x="4655874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67" name="TextBox 1566"/>
          <p:cNvSpPr txBox="1">
            <a:spLocks/>
          </p:cNvSpPr>
          <p:nvPr/>
        </p:nvSpPr>
        <p:spPr>
          <a:xfrm>
            <a:off x="6540063" y="2829690"/>
            <a:ext cx="252000" cy="25200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68" name="TextBox 1567"/>
          <p:cNvSpPr txBox="1">
            <a:spLocks/>
          </p:cNvSpPr>
          <p:nvPr/>
        </p:nvSpPr>
        <p:spPr>
          <a:xfrm>
            <a:off x="6168031" y="2829690"/>
            <a:ext cx="252000" cy="25200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69" name="TextBox 1568"/>
          <p:cNvSpPr txBox="1">
            <a:spLocks/>
          </p:cNvSpPr>
          <p:nvPr/>
        </p:nvSpPr>
        <p:spPr>
          <a:xfrm>
            <a:off x="3299680" y="671463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70" name="TextBox 1569"/>
          <p:cNvSpPr txBox="1">
            <a:spLocks/>
          </p:cNvSpPr>
          <p:nvPr/>
        </p:nvSpPr>
        <p:spPr>
          <a:xfrm>
            <a:off x="4043744" y="671463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71" name="TextBox 1570"/>
          <p:cNvSpPr txBox="1">
            <a:spLocks/>
          </p:cNvSpPr>
          <p:nvPr/>
        </p:nvSpPr>
        <p:spPr>
          <a:xfrm>
            <a:off x="3671712" y="671463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72" name="TextBox 1571"/>
          <p:cNvSpPr txBox="1">
            <a:spLocks/>
          </p:cNvSpPr>
          <p:nvPr/>
        </p:nvSpPr>
        <p:spPr>
          <a:xfrm>
            <a:off x="2927648" y="671463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73" name="TextBox 1572"/>
          <p:cNvSpPr txBox="1">
            <a:spLocks/>
          </p:cNvSpPr>
          <p:nvPr/>
        </p:nvSpPr>
        <p:spPr>
          <a:xfrm>
            <a:off x="4883856" y="667433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74" name="TextBox 1573"/>
          <p:cNvSpPr txBox="1">
            <a:spLocks/>
          </p:cNvSpPr>
          <p:nvPr/>
        </p:nvSpPr>
        <p:spPr>
          <a:xfrm>
            <a:off x="5627920" y="667433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75" name="TextBox 1574"/>
          <p:cNvSpPr txBox="1">
            <a:spLocks/>
          </p:cNvSpPr>
          <p:nvPr/>
        </p:nvSpPr>
        <p:spPr>
          <a:xfrm>
            <a:off x="5255888" y="667433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76" name="TextBox 1575"/>
          <p:cNvSpPr txBox="1">
            <a:spLocks/>
          </p:cNvSpPr>
          <p:nvPr/>
        </p:nvSpPr>
        <p:spPr>
          <a:xfrm>
            <a:off x="4511824" y="667433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629" name="TextBox 1628"/>
          <p:cNvSpPr txBox="1">
            <a:spLocks/>
          </p:cNvSpPr>
          <p:nvPr/>
        </p:nvSpPr>
        <p:spPr>
          <a:xfrm>
            <a:off x="3299984" y="94917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630" name="TextBox 1629"/>
          <p:cNvSpPr txBox="1">
            <a:spLocks/>
          </p:cNvSpPr>
          <p:nvPr/>
        </p:nvSpPr>
        <p:spPr>
          <a:xfrm>
            <a:off x="3672016" y="94917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631" name="TextBox 1630"/>
          <p:cNvSpPr txBox="1">
            <a:spLocks/>
          </p:cNvSpPr>
          <p:nvPr/>
        </p:nvSpPr>
        <p:spPr>
          <a:xfrm>
            <a:off x="2927952" y="94917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710" name="TextBox 1709"/>
          <p:cNvSpPr txBox="1">
            <a:spLocks/>
          </p:cNvSpPr>
          <p:nvPr/>
        </p:nvSpPr>
        <p:spPr>
          <a:xfrm>
            <a:off x="2003592" y="2555866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711" name="TextBox 1710"/>
          <p:cNvSpPr txBox="1">
            <a:spLocks/>
          </p:cNvSpPr>
          <p:nvPr/>
        </p:nvSpPr>
        <p:spPr>
          <a:xfrm>
            <a:off x="2375624" y="2555866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712" name="TextBox 1711"/>
          <p:cNvSpPr txBox="1">
            <a:spLocks/>
          </p:cNvSpPr>
          <p:nvPr/>
        </p:nvSpPr>
        <p:spPr>
          <a:xfrm>
            <a:off x="1631560" y="2555866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713" name="TextBox 1712"/>
          <p:cNvSpPr txBox="1">
            <a:spLocks/>
          </p:cNvSpPr>
          <p:nvPr/>
        </p:nvSpPr>
        <p:spPr>
          <a:xfrm>
            <a:off x="4259813" y="2555866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714" name="TextBox 1713"/>
          <p:cNvSpPr txBox="1">
            <a:spLocks/>
          </p:cNvSpPr>
          <p:nvPr/>
        </p:nvSpPr>
        <p:spPr>
          <a:xfrm>
            <a:off x="4655874" y="2555866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72972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Allele Summary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7495274"/>
              </p:ext>
            </p:extLst>
          </p:nvPr>
        </p:nvGraphicFramePr>
        <p:xfrm>
          <a:off x="1703388" y="1196975"/>
          <a:ext cx="878522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8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1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4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41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41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Locus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Locus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Locus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Locus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Reference allele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Alternative</a:t>
                      </a:r>
                      <a:r>
                        <a:rPr lang="en-GB" baseline="0" dirty="0"/>
                        <a:t> allele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Frequency of  alternative,</a:t>
                      </a:r>
                      <a:r>
                        <a:rPr lang="en-GB" baseline="0" dirty="0"/>
                        <a:t> </a:t>
                      </a:r>
                      <a:r>
                        <a:rPr lang="en-GB" dirty="0"/>
                        <a:t>p</a:t>
                      </a:r>
                      <a:r>
                        <a:rPr lang="en-GB" baseline="-250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13/24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15/24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Mean {0,1,2} coding, 2p</a:t>
                      </a:r>
                      <a:r>
                        <a:rPr lang="en-GB" baseline="-25000" dirty="0"/>
                        <a:t>i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1.58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Variance </a:t>
                      </a:r>
                      <a:r>
                        <a:rPr lang="en-GB" baseline="0" dirty="0"/>
                        <a:t>{0,1,2} coding, 2p</a:t>
                      </a:r>
                      <a:r>
                        <a:rPr lang="en-GB" baseline="-25000" dirty="0"/>
                        <a:t>i</a:t>
                      </a:r>
                      <a:r>
                        <a:rPr lang="en-GB" baseline="0" dirty="0"/>
                        <a:t>(1-p</a:t>
                      </a:r>
                      <a:r>
                        <a:rPr lang="en-GB" baseline="-25000" dirty="0"/>
                        <a:t>i</a:t>
                      </a:r>
                      <a:r>
                        <a:rPr lang="en-GB" baseline="0" dirty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0.33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S.D.</a:t>
                      </a:r>
                      <a:r>
                        <a:rPr lang="en-GB" baseline="0" dirty="0"/>
                        <a:t> {0,1,2} coding,√(2p</a:t>
                      </a:r>
                      <a:r>
                        <a:rPr lang="en-GB" baseline="-25000" dirty="0"/>
                        <a:t>i</a:t>
                      </a:r>
                      <a:r>
                        <a:rPr lang="en-GB" baseline="0" dirty="0"/>
                        <a:t>(1-p</a:t>
                      </a:r>
                      <a:r>
                        <a:rPr lang="en-GB" baseline="-25000" dirty="0"/>
                        <a:t>i</a:t>
                      </a:r>
                      <a:r>
                        <a:rPr lang="en-GB" baseline="0" dirty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8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791555"/>
              </p:ext>
            </p:extLst>
          </p:nvPr>
        </p:nvGraphicFramePr>
        <p:xfrm>
          <a:off x="3048000" y="4293096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 loci, </a:t>
                      </a:r>
                      <a:r>
                        <a:rPr lang="en-GB" i="1" dirty="0"/>
                        <a:t>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i="1" dirty="0"/>
                        <a:t>c </a:t>
                      </a:r>
                      <a:r>
                        <a:rPr lang="en-GB" b="0" i="1" dirty="0"/>
                        <a:t>= </a:t>
                      </a:r>
                      <a:r>
                        <a:rPr lang="en-GB" b="0" i="1" dirty="0" err="1"/>
                        <a:t>sqrt</a:t>
                      </a:r>
                      <a:r>
                        <a:rPr lang="en-GB" b="0" i="0" baseline="0" dirty="0"/>
                        <a:t> [ </a:t>
                      </a:r>
                      <a:r>
                        <a:rPr lang="el-GR" b="0" i="0" baseline="0" dirty="0"/>
                        <a:t>Σ</a:t>
                      </a:r>
                      <a:r>
                        <a:rPr lang="en-GB" b="0" i="1" baseline="0" dirty="0"/>
                        <a:t> 2p</a:t>
                      </a:r>
                      <a:r>
                        <a:rPr lang="en-GB" b="0" i="1" baseline="-25000" dirty="0"/>
                        <a:t>i</a:t>
                      </a:r>
                      <a:r>
                        <a:rPr lang="en-GB" b="0" i="1" baseline="0" dirty="0"/>
                        <a:t> (1-p</a:t>
                      </a:r>
                      <a:r>
                        <a:rPr lang="en-GB" b="0" i="1" baseline="-25000" dirty="0"/>
                        <a:t>i</a:t>
                      </a:r>
                      <a:r>
                        <a:rPr lang="en-GB" b="0" i="1" baseline="0" dirty="0"/>
                        <a:t>)</a:t>
                      </a:r>
                      <a:r>
                        <a:rPr lang="en-GB" b="0" i="0" baseline="0" dirty="0"/>
                        <a:t> ]</a:t>
                      </a:r>
                      <a:endParaRPr lang="en-GB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2415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X Covariate Matrix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05258540"/>
              </p:ext>
            </p:extLst>
          </p:nvPr>
        </p:nvGraphicFramePr>
        <p:xfrm>
          <a:off x="1703389" y="1196975"/>
          <a:ext cx="5688755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77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77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77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Individual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Locus 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Locus 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Locus 3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Locus 4</a:t>
                      </a:r>
                    </a:p>
                  </a:txBody>
                  <a:tcPr marL="44927" marR="449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#3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#4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#5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#6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#7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#8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#9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#10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#11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#12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7464153" y="1196976"/>
            <a:ext cx="3024461" cy="4968875"/>
          </a:xfrm>
        </p:spPr>
        <p:txBody>
          <a:bodyPr/>
          <a:lstStyle/>
          <a:p>
            <a:r>
              <a:rPr lang="en-GB" dirty="0"/>
              <a:t>Coding 0,1,2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8</a:t>
            </a:r>
          </a:p>
        </p:txBody>
      </p:sp>
    </p:spTree>
    <p:extLst>
      <p:ext uri="{BB962C8B-B14F-4D97-AF65-F5344CB8AC3E}">
        <p14:creationId xmlns:p14="http://schemas.microsoft.com/office/powerpoint/2010/main" val="1299071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X Covariate Matrix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05258540"/>
              </p:ext>
            </p:extLst>
          </p:nvPr>
        </p:nvGraphicFramePr>
        <p:xfrm>
          <a:off x="1703389" y="1196975"/>
          <a:ext cx="5688755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77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77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77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Individual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Locus 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Locus 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Locus 3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Locus 4</a:t>
                      </a:r>
                    </a:p>
                  </a:txBody>
                  <a:tcPr marL="44927" marR="449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#3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#4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#5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#6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#7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#8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#9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#10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#11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#12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marL="44927" marR="44927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7464153" y="1196976"/>
            <a:ext cx="3024461" cy="4968875"/>
          </a:xfrm>
        </p:spPr>
        <p:txBody>
          <a:bodyPr/>
          <a:lstStyle/>
          <a:p>
            <a:r>
              <a:rPr lang="en-GB" dirty="0"/>
              <a:t>Centre by subtracting 2</a:t>
            </a:r>
            <a:r>
              <a:rPr lang="en-GB" i="1" dirty="0"/>
              <a:t>p</a:t>
            </a:r>
            <a:r>
              <a:rPr lang="en-GB" i="1" baseline="-25000" dirty="0"/>
              <a:t>j</a:t>
            </a:r>
            <a:endParaRPr lang="en-GB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8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794477"/>
              </p:ext>
            </p:extLst>
          </p:nvPr>
        </p:nvGraphicFramePr>
        <p:xfrm>
          <a:off x="2927523" y="1196752"/>
          <a:ext cx="44646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6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- 1.08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- 1.25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- 1.58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- 1.58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1880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</a:t>
            </a:r>
            <a:r>
              <a:rPr lang="en-GB" baseline="-25000" dirty="0"/>
              <a:t>1</a:t>
            </a:r>
            <a:r>
              <a:rPr lang="en-GB" dirty="0"/>
              <a:t> Covariate Matrix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93947925"/>
              </p:ext>
            </p:extLst>
          </p:nvPr>
        </p:nvGraphicFramePr>
        <p:xfrm>
          <a:off x="1703389" y="1196975"/>
          <a:ext cx="5688755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77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77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77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Individual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Locus 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Locus 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Locus 3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Locus 4</a:t>
                      </a:r>
                    </a:p>
                  </a:txBody>
                  <a:tcPr marL="44927" marR="449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#3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#4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#5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#6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#7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#8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#9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/>
                        <a:t>#10</a:t>
                      </a:r>
                      <a:endParaRPr lang="en-GB" dirty="0"/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#11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#12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7464153" y="1196976"/>
            <a:ext cx="3024461" cy="4968875"/>
          </a:xfrm>
        </p:spPr>
        <p:txBody>
          <a:bodyPr/>
          <a:lstStyle/>
          <a:p>
            <a:r>
              <a:rPr lang="en-GB" dirty="0"/>
              <a:t>Centred by subtracting 2</a:t>
            </a:r>
            <a:r>
              <a:rPr lang="en-GB" i="1" dirty="0"/>
              <a:t>p</a:t>
            </a:r>
            <a:r>
              <a:rPr lang="en-GB" i="1" baseline="-25000" dirty="0"/>
              <a:t>j</a:t>
            </a:r>
            <a:endParaRPr lang="en-GB" i="1" dirty="0"/>
          </a:p>
          <a:p>
            <a:r>
              <a:rPr lang="en-GB" dirty="0"/>
              <a:t>So each column has sum =0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8</a:t>
            </a:r>
          </a:p>
        </p:txBody>
      </p:sp>
    </p:spTree>
    <p:extLst>
      <p:ext uri="{BB962C8B-B14F-4D97-AF65-F5344CB8AC3E}">
        <p14:creationId xmlns:p14="http://schemas.microsoft.com/office/powerpoint/2010/main" val="4235438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Genomic Relationship Matrix (1)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46578505"/>
              </p:ext>
            </p:extLst>
          </p:nvPr>
        </p:nvGraphicFramePr>
        <p:xfrm>
          <a:off x="1703388" y="1196975"/>
          <a:ext cx="6984896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0.27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0.79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0.79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0.80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1.43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-1.27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1.43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-1.27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0.37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0.90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0.37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0.37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0.27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1.76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60297" y="1196976"/>
            <a:ext cx="1728317" cy="49688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G</a:t>
            </a:r>
            <a:r>
              <a:rPr lang="en-GB" b="1" baseline="-25000" dirty="0"/>
              <a:t>1</a:t>
            </a:r>
            <a:r>
              <a:rPr lang="en-GB" dirty="0"/>
              <a:t> = </a:t>
            </a:r>
            <a:r>
              <a:rPr lang="en-GB" b="1" dirty="0"/>
              <a:t>W</a:t>
            </a:r>
            <a:r>
              <a:rPr lang="en-GB" b="1" baseline="-25000" dirty="0"/>
              <a:t>1</a:t>
            </a:r>
            <a:r>
              <a:rPr lang="en-GB" b="1" dirty="0"/>
              <a:t>W</a:t>
            </a:r>
            <a:r>
              <a:rPr lang="en-GB" b="1" baseline="-25000" dirty="0"/>
              <a:t>1</a:t>
            </a:r>
            <a:r>
              <a:rPr lang="en-GB" baseline="30000" dirty="0"/>
              <a:t>T</a:t>
            </a:r>
            <a:r>
              <a:rPr lang="en-GB" dirty="0"/>
              <a:t>/</a:t>
            </a:r>
            <a:r>
              <a:rPr lang="en-GB" i="1" dirty="0"/>
              <a:t>c</a:t>
            </a:r>
            <a:r>
              <a:rPr lang="en-GB" baseline="30000" dirty="0"/>
              <a:t>2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with </a:t>
            </a:r>
            <a:r>
              <a:rPr lang="en-GB" i="1" dirty="0"/>
              <a:t>c</a:t>
            </a:r>
            <a:r>
              <a:rPr lang="en-GB" baseline="30000" dirty="0"/>
              <a:t>2</a:t>
            </a:r>
            <a:r>
              <a:rPr lang="en-GB" dirty="0"/>
              <a:t> = </a:t>
            </a:r>
          </a:p>
          <a:p>
            <a:pPr marL="0" indent="0">
              <a:buNone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GB" dirty="0"/>
              <a:t>2</a:t>
            </a:r>
            <a:r>
              <a:rPr lang="en-GB" i="1" dirty="0"/>
              <a:t>p</a:t>
            </a:r>
            <a:r>
              <a:rPr lang="en-GB" i="1" baseline="-25000" dirty="0"/>
              <a:t>j</a:t>
            </a:r>
            <a:r>
              <a:rPr lang="en-GB" dirty="0"/>
              <a:t>(1-</a:t>
            </a:r>
            <a:r>
              <a:rPr lang="en-GB" i="1" dirty="0"/>
              <a:t>p</a:t>
            </a:r>
            <a:r>
              <a:rPr lang="en-GB" i="1" baseline="-25000" dirty="0"/>
              <a:t>j</a:t>
            </a:r>
            <a:r>
              <a:rPr lang="en-GB" dirty="0"/>
              <a:t>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DCCE7-68A7-442A-AA7A-2E7473D4FC32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8</a:t>
            </a:r>
          </a:p>
        </p:txBody>
      </p:sp>
    </p:spTree>
    <p:extLst>
      <p:ext uri="{BB962C8B-B14F-4D97-AF65-F5344CB8AC3E}">
        <p14:creationId xmlns:p14="http://schemas.microsoft.com/office/powerpoint/2010/main" val="3409697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</a:t>
            </a:r>
            <a:r>
              <a:rPr lang="en-GB" baseline="-25000" dirty="0"/>
              <a:t>1</a:t>
            </a:r>
            <a:r>
              <a:rPr lang="en-GB" dirty="0"/>
              <a:t> Covariate Matrix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25546967"/>
              </p:ext>
            </p:extLst>
          </p:nvPr>
        </p:nvGraphicFramePr>
        <p:xfrm>
          <a:off x="1703389" y="1196975"/>
          <a:ext cx="5688755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77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77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77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Individual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Locus 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Locus 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Locus 3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Locus 4</a:t>
                      </a:r>
                    </a:p>
                  </a:txBody>
                  <a:tcPr marL="44927" marR="449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#3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#4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#5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#6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#7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#8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#9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/>
                        <a:t>#10</a:t>
                      </a:r>
                      <a:endParaRPr lang="en-GB" dirty="0"/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#11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#12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7464153" y="1196976"/>
            <a:ext cx="3024461" cy="4968875"/>
          </a:xfrm>
        </p:spPr>
        <p:txBody>
          <a:bodyPr/>
          <a:lstStyle/>
          <a:p>
            <a:r>
              <a:rPr lang="en-GB" dirty="0"/>
              <a:t>Centred </a:t>
            </a:r>
          </a:p>
          <a:p>
            <a:pPr lvl="1"/>
            <a:r>
              <a:rPr lang="en-GB" dirty="0"/>
              <a:t>subtracting 2p</a:t>
            </a:r>
            <a:r>
              <a:rPr lang="en-GB" baseline="-25000" dirty="0"/>
              <a:t>i</a:t>
            </a:r>
            <a:endParaRPr lang="en-GB" dirty="0"/>
          </a:p>
          <a:p>
            <a:r>
              <a:rPr lang="en-GB" dirty="0"/>
              <a:t>So each column has sum =0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>
                <a:solidFill>
                  <a:srgbClr val="000000"/>
                </a:solidFill>
              </a:rPr>
              <a:pPr/>
              <a:t>05 February 2025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rgbClr val="000000"/>
                </a:solidFill>
              </a:rPr>
              <a:t>Lecture 8</a:t>
            </a:r>
          </a:p>
        </p:txBody>
      </p:sp>
    </p:spTree>
    <p:extLst>
      <p:ext uri="{BB962C8B-B14F-4D97-AF65-F5344CB8AC3E}">
        <p14:creationId xmlns:p14="http://schemas.microsoft.com/office/powerpoint/2010/main" val="1305317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</a:t>
            </a:r>
            <a:r>
              <a:rPr lang="en-GB" baseline="-25000" dirty="0"/>
              <a:t>1</a:t>
            </a:r>
            <a:r>
              <a:rPr lang="en-GB" dirty="0"/>
              <a:t> Covariate Matrix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25546967"/>
              </p:ext>
            </p:extLst>
          </p:nvPr>
        </p:nvGraphicFramePr>
        <p:xfrm>
          <a:off x="1703389" y="1196975"/>
          <a:ext cx="5688755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77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77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77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Individual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Locus 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Locus 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Locus 3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Locus 4</a:t>
                      </a:r>
                    </a:p>
                  </a:txBody>
                  <a:tcPr marL="44927" marR="449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#3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#4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#5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#6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#7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#8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#9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/>
                        <a:t>#10</a:t>
                      </a:r>
                      <a:endParaRPr lang="en-GB" dirty="0"/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#11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#12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7464153" y="1196976"/>
            <a:ext cx="3024461" cy="4968875"/>
          </a:xfrm>
        </p:spPr>
        <p:txBody>
          <a:bodyPr/>
          <a:lstStyle/>
          <a:p>
            <a:r>
              <a:rPr lang="en-GB" dirty="0"/>
              <a:t>Normalise</a:t>
            </a:r>
          </a:p>
          <a:p>
            <a:pPr lvl="1"/>
            <a:r>
              <a:rPr lang="en-GB" dirty="0"/>
              <a:t>divide by (SD)</a:t>
            </a:r>
            <a:r>
              <a:rPr lang="en-GB" baseline="-25000" dirty="0"/>
              <a:t>j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>
                <a:solidFill>
                  <a:srgbClr val="000000"/>
                </a:solidFill>
              </a:rPr>
              <a:pPr/>
              <a:t>05 February 2025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rgbClr val="000000"/>
                </a:solidFill>
              </a:rPr>
              <a:t>Lecture 8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013755"/>
              </p:ext>
            </p:extLst>
          </p:nvPr>
        </p:nvGraphicFramePr>
        <p:xfrm>
          <a:off x="2927646" y="1185952"/>
          <a:ext cx="44644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6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1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1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/ 0.70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/ 0.68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/ 0.57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/ 0.57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2543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</a:t>
            </a:r>
            <a:r>
              <a:rPr lang="en-GB" baseline="-25000" dirty="0"/>
              <a:t>2</a:t>
            </a:r>
            <a:r>
              <a:rPr lang="en-GB" dirty="0"/>
              <a:t> Covariate Matrix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7081838"/>
              </p:ext>
            </p:extLst>
          </p:nvPr>
        </p:nvGraphicFramePr>
        <p:xfrm>
          <a:off x="1703389" y="1196975"/>
          <a:ext cx="5688755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77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77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77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Individual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Locus 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Locus 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Locus 3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Locus 4</a:t>
                      </a:r>
                    </a:p>
                  </a:txBody>
                  <a:tcPr marL="44927" marR="449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-1.02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#3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-1.02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#4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#5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-1.02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#6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-1.02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#7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-1.02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#8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#9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/>
                        <a:t>#10</a:t>
                      </a:r>
                      <a:endParaRPr lang="en-GB" dirty="0"/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#11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#12</a:t>
                      </a:r>
                    </a:p>
                  </a:txBody>
                  <a:tcPr marL="44927" marR="44927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7464153" y="1196976"/>
            <a:ext cx="3024461" cy="4968875"/>
          </a:xfrm>
        </p:spPr>
        <p:txBody>
          <a:bodyPr/>
          <a:lstStyle/>
          <a:p>
            <a:r>
              <a:rPr lang="en-GB" dirty="0"/>
              <a:t>Normalised</a:t>
            </a:r>
          </a:p>
          <a:p>
            <a:pPr lvl="1"/>
            <a:r>
              <a:rPr lang="en-GB" dirty="0" err="1"/>
              <a:t>divid’d</a:t>
            </a:r>
            <a:r>
              <a:rPr lang="en-GB" dirty="0"/>
              <a:t> by (SD)</a:t>
            </a:r>
            <a:r>
              <a:rPr lang="en-GB" baseline="-25000" dirty="0"/>
              <a:t>j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8</a:t>
            </a:r>
          </a:p>
        </p:txBody>
      </p:sp>
    </p:spTree>
    <p:extLst>
      <p:ext uri="{BB962C8B-B14F-4D97-AF65-F5344CB8AC3E}">
        <p14:creationId xmlns:p14="http://schemas.microsoft.com/office/powerpoint/2010/main" val="4097193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Genomic Relationship Matrix (2)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84342243"/>
              </p:ext>
            </p:extLst>
          </p:nvPr>
        </p:nvGraphicFramePr>
        <p:xfrm>
          <a:off x="1703388" y="1196975"/>
          <a:ext cx="6984896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0.31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0.83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0.83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0.74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1.29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-1.07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1.29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-1.07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0.43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0.86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0.43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0.43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0.31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1.55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60297" y="1196976"/>
            <a:ext cx="1728317" cy="49688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G</a:t>
            </a:r>
            <a:r>
              <a:rPr lang="en-GB" baseline="-25000" dirty="0"/>
              <a:t>2</a:t>
            </a:r>
            <a:r>
              <a:rPr lang="en-GB" dirty="0"/>
              <a:t> =     </a:t>
            </a:r>
            <a:r>
              <a:rPr lang="en-GB" b="1" dirty="0"/>
              <a:t>W</a:t>
            </a:r>
            <a:r>
              <a:rPr lang="en-GB" b="1" baseline="-25000" dirty="0"/>
              <a:t>2</a:t>
            </a:r>
            <a:r>
              <a:rPr lang="en-GB" b="1" dirty="0"/>
              <a:t>W</a:t>
            </a:r>
            <a:r>
              <a:rPr lang="en-GB" b="1" baseline="-25000" dirty="0"/>
              <a:t>2</a:t>
            </a:r>
            <a:r>
              <a:rPr lang="en-GB" baseline="30000" dirty="0"/>
              <a:t>T</a:t>
            </a:r>
            <a:r>
              <a:rPr lang="en-GB" dirty="0"/>
              <a:t>/m</a:t>
            </a:r>
          </a:p>
          <a:p>
            <a:pPr marL="0" indent="0">
              <a:buNone/>
            </a:pPr>
            <a:r>
              <a:rPr lang="en-GB" dirty="0"/>
              <a:t>where m = # loci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DCCE7-68A7-442A-AA7A-2E7473D4FC32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8</a:t>
            </a:r>
          </a:p>
        </p:txBody>
      </p:sp>
    </p:spTree>
    <p:extLst>
      <p:ext uri="{BB962C8B-B14F-4D97-AF65-F5344CB8AC3E}">
        <p14:creationId xmlns:p14="http://schemas.microsoft.com/office/powerpoint/2010/main" val="2724203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Comparison (1) &amp; (2)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1703388" y="1196976"/>
            <a:ext cx="3960564" cy="4968875"/>
          </a:xfrm>
        </p:spPr>
        <p:txBody>
          <a:bodyPr/>
          <a:lstStyle/>
          <a:p>
            <a:r>
              <a:rPr lang="en-GB" dirty="0"/>
              <a:t>Leading diagonal</a:t>
            </a:r>
          </a:p>
          <a:p>
            <a:r>
              <a:rPr lang="en-GB" dirty="0"/>
              <a:t>Off-diagonal</a:t>
            </a:r>
          </a:p>
          <a:p>
            <a:r>
              <a:rPr lang="en-GB" dirty="0"/>
              <a:t>Not very different 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5735961" y="1196976"/>
            <a:ext cx="4752653" cy="496887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DCCE7-68A7-442A-AA7A-2E7473D4FC32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2535472"/>
              </p:ext>
            </p:extLst>
          </p:nvPr>
        </p:nvGraphicFramePr>
        <p:xfrm>
          <a:off x="5735960" y="1484785"/>
          <a:ext cx="4788024" cy="45927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8328248" y="4365104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Van </a:t>
            </a:r>
            <a:r>
              <a:rPr lang="en-GB" dirty="0" err="1"/>
              <a:t>Raden</a:t>
            </a:r>
            <a:r>
              <a:rPr lang="en-GB" dirty="0"/>
              <a:t> (1)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8008" y="1700808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Van </a:t>
            </a:r>
            <a:r>
              <a:rPr lang="en-GB" dirty="0" err="1"/>
              <a:t>Raden</a:t>
            </a:r>
            <a:r>
              <a:rPr lang="en-GB" dirty="0"/>
              <a:t> (2)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15880" y="1340768"/>
            <a:ext cx="288032" cy="288032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5015880" y="1844824"/>
            <a:ext cx="288032" cy="288032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8309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Properties of G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Symmetric</a:t>
            </a:r>
          </a:p>
          <a:p>
            <a:r>
              <a:rPr lang="en-GB" b="1" dirty="0"/>
              <a:t>G ≠</a:t>
            </a:r>
            <a:r>
              <a:rPr lang="en-GB" dirty="0"/>
              <a:t> </a:t>
            </a:r>
            <a:r>
              <a:rPr lang="en-GB" b="1" dirty="0"/>
              <a:t>I</a:t>
            </a:r>
            <a:r>
              <a:rPr lang="en-GB" dirty="0"/>
              <a:t> in the</a:t>
            </a:r>
            <a:r>
              <a:rPr lang="en-GB" b="1" dirty="0"/>
              <a:t> </a:t>
            </a:r>
            <a:r>
              <a:rPr lang="en-GB" dirty="0"/>
              <a:t>base generation</a:t>
            </a:r>
          </a:p>
          <a:p>
            <a:pPr lvl="1"/>
            <a:r>
              <a:rPr lang="en-GB" dirty="0"/>
              <a:t>uses IBS not IBD</a:t>
            </a:r>
          </a:p>
          <a:p>
            <a:r>
              <a:rPr lang="en-GB" dirty="0"/>
              <a:t>Leading diagonal ≥ 0, but can be &gt;2 and &lt;1</a:t>
            </a:r>
          </a:p>
          <a:p>
            <a:pPr lvl="1"/>
            <a:r>
              <a:rPr lang="en-GB" dirty="0"/>
              <a:t> </a:t>
            </a:r>
            <a:r>
              <a:rPr lang="en-GB" i="1" dirty="0" err="1"/>
              <a:t>g</a:t>
            </a:r>
            <a:r>
              <a:rPr lang="en-GB" i="1" baseline="-25000" dirty="0" err="1"/>
              <a:t>ii</a:t>
            </a:r>
            <a:r>
              <a:rPr lang="en-GB" i="1" dirty="0"/>
              <a:t> </a:t>
            </a:r>
            <a:r>
              <a:rPr lang="en-GB" dirty="0"/>
              <a:t>is measure of distance from ‘mean’ genotype</a:t>
            </a:r>
          </a:p>
          <a:p>
            <a:r>
              <a:rPr lang="en-GB" dirty="0"/>
              <a:t>Off-diagonals may be &lt; 0</a:t>
            </a:r>
          </a:p>
          <a:p>
            <a:pPr lvl="1"/>
            <a:r>
              <a:rPr lang="en-GB" dirty="0"/>
              <a:t>from information of being different or the same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DCCE7-68A7-442A-AA7A-2E7473D4FC32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4</a:t>
            </a:r>
          </a:p>
        </p:txBody>
      </p:sp>
    </p:spTree>
    <p:extLst>
      <p:ext uri="{BB962C8B-B14F-4D97-AF65-F5344CB8AC3E}">
        <p14:creationId xmlns:p14="http://schemas.microsoft.com/office/powerpoint/2010/main" val="12299630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Genomic Relationship Matrix (1)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46578505"/>
              </p:ext>
            </p:extLst>
          </p:nvPr>
        </p:nvGraphicFramePr>
        <p:xfrm>
          <a:off x="1703388" y="1196975"/>
          <a:ext cx="6984896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0.27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0.79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0.79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0.80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1.43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-1.27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1.43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-1.27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0.37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0.90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0.37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0.37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0.27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1.76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60297" y="1196976"/>
            <a:ext cx="1728317" cy="49688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G</a:t>
            </a:r>
            <a:r>
              <a:rPr lang="en-GB" b="1" baseline="-25000" dirty="0"/>
              <a:t>1</a:t>
            </a:r>
            <a:r>
              <a:rPr lang="en-GB" dirty="0"/>
              <a:t> = </a:t>
            </a:r>
            <a:r>
              <a:rPr lang="en-GB" b="1" dirty="0"/>
              <a:t>W</a:t>
            </a:r>
            <a:r>
              <a:rPr lang="en-GB" b="1" baseline="-25000" dirty="0"/>
              <a:t>1</a:t>
            </a:r>
            <a:r>
              <a:rPr lang="en-GB" b="1" dirty="0"/>
              <a:t>W</a:t>
            </a:r>
            <a:r>
              <a:rPr lang="en-GB" b="1" baseline="-25000" dirty="0"/>
              <a:t>1</a:t>
            </a:r>
            <a:r>
              <a:rPr lang="en-GB" baseline="30000" dirty="0"/>
              <a:t>T</a:t>
            </a:r>
            <a:r>
              <a:rPr lang="en-GB" dirty="0"/>
              <a:t>/</a:t>
            </a:r>
            <a:r>
              <a:rPr lang="en-GB" i="1" dirty="0"/>
              <a:t>c</a:t>
            </a:r>
            <a:r>
              <a:rPr lang="en-GB" baseline="30000" dirty="0"/>
              <a:t>2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with </a:t>
            </a:r>
            <a:r>
              <a:rPr lang="en-GB" i="1" dirty="0"/>
              <a:t>c</a:t>
            </a:r>
            <a:r>
              <a:rPr lang="en-GB" baseline="30000" dirty="0"/>
              <a:t>2</a:t>
            </a:r>
            <a:r>
              <a:rPr lang="en-GB" dirty="0"/>
              <a:t> = </a:t>
            </a:r>
          </a:p>
          <a:p>
            <a:pPr marL="0" indent="0">
              <a:buNone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GB" dirty="0"/>
              <a:t>2</a:t>
            </a:r>
            <a:r>
              <a:rPr lang="en-GB" i="1" dirty="0"/>
              <a:t>p</a:t>
            </a:r>
            <a:r>
              <a:rPr lang="en-GB" i="1" baseline="-25000" dirty="0"/>
              <a:t>j</a:t>
            </a:r>
            <a:r>
              <a:rPr lang="en-GB" dirty="0"/>
              <a:t>(1-</a:t>
            </a:r>
            <a:r>
              <a:rPr lang="en-GB" i="1" dirty="0"/>
              <a:t>p</a:t>
            </a:r>
            <a:r>
              <a:rPr lang="en-GB" i="1" baseline="-25000" dirty="0"/>
              <a:t>j</a:t>
            </a:r>
            <a:r>
              <a:rPr lang="en-GB" dirty="0"/>
              <a:t>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DCCE7-68A7-442A-AA7A-2E7473D4FC32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99856" y="3933056"/>
            <a:ext cx="3456384" cy="923330"/>
          </a:xfrm>
          <a:prstGeom prst="rect">
            <a:avLst/>
          </a:prstGeom>
          <a:solidFill>
            <a:srgbClr val="FFFF99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Sums</a:t>
            </a:r>
          </a:p>
          <a:p>
            <a:r>
              <a:rPr lang="en-GB" dirty="0"/>
              <a:t>All 		= 0</a:t>
            </a:r>
          </a:p>
          <a:p>
            <a:r>
              <a:rPr lang="en-GB" dirty="0"/>
              <a:t>Leading Diagonal	= 9.55</a:t>
            </a:r>
          </a:p>
        </p:txBody>
      </p:sp>
    </p:spTree>
    <p:extLst>
      <p:ext uri="{BB962C8B-B14F-4D97-AF65-F5344CB8AC3E}">
        <p14:creationId xmlns:p14="http://schemas.microsoft.com/office/powerpoint/2010/main" val="536360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Genomic Relationship Matrix (2)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84342243"/>
              </p:ext>
            </p:extLst>
          </p:nvPr>
        </p:nvGraphicFramePr>
        <p:xfrm>
          <a:off x="1703388" y="1196975"/>
          <a:ext cx="6984896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0.31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0.83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0.83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0.74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1.29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-1.07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1.29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-1.07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0.43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0.86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0.43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0.43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0.31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1.55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60297" y="1196976"/>
            <a:ext cx="1728317" cy="49688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G</a:t>
            </a:r>
            <a:r>
              <a:rPr lang="en-GB" baseline="-25000" dirty="0"/>
              <a:t>2</a:t>
            </a:r>
            <a:r>
              <a:rPr lang="en-GB" dirty="0"/>
              <a:t> =     </a:t>
            </a:r>
            <a:r>
              <a:rPr lang="en-GB" b="1" dirty="0"/>
              <a:t>W</a:t>
            </a:r>
            <a:r>
              <a:rPr lang="en-GB" b="1" baseline="-25000" dirty="0"/>
              <a:t>2</a:t>
            </a:r>
            <a:r>
              <a:rPr lang="en-GB" b="1" dirty="0"/>
              <a:t>W</a:t>
            </a:r>
            <a:r>
              <a:rPr lang="en-GB" b="1" baseline="-25000" dirty="0"/>
              <a:t>2</a:t>
            </a:r>
            <a:r>
              <a:rPr lang="en-GB" baseline="30000" dirty="0"/>
              <a:t>T</a:t>
            </a:r>
            <a:r>
              <a:rPr lang="en-GB" dirty="0"/>
              <a:t>/</a:t>
            </a:r>
            <a:r>
              <a:rPr lang="en-GB" i="1" dirty="0"/>
              <a:t>m</a:t>
            </a:r>
          </a:p>
          <a:p>
            <a:pPr marL="0" indent="0">
              <a:buNone/>
            </a:pPr>
            <a:r>
              <a:rPr lang="en-GB" dirty="0"/>
              <a:t>where </a:t>
            </a:r>
            <a:r>
              <a:rPr lang="en-GB" i="1" dirty="0"/>
              <a:t>m</a:t>
            </a:r>
            <a:r>
              <a:rPr lang="en-GB" dirty="0"/>
              <a:t> = # loci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DCCE7-68A7-442A-AA7A-2E7473D4FC32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99856" y="3933056"/>
            <a:ext cx="3456384" cy="923330"/>
          </a:xfrm>
          <a:prstGeom prst="rect">
            <a:avLst/>
          </a:prstGeom>
          <a:solidFill>
            <a:srgbClr val="FFFF99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Sums</a:t>
            </a:r>
          </a:p>
          <a:p>
            <a:r>
              <a:rPr lang="en-GB" dirty="0"/>
              <a:t>All 		= 0</a:t>
            </a:r>
          </a:p>
          <a:p>
            <a:r>
              <a:rPr lang="en-GB" dirty="0"/>
              <a:t>Leading Diagonal	= 9.3</a:t>
            </a:r>
          </a:p>
        </p:txBody>
      </p:sp>
    </p:spTree>
    <p:extLst>
      <p:ext uri="{BB962C8B-B14F-4D97-AF65-F5344CB8AC3E}">
        <p14:creationId xmlns:p14="http://schemas.microsoft.com/office/powerpoint/2010/main" val="11348695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Properties of G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Symmetric</a:t>
            </a:r>
          </a:p>
          <a:p>
            <a:r>
              <a:rPr lang="en-GB" b="1" dirty="0"/>
              <a:t>G </a:t>
            </a:r>
            <a:r>
              <a:rPr lang="en-GB" dirty="0"/>
              <a:t>≠ </a:t>
            </a:r>
            <a:r>
              <a:rPr lang="en-GB" b="1" dirty="0"/>
              <a:t>I</a:t>
            </a:r>
            <a:r>
              <a:rPr lang="en-GB" dirty="0"/>
              <a:t> in the</a:t>
            </a:r>
            <a:r>
              <a:rPr lang="en-GB" b="1" dirty="0"/>
              <a:t> </a:t>
            </a:r>
            <a:r>
              <a:rPr lang="en-GB" dirty="0"/>
              <a:t>base generation</a:t>
            </a:r>
          </a:p>
          <a:p>
            <a:r>
              <a:rPr lang="en-GB" dirty="0"/>
              <a:t>Leading diagonal ≥ 0, but can be &gt;2 and &lt;1</a:t>
            </a:r>
          </a:p>
          <a:p>
            <a:r>
              <a:rPr lang="en-GB" dirty="0"/>
              <a:t>Off-diagonals may be &lt; 0</a:t>
            </a:r>
          </a:p>
          <a:p>
            <a:r>
              <a:rPr lang="en-GB" b="1" dirty="0"/>
              <a:t>G </a:t>
            </a:r>
            <a:r>
              <a:rPr lang="en-GB" dirty="0"/>
              <a:t>positive semi-definite</a:t>
            </a:r>
          </a:p>
          <a:p>
            <a:pPr lvl="1"/>
            <a:r>
              <a:rPr lang="en-GB" dirty="0"/>
              <a:t>elements sum to 0</a:t>
            </a:r>
          </a:p>
          <a:p>
            <a:pPr lvl="1"/>
            <a:r>
              <a:rPr lang="en-GB" dirty="0"/>
              <a:t>strictly no inverse</a:t>
            </a:r>
          </a:p>
          <a:p>
            <a:pPr lvl="1"/>
            <a:r>
              <a:rPr lang="en-GB" dirty="0"/>
              <a:t>diagonal has mean 1 if all loci in HWE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DCCE7-68A7-442A-AA7A-2E7473D4FC32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4</a:t>
            </a:r>
          </a:p>
        </p:txBody>
      </p:sp>
    </p:spTree>
    <p:extLst>
      <p:ext uri="{BB962C8B-B14F-4D97-AF65-F5344CB8AC3E}">
        <p14:creationId xmlns:p14="http://schemas.microsoft.com/office/powerpoint/2010/main" val="2791346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067C3-4C7E-434C-BBC8-747F571B711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1659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Looking at Correlations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09190500"/>
              </p:ext>
            </p:extLst>
          </p:nvPr>
        </p:nvGraphicFramePr>
        <p:xfrm>
          <a:off x="1703388" y="1196975"/>
          <a:ext cx="6984896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-0.81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-0.81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-0.75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0.45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-0.75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0.45</a:t>
                      </a:r>
                    </a:p>
                  </a:txBody>
                  <a:tcPr marL="9525" marR="9525" marT="9525" marB="0" anchor="ctr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60297" y="1196976"/>
            <a:ext cx="3192521" cy="4968875"/>
          </a:xfrm>
        </p:spPr>
        <p:txBody>
          <a:bodyPr/>
          <a:lstStyle/>
          <a:p>
            <a:pPr marL="0" indent="0">
              <a:buNone/>
            </a:pPr>
            <a:r>
              <a:rPr lang="en-GB" sz="2400" dirty="0"/>
              <a:t>Correlation	= 1?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DCCE7-68A7-442A-AA7A-2E7473D4FC32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4</a:t>
            </a:r>
          </a:p>
        </p:txBody>
      </p:sp>
    </p:spTree>
    <p:extLst>
      <p:ext uri="{BB962C8B-B14F-4D97-AF65-F5344CB8AC3E}">
        <p14:creationId xmlns:p14="http://schemas.microsoft.com/office/powerpoint/2010/main" val="38553511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(1)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63510946"/>
              </p:ext>
            </p:extLst>
          </p:nvPr>
        </p:nvGraphicFramePr>
        <p:xfrm>
          <a:off x="1703388" y="1196975"/>
          <a:ext cx="6984896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-0.17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-0.17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-0.81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-0.81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-0.68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-0.68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-0.17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-0.68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0.45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-0.93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-0.17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-0.75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-0.17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-0.68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0.45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-0.93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-0.17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-0.75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0.45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0.45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-0.93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-0.93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-0.17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-0.17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-0.75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-0.75</a:t>
                      </a: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60297" y="1196976"/>
            <a:ext cx="3192521" cy="49688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#5 &amp; #6 are identical twins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IBS, and</a:t>
            </a:r>
          </a:p>
          <a:p>
            <a:pPr marL="0" indent="0">
              <a:buNone/>
            </a:pPr>
            <a:r>
              <a:rPr lang="en-GB" dirty="0"/>
              <a:t>IBD from base!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DCCE7-68A7-442A-AA7A-2E7473D4FC32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8</a:t>
            </a:r>
          </a:p>
        </p:txBody>
      </p:sp>
    </p:spTree>
    <p:extLst>
      <p:ext uri="{BB962C8B-B14F-4D97-AF65-F5344CB8AC3E}">
        <p14:creationId xmlns:p14="http://schemas.microsoft.com/office/powerpoint/2010/main" val="18983614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0" name="Straight Connector 249"/>
          <p:cNvCxnSpPr/>
          <p:nvPr/>
        </p:nvCxnSpPr>
        <p:spPr>
          <a:xfrm>
            <a:off x="3179648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/>
          <p:cNvCxnSpPr/>
          <p:nvPr/>
        </p:nvCxnSpPr>
        <p:spPr>
          <a:xfrm>
            <a:off x="3551680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/>
          <p:cNvCxnSpPr/>
          <p:nvPr/>
        </p:nvCxnSpPr>
        <p:spPr>
          <a:xfrm flipH="1">
            <a:off x="3923712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/>
          <p:cNvCxnSpPr/>
          <p:nvPr/>
        </p:nvCxnSpPr>
        <p:spPr>
          <a:xfrm>
            <a:off x="3179648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/>
          <p:cNvCxnSpPr/>
          <p:nvPr/>
        </p:nvCxnSpPr>
        <p:spPr>
          <a:xfrm>
            <a:off x="3551680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8</a:t>
            </a:r>
          </a:p>
        </p:txBody>
      </p:sp>
      <p:cxnSp>
        <p:nvCxnSpPr>
          <p:cNvPr id="222" name="Straight Arrow Connector 221"/>
          <p:cNvCxnSpPr/>
          <p:nvPr/>
        </p:nvCxnSpPr>
        <p:spPr>
          <a:xfrm flipH="1">
            <a:off x="2395013" y="1340769"/>
            <a:ext cx="1246737" cy="11665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/>
          <p:cNvCxnSpPr/>
          <p:nvPr/>
        </p:nvCxnSpPr>
        <p:spPr>
          <a:xfrm>
            <a:off x="3659158" y="1340769"/>
            <a:ext cx="384587" cy="11247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Arrow Connector 223"/>
          <p:cNvCxnSpPr/>
          <p:nvPr/>
        </p:nvCxnSpPr>
        <p:spPr>
          <a:xfrm>
            <a:off x="3659158" y="1340769"/>
            <a:ext cx="1746599" cy="11247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/>
          <p:cNvCxnSpPr/>
          <p:nvPr/>
        </p:nvCxnSpPr>
        <p:spPr>
          <a:xfrm>
            <a:off x="3641750" y="1340769"/>
            <a:ext cx="3222355" cy="112053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/>
          <p:cNvCxnSpPr/>
          <p:nvPr/>
        </p:nvCxnSpPr>
        <p:spPr>
          <a:xfrm flipH="1">
            <a:off x="2444942" y="1340769"/>
            <a:ext cx="2564915" cy="11247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/>
          <p:cNvCxnSpPr/>
          <p:nvPr/>
        </p:nvCxnSpPr>
        <p:spPr>
          <a:xfrm flipH="1">
            <a:off x="4043746" y="1316737"/>
            <a:ext cx="979358" cy="114875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227"/>
          <p:cNvCxnSpPr/>
          <p:nvPr/>
        </p:nvCxnSpPr>
        <p:spPr>
          <a:xfrm>
            <a:off x="5032314" y="1340769"/>
            <a:ext cx="349574" cy="11247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/>
          <p:cNvCxnSpPr/>
          <p:nvPr/>
        </p:nvCxnSpPr>
        <p:spPr>
          <a:xfrm>
            <a:off x="5032314" y="1340769"/>
            <a:ext cx="1849174" cy="11532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/>
          <p:cNvCxnSpPr/>
          <p:nvPr/>
        </p:nvCxnSpPr>
        <p:spPr>
          <a:xfrm>
            <a:off x="8064200" y="1340768"/>
            <a:ext cx="1836176" cy="1008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Arrow Connector 230"/>
          <p:cNvCxnSpPr/>
          <p:nvPr/>
        </p:nvCxnSpPr>
        <p:spPr>
          <a:xfrm>
            <a:off x="9444344" y="1340768"/>
            <a:ext cx="576064" cy="1008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Arrow Connector 231"/>
          <p:cNvCxnSpPr/>
          <p:nvPr/>
        </p:nvCxnSpPr>
        <p:spPr>
          <a:xfrm>
            <a:off x="8075644" y="1340768"/>
            <a:ext cx="348609" cy="1008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/>
          <p:cNvCxnSpPr/>
          <p:nvPr/>
        </p:nvCxnSpPr>
        <p:spPr>
          <a:xfrm flipH="1">
            <a:off x="8436234" y="1340768"/>
            <a:ext cx="1015680" cy="1008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Arrow Connector 233"/>
          <p:cNvCxnSpPr/>
          <p:nvPr/>
        </p:nvCxnSpPr>
        <p:spPr>
          <a:xfrm>
            <a:off x="3923712" y="3223490"/>
            <a:ext cx="1230194" cy="9975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Arrow Connector 234"/>
          <p:cNvCxnSpPr/>
          <p:nvPr/>
        </p:nvCxnSpPr>
        <p:spPr>
          <a:xfrm>
            <a:off x="5356174" y="3223490"/>
            <a:ext cx="1627962" cy="9975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/>
          <p:cNvCxnSpPr/>
          <p:nvPr/>
        </p:nvCxnSpPr>
        <p:spPr>
          <a:xfrm flipH="1">
            <a:off x="7038095" y="3223490"/>
            <a:ext cx="2778282" cy="997599"/>
          </a:xfrm>
          <a:prstGeom prst="straightConnector1">
            <a:avLst/>
          </a:prstGeom>
          <a:ln w="63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Arrow Connector 236"/>
          <p:cNvCxnSpPr/>
          <p:nvPr/>
        </p:nvCxnSpPr>
        <p:spPr>
          <a:xfrm flipH="1">
            <a:off x="5195873" y="3223490"/>
            <a:ext cx="3120329" cy="9975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TextBox 237"/>
          <p:cNvSpPr txBox="1"/>
          <p:nvPr/>
        </p:nvSpPr>
        <p:spPr>
          <a:xfrm>
            <a:off x="3508314" y="27231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1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032314" y="27231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2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8004114" y="26064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9451914" y="26064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4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2212914" y="21235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5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3697878" y="21235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6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5182842" y="21235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7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6667806" y="21235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8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8152770" y="21235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9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9637736" y="212356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10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5015880" y="4067780"/>
            <a:ext cx="428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11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6675512" y="405611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12</a:t>
            </a:r>
          </a:p>
        </p:txBody>
      </p:sp>
      <p:sp>
        <p:nvSpPr>
          <p:cNvPr id="714" name="TextBox 713"/>
          <p:cNvSpPr txBox="1"/>
          <p:nvPr/>
        </p:nvSpPr>
        <p:spPr>
          <a:xfrm>
            <a:off x="6463172" y="9820401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694" name="TextBox 693"/>
          <p:cNvSpPr txBox="1">
            <a:spLocks/>
          </p:cNvSpPr>
          <p:nvPr/>
        </p:nvSpPr>
        <p:spPr>
          <a:xfrm>
            <a:off x="3299680" y="674132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696" name="TextBox 695"/>
          <p:cNvSpPr txBox="1">
            <a:spLocks/>
          </p:cNvSpPr>
          <p:nvPr/>
        </p:nvSpPr>
        <p:spPr>
          <a:xfrm>
            <a:off x="4043744" y="674132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698" name="TextBox 697"/>
          <p:cNvSpPr txBox="1">
            <a:spLocks/>
          </p:cNvSpPr>
          <p:nvPr/>
        </p:nvSpPr>
        <p:spPr>
          <a:xfrm>
            <a:off x="3671712" y="674132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727" name="TextBox 726"/>
          <p:cNvSpPr txBox="1">
            <a:spLocks/>
          </p:cNvSpPr>
          <p:nvPr/>
        </p:nvSpPr>
        <p:spPr>
          <a:xfrm>
            <a:off x="2927648" y="674132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768" name="TextBox 767"/>
          <p:cNvSpPr txBox="1">
            <a:spLocks/>
          </p:cNvSpPr>
          <p:nvPr/>
        </p:nvSpPr>
        <p:spPr>
          <a:xfrm>
            <a:off x="3299680" y="948782"/>
            <a:ext cx="252000" cy="252000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769" name="TextBox 768"/>
          <p:cNvSpPr txBox="1">
            <a:spLocks/>
          </p:cNvSpPr>
          <p:nvPr/>
        </p:nvSpPr>
        <p:spPr>
          <a:xfrm>
            <a:off x="4043744" y="948782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770" name="TextBox 769"/>
          <p:cNvSpPr txBox="1">
            <a:spLocks/>
          </p:cNvSpPr>
          <p:nvPr/>
        </p:nvSpPr>
        <p:spPr>
          <a:xfrm>
            <a:off x="3671712" y="948782"/>
            <a:ext cx="252000" cy="252000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771" name="TextBox 770"/>
          <p:cNvSpPr txBox="1">
            <a:spLocks/>
          </p:cNvSpPr>
          <p:nvPr/>
        </p:nvSpPr>
        <p:spPr>
          <a:xfrm>
            <a:off x="2927648" y="948782"/>
            <a:ext cx="252000" cy="252000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774" name="Straight Connector 773"/>
          <p:cNvCxnSpPr>
            <a:stCxn id="769" idx="1"/>
            <a:endCxn id="770" idx="3"/>
          </p:cNvCxnSpPr>
          <p:nvPr/>
        </p:nvCxnSpPr>
        <p:spPr>
          <a:xfrm flipH="1">
            <a:off x="3923712" y="107478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6" name="TextBox 785"/>
          <p:cNvSpPr txBox="1">
            <a:spLocks/>
          </p:cNvSpPr>
          <p:nvPr/>
        </p:nvSpPr>
        <p:spPr>
          <a:xfrm>
            <a:off x="4883856" y="670102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787" name="TextBox 786"/>
          <p:cNvSpPr txBox="1">
            <a:spLocks/>
          </p:cNvSpPr>
          <p:nvPr/>
        </p:nvSpPr>
        <p:spPr>
          <a:xfrm>
            <a:off x="5627920" y="670102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788" name="TextBox 787"/>
          <p:cNvSpPr txBox="1">
            <a:spLocks/>
          </p:cNvSpPr>
          <p:nvPr/>
        </p:nvSpPr>
        <p:spPr>
          <a:xfrm>
            <a:off x="5255888" y="670102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789" name="TextBox 788"/>
          <p:cNvSpPr txBox="1">
            <a:spLocks/>
          </p:cNvSpPr>
          <p:nvPr/>
        </p:nvSpPr>
        <p:spPr>
          <a:xfrm>
            <a:off x="4511824" y="670102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790" name="Straight Connector 789"/>
          <p:cNvCxnSpPr>
            <a:endCxn id="786" idx="1"/>
          </p:cNvCxnSpPr>
          <p:nvPr/>
        </p:nvCxnSpPr>
        <p:spPr>
          <a:xfrm>
            <a:off x="4763824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1" name="Straight Connector 790"/>
          <p:cNvCxnSpPr>
            <a:stCxn id="786" idx="3"/>
            <a:endCxn id="788" idx="1"/>
          </p:cNvCxnSpPr>
          <p:nvPr/>
        </p:nvCxnSpPr>
        <p:spPr>
          <a:xfrm>
            <a:off x="5135856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2" name="Straight Connector 791"/>
          <p:cNvCxnSpPr>
            <a:stCxn id="787" idx="1"/>
            <a:endCxn id="788" idx="3"/>
          </p:cNvCxnSpPr>
          <p:nvPr/>
        </p:nvCxnSpPr>
        <p:spPr>
          <a:xfrm flipH="1">
            <a:off x="5507888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9" name="TextBox 778"/>
          <p:cNvSpPr txBox="1">
            <a:spLocks/>
          </p:cNvSpPr>
          <p:nvPr/>
        </p:nvSpPr>
        <p:spPr>
          <a:xfrm>
            <a:off x="4883856" y="944752"/>
            <a:ext cx="252000" cy="25200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780" name="TextBox 779"/>
          <p:cNvSpPr txBox="1">
            <a:spLocks/>
          </p:cNvSpPr>
          <p:nvPr/>
        </p:nvSpPr>
        <p:spPr>
          <a:xfrm>
            <a:off x="5627920" y="944752"/>
            <a:ext cx="252000" cy="25200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781" name="TextBox 780"/>
          <p:cNvSpPr txBox="1">
            <a:spLocks/>
          </p:cNvSpPr>
          <p:nvPr/>
        </p:nvSpPr>
        <p:spPr>
          <a:xfrm>
            <a:off x="5255888" y="944752"/>
            <a:ext cx="252000" cy="25200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782" name="TextBox 781"/>
          <p:cNvSpPr txBox="1">
            <a:spLocks/>
          </p:cNvSpPr>
          <p:nvPr/>
        </p:nvSpPr>
        <p:spPr>
          <a:xfrm>
            <a:off x="4511824" y="944752"/>
            <a:ext cx="252000" cy="25200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783" name="Straight Connector 782"/>
          <p:cNvCxnSpPr>
            <a:endCxn id="779" idx="1"/>
          </p:cNvCxnSpPr>
          <p:nvPr/>
        </p:nvCxnSpPr>
        <p:spPr>
          <a:xfrm>
            <a:off x="4763824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4" name="Straight Connector 783"/>
          <p:cNvCxnSpPr>
            <a:stCxn id="779" idx="3"/>
            <a:endCxn id="781" idx="1"/>
          </p:cNvCxnSpPr>
          <p:nvPr/>
        </p:nvCxnSpPr>
        <p:spPr>
          <a:xfrm>
            <a:off x="5135856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5" name="Straight Connector 784"/>
          <p:cNvCxnSpPr>
            <a:stCxn id="780" idx="1"/>
            <a:endCxn id="781" idx="3"/>
          </p:cNvCxnSpPr>
          <p:nvPr/>
        </p:nvCxnSpPr>
        <p:spPr>
          <a:xfrm flipH="1">
            <a:off x="5507888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3" name="TextBox 802"/>
          <p:cNvSpPr txBox="1">
            <a:spLocks/>
          </p:cNvSpPr>
          <p:nvPr/>
        </p:nvSpPr>
        <p:spPr>
          <a:xfrm>
            <a:off x="7692168" y="670102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04" name="TextBox 803"/>
          <p:cNvSpPr txBox="1">
            <a:spLocks/>
          </p:cNvSpPr>
          <p:nvPr/>
        </p:nvSpPr>
        <p:spPr>
          <a:xfrm>
            <a:off x="8436232" y="670102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05" name="TextBox 804"/>
          <p:cNvSpPr txBox="1">
            <a:spLocks/>
          </p:cNvSpPr>
          <p:nvPr/>
        </p:nvSpPr>
        <p:spPr>
          <a:xfrm>
            <a:off x="8064200" y="670102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806" name="TextBox 805"/>
          <p:cNvSpPr txBox="1">
            <a:spLocks/>
          </p:cNvSpPr>
          <p:nvPr/>
        </p:nvSpPr>
        <p:spPr>
          <a:xfrm>
            <a:off x="7320136" y="670102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807" name="Straight Connector 806"/>
          <p:cNvCxnSpPr>
            <a:endCxn id="803" idx="1"/>
          </p:cNvCxnSpPr>
          <p:nvPr/>
        </p:nvCxnSpPr>
        <p:spPr>
          <a:xfrm>
            <a:off x="7572136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807"/>
          <p:cNvCxnSpPr>
            <a:stCxn id="803" idx="3"/>
            <a:endCxn id="805" idx="1"/>
          </p:cNvCxnSpPr>
          <p:nvPr/>
        </p:nvCxnSpPr>
        <p:spPr>
          <a:xfrm>
            <a:off x="7944168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9" name="Straight Connector 808"/>
          <p:cNvCxnSpPr>
            <a:stCxn id="804" idx="1"/>
            <a:endCxn id="805" idx="3"/>
          </p:cNvCxnSpPr>
          <p:nvPr/>
        </p:nvCxnSpPr>
        <p:spPr>
          <a:xfrm flipH="1">
            <a:off x="8316200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6" name="TextBox 795"/>
          <p:cNvSpPr txBox="1">
            <a:spLocks/>
          </p:cNvSpPr>
          <p:nvPr/>
        </p:nvSpPr>
        <p:spPr>
          <a:xfrm>
            <a:off x="7692168" y="944752"/>
            <a:ext cx="252000" cy="252000"/>
          </a:xfrm>
          <a:prstGeom prst="rect">
            <a:avLst/>
          </a:prstGeom>
          <a:noFill/>
          <a:ln w="19050">
            <a:solidFill>
              <a:srgbClr val="008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797" name="TextBox 796"/>
          <p:cNvSpPr txBox="1">
            <a:spLocks/>
          </p:cNvSpPr>
          <p:nvPr/>
        </p:nvSpPr>
        <p:spPr>
          <a:xfrm>
            <a:off x="8436232" y="944752"/>
            <a:ext cx="252000" cy="252000"/>
          </a:xfrm>
          <a:prstGeom prst="rect">
            <a:avLst/>
          </a:prstGeom>
          <a:noFill/>
          <a:ln w="19050">
            <a:solidFill>
              <a:srgbClr val="008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798" name="TextBox 797"/>
          <p:cNvSpPr txBox="1">
            <a:spLocks/>
          </p:cNvSpPr>
          <p:nvPr/>
        </p:nvSpPr>
        <p:spPr>
          <a:xfrm>
            <a:off x="8064200" y="944752"/>
            <a:ext cx="252000" cy="252000"/>
          </a:xfrm>
          <a:prstGeom prst="rect">
            <a:avLst/>
          </a:prstGeom>
          <a:noFill/>
          <a:ln w="19050">
            <a:solidFill>
              <a:srgbClr val="008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799" name="TextBox 798"/>
          <p:cNvSpPr txBox="1">
            <a:spLocks/>
          </p:cNvSpPr>
          <p:nvPr/>
        </p:nvSpPr>
        <p:spPr>
          <a:xfrm>
            <a:off x="7320136" y="944752"/>
            <a:ext cx="252000" cy="252000"/>
          </a:xfrm>
          <a:prstGeom prst="rect">
            <a:avLst/>
          </a:prstGeom>
          <a:noFill/>
          <a:ln w="19050">
            <a:solidFill>
              <a:srgbClr val="008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800" name="Straight Connector 799"/>
          <p:cNvCxnSpPr>
            <a:endCxn id="796" idx="1"/>
          </p:cNvCxnSpPr>
          <p:nvPr/>
        </p:nvCxnSpPr>
        <p:spPr>
          <a:xfrm>
            <a:off x="7572136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1" name="Straight Connector 800"/>
          <p:cNvCxnSpPr>
            <a:stCxn id="796" idx="3"/>
            <a:endCxn id="798" idx="1"/>
          </p:cNvCxnSpPr>
          <p:nvPr/>
        </p:nvCxnSpPr>
        <p:spPr>
          <a:xfrm>
            <a:off x="7944168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2" name="Straight Connector 801"/>
          <p:cNvCxnSpPr>
            <a:stCxn id="797" idx="1"/>
            <a:endCxn id="798" idx="3"/>
          </p:cNvCxnSpPr>
          <p:nvPr/>
        </p:nvCxnSpPr>
        <p:spPr>
          <a:xfrm flipH="1">
            <a:off x="8316200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0" name="TextBox 819"/>
          <p:cNvSpPr txBox="1">
            <a:spLocks/>
          </p:cNvSpPr>
          <p:nvPr/>
        </p:nvSpPr>
        <p:spPr>
          <a:xfrm>
            <a:off x="9276344" y="670102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21" name="TextBox 820"/>
          <p:cNvSpPr txBox="1">
            <a:spLocks/>
          </p:cNvSpPr>
          <p:nvPr/>
        </p:nvSpPr>
        <p:spPr>
          <a:xfrm>
            <a:off x="10020408" y="670102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22" name="TextBox 821"/>
          <p:cNvSpPr txBox="1">
            <a:spLocks/>
          </p:cNvSpPr>
          <p:nvPr/>
        </p:nvSpPr>
        <p:spPr>
          <a:xfrm>
            <a:off x="9648376" y="670102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23" name="TextBox 822"/>
          <p:cNvSpPr txBox="1">
            <a:spLocks/>
          </p:cNvSpPr>
          <p:nvPr/>
        </p:nvSpPr>
        <p:spPr>
          <a:xfrm>
            <a:off x="8904312" y="670102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824" name="Straight Connector 823"/>
          <p:cNvCxnSpPr>
            <a:endCxn id="820" idx="1"/>
          </p:cNvCxnSpPr>
          <p:nvPr/>
        </p:nvCxnSpPr>
        <p:spPr>
          <a:xfrm>
            <a:off x="9156312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824"/>
          <p:cNvCxnSpPr>
            <a:stCxn id="820" idx="3"/>
            <a:endCxn id="822" idx="1"/>
          </p:cNvCxnSpPr>
          <p:nvPr/>
        </p:nvCxnSpPr>
        <p:spPr>
          <a:xfrm>
            <a:off x="9528344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6" name="Straight Connector 825"/>
          <p:cNvCxnSpPr>
            <a:stCxn id="821" idx="1"/>
            <a:endCxn id="822" idx="3"/>
          </p:cNvCxnSpPr>
          <p:nvPr/>
        </p:nvCxnSpPr>
        <p:spPr>
          <a:xfrm flipH="1">
            <a:off x="9900376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3" name="TextBox 812"/>
          <p:cNvSpPr txBox="1">
            <a:spLocks/>
          </p:cNvSpPr>
          <p:nvPr/>
        </p:nvSpPr>
        <p:spPr>
          <a:xfrm>
            <a:off x="9276344" y="944752"/>
            <a:ext cx="252000" cy="25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14" name="TextBox 813"/>
          <p:cNvSpPr txBox="1">
            <a:spLocks/>
          </p:cNvSpPr>
          <p:nvPr/>
        </p:nvSpPr>
        <p:spPr>
          <a:xfrm>
            <a:off x="10020408" y="944752"/>
            <a:ext cx="252000" cy="25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15" name="TextBox 814"/>
          <p:cNvSpPr txBox="1">
            <a:spLocks/>
          </p:cNvSpPr>
          <p:nvPr/>
        </p:nvSpPr>
        <p:spPr>
          <a:xfrm>
            <a:off x="9648376" y="944752"/>
            <a:ext cx="252000" cy="25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16" name="TextBox 815"/>
          <p:cNvSpPr txBox="1">
            <a:spLocks/>
          </p:cNvSpPr>
          <p:nvPr/>
        </p:nvSpPr>
        <p:spPr>
          <a:xfrm>
            <a:off x="8904312" y="944752"/>
            <a:ext cx="252000" cy="25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817" name="Straight Connector 816"/>
          <p:cNvCxnSpPr>
            <a:endCxn id="813" idx="1"/>
          </p:cNvCxnSpPr>
          <p:nvPr/>
        </p:nvCxnSpPr>
        <p:spPr>
          <a:xfrm>
            <a:off x="9156312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Connector 817"/>
          <p:cNvCxnSpPr>
            <a:stCxn id="813" idx="3"/>
            <a:endCxn id="815" idx="1"/>
          </p:cNvCxnSpPr>
          <p:nvPr/>
        </p:nvCxnSpPr>
        <p:spPr>
          <a:xfrm>
            <a:off x="9528344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818"/>
          <p:cNvCxnSpPr>
            <a:stCxn id="814" idx="1"/>
            <a:endCxn id="815" idx="3"/>
          </p:cNvCxnSpPr>
          <p:nvPr/>
        </p:nvCxnSpPr>
        <p:spPr>
          <a:xfrm flipH="1">
            <a:off x="9900376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7" name="TextBox 836"/>
          <p:cNvSpPr txBox="1">
            <a:spLocks/>
          </p:cNvSpPr>
          <p:nvPr/>
        </p:nvSpPr>
        <p:spPr>
          <a:xfrm>
            <a:off x="2003592" y="2558930"/>
            <a:ext cx="252000" cy="252000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38" name="TextBox 837"/>
          <p:cNvSpPr txBox="1">
            <a:spLocks/>
          </p:cNvSpPr>
          <p:nvPr/>
        </p:nvSpPr>
        <p:spPr>
          <a:xfrm>
            <a:off x="2747656" y="2558930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39" name="TextBox 838"/>
          <p:cNvSpPr txBox="1">
            <a:spLocks/>
          </p:cNvSpPr>
          <p:nvPr/>
        </p:nvSpPr>
        <p:spPr>
          <a:xfrm>
            <a:off x="2375624" y="2558930"/>
            <a:ext cx="252000" cy="252000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40" name="TextBox 839"/>
          <p:cNvSpPr txBox="1">
            <a:spLocks/>
          </p:cNvSpPr>
          <p:nvPr/>
        </p:nvSpPr>
        <p:spPr>
          <a:xfrm>
            <a:off x="1631560" y="2558930"/>
            <a:ext cx="252000" cy="252000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841" name="Straight Connector 840"/>
          <p:cNvCxnSpPr>
            <a:endCxn id="837" idx="1"/>
          </p:cNvCxnSpPr>
          <p:nvPr/>
        </p:nvCxnSpPr>
        <p:spPr>
          <a:xfrm>
            <a:off x="1883560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Straight Connector 841"/>
          <p:cNvCxnSpPr>
            <a:stCxn id="837" idx="3"/>
            <a:endCxn id="839" idx="1"/>
          </p:cNvCxnSpPr>
          <p:nvPr/>
        </p:nvCxnSpPr>
        <p:spPr>
          <a:xfrm>
            <a:off x="2255592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3" name="Straight Connector 842"/>
          <p:cNvCxnSpPr>
            <a:stCxn id="838" idx="1"/>
            <a:endCxn id="839" idx="3"/>
          </p:cNvCxnSpPr>
          <p:nvPr/>
        </p:nvCxnSpPr>
        <p:spPr>
          <a:xfrm flipH="1">
            <a:off x="2627624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0" name="TextBox 829"/>
          <p:cNvSpPr txBox="1">
            <a:spLocks/>
          </p:cNvSpPr>
          <p:nvPr/>
        </p:nvSpPr>
        <p:spPr>
          <a:xfrm>
            <a:off x="2003592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31" name="TextBox 830"/>
          <p:cNvSpPr txBox="1">
            <a:spLocks/>
          </p:cNvSpPr>
          <p:nvPr/>
        </p:nvSpPr>
        <p:spPr>
          <a:xfrm>
            <a:off x="2747656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832" name="TextBox 831"/>
          <p:cNvSpPr txBox="1">
            <a:spLocks/>
          </p:cNvSpPr>
          <p:nvPr/>
        </p:nvSpPr>
        <p:spPr>
          <a:xfrm>
            <a:off x="2375624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33" name="TextBox 832"/>
          <p:cNvSpPr txBox="1">
            <a:spLocks/>
          </p:cNvSpPr>
          <p:nvPr/>
        </p:nvSpPr>
        <p:spPr>
          <a:xfrm>
            <a:off x="1631560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834" name="Straight Connector 833"/>
          <p:cNvCxnSpPr>
            <a:endCxn id="830" idx="1"/>
          </p:cNvCxnSpPr>
          <p:nvPr/>
        </p:nvCxnSpPr>
        <p:spPr>
          <a:xfrm>
            <a:off x="1883560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5" name="Straight Connector 834"/>
          <p:cNvCxnSpPr>
            <a:stCxn id="830" idx="3"/>
            <a:endCxn id="832" idx="1"/>
          </p:cNvCxnSpPr>
          <p:nvPr/>
        </p:nvCxnSpPr>
        <p:spPr>
          <a:xfrm>
            <a:off x="2255592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6" name="Straight Connector 835"/>
          <p:cNvCxnSpPr>
            <a:stCxn id="831" idx="1"/>
            <a:endCxn id="832" idx="3"/>
          </p:cNvCxnSpPr>
          <p:nvPr/>
        </p:nvCxnSpPr>
        <p:spPr>
          <a:xfrm flipH="1">
            <a:off x="2627624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4" name="TextBox 853"/>
          <p:cNvSpPr txBox="1">
            <a:spLocks/>
          </p:cNvSpPr>
          <p:nvPr/>
        </p:nvSpPr>
        <p:spPr>
          <a:xfrm>
            <a:off x="3515749" y="2558930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55" name="TextBox 854"/>
          <p:cNvSpPr txBox="1">
            <a:spLocks/>
          </p:cNvSpPr>
          <p:nvPr/>
        </p:nvSpPr>
        <p:spPr>
          <a:xfrm>
            <a:off x="4259813" y="2558930"/>
            <a:ext cx="252000" cy="252000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56" name="TextBox 855"/>
          <p:cNvSpPr txBox="1">
            <a:spLocks/>
          </p:cNvSpPr>
          <p:nvPr/>
        </p:nvSpPr>
        <p:spPr>
          <a:xfrm>
            <a:off x="3887781" y="2558930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57" name="TextBox 856"/>
          <p:cNvSpPr txBox="1">
            <a:spLocks/>
          </p:cNvSpPr>
          <p:nvPr/>
        </p:nvSpPr>
        <p:spPr>
          <a:xfrm>
            <a:off x="3143717" y="2558930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858" name="Straight Connector 857"/>
          <p:cNvCxnSpPr>
            <a:endCxn id="854" idx="1"/>
          </p:cNvCxnSpPr>
          <p:nvPr/>
        </p:nvCxnSpPr>
        <p:spPr>
          <a:xfrm>
            <a:off x="3395717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9" name="Straight Connector 858"/>
          <p:cNvCxnSpPr>
            <a:stCxn id="854" idx="3"/>
            <a:endCxn id="856" idx="1"/>
          </p:cNvCxnSpPr>
          <p:nvPr/>
        </p:nvCxnSpPr>
        <p:spPr>
          <a:xfrm>
            <a:off x="3767749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0" name="Straight Connector 859"/>
          <p:cNvCxnSpPr>
            <a:stCxn id="855" idx="1"/>
            <a:endCxn id="856" idx="3"/>
          </p:cNvCxnSpPr>
          <p:nvPr/>
        </p:nvCxnSpPr>
        <p:spPr>
          <a:xfrm flipH="1">
            <a:off x="4139781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7" name="TextBox 846"/>
          <p:cNvSpPr txBox="1">
            <a:spLocks/>
          </p:cNvSpPr>
          <p:nvPr/>
        </p:nvSpPr>
        <p:spPr>
          <a:xfrm>
            <a:off x="3515749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48" name="TextBox 847"/>
          <p:cNvSpPr txBox="1">
            <a:spLocks/>
          </p:cNvSpPr>
          <p:nvPr/>
        </p:nvSpPr>
        <p:spPr>
          <a:xfrm>
            <a:off x="4259813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849" name="TextBox 848"/>
          <p:cNvSpPr txBox="1">
            <a:spLocks/>
          </p:cNvSpPr>
          <p:nvPr/>
        </p:nvSpPr>
        <p:spPr>
          <a:xfrm>
            <a:off x="3887781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50" name="TextBox 849"/>
          <p:cNvSpPr txBox="1">
            <a:spLocks/>
          </p:cNvSpPr>
          <p:nvPr/>
        </p:nvSpPr>
        <p:spPr>
          <a:xfrm>
            <a:off x="3143717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851" name="Straight Connector 850"/>
          <p:cNvCxnSpPr>
            <a:endCxn id="847" idx="1"/>
          </p:cNvCxnSpPr>
          <p:nvPr/>
        </p:nvCxnSpPr>
        <p:spPr>
          <a:xfrm>
            <a:off x="3395717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2" name="Straight Connector 851"/>
          <p:cNvCxnSpPr>
            <a:stCxn id="847" idx="3"/>
            <a:endCxn id="849" idx="1"/>
          </p:cNvCxnSpPr>
          <p:nvPr/>
        </p:nvCxnSpPr>
        <p:spPr>
          <a:xfrm>
            <a:off x="3767749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3" name="Straight Connector 852"/>
          <p:cNvCxnSpPr>
            <a:stCxn id="848" idx="1"/>
            <a:endCxn id="849" idx="3"/>
          </p:cNvCxnSpPr>
          <p:nvPr/>
        </p:nvCxnSpPr>
        <p:spPr>
          <a:xfrm flipH="1">
            <a:off x="4139781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1" name="TextBox 870"/>
          <p:cNvSpPr txBox="1">
            <a:spLocks/>
          </p:cNvSpPr>
          <p:nvPr/>
        </p:nvSpPr>
        <p:spPr>
          <a:xfrm>
            <a:off x="5027906" y="255893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72" name="TextBox 871"/>
          <p:cNvSpPr txBox="1">
            <a:spLocks/>
          </p:cNvSpPr>
          <p:nvPr/>
        </p:nvSpPr>
        <p:spPr>
          <a:xfrm>
            <a:off x="5771970" y="255893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73" name="TextBox 872"/>
          <p:cNvSpPr txBox="1">
            <a:spLocks/>
          </p:cNvSpPr>
          <p:nvPr/>
        </p:nvSpPr>
        <p:spPr>
          <a:xfrm>
            <a:off x="5399938" y="255893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74" name="TextBox 873"/>
          <p:cNvSpPr txBox="1">
            <a:spLocks/>
          </p:cNvSpPr>
          <p:nvPr/>
        </p:nvSpPr>
        <p:spPr>
          <a:xfrm>
            <a:off x="4655874" y="2558930"/>
            <a:ext cx="252000" cy="252000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875" name="Straight Connector 874"/>
          <p:cNvCxnSpPr>
            <a:endCxn id="871" idx="1"/>
          </p:cNvCxnSpPr>
          <p:nvPr/>
        </p:nvCxnSpPr>
        <p:spPr>
          <a:xfrm>
            <a:off x="4907874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6" name="Straight Connector 875"/>
          <p:cNvCxnSpPr>
            <a:stCxn id="871" idx="3"/>
            <a:endCxn id="873" idx="1"/>
          </p:cNvCxnSpPr>
          <p:nvPr/>
        </p:nvCxnSpPr>
        <p:spPr>
          <a:xfrm>
            <a:off x="5279906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7" name="Straight Connector 876"/>
          <p:cNvCxnSpPr>
            <a:stCxn id="872" idx="1"/>
            <a:endCxn id="873" idx="3"/>
          </p:cNvCxnSpPr>
          <p:nvPr/>
        </p:nvCxnSpPr>
        <p:spPr>
          <a:xfrm flipH="1">
            <a:off x="5651938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4" name="TextBox 863"/>
          <p:cNvSpPr txBox="1">
            <a:spLocks/>
          </p:cNvSpPr>
          <p:nvPr/>
        </p:nvSpPr>
        <p:spPr>
          <a:xfrm>
            <a:off x="5027906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65" name="TextBox 864"/>
          <p:cNvSpPr txBox="1">
            <a:spLocks/>
          </p:cNvSpPr>
          <p:nvPr/>
        </p:nvSpPr>
        <p:spPr>
          <a:xfrm>
            <a:off x="5771970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866" name="TextBox 865"/>
          <p:cNvSpPr txBox="1">
            <a:spLocks/>
          </p:cNvSpPr>
          <p:nvPr/>
        </p:nvSpPr>
        <p:spPr>
          <a:xfrm>
            <a:off x="5399938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67" name="TextBox 866"/>
          <p:cNvSpPr txBox="1">
            <a:spLocks/>
          </p:cNvSpPr>
          <p:nvPr/>
        </p:nvSpPr>
        <p:spPr>
          <a:xfrm>
            <a:off x="4655874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868" name="Straight Connector 867"/>
          <p:cNvCxnSpPr>
            <a:endCxn id="864" idx="1"/>
          </p:cNvCxnSpPr>
          <p:nvPr/>
        </p:nvCxnSpPr>
        <p:spPr>
          <a:xfrm>
            <a:off x="4907874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9" name="Straight Connector 868"/>
          <p:cNvCxnSpPr>
            <a:stCxn id="864" idx="3"/>
            <a:endCxn id="866" idx="1"/>
          </p:cNvCxnSpPr>
          <p:nvPr/>
        </p:nvCxnSpPr>
        <p:spPr>
          <a:xfrm>
            <a:off x="5279906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0" name="Straight Connector 869"/>
          <p:cNvCxnSpPr>
            <a:stCxn id="865" idx="1"/>
            <a:endCxn id="866" idx="3"/>
          </p:cNvCxnSpPr>
          <p:nvPr/>
        </p:nvCxnSpPr>
        <p:spPr>
          <a:xfrm flipH="1">
            <a:off x="5651938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8" name="TextBox 887"/>
          <p:cNvSpPr txBox="1">
            <a:spLocks/>
          </p:cNvSpPr>
          <p:nvPr/>
        </p:nvSpPr>
        <p:spPr>
          <a:xfrm>
            <a:off x="6540063" y="255893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89" name="TextBox 888"/>
          <p:cNvSpPr txBox="1">
            <a:spLocks/>
          </p:cNvSpPr>
          <p:nvPr/>
        </p:nvSpPr>
        <p:spPr>
          <a:xfrm>
            <a:off x="7284127" y="255893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90" name="TextBox 889"/>
          <p:cNvSpPr txBox="1">
            <a:spLocks/>
          </p:cNvSpPr>
          <p:nvPr/>
        </p:nvSpPr>
        <p:spPr>
          <a:xfrm>
            <a:off x="6912095" y="255893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91" name="TextBox 890"/>
          <p:cNvSpPr txBox="1">
            <a:spLocks/>
          </p:cNvSpPr>
          <p:nvPr/>
        </p:nvSpPr>
        <p:spPr>
          <a:xfrm>
            <a:off x="6168031" y="255893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892" name="Straight Connector 891"/>
          <p:cNvCxnSpPr>
            <a:endCxn id="888" idx="1"/>
          </p:cNvCxnSpPr>
          <p:nvPr/>
        </p:nvCxnSpPr>
        <p:spPr>
          <a:xfrm>
            <a:off x="6420031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3" name="Straight Connector 892"/>
          <p:cNvCxnSpPr>
            <a:stCxn id="888" idx="3"/>
            <a:endCxn id="890" idx="1"/>
          </p:cNvCxnSpPr>
          <p:nvPr/>
        </p:nvCxnSpPr>
        <p:spPr>
          <a:xfrm>
            <a:off x="6792063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4" name="Straight Connector 893"/>
          <p:cNvCxnSpPr>
            <a:stCxn id="889" idx="1"/>
            <a:endCxn id="890" idx="3"/>
          </p:cNvCxnSpPr>
          <p:nvPr/>
        </p:nvCxnSpPr>
        <p:spPr>
          <a:xfrm flipH="1">
            <a:off x="7164095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1" name="TextBox 880"/>
          <p:cNvSpPr txBox="1">
            <a:spLocks/>
          </p:cNvSpPr>
          <p:nvPr/>
        </p:nvSpPr>
        <p:spPr>
          <a:xfrm>
            <a:off x="6540063" y="2833580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82" name="TextBox 881"/>
          <p:cNvSpPr txBox="1">
            <a:spLocks/>
          </p:cNvSpPr>
          <p:nvPr/>
        </p:nvSpPr>
        <p:spPr>
          <a:xfrm>
            <a:off x="7284127" y="2833580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83" name="TextBox 882"/>
          <p:cNvSpPr txBox="1">
            <a:spLocks/>
          </p:cNvSpPr>
          <p:nvPr/>
        </p:nvSpPr>
        <p:spPr>
          <a:xfrm>
            <a:off x="6912095" y="2833580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884" name="TextBox 883"/>
          <p:cNvSpPr txBox="1">
            <a:spLocks/>
          </p:cNvSpPr>
          <p:nvPr/>
        </p:nvSpPr>
        <p:spPr>
          <a:xfrm>
            <a:off x="6168031" y="2833580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885" name="Straight Connector 884"/>
          <p:cNvCxnSpPr>
            <a:endCxn id="881" idx="1"/>
          </p:cNvCxnSpPr>
          <p:nvPr/>
        </p:nvCxnSpPr>
        <p:spPr>
          <a:xfrm>
            <a:off x="6420031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6" name="Straight Connector 885"/>
          <p:cNvCxnSpPr>
            <a:stCxn id="881" idx="3"/>
            <a:endCxn id="883" idx="1"/>
          </p:cNvCxnSpPr>
          <p:nvPr/>
        </p:nvCxnSpPr>
        <p:spPr>
          <a:xfrm>
            <a:off x="6792063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7" name="Straight Connector 886"/>
          <p:cNvCxnSpPr>
            <a:stCxn id="882" idx="1"/>
            <a:endCxn id="883" idx="3"/>
          </p:cNvCxnSpPr>
          <p:nvPr/>
        </p:nvCxnSpPr>
        <p:spPr>
          <a:xfrm flipH="1">
            <a:off x="7164095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9" name="TextBox 938"/>
          <p:cNvSpPr txBox="1">
            <a:spLocks/>
          </p:cNvSpPr>
          <p:nvPr/>
        </p:nvSpPr>
        <p:spPr>
          <a:xfrm>
            <a:off x="8052220" y="2558930"/>
            <a:ext cx="252000" cy="2520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40" name="TextBox 939"/>
          <p:cNvSpPr txBox="1">
            <a:spLocks/>
          </p:cNvSpPr>
          <p:nvPr/>
        </p:nvSpPr>
        <p:spPr>
          <a:xfrm>
            <a:off x="8796284" y="2558930"/>
            <a:ext cx="252000" cy="2520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41" name="TextBox 940"/>
          <p:cNvSpPr txBox="1">
            <a:spLocks/>
          </p:cNvSpPr>
          <p:nvPr/>
        </p:nvSpPr>
        <p:spPr>
          <a:xfrm>
            <a:off x="8424252" y="2558930"/>
            <a:ext cx="252000" cy="2520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942" name="TextBox 941"/>
          <p:cNvSpPr txBox="1">
            <a:spLocks/>
          </p:cNvSpPr>
          <p:nvPr/>
        </p:nvSpPr>
        <p:spPr>
          <a:xfrm>
            <a:off x="7680188" y="2558930"/>
            <a:ext cx="252000" cy="2520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943" name="Straight Connector 942"/>
          <p:cNvCxnSpPr>
            <a:endCxn id="939" idx="1"/>
          </p:cNvCxnSpPr>
          <p:nvPr/>
        </p:nvCxnSpPr>
        <p:spPr>
          <a:xfrm>
            <a:off x="7932188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4" name="Straight Connector 943"/>
          <p:cNvCxnSpPr>
            <a:stCxn id="939" idx="3"/>
            <a:endCxn id="941" idx="1"/>
          </p:cNvCxnSpPr>
          <p:nvPr/>
        </p:nvCxnSpPr>
        <p:spPr>
          <a:xfrm>
            <a:off x="8304220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5" name="Straight Connector 944"/>
          <p:cNvCxnSpPr>
            <a:stCxn id="940" idx="1"/>
            <a:endCxn id="941" idx="3"/>
          </p:cNvCxnSpPr>
          <p:nvPr/>
        </p:nvCxnSpPr>
        <p:spPr>
          <a:xfrm flipH="1">
            <a:off x="8676252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2" name="TextBox 931"/>
          <p:cNvSpPr txBox="1">
            <a:spLocks/>
          </p:cNvSpPr>
          <p:nvPr/>
        </p:nvSpPr>
        <p:spPr>
          <a:xfrm>
            <a:off x="8052220" y="2833580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33" name="TextBox 932"/>
          <p:cNvSpPr txBox="1">
            <a:spLocks/>
          </p:cNvSpPr>
          <p:nvPr/>
        </p:nvSpPr>
        <p:spPr>
          <a:xfrm>
            <a:off x="8796284" y="2833580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34" name="TextBox 933"/>
          <p:cNvSpPr txBox="1">
            <a:spLocks/>
          </p:cNvSpPr>
          <p:nvPr/>
        </p:nvSpPr>
        <p:spPr>
          <a:xfrm>
            <a:off x="8424252" y="2833580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35" name="TextBox 934"/>
          <p:cNvSpPr txBox="1">
            <a:spLocks/>
          </p:cNvSpPr>
          <p:nvPr/>
        </p:nvSpPr>
        <p:spPr>
          <a:xfrm>
            <a:off x="7680188" y="2833580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936" name="Straight Connector 935"/>
          <p:cNvCxnSpPr>
            <a:endCxn id="932" idx="1"/>
          </p:cNvCxnSpPr>
          <p:nvPr/>
        </p:nvCxnSpPr>
        <p:spPr>
          <a:xfrm>
            <a:off x="7932188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7" name="Straight Connector 936"/>
          <p:cNvCxnSpPr>
            <a:stCxn id="932" idx="3"/>
            <a:endCxn id="934" idx="1"/>
          </p:cNvCxnSpPr>
          <p:nvPr/>
        </p:nvCxnSpPr>
        <p:spPr>
          <a:xfrm>
            <a:off x="8304220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8" name="Straight Connector 937"/>
          <p:cNvCxnSpPr>
            <a:stCxn id="933" idx="1"/>
            <a:endCxn id="934" idx="3"/>
          </p:cNvCxnSpPr>
          <p:nvPr/>
        </p:nvCxnSpPr>
        <p:spPr>
          <a:xfrm flipH="1">
            <a:off x="8676252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6" name="TextBox 955"/>
          <p:cNvSpPr txBox="1">
            <a:spLocks/>
          </p:cNvSpPr>
          <p:nvPr/>
        </p:nvSpPr>
        <p:spPr>
          <a:xfrm>
            <a:off x="9564376" y="2558930"/>
            <a:ext cx="252000" cy="2520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57" name="TextBox 956"/>
          <p:cNvSpPr txBox="1">
            <a:spLocks/>
          </p:cNvSpPr>
          <p:nvPr/>
        </p:nvSpPr>
        <p:spPr>
          <a:xfrm>
            <a:off x="10308440" y="2558930"/>
            <a:ext cx="252000" cy="2520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58" name="TextBox 957"/>
          <p:cNvSpPr txBox="1">
            <a:spLocks/>
          </p:cNvSpPr>
          <p:nvPr/>
        </p:nvSpPr>
        <p:spPr>
          <a:xfrm>
            <a:off x="9936408" y="2558930"/>
            <a:ext cx="252000" cy="2520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959" name="TextBox 958"/>
          <p:cNvSpPr txBox="1">
            <a:spLocks/>
          </p:cNvSpPr>
          <p:nvPr/>
        </p:nvSpPr>
        <p:spPr>
          <a:xfrm>
            <a:off x="9192344" y="2558930"/>
            <a:ext cx="252000" cy="2520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960" name="Straight Connector 959"/>
          <p:cNvCxnSpPr>
            <a:endCxn id="956" idx="1"/>
          </p:cNvCxnSpPr>
          <p:nvPr/>
        </p:nvCxnSpPr>
        <p:spPr>
          <a:xfrm>
            <a:off x="9444344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1" name="Straight Connector 960"/>
          <p:cNvCxnSpPr>
            <a:stCxn id="956" idx="3"/>
            <a:endCxn id="958" idx="1"/>
          </p:cNvCxnSpPr>
          <p:nvPr/>
        </p:nvCxnSpPr>
        <p:spPr>
          <a:xfrm>
            <a:off x="9816376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2" name="Straight Connector 961"/>
          <p:cNvCxnSpPr>
            <a:stCxn id="957" idx="1"/>
            <a:endCxn id="958" idx="3"/>
          </p:cNvCxnSpPr>
          <p:nvPr/>
        </p:nvCxnSpPr>
        <p:spPr>
          <a:xfrm flipH="1">
            <a:off x="10188408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9" name="TextBox 948"/>
          <p:cNvSpPr txBox="1">
            <a:spLocks/>
          </p:cNvSpPr>
          <p:nvPr/>
        </p:nvSpPr>
        <p:spPr>
          <a:xfrm>
            <a:off x="9564376" y="2833580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50" name="TextBox 949"/>
          <p:cNvSpPr txBox="1">
            <a:spLocks/>
          </p:cNvSpPr>
          <p:nvPr/>
        </p:nvSpPr>
        <p:spPr>
          <a:xfrm>
            <a:off x="10308440" y="2833580"/>
            <a:ext cx="252000" cy="25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51" name="TextBox 950"/>
          <p:cNvSpPr txBox="1">
            <a:spLocks/>
          </p:cNvSpPr>
          <p:nvPr/>
        </p:nvSpPr>
        <p:spPr>
          <a:xfrm>
            <a:off x="9936408" y="2833580"/>
            <a:ext cx="252000" cy="25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52" name="TextBox 951"/>
          <p:cNvSpPr txBox="1">
            <a:spLocks/>
          </p:cNvSpPr>
          <p:nvPr/>
        </p:nvSpPr>
        <p:spPr>
          <a:xfrm>
            <a:off x="9192344" y="2833580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953" name="Straight Connector 952"/>
          <p:cNvCxnSpPr>
            <a:endCxn id="949" idx="1"/>
          </p:cNvCxnSpPr>
          <p:nvPr/>
        </p:nvCxnSpPr>
        <p:spPr>
          <a:xfrm>
            <a:off x="9444344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4" name="Straight Connector 953"/>
          <p:cNvCxnSpPr>
            <a:stCxn id="949" idx="3"/>
            <a:endCxn id="951" idx="1"/>
          </p:cNvCxnSpPr>
          <p:nvPr/>
        </p:nvCxnSpPr>
        <p:spPr>
          <a:xfrm>
            <a:off x="9816376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5" name="Straight Connector 954"/>
          <p:cNvCxnSpPr>
            <a:stCxn id="950" idx="1"/>
            <a:endCxn id="951" idx="3"/>
          </p:cNvCxnSpPr>
          <p:nvPr/>
        </p:nvCxnSpPr>
        <p:spPr>
          <a:xfrm flipH="1">
            <a:off x="10188408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3" name="TextBox 982"/>
          <p:cNvSpPr txBox="1">
            <a:spLocks/>
          </p:cNvSpPr>
          <p:nvPr/>
        </p:nvSpPr>
        <p:spPr>
          <a:xfrm>
            <a:off x="4883856" y="4486526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84" name="TextBox 983"/>
          <p:cNvSpPr txBox="1">
            <a:spLocks/>
          </p:cNvSpPr>
          <p:nvPr/>
        </p:nvSpPr>
        <p:spPr>
          <a:xfrm>
            <a:off x="5627920" y="4486526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85" name="TextBox 984"/>
          <p:cNvSpPr txBox="1">
            <a:spLocks/>
          </p:cNvSpPr>
          <p:nvPr/>
        </p:nvSpPr>
        <p:spPr>
          <a:xfrm>
            <a:off x="5255888" y="4486526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86" name="TextBox 985"/>
          <p:cNvSpPr txBox="1">
            <a:spLocks/>
          </p:cNvSpPr>
          <p:nvPr/>
        </p:nvSpPr>
        <p:spPr>
          <a:xfrm>
            <a:off x="4511824" y="4486526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987" name="Straight Connector 986"/>
          <p:cNvCxnSpPr>
            <a:endCxn id="983" idx="1"/>
          </p:cNvCxnSpPr>
          <p:nvPr/>
        </p:nvCxnSpPr>
        <p:spPr>
          <a:xfrm>
            <a:off x="4763824" y="461252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8" name="Straight Connector 987"/>
          <p:cNvCxnSpPr>
            <a:stCxn id="983" idx="3"/>
            <a:endCxn id="985" idx="1"/>
          </p:cNvCxnSpPr>
          <p:nvPr/>
        </p:nvCxnSpPr>
        <p:spPr>
          <a:xfrm>
            <a:off x="5135856" y="461252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9" name="Straight Connector 988"/>
          <p:cNvCxnSpPr>
            <a:stCxn id="984" idx="1"/>
            <a:endCxn id="985" idx="3"/>
          </p:cNvCxnSpPr>
          <p:nvPr/>
        </p:nvCxnSpPr>
        <p:spPr>
          <a:xfrm flipH="1">
            <a:off x="5507888" y="461252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6" name="TextBox 975"/>
          <p:cNvSpPr txBox="1">
            <a:spLocks/>
          </p:cNvSpPr>
          <p:nvPr/>
        </p:nvSpPr>
        <p:spPr>
          <a:xfrm>
            <a:off x="4883856" y="4761176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77" name="TextBox 976"/>
          <p:cNvSpPr txBox="1">
            <a:spLocks/>
          </p:cNvSpPr>
          <p:nvPr/>
        </p:nvSpPr>
        <p:spPr>
          <a:xfrm>
            <a:off x="5627920" y="4761176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78" name="TextBox 977"/>
          <p:cNvSpPr txBox="1">
            <a:spLocks/>
          </p:cNvSpPr>
          <p:nvPr/>
        </p:nvSpPr>
        <p:spPr>
          <a:xfrm>
            <a:off x="5255888" y="4761176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79" name="TextBox 978"/>
          <p:cNvSpPr txBox="1">
            <a:spLocks/>
          </p:cNvSpPr>
          <p:nvPr/>
        </p:nvSpPr>
        <p:spPr>
          <a:xfrm>
            <a:off x="4511824" y="4761176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980" name="Straight Connector 979"/>
          <p:cNvCxnSpPr>
            <a:endCxn id="976" idx="1"/>
          </p:cNvCxnSpPr>
          <p:nvPr/>
        </p:nvCxnSpPr>
        <p:spPr>
          <a:xfrm>
            <a:off x="4763824" y="488717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1" name="Straight Connector 980"/>
          <p:cNvCxnSpPr>
            <a:stCxn id="976" idx="3"/>
            <a:endCxn id="978" idx="1"/>
          </p:cNvCxnSpPr>
          <p:nvPr/>
        </p:nvCxnSpPr>
        <p:spPr>
          <a:xfrm>
            <a:off x="5135856" y="488717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2" name="Straight Connector 981"/>
          <p:cNvCxnSpPr>
            <a:stCxn id="977" idx="1"/>
            <a:endCxn id="978" idx="3"/>
          </p:cNvCxnSpPr>
          <p:nvPr/>
        </p:nvCxnSpPr>
        <p:spPr>
          <a:xfrm flipH="1">
            <a:off x="5507888" y="488717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0" name="TextBox 999"/>
          <p:cNvSpPr txBox="1">
            <a:spLocks/>
          </p:cNvSpPr>
          <p:nvPr/>
        </p:nvSpPr>
        <p:spPr>
          <a:xfrm>
            <a:off x="6612104" y="4486526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001" name="TextBox 1000"/>
          <p:cNvSpPr txBox="1">
            <a:spLocks/>
          </p:cNvSpPr>
          <p:nvPr/>
        </p:nvSpPr>
        <p:spPr>
          <a:xfrm>
            <a:off x="7356168" y="4486526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002" name="TextBox 1001"/>
          <p:cNvSpPr txBox="1">
            <a:spLocks/>
          </p:cNvSpPr>
          <p:nvPr/>
        </p:nvSpPr>
        <p:spPr>
          <a:xfrm>
            <a:off x="6984136" y="4486526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003" name="TextBox 1002"/>
          <p:cNvSpPr txBox="1">
            <a:spLocks/>
          </p:cNvSpPr>
          <p:nvPr/>
        </p:nvSpPr>
        <p:spPr>
          <a:xfrm>
            <a:off x="6240072" y="4486526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1004" name="Straight Connector 1003"/>
          <p:cNvCxnSpPr>
            <a:endCxn id="1000" idx="1"/>
          </p:cNvCxnSpPr>
          <p:nvPr/>
        </p:nvCxnSpPr>
        <p:spPr>
          <a:xfrm>
            <a:off x="6492072" y="461252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5" name="Straight Connector 1004"/>
          <p:cNvCxnSpPr>
            <a:stCxn id="1000" idx="3"/>
            <a:endCxn id="1002" idx="1"/>
          </p:cNvCxnSpPr>
          <p:nvPr/>
        </p:nvCxnSpPr>
        <p:spPr>
          <a:xfrm>
            <a:off x="6864104" y="461252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6" name="Straight Connector 1005"/>
          <p:cNvCxnSpPr>
            <a:stCxn id="1001" idx="1"/>
            <a:endCxn id="1002" idx="3"/>
          </p:cNvCxnSpPr>
          <p:nvPr/>
        </p:nvCxnSpPr>
        <p:spPr>
          <a:xfrm flipH="1">
            <a:off x="7236136" y="461252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3" name="TextBox 992"/>
          <p:cNvSpPr txBox="1">
            <a:spLocks/>
          </p:cNvSpPr>
          <p:nvPr/>
        </p:nvSpPr>
        <p:spPr>
          <a:xfrm>
            <a:off x="6612104" y="4761176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94" name="TextBox 993"/>
          <p:cNvSpPr txBox="1">
            <a:spLocks/>
          </p:cNvSpPr>
          <p:nvPr/>
        </p:nvSpPr>
        <p:spPr>
          <a:xfrm>
            <a:off x="7356168" y="4761176"/>
            <a:ext cx="252000" cy="25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95" name="TextBox 994"/>
          <p:cNvSpPr txBox="1">
            <a:spLocks/>
          </p:cNvSpPr>
          <p:nvPr/>
        </p:nvSpPr>
        <p:spPr>
          <a:xfrm>
            <a:off x="6984136" y="4761176"/>
            <a:ext cx="252000" cy="25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96" name="TextBox 995"/>
          <p:cNvSpPr txBox="1">
            <a:spLocks/>
          </p:cNvSpPr>
          <p:nvPr/>
        </p:nvSpPr>
        <p:spPr>
          <a:xfrm>
            <a:off x="6240072" y="4761176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997" name="Straight Connector 996"/>
          <p:cNvCxnSpPr>
            <a:endCxn id="993" idx="1"/>
          </p:cNvCxnSpPr>
          <p:nvPr/>
        </p:nvCxnSpPr>
        <p:spPr>
          <a:xfrm>
            <a:off x="6492072" y="488717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8" name="Straight Connector 997"/>
          <p:cNvCxnSpPr>
            <a:stCxn id="993" idx="3"/>
            <a:endCxn id="995" idx="1"/>
          </p:cNvCxnSpPr>
          <p:nvPr/>
        </p:nvCxnSpPr>
        <p:spPr>
          <a:xfrm>
            <a:off x="6864104" y="488717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9" name="Straight Connector 998"/>
          <p:cNvCxnSpPr>
            <a:stCxn id="994" idx="1"/>
            <a:endCxn id="995" idx="3"/>
          </p:cNvCxnSpPr>
          <p:nvPr/>
        </p:nvCxnSpPr>
        <p:spPr>
          <a:xfrm flipH="1">
            <a:off x="7236136" y="488717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6" name="TextBox 895"/>
          <p:cNvSpPr txBox="1">
            <a:spLocks/>
          </p:cNvSpPr>
          <p:nvPr/>
        </p:nvSpPr>
        <p:spPr>
          <a:xfrm>
            <a:off x="3299680" y="675353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97" name="TextBox 896"/>
          <p:cNvSpPr txBox="1">
            <a:spLocks/>
          </p:cNvSpPr>
          <p:nvPr/>
        </p:nvSpPr>
        <p:spPr>
          <a:xfrm>
            <a:off x="4043744" y="675353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98" name="TextBox 897"/>
          <p:cNvSpPr txBox="1">
            <a:spLocks/>
          </p:cNvSpPr>
          <p:nvPr/>
        </p:nvSpPr>
        <p:spPr>
          <a:xfrm>
            <a:off x="3671712" y="675353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99" name="TextBox 898"/>
          <p:cNvSpPr txBox="1">
            <a:spLocks/>
          </p:cNvSpPr>
          <p:nvPr/>
        </p:nvSpPr>
        <p:spPr>
          <a:xfrm>
            <a:off x="2927648" y="675353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900" name="TextBox 899"/>
          <p:cNvSpPr txBox="1">
            <a:spLocks/>
          </p:cNvSpPr>
          <p:nvPr/>
        </p:nvSpPr>
        <p:spPr>
          <a:xfrm>
            <a:off x="4883856" y="671323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01" name="TextBox 900"/>
          <p:cNvSpPr txBox="1">
            <a:spLocks/>
          </p:cNvSpPr>
          <p:nvPr/>
        </p:nvSpPr>
        <p:spPr>
          <a:xfrm>
            <a:off x="5627920" y="671323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902" name="TextBox 901"/>
          <p:cNvSpPr txBox="1">
            <a:spLocks/>
          </p:cNvSpPr>
          <p:nvPr/>
        </p:nvSpPr>
        <p:spPr>
          <a:xfrm>
            <a:off x="5255888" y="671323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03" name="TextBox 902"/>
          <p:cNvSpPr txBox="1">
            <a:spLocks/>
          </p:cNvSpPr>
          <p:nvPr/>
        </p:nvSpPr>
        <p:spPr>
          <a:xfrm>
            <a:off x="4511824" y="671323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70" name="TextBox 1469"/>
          <p:cNvSpPr txBox="1">
            <a:spLocks/>
          </p:cNvSpPr>
          <p:nvPr/>
        </p:nvSpPr>
        <p:spPr>
          <a:xfrm>
            <a:off x="7692168" y="669270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71" name="TextBox 1470"/>
          <p:cNvSpPr txBox="1">
            <a:spLocks/>
          </p:cNvSpPr>
          <p:nvPr/>
        </p:nvSpPr>
        <p:spPr>
          <a:xfrm>
            <a:off x="8436232" y="669270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472" name="TextBox 1471"/>
          <p:cNvSpPr txBox="1">
            <a:spLocks/>
          </p:cNvSpPr>
          <p:nvPr/>
        </p:nvSpPr>
        <p:spPr>
          <a:xfrm>
            <a:off x="8064200" y="669270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1473" name="TextBox 1472"/>
          <p:cNvSpPr txBox="1">
            <a:spLocks/>
          </p:cNvSpPr>
          <p:nvPr/>
        </p:nvSpPr>
        <p:spPr>
          <a:xfrm>
            <a:off x="7320136" y="669270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74" name="TextBox 1473"/>
          <p:cNvSpPr txBox="1">
            <a:spLocks/>
          </p:cNvSpPr>
          <p:nvPr/>
        </p:nvSpPr>
        <p:spPr>
          <a:xfrm>
            <a:off x="9276344" y="669270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475" name="TextBox 1474"/>
          <p:cNvSpPr txBox="1">
            <a:spLocks/>
          </p:cNvSpPr>
          <p:nvPr/>
        </p:nvSpPr>
        <p:spPr>
          <a:xfrm>
            <a:off x="10020408" y="669270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476" name="TextBox 1475"/>
          <p:cNvSpPr txBox="1">
            <a:spLocks/>
          </p:cNvSpPr>
          <p:nvPr/>
        </p:nvSpPr>
        <p:spPr>
          <a:xfrm>
            <a:off x="9648376" y="669270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77" name="TextBox 1476"/>
          <p:cNvSpPr txBox="1">
            <a:spLocks/>
          </p:cNvSpPr>
          <p:nvPr/>
        </p:nvSpPr>
        <p:spPr>
          <a:xfrm>
            <a:off x="8904312" y="669270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78" name="TextBox 1477"/>
          <p:cNvSpPr txBox="1">
            <a:spLocks/>
          </p:cNvSpPr>
          <p:nvPr/>
        </p:nvSpPr>
        <p:spPr>
          <a:xfrm>
            <a:off x="2003592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79" name="TextBox 1478"/>
          <p:cNvSpPr txBox="1">
            <a:spLocks/>
          </p:cNvSpPr>
          <p:nvPr/>
        </p:nvSpPr>
        <p:spPr>
          <a:xfrm>
            <a:off x="2747656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80" name="TextBox 1479"/>
          <p:cNvSpPr txBox="1">
            <a:spLocks/>
          </p:cNvSpPr>
          <p:nvPr/>
        </p:nvSpPr>
        <p:spPr>
          <a:xfrm>
            <a:off x="2375624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81" name="TextBox 1480"/>
          <p:cNvSpPr txBox="1">
            <a:spLocks/>
          </p:cNvSpPr>
          <p:nvPr/>
        </p:nvSpPr>
        <p:spPr>
          <a:xfrm>
            <a:off x="1631560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82" name="TextBox 1481"/>
          <p:cNvSpPr txBox="1">
            <a:spLocks/>
          </p:cNvSpPr>
          <p:nvPr/>
        </p:nvSpPr>
        <p:spPr>
          <a:xfrm>
            <a:off x="3515749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83" name="TextBox 1482"/>
          <p:cNvSpPr txBox="1">
            <a:spLocks/>
          </p:cNvSpPr>
          <p:nvPr/>
        </p:nvSpPr>
        <p:spPr>
          <a:xfrm>
            <a:off x="4259813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84" name="TextBox 1483"/>
          <p:cNvSpPr txBox="1">
            <a:spLocks/>
          </p:cNvSpPr>
          <p:nvPr/>
        </p:nvSpPr>
        <p:spPr>
          <a:xfrm>
            <a:off x="3887781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85" name="TextBox 1484"/>
          <p:cNvSpPr txBox="1">
            <a:spLocks/>
          </p:cNvSpPr>
          <p:nvPr/>
        </p:nvSpPr>
        <p:spPr>
          <a:xfrm>
            <a:off x="3143717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86" name="TextBox 1485"/>
          <p:cNvSpPr txBox="1">
            <a:spLocks/>
          </p:cNvSpPr>
          <p:nvPr/>
        </p:nvSpPr>
        <p:spPr>
          <a:xfrm>
            <a:off x="5027906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87" name="TextBox 1486"/>
          <p:cNvSpPr txBox="1">
            <a:spLocks/>
          </p:cNvSpPr>
          <p:nvPr/>
        </p:nvSpPr>
        <p:spPr>
          <a:xfrm>
            <a:off x="5771970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88" name="TextBox 1487"/>
          <p:cNvSpPr txBox="1">
            <a:spLocks/>
          </p:cNvSpPr>
          <p:nvPr/>
        </p:nvSpPr>
        <p:spPr>
          <a:xfrm>
            <a:off x="5399938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89" name="TextBox 1488"/>
          <p:cNvSpPr txBox="1">
            <a:spLocks/>
          </p:cNvSpPr>
          <p:nvPr/>
        </p:nvSpPr>
        <p:spPr>
          <a:xfrm>
            <a:off x="4655874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90" name="TextBox 1489"/>
          <p:cNvSpPr txBox="1">
            <a:spLocks/>
          </p:cNvSpPr>
          <p:nvPr/>
        </p:nvSpPr>
        <p:spPr>
          <a:xfrm>
            <a:off x="6540063" y="2832748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91" name="TextBox 1490"/>
          <p:cNvSpPr txBox="1">
            <a:spLocks/>
          </p:cNvSpPr>
          <p:nvPr/>
        </p:nvSpPr>
        <p:spPr>
          <a:xfrm>
            <a:off x="6168031" y="2832748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92" name="TextBox 1491"/>
          <p:cNvSpPr txBox="1">
            <a:spLocks/>
          </p:cNvSpPr>
          <p:nvPr/>
        </p:nvSpPr>
        <p:spPr>
          <a:xfrm>
            <a:off x="3299680" y="674521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93" name="TextBox 1492"/>
          <p:cNvSpPr txBox="1">
            <a:spLocks/>
          </p:cNvSpPr>
          <p:nvPr/>
        </p:nvSpPr>
        <p:spPr>
          <a:xfrm>
            <a:off x="4043744" y="674521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494" name="TextBox 1493"/>
          <p:cNvSpPr txBox="1">
            <a:spLocks/>
          </p:cNvSpPr>
          <p:nvPr/>
        </p:nvSpPr>
        <p:spPr>
          <a:xfrm>
            <a:off x="3671712" y="674521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95" name="TextBox 1494"/>
          <p:cNvSpPr txBox="1">
            <a:spLocks/>
          </p:cNvSpPr>
          <p:nvPr/>
        </p:nvSpPr>
        <p:spPr>
          <a:xfrm>
            <a:off x="2927648" y="674521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96" name="TextBox 1495"/>
          <p:cNvSpPr txBox="1">
            <a:spLocks/>
          </p:cNvSpPr>
          <p:nvPr/>
        </p:nvSpPr>
        <p:spPr>
          <a:xfrm>
            <a:off x="4883856" y="670491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97" name="TextBox 1496"/>
          <p:cNvSpPr txBox="1">
            <a:spLocks/>
          </p:cNvSpPr>
          <p:nvPr/>
        </p:nvSpPr>
        <p:spPr>
          <a:xfrm>
            <a:off x="5627920" y="670491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98" name="TextBox 1497"/>
          <p:cNvSpPr txBox="1">
            <a:spLocks/>
          </p:cNvSpPr>
          <p:nvPr/>
        </p:nvSpPr>
        <p:spPr>
          <a:xfrm>
            <a:off x="5255888" y="670491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99" name="TextBox 1498"/>
          <p:cNvSpPr txBox="1">
            <a:spLocks/>
          </p:cNvSpPr>
          <p:nvPr/>
        </p:nvSpPr>
        <p:spPr>
          <a:xfrm>
            <a:off x="4511824" y="670491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06" name="TextBox 1505"/>
          <p:cNvSpPr txBox="1">
            <a:spLocks/>
          </p:cNvSpPr>
          <p:nvPr/>
        </p:nvSpPr>
        <p:spPr>
          <a:xfrm>
            <a:off x="7284127" y="2832051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07" name="TextBox 1506"/>
          <p:cNvSpPr txBox="1">
            <a:spLocks/>
          </p:cNvSpPr>
          <p:nvPr/>
        </p:nvSpPr>
        <p:spPr>
          <a:xfrm>
            <a:off x="6912095" y="2832051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1508" name="TextBox 1507"/>
          <p:cNvSpPr txBox="1">
            <a:spLocks/>
          </p:cNvSpPr>
          <p:nvPr/>
        </p:nvSpPr>
        <p:spPr>
          <a:xfrm>
            <a:off x="7680188" y="2832051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09" name="TextBox 1508"/>
          <p:cNvSpPr txBox="1">
            <a:spLocks/>
          </p:cNvSpPr>
          <p:nvPr/>
        </p:nvSpPr>
        <p:spPr>
          <a:xfrm>
            <a:off x="7692168" y="667741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10" name="TextBox 1509"/>
          <p:cNvSpPr txBox="1">
            <a:spLocks/>
          </p:cNvSpPr>
          <p:nvPr/>
        </p:nvSpPr>
        <p:spPr>
          <a:xfrm>
            <a:off x="8436232" y="667741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11" name="TextBox 1510"/>
          <p:cNvSpPr txBox="1">
            <a:spLocks/>
          </p:cNvSpPr>
          <p:nvPr/>
        </p:nvSpPr>
        <p:spPr>
          <a:xfrm>
            <a:off x="8064200" y="667741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1512" name="TextBox 1511"/>
          <p:cNvSpPr txBox="1">
            <a:spLocks/>
          </p:cNvSpPr>
          <p:nvPr/>
        </p:nvSpPr>
        <p:spPr>
          <a:xfrm>
            <a:off x="7320136" y="667741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13" name="TextBox 1512"/>
          <p:cNvSpPr txBox="1">
            <a:spLocks/>
          </p:cNvSpPr>
          <p:nvPr/>
        </p:nvSpPr>
        <p:spPr>
          <a:xfrm>
            <a:off x="9276344" y="667741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14" name="TextBox 1513"/>
          <p:cNvSpPr txBox="1">
            <a:spLocks/>
          </p:cNvSpPr>
          <p:nvPr/>
        </p:nvSpPr>
        <p:spPr>
          <a:xfrm>
            <a:off x="10020408" y="667741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15" name="TextBox 1514"/>
          <p:cNvSpPr txBox="1">
            <a:spLocks/>
          </p:cNvSpPr>
          <p:nvPr/>
        </p:nvSpPr>
        <p:spPr>
          <a:xfrm>
            <a:off x="9648376" y="667741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16" name="TextBox 1515"/>
          <p:cNvSpPr txBox="1">
            <a:spLocks/>
          </p:cNvSpPr>
          <p:nvPr/>
        </p:nvSpPr>
        <p:spPr>
          <a:xfrm>
            <a:off x="8904312" y="667741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17" name="TextBox 1516"/>
          <p:cNvSpPr txBox="1">
            <a:spLocks/>
          </p:cNvSpPr>
          <p:nvPr/>
        </p:nvSpPr>
        <p:spPr>
          <a:xfrm>
            <a:off x="2003592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18" name="TextBox 1517"/>
          <p:cNvSpPr txBox="1">
            <a:spLocks/>
          </p:cNvSpPr>
          <p:nvPr/>
        </p:nvSpPr>
        <p:spPr>
          <a:xfrm>
            <a:off x="2747656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19" name="TextBox 1518"/>
          <p:cNvSpPr txBox="1">
            <a:spLocks/>
          </p:cNvSpPr>
          <p:nvPr/>
        </p:nvSpPr>
        <p:spPr>
          <a:xfrm>
            <a:off x="2375624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20" name="TextBox 1519"/>
          <p:cNvSpPr txBox="1">
            <a:spLocks/>
          </p:cNvSpPr>
          <p:nvPr/>
        </p:nvSpPr>
        <p:spPr>
          <a:xfrm>
            <a:off x="1631560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21" name="TextBox 1520"/>
          <p:cNvSpPr txBox="1">
            <a:spLocks/>
          </p:cNvSpPr>
          <p:nvPr/>
        </p:nvSpPr>
        <p:spPr>
          <a:xfrm>
            <a:off x="3515749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22" name="TextBox 1521"/>
          <p:cNvSpPr txBox="1">
            <a:spLocks/>
          </p:cNvSpPr>
          <p:nvPr/>
        </p:nvSpPr>
        <p:spPr>
          <a:xfrm>
            <a:off x="4259813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23" name="TextBox 1522"/>
          <p:cNvSpPr txBox="1">
            <a:spLocks/>
          </p:cNvSpPr>
          <p:nvPr/>
        </p:nvSpPr>
        <p:spPr>
          <a:xfrm>
            <a:off x="3887781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24" name="TextBox 1523"/>
          <p:cNvSpPr txBox="1">
            <a:spLocks/>
          </p:cNvSpPr>
          <p:nvPr/>
        </p:nvSpPr>
        <p:spPr>
          <a:xfrm>
            <a:off x="3143717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25" name="TextBox 1524"/>
          <p:cNvSpPr txBox="1">
            <a:spLocks/>
          </p:cNvSpPr>
          <p:nvPr/>
        </p:nvSpPr>
        <p:spPr>
          <a:xfrm>
            <a:off x="5027906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26" name="TextBox 1525"/>
          <p:cNvSpPr txBox="1">
            <a:spLocks/>
          </p:cNvSpPr>
          <p:nvPr/>
        </p:nvSpPr>
        <p:spPr>
          <a:xfrm>
            <a:off x="5771970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27" name="TextBox 1526"/>
          <p:cNvSpPr txBox="1">
            <a:spLocks/>
          </p:cNvSpPr>
          <p:nvPr/>
        </p:nvSpPr>
        <p:spPr>
          <a:xfrm>
            <a:off x="5399938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28" name="TextBox 1527"/>
          <p:cNvSpPr txBox="1">
            <a:spLocks/>
          </p:cNvSpPr>
          <p:nvPr/>
        </p:nvSpPr>
        <p:spPr>
          <a:xfrm>
            <a:off x="4655874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29" name="TextBox 1528"/>
          <p:cNvSpPr txBox="1">
            <a:spLocks/>
          </p:cNvSpPr>
          <p:nvPr/>
        </p:nvSpPr>
        <p:spPr>
          <a:xfrm>
            <a:off x="6540063" y="2831219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30" name="TextBox 1529"/>
          <p:cNvSpPr txBox="1">
            <a:spLocks/>
          </p:cNvSpPr>
          <p:nvPr/>
        </p:nvSpPr>
        <p:spPr>
          <a:xfrm>
            <a:off x="6168031" y="2831219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31" name="TextBox 1530"/>
          <p:cNvSpPr txBox="1">
            <a:spLocks/>
          </p:cNvSpPr>
          <p:nvPr/>
        </p:nvSpPr>
        <p:spPr>
          <a:xfrm>
            <a:off x="3299680" y="672992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32" name="TextBox 1531"/>
          <p:cNvSpPr txBox="1">
            <a:spLocks/>
          </p:cNvSpPr>
          <p:nvPr/>
        </p:nvSpPr>
        <p:spPr>
          <a:xfrm>
            <a:off x="4043744" y="672992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33" name="TextBox 1532"/>
          <p:cNvSpPr txBox="1">
            <a:spLocks/>
          </p:cNvSpPr>
          <p:nvPr/>
        </p:nvSpPr>
        <p:spPr>
          <a:xfrm>
            <a:off x="3671712" y="672992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34" name="TextBox 1533"/>
          <p:cNvSpPr txBox="1">
            <a:spLocks/>
          </p:cNvSpPr>
          <p:nvPr/>
        </p:nvSpPr>
        <p:spPr>
          <a:xfrm>
            <a:off x="2927648" y="672992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35" name="TextBox 1534"/>
          <p:cNvSpPr txBox="1">
            <a:spLocks/>
          </p:cNvSpPr>
          <p:nvPr/>
        </p:nvSpPr>
        <p:spPr>
          <a:xfrm>
            <a:off x="4883856" y="668962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36" name="TextBox 1535"/>
          <p:cNvSpPr txBox="1">
            <a:spLocks/>
          </p:cNvSpPr>
          <p:nvPr/>
        </p:nvSpPr>
        <p:spPr>
          <a:xfrm>
            <a:off x="5627920" y="668962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37" name="TextBox 1536"/>
          <p:cNvSpPr txBox="1">
            <a:spLocks/>
          </p:cNvSpPr>
          <p:nvPr/>
        </p:nvSpPr>
        <p:spPr>
          <a:xfrm>
            <a:off x="5255888" y="668962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38" name="TextBox 1537"/>
          <p:cNvSpPr txBox="1">
            <a:spLocks/>
          </p:cNvSpPr>
          <p:nvPr/>
        </p:nvSpPr>
        <p:spPr>
          <a:xfrm>
            <a:off x="4511824" y="668962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42" name="TextBox 1541"/>
          <p:cNvSpPr txBox="1">
            <a:spLocks/>
          </p:cNvSpPr>
          <p:nvPr/>
        </p:nvSpPr>
        <p:spPr>
          <a:xfrm>
            <a:off x="8052220" y="2832051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43" name="TextBox 1542"/>
          <p:cNvSpPr txBox="1">
            <a:spLocks/>
          </p:cNvSpPr>
          <p:nvPr/>
        </p:nvSpPr>
        <p:spPr>
          <a:xfrm>
            <a:off x="8424252" y="2832051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44" name="TextBox 1543"/>
          <p:cNvSpPr txBox="1">
            <a:spLocks/>
          </p:cNvSpPr>
          <p:nvPr/>
        </p:nvSpPr>
        <p:spPr>
          <a:xfrm>
            <a:off x="7284127" y="2830522"/>
            <a:ext cx="252000" cy="25200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45" name="TextBox 1544"/>
          <p:cNvSpPr txBox="1">
            <a:spLocks/>
          </p:cNvSpPr>
          <p:nvPr/>
        </p:nvSpPr>
        <p:spPr>
          <a:xfrm>
            <a:off x="6912095" y="2830522"/>
            <a:ext cx="252000" cy="25200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1546" name="TextBox 1545"/>
          <p:cNvSpPr txBox="1">
            <a:spLocks/>
          </p:cNvSpPr>
          <p:nvPr/>
        </p:nvSpPr>
        <p:spPr>
          <a:xfrm>
            <a:off x="7680188" y="2830522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47" name="TextBox 1546"/>
          <p:cNvSpPr txBox="1">
            <a:spLocks/>
          </p:cNvSpPr>
          <p:nvPr/>
        </p:nvSpPr>
        <p:spPr>
          <a:xfrm>
            <a:off x="7692168" y="666212"/>
            <a:ext cx="252000" cy="25200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48" name="TextBox 1547"/>
          <p:cNvSpPr txBox="1">
            <a:spLocks/>
          </p:cNvSpPr>
          <p:nvPr/>
        </p:nvSpPr>
        <p:spPr>
          <a:xfrm>
            <a:off x="8436232" y="666212"/>
            <a:ext cx="252000" cy="25200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49" name="TextBox 1548"/>
          <p:cNvSpPr txBox="1">
            <a:spLocks/>
          </p:cNvSpPr>
          <p:nvPr/>
        </p:nvSpPr>
        <p:spPr>
          <a:xfrm>
            <a:off x="8064200" y="666212"/>
            <a:ext cx="252000" cy="25200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1550" name="TextBox 1549"/>
          <p:cNvSpPr txBox="1">
            <a:spLocks/>
          </p:cNvSpPr>
          <p:nvPr/>
        </p:nvSpPr>
        <p:spPr>
          <a:xfrm>
            <a:off x="7320136" y="666212"/>
            <a:ext cx="252000" cy="25200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51" name="TextBox 1550"/>
          <p:cNvSpPr txBox="1">
            <a:spLocks/>
          </p:cNvSpPr>
          <p:nvPr/>
        </p:nvSpPr>
        <p:spPr>
          <a:xfrm>
            <a:off x="9276344" y="666212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52" name="TextBox 1551"/>
          <p:cNvSpPr txBox="1">
            <a:spLocks/>
          </p:cNvSpPr>
          <p:nvPr/>
        </p:nvSpPr>
        <p:spPr>
          <a:xfrm>
            <a:off x="10020408" y="666212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53" name="TextBox 1552"/>
          <p:cNvSpPr txBox="1">
            <a:spLocks/>
          </p:cNvSpPr>
          <p:nvPr/>
        </p:nvSpPr>
        <p:spPr>
          <a:xfrm>
            <a:off x="9648376" y="666212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54" name="TextBox 1553"/>
          <p:cNvSpPr txBox="1">
            <a:spLocks/>
          </p:cNvSpPr>
          <p:nvPr/>
        </p:nvSpPr>
        <p:spPr>
          <a:xfrm>
            <a:off x="8904312" y="666212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55" name="TextBox 1554"/>
          <p:cNvSpPr txBox="1">
            <a:spLocks/>
          </p:cNvSpPr>
          <p:nvPr/>
        </p:nvSpPr>
        <p:spPr>
          <a:xfrm>
            <a:off x="2003592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56" name="TextBox 1555"/>
          <p:cNvSpPr txBox="1">
            <a:spLocks/>
          </p:cNvSpPr>
          <p:nvPr/>
        </p:nvSpPr>
        <p:spPr>
          <a:xfrm>
            <a:off x="2747656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57" name="TextBox 1556"/>
          <p:cNvSpPr txBox="1">
            <a:spLocks/>
          </p:cNvSpPr>
          <p:nvPr/>
        </p:nvSpPr>
        <p:spPr>
          <a:xfrm>
            <a:off x="2375624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58" name="TextBox 1557"/>
          <p:cNvSpPr txBox="1">
            <a:spLocks/>
          </p:cNvSpPr>
          <p:nvPr/>
        </p:nvSpPr>
        <p:spPr>
          <a:xfrm>
            <a:off x="1631560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59" name="TextBox 1558"/>
          <p:cNvSpPr txBox="1">
            <a:spLocks/>
          </p:cNvSpPr>
          <p:nvPr/>
        </p:nvSpPr>
        <p:spPr>
          <a:xfrm>
            <a:off x="3515749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60" name="TextBox 1559"/>
          <p:cNvSpPr txBox="1">
            <a:spLocks/>
          </p:cNvSpPr>
          <p:nvPr/>
        </p:nvSpPr>
        <p:spPr>
          <a:xfrm>
            <a:off x="4259813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61" name="TextBox 1560"/>
          <p:cNvSpPr txBox="1">
            <a:spLocks/>
          </p:cNvSpPr>
          <p:nvPr/>
        </p:nvSpPr>
        <p:spPr>
          <a:xfrm>
            <a:off x="3887781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62" name="TextBox 1561"/>
          <p:cNvSpPr txBox="1">
            <a:spLocks/>
          </p:cNvSpPr>
          <p:nvPr/>
        </p:nvSpPr>
        <p:spPr>
          <a:xfrm>
            <a:off x="3143717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63" name="TextBox 1562"/>
          <p:cNvSpPr txBox="1">
            <a:spLocks/>
          </p:cNvSpPr>
          <p:nvPr/>
        </p:nvSpPr>
        <p:spPr>
          <a:xfrm>
            <a:off x="5027906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64" name="TextBox 1563"/>
          <p:cNvSpPr txBox="1">
            <a:spLocks/>
          </p:cNvSpPr>
          <p:nvPr/>
        </p:nvSpPr>
        <p:spPr>
          <a:xfrm>
            <a:off x="5771970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65" name="TextBox 1564"/>
          <p:cNvSpPr txBox="1">
            <a:spLocks/>
          </p:cNvSpPr>
          <p:nvPr/>
        </p:nvSpPr>
        <p:spPr>
          <a:xfrm>
            <a:off x="5399938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66" name="TextBox 1565"/>
          <p:cNvSpPr txBox="1">
            <a:spLocks/>
          </p:cNvSpPr>
          <p:nvPr/>
        </p:nvSpPr>
        <p:spPr>
          <a:xfrm>
            <a:off x="4655874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67" name="TextBox 1566"/>
          <p:cNvSpPr txBox="1">
            <a:spLocks/>
          </p:cNvSpPr>
          <p:nvPr/>
        </p:nvSpPr>
        <p:spPr>
          <a:xfrm>
            <a:off x="6540063" y="2829690"/>
            <a:ext cx="252000" cy="25200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68" name="TextBox 1567"/>
          <p:cNvSpPr txBox="1">
            <a:spLocks/>
          </p:cNvSpPr>
          <p:nvPr/>
        </p:nvSpPr>
        <p:spPr>
          <a:xfrm>
            <a:off x="6168031" y="2829690"/>
            <a:ext cx="252000" cy="25200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69" name="TextBox 1568"/>
          <p:cNvSpPr txBox="1">
            <a:spLocks/>
          </p:cNvSpPr>
          <p:nvPr/>
        </p:nvSpPr>
        <p:spPr>
          <a:xfrm>
            <a:off x="3299680" y="671463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70" name="TextBox 1569"/>
          <p:cNvSpPr txBox="1">
            <a:spLocks/>
          </p:cNvSpPr>
          <p:nvPr/>
        </p:nvSpPr>
        <p:spPr>
          <a:xfrm>
            <a:off x="4043744" y="671463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71" name="TextBox 1570"/>
          <p:cNvSpPr txBox="1">
            <a:spLocks/>
          </p:cNvSpPr>
          <p:nvPr/>
        </p:nvSpPr>
        <p:spPr>
          <a:xfrm>
            <a:off x="3671712" y="671463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72" name="TextBox 1571"/>
          <p:cNvSpPr txBox="1">
            <a:spLocks/>
          </p:cNvSpPr>
          <p:nvPr/>
        </p:nvSpPr>
        <p:spPr>
          <a:xfrm>
            <a:off x="2927648" y="671463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73" name="TextBox 1572"/>
          <p:cNvSpPr txBox="1">
            <a:spLocks/>
          </p:cNvSpPr>
          <p:nvPr/>
        </p:nvSpPr>
        <p:spPr>
          <a:xfrm>
            <a:off x="4883856" y="667433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74" name="TextBox 1573"/>
          <p:cNvSpPr txBox="1">
            <a:spLocks/>
          </p:cNvSpPr>
          <p:nvPr/>
        </p:nvSpPr>
        <p:spPr>
          <a:xfrm>
            <a:off x="5627920" y="667433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75" name="TextBox 1574"/>
          <p:cNvSpPr txBox="1">
            <a:spLocks/>
          </p:cNvSpPr>
          <p:nvPr/>
        </p:nvSpPr>
        <p:spPr>
          <a:xfrm>
            <a:off x="5255888" y="667433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76" name="TextBox 1575"/>
          <p:cNvSpPr txBox="1">
            <a:spLocks/>
          </p:cNvSpPr>
          <p:nvPr/>
        </p:nvSpPr>
        <p:spPr>
          <a:xfrm>
            <a:off x="4511824" y="667433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629" name="TextBox 1628"/>
          <p:cNvSpPr txBox="1">
            <a:spLocks/>
          </p:cNvSpPr>
          <p:nvPr/>
        </p:nvSpPr>
        <p:spPr>
          <a:xfrm>
            <a:off x="3299984" y="94917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630" name="TextBox 1629"/>
          <p:cNvSpPr txBox="1">
            <a:spLocks/>
          </p:cNvSpPr>
          <p:nvPr/>
        </p:nvSpPr>
        <p:spPr>
          <a:xfrm>
            <a:off x="3672016" y="94917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631" name="TextBox 1630"/>
          <p:cNvSpPr txBox="1">
            <a:spLocks/>
          </p:cNvSpPr>
          <p:nvPr/>
        </p:nvSpPr>
        <p:spPr>
          <a:xfrm>
            <a:off x="2927952" y="94917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710" name="TextBox 1709"/>
          <p:cNvSpPr txBox="1">
            <a:spLocks/>
          </p:cNvSpPr>
          <p:nvPr/>
        </p:nvSpPr>
        <p:spPr>
          <a:xfrm>
            <a:off x="2003592" y="2555866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711" name="TextBox 1710"/>
          <p:cNvSpPr txBox="1">
            <a:spLocks/>
          </p:cNvSpPr>
          <p:nvPr/>
        </p:nvSpPr>
        <p:spPr>
          <a:xfrm>
            <a:off x="2375624" y="2555866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712" name="TextBox 1711"/>
          <p:cNvSpPr txBox="1">
            <a:spLocks/>
          </p:cNvSpPr>
          <p:nvPr/>
        </p:nvSpPr>
        <p:spPr>
          <a:xfrm>
            <a:off x="1631560" y="2555866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713" name="TextBox 1712"/>
          <p:cNvSpPr txBox="1">
            <a:spLocks/>
          </p:cNvSpPr>
          <p:nvPr/>
        </p:nvSpPr>
        <p:spPr>
          <a:xfrm>
            <a:off x="4259813" y="2555866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714" name="TextBox 1713"/>
          <p:cNvSpPr txBox="1">
            <a:spLocks/>
          </p:cNvSpPr>
          <p:nvPr/>
        </p:nvSpPr>
        <p:spPr>
          <a:xfrm>
            <a:off x="4655874" y="2555866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315" name="Rounded Rectangle 314"/>
          <p:cNvSpPr/>
          <p:nvPr/>
        </p:nvSpPr>
        <p:spPr>
          <a:xfrm>
            <a:off x="1559496" y="1988840"/>
            <a:ext cx="3006264" cy="1512168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160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(2)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43788973"/>
              </p:ext>
            </p:extLst>
          </p:nvPr>
        </p:nvGraphicFramePr>
        <p:xfrm>
          <a:off x="1703388" y="1196975"/>
          <a:ext cx="6984896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-0.93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-0.93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-0.93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-0.66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-0.08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-0.93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-0.81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-0.93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-0.66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-0.08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-0.93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-0.81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-0.66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-0.66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-0.75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-0.75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-0.08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-0.08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-0.93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-0.93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-0.81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-0.81</a:t>
                      </a: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60297" y="1196976"/>
            <a:ext cx="3192521" cy="49688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#2 &amp; #3 in base!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IBS, but definitely not IBD from base!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DCCE7-68A7-442A-AA7A-2E7473D4FC32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8</a:t>
            </a:r>
          </a:p>
        </p:txBody>
      </p:sp>
    </p:spTree>
    <p:extLst>
      <p:ext uri="{BB962C8B-B14F-4D97-AF65-F5344CB8AC3E}">
        <p14:creationId xmlns:p14="http://schemas.microsoft.com/office/powerpoint/2010/main" val="18983614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0" name="Straight Connector 249"/>
          <p:cNvCxnSpPr/>
          <p:nvPr/>
        </p:nvCxnSpPr>
        <p:spPr>
          <a:xfrm>
            <a:off x="3179648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/>
          <p:cNvCxnSpPr/>
          <p:nvPr/>
        </p:nvCxnSpPr>
        <p:spPr>
          <a:xfrm>
            <a:off x="3551680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/>
          <p:cNvCxnSpPr/>
          <p:nvPr/>
        </p:nvCxnSpPr>
        <p:spPr>
          <a:xfrm flipH="1">
            <a:off x="3923712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/>
          <p:cNvCxnSpPr/>
          <p:nvPr/>
        </p:nvCxnSpPr>
        <p:spPr>
          <a:xfrm>
            <a:off x="3179648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/>
          <p:cNvCxnSpPr/>
          <p:nvPr/>
        </p:nvCxnSpPr>
        <p:spPr>
          <a:xfrm>
            <a:off x="3551680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8</a:t>
            </a:r>
          </a:p>
        </p:txBody>
      </p:sp>
      <p:cxnSp>
        <p:nvCxnSpPr>
          <p:cNvPr id="222" name="Straight Arrow Connector 221"/>
          <p:cNvCxnSpPr/>
          <p:nvPr/>
        </p:nvCxnSpPr>
        <p:spPr>
          <a:xfrm flipH="1">
            <a:off x="2395013" y="1340769"/>
            <a:ext cx="1246737" cy="11665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/>
          <p:cNvCxnSpPr/>
          <p:nvPr/>
        </p:nvCxnSpPr>
        <p:spPr>
          <a:xfrm>
            <a:off x="3659158" y="1340769"/>
            <a:ext cx="384587" cy="11247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Arrow Connector 223"/>
          <p:cNvCxnSpPr/>
          <p:nvPr/>
        </p:nvCxnSpPr>
        <p:spPr>
          <a:xfrm>
            <a:off x="3659158" y="1340769"/>
            <a:ext cx="1746599" cy="11247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/>
          <p:cNvCxnSpPr/>
          <p:nvPr/>
        </p:nvCxnSpPr>
        <p:spPr>
          <a:xfrm>
            <a:off x="3641750" y="1340769"/>
            <a:ext cx="3222355" cy="112053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/>
          <p:cNvCxnSpPr/>
          <p:nvPr/>
        </p:nvCxnSpPr>
        <p:spPr>
          <a:xfrm flipH="1">
            <a:off x="2444942" y="1340769"/>
            <a:ext cx="2564915" cy="11247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/>
          <p:cNvCxnSpPr/>
          <p:nvPr/>
        </p:nvCxnSpPr>
        <p:spPr>
          <a:xfrm flipH="1">
            <a:off x="4043746" y="1316737"/>
            <a:ext cx="979358" cy="114875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227"/>
          <p:cNvCxnSpPr/>
          <p:nvPr/>
        </p:nvCxnSpPr>
        <p:spPr>
          <a:xfrm>
            <a:off x="5032314" y="1340769"/>
            <a:ext cx="349574" cy="11247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/>
          <p:cNvCxnSpPr/>
          <p:nvPr/>
        </p:nvCxnSpPr>
        <p:spPr>
          <a:xfrm>
            <a:off x="5032314" y="1340769"/>
            <a:ext cx="1849174" cy="11532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/>
          <p:cNvCxnSpPr/>
          <p:nvPr/>
        </p:nvCxnSpPr>
        <p:spPr>
          <a:xfrm>
            <a:off x="8064200" y="1340768"/>
            <a:ext cx="1836176" cy="1008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Arrow Connector 230"/>
          <p:cNvCxnSpPr/>
          <p:nvPr/>
        </p:nvCxnSpPr>
        <p:spPr>
          <a:xfrm>
            <a:off x="9444344" y="1340768"/>
            <a:ext cx="576064" cy="1008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Arrow Connector 231"/>
          <p:cNvCxnSpPr/>
          <p:nvPr/>
        </p:nvCxnSpPr>
        <p:spPr>
          <a:xfrm>
            <a:off x="8075644" y="1340768"/>
            <a:ext cx="348609" cy="1008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/>
          <p:cNvCxnSpPr/>
          <p:nvPr/>
        </p:nvCxnSpPr>
        <p:spPr>
          <a:xfrm flipH="1">
            <a:off x="8436234" y="1340768"/>
            <a:ext cx="1015680" cy="1008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Arrow Connector 233"/>
          <p:cNvCxnSpPr/>
          <p:nvPr/>
        </p:nvCxnSpPr>
        <p:spPr>
          <a:xfrm>
            <a:off x="3923712" y="3223490"/>
            <a:ext cx="1230194" cy="9975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Arrow Connector 234"/>
          <p:cNvCxnSpPr/>
          <p:nvPr/>
        </p:nvCxnSpPr>
        <p:spPr>
          <a:xfrm>
            <a:off x="5356174" y="3223490"/>
            <a:ext cx="1627962" cy="9975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/>
          <p:cNvCxnSpPr/>
          <p:nvPr/>
        </p:nvCxnSpPr>
        <p:spPr>
          <a:xfrm flipH="1">
            <a:off x="7038095" y="3223490"/>
            <a:ext cx="2778282" cy="997599"/>
          </a:xfrm>
          <a:prstGeom prst="straightConnector1">
            <a:avLst/>
          </a:prstGeom>
          <a:ln w="63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Arrow Connector 236"/>
          <p:cNvCxnSpPr/>
          <p:nvPr/>
        </p:nvCxnSpPr>
        <p:spPr>
          <a:xfrm flipH="1">
            <a:off x="5195873" y="3223490"/>
            <a:ext cx="3120329" cy="9975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TextBox 237"/>
          <p:cNvSpPr txBox="1"/>
          <p:nvPr/>
        </p:nvSpPr>
        <p:spPr>
          <a:xfrm>
            <a:off x="3508314" y="27231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1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032314" y="27231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2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8004114" y="26064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9451914" y="26064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4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2212914" y="21235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5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3697878" y="21235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6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5182842" y="21235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7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6667806" y="21235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8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8152770" y="21235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9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9637736" y="212356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10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5015880" y="4067780"/>
            <a:ext cx="428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11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6675512" y="405611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12</a:t>
            </a:r>
          </a:p>
        </p:txBody>
      </p:sp>
      <p:sp>
        <p:nvSpPr>
          <p:cNvPr id="714" name="TextBox 713"/>
          <p:cNvSpPr txBox="1"/>
          <p:nvPr/>
        </p:nvSpPr>
        <p:spPr>
          <a:xfrm>
            <a:off x="6463172" y="9820401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694" name="TextBox 693"/>
          <p:cNvSpPr txBox="1">
            <a:spLocks/>
          </p:cNvSpPr>
          <p:nvPr/>
        </p:nvSpPr>
        <p:spPr>
          <a:xfrm>
            <a:off x="3299680" y="674132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696" name="TextBox 695"/>
          <p:cNvSpPr txBox="1">
            <a:spLocks/>
          </p:cNvSpPr>
          <p:nvPr/>
        </p:nvSpPr>
        <p:spPr>
          <a:xfrm>
            <a:off x="4043744" y="674132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698" name="TextBox 697"/>
          <p:cNvSpPr txBox="1">
            <a:spLocks/>
          </p:cNvSpPr>
          <p:nvPr/>
        </p:nvSpPr>
        <p:spPr>
          <a:xfrm>
            <a:off x="3671712" y="674132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727" name="TextBox 726"/>
          <p:cNvSpPr txBox="1">
            <a:spLocks/>
          </p:cNvSpPr>
          <p:nvPr/>
        </p:nvSpPr>
        <p:spPr>
          <a:xfrm>
            <a:off x="2927648" y="674132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768" name="TextBox 767"/>
          <p:cNvSpPr txBox="1">
            <a:spLocks/>
          </p:cNvSpPr>
          <p:nvPr/>
        </p:nvSpPr>
        <p:spPr>
          <a:xfrm>
            <a:off x="3299680" y="948782"/>
            <a:ext cx="252000" cy="252000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769" name="TextBox 768"/>
          <p:cNvSpPr txBox="1">
            <a:spLocks/>
          </p:cNvSpPr>
          <p:nvPr/>
        </p:nvSpPr>
        <p:spPr>
          <a:xfrm>
            <a:off x="4043744" y="948782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770" name="TextBox 769"/>
          <p:cNvSpPr txBox="1">
            <a:spLocks/>
          </p:cNvSpPr>
          <p:nvPr/>
        </p:nvSpPr>
        <p:spPr>
          <a:xfrm>
            <a:off x="3671712" y="948782"/>
            <a:ext cx="252000" cy="252000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771" name="TextBox 770"/>
          <p:cNvSpPr txBox="1">
            <a:spLocks/>
          </p:cNvSpPr>
          <p:nvPr/>
        </p:nvSpPr>
        <p:spPr>
          <a:xfrm>
            <a:off x="2927648" y="948782"/>
            <a:ext cx="252000" cy="252000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774" name="Straight Connector 773"/>
          <p:cNvCxnSpPr>
            <a:stCxn id="769" idx="1"/>
            <a:endCxn id="770" idx="3"/>
          </p:cNvCxnSpPr>
          <p:nvPr/>
        </p:nvCxnSpPr>
        <p:spPr>
          <a:xfrm flipH="1">
            <a:off x="3923712" y="107478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6" name="TextBox 785"/>
          <p:cNvSpPr txBox="1">
            <a:spLocks/>
          </p:cNvSpPr>
          <p:nvPr/>
        </p:nvSpPr>
        <p:spPr>
          <a:xfrm>
            <a:off x="4883856" y="670102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787" name="TextBox 786"/>
          <p:cNvSpPr txBox="1">
            <a:spLocks/>
          </p:cNvSpPr>
          <p:nvPr/>
        </p:nvSpPr>
        <p:spPr>
          <a:xfrm>
            <a:off x="5627920" y="670102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788" name="TextBox 787"/>
          <p:cNvSpPr txBox="1">
            <a:spLocks/>
          </p:cNvSpPr>
          <p:nvPr/>
        </p:nvSpPr>
        <p:spPr>
          <a:xfrm>
            <a:off x="5255888" y="670102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789" name="TextBox 788"/>
          <p:cNvSpPr txBox="1">
            <a:spLocks/>
          </p:cNvSpPr>
          <p:nvPr/>
        </p:nvSpPr>
        <p:spPr>
          <a:xfrm>
            <a:off x="4511824" y="670102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790" name="Straight Connector 789"/>
          <p:cNvCxnSpPr>
            <a:endCxn id="786" idx="1"/>
          </p:cNvCxnSpPr>
          <p:nvPr/>
        </p:nvCxnSpPr>
        <p:spPr>
          <a:xfrm>
            <a:off x="4763824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1" name="Straight Connector 790"/>
          <p:cNvCxnSpPr>
            <a:stCxn id="786" idx="3"/>
            <a:endCxn id="788" idx="1"/>
          </p:cNvCxnSpPr>
          <p:nvPr/>
        </p:nvCxnSpPr>
        <p:spPr>
          <a:xfrm>
            <a:off x="5135856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2" name="Straight Connector 791"/>
          <p:cNvCxnSpPr>
            <a:stCxn id="787" idx="1"/>
            <a:endCxn id="788" idx="3"/>
          </p:cNvCxnSpPr>
          <p:nvPr/>
        </p:nvCxnSpPr>
        <p:spPr>
          <a:xfrm flipH="1">
            <a:off x="5507888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9" name="TextBox 778"/>
          <p:cNvSpPr txBox="1">
            <a:spLocks/>
          </p:cNvSpPr>
          <p:nvPr/>
        </p:nvSpPr>
        <p:spPr>
          <a:xfrm>
            <a:off x="4883856" y="944752"/>
            <a:ext cx="252000" cy="25200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780" name="TextBox 779"/>
          <p:cNvSpPr txBox="1">
            <a:spLocks/>
          </p:cNvSpPr>
          <p:nvPr/>
        </p:nvSpPr>
        <p:spPr>
          <a:xfrm>
            <a:off x="5627920" y="944752"/>
            <a:ext cx="252000" cy="25200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781" name="TextBox 780"/>
          <p:cNvSpPr txBox="1">
            <a:spLocks/>
          </p:cNvSpPr>
          <p:nvPr/>
        </p:nvSpPr>
        <p:spPr>
          <a:xfrm>
            <a:off x="5255888" y="944752"/>
            <a:ext cx="252000" cy="25200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782" name="TextBox 781"/>
          <p:cNvSpPr txBox="1">
            <a:spLocks/>
          </p:cNvSpPr>
          <p:nvPr/>
        </p:nvSpPr>
        <p:spPr>
          <a:xfrm>
            <a:off x="4511824" y="944752"/>
            <a:ext cx="252000" cy="25200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783" name="Straight Connector 782"/>
          <p:cNvCxnSpPr>
            <a:endCxn id="779" idx="1"/>
          </p:cNvCxnSpPr>
          <p:nvPr/>
        </p:nvCxnSpPr>
        <p:spPr>
          <a:xfrm>
            <a:off x="4763824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4" name="Straight Connector 783"/>
          <p:cNvCxnSpPr>
            <a:stCxn id="779" idx="3"/>
            <a:endCxn id="781" idx="1"/>
          </p:cNvCxnSpPr>
          <p:nvPr/>
        </p:nvCxnSpPr>
        <p:spPr>
          <a:xfrm>
            <a:off x="5135856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5" name="Straight Connector 784"/>
          <p:cNvCxnSpPr>
            <a:stCxn id="780" idx="1"/>
            <a:endCxn id="781" idx="3"/>
          </p:cNvCxnSpPr>
          <p:nvPr/>
        </p:nvCxnSpPr>
        <p:spPr>
          <a:xfrm flipH="1">
            <a:off x="5507888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3" name="TextBox 802"/>
          <p:cNvSpPr txBox="1">
            <a:spLocks/>
          </p:cNvSpPr>
          <p:nvPr/>
        </p:nvSpPr>
        <p:spPr>
          <a:xfrm>
            <a:off x="7692168" y="670102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04" name="TextBox 803"/>
          <p:cNvSpPr txBox="1">
            <a:spLocks/>
          </p:cNvSpPr>
          <p:nvPr/>
        </p:nvSpPr>
        <p:spPr>
          <a:xfrm>
            <a:off x="8436232" y="670102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05" name="TextBox 804"/>
          <p:cNvSpPr txBox="1">
            <a:spLocks/>
          </p:cNvSpPr>
          <p:nvPr/>
        </p:nvSpPr>
        <p:spPr>
          <a:xfrm>
            <a:off x="8064200" y="670102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806" name="TextBox 805"/>
          <p:cNvSpPr txBox="1">
            <a:spLocks/>
          </p:cNvSpPr>
          <p:nvPr/>
        </p:nvSpPr>
        <p:spPr>
          <a:xfrm>
            <a:off x="7320136" y="670102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807" name="Straight Connector 806"/>
          <p:cNvCxnSpPr>
            <a:endCxn id="803" idx="1"/>
          </p:cNvCxnSpPr>
          <p:nvPr/>
        </p:nvCxnSpPr>
        <p:spPr>
          <a:xfrm>
            <a:off x="7572136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807"/>
          <p:cNvCxnSpPr>
            <a:stCxn id="803" idx="3"/>
            <a:endCxn id="805" idx="1"/>
          </p:cNvCxnSpPr>
          <p:nvPr/>
        </p:nvCxnSpPr>
        <p:spPr>
          <a:xfrm>
            <a:off x="7944168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9" name="Straight Connector 808"/>
          <p:cNvCxnSpPr>
            <a:stCxn id="804" idx="1"/>
            <a:endCxn id="805" idx="3"/>
          </p:cNvCxnSpPr>
          <p:nvPr/>
        </p:nvCxnSpPr>
        <p:spPr>
          <a:xfrm flipH="1">
            <a:off x="8316200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6" name="TextBox 795"/>
          <p:cNvSpPr txBox="1">
            <a:spLocks/>
          </p:cNvSpPr>
          <p:nvPr/>
        </p:nvSpPr>
        <p:spPr>
          <a:xfrm>
            <a:off x="7692168" y="944752"/>
            <a:ext cx="252000" cy="252000"/>
          </a:xfrm>
          <a:prstGeom prst="rect">
            <a:avLst/>
          </a:prstGeom>
          <a:noFill/>
          <a:ln w="19050">
            <a:solidFill>
              <a:srgbClr val="008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797" name="TextBox 796"/>
          <p:cNvSpPr txBox="1">
            <a:spLocks/>
          </p:cNvSpPr>
          <p:nvPr/>
        </p:nvSpPr>
        <p:spPr>
          <a:xfrm>
            <a:off x="8436232" y="944752"/>
            <a:ext cx="252000" cy="252000"/>
          </a:xfrm>
          <a:prstGeom prst="rect">
            <a:avLst/>
          </a:prstGeom>
          <a:noFill/>
          <a:ln w="19050">
            <a:solidFill>
              <a:srgbClr val="008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798" name="TextBox 797"/>
          <p:cNvSpPr txBox="1">
            <a:spLocks/>
          </p:cNvSpPr>
          <p:nvPr/>
        </p:nvSpPr>
        <p:spPr>
          <a:xfrm>
            <a:off x="8064200" y="944752"/>
            <a:ext cx="252000" cy="252000"/>
          </a:xfrm>
          <a:prstGeom prst="rect">
            <a:avLst/>
          </a:prstGeom>
          <a:noFill/>
          <a:ln w="19050">
            <a:solidFill>
              <a:srgbClr val="008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799" name="TextBox 798"/>
          <p:cNvSpPr txBox="1">
            <a:spLocks/>
          </p:cNvSpPr>
          <p:nvPr/>
        </p:nvSpPr>
        <p:spPr>
          <a:xfrm>
            <a:off x="7320136" y="944752"/>
            <a:ext cx="252000" cy="252000"/>
          </a:xfrm>
          <a:prstGeom prst="rect">
            <a:avLst/>
          </a:prstGeom>
          <a:noFill/>
          <a:ln w="19050">
            <a:solidFill>
              <a:srgbClr val="008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800" name="Straight Connector 799"/>
          <p:cNvCxnSpPr>
            <a:endCxn id="796" idx="1"/>
          </p:cNvCxnSpPr>
          <p:nvPr/>
        </p:nvCxnSpPr>
        <p:spPr>
          <a:xfrm>
            <a:off x="7572136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1" name="Straight Connector 800"/>
          <p:cNvCxnSpPr>
            <a:stCxn id="796" idx="3"/>
            <a:endCxn id="798" idx="1"/>
          </p:cNvCxnSpPr>
          <p:nvPr/>
        </p:nvCxnSpPr>
        <p:spPr>
          <a:xfrm>
            <a:off x="7944168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2" name="Straight Connector 801"/>
          <p:cNvCxnSpPr>
            <a:stCxn id="797" idx="1"/>
            <a:endCxn id="798" idx="3"/>
          </p:cNvCxnSpPr>
          <p:nvPr/>
        </p:nvCxnSpPr>
        <p:spPr>
          <a:xfrm flipH="1">
            <a:off x="8316200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0" name="TextBox 819"/>
          <p:cNvSpPr txBox="1">
            <a:spLocks/>
          </p:cNvSpPr>
          <p:nvPr/>
        </p:nvSpPr>
        <p:spPr>
          <a:xfrm>
            <a:off x="9276344" y="670102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21" name="TextBox 820"/>
          <p:cNvSpPr txBox="1">
            <a:spLocks/>
          </p:cNvSpPr>
          <p:nvPr/>
        </p:nvSpPr>
        <p:spPr>
          <a:xfrm>
            <a:off x="10020408" y="670102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22" name="TextBox 821"/>
          <p:cNvSpPr txBox="1">
            <a:spLocks/>
          </p:cNvSpPr>
          <p:nvPr/>
        </p:nvSpPr>
        <p:spPr>
          <a:xfrm>
            <a:off x="9648376" y="670102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23" name="TextBox 822"/>
          <p:cNvSpPr txBox="1">
            <a:spLocks/>
          </p:cNvSpPr>
          <p:nvPr/>
        </p:nvSpPr>
        <p:spPr>
          <a:xfrm>
            <a:off x="8904312" y="670102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824" name="Straight Connector 823"/>
          <p:cNvCxnSpPr>
            <a:endCxn id="820" idx="1"/>
          </p:cNvCxnSpPr>
          <p:nvPr/>
        </p:nvCxnSpPr>
        <p:spPr>
          <a:xfrm>
            <a:off x="9156312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824"/>
          <p:cNvCxnSpPr>
            <a:stCxn id="820" idx="3"/>
            <a:endCxn id="822" idx="1"/>
          </p:cNvCxnSpPr>
          <p:nvPr/>
        </p:nvCxnSpPr>
        <p:spPr>
          <a:xfrm>
            <a:off x="9528344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6" name="Straight Connector 825"/>
          <p:cNvCxnSpPr>
            <a:stCxn id="821" idx="1"/>
            <a:endCxn id="822" idx="3"/>
          </p:cNvCxnSpPr>
          <p:nvPr/>
        </p:nvCxnSpPr>
        <p:spPr>
          <a:xfrm flipH="1">
            <a:off x="9900376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3" name="TextBox 812"/>
          <p:cNvSpPr txBox="1">
            <a:spLocks/>
          </p:cNvSpPr>
          <p:nvPr/>
        </p:nvSpPr>
        <p:spPr>
          <a:xfrm>
            <a:off x="9276344" y="944752"/>
            <a:ext cx="252000" cy="25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14" name="TextBox 813"/>
          <p:cNvSpPr txBox="1">
            <a:spLocks/>
          </p:cNvSpPr>
          <p:nvPr/>
        </p:nvSpPr>
        <p:spPr>
          <a:xfrm>
            <a:off x="10020408" y="944752"/>
            <a:ext cx="252000" cy="25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15" name="TextBox 814"/>
          <p:cNvSpPr txBox="1">
            <a:spLocks/>
          </p:cNvSpPr>
          <p:nvPr/>
        </p:nvSpPr>
        <p:spPr>
          <a:xfrm>
            <a:off x="9648376" y="944752"/>
            <a:ext cx="252000" cy="25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16" name="TextBox 815"/>
          <p:cNvSpPr txBox="1">
            <a:spLocks/>
          </p:cNvSpPr>
          <p:nvPr/>
        </p:nvSpPr>
        <p:spPr>
          <a:xfrm>
            <a:off x="8904312" y="944752"/>
            <a:ext cx="252000" cy="25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817" name="Straight Connector 816"/>
          <p:cNvCxnSpPr>
            <a:endCxn id="813" idx="1"/>
          </p:cNvCxnSpPr>
          <p:nvPr/>
        </p:nvCxnSpPr>
        <p:spPr>
          <a:xfrm>
            <a:off x="9156312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Connector 817"/>
          <p:cNvCxnSpPr>
            <a:stCxn id="813" idx="3"/>
            <a:endCxn id="815" idx="1"/>
          </p:cNvCxnSpPr>
          <p:nvPr/>
        </p:nvCxnSpPr>
        <p:spPr>
          <a:xfrm>
            <a:off x="9528344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818"/>
          <p:cNvCxnSpPr>
            <a:stCxn id="814" idx="1"/>
            <a:endCxn id="815" idx="3"/>
          </p:cNvCxnSpPr>
          <p:nvPr/>
        </p:nvCxnSpPr>
        <p:spPr>
          <a:xfrm flipH="1">
            <a:off x="9900376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7" name="TextBox 836"/>
          <p:cNvSpPr txBox="1">
            <a:spLocks/>
          </p:cNvSpPr>
          <p:nvPr/>
        </p:nvSpPr>
        <p:spPr>
          <a:xfrm>
            <a:off x="2003592" y="2558930"/>
            <a:ext cx="252000" cy="252000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38" name="TextBox 837"/>
          <p:cNvSpPr txBox="1">
            <a:spLocks/>
          </p:cNvSpPr>
          <p:nvPr/>
        </p:nvSpPr>
        <p:spPr>
          <a:xfrm>
            <a:off x="2747656" y="2558930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39" name="TextBox 838"/>
          <p:cNvSpPr txBox="1">
            <a:spLocks/>
          </p:cNvSpPr>
          <p:nvPr/>
        </p:nvSpPr>
        <p:spPr>
          <a:xfrm>
            <a:off x="2375624" y="2558930"/>
            <a:ext cx="252000" cy="252000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40" name="TextBox 839"/>
          <p:cNvSpPr txBox="1">
            <a:spLocks/>
          </p:cNvSpPr>
          <p:nvPr/>
        </p:nvSpPr>
        <p:spPr>
          <a:xfrm>
            <a:off x="1631560" y="2558930"/>
            <a:ext cx="252000" cy="252000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841" name="Straight Connector 840"/>
          <p:cNvCxnSpPr>
            <a:endCxn id="837" idx="1"/>
          </p:cNvCxnSpPr>
          <p:nvPr/>
        </p:nvCxnSpPr>
        <p:spPr>
          <a:xfrm>
            <a:off x="1883560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Straight Connector 841"/>
          <p:cNvCxnSpPr>
            <a:stCxn id="837" idx="3"/>
            <a:endCxn id="839" idx="1"/>
          </p:cNvCxnSpPr>
          <p:nvPr/>
        </p:nvCxnSpPr>
        <p:spPr>
          <a:xfrm>
            <a:off x="2255592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3" name="Straight Connector 842"/>
          <p:cNvCxnSpPr>
            <a:stCxn id="838" idx="1"/>
            <a:endCxn id="839" idx="3"/>
          </p:cNvCxnSpPr>
          <p:nvPr/>
        </p:nvCxnSpPr>
        <p:spPr>
          <a:xfrm flipH="1">
            <a:off x="2627624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0" name="TextBox 829"/>
          <p:cNvSpPr txBox="1">
            <a:spLocks/>
          </p:cNvSpPr>
          <p:nvPr/>
        </p:nvSpPr>
        <p:spPr>
          <a:xfrm>
            <a:off x="2003592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31" name="TextBox 830"/>
          <p:cNvSpPr txBox="1">
            <a:spLocks/>
          </p:cNvSpPr>
          <p:nvPr/>
        </p:nvSpPr>
        <p:spPr>
          <a:xfrm>
            <a:off x="2747656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832" name="TextBox 831"/>
          <p:cNvSpPr txBox="1">
            <a:spLocks/>
          </p:cNvSpPr>
          <p:nvPr/>
        </p:nvSpPr>
        <p:spPr>
          <a:xfrm>
            <a:off x="2375624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33" name="TextBox 832"/>
          <p:cNvSpPr txBox="1">
            <a:spLocks/>
          </p:cNvSpPr>
          <p:nvPr/>
        </p:nvSpPr>
        <p:spPr>
          <a:xfrm>
            <a:off x="1631560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834" name="Straight Connector 833"/>
          <p:cNvCxnSpPr>
            <a:endCxn id="830" idx="1"/>
          </p:cNvCxnSpPr>
          <p:nvPr/>
        </p:nvCxnSpPr>
        <p:spPr>
          <a:xfrm>
            <a:off x="1883560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5" name="Straight Connector 834"/>
          <p:cNvCxnSpPr>
            <a:stCxn id="830" idx="3"/>
            <a:endCxn id="832" idx="1"/>
          </p:cNvCxnSpPr>
          <p:nvPr/>
        </p:nvCxnSpPr>
        <p:spPr>
          <a:xfrm>
            <a:off x="2255592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6" name="Straight Connector 835"/>
          <p:cNvCxnSpPr>
            <a:stCxn id="831" idx="1"/>
            <a:endCxn id="832" idx="3"/>
          </p:cNvCxnSpPr>
          <p:nvPr/>
        </p:nvCxnSpPr>
        <p:spPr>
          <a:xfrm flipH="1">
            <a:off x="2627624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4" name="TextBox 853"/>
          <p:cNvSpPr txBox="1">
            <a:spLocks/>
          </p:cNvSpPr>
          <p:nvPr/>
        </p:nvSpPr>
        <p:spPr>
          <a:xfrm>
            <a:off x="3515749" y="2558930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55" name="TextBox 854"/>
          <p:cNvSpPr txBox="1">
            <a:spLocks/>
          </p:cNvSpPr>
          <p:nvPr/>
        </p:nvSpPr>
        <p:spPr>
          <a:xfrm>
            <a:off x="4259813" y="2558930"/>
            <a:ext cx="252000" cy="252000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56" name="TextBox 855"/>
          <p:cNvSpPr txBox="1">
            <a:spLocks/>
          </p:cNvSpPr>
          <p:nvPr/>
        </p:nvSpPr>
        <p:spPr>
          <a:xfrm>
            <a:off x="3887781" y="2558930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57" name="TextBox 856"/>
          <p:cNvSpPr txBox="1">
            <a:spLocks/>
          </p:cNvSpPr>
          <p:nvPr/>
        </p:nvSpPr>
        <p:spPr>
          <a:xfrm>
            <a:off x="3143717" y="2558930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858" name="Straight Connector 857"/>
          <p:cNvCxnSpPr>
            <a:endCxn id="854" idx="1"/>
          </p:cNvCxnSpPr>
          <p:nvPr/>
        </p:nvCxnSpPr>
        <p:spPr>
          <a:xfrm>
            <a:off x="3395717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9" name="Straight Connector 858"/>
          <p:cNvCxnSpPr>
            <a:stCxn id="854" idx="3"/>
            <a:endCxn id="856" idx="1"/>
          </p:cNvCxnSpPr>
          <p:nvPr/>
        </p:nvCxnSpPr>
        <p:spPr>
          <a:xfrm>
            <a:off x="3767749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0" name="Straight Connector 859"/>
          <p:cNvCxnSpPr>
            <a:stCxn id="855" idx="1"/>
            <a:endCxn id="856" idx="3"/>
          </p:cNvCxnSpPr>
          <p:nvPr/>
        </p:nvCxnSpPr>
        <p:spPr>
          <a:xfrm flipH="1">
            <a:off x="4139781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7" name="TextBox 846"/>
          <p:cNvSpPr txBox="1">
            <a:spLocks/>
          </p:cNvSpPr>
          <p:nvPr/>
        </p:nvSpPr>
        <p:spPr>
          <a:xfrm>
            <a:off x="3515749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48" name="TextBox 847"/>
          <p:cNvSpPr txBox="1">
            <a:spLocks/>
          </p:cNvSpPr>
          <p:nvPr/>
        </p:nvSpPr>
        <p:spPr>
          <a:xfrm>
            <a:off x="4259813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849" name="TextBox 848"/>
          <p:cNvSpPr txBox="1">
            <a:spLocks/>
          </p:cNvSpPr>
          <p:nvPr/>
        </p:nvSpPr>
        <p:spPr>
          <a:xfrm>
            <a:off x="3887781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50" name="TextBox 849"/>
          <p:cNvSpPr txBox="1">
            <a:spLocks/>
          </p:cNvSpPr>
          <p:nvPr/>
        </p:nvSpPr>
        <p:spPr>
          <a:xfrm>
            <a:off x="3143717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851" name="Straight Connector 850"/>
          <p:cNvCxnSpPr>
            <a:endCxn id="847" idx="1"/>
          </p:cNvCxnSpPr>
          <p:nvPr/>
        </p:nvCxnSpPr>
        <p:spPr>
          <a:xfrm>
            <a:off x="3395717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2" name="Straight Connector 851"/>
          <p:cNvCxnSpPr>
            <a:stCxn id="847" idx="3"/>
            <a:endCxn id="849" idx="1"/>
          </p:cNvCxnSpPr>
          <p:nvPr/>
        </p:nvCxnSpPr>
        <p:spPr>
          <a:xfrm>
            <a:off x="3767749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3" name="Straight Connector 852"/>
          <p:cNvCxnSpPr>
            <a:stCxn id="848" idx="1"/>
            <a:endCxn id="849" idx="3"/>
          </p:cNvCxnSpPr>
          <p:nvPr/>
        </p:nvCxnSpPr>
        <p:spPr>
          <a:xfrm flipH="1">
            <a:off x="4139781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1" name="TextBox 870"/>
          <p:cNvSpPr txBox="1">
            <a:spLocks/>
          </p:cNvSpPr>
          <p:nvPr/>
        </p:nvSpPr>
        <p:spPr>
          <a:xfrm>
            <a:off x="5027906" y="255893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72" name="TextBox 871"/>
          <p:cNvSpPr txBox="1">
            <a:spLocks/>
          </p:cNvSpPr>
          <p:nvPr/>
        </p:nvSpPr>
        <p:spPr>
          <a:xfrm>
            <a:off x="5771970" y="255893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73" name="TextBox 872"/>
          <p:cNvSpPr txBox="1">
            <a:spLocks/>
          </p:cNvSpPr>
          <p:nvPr/>
        </p:nvSpPr>
        <p:spPr>
          <a:xfrm>
            <a:off x="5399938" y="255893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74" name="TextBox 873"/>
          <p:cNvSpPr txBox="1">
            <a:spLocks/>
          </p:cNvSpPr>
          <p:nvPr/>
        </p:nvSpPr>
        <p:spPr>
          <a:xfrm>
            <a:off x="4655874" y="2558930"/>
            <a:ext cx="252000" cy="252000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875" name="Straight Connector 874"/>
          <p:cNvCxnSpPr>
            <a:endCxn id="871" idx="1"/>
          </p:cNvCxnSpPr>
          <p:nvPr/>
        </p:nvCxnSpPr>
        <p:spPr>
          <a:xfrm>
            <a:off x="4907874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6" name="Straight Connector 875"/>
          <p:cNvCxnSpPr>
            <a:stCxn id="871" idx="3"/>
            <a:endCxn id="873" idx="1"/>
          </p:cNvCxnSpPr>
          <p:nvPr/>
        </p:nvCxnSpPr>
        <p:spPr>
          <a:xfrm>
            <a:off x="5279906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7" name="Straight Connector 876"/>
          <p:cNvCxnSpPr>
            <a:stCxn id="872" idx="1"/>
            <a:endCxn id="873" idx="3"/>
          </p:cNvCxnSpPr>
          <p:nvPr/>
        </p:nvCxnSpPr>
        <p:spPr>
          <a:xfrm flipH="1">
            <a:off x="5651938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4" name="TextBox 863"/>
          <p:cNvSpPr txBox="1">
            <a:spLocks/>
          </p:cNvSpPr>
          <p:nvPr/>
        </p:nvSpPr>
        <p:spPr>
          <a:xfrm>
            <a:off x="5027906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65" name="TextBox 864"/>
          <p:cNvSpPr txBox="1">
            <a:spLocks/>
          </p:cNvSpPr>
          <p:nvPr/>
        </p:nvSpPr>
        <p:spPr>
          <a:xfrm>
            <a:off x="5771970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866" name="TextBox 865"/>
          <p:cNvSpPr txBox="1">
            <a:spLocks/>
          </p:cNvSpPr>
          <p:nvPr/>
        </p:nvSpPr>
        <p:spPr>
          <a:xfrm>
            <a:off x="5399938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67" name="TextBox 866"/>
          <p:cNvSpPr txBox="1">
            <a:spLocks/>
          </p:cNvSpPr>
          <p:nvPr/>
        </p:nvSpPr>
        <p:spPr>
          <a:xfrm>
            <a:off x="4655874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868" name="Straight Connector 867"/>
          <p:cNvCxnSpPr>
            <a:endCxn id="864" idx="1"/>
          </p:cNvCxnSpPr>
          <p:nvPr/>
        </p:nvCxnSpPr>
        <p:spPr>
          <a:xfrm>
            <a:off x="4907874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9" name="Straight Connector 868"/>
          <p:cNvCxnSpPr>
            <a:stCxn id="864" idx="3"/>
            <a:endCxn id="866" idx="1"/>
          </p:cNvCxnSpPr>
          <p:nvPr/>
        </p:nvCxnSpPr>
        <p:spPr>
          <a:xfrm>
            <a:off x="5279906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0" name="Straight Connector 869"/>
          <p:cNvCxnSpPr>
            <a:stCxn id="865" idx="1"/>
            <a:endCxn id="866" idx="3"/>
          </p:cNvCxnSpPr>
          <p:nvPr/>
        </p:nvCxnSpPr>
        <p:spPr>
          <a:xfrm flipH="1">
            <a:off x="5651938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8" name="TextBox 887"/>
          <p:cNvSpPr txBox="1">
            <a:spLocks/>
          </p:cNvSpPr>
          <p:nvPr/>
        </p:nvSpPr>
        <p:spPr>
          <a:xfrm>
            <a:off x="6540063" y="255893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89" name="TextBox 888"/>
          <p:cNvSpPr txBox="1">
            <a:spLocks/>
          </p:cNvSpPr>
          <p:nvPr/>
        </p:nvSpPr>
        <p:spPr>
          <a:xfrm>
            <a:off x="7284127" y="255893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90" name="TextBox 889"/>
          <p:cNvSpPr txBox="1">
            <a:spLocks/>
          </p:cNvSpPr>
          <p:nvPr/>
        </p:nvSpPr>
        <p:spPr>
          <a:xfrm>
            <a:off x="6912095" y="255893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91" name="TextBox 890"/>
          <p:cNvSpPr txBox="1">
            <a:spLocks/>
          </p:cNvSpPr>
          <p:nvPr/>
        </p:nvSpPr>
        <p:spPr>
          <a:xfrm>
            <a:off x="6168031" y="255893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892" name="Straight Connector 891"/>
          <p:cNvCxnSpPr>
            <a:endCxn id="888" idx="1"/>
          </p:cNvCxnSpPr>
          <p:nvPr/>
        </p:nvCxnSpPr>
        <p:spPr>
          <a:xfrm>
            <a:off x="6420031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3" name="Straight Connector 892"/>
          <p:cNvCxnSpPr>
            <a:stCxn id="888" idx="3"/>
            <a:endCxn id="890" idx="1"/>
          </p:cNvCxnSpPr>
          <p:nvPr/>
        </p:nvCxnSpPr>
        <p:spPr>
          <a:xfrm>
            <a:off x="6792063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4" name="Straight Connector 893"/>
          <p:cNvCxnSpPr>
            <a:stCxn id="889" idx="1"/>
            <a:endCxn id="890" idx="3"/>
          </p:cNvCxnSpPr>
          <p:nvPr/>
        </p:nvCxnSpPr>
        <p:spPr>
          <a:xfrm flipH="1">
            <a:off x="7164095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1" name="TextBox 880"/>
          <p:cNvSpPr txBox="1">
            <a:spLocks/>
          </p:cNvSpPr>
          <p:nvPr/>
        </p:nvSpPr>
        <p:spPr>
          <a:xfrm>
            <a:off x="6540063" y="2833580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82" name="TextBox 881"/>
          <p:cNvSpPr txBox="1">
            <a:spLocks/>
          </p:cNvSpPr>
          <p:nvPr/>
        </p:nvSpPr>
        <p:spPr>
          <a:xfrm>
            <a:off x="7284127" y="2833580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83" name="TextBox 882"/>
          <p:cNvSpPr txBox="1">
            <a:spLocks/>
          </p:cNvSpPr>
          <p:nvPr/>
        </p:nvSpPr>
        <p:spPr>
          <a:xfrm>
            <a:off x="6912095" y="2833580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884" name="TextBox 883"/>
          <p:cNvSpPr txBox="1">
            <a:spLocks/>
          </p:cNvSpPr>
          <p:nvPr/>
        </p:nvSpPr>
        <p:spPr>
          <a:xfrm>
            <a:off x="6168031" y="2833580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885" name="Straight Connector 884"/>
          <p:cNvCxnSpPr>
            <a:endCxn id="881" idx="1"/>
          </p:cNvCxnSpPr>
          <p:nvPr/>
        </p:nvCxnSpPr>
        <p:spPr>
          <a:xfrm>
            <a:off x="6420031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6" name="Straight Connector 885"/>
          <p:cNvCxnSpPr>
            <a:stCxn id="881" idx="3"/>
            <a:endCxn id="883" idx="1"/>
          </p:cNvCxnSpPr>
          <p:nvPr/>
        </p:nvCxnSpPr>
        <p:spPr>
          <a:xfrm>
            <a:off x="6792063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7" name="Straight Connector 886"/>
          <p:cNvCxnSpPr>
            <a:stCxn id="882" idx="1"/>
            <a:endCxn id="883" idx="3"/>
          </p:cNvCxnSpPr>
          <p:nvPr/>
        </p:nvCxnSpPr>
        <p:spPr>
          <a:xfrm flipH="1">
            <a:off x="7164095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9" name="TextBox 938"/>
          <p:cNvSpPr txBox="1">
            <a:spLocks/>
          </p:cNvSpPr>
          <p:nvPr/>
        </p:nvSpPr>
        <p:spPr>
          <a:xfrm>
            <a:off x="8052220" y="2558930"/>
            <a:ext cx="252000" cy="2520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40" name="TextBox 939"/>
          <p:cNvSpPr txBox="1">
            <a:spLocks/>
          </p:cNvSpPr>
          <p:nvPr/>
        </p:nvSpPr>
        <p:spPr>
          <a:xfrm>
            <a:off x="8796284" y="2558930"/>
            <a:ext cx="252000" cy="2520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41" name="TextBox 940"/>
          <p:cNvSpPr txBox="1">
            <a:spLocks/>
          </p:cNvSpPr>
          <p:nvPr/>
        </p:nvSpPr>
        <p:spPr>
          <a:xfrm>
            <a:off x="8424252" y="2558930"/>
            <a:ext cx="252000" cy="2520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942" name="TextBox 941"/>
          <p:cNvSpPr txBox="1">
            <a:spLocks/>
          </p:cNvSpPr>
          <p:nvPr/>
        </p:nvSpPr>
        <p:spPr>
          <a:xfrm>
            <a:off x="7680188" y="2558930"/>
            <a:ext cx="252000" cy="2520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943" name="Straight Connector 942"/>
          <p:cNvCxnSpPr>
            <a:endCxn id="939" idx="1"/>
          </p:cNvCxnSpPr>
          <p:nvPr/>
        </p:nvCxnSpPr>
        <p:spPr>
          <a:xfrm>
            <a:off x="7932188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4" name="Straight Connector 943"/>
          <p:cNvCxnSpPr>
            <a:stCxn id="939" idx="3"/>
            <a:endCxn id="941" idx="1"/>
          </p:cNvCxnSpPr>
          <p:nvPr/>
        </p:nvCxnSpPr>
        <p:spPr>
          <a:xfrm>
            <a:off x="8304220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5" name="Straight Connector 944"/>
          <p:cNvCxnSpPr>
            <a:stCxn id="940" idx="1"/>
            <a:endCxn id="941" idx="3"/>
          </p:cNvCxnSpPr>
          <p:nvPr/>
        </p:nvCxnSpPr>
        <p:spPr>
          <a:xfrm flipH="1">
            <a:off x="8676252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2" name="TextBox 931"/>
          <p:cNvSpPr txBox="1">
            <a:spLocks/>
          </p:cNvSpPr>
          <p:nvPr/>
        </p:nvSpPr>
        <p:spPr>
          <a:xfrm>
            <a:off x="8052220" y="2833580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33" name="TextBox 932"/>
          <p:cNvSpPr txBox="1">
            <a:spLocks/>
          </p:cNvSpPr>
          <p:nvPr/>
        </p:nvSpPr>
        <p:spPr>
          <a:xfrm>
            <a:off x="8796284" y="2833580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34" name="TextBox 933"/>
          <p:cNvSpPr txBox="1">
            <a:spLocks/>
          </p:cNvSpPr>
          <p:nvPr/>
        </p:nvSpPr>
        <p:spPr>
          <a:xfrm>
            <a:off x="8424252" y="2833580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35" name="TextBox 934"/>
          <p:cNvSpPr txBox="1">
            <a:spLocks/>
          </p:cNvSpPr>
          <p:nvPr/>
        </p:nvSpPr>
        <p:spPr>
          <a:xfrm>
            <a:off x="7680188" y="2833580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936" name="Straight Connector 935"/>
          <p:cNvCxnSpPr>
            <a:endCxn id="932" idx="1"/>
          </p:cNvCxnSpPr>
          <p:nvPr/>
        </p:nvCxnSpPr>
        <p:spPr>
          <a:xfrm>
            <a:off x="7932188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7" name="Straight Connector 936"/>
          <p:cNvCxnSpPr>
            <a:stCxn id="932" idx="3"/>
            <a:endCxn id="934" idx="1"/>
          </p:cNvCxnSpPr>
          <p:nvPr/>
        </p:nvCxnSpPr>
        <p:spPr>
          <a:xfrm>
            <a:off x="8304220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8" name="Straight Connector 937"/>
          <p:cNvCxnSpPr>
            <a:stCxn id="933" idx="1"/>
            <a:endCxn id="934" idx="3"/>
          </p:cNvCxnSpPr>
          <p:nvPr/>
        </p:nvCxnSpPr>
        <p:spPr>
          <a:xfrm flipH="1">
            <a:off x="8676252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6" name="TextBox 955"/>
          <p:cNvSpPr txBox="1">
            <a:spLocks/>
          </p:cNvSpPr>
          <p:nvPr/>
        </p:nvSpPr>
        <p:spPr>
          <a:xfrm>
            <a:off x="9564376" y="2558930"/>
            <a:ext cx="252000" cy="2520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57" name="TextBox 956"/>
          <p:cNvSpPr txBox="1">
            <a:spLocks/>
          </p:cNvSpPr>
          <p:nvPr/>
        </p:nvSpPr>
        <p:spPr>
          <a:xfrm>
            <a:off x="10308440" y="2558930"/>
            <a:ext cx="252000" cy="2520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58" name="TextBox 957"/>
          <p:cNvSpPr txBox="1">
            <a:spLocks/>
          </p:cNvSpPr>
          <p:nvPr/>
        </p:nvSpPr>
        <p:spPr>
          <a:xfrm>
            <a:off x="9936408" y="2558930"/>
            <a:ext cx="252000" cy="2520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959" name="TextBox 958"/>
          <p:cNvSpPr txBox="1">
            <a:spLocks/>
          </p:cNvSpPr>
          <p:nvPr/>
        </p:nvSpPr>
        <p:spPr>
          <a:xfrm>
            <a:off x="9192344" y="2558930"/>
            <a:ext cx="252000" cy="2520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960" name="Straight Connector 959"/>
          <p:cNvCxnSpPr>
            <a:endCxn id="956" idx="1"/>
          </p:cNvCxnSpPr>
          <p:nvPr/>
        </p:nvCxnSpPr>
        <p:spPr>
          <a:xfrm>
            <a:off x="9444344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1" name="Straight Connector 960"/>
          <p:cNvCxnSpPr>
            <a:stCxn id="956" idx="3"/>
            <a:endCxn id="958" idx="1"/>
          </p:cNvCxnSpPr>
          <p:nvPr/>
        </p:nvCxnSpPr>
        <p:spPr>
          <a:xfrm>
            <a:off x="9816376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2" name="Straight Connector 961"/>
          <p:cNvCxnSpPr>
            <a:stCxn id="957" idx="1"/>
            <a:endCxn id="958" idx="3"/>
          </p:cNvCxnSpPr>
          <p:nvPr/>
        </p:nvCxnSpPr>
        <p:spPr>
          <a:xfrm flipH="1">
            <a:off x="10188408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9" name="TextBox 948"/>
          <p:cNvSpPr txBox="1">
            <a:spLocks/>
          </p:cNvSpPr>
          <p:nvPr/>
        </p:nvSpPr>
        <p:spPr>
          <a:xfrm>
            <a:off x="9564376" y="2833580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50" name="TextBox 949"/>
          <p:cNvSpPr txBox="1">
            <a:spLocks/>
          </p:cNvSpPr>
          <p:nvPr/>
        </p:nvSpPr>
        <p:spPr>
          <a:xfrm>
            <a:off x="10308440" y="2833580"/>
            <a:ext cx="252000" cy="25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51" name="TextBox 950"/>
          <p:cNvSpPr txBox="1">
            <a:spLocks/>
          </p:cNvSpPr>
          <p:nvPr/>
        </p:nvSpPr>
        <p:spPr>
          <a:xfrm>
            <a:off x="9936408" y="2833580"/>
            <a:ext cx="252000" cy="25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52" name="TextBox 951"/>
          <p:cNvSpPr txBox="1">
            <a:spLocks/>
          </p:cNvSpPr>
          <p:nvPr/>
        </p:nvSpPr>
        <p:spPr>
          <a:xfrm>
            <a:off x="9192344" y="2833580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953" name="Straight Connector 952"/>
          <p:cNvCxnSpPr>
            <a:endCxn id="949" idx="1"/>
          </p:cNvCxnSpPr>
          <p:nvPr/>
        </p:nvCxnSpPr>
        <p:spPr>
          <a:xfrm>
            <a:off x="9444344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4" name="Straight Connector 953"/>
          <p:cNvCxnSpPr>
            <a:stCxn id="949" idx="3"/>
            <a:endCxn id="951" idx="1"/>
          </p:cNvCxnSpPr>
          <p:nvPr/>
        </p:nvCxnSpPr>
        <p:spPr>
          <a:xfrm>
            <a:off x="9816376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5" name="Straight Connector 954"/>
          <p:cNvCxnSpPr>
            <a:stCxn id="950" idx="1"/>
            <a:endCxn id="951" idx="3"/>
          </p:cNvCxnSpPr>
          <p:nvPr/>
        </p:nvCxnSpPr>
        <p:spPr>
          <a:xfrm flipH="1">
            <a:off x="10188408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3" name="TextBox 982"/>
          <p:cNvSpPr txBox="1">
            <a:spLocks/>
          </p:cNvSpPr>
          <p:nvPr/>
        </p:nvSpPr>
        <p:spPr>
          <a:xfrm>
            <a:off x="4883856" y="4486526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84" name="TextBox 983"/>
          <p:cNvSpPr txBox="1">
            <a:spLocks/>
          </p:cNvSpPr>
          <p:nvPr/>
        </p:nvSpPr>
        <p:spPr>
          <a:xfrm>
            <a:off x="5627920" y="4486526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85" name="TextBox 984"/>
          <p:cNvSpPr txBox="1">
            <a:spLocks/>
          </p:cNvSpPr>
          <p:nvPr/>
        </p:nvSpPr>
        <p:spPr>
          <a:xfrm>
            <a:off x="5255888" y="4486526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86" name="TextBox 985"/>
          <p:cNvSpPr txBox="1">
            <a:spLocks/>
          </p:cNvSpPr>
          <p:nvPr/>
        </p:nvSpPr>
        <p:spPr>
          <a:xfrm>
            <a:off x="4511824" y="4486526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987" name="Straight Connector 986"/>
          <p:cNvCxnSpPr>
            <a:endCxn id="983" idx="1"/>
          </p:cNvCxnSpPr>
          <p:nvPr/>
        </p:nvCxnSpPr>
        <p:spPr>
          <a:xfrm>
            <a:off x="4763824" y="461252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8" name="Straight Connector 987"/>
          <p:cNvCxnSpPr>
            <a:stCxn id="983" idx="3"/>
            <a:endCxn id="985" idx="1"/>
          </p:cNvCxnSpPr>
          <p:nvPr/>
        </p:nvCxnSpPr>
        <p:spPr>
          <a:xfrm>
            <a:off x="5135856" y="461252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9" name="Straight Connector 988"/>
          <p:cNvCxnSpPr>
            <a:stCxn id="984" idx="1"/>
            <a:endCxn id="985" idx="3"/>
          </p:cNvCxnSpPr>
          <p:nvPr/>
        </p:nvCxnSpPr>
        <p:spPr>
          <a:xfrm flipH="1">
            <a:off x="5507888" y="461252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6" name="TextBox 975"/>
          <p:cNvSpPr txBox="1">
            <a:spLocks/>
          </p:cNvSpPr>
          <p:nvPr/>
        </p:nvSpPr>
        <p:spPr>
          <a:xfrm>
            <a:off x="4883856" y="4761176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77" name="TextBox 976"/>
          <p:cNvSpPr txBox="1">
            <a:spLocks/>
          </p:cNvSpPr>
          <p:nvPr/>
        </p:nvSpPr>
        <p:spPr>
          <a:xfrm>
            <a:off x="5627920" y="4761176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78" name="TextBox 977"/>
          <p:cNvSpPr txBox="1">
            <a:spLocks/>
          </p:cNvSpPr>
          <p:nvPr/>
        </p:nvSpPr>
        <p:spPr>
          <a:xfrm>
            <a:off x="5255888" y="4761176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79" name="TextBox 978"/>
          <p:cNvSpPr txBox="1">
            <a:spLocks/>
          </p:cNvSpPr>
          <p:nvPr/>
        </p:nvSpPr>
        <p:spPr>
          <a:xfrm>
            <a:off x="4511824" y="4761176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980" name="Straight Connector 979"/>
          <p:cNvCxnSpPr>
            <a:endCxn id="976" idx="1"/>
          </p:cNvCxnSpPr>
          <p:nvPr/>
        </p:nvCxnSpPr>
        <p:spPr>
          <a:xfrm>
            <a:off x="4763824" y="488717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1" name="Straight Connector 980"/>
          <p:cNvCxnSpPr>
            <a:stCxn id="976" idx="3"/>
            <a:endCxn id="978" idx="1"/>
          </p:cNvCxnSpPr>
          <p:nvPr/>
        </p:nvCxnSpPr>
        <p:spPr>
          <a:xfrm>
            <a:off x="5135856" y="488717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2" name="Straight Connector 981"/>
          <p:cNvCxnSpPr>
            <a:stCxn id="977" idx="1"/>
            <a:endCxn id="978" idx="3"/>
          </p:cNvCxnSpPr>
          <p:nvPr/>
        </p:nvCxnSpPr>
        <p:spPr>
          <a:xfrm flipH="1">
            <a:off x="5507888" y="488717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0" name="TextBox 999"/>
          <p:cNvSpPr txBox="1">
            <a:spLocks/>
          </p:cNvSpPr>
          <p:nvPr/>
        </p:nvSpPr>
        <p:spPr>
          <a:xfrm>
            <a:off x="6612104" y="4486526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001" name="TextBox 1000"/>
          <p:cNvSpPr txBox="1">
            <a:spLocks/>
          </p:cNvSpPr>
          <p:nvPr/>
        </p:nvSpPr>
        <p:spPr>
          <a:xfrm>
            <a:off x="7356168" y="4486526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002" name="TextBox 1001"/>
          <p:cNvSpPr txBox="1">
            <a:spLocks/>
          </p:cNvSpPr>
          <p:nvPr/>
        </p:nvSpPr>
        <p:spPr>
          <a:xfrm>
            <a:off x="6984136" y="4486526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003" name="TextBox 1002"/>
          <p:cNvSpPr txBox="1">
            <a:spLocks/>
          </p:cNvSpPr>
          <p:nvPr/>
        </p:nvSpPr>
        <p:spPr>
          <a:xfrm>
            <a:off x="6240072" y="4486526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1004" name="Straight Connector 1003"/>
          <p:cNvCxnSpPr>
            <a:endCxn id="1000" idx="1"/>
          </p:cNvCxnSpPr>
          <p:nvPr/>
        </p:nvCxnSpPr>
        <p:spPr>
          <a:xfrm>
            <a:off x="6492072" y="461252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5" name="Straight Connector 1004"/>
          <p:cNvCxnSpPr>
            <a:stCxn id="1000" idx="3"/>
            <a:endCxn id="1002" idx="1"/>
          </p:cNvCxnSpPr>
          <p:nvPr/>
        </p:nvCxnSpPr>
        <p:spPr>
          <a:xfrm>
            <a:off x="6864104" y="461252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6" name="Straight Connector 1005"/>
          <p:cNvCxnSpPr>
            <a:stCxn id="1001" idx="1"/>
            <a:endCxn id="1002" idx="3"/>
          </p:cNvCxnSpPr>
          <p:nvPr/>
        </p:nvCxnSpPr>
        <p:spPr>
          <a:xfrm flipH="1">
            <a:off x="7236136" y="461252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3" name="TextBox 992"/>
          <p:cNvSpPr txBox="1">
            <a:spLocks/>
          </p:cNvSpPr>
          <p:nvPr/>
        </p:nvSpPr>
        <p:spPr>
          <a:xfrm>
            <a:off x="6612104" y="4761176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94" name="TextBox 993"/>
          <p:cNvSpPr txBox="1">
            <a:spLocks/>
          </p:cNvSpPr>
          <p:nvPr/>
        </p:nvSpPr>
        <p:spPr>
          <a:xfrm>
            <a:off x="7356168" y="4761176"/>
            <a:ext cx="252000" cy="25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95" name="TextBox 994"/>
          <p:cNvSpPr txBox="1">
            <a:spLocks/>
          </p:cNvSpPr>
          <p:nvPr/>
        </p:nvSpPr>
        <p:spPr>
          <a:xfrm>
            <a:off x="6984136" y="4761176"/>
            <a:ext cx="252000" cy="25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96" name="TextBox 995"/>
          <p:cNvSpPr txBox="1">
            <a:spLocks/>
          </p:cNvSpPr>
          <p:nvPr/>
        </p:nvSpPr>
        <p:spPr>
          <a:xfrm>
            <a:off x="6240072" y="4761176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997" name="Straight Connector 996"/>
          <p:cNvCxnSpPr>
            <a:endCxn id="993" idx="1"/>
          </p:cNvCxnSpPr>
          <p:nvPr/>
        </p:nvCxnSpPr>
        <p:spPr>
          <a:xfrm>
            <a:off x="6492072" y="488717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8" name="Straight Connector 997"/>
          <p:cNvCxnSpPr>
            <a:stCxn id="993" idx="3"/>
            <a:endCxn id="995" idx="1"/>
          </p:cNvCxnSpPr>
          <p:nvPr/>
        </p:nvCxnSpPr>
        <p:spPr>
          <a:xfrm>
            <a:off x="6864104" y="488717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9" name="Straight Connector 998"/>
          <p:cNvCxnSpPr>
            <a:stCxn id="994" idx="1"/>
            <a:endCxn id="995" idx="3"/>
          </p:cNvCxnSpPr>
          <p:nvPr/>
        </p:nvCxnSpPr>
        <p:spPr>
          <a:xfrm flipH="1">
            <a:off x="7236136" y="488717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6" name="TextBox 895"/>
          <p:cNvSpPr txBox="1">
            <a:spLocks/>
          </p:cNvSpPr>
          <p:nvPr/>
        </p:nvSpPr>
        <p:spPr>
          <a:xfrm>
            <a:off x="3299680" y="675353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97" name="TextBox 896"/>
          <p:cNvSpPr txBox="1">
            <a:spLocks/>
          </p:cNvSpPr>
          <p:nvPr/>
        </p:nvSpPr>
        <p:spPr>
          <a:xfrm>
            <a:off x="4043744" y="675353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98" name="TextBox 897"/>
          <p:cNvSpPr txBox="1">
            <a:spLocks/>
          </p:cNvSpPr>
          <p:nvPr/>
        </p:nvSpPr>
        <p:spPr>
          <a:xfrm>
            <a:off x="3671712" y="675353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99" name="TextBox 898"/>
          <p:cNvSpPr txBox="1">
            <a:spLocks/>
          </p:cNvSpPr>
          <p:nvPr/>
        </p:nvSpPr>
        <p:spPr>
          <a:xfrm>
            <a:off x="2927648" y="675353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900" name="TextBox 899"/>
          <p:cNvSpPr txBox="1">
            <a:spLocks/>
          </p:cNvSpPr>
          <p:nvPr/>
        </p:nvSpPr>
        <p:spPr>
          <a:xfrm>
            <a:off x="4883856" y="671323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01" name="TextBox 900"/>
          <p:cNvSpPr txBox="1">
            <a:spLocks/>
          </p:cNvSpPr>
          <p:nvPr/>
        </p:nvSpPr>
        <p:spPr>
          <a:xfrm>
            <a:off x="5627920" y="671323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902" name="TextBox 901"/>
          <p:cNvSpPr txBox="1">
            <a:spLocks/>
          </p:cNvSpPr>
          <p:nvPr/>
        </p:nvSpPr>
        <p:spPr>
          <a:xfrm>
            <a:off x="5255888" y="671323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03" name="TextBox 902"/>
          <p:cNvSpPr txBox="1">
            <a:spLocks/>
          </p:cNvSpPr>
          <p:nvPr/>
        </p:nvSpPr>
        <p:spPr>
          <a:xfrm>
            <a:off x="4511824" y="671323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70" name="TextBox 1469"/>
          <p:cNvSpPr txBox="1">
            <a:spLocks/>
          </p:cNvSpPr>
          <p:nvPr/>
        </p:nvSpPr>
        <p:spPr>
          <a:xfrm>
            <a:off x="7692168" y="669270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71" name="TextBox 1470"/>
          <p:cNvSpPr txBox="1">
            <a:spLocks/>
          </p:cNvSpPr>
          <p:nvPr/>
        </p:nvSpPr>
        <p:spPr>
          <a:xfrm>
            <a:off x="8436232" y="669270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472" name="TextBox 1471"/>
          <p:cNvSpPr txBox="1">
            <a:spLocks/>
          </p:cNvSpPr>
          <p:nvPr/>
        </p:nvSpPr>
        <p:spPr>
          <a:xfrm>
            <a:off x="8064200" y="669270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1473" name="TextBox 1472"/>
          <p:cNvSpPr txBox="1">
            <a:spLocks/>
          </p:cNvSpPr>
          <p:nvPr/>
        </p:nvSpPr>
        <p:spPr>
          <a:xfrm>
            <a:off x="7320136" y="669270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74" name="TextBox 1473"/>
          <p:cNvSpPr txBox="1">
            <a:spLocks/>
          </p:cNvSpPr>
          <p:nvPr/>
        </p:nvSpPr>
        <p:spPr>
          <a:xfrm>
            <a:off x="9276344" y="669270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475" name="TextBox 1474"/>
          <p:cNvSpPr txBox="1">
            <a:spLocks/>
          </p:cNvSpPr>
          <p:nvPr/>
        </p:nvSpPr>
        <p:spPr>
          <a:xfrm>
            <a:off x="10020408" y="669270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476" name="TextBox 1475"/>
          <p:cNvSpPr txBox="1">
            <a:spLocks/>
          </p:cNvSpPr>
          <p:nvPr/>
        </p:nvSpPr>
        <p:spPr>
          <a:xfrm>
            <a:off x="9648376" y="669270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77" name="TextBox 1476"/>
          <p:cNvSpPr txBox="1">
            <a:spLocks/>
          </p:cNvSpPr>
          <p:nvPr/>
        </p:nvSpPr>
        <p:spPr>
          <a:xfrm>
            <a:off x="8904312" y="669270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78" name="TextBox 1477"/>
          <p:cNvSpPr txBox="1">
            <a:spLocks/>
          </p:cNvSpPr>
          <p:nvPr/>
        </p:nvSpPr>
        <p:spPr>
          <a:xfrm>
            <a:off x="2003592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79" name="TextBox 1478"/>
          <p:cNvSpPr txBox="1">
            <a:spLocks/>
          </p:cNvSpPr>
          <p:nvPr/>
        </p:nvSpPr>
        <p:spPr>
          <a:xfrm>
            <a:off x="2747656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80" name="TextBox 1479"/>
          <p:cNvSpPr txBox="1">
            <a:spLocks/>
          </p:cNvSpPr>
          <p:nvPr/>
        </p:nvSpPr>
        <p:spPr>
          <a:xfrm>
            <a:off x="2375624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81" name="TextBox 1480"/>
          <p:cNvSpPr txBox="1">
            <a:spLocks/>
          </p:cNvSpPr>
          <p:nvPr/>
        </p:nvSpPr>
        <p:spPr>
          <a:xfrm>
            <a:off x="1631560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82" name="TextBox 1481"/>
          <p:cNvSpPr txBox="1">
            <a:spLocks/>
          </p:cNvSpPr>
          <p:nvPr/>
        </p:nvSpPr>
        <p:spPr>
          <a:xfrm>
            <a:off x="3515749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83" name="TextBox 1482"/>
          <p:cNvSpPr txBox="1">
            <a:spLocks/>
          </p:cNvSpPr>
          <p:nvPr/>
        </p:nvSpPr>
        <p:spPr>
          <a:xfrm>
            <a:off x="4259813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84" name="TextBox 1483"/>
          <p:cNvSpPr txBox="1">
            <a:spLocks/>
          </p:cNvSpPr>
          <p:nvPr/>
        </p:nvSpPr>
        <p:spPr>
          <a:xfrm>
            <a:off x="3887781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85" name="TextBox 1484"/>
          <p:cNvSpPr txBox="1">
            <a:spLocks/>
          </p:cNvSpPr>
          <p:nvPr/>
        </p:nvSpPr>
        <p:spPr>
          <a:xfrm>
            <a:off x="3143717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86" name="TextBox 1485"/>
          <p:cNvSpPr txBox="1">
            <a:spLocks/>
          </p:cNvSpPr>
          <p:nvPr/>
        </p:nvSpPr>
        <p:spPr>
          <a:xfrm>
            <a:off x="5027906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87" name="TextBox 1486"/>
          <p:cNvSpPr txBox="1">
            <a:spLocks/>
          </p:cNvSpPr>
          <p:nvPr/>
        </p:nvSpPr>
        <p:spPr>
          <a:xfrm>
            <a:off x="5771970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88" name="TextBox 1487"/>
          <p:cNvSpPr txBox="1">
            <a:spLocks/>
          </p:cNvSpPr>
          <p:nvPr/>
        </p:nvSpPr>
        <p:spPr>
          <a:xfrm>
            <a:off x="5399938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89" name="TextBox 1488"/>
          <p:cNvSpPr txBox="1">
            <a:spLocks/>
          </p:cNvSpPr>
          <p:nvPr/>
        </p:nvSpPr>
        <p:spPr>
          <a:xfrm>
            <a:off x="4655874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90" name="TextBox 1489"/>
          <p:cNvSpPr txBox="1">
            <a:spLocks/>
          </p:cNvSpPr>
          <p:nvPr/>
        </p:nvSpPr>
        <p:spPr>
          <a:xfrm>
            <a:off x="6540063" y="2832748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91" name="TextBox 1490"/>
          <p:cNvSpPr txBox="1">
            <a:spLocks/>
          </p:cNvSpPr>
          <p:nvPr/>
        </p:nvSpPr>
        <p:spPr>
          <a:xfrm>
            <a:off x="6168031" y="2832748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92" name="TextBox 1491"/>
          <p:cNvSpPr txBox="1">
            <a:spLocks/>
          </p:cNvSpPr>
          <p:nvPr/>
        </p:nvSpPr>
        <p:spPr>
          <a:xfrm>
            <a:off x="3299680" y="674521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93" name="TextBox 1492"/>
          <p:cNvSpPr txBox="1">
            <a:spLocks/>
          </p:cNvSpPr>
          <p:nvPr/>
        </p:nvSpPr>
        <p:spPr>
          <a:xfrm>
            <a:off x="4043744" y="674521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494" name="TextBox 1493"/>
          <p:cNvSpPr txBox="1">
            <a:spLocks/>
          </p:cNvSpPr>
          <p:nvPr/>
        </p:nvSpPr>
        <p:spPr>
          <a:xfrm>
            <a:off x="3671712" y="674521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95" name="TextBox 1494"/>
          <p:cNvSpPr txBox="1">
            <a:spLocks/>
          </p:cNvSpPr>
          <p:nvPr/>
        </p:nvSpPr>
        <p:spPr>
          <a:xfrm>
            <a:off x="2927648" y="674521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96" name="TextBox 1495"/>
          <p:cNvSpPr txBox="1">
            <a:spLocks/>
          </p:cNvSpPr>
          <p:nvPr/>
        </p:nvSpPr>
        <p:spPr>
          <a:xfrm>
            <a:off x="4883856" y="670491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97" name="TextBox 1496"/>
          <p:cNvSpPr txBox="1">
            <a:spLocks/>
          </p:cNvSpPr>
          <p:nvPr/>
        </p:nvSpPr>
        <p:spPr>
          <a:xfrm>
            <a:off x="5627920" y="670491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98" name="TextBox 1497"/>
          <p:cNvSpPr txBox="1">
            <a:spLocks/>
          </p:cNvSpPr>
          <p:nvPr/>
        </p:nvSpPr>
        <p:spPr>
          <a:xfrm>
            <a:off x="5255888" y="670491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99" name="TextBox 1498"/>
          <p:cNvSpPr txBox="1">
            <a:spLocks/>
          </p:cNvSpPr>
          <p:nvPr/>
        </p:nvSpPr>
        <p:spPr>
          <a:xfrm>
            <a:off x="4511824" y="670491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06" name="TextBox 1505"/>
          <p:cNvSpPr txBox="1">
            <a:spLocks/>
          </p:cNvSpPr>
          <p:nvPr/>
        </p:nvSpPr>
        <p:spPr>
          <a:xfrm>
            <a:off x="7284127" y="2832051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07" name="TextBox 1506"/>
          <p:cNvSpPr txBox="1">
            <a:spLocks/>
          </p:cNvSpPr>
          <p:nvPr/>
        </p:nvSpPr>
        <p:spPr>
          <a:xfrm>
            <a:off x="6912095" y="2832051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1508" name="TextBox 1507"/>
          <p:cNvSpPr txBox="1">
            <a:spLocks/>
          </p:cNvSpPr>
          <p:nvPr/>
        </p:nvSpPr>
        <p:spPr>
          <a:xfrm>
            <a:off x="7680188" y="2832051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09" name="TextBox 1508"/>
          <p:cNvSpPr txBox="1">
            <a:spLocks/>
          </p:cNvSpPr>
          <p:nvPr/>
        </p:nvSpPr>
        <p:spPr>
          <a:xfrm>
            <a:off x="7692168" y="667741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10" name="TextBox 1509"/>
          <p:cNvSpPr txBox="1">
            <a:spLocks/>
          </p:cNvSpPr>
          <p:nvPr/>
        </p:nvSpPr>
        <p:spPr>
          <a:xfrm>
            <a:off x="8436232" y="667741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11" name="TextBox 1510"/>
          <p:cNvSpPr txBox="1">
            <a:spLocks/>
          </p:cNvSpPr>
          <p:nvPr/>
        </p:nvSpPr>
        <p:spPr>
          <a:xfrm>
            <a:off x="8064200" y="667741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1512" name="TextBox 1511"/>
          <p:cNvSpPr txBox="1">
            <a:spLocks/>
          </p:cNvSpPr>
          <p:nvPr/>
        </p:nvSpPr>
        <p:spPr>
          <a:xfrm>
            <a:off x="7320136" y="667741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13" name="TextBox 1512"/>
          <p:cNvSpPr txBox="1">
            <a:spLocks/>
          </p:cNvSpPr>
          <p:nvPr/>
        </p:nvSpPr>
        <p:spPr>
          <a:xfrm>
            <a:off x="9276344" y="667741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14" name="TextBox 1513"/>
          <p:cNvSpPr txBox="1">
            <a:spLocks/>
          </p:cNvSpPr>
          <p:nvPr/>
        </p:nvSpPr>
        <p:spPr>
          <a:xfrm>
            <a:off x="10020408" y="667741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15" name="TextBox 1514"/>
          <p:cNvSpPr txBox="1">
            <a:spLocks/>
          </p:cNvSpPr>
          <p:nvPr/>
        </p:nvSpPr>
        <p:spPr>
          <a:xfrm>
            <a:off x="9648376" y="667741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16" name="TextBox 1515"/>
          <p:cNvSpPr txBox="1">
            <a:spLocks/>
          </p:cNvSpPr>
          <p:nvPr/>
        </p:nvSpPr>
        <p:spPr>
          <a:xfrm>
            <a:off x="8904312" y="667741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17" name="TextBox 1516"/>
          <p:cNvSpPr txBox="1">
            <a:spLocks/>
          </p:cNvSpPr>
          <p:nvPr/>
        </p:nvSpPr>
        <p:spPr>
          <a:xfrm>
            <a:off x="2003592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18" name="TextBox 1517"/>
          <p:cNvSpPr txBox="1">
            <a:spLocks/>
          </p:cNvSpPr>
          <p:nvPr/>
        </p:nvSpPr>
        <p:spPr>
          <a:xfrm>
            <a:off x="2747656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19" name="TextBox 1518"/>
          <p:cNvSpPr txBox="1">
            <a:spLocks/>
          </p:cNvSpPr>
          <p:nvPr/>
        </p:nvSpPr>
        <p:spPr>
          <a:xfrm>
            <a:off x="2375624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20" name="TextBox 1519"/>
          <p:cNvSpPr txBox="1">
            <a:spLocks/>
          </p:cNvSpPr>
          <p:nvPr/>
        </p:nvSpPr>
        <p:spPr>
          <a:xfrm>
            <a:off x="1631560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21" name="TextBox 1520"/>
          <p:cNvSpPr txBox="1">
            <a:spLocks/>
          </p:cNvSpPr>
          <p:nvPr/>
        </p:nvSpPr>
        <p:spPr>
          <a:xfrm>
            <a:off x="3515749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22" name="TextBox 1521"/>
          <p:cNvSpPr txBox="1">
            <a:spLocks/>
          </p:cNvSpPr>
          <p:nvPr/>
        </p:nvSpPr>
        <p:spPr>
          <a:xfrm>
            <a:off x="4259813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23" name="TextBox 1522"/>
          <p:cNvSpPr txBox="1">
            <a:spLocks/>
          </p:cNvSpPr>
          <p:nvPr/>
        </p:nvSpPr>
        <p:spPr>
          <a:xfrm>
            <a:off x="3887781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24" name="TextBox 1523"/>
          <p:cNvSpPr txBox="1">
            <a:spLocks/>
          </p:cNvSpPr>
          <p:nvPr/>
        </p:nvSpPr>
        <p:spPr>
          <a:xfrm>
            <a:off x="3143717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25" name="TextBox 1524"/>
          <p:cNvSpPr txBox="1">
            <a:spLocks/>
          </p:cNvSpPr>
          <p:nvPr/>
        </p:nvSpPr>
        <p:spPr>
          <a:xfrm>
            <a:off x="5027906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26" name="TextBox 1525"/>
          <p:cNvSpPr txBox="1">
            <a:spLocks/>
          </p:cNvSpPr>
          <p:nvPr/>
        </p:nvSpPr>
        <p:spPr>
          <a:xfrm>
            <a:off x="5771970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27" name="TextBox 1526"/>
          <p:cNvSpPr txBox="1">
            <a:spLocks/>
          </p:cNvSpPr>
          <p:nvPr/>
        </p:nvSpPr>
        <p:spPr>
          <a:xfrm>
            <a:off x="5399938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28" name="TextBox 1527"/>
          <p:cNvSpPr txBox="1">
            <a:spLocks/>
          </p:cNvSpPr>
          <p:nvPr/>
        </p:nvSpPr>
        <p:spPr>
          <a:xfrm>
            <a:off x="4655874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29" name="TextBox 1528"/>
          <p:cNvSpPr txBox="1">
            <a:spLocks/>
          </p:cNvSpPr>
          <p:nvPr/>
        </p:nvSpPr>
        <p:spPr>
          <a:xfrm>
            <a:off x="6540063" y="2831219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30" name="TextBox 1529"/>
          <p:cNvSpPr txBox="1">
            <a:spLocks/>
          </p:cNvSpPr>
          <p:nvPr/>
        </p:nvSpPr>
        <p:spPr>
          <a:xfrm>
            <a:off x="6168031" y="2831219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31" name="TextBox 1530"/>
          <p:cNvSpPr txBox="1">
            <a:spLocks/>
          </p:cNvSpPr>
          <p:nvPr/>
        </p:nvSpPr>
        <p:spPr>
          <a:xfrm>
            <a:off x="3299680" y="672992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32" name="TextBox 1531"/>
          <p:cNvSpPr txBox="1">
            <a:spLocks/>
          </p:cNvSpPr>
          <p:nvPr/>
        </p:nvSpPr>
        <p:spPr>
          <a:xfrm>
            <a:off x="4043744" y="672992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33" name="TextBox 1532"/>
          <p:cNvSpPr txBox="1">
            <a:spLocks/>
          </p:cNvSpPr>
          <p:nvPr/>
        </p:nvSpPr>
        <p:spPr>
          <a:xfrm>
            <a:off x="3671712" y="672992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34" name="TextBox 1533"/>
          <p:cNvSpPr txBox="1">
            <a:spLocks/>
          </p:cNvSpPr>
          <p:nvPr/>
        </p:nvSpPr>
        <p:spPr>
          <a:xfrm>
            <a:off x="2927648" y="672992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35" name="TextBox 1534"/>
          <p:cNvSpPr txBox="1">
            <a:spLocks/>
          </p:cNvSpPr>
          <p:nvPr/>
        </p:nvSpPr>
        <p:spPr>
          <a:xfrm>
            <a:off x="4883856" y="668962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36" name="TextBox 1535"/>
          <p:cNvSpPr txBox="1">
            <a:spLocks/>
          </p:cNvSpPr>
          <p:nvPr/>
        </p:nvSpPr>
        <p:spPr>
          <a:xfrm>
            <a:off x="5627920" y="668962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37" name="TextBox 1536"/>
          <p:cNvSpPr txBox="1">
            <a:spLocks/>
          </p:cNvSpPr>
          <p:nvPr/>
        </p:nvSpPr>
        <p:spPr>
          <a:xfrm>
            <a:off x="5255888" y="668962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38" name="TextBox 1537"/>
          <p:cNvSpPr txBox="1">
            <a:spLocks/>
          </p:cNvSpPr>
          <p:nvPr/>
        </p:nvSpPr>
        <p:spPr>
          <a:xfrm>
            <a:off x="4511824" y="668962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42" name="TextBox 1541"/>
          <p:cNvSpPr txBox="1">
            <a:spLocks/>
          </p:cNvSpPr>
          <p:nvPr/>
        </p:nvSpPr>
        <p:spPr>
          <a:xfrm>
            <a:off x="8052220" y="2832051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43" name="TextBox 1542"/>
          <p:cNvSpPr txBox="1">
            <a:spLocks/>
          </p:cNvSpPr>
          <p:nvPr/>
        </p:nvSpPr>
        <p:spPr>
          <a:xfrm>
            <a:off x="8424252" y="2832051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44" name="TextBox 1543"/>
          <p:cNvSpPr txBox="1">
            <a:spLocks/>
          </p:cNvSpPr>
          <p:nvPr/>
        </p:nvSpPr>
        <p:spPr>
          <a:xfrm>
            <a:off x="7284127" y="2830522"/>
            <a:ext cx="252000" cy="25200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45" name="TextBox 1544"/>
          <p:cNvSpPr txBox="1">
            <a:spLocks/>
          </p:cNvSpPr>
          <p:nvPr/>
        </p:nvSpPr>
        <p:spPr>
          <a:xfrm>
            <a:off x="6912095" y="2830522"/>
            <a:ext cx="252000" cy="25200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1546" name="TextBox 1545"/>
          <p:cNvSpPr txBox="1">
            <a:spLocks/>
          </p:cNvSpPr>
          <p:nvPr/>
        </p:nvSpPr>
        <p:spPr>
          <a:xfrm>
            <a:off x="7680188" y="2830522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47" name="TextBox 1546"/>
          <p:cNvSpPr txBox="1">
            <a:spLocks/>
          </p:cNvSpPr>
          <p:nvPr/>
        </p:nvSpPr>
        <p:spPr>
          <a:xfrm>
            <a:off x="7692168" y="666212"/>
            <a:ext cx="252000" cy="25200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48" name="TextBox 1547"/>
          <p:cNvSpPr txBox="1">
            <a:spLocks/>
          </p:cNvSpPr>
          <p:nvPr/>
        </p:nvSpPr>
        <p:spPr>
          <a:xfrm>
            <a:off x="8436232" y="666212"/>
            <a:ext cx="252000" cy="25200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49" name="TextBox 1548"/>
          <p:cNvSpPr txBox="1">
            <a:spLocks/>
          </p:cNvSpPr>
          <p:nvPr/>
        </p:nvSpPr>
        <p:spPr>
          <a:xfrm>
            <a:off x="8064200" y="666212"/>
            <a:ext cx="252000" cy="25200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1550" name="TextBox 1549"/>
          <p:cNvSpPr txBox="1">
            <a:spLocks/>
          </p:cNvSpPr>
          <p:nvPr/>
        </p:nvSpPr>
        <p:spPr>
          <a:xfrm>
            <a:off x="7320136" y="666212"/>
            <a:ext cx="252000" cy="25200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51" name="TextBox 1550"/>
          <p:cNvSpPr txBox="1">
            <a:spLocks/>
          </p:cNvSpPr>
          <p:nvPr/>
        </p:nvSpPr>
        <p:spPr>
          <a:xfrm>
            <a:off x="9276344" y="666212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52" name="TextBox 1551"/>
          <p:cNvSpPr txBox="1">
            <a:spLocks/>
          </p:cNvSpPr>
          <p:nvPr/>
        </p:nvSpPr>
        <p:spPr>
          <a:xfrm>
            <a:off x="10020408" y="666212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53" name="TextBox 1552"/>
          <p:cNvSpPr txBox="1">
            <a:spLocks/>
          </p:cNvSpPr>
          <p:nvPr/>
        </p:nvSpPr>
        <p:spPr>
          <a:xfrm>
            <a:off x="9648376" y="666212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54" name="TextBox 1553"/>
          <p:cNvSpPr txBox="1">
            <a:spLocks/>
          </p:cNvSpPr>
          <p:nvPr/>
        </p:nvSpPr>
        <p:spPr>
          <a:xfrm>
            <a:off x="8904312" y="666212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55" name="TextBox 1554"/>
          <p:cNvSpPr txBox="1">
            <a:spLocks/>
          </p:cNvSpPr>
          <p:nvPr/>
        </p:nvSpPr>
        <p:spPr>
          <a:xfrm>
            <a:off x="2003592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56" name="TextBox 1555"/>
          <p:cNvSpPr txBox="1">
            <a:spLocks/>
          </p:cNvSpPr>
          <p:nvPr/>
        </p:nvSpPr>
        <p:spPr>
          <a:xfrm>
            <a:off x="2747656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57" name="TextBox 1556"/>
          <p:cNvSpPr txBox="1">
            <a:spLocks/>
          </p:cNvSpPr>
          <p:nvPr/>
        </p:nvSpPr>
        <p:spPr>
          <a:xfrm>
            <a:off x="2375624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58" name="TextBox 1557"/>
          <p:cNvSpPr txBox="1">
            <a:spLocks/>
          </p:cNvSpPr>
          <p:nvPr/>
        </p:nvSpPr>
        <p:spPr>
          <a:xfrm>
            <a:off x="1631560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59" name="TextBox 1558"/>
          <p:cNvSpPr txBox="1">
            <a:spLocks/>
          </p:cNvSpPr>
          <p:nvPr/>
        </p:nvSpPr>
        <p:spPr>
          <a:xfrm>
            <a:off x="3515749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60" name="TextBox 1559"/>
          <p:cNvSpPr txBox="1">
            <a:spLocks/>
          </p:cNvSpPr>
          <p:nvPr/>
        </p:nvSpPr>
        <p:spPr>
          <a:xfrm>
            <a:off x="4259813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61" name="TextBox 1560"/>
          <p:cNvSpPr txBox="1">
            <a:spLocks/>
          </p:cNvSpPr>
          <p:nvPr/>
        </p:nvSpPr>
        <p:spPr>
          <a:xfrm>
            <a:off x="3887781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62" name="TextBox 1561"/>
          <p:cNvSpPr txBox="1">
            <a:spLocks/>
          </p:cNvSpPr>
          <p:nvPr/>
        </p:nvSpPr>
        <p:spPr>
          <a:xfrm>
            <a:off x="3143717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63" name="TextBox 1562"/>
          <p:cNvSpPr txBox="1">
            <a:spLocks/>
          </p:cNvSpPr>
          <p:nvPr/>
        </p:nvSpPr>
        <p:spPr>
          <a:xfrm>
            <a:off x="5027906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64" name="TextBox 1563"/>
          <p:cNvSpPr txBox="1">
            <a:spLocks/>
          </p:cNvSpPr>
          <p:nvPr/>
        </p:nvSpPr>
        <p:spPr>
          <a:xfrm>
            <a:off x="5771970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65" name="TextBox 1564"/>
          <p:cNvSpPr txBox="1">
            <a:spLocks/>
          </p:cNvSpPr>
          <p:nvPr/>
        </p:nvSpPr>
        <p:spPr>
          <a:xfrm>
            <a:off x="5399938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66" name="TextBox 1565"/>
          <p:cNvSpPr txBox="1">
            <a:spLocks/>
          </p:cNvSpPr>
          <p:nvPr/>
        </p:nvSpPr>
        <p:spPr>
          <a:xfrm>
            <a:off x="4655874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67" name="TextBox 1566"/>
          <p:cNvSpPr txBox="1">
            <a:spLocks/>
          </p:cNvSpPr>
          <p:nvPr/>
        </p:nvSpPr>
        <p:spPr>
          <a:xfrm>
            <a:off x="6540063" y="2829690"/>
            <a:ext cx="252000" cy="25200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68" name="TextBox 1567"/>
          <p:cNvSpPr txBox="1">
            <a:spLocks/>
          </p:cNvSpPr>
          <p:nvPr/>
        </p:nvSpPr>
        <p:spPr>
          <a:xfrm>
            <a:off x="6168031" y="2829690"/>
            <a:ext cx="252000" cy="25200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69" name="TextBox 1568"/>
          <p:cNvSpPr txBox="1">
            <a:spLocks/>
          </p:cNvSpPr>
          <p:nvPr/>
        </p:nvSpPr>
        <p:spPr>
          <a:xfrm>
            <a:off x="3299680" y="671463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70" name="TextBox 1569"/>
          <p:cNvSpPr txBox="1">
            <a:spLocks/>
          </p:cNvSpPr>
          <p:nvPr/>
        </p:nvSpPr>
        <p:spPr>
          <a:xfrm>
            <a:off x="4043744" y="671463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71" name="TextBox 1570"/>
          <p:cNvSpPr txBox="1">
            <a:spLocks/>
          </p:cNvSpPr>
          <p:nvPr/>
        </p:nvSpPr>
        <p:spPr>
          <a:xfrm>
            <a:off x="3671712" y="671463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72" name="TextBox 1571"/>
          <p:cNvSpPr txBox="1">
            <a:spLocks/>
          </p:cNvSpPr>
          <p:nvPr/>
        </p:nvSpPr>
        <p:spPr>
          <a:xfrm>
            <a:off x="2927648" y="671463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73" name="TextBox 1572"/>
          <p:cNvSpPr txBox="1">
            <a:spLocks/>
          </p:cNvSpPr>
          <p:nvPr/>
        </p:nvSpPr>
        <p:spPr>
          <a:xfrm>
            <a:off x="4883856" y="667433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74" name="TextBox 1573"/>
          <p:cNvSpPr txBox="1">
            <a:spLocks/>
          </p:cNvSpPr>
          <p:nvPr/>
        </p:nvSpPr>
        <p:spPr>
          <a:xfrm>
            <a:off x="5627920" y="667433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75" name="TextBox 1574"/>
          <p:cNvSpPr txBox="1">
            <a:spLocks/>
          </p:cNvSpPr>
          <p:nvPr/>
        </p:nvSpPr>
        <p:spPr>
          <a:xfrm>
            <a:off x="5255888" y="667433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76" name="TextBox 1575"/>
          <p:cNvSpPr txBox="1">
            <a:spLocks/>
          </p:cNvSpPr>
          <p:nvPr/>
        </p:nvSpPr>
        <p:spPr>
          <a:xfrm>
            <a:off x="4511824" y="667433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629" name="TextBox 1628"/>
          <p:cNvSpPr txBox="1">
            <a:spLocks/>
          </p:cNvSpPr>
          <p:nvPr/>
        </p:nvSpPr>
        <p:spPr>
          <a:xfrm>
            <a:off x="3299984" y="94917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630" name="TextBox 1629"/>
          <p:cNvSpPr txBox="1">
            <a:spLocks/>
          </p:cNvSpPr>
          <p:nvPr/>
        </p:nvSpPr>
        <p:spPr>
          <a:xfrm>
            <a:off x="3672016" y="94917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631" name="TextBox 1630"/>
          <p:cNvSpPr txBox="1">
            <a:spLocks/>
          </p:cNvSpPr>
          <p:nvPr/>
        </p:nvSpPr>
        <p:spPr>
          <a:xfrm>
            <a:off x="2927952" y="94917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710" name="TextBox 1709"/>
          <p:cNvSpPr txBox="1">
            <a:spLocks/>
          </p:cNvSpPr>
          <p:nvPr/>
        </p:nvSpPr>
        <p:spPr>
          <a:xfrm>
            <a:off x="2003592" y="2555866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711" name="TextBox 1710"/>
          <p:cNvSpPr txBox="1">
            <a:spLocks/>
          </p:cNvSpPr>
          <p:nvPr/>
        </p:nvSpPr>
        <p:spPr>
          <a:xfrm>
            <a:off x="2375624" y="2555866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712" name="TextBox 1711"/>
          <p:cNvSpPr txBox="1">
            <a:spLocks/>
          </p:cNvSpPr>
          <p:nvPr/>
        </p:nvSpPr>
        <p:spPr>
          <a:xfrm>
            <a:off x="1631560" y="2555866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713" name="TextBox 1712"/>
          <p:cNvSpPr txBox="1">
            <a:spLocks/>
          </p:cNvSpPr>
          <p:nvPr/>
        </p:nvSpPr>
        <p:spPr>
          <a:xfrm>
            <a:off x="4259813" y="2555866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714" name="TextBox 1713"/>
          <p:cNvSpPr txBox="1">
            <a:spLocks/>
          </p:cNvSpPr>
          <p:nvPr/>
        </p:nvSpPr>
        <p:spPr>
          <a:xfrm>
            <a:off x="4655874" y="2555866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315" name="Rounded Rectangle 314"/>
          <p:cNvSpPr/>
          <p:nvPr/>
        </p:nvSpPr>
        <p:spPr>
          <a:xfrm>
            <a:off x="4408190" y="166018"/>
            <a:ext cx="4388094" cy="1512168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70771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03F0260-E403-4516-9651-2D0168599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#9 &amp; #10 … full sibs </a:t>
            </a:r>
          </a:p>
          <a:p>
            <a:pPr lvl="1"/>
            <a:r>
              <a:rPr lang="en-GB" dirty="0"/>
              <a:t>IBS at all loci, but not IBD at all loci</a:t>
            </a:r>
          </a:p>
          <a:p>
            <a:r>
              <a:rPr lang="en-GB" dirty="0"/>
              <a:t>#1 &amp; #11 … </a:t>
            </a:r>
          </a:p>
          <a:p>
            <a:pPr lvl="1"/>
            <a:r>
              <a:rPr lang="en-GB" dirty="0"/>
              <a:t>IBS at all loci, no IBD</a:t>
            </a:r>
          </a:p>
          <a:p>
            <a:pPr lvl="1"/>
            <a:endParaRPr lang="en-GB" dirty="0"/>
          </a:p>
          <a:p>
            <a:pPr marL="0" indent="0" algn="ctr">
              <a:buNone/>
            </a:pPr>
            <a:r>
              <a:rPr lang="en-GB" dirty="0"/>
              <a:t>Small extreme example, demonstrating distinctions of </a:t>
            </a:r>
            <a:r>
              <a:rPr lang="en-GB" b="1" dirty="0"/>
              <a:t>G </a:t>
            </a:r>
            <a:r>
              <a:rPr lang="en-GB" dirty="0"/>
              <a:t>from </a:t>
            </a:r>
            <a:r>
              <a:rPr lang="en-GB" b="1" dirty="0"/>
              <a:t>A</a:t>
            </a:r>
            <a:r>
              <a:rPr lang="en-GB" dirty="0"/>
              <a:t> </a:t>
            </a:r>
          </a:p>
          <a:p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2F43AD-CE6E-4D5F-9DDA-65880178556E}"/>
              </a:ext>
            </a:extLst>
          </p:cNvPr>
          <p:cNvSpPr/>
          <p:nvPr/>
        </p:nvSpPr>
        <p:spPr>
          <a:xfrm>
            <a:off x="239181" y="3717032"/>
            <a:ext cx="11713633" cy="144016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B343F7C-38ED-4112-AB70-6BC86510A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… more examples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E9621F-AF5F-46BF-AC7F-985F24011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DCCE7-68A7-442A-AA7A-2E7473D4FC32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EB403E-A0A6-4A8C-B3BC-AFF8B0A28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47354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Genomics, IBD &amp; IBS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have pedigree</a:t>
            </a:r>
          </a:p>
          <a:p>
            <a:pPr lvl="1"/>
            <a:r>
              <a:rPr lang="en-GB" dirty="0"/>
              <a:t>pedigree identifies the broad relationships</a:t>
            </a:r>
          </a:p>
          <a:p>
            <a:pPr lvl="1"/>
            <a:r>
              <a:rPr lang="en-GB" dirty="0"/>
              <a:t>use the linkage analysis to identify Mendelian terms across the genome</a:t>
            </a:r>
          </a:p>
          <a:p>
            <a:pPr lvl="1"/>
            <a:r>
              <a:rPr lang="en-GB" dirty="0"/>
              <a:t>calculate </a:t>
            </a:r>
          </a:p>
          <a:p>
            <a:pPr lvl="2"/>
            <a:endParaRPr lang="en-GB" dirty="0"/>
          </a:p>
          <a:p>
            <a:pPr lvl="2"/>
            <a:r>
              <a:rPr lang="en-GB" dirty="0"/>
              <a:t>i.e. average the </a:t>
            </a:r>
            <a:r>
              <a:rPr lang="en-GB" b="1" dirty="0"/>
              <a:t>A</a:t>
            </a:r>
            <a:r>
              <a:rPr lang="en-GB" baseline="-25000" dirty="0"/>
              <a:t>Q</a:t>
            </a:r>
            <a:r>
              <a:rPr lang="en-GB" dirty="0"/>
              <a:t> over all genome positions</a:t>
            </a:r>
          </a:p>
          <a:p>
            <a:pPr lvl="2"/>
            <a:r>
              <a:rPr lang="en-GB" dirty="0"/>
              <a:t>‘FG’ after Fernando &amp; Grossman (pioneers of MAS)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6782322"/>
              </p:ext>
            </p:extLst>
          </p:nvPr>
        </p:nvGraphicFramePr>
        <p:xfrm>
          <a:off x="4962526" y="3068639"/>
          <a:ext cx="3490913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3" name="Equation" r:id="rId3" imgW="1231560" imgH="304560" progId="Equation.DSMT4">
                  <p:embed/>
                </p:oleObj>
              </mc:Choice>
              <mc:Fallback>
                <p:oleObj name="Equation" r:id="rId3" imgW="123156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62526" y="3068639"/>
                        <a:ext cx="3490913" cy="865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98797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0" name="Straight Connector 249"/>
          <p:cNvCxnSpPr/>
          <p:nvPr/>
        </p:nvCxnSpPr>
        <p:spPr>
          <a:xfrm>
            <a:off x="3179648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/>
          <p:cNvCxnSpPr/>
          <p:nvPr/>
        </p:nvCxnSpPr>
        <p:spPr>
          <a:xfrm>
            <a:off x="3551680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/>
          <p:cNvCxnSpPr/>
          <p:nvPr/>
        </p:nvCxnSpPr>
        <p:spPr>
          <a:xfrm flipH="1">
            <a:off x="3923712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/>
          <p:cNvCxnSpPr/>
          <p:nvPr/>
        </p:nvCxnSpPr>
        <p:spPr>
          <a:xfrm>
            <a:off x="3179648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/>
          <p:cNvCxnSpPr/>
          <p:nvPr/>
        </p:nvCxnSpPr>
        <p:spPr>
          <a:xfrm>
            <a:off x="3551680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8</a:t>
            </a:r>
          </a:p>
        </p:txBody>
      </p:sp>
      <p:cxnSp>
        <p:nvCxnSpPr>
          <p:cNvPr id="222" name="Straight Arrow Connector 221"/>
          <p:cNvCxnSpPr/>
          <p:nvPr/>
        </p:nvCxnSpPr>
        <p:spPr>
          <a:xfrm flipH="1">
            <a:off x="2395013" y="1340769"/>
            <a:ext cx="1246737" cy="11665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/>
          <p:cNvCxnSpPr/>
          <p:nvPr/>
        </p:nvCxnSpPr>
        <p:spPr>
          <a:xfrm>
            <a:off x="3659158" y="1340769"/>
            <a:ext cx="384587" cy="11247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Arrow Connector 223"/>
          <p:cNvCxnSpPr/>
          <p:nvPr/>
        </p:nvCxnSpPr>
        <p:spPr>
          <a:xfrm>
            <a:off x="3659158" y="1340769"/>
            <a:ext cx="1746599" cy="11247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/>
          <p:cNvCxnSpPr/>
          <p:nvPr/>
        </p:nvCxnSpPr>
        <p:spPr>
          <a:xfrm>
            <a:off x="3641750" y="1340769"/>
            <a:ext cx="3222355" cy="112053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/>
          <p:cNvCxnSpPr/>
          <p:nvPr/>
        </p:nvCxnSpPr>
        <p:spPr>
          <a:xfrm flipH="1">
            <a:off x="2444942" y="1340769"/>
            <a:ext cx="2564915" cy="11247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/>
          <p:cNvCxnSpPr/>
          <p:nvPr/>
        </p:nvCxnSpPr>
        <p:spPr>
          <a:xfrm flipH="1">
            <a:off x="4043746" y="1316737"/>
            <a:ext cx="979358" cy="114875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227"/>
          <p:cNvCxnSpPr/>
          <p:nvPr/>
        </p:nvCxnSpPr>
        <p:spPr>
          <a:xfrm>
            <a:off x="5032314" y="1340769"/>
            <a:ext cx="349574" cy="11247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/>
          <p:cNvCxnSpPr/>
          <p:nvPr/>
        </p:nvCxnSpPr>
        <p:spPr>
          <a:xfrm>
            <a:off x="5032314" y="1340769"/>
            <a:ext cx="1849174" cy="11532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/>
          <p:cNvCxnSpPr/>
          <p:nvPr/>
        </p:nvCxnSpPr>
        <p:spPr>
          <a:xfrm>
            <a:off x="8064200" y="1340768"/>
            <a:ext cx="1836176" cy="1008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Arrow Connector 230"/>
          <p:cNvCxnSpPr/>
          <p:nvPr/>
        </p:nvCxnSpPr>
        <p:spPr>
          <a:xfrm>
            <a:off x="9444344" y="1340768"/>
            <a:ext cx="576064" cy="1008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Arrow Connector 231"/>
          <p:cNvCxnSpPr/>
          <p:nvPr/>
        </p:nvCxnSpPr>
        <p:spPr>
          <a:xfrm>
            <a:off x="8075644" y="1340768"/>
            <a:ext cx="348609" cy="1008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/>
          <p:cNvCxnSpPr/>
          <p:nvPr/>
        </p:nvCxnSpPr>
        <p:spPr>
          <a:xfrm flipH="1">
            <a:off x="8436234" y="1340768"/>
            <a:ext cx="1015680" cy="1008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Arrow Connector 233"/>
          <p:cNvCxnSpPr/>
          <p:nvPr/>
        </p:nvCxnSpPr>
        <p:spPr>
          <a:xfrm>
            <a:off x="3923712" y="3223490"/>
            <a:ext cx="1230194" cy="9975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Arrow Connector 234"/>
          <p:cNvCxnSpPr/>
          <p:nvPr/>
        </p:nvCxnSpPr>
        <p:spPr>
          <a:xfrm>
            <a:off x="5356174" y="3223490"/>
            <a:ext cx="1627962" cy="9975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/>
          <p:cNvCxnSpPr/>
          <p:nvPr/>
        </p:nvCxnSpPr>
        <p:spPr>
          <a:xfrm flipH="1">
            <a:off x="7038095" y="3223490"/>
            <a:ext cx="2778282" cy="997599"/>
          </a:xfrm>
          <a:prstGeom prst="straightConnector1">
            <a:avLst/>
          </a:prstGeom>
          <a:ln w="63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Arrow Connector 236"/>
          <p:cNvCxnSpPr/>
          <p:nvPr/>
        </p:nvCxnSpPr>
        <p:spPr>
          <a:xfrm flipH="1">
            <a:off x="5195873" y="3223490"/>
            <a:ext cx="3120329" cy="9975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TextBox 237"/>
          <p:cNvSpPr txBox="1"/>
          <p:nvPr/>
        </p:nvSpPr>
        <p:spPr>
          <a:xfrm>
            <a:off x="3508314" y="27231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1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032314" y="27231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2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8004114" y="26064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9451914" y="26064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4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2212914" y="21235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5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3697878" y="21235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6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5182842" y="21235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7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6667806" y="21235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8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8152770" y="21235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9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9637736" y="212356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10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5015880" y="4067780"/>
            <a:ext cx="428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11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6675512" y="405611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12</a:t>
            </a:r>
          </a:p>
        </p:txBody>
      </p:sp>
      <p:sp>
        <p:nvSpPr>
          <p:cNvPr id="714" name="TextBox 713"/>
          <p:cNvSpPr txBox="1"/>
          <p:nvPr/>
        </p:nvSpPr>
        <p:spPr>
          <a:xfrm>
            <a:off x="6463172" y="9820401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694" name="TextBox 693"/>
          <p:cNvSpPr txBox="1">
            <a:spLocks/>
          </p:cNvSpPr>
          <p:nvPr/>
        </p:nvSpPr>
        <p:spPr>
          <a:xfrm>
            <a:off x="3299680" y="674132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696" name="TextBox 695"/>
          <p:cNvSpPr txBox="1">
            <a:spLocks/>
          </p:cNvSpPr>
          <p:nvPr/>
        </p:nvSpPr>
        <p:spPr>
          <a:xfrm>
            <a:off x="4043744" y="674132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698" name="TextBox 697"/>
          <p:cNvSpPr txBox="1">
            <a:spLocks/>
          </p:cNvSpPr>
          <p:nvPr/>
        </p:nvSpPr>
        <p:spPr>
          <a:xfrm>
            <a:off x="3671712" y="674132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727" name="TextBox 726"/>
          <p:cNvSpPr txBox="1">
            <a:spLocks/>
          </p:cNvSpPr>
          <p:nvPr/>
        </p:nvSpPr>
        <p:spPr>
          <a:xfrm>
            <a:off x="2927648" y="674132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768" name="TextBox 767"/>
          <p:cNvSpPr txBox="1">
            <a:spLocks/>
          </p:cNvSpPr>
          <p:nvPr/>
        </p:nvSpPr>
        <p:spPr>
          <a:xfrm>
            <a:off x="3299680" y="948782"/>
            <a:ext cx="252000" cy="252000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769" name="TextBox 768"/>
          <p:cNvSpPr txBox="1">
            <a:spLocks/>
          </p:cNvSpPr>
          <p:nvPr/>
        </p:nvSpPr>
        <p:spPr>
          <a:xfrm>
            <a:off x="4043744" y="948782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770" name="TextBox 769"/>
          <p:cNvSpPr txBox="1">
            <a:spLocks/>
          </p:cNvSpPr>
          <p:nvPr/>
        </p:nvSpPr>
        <p:spPr>
          <a:xfrm>
            <a:off x="3671712" y="948782"/>
            <a:ext cx="252000" cy="252000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771" name="TextBox 770"/>
          <p:cNvSpPr txBox="1">
            <a:spLocks/>
          </p:cNvSpPr>
          <p:nvPr/>
        </p:nvSpPr>
        <p:spPr>
          <a:xfrm>
            <a:off x="2927648" y="948782"/>
            <a:ext cx="252000" cy="252000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774" name="Straight Connector 773"/>
          <p:cNvCxnSpPr>
            <a:stCxn id="769" idx="1"/>
            <a:endCxn id="770" idx="3"/>
          </p:cNvCxnSpPr>
          <p:nvPr/>
        </p:nvCxnSpPr>
        <p:spPr>
          <a:xfrm flipH="1">
            <a:off x="3923712" y="107478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6" name="TextBox 785"/>
          <p:cNvSpPr txBox="1">
            <a:spLocks/>
          </p:cNvSpPr>
          <p:nvPr/>
        </p:nvSpPr>
        <p:spPr>
          <a:xfrm>
            <a:off x="4883856" y="670102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787" name="TextBox 786"/>
          <p:cNvSpPr txBox="1">
            <a:spLocks/>
          </p:cNvSpPr>
          <p:nvPr/>
        </p:nvSpPr>
        <p:spPr>
          <a:xfrm>
            <a:off x="5627920" y="670102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788" name="TextBox 787"/>
          <p:cNvSpPr txBox="1">
            <a:spLocks/>
          </p:cNvSpPr>
          <p:nvPr/>
        </p:nvSpPr>
        <p:spPr>
          <a:xfrm>
            <a:off x="5255888" y="670102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789" name="TextBox 788"/>
          <p:cNvSpPr txBox="1">
            <a:spLocks/>
          </p:cNvSpPr>
          <p:nvPr/>
        </p:nvSpPr>
        <p:spPr>
          <a:xfrm>
            <a:off x="4511824" y="670102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790" name="Straight Connector 789"/>
          <p:cNvCxnSpPr>
            <a:endCxn id="786" idx="1"/>
          </p:cNvCxnSpPr>
          <p:nvPr/>
        </p:nvCxnSpPr>
        <p:spPr>
          <a:xfrm>
            <a:off x="4763824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1" name="Straight Connector 790"/>
          <p:cNvCxnSpPr>
            <a:stCxn id="786" idx="3"/>
            <a:endCxn id="788" idx="1"/>
          </p:cNvCxnSpPr>
          <p:nvPr/>
        </p:nvCxnSpPr>
        <p:spPr>
          <a:xfrm>
            <a:off x="5135856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2" name="Straight Connector 791"/>
          <p:cNvCxnSpPr>
            <a:stCxn id="787" idx="1"/>
            <a:endCxn id="788" idx="3"/>
          </p:cNvCxnSpPr>
          <p:nvPr/>
        </p:nvCxnSpPr>
        <p:spPr>
          <a:xfrm flipH="1">
            <a:off x="5507888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9" name="TextBox 778"/>
          <p:cNvSpPr txBox="1">
            <a:spLocks/>
          </p:cNvSpPr>
          <p:nvPr/>
        </p:nvSpPr>
        <p:spPr>
          <a:xfrm>
            <a:off x="4883856" y="944752"/>
            <a:ext cx="252000" cy="25200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780" name="TextBox 779"/>
          <p:cNvSpPr txBox="1">
            <a:spLocks/>
          </p:cNvSpPr>
          <p:nvPr/>
        </p:nvSpPr>
        <p:spPr>
          <a:xfrm>
            <a:off x="5627920" y="944752"/>
            <a:ext cx="252000" cy="25200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781" name="TextBox 780"/>
          <p:cNvSpPr txBox="1">
            <a:spLocks/>
          </p:cNvSpPr>
          <p:nvPr/>
        </p:nvSpPr>
        <p:spPr>
          <a:xfrm>
            <a:off x="5255888" y="944752"/>
            <a:ext cx="252000" cy="25200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782" name="TextBox 781"/>
          <p:cNvSpPr txBox="1">
            <a:spLocks/>
          </p:cNvSpPr>
          <p:nvPr/>
        </p:nvSpPr>
        <p:spPr>
          <a:xfrm>
            <a:off x="4511824" y="944752"/>
            <a:ext cx="252000" cy="25200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783" name="Straight Connector 782"/>
          <p:cNvCxnSpPr>
            <a:endCxn id="779" idx="1"/>
          </p:cNvCxnSpPr>
          <p:nvPr/>
        </p:nvCxnSpPr>
        <p:spPr>
          <a:xfrm>
            <a:off x="4763824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4" name="Straight Connector 783"/>
          <p:cNvCxnSpPr>
            <a:stCxn id="779" idx="3"/>
            <a:endCxn id="781" idx="1"/>
          </p:cNvCxnSpPr>
          <p:nvPr/>
        </p:nvCxnSpPr>
        <p:spPr>
          <a:xfrm>
            <a:off x="5135856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5" name="Straight Connector 784"/>
          <p:cNvCxnSpPr>
            <a:stCxn id="780" idx="1"/>
            <a:endCxn id="781" idx="3"/>
          </p:cNvCxnSpPr>
          <p:nvPr/>
        </p:nvCxnSpPr>
        <p:spPr>
          <a:xfrm flipH="1">
            <a:off x="5507888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3" name="TextBox 802"/>
          <p:cNvSpPr txBox="1">
            <a:spLocks/>
          </p:cNvSpPr>
          <p:nvPr/>
        </p:nvSpPr>
        <p:spPr>
          <a:xfrm>
            <a:off x="7692168" y="670102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04" name="TextBox 803"/>
          <p:cNvSpPr txBox="1">
            <a:spLocks/>
          </p:cNvSpPr>
          <p:nvPr/>
        </p:nvSpPr>
        <p:spPr>
          <a:xfrm>
            <a:off x="8436232" y="670102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05" name="TextBox 804"/>
          <p:cNvSpPr txBox="1">
            <a:spLocks/>
          </p:cNvSpPr>
          <p:nvPr/>
        </p:nvSpPr>
        <p:spPr>
          <a:xfrm>
            <a:off x="8064200" y="670102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806" name="TextBox 805"/>
          <p:cNvSpPr txBox="1">
            <a:spLocks/>
          </p:cNvSpPr>
          <p:nvPr/>
        </p:nvSpPr>
        <p:spPr>
          <a:xfrm>
            <a:off x="7320136" y="670102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807" name="Straight Connector 806"/>
          <p:cNvCxnSpPr>
            <a:endCxn id="803" idx="1"/>
          </p:cNvCxnSpPr>
          <p:nvPr/>
        </p:nvCxnSpPr>
        <p:spPr>
          <a:xfrm>
            <a:off x="7572136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807"/>
          <p:cNvCxnSpPr>
            <a:stCxn id="803" idx="3"/>
            <a:endCxn id="805" idx="1"/>
          </p:cNvCxnSpPr>
          <p:nvPr/>
        </p:nvCxnSpPr>
        <p:spPr>
          <a:xfrm>
            <a:off x="7944168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9" name="Straight Connector 808"/>
          <p:cNvCxnSpPr>
            <a:stCxn id="804" idx="1"/>
            <a:endCxn id="805" idx="3"/>
          </p:cNvCxnSpPr>
          <p:nvPr/>
        </p:nvCxnSpPr>
        <p:spPr>
          <a:xfrm flipH="1">
            <a:off x="8316200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6" name="TextBox 795"/>
          <p:cNvSpPr txBox="1">
            <a:spLocks/>
          </p:cNvSpPr>
          <p:nvPr/>
        </p:nvSpPr>
        <p:spPr>
          <a:xfrm>
            <a:off x="7692168" y="944752"/>
            <a:ext cx="252000" cy="252000"/>
          </a:xfrm>
          <a:prstGeom prst="rect">
            <a:avLst/>
          </a:prstGeom>
          <a:noFill/>
          <a:ln w="19050">
            <a:solidFill>
              <a:srgbClr val="008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797" name="TextBox 796"/>
          <p:cNvSpPr txBox="1">
            <a:spLocks/>
          </p:cNvSpPr>
          <p:nvPr/>
        </p:nvSpPr>
        <p:spPr>
          <a:xfrm>
            <a:off x="8436232" y="944752"/>
            <a:ext cx="252000" cy="252000"/>
          </a:xfrm>
          <a:prstGeom prst="rect">
            <a:avLst/>
          </a:prstGeom>
          <a:noFill/>
          <a:ln w="19050">
            <a:solidFill>
              <a:srgbClr val="008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798" name="TextBox 797"/>
          <p:cNvSpPr txBox="1">
            <a:spLocks/>
          </p:cNvSpPr>
          <p:nvPr/>
        </p:nvSpPr>
        <p:spPr>
          <a:xfrm>
            <a:off x="8064200" y="944752"/>
            <a:ext cx="252000" cy="252000"/>
          </a:xfrm>
          <a:prstGeom prst="rect">
            <a:avLst/>
          </a:prstGeom>
          <a:noFill/>
          <a:ln w="19050">
            <a:solidFill>
              <a:srgbClr val="008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799" name="TextBox 798"/>
          <p:cNvSpPr txBox="1">
            <a:spLocks/>
          </p:cNvSpPr>
          <p:nvPr/>
        </p:nvSpPr>
        <p:spPr>
          <a:xfrm>
            <a:off x="7320136" y="944752"/>
            <a:ext cx="252000" cy="252000"/>
          </a:xfrm>
          <a:prstGeom prst="rect">
            <a:avLst/>
          </a:prstGeom>
          <a:noFill/>
          <a:ln w="19050">
            <a:solidFill>
              <a:srgbClr val="008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800" name="Straight Connector 799"/>
          <p:cNvCxnSpPr>
            <a:endCxn id="796" idx="1"/>
          </p:cNvCxnSpPr>
          <p:nvPr/>
        </p:nvCxnSpPr>
        <p:spPr>
          <a:xfrm>
            <a:off x="7572136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1" name="Straight Connector 800"/>
          <p:cNvCxnSpPr>
            <a:stCxn id="796" idx="3"/>
            <a:endCxn id="798" idx="1"/>
          </p:cNvCxnSpPr>
          <p:nvPr/>
        </p:nvCxnSpPr>
        <p:spPr>
          <a:xfrm>
            <a:off x="7944168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2" name="Straight Connector 801"/>
          <p:cNvCxnSpPr>
            <a:stCxn id="797" idx="1"/>
            <a:endCxn id="798" idx="3"/>
          </p:cNvCxnSpPr>
          <p:nvPr/>
        </p:nvCxnSpPr>
        <p:spPr>
          <a:xfrm flipH="1">
            <a:off x="8316200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0" name="TextBox 819"/>
          <p:cNvSpPr txBox="1">
            <a:spLocks/>
          </p:cNvSpPr>
          <p:nvPr/>
        </p:nvSpPr>
        <p:spPr>
          <a:xfrm>
            <a:off x="9276344" y="670102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21" name="TextBox 820"/>
          <p:cNvSpPr txBox="1">
            <a:spLocks/>
          </p:cNvSpPr>
          <p:nvPr/>
        </p:nvSpPr>
        <p:spPr>
          <a:xfrm>
            <a:off x="10020408" y="670102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22" name="TextBox 821"/>
          <p:cNvSpPr txBox="1">
            <a:spLocks/>
          </p:cNvSpPr>
          <p:nvPr/>
        </p:nvSpPr>
        <p:spPr>
          <a:xfrm>
            <a:off x="9648376" y="670102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23" name="TextBox 822"/>
          <p:cNvSpPr txBox="1">
            <a:spLocks/>
          </p:cNvSpPr>
          <p:nvPr/>
        </p:nvSpPr>
        <p:spPr>
          <a:xfrm>
            <a:off x="8904312" y="670102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824" name="Straight Connector 823"/>
          <p:cNvCxnSpPr>
            <a:endCxn id="820" idx="1"/>
          </p:cNvCxnSpPr>
          <p:nvPr/>
        </p:nvCxnSpPr>
        <p:spPr>
          <a:xfrm>
            <a:off x="9156312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824"/>
          <p:cNvCxnSpPr>
            <a:stCxn id="820" idx="3"/>
            <a:endCxn id="822" idx="1"/>
          </p:cNvCxnSpPr>
          <p:nvPr/>
        </p:nvCxnSpPr>
        <p:spPr>
          <a:xfrm>
            <a:off x="9528344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6" name="Straight Connector 825"/>
          <p:cNvCxnSpPr>
            <a:stCxn id="821" idx="1"/>
            <a:endCxn id="822" idx="3"/>
          </p:cNvCxnSpPr>
          <p:nvPr/>
        </p:nvCxnSpPr>
        <p:spPr>
          <a:xfrm flipH="1">
            <a:off x="9900376" y="79610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3" name="TextBox 812"/>
          <p:cNvSpPr txBox="1">
            <a:spLocks/>
          </p:cNvSpPr>
          <p:nvPr/>
        </p:nvSpPr>
        <p:spPr>
          <a:xfrm>
            <a:off x="9276344" y="944752"/>
            <a:ext cx="252000" cy="25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14" name="TextBox 813"/>
          <p:cNvSpPr txBox="1">
            <a:spLocks/>
          </p:cNvSpPr>
          <p:nvPr/>
        </p:nvSpPr>
        <p:spPr>
          <a:xfrm>
            <a:off x="10020408" y="944752"/>
            <a:ext cx="252000" cy="25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15" name="TextBox 814"/>
          <p:cNvSpPr txBox="1">
            <a:spLocks/>
          </p:cNvSpPr>
          <p:nvPr/>
        </p:nvSpPr>
        <p:spPr>
          <a:xfrm>
            <a:off x="9648376" y="944752"/>
            <a:ext cx="252000" cy="25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16" name="TextBox 815"/>
          <p:cNvSpPr txBox="1">
            <a:spLocks/>
          </p:cNvSpPr>
          <p:nvPr/>
        </p:nvSpPr>
        <p:spPr>
          <a:xfrm>
            <a:off x="8904312" y="944752"/>
            <a:ext cx="252000" cy="25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817" name="Straight Connector 816"/>
          <p:cNvCxnSpPr>
            <a:endCxn id="813" idx="1"/>
          </p:cNvCxnSpPr>
          <p:nvPr/>
        </p:nvCxnSpPr>
        <p:spPr>
          <a:xfrm>
            <a:off x="9156312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Connector 817"/>
          <p:cNvCxnSpPr>
            <a:stCxn id="813" idx="3"/>
            <a:endCxn id="815" idx="1"/>
          </p:cNvCxnSpPr>
          <p:nvPr/>
        </p:nvCxnSpPr>
        <p:spPr>
          <a:xfrm>
            <a:off x="9528344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818"/>
          <p:cNvCxnSpPr>
            <a:stCxn id="814" idx="1"/>
            <a:endCxn id="815" idx="3"/>
          </p:cNvCxnSpPr>
          <p:nvPr/>
        </p:nvCxnSpPr>
        <p:spPr>
          <a:xfrm flipH="1">
            <a:off x="9900376" y="1070752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7" name="TextBox 836"/>
          <p:cNvSpPr txBox="1">
            <a:spLocks/>
          </p:cNvSpPr>
          <p:nvPr/>
        </p:nvSpPr>
        <p:spPr>
          <a:xfrm>
            <a:off x="2003592" y="2558930"/>
            <a:ext cx="252000" cy="252000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38" name="TextBox 837"/>
          <p:cNvSpPr txBox="1">
            <a:spLocks/>
          </p:cNvSpPr>
          <p:nvPr/>
        </p:nvSpPr>
        <p:spPr>
          <a:xfrm>
            <a:off x="2747656" y="2558930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39" name="TextBox 838"/>
          <p:cNvSpPr txBox="1">
            <a:spLocks/>
          </p:cNvSpPr>
          <p:nvPr/>
        </p:nvSpPr>
        <p:spPr>
          <a:xfrm>
            <a:off x="2375624" y="2558930"/>
            <a:ext cx="252000" cy="252000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40" name="TextBox 839"/>
          <p:cNvSpPr txBox="1">
            <a:spLocks/>
          </p:cNvSpPr>
          <p:nvPr/>
        </p:nvSpPr>
        <p:spPr>
          <a:xfrm>
            <a:off x="1631560" y="2558930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841" name="Straight Connector 840"/>
          <p:cNvCxnSpPr>
            <a:endCxn id="837" idx="1"/>
          </p:cNvCxnSpPr>
          <p:nvPr/>
        </p:nvCxnSpPr>
        <p:spPr>
          <a:xfrm>
            <a:off x="1883560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Straight Connector 841"/>
          <p:cNvCxnSpPr>
            <a:stCxn id="837" idx="3"/>
            <a:endCxn id="839" idx="1"/>
          </p:cNvCxnSpPr>
          <p:nvPr/>
        </p:nvCxnSpPr>
        <p:spPr>
          <a:xfrm>
            <a:off x="2255592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3" name="Straight Connector 842"/>
          <p:cNvCxnSpPr>
            <a:stCxn id="838" idx="1"/>
            <a:endCxn id="839" idx="3"/>
          </p:cNvCxnSpPr>
          <p:nvPr/>
        </p:nvCxnSpPr>
        <p:spPr>
          <a:xfrm flipH="1">
            <a:off x="2627624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0" name="TextBox 829"/>
          <p:cNvSpPr txBox="1">
            <a:spLocks/>
          </p:cNvSpPr>
          <p:nvPr/>
        </p:nvSpPr>
        <p:spPr>
          <a:xfrm>
            <a:off x="2003592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31" name="TextBox 830"/>
          <p:cNvSpPr txBox="1">
            <a:spLocks/>
          </p:cNvSpPr>
          <p:nvPr/>
        </p:nvSpPr>
        <p:spPr>
          <a:xfrm>
            <a:off x="2747656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832" name="TextBox 831"/>
          <p:cNvSpPr txBox="1">
            <a:spLocks/>
          </p:cNvSpPr>
          <p:nvPr/>
        </p:nvSpPr>
        <p:spPr>
          <a:xfrm>
            <a:off x="2375624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33" name="TextBox 832"/>
          <p:cNvSpPr txBox="1">
            <a:spLocks/>
          </p:cNvSpPr>
          <p:nvPr/>
        </p:nvSpPr>
        <p:spPr>
          <a:xfrm>
            <a:off x="1631560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834" name="Straight Connector 833"/>
          <p:cNvCxnSpPr>
            <a:endCxn id="830" idx="1"/>
          </p:cNvCxnSpPr>
          <p:nvPr/>
        </p:nvCxnSpPr>
        <p:spPr>
          <a:xfrm>
            <a:off x="1883560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5" name="Straight Connector 834"/>
          <p:cNvCxnSpPr>
            <a:stCxn id="830" idx="3"/>
            <a:endCxn id="832" idx="1"/>
          </p:cNvCxnSpPr>
          <p:nvPr/>
        </p:nvCxnSpPr>
        <p:spPr>
          <a:xfrm>
            <a:off x="2255592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6" name="Straight Connector 835"/>
          <p:cNvCxnSpPr>
            <a:stCxn id="831" idx="1"/>
            <a:endCxn id="832" idx="3"/>
          </p:cNvCxnSpPr>
          <p:nvPr/>
        </p:nvCxnSpPr>
        <p:spPr>
          <a:xfrm flipH="1">
            <a:off x="2627624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4" name="TextBox 853"/>
          <p:cNvSpPr txBox="1">
            <a:spLocks/>
          </p:cNvSpPr>
          <p:nvPr/>
        </p:nvSpPr>
        <p:spPr>
          <a:xfrm>
            <a:off x="3515749" y="2558930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55" name="TextBox 854"/>
          <p:cNvSpPr txBox="1">
            <a:spLocks/>
          </p:cNvSpPr>
          <p:nvPr/>
        </p:nvSpPr>
        <p:spPr>
          <a:xfrm>
            <a:off x="4259813" y="2558930"/>
            <a:ext cx="252000" cy="252000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56" name="TextBox 855"/>
          <p:cNvSpPr txBox="1">
            <a:spLocks/>
          </p:cNvSpPr>
          <p:nvPr/>
        </p:nvSpPr>
        <p:spPr>
          <a:xfrm>
            <a:off x="3887781" y="2558930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57" name="TextBox 856"/>
          <p:cNvSpPr txBox="1">
            <a:spLocks/>
          </p:cNvSpPr>
          <p:nvPr/>
        </p:nvSpPr>
        <p:spPr>
          <a:xfrm>
            <a:off x="3143717" y="2558930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858" name="Straight Connector 857"/>
          <p:cNvCxnSpPr>
            <a:endCxn id="854" idx="1"/>
          </p:cNvCxnSpPr>
          <p:nvPr/>
        </p:nvCxnSpPr>
        <p:spPr>
          <a:xfrm>
            <a:off x="3395717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9" name="Straight Connector 858"/>
          <p:cNvCxnSpPr>
            <a:stCxn id="854" idx="3"/>
            <a:endCxn id="856" idx="1"/>
          </p:cNvCxnSpPr>
          <p:nvPr/>
        </p:nvCxnSpPr>
        <p:spPr>
          <a:xfrm>
            <a:off x="3767749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0" name="Straight Connector 859"/>
          <p:cNvCxnSpPr>
            <a:stCxn id="855" idx="1"/>
            <a:endCxn id="856" idx="3"/>
          </p:cNvCxnSpPr>
          <p:nvPr/>
        </p:nvCxnSpPr>
        <p:spPr>
          <a:xfrm flipH="1">
            <a:off x="4139781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7" name="TextBox 846"/>
          <p:cNvSpPr txBox="1">
            <a:spLocks/>
          </p:cNvSpPr>
          <p:nvPr/>
        </p:nvSpPr>
        <p:spPr>
          <a:xfrm>
            <a:off x="3515749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48" name="TextBox 847"/>
          <p:cNvSpPr txBox="1">
            <a:spLocks/>
          </p:cNvSpPr>
          <p:nvPr/>
        </p:nvSpPr>
        <p:spPr>
          <a:xfrm>
            <a:off x="4259813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849" name="TextBox 848"/>
          <p:cNvSpPr txBox="1">
            <a:spLocks/>
          </p:cNvSpPr>
          <p:nvPr/>
        </p:nvSpPr>
        <p:spPr>
          <a:xfrm>
            <a:off x="3887781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50" name="TextBox 849"/>
          <p:cNvSpPr txBox="1">
            <a:spLocks/>
          </p:cNvSpPr>
          <p:nvPr/>
        </p:nvSpPr>
        <p:spPr>
          <a:xfrm>
            <a:off x="3143717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851" name="Straight Connector 850"/>
          <p:cNvCxnSpPr>
            <a:endCxn id="847" idx="1"/>
          </p:cNvCxnSpPr>
          <p:nvPr/>
        </p:nvCxnSpPr>
        <p:spPr>
          <a:xfrm>
            <a:off x="3395717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2" name="Straight Connector 851"/>
          <p:cNvCxnSpPr>
            <a:stCxn id="847" idx="3"/>
            <a:endCxn id="849" idx="1"/>
          </p:cNvCxnSpPr>
          <p:nvPr/>
        </p:nvCxnSpPr>
        <p:spPr>
          <a:xfrm>
            <a:off x="3767749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3" name="Straight Connector 852"/>
          <p:cNvCxnSpPr>
            <a:stCxn id="848" idx="1"/>
            <a:endCxn id="849" idx="3"/>
          </p:cNvCxnSpPr>
          <p:nvPr/>
        </p:nvCxnSpPr>
        <p:spPr>
          <a:xfrm flipH="1">
            <a:off x="4139781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1" name="TextBox 870"/>
          <p:cNvSpPr txBox="1">
            <a:spLocks/>
          </p:cNvSpPr>
          <p:nvPr/>
        </p:nvSpPr>
        <p:spPr>
          <a:xfrm>
            <a:off x="5027906" y="255893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72" name="TextBox 871"/>
          <p:cNvSpPr txBox="1">
            <a:spLocks/>
          </p:cNvSpPr>
          <p:nvPr/>
        </p:nvSpPr>
        <p:spPr>
          <a:xfrm>
            <a:off x="5771970" y="255893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73" name="TextBox 872"/>
          <p:cNvSpPr txBox="1">
            <a:spLocks/>
          </p:cNvSpPr>
          <p:nvPr/>
        </p:nvSpPr>
        <p:spPr>
          <a:xfrm>
            <a:off x="5399938" y="255893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74" name="TextBox 873"/>
          <p:cNvSpPr txBox="1">
            <a:spLocks/>
          </p:cNvSpPr>
          <p:nvPr/>
        </p:nvSpPr>
        <p:spPr>
          <a:xfrm>
            <a:off x="4655874" y="2558930"/>
            <a:ext cx="252000" cy="252000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875" name="Straight Connector 874"/>
          <p:cNvCxnSpPr>
            <a:endCxn id="871" idx="1"/>
          </p:cNvCxnSpPr>
          <p:nvPr/>
        </p:nvCxnSpPr>
        <p:spPr>
          <a:xfrm>
            <a:off x="4907874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6" name="Straight Connector 875"/>
          <p:cNvCxnSpPr>
            <a:stCxn id="871" idx="3"/>
            <a:endCxn id="873" idx="1"/>
          </p:cNvCxnSpPr>
          <p:nvPr/>
        </p:nvCxnSpPr>
        <p:spPr>
          <a:xfrm>
            <a:off x="5279906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7" name="Straight Connector 876"/>
          <p:cNvCxnSpPr>
            <a:stCxn id="872" idx="1"/>
            <a:endCxn id="873" idx="3"/>
          </p:cNvCxnSpPr>
          <p:nvPr/>
        </p:nvCxnSpPr>
        <p:spPr>
          <a:xfrm flipH="1">
            <a:off x="5651938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4" name="TextBox 863"/>
          <p:cNvSpPr txBox="1">
            <a:spLocks/>
          </p:cNvSpPr>
          <p:nvPr/>
        </p:nvSpPr>
        <p:spPr>
          <a:xfrm>
            <a:off x="5027906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65" name="TextBox 864"/>
          <p:cNvSpPr txBox="1">
            <a:spLocks/>
          </p:cNvSpPr>
          <p:nvPr/>
        </p:nvSpPr>
        <p:spPr>
          <a:xfrm>
            <a:off x="5771970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866" name="TextBox 865"/>
          <p:cNvSpPr txBox="1">
            <a:spLocks/>
          </p:cNvSpPr>
          <p:nvPr/>
        </p:nvSpPr>
        <p:spPr>
          <a:xfrm>
            <a:off x="5399938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67" name="TextBox 866"/>
          <p:cNvSpPr txBox="1">
            <a:spLocks/>
          </p:cNvSpPr>
          <p:nvPr/>
        </p:nvSpPr>
        <p:spPr>
          <a:xfrm>
            <a:off x="4655874" y="2833580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868" name="Straight Connector 867"/>
          <p:cNvCxnSpPr>
            <a:endCxn id="864" idx="1"/>
          </p:cNvCxnSpPr>
          <p:nvPr/>
        </p:nvCxnSpPr>
        <p:spPr>
          <a:xfrm>
            <a:off x="4907874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9" name="Straight Connector 868"/>
          <p:cNvCxnSpPr>
            <a:stCxn id="864" idx="3"/>
            <a:endCxn id="866" idx="1"/>
          </p:cNvCxnSpPr>
          <p:nvPr/>
        </p:nvCxnSpPr>
        <p:spPr>
          <a:xfrm>
            <a:off x="5279906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0" name="Straight Connector 869"/>
          <p:cNvCxnSpPr>
            <a:stCxn id="865" idx="1"/>
            <a:endCxn id="866" idx="3"/>
          </p:cNvCxnSpPr>
          <p:nvPr/>
        </p:nvCxnSpPr>
        <p:spPr>
          <a:xfrm flipH="1">
            <a:off x="5651938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8" name="TextBox 887"/>
          <p:cNvSpPr txBox="1">
            <a:spLocks/>
          </p:cNvSpPr>
          <p:nvPr/>
        </p:nvSpPr>
        <p:spPr>
          <a:xfrm>
            <a:off x="6540063" y="255893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89" name="TextBox 888"/>
          <p:cNvSpPr txBox="1">
            <a:spLocks/>
          </p:cNvSpPr>
          <p:nvPr/>
        </p:nvSpPr>
        <p:spPr>
          <a:xfrm>
            <a:off x="7284127" y="255893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90" name="TextBox 889"/>
          <p:cNvSpPr txBox="1">
            <a:spLocks/>
          </p:cNvSpPr>
          <p:nvPr/>
        </p:nvSpPr>
        <p:spPr>
          <a:xfrm>
            <a:off x="6912095" y="255893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91" name="TextBox 890"/>
          <p:cNvSpPr txBox="1">
            <a:spLocks/>
          </p:cNvSpPr>
          <p:nvPr/>
        </p:nvSpPr>
        <p:spPr>
          <a:xfrm>
            <a:off x="6168031" y="255893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892" name="Straight Connector 891"/>
          <p:cNvCxnSpPr>
            <a:endCxn id="888" idx="1"/>
          </p:cNvCxnSpPr>
          <p:nvPr/>
        </p:nvCxnSpPr>
        <p:spPr>
          <a:xfrm>
            <a:off x="6420031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3" name="Straight Connector 892"/>
          <p:cNvCxnSpPr>
            <a:stCxn id="888" idx="3"/>
            <a:endCxn id="890" idx="1"/>
          </p:cNvCxnSpPr>
          <p:nvPr/>
        </p:nvCxnSpPr>
        <p:spPr>
          <a:xfrm>
            <a:off x="6792063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4" name="Straight Connector 893"/>
          <p:cNvCxnSpPr>
            <a:stCxn id="889" idx="1"/>
            <a:endCxn id="890" idx="3"/>
          </p:cNvCxnSpPr>
          <p:nvPr/>
        </p:nvCxnSpPr>
        <p:spPr>
          <a:xfrm flipH="1">
            <a:off x="7164095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1" name="TextBox 880"/>
          <p:cNvSpPr txBox="1">
            <a:spLocks/>
          </p:cNvSpPr>
          <p:nvPr/>
        </p:nvSpPr>
        <p:spPr>
          <a:xfrm>
            <a:off x="6540063" y="2833580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82" name="TextBox 881"/>
          <p:cNvSpPr txBox="1">
            <a:spLocks/>
          </p:cNvSpPr>
          <p:nvPr/>
        </p:nvSpPr>
        <p:spPr>
          <a:xfrm>
            <a:off x="7284127" y="2833580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83" name="TextBox 882"/>
          <p:cNvSpPr txBox="1">
            <a:spLocks/>
          </p:cNvSpPr>
          <p:nvPr/>
        </p:nvSpPr>
        <p:spPr>
          <a:xfrm>
            <a:off x="6912095" y="2833580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884" name="TextBox 883"/>
          <p:cNvSpPr txBox="1">
            <a:spLocks/>
          </p:cNvSpPr>
          <p:nvPr/>
        </p:nvSpPr>
        <p:spPr>
          <a:xfrm>
            <a:off x="6168031" y="2833580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885" name="Straight Connector 884"/>
          <p:cNvCxnSpPr>
            <a:endCxn id="881" idx="1"/>
          </p:cNvCxnSpPr>
          <p:nvPr/>
        </p:nvCxnSpPr>
        <p:spPr>
          <a:xfrm>
            <a:off x="6420031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6" name="Straight Connector 885"/>
          <p:cNvCxnSpPr>
            <a:stCxn id="881" idx="3"/>
            <a:endCxn id="883" idx="1"/>
          </p:cNvCxnSpPr>
          <p:nvPr/>
        </p:nvCxnSpPr>
        <p:spPr>
          <a:xfrm>
            <a:off x="6792063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7" name="Straight Connector 886"/>
          <p:cNvCxnSpPr>
            <a:stCxn id="882" idx="1"/>
            <a:endCxn id="883" idx="3"/>
          </p:cNvCxnSpPr>
          <p:nvPr/>
        </p:nvCxnSpPr>
        <p:spPr>
          <a:xfrm flipH="1">
            <a:off x="7164095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9" name="TextBox 938"/>
          <p:cNvSpPr txBox="1">
            <a:spLocks/>
          </p:cNvSpPr>
          <p:nvPr/>
        </p:nvSpPr>
        <p:spPr>
          <a:xfrm>
            <a:off x="8052220" y="2558930"/>
            <a:ext cx="252000" cy="2520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40" name="TextBox 939"/>
          <p:cNvSpPr txBox="1">
            <a:spLocks/>
          </p:cNvSpPr>
          <p:nvPr/>
        </p:nvSpPr>
        <p:spPr>
          <a:xfrm>
            <a:off x="8796284" y="2558930"/>
            <a:ext cx="252000" cy="2520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41" name="TextBox 940"/>
          <p:cNvSpPr txBox="1">
            <a:spLocks/>
          </p:cNvSpPr>
          <p:nvPr/>
        </p:nvSpPr>
        <p:spPr>
          <a:xfrm>
            <a:off x="8424252" y="2558930"/>
            <a:ext cx="252000" cy="2520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942" name="TextBox 941"/>
          <p:cNvSpPr txBox="1">
            <a:spLocks/>
          </p:cNvSpPr>
          <p:nvPr/>
        </p:nvSpPr>
        <p:spPr>
          <a:xfrm>
            <a:off x="7680188" y="2558930"/>
            <a:ext cx="252000" cy="2520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943" name="Straight Connector 942"/>
          <p:cNvCxnSpPr>
            <a:endCxn id="939" idx="1"/>
          </p:cNvCxnSpPr>
          <p:nvPr/>
        </p:nvCxnSpPr>
        <p:spPr>
          <a:xfrm>
            <a:off x="7932188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4" name="Straight Connector 943"/>
          <p:cNvCxnSpPr>
            <a:stCxn id="939" idx="3"/>
            <a:endCxn id="941" idx="1"/>
          </p:cNvCxnSpPr>
          <p:nvPr/>
        </p:nvCxnSpPr>
        <p:spPr>
          <a:xfrm>
            <a:off x="8304220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5" name="Straight Connector 944"/>
          <p:cNvCxnSpPr>
            <a:stCxn id="940" idx="1"/>
            <a:endCxn id="941" idx="3"/>
          </p:cNvCxnSpPr>
          <p:nvPr/>
        </p:nvCxnSpPr>
        <p:spPr>
          <a:xfrm flipH="1">
            <a:off x="8676252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2" name="TextBox 931"/>
          <p:cNvSpPr txBox="1">
            <a:spLocks/>
          </p:cNvSpPr>
          <p:nvPr/>
        </p:nvSpPr>
        <p:spPr>
          <a:xfrm>
            <a:off x="8052220" y="2833580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33" name="TextBox 932"/>
          <p:cNvSpPr txBox="1">
            <a:spLocks/>
          </p:cNvSpPr>
          <p:nvPr/>
        </p:nvSpPr>
        <p:spPr>
          <a:xfrm>
            <a:off x="8796284" y="2833580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34" name="TextBox 933"/>
          <p:cNvSpPr txBox="1">
            <a:spLocks/>
          </p:cNvSpPr>
          <p:nvPr/>
        </p:nvSpPr>
        <p:spPr>
          <a:xfrm>
            <a:off x="8424252" y="2833580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35" name="TextBox 934"/>
          <p:cNvSpPr txBox="1">
            <a:spLocks/>
          </p:cNvSpPr>
          <p:nvPr/>
        </p:nvSpPr>
        <p:spPr>
          <a:xfrm>
            <a:off x="7680188" y="2833580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936" name="Straight Connector 935"/>
          <p:cNvCxnSpPr>
            <a:endCxn id="932" idx="1"/>
          </p:cNvCxnSpPr>
          <p:nvPr/>
        </p:nvCxnSpPr>
        <p:spPr>
          <a:xfrm>
            <a:off x="7932188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7" name="Straight Connector 936"/>
          <p:cNvCxnSpPr>
            <a:stCxn id="932" idx="3"/>
            <a:endCxn id="934" idx="1"/>
          </p:cNvCxnSpPr>
          <p:nvPr/>
        </p:nvCxnSpPr>
        <p:spPr>
          <a:xfrm>
            <a:off x="8304220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8" name="Straight Connector 937"/>
          <p:cNvCxnSpPr>
            <a:stCxn id="933" idx="1"/>
            <a:endCxn id="934" idx="3"/>
          </p:cNvCxnSpPr>
          <p:nvPr/>
        </p:nvCxnSpPr>
        <p:spPr>
          <a:xfrm flipH="1">
            <a:off x="8676252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6" name="TextBox 955"/>
          <p:cNvSpPr txBox="1">
            <a:spLocks/>
          </p:cNvSpPr>
          <p:nvPr/>
        </p:nvSpPr>
        <p:spPr>
          <a:xfrm>
            <a:off x="9564376" y="2558930"/>
            <a:ext cx="252000" cy="2520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57" name="TextBox 956"/>
          <p:cNvSpPr txBox="1">
            <a:spLocks/>
          </p:cNvSpPr>
          <p:nvPr/>
        </p:nvSpPr>
        <p:spPr>
          <a:xfrm>
            <a:off x="10308440" y="2558930"/>
            <a:ext cx="252000" cy="2520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58" name="TextBox 957"/>
          <p:cNvSpPr txBox="1">
            <a:spLocks/>
          </p:cNvSpPr>
          <p:nvPr/>
        </p:nvSpPr>
        <p:spPr>
          <a:xfrm>
            <a:off x="9936408" y="2558930"/>
            <a:ext cx="252000" cy="2520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959" name="TextBox 958"/>
          <p:cNvSpPr txBox="1">
            <a:spLocks/>
          </p:cNvSpPr>
          <p:nvPr/>
        </p:nvSpPr>
        <p:spPr>
          <a:xfrm>
            <a:off x="9192344" y="2558930"/>
            <a:ext cx="252000" cy="2520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960" name="Straight Connector 959"/>
          <p:cNvCxnSpPr>
            <a:endCxn id="956" idx="1"/>
          </p:cNvCxnSpPr>
          <p:nvPr/>
        </p:nvCxnSpPr>
        <p:spPr>
          <a:xfrm>
            <a:off x="9444344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1" name="Straight Connector 960"/>
          <p:cNvCxnSpPr>
            <a:stCxn id="956" idx="3"/>
            <a:endCxn id="958" idx="1"/>
          </p:cNvCxnSpPr>
          <p:nvPr/>
        </p:nvCxnSpPr>
        <p:spPr>
          <a:xfrm>
            <a:off x="9816376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2" name="Straight Connector 961"/>
          <p:cNvCxnSpPr>
            <a:stCxn id="957" idx="1"/>
            <a:endCxn id="958" idx="3"/>
          </p:cNvCxnSpPr>
          <p:nvPr/>
        </p:nvCxnSpPr>
        <p:spPr>
          <a:xfrm flipH="1">
            <a:off x="10188408" y="268493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9" name="TextBox 948"/>
          <p:cNvSpPr txBox="1">
            <a:spLocks/>
          </p:cNvSpPr>
          <p:nvPr/>
        </p:nvSpPr>
        <p:spPr>
          <a:xfrm>
            <a:off x="9564376" y="2833580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50" name="TextBox 949"/>
          <p:cNvSpPr txBox="1">
            <a:spLocks/>
          </p:cNvSpPr>
          <p:nvPr/>
        </p:nvSpPr>
        <p:spPr>
          <a:xfrm>
            <a:off x="10308440" y="2833580"/>
            <a:ext cx="252000" cy="25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51" name="TextBox 950"/>
          <p:cNvSpPr txBox="1">
            <a:spLocks/>
          </p:cNvSpPr>
          <p:nvPr/>
        </p:nvSpPr>
        <p:spPr>
          <a:xfrm>
            <a:off x="9936408" y="2833580"/>
            <a:ext cx="252000" cy="25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52" name="TextBox 951"/>
          <p:cNvSpPr txBox="1">
            <a:spLocks/>
          </p:cNvSpPr>
          <p:nvPr/>
        </p:nvSpPr>
        <p:spPr>
          <a:xfrm>
            <a:off x="9192344" y="2833580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953" name="Straight Connector 952"/>
          <p:cNvCxnSpPr>
            <a:endCxn id="949" idx="1"/>
          </p:cNvCxnSpPr>
          <p:nvPr/>
        </p:nvCxnSpPr>
        <p:spPr>
          <a:xfrm>
            <a:off x="9444344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4" name="Straight Connector 953"/>
          <p:cNvCxnSpPr>
            <a:stCxn id="949" idx="3"/>
            <a:endCxn id="951" idx="1"/>
          </p:cNvCxnSpPr>
          <p:nvPr/>
        </p:nvCxnSpPr>
        <p:spPr>
          <a:xfrm>
            <a:off x="9816376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5" name="Straight Connector 954"/>
          <p:cNvCxnSpPr>
            <a:stCxn id="950" idx="1"/>
            <a:endCxn id="951" idx="3"/>
          </p:cNvCxnSpPr>
          <p:nvPr/>
        </p:nvCxnSpPr>
        <p:spPr>
          <a:xfrm flipH="1">
            <a:off x="10188408" y="2959580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3" name="TextBox 982"/>
          <p:cNvSpPr txBox="1">
            <a:spLocks/>
          </p:cNvSpPr>
          <p:nvPr/>
        </p:nvSpPr>
        <p:spPr>
          <a:xfrm>
            <a:off x="4883856" y="4486526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84" name="TextBox 983"/>
          <p:cNvSpPr txBox="1">
            <a:spLocks/>
          </p:cNvSpPr>
          <p:nvPr/>
        </p:nvSpPr>
        <p:spPr>
          <a:xfrm>
            <a:off x="5627920" y="4486526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85" name="TextBox 984"/>
          <p:cNvSpPr txBox="1">
            <a:spLocks/>
          </p:cNvSpPr>
          <p:nvPr/>
        </p:nvSpPr>
        <p:spPr>
          <a:xfrm>
            <a:off x="5255888" y="4486526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86" name="TextBox 985"/>
          <p:cNvSpPr txBox="1">
            <a:spLocks/>
          </p:cNvSpPr>
          <p:nvPr/>
        </p:nvSpPr>
        <p:spPr>
          <a:xfrm>
            <a:off x="4511824" y="4486526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cxnSp>
        <p:nvCxnSpPr>
          <p:cNvPr id="987" name="Straight Connector 986"/>
          <p:cNvCxnSpPr>
            <a:endCxn id="983" idx="1"/>
          </p:cNvCxnSpPr>
          <p:nvPr/>
        </p:nvCxnSpPr>
        <p:spPr>
          <a:xfrm>
            <a:off x="4763824" y="461252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8" name="Straight Connector 987"/>
          <p:cNvCxnSpPr>
            <a:stCxn id="983" idx="3"/>
            <a:endCxn id="985" idx="1"/>
          </p:cNvCxnSpPr>
          <p:nvPr/>
        </p:nvCxnSpPr>
        <p:spPr>
          <a:xfrm>
            <a:off x="5135856" y="461252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9" name="Straight Connector 988"/>
          <p:cNvCxnSpPr>
            <a:stCxn id="984" idx="1"/>
            <a:endCxn id="985" idx="3"/>
          </p:cNvCxnSpPr>
          <p:nvPr/>
        </p:nvCxnSpPr>
        <p:spPr>
          <a:xfrm flipH="1">
            <a:off x="5507888" y="461252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6" name="TextBox 975"/>
          <p:cNvSpPr txBox="1">
            <a:spLocks/>
          </p:cNvSpPr>
          <p:nvPr/>
        </p:nvSpPr>
        <p:spPr>
          <a:xfrm>
            <a:off x="4883856" y="4761176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77" name="TextBox 976"/>
          <p:cNvSpPr txBox="1">
            <a:spLocks/>
          </p:cNvSpPr>
          <p:nvPr/>
        </p:nvSpPr>
        <p:spPr>
          <a:xfrm>
            <a:off x="5627920" y="4761176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78" name="TextBox 977"/>
          <p:cNvSpPr txBox="1">
            <a:spLocks/>
          </p:cNvSpPr>
          <p:nvPr/>
        </p:nvSpPr>
        <p:spPr>
          <a:xfrm>
            <a:off x="5255888" y="4761176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79" name="TextBox 978"/>
          <p:cNvSpPr txBox="1">
            <a:spLocks/>
          </p:cNvSpPr>
          <p:nvPr/>
        </p:nvSpPr>
        <p:spPr>
          <a:xfrm>
            <a:off x="4511824" y="4761176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980" name="Straight Connector 979"/>
          <p:cNvCxnSpPr>
            <a:endCxn id="976" idx="1"/>
          </p:cNvCxnSpPr>
          <p:nvPr/>
        </p:nvCxnSpPr>
        <p:spPr>
          <a:xfrm>
            <a:off x="4763824" y="488717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1" name="Straight Connector 980"/>
          <p:cNvCxnSpPr>
            <a:stCxn id="976" idx="3"/>
            <a:endCxn id="978" idx="1"/>
          </p:cNvCxnSpPr>
          <p:nvPr/>
        </p:nvCxnSpPr>
        <p:spPr>
          <a:xfrm>
            <a:off x="5135856" y="488717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2" name="Straight Connector 981"/>
          <p:cNvCxnSpPr>
            <a:stCxn id="977" idx="1"/>
            <a:endCxn id="978" idx="3"/>
          </p:cNvCxnSpPr>
          <p:nvPr/>
        </p:nvCxnSpPr>
        <p:spPr>
          <a:xfrm flipH="1">
            <a:off x="5507888" y="488717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0" name="TextBox 999"/>
          <p:cNvSpPr txBox="1">
            <a:spLocks/>
          </p:cNvSpPr>
          <p:nvPr/>
        </p:nvSpPr>
        <p:spPr>
          <a:xfrm>
            <a:off x="6612104" y="4486526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001" name="TextBox 1000"/>
          <p:cNvSpPr txBox="1">
            <a:spLocks/>
          </p:cNvSpPr>
          <p:nvPr/>
        </p:nvSpPr>
        <p:spPr>
          <a:xfrm>
            <a:off x="7356168" y="4486526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002" name="TextBox 1001"/>
          <p:cNvSpPr txBox="1">
            <a:spLocks/>
          </p:cNvSpPr>
          <p:nvPr/>
        </p:nvSpPr>
        <p:spPr>
          <a:xfrm>
            <a:off x="6984136" y="4486526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003" name="TextBox 1002"/>
          <p:cNvSpPr txBox="1">
            <a:spLocks/>
          </p:cNvSpPr>
          <p:nvPr/>
        </p:nvSpPr>
        <p:spPr>
          <a:xfrm>
            <a:off x="6240072" y="4486526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1004" name="Straight Connector 1003"/>
          <p:cNvCxnSpPr>
            <a:endCxn id="1000" idx="1"/>
          </p:cNvCxnSpPr>
          <p:nvPr/>
        </p:nvCxnSpPr>
        <p:spPr>
          <a:xfrm>
            <a:off x="6492072" y="461252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5" name="Straight Connector 1004"/>
          <p:cNvCxnSpPr>
            <a:stCxn id="1000" idx="3"/>
            <a:endCxn id="1002" idx="1"/>
          </p:cNvCxnSpPr>
          <p:nvPr/>
        </p:nvCxnSpPr>
        <p:spPr>
          <a:xfrm>
            <a:off x="6864104" y="461252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6" name="Straight Connector 1005"/>
          <p:cNvCxnSpPr>
            <a:stCxn id="1001" idx="1"/>
            <a:endCxn id="1002" idx="3"/>
          </p:cNvCxnSpPr>
          <p:nvPr/>
        </p:nvCxnSpPr>
        <p:spPr>
          <a:xfrm flipH="1">
            <a:off x="7236136" y="461252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3" name="TextBox 992"/>
          <p:cNvSpPr txBox="1">
            <a:spLocks/>
          </p:cNvSpPr>
          <p:nvPr/>
        </p:nvSpPr>
        <p:spPr>
          <a:xfrm>
            <a:off x="6612104" y="4761176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94" name="TextBox 993"/>
          <p:cNvSpPr txBox="1">
            <a:spLocks/>
          </p:cNvSpPr>
          <p:nvPr/>
        </p:nvSpPr>
        <p:spPr>
          <a:xfrm>
            <a:off x="7356168" y="4761176"/>
            <a:ext cx="252000" cy="25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995" name="TextBox 994"/>
          <p:cNvSpPr txBox="1">
            <a:spLocks/>
          </p:cNvSpPr>
          <p:nvPr/>
        </p:nvSpPr>
        <p:spPr>
          <a:xfrm>
            <a:off x="6984136" y="4761176"/>
            <a:ext cx="252000" cy="252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96" name="TextBox 995"/>
          <p:cNvSpPr txBox="1">
            <a:spLocks/>
          </p:cNvSpPr>
          <p:nvPr/>
        </p:nvSpPr>
        <p:spPr>
          <a:xfrm>
            <a:off x="6240072" y="4761176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cxnSp>
        <p:nvCxnSpPr>
          <p:cNvPr id="997" name="Straight Connector 996"/>
          <p:cNvCxnSpPr>
            <a:endCxn id="993" idx="1"/>
          </p:cNvCxnSpPr>
          <p:nvPr/>
        </p:nvCxnSpPr>
        <p:spPr>
          <a:xfrm>
            <a:off x="6492072" y="488717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8" name="Straight Connector 997"/>
          <p:cNvCxnSpPr>
            <a:stCxn id="993" idx="3"/>
            <a:endCxn id="995" idx="1"/>
          </p:cNvCxnSpPr>
          <p:nvPr/>
        </p:nvCxnSpPr>
        <p:spPr>
          <a:xfrm>
            <a:off x="6864104" y="488717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9" name="Straight Connector 998"/>
          <p:cNvCxnSpPr>
            <a:stCxn id="994" idx="1"/>
            <a:endCxn id="995" idx="3"/>
          </p:cNvCxnSpPr>
          <p:nvPr/>
        </p:nvCxnSpPr>
        <p:spPr>
          <a:xfrm flipH="1">
            <a:off x="7236136" y="4887176"/>
            <a:ext cx="1200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6" name="TextBox 895"/>
          <p:cNvSpPr txBox="1">
            <a:spLocks/>
          </p:cNvSpPr>
          <p:nvPr/>
        </p:nvSpPr>
        <p:spPr>
          <a:xfrm>
            <a:off x="3299680" y="675353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97" name="TextBox 896"/>
          <p:cNvSpPr txBox="1">
            <a:spLocks/>
          </p:cNvSpPr>
          <p:nvPr/>
        </p:nvSpPr>
        <p:spPr>
          <a:xfrm>
            <a:off x="4043744" y="675353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898" name="TextBox 897"/>
          <p:cNvSpPr txBox="1">
            <a:spLocks/>
          </p:cNvSpPr>
          <p:nvPr/>
        </p:nvSpPr>
        <p:spPr>
          <a:xfrm>
            <a:off x="3671712" y="675353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899" name="TextBox 898"/>
          <p:cNvSpPr txBox="1">
            <a:spLocks/>
          </p:cNvSpPr>
          <p:nvPr/>
        </p:nvSpPr>
        <p:spPr>
          <a:xfrm>
            <a:off x="2927648" y="675353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900" name="TextBox 899"/>
          <p:cNvSpPr txBox="1">
            <a:spLocks/>
          </p:cNvSpPr>
          <p:nvPr/>
        </p:nvSpPr>
        <p:spPr>
          <a:xfrm>
            <a:off x="4883856" y="671323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01" name="TextBox 900"/>
          <p:cNvSpPr txBox="1">
            <a:spLocks/>
          </p:cNvSpPr>
          <p:nvPr/>
        </p:nvSpPr>
        <p:spPr>
          <a:xfrm>
            <a:off x="5627920" y="671323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902" name="TextBox 901"/>
          <p:cNvSpPr txBox="1">
            <a:spLocks/>
          </p:cNvSpPr>
          <p:nvPr/>
        </p:nvSpPr>
        <p:spPr>
          <a:xfrm>
            <a:off x="5255888" y="671323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903" name="TextBox 902"/>
          <p:cNvSpPr txBox="1">
            <a:spLocks/>
          </p:cNvSpPr>
          <p:nvPr/>
        </p:nvSpPr>
        <p:spPr>
          <a:xfrm>
            <a:off x="4511824" y="671323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70" name="TextBox 1469"/>
          <p:cNvSpPr txBox="1">
            <a:spLocks/>
          </p:cNvSpPr>
          <p:nvPr/>
        </p:nvSpPr>
        <p:spPr>
          <a:xfrm>
            <a:off x="7692168" y="669270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71" name="TextBox 1470"/>
          <p:cNvSpPr txBox="1">
            <a:spLocks/>
          </p:cNvSpPr>
          <p:nvPr/>
        </p:nvSpPr>
        <p:spPr>
          <a:xfrm>
            <a:off x="8436232" y="669270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472" name="TextBox 1471"/>
          <p:cNvSpPr txBox="1">
            <a:spLocks/>
          </p:cNvSpPr>
          <p:nvPr/>
        </p:nvSpPr>
        <p:spPr>
          <a:xfrm>
            <a:off x="8064200" y="669270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1473" name="TextBox 1472"/>
          <p:cNvSpPr txBox="1">
            <a:spLocks/>
          </p:cNvSpPr>
          <p:nvPr/>
        </p:nvSpPr>
        <p:spPr>
          <a:xfrm>
            <a:off x="7320136" y="669270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74" name="TextBox 1473"/>
          <p:cNvSpPr txBox="1">
            <a:spLocks/>
          </p:cNvSpPr>
          <p:nvPr/>
        </p:nvSpPr>
        <p:spPr>
          <a:xfrm>
            <a:off x="9276344" y="669270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475" name="TextBox 1474"/>
          <p:cNvSpPr txBox="1">
            <a:spLocks/>
          </p:cNvSpPr>
          <p:nvPr/>
        </p:nvSpPr>
        <p:spPr>
          <a:xfrm>
            <a:off x="10020408" y="669270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476" name="TextBox 1475"/>
          <p:cNvSpPr txBox="1">
            <a:spLocks/>
          </p:cNvSpPr>
          <p:nvPr/>
        </p:nvSpPr>
        <p:spPr>
          <a:xfrm>
            <a:off x="9648376" y="669270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77" name="TextBox 1476"/>
          <p:cNvSpPr txBox="1">
            <a:spLocks/>
          </p:cNvSpPr>
          <p:nvPr/>
        </p:nvSpPr>
        <p:spPr>
          <a:xfrm>
            <a:off x="8904312" y="669270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78" name="TextBox 1477"/>
          <p:cNvSpPr txBox="1">
            <a:spLocks/>
          </p:cNvSpPr>
          <p:nvPr/>
        </p:nvSpPr>
        <p:spPr>
          <a:xfrm>
            <a:off x="2003592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79" name="TextBox 1478"/>
          <p:cNvSpPr txBox="1">
            <a:spLocks/>
          </p:cNvSpPr>
          <p:nvPr/>
        </p:nvSpPr>
        <p:spPr>
          <a:xfrm>
            <a:off x="2747656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80" name="TextBox 1479"/>
          <p:cNvSpPr txBox="1">
            <a:spLocks/>
          </p:cNvSpPr>
          <p:nvPr/>
        </p:nvSpPr>
        <p:spPr>
          <a:xfrm>
            <a:off x="2375624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81" name="TextBox 1480"/>
          <p:cNvSpPr txBox="1">
            <a:spLocks/>
          </p:cNvSpPr>
          <p:nvPr/>
        </p:nvSpPr>
        <p:spPr>
          <a:xfrm>
            <a:off x="1631560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82" name="TextBox 1481"/>
          <p:cNvSpPr txBox="1">
            <a:spLocks/>
          </p:cNvSpPr>
          <p:nvPr/>
        </p:nvSpPr>
        <p:spPr>
          <a:xfrm>
            <a:off x="3515749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83" name="TextBox 1482"/>
          <p:cNvSpPr txBox="1">
            <a:spLocks/>
          </p:cNvSpPr>
          <p:nvPr/>
        </p:nvSpPr>
        <p:spPr>
          <a:xfrm>
            <a:off x="4259813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84" name="TextBox 1483"/>
          <p:cNvSpPr txBox="1">
            <a:spLocks/>
          </p:cNvSpPr>
          <p:nvPr/>
        </p:nvSpPr>
        <p:spPr>
          <a:xfrm>
            <a:off x="3887781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85" name="TextBox 1484"/>
          <p:cNvSpPr txBox="1">
            <a:spLocks/>
          </p:cNvSpPr>
          <p:nvPr/>
        </p:nvSpPr>
        <p:spPr>
          <a:xfrm>
            <a:off x="3143717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86" name="TextBox 1485"/>
          <p:cNvSpPr txBox="1">
            <a:spLocks/>
          </p:cNvSpPr>
          <p:nvPr/>
        </p:nvSpPr>
        <p:spPr>
          <a:xfrm>
            <a:off x="5027906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87" name="TextBox 1486"/>
          <p:cNvSpPr txBox="1">
            <a:spLocks/>
          </p:cNvSpPr>
          <p:nvPr/>
        </p:nvSpPr>
        <p:spPr>
          <a:xfrm>
            <a:off x="5771970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88" name="TextBox 1487"/>
          <p:cNvSpPr txBox="1">
            <a:spLocks/>
          </p:cNvSpPr>
          <p:nvPr/>
        </p:nvSpPr>
        <p:spPr>
          <a:xfrm>
            <a:off x="5399938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89" name="TextBox 1488"/>
          <p:cNvSpPr txBox="1">
            <a:spLocks/>
          </p:cNvSpPr>
          <p:nvPr/>
        </p:nvSpPr>
        <p:spPr>
          <a:xfrm>
            <a:off x="4655874" y="2832748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90" name="TextBox 1489"/>
          <p:cNvSpPr txBox="1">
            <a:spLocks/>
          </p:cNvSpPr>
          <p:nvPr/>
        </p:nvSpPr>
        <p:spPr>
          <a:xfrm>
            <a:off x="6540063" y="2832748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91" name="TextBox 1490"/>
          <p:cNvSpPr txBox="1">
            <a:spLocks/>
          </p:cNvSpPr>
          <p:nvPr/>
        </p:nvSpPr>
        <p:spPr>
          <a:xfrm>
            <a:off x="6168031" y="2832748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92" name="TextBox 1491"/>
          <p:cNvSpPr txBox="1">
            <a:spLocks/>
          </p:cNvSpPr>
          <p:nvPr/>
        </p:nvSpPr>
        <p:spPr>
          <a:xfrm>
            <a:off x="3299680" y="674521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93" name="TextBox 1492"/>
          <p:cNvSpPr txBox="1">
            <a:spLocks/>
          </p:cNvSpPr>
          <p:nvPr/>
        </p:nvSpPr>
        <p:spPr>
          <a:xfrm>
            <a:off x="4043744" y="674521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494" name="TextBox 1493"/>
          <p:cNvSpPr txBox="1">
            <a:spLocks/>
          </p:cNvSpPr>
          <p:nvPr/>
        </p:nvSpPr>
        <p:spPr>
          <a:xfrm>
            <a:off x="3671712" y="674521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95" name="TextBox 1494"/>
          <p:cNvSpPr txBox="1">
            <a:spLocks/>
          </p:cNvSpPr>
          <p:nvPr/>
        </p:nvSpPr>
        <p:spPr>
          <a:xfrm>
            <a:off x="2927648" y="674521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96" name="TextBox 1495"/>
          <p:cNvSpPr txBox="1">
            <a:spLocks/>
          </p:cNvSpPr>
          <p:nvPr/>
        </p:nvSpPr>
        <p:spPr>
          <a:xfrm>
            <a:off x="4883856" y="670491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97" name="TextBox 1496"/>
          <p:cNvSpPr txBox="1">
            <a:spLocks/>
          </p:cNvSpPr>
          <p:nvPr/>
        </p:nvSpPr>
        <p:spPr>
          <a:xfrm>
            <a:off x="5627920" y="670491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498" name="TextBox 1497"/>
          <p:cNvSpPr txBox="1">
            <a:spLocks/>
          </p:cNvSpPr>
          <p:nvPr/>
        </p:nvSpPr>
        <p:spPr>
          <a:xfrm>
            <a:off x="5255888" y="670491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499" name="TextBox 1498"/>
          <p:cNvSpPr txBox="1">
            <a:spLocks/>
          </p:cNvSpPr>
          <p:nvPr/>
        </p:nvSpPr>
        <p:spPr>
          <a:xfrm>
            <a:off x="4511824" y="670491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06" name="TextBox 1505"/>
          <p:cNvSpPr txBox="1">
            <a:spLocks/>
          </p:cNvSpPr>
          <p:nvPr/>
        </p:nvSpPr>
        <p:spPr>
          <a:xfrm>
            <a:off x="7284127" y="2832051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07" name="TextBox 1506"/>
          <p:cNvSpPr txBox="1">
            <a:spLocks/>
          </p:cNvSpPr>
          <p:nvPr/>
        </p:nvSpPr>
        <p:spPr>
          <a:xfrm>
            <a:off x="6912095" y="2832051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1508" name="TextBox 1507"/>
          <p:cNvSpPr txBox="1">
            <a:spLocks/>
          </p:cNvSpPr>
          <p:nvPr/>
        </p:nvSpPr>
        <p:spPr>
          <a:xfrm>
            <a:off x="7680188" y="2832051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09" name="TextBox 1508"/>
          <p:cNvSpPr txBox="1">
            <a:spLocks/>
          </p:cNvSpPr>
          <p:nvPr/>
        </p:nvSpPr>
        <p:spPr>
          <a:xfrm>
            <a:off x="7692168" y="667741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10" name="TextBox 1509"/>
          <p:cNvSpPr txBox="1">
            <a:spLocks/>
          </p:cNvSpPr>
          <p:nvPr/>
        </p:nvSpPr>
        <p:spPr>
          <a:xfrm>
            <a:off x="8436232" y="667741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11" name="TextBox 1510"/>
          <p:cNvSpPr txBox="1">
            <a:spLocks/>
          </p:cNvSpPr>
          <p:nvPr/>
        </p:nvSpPr>
        <p:spPr>
          <a:xfrm>
            <a:off x="8064200" y="667741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1512" name="TextBox 1511"/>
          <p:cNvSpPr txBox="1">
            <a:spLocks/>
          </p:cNvSpPr>
          <p:nvPr/>
        </p:nvSpPr>
        <p:spPr>
          <a:xfrm>
            <a:off x="7320136" y="667741"/>
            <a:ext cx="252000" cy="252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13" name="TextBox 1512"/>
          <p:cNvSpPr txBox="1">
            <a:spLocks/>
          </p:cNvSpPr>
          <p:nvPr/>
        </p:nvSpPr>
        <p:spPr>
          <a:xfrm>
            <a:off x="9276344" y="667741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14" name="TextBox 1513"/>
          <p:cNvSpPr txBox="1">
            <a:spLocks/>
          </p:cNvSpPr>
          <p:nvPr/>
        </p:nvSpPr>
        <p:spPr>
          <a:xfrm>
            <a:off x="10020408" y="667741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15" name="TextBox 1514"/>
          <p:cNvSpPr txBox="1">
            <a:spLocks/>
          </p:cNvSpPr>
          <p:nvPr/>
        </p:nvSpPr>
        <p:spPr>
          <a:xfrm>
            <a:off x="9648376" y="667741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16" name="TextBox 1515"/>
          <p:cNvSpPr txBox="1">
            <a:spLocks/>
          </p:cNvSpPr>
          <p:nvPr/>
        </p:nvSpPr>
        <p:spPr>
          <a:xfrm>
            <a:off x="8904312" y="667741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17" name="TextBox 1516"/>
          <p:cNvSpPr txBox="1">
            <a:spLocks/>
          </p:cNvSpPr>
          <p:nvPr/>
        </p:nvSpPr>
        <p:spPr>
          <a:xfrm>
            <a:off x="2003592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18" name="TextBox 1517"/>
          <p:cNvSpPr txBox="1">
            <a:spLocks/>
          </p:cNvSpPr>
          <p:nvPr/>
        </p:nvSpPr>
        <p:spPr>
          <a:xfrm>
            <a:off x="2747656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19" name="TextBox 1518"/>
          <p:cNvSpPr txBox="1">
            <a:spLocks/>
          </p:cNvSpPr>
          <p:nvPr/>
        </p:nvSpPr>
        <p:spPr>
          <a:xfrm>
            <a:off x="2375624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20" name="TextBox 1519"/>
          <p:cNvSpPr txBox="1">
            <a:spLocks/>
          </p:cNvSpPr>
          <p:nvPr/>
        </p:nvSpPr>
        <p:spPr>
          <a:xfrm>
            <a:off x="1631560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21" name="TextBox 1520"/>
          <p:cNvSpPr txBox="1">
            <a:spLocks/>
          </p:cNvSpPr>
          <p:nvPr/>
        </p:nvSpPr>
        <p:spPr>
          <a:xfrm>
            <a:off x="3515749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22" name="TextBox 1521"/>
          <p:cNvSpPr txBox="1">
            <a:spLocks/>
          </p:cNvSpPr>
          <p:nvPr/>
        </p:nvSpPr>
        <p:spPr>
          <a:xfrm>
            <a:off x="4259813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23" name="TextBox 1522"/>
          <p:cNvSpPr txBox="1">
            <a:spLocks/>
          </p:cNvSpPr>
          <p:nvPr/>
        </p:nvSpPr>
        <p:spPr>
          <a:xfrm>
            <a:off x="3887781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24" name="TextBox 1523"/>
          <p:cNvSpPr txBox="1">
            <a:spLocks/>
          </p:cNvSpPr>
          <p:nvPr/>
        </p:nvSpPr>
        <p:spPr>
          <a:xfrm>
            <a:off x="3143717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25" name="TextBox 1524"/>
          <p:cNvSpPr txBox="1">
            <a:spLocks/>
          </p:cNvSpPr>
          <p:nvPr/>
        </p:nvSpPr>
        <p:spPr>
          <a:xfrm>
            <a:off x="5027906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26" name="TextBox 1525"/>
          <p:cNvSpPr txBox="1">
            <a:spLocks/>
          </p:cNvSpPr>
          <p:nvPr/>
        </p:nvSpPr>
        <p:spPr>
          <a:xfrm>
            <a:off x="5771970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27" name="TextBox 1526"/>
          <p:cNvSpPr txBox="1">
            <a:spLocks/>
          </p:cNvSpPr>
          <p:nvPr/>
        </p:nvSpPr>
        <p:spPr>
          <a:xfrm>
            <a:off x="5399938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28" name="TextBox 1527"/>
          <p:cNvSpPr txBox="1">
            <a:spLocks/>
          </p:cNvSpPr>
          <p:nvPr/>
        </p:nvSpPr>
        <p:spPr>
          <a:xfrm>
            <a:off x="4655874" y="2831219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29" name="TextBox 1528"/>
          <p:cNvSpPr txBox="1">
            <a:spLocks/>
          </p:cNvSpPr>
          <p:nvPr/>
        </p:nvSpPr>
        <p:spPr>
          <a:xfrm>
            <a:off x="6540063" y="2831219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30" name="TextBox 1529"/>
          <p:cNvSpPr txBox="1">
            <a:spLocks/>
          </p:cNvSpPr>
          <p:nvPr/>
        </p:nvSpPr>
        <p:spPr>
          <a:xfrm>
            <a:off x="6168031" y="2831219"/>
            <a:ext cx="252000" cy="252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31" name="TextBox 1530"/>
          <p:cNvSpPr txBox="1">
            <a:spLocks/>
          </p:cNvSpPr>
          <p:nvPr/>
        </p:nvSpPr>
        <p:spPr>
          <a:xfrm>
            <a:off x="3299680" y="672992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32" name="TextBox 1531"/>
          <p:cNvSpPr txBox="1">
            <a:spLocks/>
          </p:cNvSpPr>
          <p:nvPr/>
        </p:nvSpPr>
        <p:spPr>
          <a:xfrm>
            <a:off x="4043744" y="672992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33" name="TextBox 1532"/>
          <p:cNvSpPr txBox="1">
            <a:spLocks/>
          </p:cNvSpPr>
          <p:nvPr/>
        </p:nvSpPr>
        <p:spPr>
          <a:xfrm>
            <a:off x="3671712" y="672992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34" name="TextBox 1533"/>
          <p:cNvSpPr txBox="1">
            <a:spLocks/>
          </p:cNvSpPr>
          <p:nvPr/>
        </p:nvSpPr>
        <p:spPr>
          <a:xfrm>
            <a:off x="2927648" y="672992"/>
            <a:ext cx="252000" cy="252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35" name="TextBox 1534"/>
          <p:cNvSpPr txBox="1">
            <a:spLocks/>
          </p:cNvSpPr>
          <p:nvPr/>
        </p:nvSpPr>
        <p:spPr>
          <a:xfrm>
            <a:off x="4883856" y="668962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36" name="TextBox 1535"/>
          <p:cNvSpPr txBox="1">
            <a:spLocks/>
          </p:cNvSpPr>
          <p:nvPr/>
        </p:nvSpPr>
        <p:spPr>
          <a:xfrm>
            <a:off x="5627920" y="668962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37" name="TextBox 1536"/>
          <p:cNvSpPr txBox="1">
            <a:spLocks/>
          </p:cNvSpPr>
          <p:nvPr/>
        </p:nvSpPr>
        <p:spPr>
          <a:xfrm>
            <a:off x="5255888" y="668962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38" name="TextBox 1537"/>
          <p:cNvSpPr txBox="1">
            <a:spLocks/>
          </p:cNvSpPr>
          <p:nvPr/>
        </p:nvSpPr>
        <p:spPr>
          <a:xfrm>
            <a:off x="4511824" y="668962"/>
            <a:ext cx="252000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42" name="TextBox 1541"/>
          <p:cNvSpPr txBox="1">
            <a:spLocks/>
          </p:cNvSpPr>
          <p:nvPr/>
        </p:nvSpPr>
        <p:spPr>
          <a:xfrm>
            <a:off x="8052220" y="2832051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43" name="TextBox 1542"/>
          <p:cNvSpPr txBox="1">
            <a:spLocks/>
          </p:cNvSpPr>
          <p:nvPr/>
        </p:nvSpPr>
        <p:spPr>
          <a:xfrm>
            <a:off x="8424252" y="2832051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44" name="TextBox 1543"/>
          <p:cNvSpPr txBox="1">
            <a:spLocks/>
          </p:cNvSpPr>
          <p:nvPr/>
        </p:nvSpPr>
        <p:spPr>
          <a:xfrm>
            <a:off x="7284127" y="2830522"/>
            <a:ext cx="252000" cy="25200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45" name="TextBox 1544"/>
          <p:cNvSpPr txBox="1">
            <a:spLocks/>
          </p:cNvSpPr>
          <p:nvPr/>
        </p:nvSpPr>
        <p:spPr>
          <a:xfrm>
            <a:off x="6912095" y="2830522"/>
            <a:ext cx="252000" cy="25200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1546" name="TextBox 1545"/>
          <p:cNvSpPr txBox="1">
            <a:spLocks/>
          </p:cNvSpPr>
          <p:nvPr/>
        </p:nvSpPr>
        <p:spPr>
          <a:xfrm>
            <a:off x="7680188" y="2830522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47" name="TextBox 1546"/>
          <p:cNvSpPr txBox="1">
            <a:spLocks/>
          </p:cNvSpPr>
          <p:nvPr/>
        </p:nvSpPr>
        <p:spPr>
          <a:xfrm>
            <a:off x="7692168" y="666212"/>
            <a:ext cx="252000" cy="25200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48" name="TextBox 1547"/>
          <p:cNvSpPr txBox="1">
            <a:spLocks/>
          </p:cNvSpPr>
          <p:nvPr/>
        </p:nvSpPr>
        <p:spPr>
          <a:xfrm>
            <a:off x="8436232" y="666212"/>
            <a:ext cx="252000" cy="25200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49" name="TextBox 1548"/>
          <p:cNvSpPr txBox="1">
            <a:spLocks/>
          </p:cNvSpPr>
          <p:nvPr/>
        </p:nvSpPr>
        <p:spPr>
          <a:xfrm>
            <a:off x="8064200" y="666212"/>
            <a:ext cx="252000" cy="25200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T</a:t>
            </a:r>
          </a:p>
        </p:txBody>
      </p:sp>
      <p:sp>
        <p:nvSpPr>
          <p:cNvPr id="1550" name="TextBox 1549"/>
          <p:cNvSpPr txBox="1">
            <a:spLocks/>
          </p:cNvSpPr>
          <p:nvPr/>
        </p:nvSpPr>
        <p:spPr>
          <a:xfrm>
            <a:off x="7320136" y="666212"/>
            <a:ext cx="252000" cy="25200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51" name="TextBox 1550"/>
          <p:cNvSpPr txBox="1">
            <a:spLocks/>
          </p:cNvSpPr>
          <p:nvPr/>
        </p:nvSpPr>
        <p:spPr>
          <a:xfrm>
            <a:off x="9276344" y="666212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52" name="TextBox 1551"/>
          <p:cNvSpPr txBox="1">
            <a:spLocks/>
          </p:cNvSpPr>
          <p:nvPr/>
        </p:nvSpPr>
        <p:spPr>
          <a:xfrm>
            <a:off x="10020408" y="666212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53" name="TextBox 1552"/>
          <p:cNvSpPr txBox="1">
            <a:spLocks/>
          </p:cNvSpPr>
          <p:nvPr/>
        </p:nvSpPr>
        <p:spPr>
          <a:xfrm>
            <a:off x="9648376" y="666212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54" name="TextBox 1553"/>
          <p:cNvSpPr txBox="1">
            <a:spLocks/>
          </p:cNvSpPr>
          <p:nvPr/>
        </p:nvSpPr>
        <p:spPr>
          <a:xfrm>
            <a:off x="8904312" y="666212"/>
            <a:ext cx="252000" cy="25200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55" name="TextBox 1554"/>
          <p:cNvSpPr txBox="1">
            <a:spLocks/>
          </p:cNvSpPr>
          <p:nvPr/>
        </p:nvSpPr>
        <p:spPr>
          <a:xfrm>
            <a:off x="2003592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56" name="TextBox 1555"/>
          <p:cNvSpPr txBox="1">
            <a:spLocks/>
          </p:cNvSpPr>
          <p:nvPr/>
        </p:nvSpPr>
        <p:spPr>
          <a:xfrm>
            <a:off x="2747656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57" name="TextBox 1556"/>
          <p:cNvSpPr txBox="1">
            <a:spLocks/>
          </p:cNvSpPr>
          <p:nvPr/>
        </p:nvSpPr>
        <p:spPr>
          <a:xfrm>
            <a:off x="2375624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58" name="TextBox 1557"/>
          <p:cNvSpPr txBox="1">
            <a:spLocks/>
          </p:cNvSpPr>
          <p:nvPr/>
        </p:nvSpPr>
        <p:spPr>
          <a:xfrm>
            <a:off x="1631560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59" name="TextBox 1558"/>
          <p:cNvSpPr txBox="1">
            <a:spLocks/>
          </p:cNvSpPr>
          <p:nvPr/>
        </p:nvSpPr>
        <p:spPr>
          <a:xfrm>
            <a:off x="3515749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60" name="TextBox 1559"/>
          <p:cNvSpPr txBox="1">
            <a:spLocks/>
          </p:cNvSpPr>
          <p:nvPr/>
        </p:nvSpPr>
        <p:spPr>
          <a:xfrm>
            <a:off x="4259813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61" name="TextBox 1560"/>
          <p:cNvSpPr txBox="1">
            <a:spLocks/>
          </p:cNvSpPr>
          <p:nvPr/>
        </p:nvSpPr>
        <p:spPr>
          <a:xfrm>
            <a:off x="3887781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62" name="TextBox 1561"/>
          <p:cNvSpPr txBox="1">
            <a:spLocks/>
          </p:cNvSpPr>
          <p:nvPr/>
        </p:nvSpPr>
        <p:spPr>
          <a:xfrm>
            <a:off x="3143717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63" name="TextBox 1562"/>
          <p:cNvSpPr txBox="1">
            <a:spLocks/>
          </p:cNvSpPr>
          <p:nvPr/>
        </p:nvSpPr>
        <p:spPr>
          <a:xfrm>
            <a:off x="5027906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64" name="TextBox 1563"/>
          <p:cNvSpPr txBox="1">
            <a:spLocks/>
          </p:cNvSpPr>
          <p:nvPr/>
        </p:nvSpPr>
        <p:spPr>
          <a:xfrm>
            <a:off x="5771970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65" name="TextBox 1564"/>
          <p:cNvSpPr txBox="1">
            <a:spLocks/>
          </p:cNvSpPr>
          <p:nvPr/>
        </p:nvSpPr>
        <p:spPr>
          <a:xfrm>
            <a:off x="5399938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66" name="TextBox 1565"/>
          <p:cNvSpPr txBox="1">
            <a:spLocks/>
          </p:cNvSpPr>
          <p:nvPr/>
        </p:nvSpPr>
        <p:spPr>
          <a:xfrm>
            <a:off x="4655874" y="2829690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67" name="TextBox 1566"/>
          <p:cNvSpPr txBox="1">
            <a:spLocks/>
          </p:cNvSpPr>
          <p:nvPr/>
        </p:nvSpPr>
        <p:spPr>
          <a:xfrm>
            <a:off x="6540063" y="2829690"/>
            <a:ext cx="252000" cy="25200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68" name="TextBox 1567"/>
          <p:cNvSpPr txBox="1">
            <a:spLocks/>
          </p:cNvSpPr>
          <p:nvPr/>
        </p:nvSpPr>
        <p:spPr>
          <a:xfrm>
            <a:off x="6168031" y="2829690"/>
            <a:ext cx="252000" cy="25200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69" name="TextBox 1568"/>
          <p:cNvSpPr txBox="1">
            <a:spLocks/>
          </p:cNvSpPr>
          <p:nvPr/>
        </p:nvSpPr>
        <p:spPr>
          <a:xfrm>
            <a:off x="3299680" y="671463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70" name="TextBox 1569"/>
          <p:cNvSpPr txBox="1">
            <a:spLocks/>
          </p:cNvSpPr>
          <p:nvPr/>
        </p:nvSpPr>
        <p:spPr>
          <a:xfrm>
            <a:off x="4043744" y="671463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571" name="TextBox 1570"/>
          <p:cNvSpPr txBox="1">
            <a:spLocks/>
          </p:cNvSpPr>
          <p:nvPr/>
        </p:nvSpPr>
        <p:spPr>
          <a:xfrm>
            <a:off x="3671712" y="671463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72" name="TextBox 1571"/>
          <p:cNvSpPr txBox="1">
            <a:spLocks/>
          </p:cNvSpPr>
          <p:nvPr/>
        </p:nvSpPr>
        <p:spPr>
          <a:xfrm>
            <a:off x="2927648" y="671463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73" name="TextBox 1572"/>
          <p:cNvSpPr txBox="1">
            <a:spLocks/>
          </p:cNvSpPr>
          <p:nvPr/>
        </p:nvSpPr>
        <p:spPr>
          <a:xfrm>
            <a:off x="4883856" y="667433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74" name="TextBox 1573"/>
          <p:cNvSpPr txBox="1">
            <a:spLocks/>
          </p:cNvSpPr>
          <p:nvPr/>
        </p:nvSpPr>
        <p:spPr>
          <a:xfrm>
            <a:off x="5627920" y="667433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575" name="TextBox 1574"/>
          <p:cNvSpPr txBox="1">
            <a:spLocks/>
          </p:cNvSpPr>
          <p:nvPr/>
        </p:nvSpPr>
        <p:spPr>
          <a:xfrm>
            <a:off x="5255888" y="667433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576" name="TextBox 1575"/>
          <p:cNvSpPr txBox="1">
            <a:spLocks/>
          </p:cNvSpPr>
          <p:nvPr/>
        </p:nvSpPr>
        <p:spPr>
          <a:xfrm>
            <a:off x="4511824" y="667433"/>
            <a:ext cx="252000" cy="252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629" name="TextBox 1628"/>
          <p:cNvSpPr txBox="1">
            <a:spLocks/>
          </p:cNvSpPr>
          <p:nvPr/>
        </p:nvSpPr>
        <p:spPr>
          <a:xfrm>
            <a:off x="3299984" y="94917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630" name="TextBox 1629"/>
          <p:cNvSpPr txBox="1">
            <a:spLocks/>
          </p:cNvSpPr>
          <p:nvPr/>
        </p:nvSpPr>
        <p:spPr>
          <a:xfrm>
            <a:off x="3672016" y="94917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631" name="TextBox 1630"/>
          <p:cNvSpPr txBox="1">
            <a:spLocks/>
          </p:cNvSpPr>
          <p:nvPr/>
        </p:nvSpPr>
        <p:spPr>
          <a:xfrm>
            <a:off x="2927952" y="949170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710" name="TextBox 1709"/>
          <p:cNvSpPr txBox="1">
            <a:spLocks/>
          </p:cNvSpPr>
          <p:nvPr/>
        </p:nvSpPr>
        <p:spPr>
          <a:xfrm>
            <a:off x="2003592" y="2555866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711" name="TextBox 1710"/>
          <p:cNvSpPr txBox="1">
            <a:spLocks/>
          </p:cNvSpPr>
          <p:nvPr/>
        </p:nvSpPr>
        <p:spPr>
          <a:xfrm>
            <a:off x="2375624" y="2555866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1712" name="TextBox 1711"/>
          <p:cNvSpPr txBox="1">
            <a:spLocks/>
          </p:cNvSpPr>
          <p:nvPr/>
        </p:nvSpPr>
        <p:spPr>
          <a:xfrm>
            <a:off x="1631560" y="2555866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1713" name="TextBox 1712"/>
          <p:cNvSpPr txBox="1">
            <a:spLocks/>
          </p:cNvSpPr>
          <p:nvPr/>
        </p:nvSpPr>
        <p:spPr>
          <a:xfrm>
            <a:off x="4259813" y="2555866"/>
            <a:ext cx="252000" cy="252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714" name="TextBox 1713"/>
          <p:cNvSpPr txBox="1">
            <a:spLocks/>
          </p:cNvSpPr>
          <p:nvPr/>
        </p:nvSpPr>
        <p:spPr>
          <a:xfrm>
            <a:off x="4655874" y="2555866"/>
            <a:ext cx="252000" cy="252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 anchor="ctr" anchorCtr="1">
            <a:normAutofit fontScale="70000" lnSpcReduction="20000"/>
          </a:bodyPr>
          <a:lstStyle/>
          <a:p>
            <a:r>
              <a:rPr lang="en-GB" b="1" dirty="0"/>
              <a:t>C</a:t>
            </a:r>
          </a:p>
        </p:txBody>
      </p:sp>
      <p:sp>
        <p:nvSpPr>
          <p:cNvPr id="315" name="Rounded Rectangle 314"/>
          <p:cNvSpPr/>
          <p:nvPr/>
        </p:nvSpPr>
        <p:spPr>
          <a:xfrm>
            <a:off x="1573338" y="1971014"/>
            <a:ext cx="6030421" cy="1512168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6" name="Rounded Rectangle 314">
            <a:extLst>
              <a:ext uri="{FF2B5EF4-FFF2-40B4-BE49-F238E27FC236}">
                <a16:creationId xmlns:a16="http://schemas.microsoft.com/office/drawing/2014/main" id="{4D7733AB-1CA4-491C-BABE-6A427F756139}"/>
              </a:ext>
            </a:extLst>
          </p:cNvPr>
          <p:cNvSpPr/>
          <p:nvPr/>
        </p:nvSpPr>
        <p:spPr>
          <a:xfrm>
            <a:off x="7642479" y="1988840"/>
            <a:ext cx="2971774" cy="1512168"/>
          </a:xfrm>
          <a:prstGeom prst="round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87340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Numerator Relationship Matrix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3196178"/>
              </p:ext>
            </p:extLst>
          </p:nvPr>
        </p:nvGraphicFramePr>
        <p:xfrm>
          <a:off x="1703392" y="1196975"/>
          <a:ext cx="6984896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60297" y="1196976"/>
            <a:ext cx="1728317" cy="4968875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DCCE7-68A7-442A-AA7A-2E7473D4FC32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8</a:t>
            </a:r>
          </a:p>
        </p:txBody>
      </p:sp>
    </p:spTree>
    <p:extLst>
      <p:ext uri="{BB962C8B-B14F-4D97-AF65-F5344CB8AC3E}">
        <p14:creationId xmlns:p14="http://schemas.microsoft.com/office/powerpoint/2010/main" val="14510476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Numerator Relationship Matrix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75780942"/>
              </p:ext>
            </p:extLst>
          </p:nvPr>
        </p:nvGraphicFramePr>
        <p:xfrm>
          <a:off x="1703392" y="1196975"/>
          <a:ext cx="6984896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B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B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B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B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T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T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>
                    <a:lnB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>
                    <a:lnT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>
                    <a:lnB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ctr"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>
                    <a:lnT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ctr"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ctr">
                    <a:lnT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ctr"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04488" y="1556792"/>
            <a:ext cx="3384000" cy="136815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GB" b="1" dirty="0"/>
              <a:t>A</a:t>
            </a:r>
            <a:endParaRPr lang="en-GB" sz="2000" b="1" dirty="0"/>
          </a:p>
          <a:p>
            <a:r>
              <a:rPr lang="en-GB" sz="1800" dirty="0"/>
              <a:t>FS same</a:t>
            </a:r>
          </a:p>
          <a:p>
            <a:r>
              <a:rPr lang="en-GB" sz="1800" dirty="0"/>
              <a:t>0 if unrelated from base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DCCE7-68A7-442A-AA7A-2E7473D4FC32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8</a:t>
            </a:r>
          </a:p>
        </p:txBody>
      </p:sp>
    </p:spTree>
    <p:extLst>
      <p:ext uri="{BB962C8B-B14F-4D97-AF65-F5344CB8AC3E}">
        <p14:creationId xmlns:p14="http://schemas.microsoft.com/office/powerpoint/2010/main" val="27141604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</a:t>
            </a:r>
            <a:r>
              <a:rPr lang="en-GB" baseline="-25000" dirty="0"/>
              <a:t>FG</a:t>
            </a:r>
            <a:endParaRPr lang="en-GB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09947966"/>
              </p:ext>
            </p:extLst>
          </p:nvPr>
        </p:nvGraphicFramePr>
        <p:xfrm>
          <a:off x="1703392" y="1196975"/>
          <a:ext cx="6984896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1.00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1.00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1.00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1.00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1.00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1.00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1.00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1.00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1.00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0.75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1.00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0.25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1.00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0.25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0.25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1.00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03988" y="1556792"/>
            <a:ext cx="4104580" cy="2952328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GB" b="1" dirty="0"/>
              <a:t>G</a:t>
            </a:r>
            <a:r>
              <a:rPr lang="en-GB" baseline="-25000" dirty="0"/>
              <a:t>FG</a:t>
            </a:r>
            <a:endParaRPr lang="en-GB" dirty="0"/>
          </a:p>
          <a:p>
            <a:r>
              <a:rPr lang="en-GB" sz="1800" dirty="0"/>
              <a:t>genomics tracks loci  from base</a:t>
            </a:r>
          </a:p>
          <a:p>
            <a:r>
              <a:rPr lang="en-GB" sz="1800" dirty="0"/>
              <a:t>FS differ </a:t>
            </a:r>
          </a:p>
          <a:p>
            <a:r>
              <a:rPr lang="en-GB" sz="1800" dirty="0"/>
              <a:t>0 if unrelated from base</a:t>
            </a:r>
          </a:p>
          <a:p>
            <a:r>
              <a:rPr lang="en-GB" sz="1800" dirty="0"/>
              <a:t>differences accumulate &amp; proliferate down pedigree</a:t>
            </a:r>
          </a:p>
          <a:p>
            <a:pPr lvl="1"/>
            <a:r>
              <a:rPr lang="en-GB" sz="1800" dirty="0"/>
              <a:t> painting of founding chromosomes</a:t>
            </a:r>
          </a:p>
          <a:p>
            <a:endParaRPr lang="en-GB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DCCE7-68A7-442A-AA7A-2E7473D4FC32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8</a:t>
            </a:r>
          </a:p>
        </p:txBody>
      </p:sp>
    </p:spTree>
    <p:extLst>
      <p:ext uri="{BB962C8B-B14F-4D97-AF65-F5344CB8AC3E}">
        <p14:creationId xmlns:p14="http://schemas.microsoft.com/office/powerpoint/2010/main" val="16685622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Genomic Relationship Matrix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21099684"/>
              </p:ext>
            </p:extLst>
          </p:nvPr>
        </p:nvGraphicFramePr>
        <p:xfrm>
          <a:off x="1703392" y="1196975"/>
          <a:ext cx="6984896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40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#12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0.31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-0.47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0.83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-0.47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0.83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0.83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0.27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-0.51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-0.51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0.74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-0.11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0.42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0.42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-0.66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1.29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-0.11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0.42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0.42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-0.66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1.29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1.29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-0.03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-0.03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0.34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0.34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0.43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-0.06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-0.07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-0.07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0.41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-0.98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-0.98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-0.38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0.86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-0.03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-0.03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-0.43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-0.43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-0.34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0.39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0.43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-0.03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-0.03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-0.43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-0.43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-0.34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0.39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0.43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0.43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0.31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-0.47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-0.47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0.27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-0.11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-0.11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-0.06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-0.01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0.31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#12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0.40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-0.92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-0.92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0.87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-1.07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-1.07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0.08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0.55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0.08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0.08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0.40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1.55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04112" y="1556793"/>
            <a:ext cx="3384000" cy="1439937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GB" dirty="0"/>
              <a:t>e.g. </a:t>
            </a:r>
            <a:r>
              <a:rPr lang="en-GB" b="1" dirty="0"/>
              <a:t>G</a:t>
            </a:r>
            <a:r>
              <a:rPr lang="en-GB" baseline="-25000" dirty="0"/>
              <a:t>2</a:t>
            </a:r>
          </a:p>
          <a:p>
            <a:r>
              <a:rPr lang="en-GB" sz="2000" dirty="0"/>
              <a:t>IBS</a:t>
            </a:r>
          </a:p>
          <a:p>
            <a:pPr marL="0" indent="0">
              <a:buNone/>
            </a:pPr>
            <a:r>
              <a:rPr lang="en-GB" sz="2000" dirty="0"/>
              <a:t>…</a:t>
            </a:r>
          </a:p>
          <a:p>
            <a:pPr marL="0" indent="0">
              <a:buNone/>
            </a:pPr>
            <a:endParaRPr lang="en-GB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DCCE7-68A7-442A-AA7A-2E7473D4FC32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8</a:t>
            </a:r>
          </a:p>
        </p:txBody>
      </p:sp>
    </p:spTree>
    <p:extLst>
      <p:ext uri="{BB962C8B-B14F-4D97-AF65-F5344CB8AC3E}">
        <p14:creationId xmlns:p14="http://schemas.microsoft.com/office/powerpoint/2010/main" val="28595447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Use G?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Estimation of merit with no/poor pedigree</a:t>
            </a:r>
          </a:p>
          <a:p>
            <a:pPr lvl="1"/>
            <a:r>
              <a:rPr lang="en-GB" dirty="0"/>
              <a:t>expected to capture ‘full’ genetic variance</a:t>
            </a:r>
          </a:p>
          <a:p>
            <a:pPr lvl="2"/>
            <a:r>
              <a:rPr lang="en-GB" dirty="0"/>
              <a:t>not just few loci, but need many markers</a:t>
            </a:r>
          </a:p>
          <a:p>
            <a:pPr lvl="1"/>
            <a:r>
              <a:rPr lang="en-GB" dirty="0"/>
              <a:t>overcomes shallow pedigree, distant relationships, or low numbers of sibs</a:t>
            </a:r>
          </a:p>
          <a:p>
            <a:pPr lvl="1"/>
            <a:r>
              <a:rPr lang="en-GB" dirty="0"/>
              <a:t>very relevant to medical or wild populations</a:t>
            </a:r>
          </a:p>
          <a:p>
            <a:r>
              <a:rPr lang="en-GB" dirty="0"/>
              <a:t>Does not require a map</a:t>
            </a:r>
          </a:p>
          <a:p>
            <a:r>
              <a:rPr lang="en-GB" dirty="0"/>
              <a:t>Discriminates among sibs cf. use of pedigree</a:t>
            </a:r>
          </a:p>
          <a:p>
            <a:pPr lvl="1"/>
            <a:r>
              <a:rPr lang="en-GB" dirty="0">
                <a:solidFill>
                  <a:srgbClr val="FF0000"/>
                </a:solidFill>
              </a:rPr>
              <a:t>captures Mendelian sampling information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DCCE7-68A7-442A-AA7A-2E7473D4FC32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8</a:t>
            </a:r>
          </a:p>
        </p:txBody>
      </p:sp>
    </p:spTree>
    <p:extLst>
      <p:ext uri="{BB962C8B-B14F-4D97-AF65-F5344CB8AC3E}">
        <p14:creationId xmlns:p14="http://schemas.microsoft.com/office/powerpoint/2010/main" val="2740904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IBD, IBS &amp; 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3719736" y="2060848"/>
            <a:ext cx="0" cy="396044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567608" y="1412777"/>
            <a:ext cx="3672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Time (generations back)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2567608" y="4581128"/>
            <a:ext cx="6300000" cy="0"/>
          </a:xfrm>
          <a:prstGeom prst="line">
            <a:avLst/>
          </a:prstGeom>
          <a:ln w="317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endCxn id="17" idx="0"/>
          </p:cNvCxnSpPr>
          <p:nvPr/>
        </p:nvCxnSpPr>
        <p:spPr>
          <a:xfrm flipV="1">
            <a:off x="5492107" y="3557459"/>
            <a:ext cx="0" cy="2462992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13"/>
          <p:cNvSpPr/>
          <p:nvPr/>
        </p:nvSpPr>
        <p:spPr>
          <a:xfrm>
            <a:off x="5494981" y="2780928"/>
            <a:ext cx="215490" cy="859917"/>
          </a:xfrm>
          <a:custGeom>
            <a:avLst/>
            <a:gdLst>
              <a:gd name="connsiteX0" fmla="*/ 0 w 245660"/>
              <a:gd name="connsiteY0" fmla="*/ 1009934 h 1009934"/>
              <a:gd name="connsiteX1" fmla="*/ 218364 w 245660"/>
              <a:gd name="connsiteY1" fmla="*/ 27296 h 1009934"/>
              <a:gd name="connsiteX2" fmla="*/ 218364 w 245660"/>
              <a:gd name="connsiteY2" fmla="*/ 27296 h 1009934"/>
              <a:gd name="connsiteX3" fmla="*/ 245660 w 245660"/>
              <a:gd name="connsiteY3" fmla="*/ 0 h 1009934"/>
              <a:gd name="connsiteX0" fmla="*/ 0 w 218364"/>
              <a:gd name="connsiteY0" fmla="*/ 982638 h 982638"/>
              <a:gd name="connsiteX1" fmla="*/ 218364 w 218364"/>
              <a:gd name="connsiteY1" fmla="*/ 0 h 982638"/>
              <a:gd name="connsiteX2" fmla="*/ 218364 w 218364"/>
              <a:gd name="connsiteY2" fmla="*/ 0 h 982638"/>
              <a:gd name="connsiteX0" fmla="*/ 0 w 286603"/>
              <a:gd name="connsiteY0" fmla="*/ 1048708 h 1048708"/>
              <a:gd name="connsiteX1" fmla="*/ 218364 w 286603"/>
              <a:gd name="connsiteY1" fmla="*/ 66070 h 1048708"/>
              <a:gd name="connsiteX2" fmla="*/ 286603 w 286603"/>
              <a:gd name="connsiteY2" fmla="*/ 93366 h 1048708"/>
              <a:gd name="connsiteX0" fmla="*/ 0 w 218364"/>
              <a:gd name="connsiteY0" fmla="*/ 982638 h 982638"/>
              <a:gd name="connsiteX1" fmla="*/ 218364 w 218364"/>
              <a:gd name="connsiteY1" fmla="*/ 0 h 982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8364" h="982638">
                <a:moveTo>
                  <a:pt x="0" y="982638"/>
                </a:moveTo>
                <a:cubicBezTo>
                  <a:pt x="72788" y="655092"/>
                  <a:pt x="170597" y="159224"/>
                  <a:pt x="218364" y="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Freeform 14"/>
          <p:cNvSpPr/>
          <p:nvPr/>
        </p:nvSpPr>
        <p:spPr>
          <a:xfrm>
            <a:off x="5509523" y="1874442"/>
            <a:ext cx="126575" cy="1714443"/>
          </a:xfrm>
          <a:custGeom>
            <a:avLst/>
            <a:gdLst>
              <a:gd name="connsiteX0" fmla="*/ 0 w 245660"/>
              <a:gd name="connsiteY0" fmla="*/ 1009934 h 1009934"/>
              <a:gd name="connsiteX1" fmla="*/ 218364 w 245660"/>
              <a:gd name="connsiteY1" fmla="*/ 27296 h 1009934"/>
              <a:gd name="connsiteX2" fmla="*/ 218364 w 245660"/>
              <a:gd name="connsiteY2" fmla="*/ 27296 h 1009934"/>
              <a:gd name="connsiteX3" fmla="*/ 245660 w 245660"/>
              <a:gd name="connsiteY3" fmla="*/ 0 h 1009934"/>
              <a:gd name="connsiteX0" fmla="*/ 0 w 218364"/>
              <a:gd name="connsiteY0" fmla="*/ 982638 h 982638"/>
              <a:gd name="connsiteX1" fmla="*/ 218364 w 218364"/>
              <a:gd name="connsiteY1" fmla="*/ 0 h 982638"/>
              <a:gd name="connsiteX2" fmla="*/ 218364 w 218364"/>
              <a:gd name="connsiteY2" fmla="*/ 0 h 982638"/>
              <a:gd name="connsiteX0" fmla="*/ 0 w 286603"/>
              <a:gd name="connsiteY0" fmla="*/ 1048708 h 1048708"/>
              <a:gd name="connsiteX1" fmla="*/ 218364 w 286603"/>
              <a:gd name="connsiteY1" fmla="*/ 66070 h 1048708"/>
              <a:gd name="connsiteX2" fmla="*/ 286603 w 286603"/>
              <a:gd name="connsiteY2" fmla="*/ 93366 h 1048708"/>
              <a:gd name="connsiteX0" fmla="*/ 0 w 218364"/>
              <a:gd name="connsiteY0" fmla="*/ 982638 h 982638"/>
              <a:gd name="connsiteX1" fmla="*/ 218364 w 218364"/>
              <a:gd name="connsiteY1" fmla="*/ 0 h 982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8364" h="982638">
                <a:moveTo>
                  <a:pt x="0" y="982638"/>
                </a:moveTo>
                <a:cubicBezTo>
                  <a:pt x="72788" y="655092"/>
                  <a:pt x="170597" y="159224"/>
                  <a:pt x="218364" y="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8" name="Group 17"/>
          <p:cNvGrpSpPr/>
          <p:nvPr/>
        </p:nvGrpSpPr>
        <p:grpSpPr>
          <a:xfrm flipH="1">
            <a:off x="5273743" y="2132019"/>
            <a:ext cx="218364" cy="1425440"/>
            <a:chOff x="4096603" y="2357264"/>
            <a:chExt cx="218364" cy="1425440"/>
          </a:xfrm>
        </p:grpSpPr>
        <p:sp>
          <p:nvSpPr>
            <p:cNvPr id="16" name="Freeform 15"/>
            <p:cNvSpPr/>
            <p:nvPr/>
          </p:nvSpPr>
          <p:spPr>
            <a:xfrm>
              <a:off x="4096603" y="2800066"/>
              <a:ext cx="218364" cy="982638"/>
            </a:xfrm>
            <a:custGeom>
              <a:avLst/>
              <a:gdLst>
                <a:gd name="connsiteX0" fmla="*/ 0 w 245660"/>
                <a:gd name="connsiteY0" fmla="*/ 1009934 h 1009934"/>
                <a:gd name="connsiteX1" fmla="*/ 218364 w 245660"/>
                <a:gd name="connsiteY1" fmla="*/ 27296 h 1009934"/>
                <a:gd name="connsiteX2" fmla="*/ 218364 w 245660"/>
                <a:gd name="connsiteY2" fmla="*/ 27296 h 1009934"/>
                <a:gd name="connsiteX3" fmla="*/ 245660 w 245660"/>
                <a:gd name="connsiteY3" fmla="*/ 0 h 1009934"/>
                <a:gd name="connsiteX0" fmla="*/ 0 w 218364"/>
                <a:gd name="connsiteY0" fmla="*/ 982638 h 982638"/>
                <a:gd name="connsiteX1" fmla="*/ 218364 w 218364"/>
                <a:gd name="connsiteY1" fmla="*/ 0 h 982638"/>
                <a:gd name="connsiteX2" fmla="*/ 218364 w 218364"/>
                <a:gd name="connsiteY2" fmla="*/ 0 h 982638"/>
                <a:gd name="connsiteX0" fmla="*/ 0 w 286603"/>
                <a:gd name="connsiteY0" fmla="*/ 1048708 h 1048708"/>
                <a:gd name="connsiteX1" fmla="*/ 218364 w 286603"/>
                <a:gd name="connsiteY1" fmla="*/ 66070 h 1048708"/>
                <a:gd name="connsiteX2" fmla="*/ 286603 w 286603"/>
                <a:gd name="connsiteY2" fmla="*/ 93366 h 1048708"/>
                <a:gd name="connsiteX0" fmla="*/ 0 w 218364"/>
                <a:gd name="connsiteY0" fmla="*/ 982638 h 982638"/>
                <a:gd name="connsiteX1" fmla="*/ 218364 w 218364"/>
                <a:gd name="connsiteY1" fmla="*/ 0 h 982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8364" h="982638">
                  <a:moveTo>
                    <a:pt x="0" y="982638"/>
                  </a:moveTo>
                  <a:cubicBezTo>
                    <a:pt x="72788" y="655092"/>
                    <a:pt x="170597" y="159224"/>
                    <a:pt x="218364" y="0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4096603" y="2357264"/>
              <a:ext cx="109182" cy="1425440"/>
            </a:xfrm>
            <a:custGeom>
              <a:avLst/>
              <a:gdLst>
                <a:gd name="connsiteX0" fmla="*/ 0 w 245660"/>
                <a:gd name="connsiteY0" fmla="*/ 1009934 h 1009934"/>
                <a:gd name="connsiteX1" fmla="*/ 218364 w 245660"/>
                <a:gd name="connsiteY1" fmla="*/ 27296 h 1009934"/>
                <a:gd name="connsiteX2" fmla="*/ 218364 w 245660"/>
                <a:gd name="connsiteY2" fmla="*/ 27296 h 1009934"/>
                <a:gd name="connsiteX3" fmla="*/ 245660 w 245660"/>
                <a:gd name="connsiteY3" fmla="*/ 0 h 1009934"/>
                <a:gd name="connsiteX0" fmla="*/ 0 w 218364"/>
                <a:gd name="connsiteY0" fmla="*/ 982638 h 982638"/>
                <a:gd name="connsiteX1" fmla="*/ 218364 w 218364"/>
                <a:gd name="connsiteY1" fmla="*/ 0 h 982638"/>
                <a:gd name="connsiteX2" fmla="*/ 218364 w 218364"/>
                <a:gd name="connsiteY2" fmla="*/ 0 h 982638"/>
                <a:gd name="connsiteX0" fmla="*/ 0 w 286603"/>
                <a:gd name="connsiteY0" fmla="*/ 1048708 h 1048708"/>
                <a:gd name="connsiteX1" fmla="*/ 218364 w 286603"/>
                <a:gd name="connsiteY1" fmla="*/ 66070 h 1048708"/>
                <a:gd name="connsiteX2" fmla="*/ 286603 w 286603"/>
                <a:gd name="connsiteY2" fmla="*/ 93366 h 1048708"/>
                <a:gd name="connsiteX0" fmla="*/ 0 w 218364"/>
                <a:gd name="connsiteY0" fmla="*/ 982638 h 982638"/>
                <a:gd name="connsiteX1" fmla="*/ 218364 w 218364"/>
                <a:gd name="connsiteY1" fmla="*/ 0 h 982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8364" h="982638">
                  <a:moveTo>
                    <a:pt x="0" y="982638"/>
                  </a:moveTo>
                  <a:cubicBezTo>
                    <a:pt x="72788" y="655092"/>
                    <a:pt x="170597" y="159224"/>
                    <a:pt x="218364" y="0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21" name="Straight Connector 20"/>
          <p:cNvCxnSpPr/>
          <p:nvPr/>
        </p:nvCxnSpPr>
        <p:spPr>
          <a:xfrm flipV="1">
            <a:off x="7392144" y="4581128"/>
            <a:ext cx="0" cy="144016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2567608" y="6021288"/>
            <a:ext cx="6300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895576" y="4149081"/>
            <a:ext cx="21121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Base generation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95576" y="5589241"/>
            <a:ext cx="2112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Now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43872" y="5075892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2064" y="5075892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G</a:t>
            </a:r>
            <a:r>
              <a:rPr lang="en-GB" b="1" baseline="-25000" dirty="0"/>
              <a:t>FG</a:t>
            </a:r>
          </a:p>
        </p:txBody>
      </p:sp>
      <p:sp>
        <p:nvSpPr>
          <p:cNvPr id="28" name="Right Brace 27"/>
          <p:cNvSpPr/>
          <p:nvPr/>
        </p:nvSpPr>
        <p:spPr>
          <a:xfrm>
            <a:off x="9048328" y="4581128"/>
            <a:ext cx="216024" cy="1440160"/>
          </a:xfrm>
          <a:prstGeom prst="rightBrac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ight Brace 29"/>
          <p:cNvSpPr/>
          <p:nvPr/>
        </p:nvSpPr>
        <p:spPr>
          <a:xfrm>
            <a:off x="9048328" y="1988840"/>
            <a:ext cx="216024" cy="2520280"/>
          </a:xfrm>
          <a:prstGeom prst="rightBrac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/>
          <p:cNvSpPr txBox="1"/>
          <p:nvPr/>
        </p:nvSpPr>
        <p:spPr>
          <a:xfrm>
            <a:off x="9192344" y="4941168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IBD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92344" y="2924944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IBS &amp; LD</a:t>
            </a:r>
          </a:p>
        </p:txBody>
      </p:sp>
      <p:sp>
        <p:nvSpPr>
          <p:cNvPr id="33" name="Right Brace 32"/>
          <p:cNvSpPr/>
          <p:nvPr/>
        </p:nvSpPr>
        <p:spPr>
          <a:xfrm>
            <a:off x="6023992" y="1988840"/>
            <a:ext cx="216024" cy="4032448"/>
          </a:xfrm>
          <a:prstGeom prst="rightBrac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/>
          <p:cNvSpPr txBox="1"/>
          <p:nvPr/>
        </p:nvSpPr>
        <p:spPr>
          <a:xfrm>
            <a:off x="6312024" y="378904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IBS</a:t>
            </a:r>
          </a:p>
        </p:txBody>
      </p:sp>
    </p:spTree>
    <p:extLst>
      <p:ext uri="{BB962C8B-B14F-4D97-AF65-F5344CB8AC3E}">
        <p14:creationId xmlns:p14="http://schemas.microsoft.com/office/powerpoint/2010/main" val="28104527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 and G</a:t>
            </a:r>
            <a:r>
              <a:rPr lang="en-GB" baseline="-25000" dirty="0"/>
              <a:t>FG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G</a:t>
            </a:r>
            <a:r>
              <a:rPr lang="en-GB" baseline="-25000" dirty="0"/>
              <a:t>FG</a:t>
            </a:r>
            <a:r>
              <a:rPr lang="en-GB" b="1" dirty="0"/>
              <a:t> </a:t>
            </a:r>
            <a:r>
              <a:rPr lang="en-GB" dirty="0"/>
              <a:t>captures genome wide IBD</a:t>
            </a:r>
          </a:p>
          <a:p>
            <a:r>
              <a:rPr lang="en-GB" b="1" dirty="0"/>
              <a:t>G </a:t>
            </a:r>
            <a:r>
              <a:rPr lang="en-GB" dirty="0"/>
              <a:t>captures population wide LD from IBS</a:t>
            </a:r>
          </a:p>
          <a:p>
            <a:r>
              <a:rPr lang="en-GB" dirty="0"/>
              <a:t>Distinction arises from allelic relationships among base generation animals</a:t>
            </a:r>
          </a:p>
          <a:p>
            <a:pPr lvl="1"/>
            <a:r>
              <a:rPr lang="en-GB" dirty="0"/>
              <a:t>Luan et al. (2012) show that in </a:t>
            </a:r>
            <a:r>
              <a:rPr lang="en-GB" u="sng" dirty="0"/>
              <a:t>relationship-rich populations</a:t>
            </a:r>
            <a:r>
              <a:rPr lang="en-GB" dirty="0"/>
              <a:t> IBD is the major source of info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26146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Variants on 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There are variants on estimating </a:t>
            </a:r>
            <a:r>
              <a:rPr lang="en-GB" b="1" dirty="0"/>
              <a:t>G</a:t>
            </a:r>
            <a:endParaRPr lang="en-GB" dirty="0"/>
          </a:p>
          <a:p>
            <a:r>
              <a:rPr lang="en-GB" dirty="0"/>
              <a:t>Other choices for constructing </a:t>
            </a:r>
            <a:r>
              <a:rPr lang="en-GB" b="1" dirty="0"/>
              <a:t>G</a:t>
            </a:r>
            <a:endParaRPr lang="en-GB" dirty="0"/>
          </a:p>
          <a:p>
            <a:pPr lvl="1"/>
            <a:r>
              <a:rPr lang="en-GB" dirty="0"/>
              <a:t>LD, SNP functionality, scaling by powers of MAF</a:t>
            </a:r>
          </a:p>
          <a:p>
            <a:pPr lvl="1"/>
            <a:r>
              <a:rPr lang="en-GB" dirty="0"/>
              <a:t>not all good, and can be bad!</a:t>
            </a:r>
          </a:p>
          <a:p>
            <a:r>
              <a:rPr lang="en-GB" dirty="0"/>
              <a:t>Combine pedigree &amp; genotypic data (1-step)</a:t>
            </a:r>
          </a:p>
          <a:p>
            <a:pPr lvl="1"/>
            <a:r>
              <a:rPr lang="en-GB" dirty="0"/>
              <a:t>some with pedigree &amp; phenotypes only</a:t>
            </a:r>
          </a:p>
          <a:p>
            <a:pPr lvl="1"/>
            <a:r>
              <a:rPr lang="en-GB" dirty="0"/>
              <a:t>some with pedigree, genotypes &amp; phenotypes</a:t>
            </a:r>
          </a:p>
          <a:p>
            <a:pPr lvl="1"/>
            <a:r>
              <a:rPr lang="en-GB" dirty="0"/>
              <a:t>our </a:t>
            </a:r>
            <a:r>
              <a:rPr lang="en-GB" b="1" dirty="0"/>
              <a:t>G</a:t>
            </a:r>
            <a:r>
              <a:rPr lang="en-GB" dirty="0"/>
              <a:t> only uses the genotypes</a:t>
            </a:r>
          </a:p>
          <a:p>
            <a:pPr lvl="1"/>
            <a:r>
              <a:rPr lang="en-GB" dirty="0"/>
              <a:t>… </a:t>
            </a:r>
            <a:r>
              <a:rPr lang="en-GB" b="1" dirty="0"/>
              <a:t>H</a:t>
            </a:r>
            <a:r>
              <a:rPr lang="en-GB" dirty="0"/>
              <a:t>-matrix</a:t>
            </a:r>
          </a:p>
          <a:p>
            <a:pPr lvl="1"/>
            <a:endParaRPr lang="en-GB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75358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067C3-4C7E-434C-BBC8-747F571B711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69774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D07BF56-F99F-4BBD-9878-7E7AD3B26356}" type="datetime4">
              <a:rPr lang="en-GB">
                <a:solidFill>
                  <a:srgbClr val="000000"/>
                </a:solidFill>
                <a:cs typeface="Arial"/>
              </a:rPr>
              <a:pPr>
                <a:defRPr/>
              </a:pPr>
              <a:t>05 February 2025</a:t>
            </a:fld>
            <a:endParaRPr lang="en-GB">
              <a:solidFill>
                <a:srgbClr val="000000"/>
              </a:solidFill>
              <a:cs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solidFill>
                  <a:srgbClr val="000000"/>
                </a:solidFill>
                <a:cs typeface="Arial"/>
              </a:rPr>
              <a:t>Lecture 8</a:t>
            </a:r>
          </a:p>
        </p:txBody>
      </p:sp>
      <p:sp>
        <p:nvSpPr>
          <p:cNvPr id="388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286000"/>
            <a:ext cx="7772400" cy="1143000"/>
          </a:xfrm>
        </p:spPr>
        <p:txBody>
          <a:bodyPr/>
          <a:lstStyle/>
          <a:p>
            <a:r>
              <a:rPr lang="en-GB" dirty="0"/>
              <a:t>… Lecture 8 …</a:t>
            </a:r>
            <a:br>
              <a:rPr lang="en-GB" dirty="0"/>
            </a:br>
            <a:r>
              <a:rPr lang="en-GB" dirty="0"/>
              <a:t>Genomic Evaluation</a:t>
            </a:r>
          </a:p>
        </p:txBody>
      </p:sp>
      <p:sp>
        <p:nvSpPr>
          <p:cNvPr id="388099" name="Rectangle 3"/>
          <p:cNvSpPr>
            <a:spLocks noGrp="1" noChangeArrowheads="1"/>
          </p:cNvSpPr>
          <p:nvPr>
            <p:ph type="subTitle" idx="1"/>
          </p:nvPr>
        </p:nvSpPr>
        <p:spPr>
          <a:ln/>
        </p:spPr>
        <p:txBody>
          <a:bodyPr/>
          <a:lstStyle/>
          <a:p>
            <a:r>
              <a:rPr lang="en-US" dirty="0"/>
              <a:t>Part 2: predictive quality of models</a:t>
            </a:r>
          </a:p>
        </p:txBody>
      </p:sp>
    </p:spTree>
    <p:extLst>
      <p:ext uri="{BB962C8B-B14F-4D97-AF65-F5344CB8AC3E}">
        <p14:creationId xmlns:p14="http://schemas.microsoft.com/office/powerpoint/2010/main" val="38675630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Assessing Model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past decades, assessment of fit in livestock breeding was not a big issue</a:t>
            </a:r>
          </a:p>
          <a:p>
            <a:r>
              <a:rPr lang="en-GB" dirty="0"/>
              <a:t>BLUP, REML, pedigree</a:t>
            </a:r>
          </a:p>
          <a:p>
            <a:pPr lvl="1"/>
            <a:r>
              <a:rPr lang="en-GB" dirty="0"/>
              <a:t>computationally efficient</a:t>
            </a:r>
          </a:p>
          <a:p>
            <a:pPr lvl="1"/>
            <a:r>
              <a:rPr lang="en-GB" dirty="0"/>
              <a:t>versatile models solving established problems</a:t>
            </a:r>
          </a:p>
          <a:p>
            <a:pPr lvl="1"/>
            <a:r>
              <a:rPr lang="en-GB" dirty="0"/>
              <a:t>select amongst related animals with phenotypes giving a degree of self-correction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26724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Assessing Model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In past decades, assessment of fit in livestock breeding was not a big issue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BLUP, REML, pedigree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computationally efficient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versatile models solving established problems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select amongst related animals with phenotypes giving a degree of self-correction</a:t>
            </a:r>
          </a:p>
          <a:p>
            <a:r>
              <a:rPr lang="en-GB" dirty="0"/>
              <a:t>The promise of genomics is to predict without phenotypes or knowledge of relationship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71056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for Genomic Evaluation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  <p:grpSp>
        <p:nvGrpSpPr>
          <p:cNvPr id="10" name="Group 9"/>
          <p:cNvGrpSpPr/>
          <p:nvPr/>
        </p:nvGrpSpPr>
        <p:grpSpPr>
          <a:xfrm>
            <a:off x="2144790" y="1411811"/>
            <a:ext cx="7623619" cy="4504658"/>
            <a:chOff x="620789" y="1411811"/>
            <a:chExt cx="7623619" cy="4504658"/>
          </a:xfrm>
        </p:grpSpPr>
        <p:sp>
          <p:nvSpPr>
            <p:cNvPr id="6" name="Oval 5"/>
            <p:cNvSpPr/>
            <p:nvPr/>
          </p:nvSpPr>
          <p:spPr>
            <a:xfrm>
              <a:off x="827584" y="1412776"/>
              <a:ext cx="2376264" cy="237626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cap="small" dirty="0">
                  <a:solidFill>
                    <a:schemeClr val="tx1"/>
                  </a:solidFill>
                </a:rPr>
                <a:t>Training &amp; Validation Sets</a:t>
              </a:r>
            </a:p>
            <a:p>
              <a:pPr algn="ctr"/>
              <a:r>
                <a:rPr lang="en-GB" dirty="0">
                  <a:solidFill>
                    <a:schemeClr val="tx1"/>
                  </a:solidFill>
                </a:rPr>
                <a:t>Genotypes &amp; Phenotypes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4355976" y="1411811"/>
              <a:ext cx="3888432" cy="38880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cap="small" dirty="0">
                  <a:solidFill>
                    <a:schemeClr val="tx1"/>
                  </a:solidFill>
                </a:rPr>
                <a:t>Population</a:t>
              </a:r>
            </a:p>
            <a:p>
              <a:pPr algn="ctr"/>
              <a:r>
                <a:rPr lang="en-GB" cap="small" dirty="0">
                  <a:solidFill>
                    <a:schemeClr val="tx1"/>
                  </a:solidFill>
                </a:rPr>
                <a:t>G</a:t>
              </a:r>
              <a:r>
                <a:rPr lang="en-GB" dirty="0">
                  <a:solidFill>
                    <a:schemeClr val="tx1"/>
                  </a:solidFill>
                </a:rPr>
                <a:t>enotypes</a:t>
              </a:r>
              <a:endParaRPr lang="en-GB" cap="small" dirty="0">
                <a:solidFill>
                  <a:schemeClr val="tx1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20789" y="4716140"/>
              <a:ext cx="3717236" cy="120032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endParaRPr lang="en-GB" cap="small" dirty="0"/>
            </a:p>
            <a:p>
              <a:r>
                <a:rPr lang="en-GB" cap="small" dirty="0"/>
                <a:t>Genomic Prediction</a:t>
              </a:r>
            </a:p>
            <a:p>
              <a:pPr algn="ctr"/>
              <a:r>
                <a:rPr lang="en-GB" dirty="0" err="1"/>
                <a:t>g</a:t>
              </a:r>
              <a:r>
                <a:rPr lang="en-GB" baseline="-25000" dirty="0" err="1"/>
                <a:t>i</a:t>
              </a:r>
              <a:r>
                <a:rPr lang="en-GB" dirty="0"/>
                <a:t> = b</a:t>
              </a:r>
              <a:r>
                <a:rPr lang="en-GB" baseline="-25000" dirty="0"/>
                <a:t>1</a:t>
              </a:r>
              <a:r>
                <a:rPr lang="en-GB" dirty="0"/>
                <a:t>x</a:t>
              </a:r>
              <a:r>
                <a:rPr lang="en-GB" baseline="-25000" dirty="0"/>
                <a:t>i1</a:t>
              </a:r>
              <a:r>
                <a:rPr lang="en-GB" dirty="0"/>
                <a:t>+ b</a:t>
              </a:r>
              <a:r>
                <a:rPr lang="en-GB" baseline="-25000" dirty="0"/>
                <a:t>2</a:t>
              </a:r>
              <a:r>
                <a:rPr lang="en-GB" dirty="0"/>
                <a:t>x</a:t>
              </a:r>
              <a:r>
                <a:rPr lang="en-GB" baseline="-25000" dirty="0"/>
                <a:t>i2</a:t>
              </a:r>
              <a:r>
                <a:rPr lang="en-GB" dirty="0"/>
                <a:t>+ … + </a:t>
              </a:r>
              <a:r>
                <a:rPr lang="en-GB" dirty="0" err="1"/>
                <a:t>b</a:t>
              </a:r>
              <a:r>
                <a:rPr lang="en-GB" baseline="-25000" dirty="0" err="1"/>
                <a:t>m</a:t>
              </a:r>
              <a:r>
                <a:rPr lang="en-GB" dirty="0" err="1"/>
                <a:t>x</a:t>
              </a:r>
              <a:r>
                <a:rPr lang="en-GB" baseline="-25000" dirty="0" err="1"/>
                <a:t>im</a:t>
              </a:r>
              <a:endParaRPr lang="en-GB" dirty="0"/>
            </a:p>
            <a:p>
              <a:endParaRPr lang="en-GB" dirty="0"/>
            </a:p>
          </p:txBody>
        </p:sp>
        <p:sp>
          <p:nvSpPr>
            <p:cNvPr id="12" name="Down Arrow 11"/>
            <p:cNvSpPr/>
            <p:nvPr/>
          </p:nvSpPr>
          <p:spPr>
            <a:xfrm>
              <a:off x="1691680" y="3573016"/>
              <a:ext cx="648072" cy="1224135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3659982" y="3785365"/>
              <a:ext cx="1651802" cy="1440994"/>
              <a:chOff x="3659982" y="3785365"/>
              <a:chExt cx="1651802" cy="1440994"/>
            </a:xfrm>
          </p:grpSpPr>
          <p:sp>
            <p:nvSpPr>
              <p:cNvPr id="13" name="Curved Right Arrow 12"/>
              <p:cNvSpPr/>
              <p:nvPr/>
            </p:nvSpPr>
            <p:spPr>
              <a:xfrm rot="19571644">
                <a:off x="3659982" y="4083235"/>
                <a:ext cx="1651802" cy="1143124"/>
              </a:xfrm>
              <a:prstGeom prst="curved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4592690" y="3785365"/>
                <a:ext cx="3506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x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4943377" y="4355812"/>
                <a:ext cx="3506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g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275581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for Genomic Evaluation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  <p:grpSp>
        <p:nvGrpSpPr>
          <p:cNvPr id="10" name="Group 9"/>
          <p:cNvGrpSpPr/>
          <p:nvPr/>
        </p:nvGrpSpPr>
        <p:grpSpPr>
          <a:xfrm>
            <a:off x="2144790" y="1411811"/>
            <a:ext cx="7623619" cy="4504658"/>
            <a:chOff x="620789" y="1411811"/>
            <a:chExt cx="7623619" cy="4504658"/>
          </a:xfrm>
        </p:grpSpPr>
        <p:sp>
          <p:nvSpPr>
            <p:cNvPr id="6" name="Oval 5"/>
            <p:cNvSpPr/>
            <p:nvPr/>
          </p:nvSpPr>
          <p:spPr>
            <a:xfrm>
              <a:off x="827584" y="1412776"/>
              <a:ext cx="2376264" cy="237626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cap="small" dirty="0">
                  <a:solidFill>
                    <a:schemeClr val="tx1"/>
                  </a:solidFill>
                </a:rPr>
                <a:t>Training &amp; Validation Sets</a:t>
              </a:r>
            </a:p>
            <a:p>
              <a:pPr algn="ctr"/>
              <a:r>
                <a:rPr lang="en-GB" dirty="0">
                  <a:solidFill>
                    <a:schemeClr val="tx1"/>
                  </a:solidFill>
                </a:rPr>
                <a:t>Genotypes &amp; Phenotypes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4355976" y="1411811"/>
              <a:ext cx="3888432" cy="38880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cap="small" dirty="0">
                  <a:solidFill>
                    <a:schemeClr val="tx1"/>
                  </a:solidFill>
                </a:rPr>
                <a:t>Population</a:t>
              </a:r>
            </a:p>
            <a:p>
              <a:pPr algn="ctr"/>
              <a:r>
                <a:rPr lang="en-GB" cap="small" dirty="0">
                  <a:solidFill>
                    <a:schemeClr val="tx1"/>
                  </a:solidFill>
                </a:rPr>
                <a:t>G</a:t>
              </a:r>
              <a:r>
                <a:rPr lang="en-GB" dirty="0">
                  <a:solidFill>
                    <a:schemeClr val="tx1"/>
                  </a:solidFill>
                </a:rPr>
                <a:t>enotypes</a:t>
              </a:r>
              <a:endParaRPr lang="en-GB" cap="small" dirty="0">
                <a:solidFill>
                  <a:schemeClr val="tx1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20789" y="4716140"/>
              <a:ext cx="3717236" cy="120032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endParaRPr lang="en-GB" cap="small" dirty="0"/>
            </a:p>
            <a:p>
              <a:r>
                <a:rPr lang="en-GB" cap="small" dirty="0"/>
                <a:t>Genomic Prediction</a:t>
              </a:r>
            </a:p>
            <a:p>
              <a:pPr algn="ctr"/>
              <a:r>
                <a:rPr lang="en-GB" dirty="0" err="1"/>
                <a:t>g</a:t>
              </a:r>
              <a:r>
                <a:rPr lang="en-GB" baseline="-25000" dirty="0" err="1"/>
                <a:t>i</a:t>
              </a:r>
              <a:r>
                <a:rPr lang="en-GB" dirty="0"/>
                <a:t> = b</a:t>
              </a:r>
              <a:r>
                <a:rPr lang="en-GB" baseline="-25000" dirty="0"/>
                <a:t>1</a:t>
              </a:r>
              <a:r>
                <a:rPr lang="en-GB" dirty="0"/>
                <a:t>x</a:t>
              </a:r>
              <a:r>
                <a:rPr lang="en-GB" baseline="-25000" dirty="0"/>
                <a:t>i1</a:t>
              </a:r>
              <a:r>
                <a:rPr lang="en-GB" dirty="0"/>
                <a:t>+ b</a:t>
              </a:r>
              <a:r>
                <a:rPr lang="en-GB" baseline="-25000" dirty="0"/>
                <a:t>2</a:t>
              </a:r>
              <a:r>
                <a:rPr lang="en-GB" dirty="0"/>
                <a:t>x</a:t>
              </a:r>
              <a:r>
                <a:rPr lang="en-GB" baseline="-25000" dirty="0"/>
                <a:t>i2</a:t>
              </a:r>
              <a:r>
                <a:rPr lang="en-GB" dirty="0"/>
                <a:t>+ … + </a:t>
              </a:r>
              <a:r>
                <a:rPr lang="en-GB" dirty="0" err="1"/>
                <a:t>b</a:t>
              </a:r>
              <a:r>
                <a:rPr lang="en-GB" baseline="-25000" dirty="0" err="1"/>
                <a:t>m</a:t>
              </a:r>
              <a:r>
                <a:rPr lang="en-GB" dirty="0" err="1"/>
                <a:t>x</a:t>
              </a:r>
              <a:r>
                <a:rPr lang="en-GB" baseline="-25000" dirty="0" err="1"/>
                <a:t>im</a:t>
              </a:r>
              <a:endParaRPr lang="en-GB" dirty="0"/>
            </a:p>
            <a:p>
              <a:endParaRPr lang="en-GB" dirty="0"/>
            </a:p>
          </p:txBody>
        </p:sp>
        <p:sp>
          <p:nvSpPr>
            <p:cNvPr id="12" name="Down Arrow 11"/>
            <p:cNvSpPr/>
            <p:nvPr/>
          </p:nvSpPr>
          <p:spPr>
            <a:xfrm>
              <a:off x="1691680" y="3573016"/>
              <a:ext cx="648072" cy="1224135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3659982" y="3785365"/>
              <a:ext cx="1651802" cy="1440994"/>
              <a:chOff x="3659982" y="3785365"/>
              <a:chExt cx="1651802" cy="1440994"/>
            </a:xfrm>
          </p:grpSpPr>
          <p:sp>
            <p:nvSpPr>
              <p:cNvPr id="13" name="Curved Right Arrow 12"/>
              <p:cNvSpPr/>
              <p:nvPr/>
            </p:nvSpPr>
            <p:spPr>
              <a:xfrm rot="19571644">
                <a:off x="3659982" y="4083235"/>
                <a:ext cx="1651802" cy="1143124"/>
              </a:xfrm>
              <a:prstGeom prst="curved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4592690" y="3785365"/>
                <a:ext cx="3506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x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4943377" y="4355812"/>
                <a:ext cx="3506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g</a:t>
                </a:r>
              </a:p>
            </p:txBody>
          </p:sp>
        </p:grpSp>
      </p:grpSp>
      <p:sp>
        <p:nvSpPr>
          <p:cNvPr id="8" name="TextBox 7"/>
          <p:cNvSpPr txBox="1"/>
          <p:nvPr/>
        </p:nvSpPr>
        <p:spPr>
          <a:xfrm>
            <a:off x="2994150" y="1802395"/>
            <a:ext cx="8142410" cy="1938992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 Can predictions using only genotypes be trusted:</a:t>
            </a:r>
          </a:p>
          <a:p>
            <a:pPr marL="800100" lvl="1" indent="-342900">
              <a:buFont typeface="Arial" panose="020B0604020202020204" pitchFamily="34" charset="0"/>
              <a:buChar char="»"/>
            </a:pPr>
            <a:r>
              <a:rPr lang="en-GB" sz="2400" dirty="0"/>
              <a:t>to guide selection decisions?</a:t>
            </a:r>
          </a:p>
          <a:p>
            <a:pPr marL="800100" lvl="1" indent="-342900">
              <a:buFont typeface="Arial" panose="020B0604020202020204" pitchFamily="34" charset="0"/>
              <a:buChar char="»"/>
            </a:pPr>
            <a:r>
              <a:rPr lang="en-GB" sz="2400" dirty="0"/>
              <a:t>to advise on life style changes or medical treatment?</a:t>
            </a:r>
          </a:p>
          <a:p>
            <a:pPr marL="800100" lvl="1" indent="-342900">
              <a:buFont typeface="Arial" panose="020B0604020202020204" pitchFamily="34" charset="0"/>
              <a:buChar char="»"/>
            </a:pPr>
            <a:r>
              <a:rPr lang="en-GB" sz="2400" dirty="0"/>
              <a:t>to change the breeding programme?</a:t>
            </a:r>
          </a:p>
          <a:p>
            <a:pPr marL="800100" lvl="1" indent="-342900">
              <a:buFont typeface="Arial" panose="020B0604020202020204" pitchFamily="34" charset="0"/>
              <a:buChar char="»"/>
            </a:pPr>
            <a:r>
              <a:rPr lang="en-GB" sz="2400" dirty="0"/>
              <a:t>to invest in recording new traits?</a:t>
            </a:r>
          </a:p>
        </p:txBody>
      </p:sp>
    </p:spTree>
    <p:extLst>
      <p:ext uri="{BB962C8B-B14F-4D97-AF65-F5344CB8AC3E}">
        <p14:creationId xmlns:p14="http://schemas.microsoft.com/office/powerpoint/2010/main" val="20079920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Could compare to TBV as Notebook 7 </a:t>
            </a:r>
          </a:p>
          <a:p>
            <a:r>
              <a:rPr lang="en-GB" u="sng" cap="small" dirty="0"/>
              <a:t>But</a:t>
            </a:r>
          </a:p>
          <a:p>
            <a:pPr lvl="1"/>
            <a:r>
              <a:rPr lang="en-GB" dirty="0"/>
              <a:t>in real life don’t know TBV!</a:t>
            </a:r>
          </a:p>
          <a:p>
            <a:pPr lvl="1"/>
            <a:r>
              <a:rPr lang="en-GB" dirty="0"/>
              <a:t>models always fit the training data better than new sample!</a:t>
            </a:r>
          </a:p>
          <a:p>
            <a:pPr lvl="2"/>
            <a:r>
              <a:rPr lang="en-GB" dirty="0"/>
              <a:t>training data is data used to train the model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9878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Need phenotypes to parameterise prediction</a:t>
            </a:r>
          </a:p>
          <a:p>
            <a:pPr lvl="1"/>
            <a:r>
              <a:rPr lang="en-GB" dirty="0"/>
              <a:t>‘training’ set or ‘reference’ set</a:t>
            </a:r>
          </a:p>
          <a:p>
            <a:r>
              <a:rPr lang="en-GB" dirty="0"/>
              <a:t>Need phenotypes to asses prediction</a:t>
            </a:r>
          </a:p>
          <a:p>
            <a:pPr lvl="1"/>
            <a:r>
              <a:rPr lang="en-GB" dirty="0"/>
              <a:t>‘validation’ sets or ‘test’ sets </a:t>
            </a:r>
          </a:p>
          <a:p>
            <a:pPr lvl="1"/>
            <a:r>
              <a:rPr lang="en-GB" dirty="0"/>
              <a:t>must NOT be used for training</a:t>
            </a:r>
          </a:p>
          <a:p>
            <a:pPr lvl="1"/>
            <a:r>
              <a:rPr lang="en-GB" dirty="0"/>
              <a:t>livestock can use ‘</a:t>
            </a:r>
            <a:r>
              <a:rPr lang="en-GB" dirty="0" err="1"/>
              <a:t>deregressed</a:t>
            </a:r>
            <a:r>
              <a:rPr lang="en-GB" dirty="0"/>
              <a:t>’ EBVs </a:t>
            </a:r>
          </a:p>
          <a:p>
            <a:pPr lvl="2"/>
            <a:r>
              <a:rPr lang="en-GB" dirty="0"/>
              <a:t>beyond the course!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CF43D6-D305-447D-B12B-F5488E6F361E}"/>
              </a:ext>
            </a:extLst>
          </p:cNvPr>
          <p:cNvSpPr/>
          <p:nvPr/>
        </p:nvSpPr>
        <p:spPr>
          <a:xfrm>
            <a:off x="527217" y="3429000"/>
            <a:ext cx="6000831" cy="43204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17915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Cross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common way of assessing fit</a:t>
            </a:r>
          </a:p>
          <a:p>
            <a:r>
              <a:rPr lang="en-GB" dirty="0"/>
              <a:t>Split the data into </a:t>
            </a:r>
            <a:r>
              <a:rPr lang="en-GB" i="1" dirty="0"/>
              <a:t>k</a:t>
            </a:r>
            <a:r>
              <a:rPr lang="en-GB" dirty="0"/>
              <a:t> sets to do </a:t>
            </a:r>
            <a:r>
              <a:rPr lang="en-GB" i="1" dirty="0"/>
              <a:t>k-fold</a:t>
            </a:r>
            <a:r>
              <a:rPr lang="en-GB" dirty="0"/>
              <a:t> cross validation</a:t>
            </a:r>
          </a:p>
          <a:p>
            <a:r>
              <a:rPr lang="en-GB" dirty="0"/>
              <a:t>Fit data to </a:t>
            </a:r>
            <a:r>
              <a:rPr lang="en-GB" i="1" dirty="0"/>
              <a:t>k-1</a:t>
            </a:r>
            <a:r>
              <a:rPr lang="en-GB" dirty="0"/>
              <a:t> parts and validate on </a:t>
            </a:r>
            <a:r>
              <a:rPr lang="en-GB" i="1" dirty="0" err="1"/>
              <a:t>k</a:t>
            </a:r>
            <a:r>
              <a:rPr lang="en-GB" i="1" baseline="30000" dirty="0" err="1"/>
              <a:t>th</a:t>
            </a:r>
            <a:r>
              <a:rPr lang="en-GB" i="1" dirty="0"/>
              <a:t> </a:t>
            </a:r>
            <a:r>
              <a:rPr lang="en-GB" dirty="0"/>
              <a:t>set</a:t>
            </a:r>
          </a:p>
          <a:p>
            <a:r>
              <a:rPr lang="en-GB" dirty="0"/>
              <a:t>Validate </a:t>
            </a:r>
            <a:r>
              <a:rPr lang="en-GB" i="1" dirty="0"/>
              <a:t>k </a:t>
            </a:r>
            <a:r>
              <a:rPr lang="en-GB" dirty="0"/>
              <a:t>times, each set validated once</a:t>
            </a:r>
          </a:p>
          <a:p>
            <a:r>
              <a:rPr lang="en-GB" dirty="0"/>
              <a:t>Validation set must </a:t>
            </a:r>
            <a:r>
              <a:rPr lang="en-GB" u="sng" dirty="0"/>
              <a:t>never</a:t>
            </a:r>
            <a:r>
              <a:rPr lang="en-GB" dirty="0"/>
              <a:t> inform model fitting</a:t>
            </a:r>
          </a:p>
          <a:p>
            <a:r>
              <a:rPr lang="en-GB" dirty="0"/>
              <a:t>Division into sets is random, but informed by study objectives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05925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e.g. 4-Fold Cross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Develop model on ¾ data, assess predictive value on remaining ¼ </a:t>
            </a:r>
          </a:p>
          <a:p>
            <a:r>
              <a:rPr lang="en-GB" dirty="0"/>
              <a:t>Repeat 4 times, predicting each set in turn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  <p:grpSp>
        <p:nvGrpSpPr>
          <p:cNvPr id="11" name="Group 10"/>
          <p:cNvGrpSpPr>
            <a:grpSpLocks/>
          </p:cNvGrpSpPr>
          <p:nvPr/>
        </p:nvGrpSpPr>
        <p:grpSpPr>
          <a:xfrm>
            <a:off x="2783632" y="1412776"/>
            <a:ext cx="1440000" cy="1440000"/>
            <a:chOff x="1403648" y="1628800"/>
            <a:chExt cx="1872208" cy="1872208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7" name="Rectangle 6"/>
            <p:cNvSpPr/>
            <p:nvPr/>
          </p:nvSpPr>
          <p:spPr>
            <a:xfrm>
              <a:off x="1403648" y="1628800"/>
              <a:ext cx="936104" cy="93610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339752" y="1628800"/>
              <a:ext cx="936104" cy="936104"/>
            </a:xfrm>
            <a:prstGeom prst="rect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403648" y="2564904"/>
              <a:ext cx="936104" cy="936104"/>
            </a:xfrm>
            <a:prstGeom prst="rect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339752" y="2564904"/>
              <a:ext cx="936104" cy="936104"/>
            </a:xfrm>
            <a:prstGeom prst="rect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" name="Group 11"/>
          <p:cNvGrpSpPr>
            <a:grpSpLocks/>
          </p:cNvGrpSpPr>
          <p:nvPr/>
        </p:nvGrpSpPr>
        <p:grpSpPr>
          <a:xfrm rot="5400000">
            <a:off x="4535880" y="1412776"/>
            <a:ext cx="1440000" cy="1440000"/>
            <a:chOff x="1403648" y="1628800"/>
            <a:chExt cx="1872208" cy="1872208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3" name="Rectangle 12"/>
            <p:cNvSpPr/>
            <p:nvPr/>
          </p:nvSpPr>
          <p:spPr>
            <a:xfrm>
              <a:off x="1403648" y="1628800"/>
              <a:ext cx="936104" cy="93610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339752" y="1628800"/>
              <a:ext cx="936104" cy="936104"/>
            </a:xfrm>
            <a:prstGeom prst="rect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403648" y="2564904"/>
              <a:ext cx="936104" cy="936104"/>
            </a:xfrm>
            <a:prstGeom prst="rect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339752" y="2564904"/>
              <a:ext cx="936104" cy="936104"/>
            </a:xfrm>
            <a:prstGeom prst="rect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" name="Group 16"/>
          <p:cNvGrpSpPr>
            <a:grpSpLocks/>
          </p:cNvGrpSpPr>
          <p:nvPr/>
        </p:nvGrpSpPr>
        <p:grpSpPr>
          <a:xfrm rot="10800000">
            <a:off x="6288128" y="1412776"/>
            <a:ext cx="1440000" cy="1440000"/>
            <a:chOff x="1403648" y="1628800"/>
            <a:chExt cx="1872208" cy="1872208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8" name="Rectangle 17"/>
            <p:cNvSpPr/>
            <p:nvPr/>
          </p:nvSpPr>
          <p:spPr>
            <a:xfrm>
              <a:off x="1403648" y="1628800"/>
              <a:ext cx="936104" cy="93610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339752" y="1628800"/>
              <a:ext cx="936104" cy="936104"/>
            </a:xfrm>
            <a:prstGeom prst="rect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403648" y="2564904"/>
              <a:ext cx="936104" cy="936104"/>
            </a:xfrm>
            <a:prstGeom prst="rect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339752" y="2564904"/>
              <a:ext cx="936104" cy="936104"/>
            </a:xfrm>
            <a:prstGeom prst="rect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" name="Group 21"/>
          <p:cNvGrpSpPr>
            <a:grpSpLocks/>
          </p:cNvGrpSpPr>
          <p:nvPr/>
        </p:nvGrpSpPr>
        <p:grpSpPr>
          <a:xfrm flipV="1">
            <a:off x="8040376" y="1412776"/>
            <a:ext cx="1440000" cy="1440000"/>
            <a:chOff x="1403648" y="1628800"/>
            <a:chExt cx="1872208" cy="1872208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23" name="Rectangle 22"/>
            <p:cNvSpPr/>
            <p:nvPr/>
          </p:nvSpPr>
          <p:spPr>
            <a:xfrm>
              <a:off x="1403648" y="1628800"/>
              <a:ext cx="936104" cy="93610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339752" y="1628800"/>
              <a:ext cx="936104" cy="936104"/>
            </a:xfrm>
            <a:prstGeom prst="rect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403648" y="2564904"/>
              <a:ext cx="936104" cy="936104"/>
            </a:xfrm>
            <a:prstGeom prst="rect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339752" y="2564904"/>
              <a:ext cx="936104" cy="936104"/>
            </a:xfrm>
            <a:prstGeom prst="rect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1092358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Cross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With large k, a lot of work</a:t>
            </a:r>
          </a:p>
          <a:p>
            <a:pPr lvl="1"/>
            <a:r>
              <a:rPr lang="en-GB" dirty="0"/>
              <a:t>k = </a:t>
            </a:r>
            <a:r>
              <a:rPr lang="en-GB" i="1" dirty="0"/>
              <a:t>n</a:t>
            </a:r>
            <a:r>
              <a:rPr lang="en-GB" dirty="0"/>
              <a:t> is “leave-one-out”</a:t>
            </a:r>
          </a:p>
          <a:p>
            <a:r>
              <a:rPr lang="en-GB" dirty="0"/>
              <a:t>With small k, accuracy is reduced due to reduced data</a:t>
            </a:r>
          </a:p>
          <a:p>
            <a:r>
              <a:rPr lang="en-GB" dirty="0"/>
              <a:t>Validation set needs to large enough for good estimate of fit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55204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Validation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Study aims &amp; design can determine if ‘classical’ cross-validation suitable</a:t>
            </a:r>
          </a:p>
          <a:p>
            <a:pPr lvl="1"/>
            <a:r>
              <a:rPr lang="en-GB" dirty="0"/>
              <a:t>an example of unsuitability</a:t>
            </a:r>
          </a:p>
          <a:p>
            <a:pPr lvl="2"/>
            <a:r>
              <a:rPr lang="en-GB" dirty="0"/>
              <a:t>genotype and phenotype data on several generations</a:t>
            </a:r>
          </a:p>
          <a:p>
            <a:pPr lvl="2"/>
            <a:r>
              <a:rPr lang="en-GB" dirty="0"/>
              <a:t>aim is to predict next generation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3791744" y="3789040"/>
            <a:ext cx="1008112" cy="3600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3791744" y="4426690"/>
            <a:ext cx="1008112" cy="3600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3791744" y="5064340"/>
            <a:ext cx="1008112" cy="3600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3791744" y="5701990"/>
            <a:ext cx="1008112" cy="3600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2855640" y="4365104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Data</a:t>
            </a:r>
          </a:p>
        </p:txBody>
      </p:sp>
      <p:cxnSp>
        <p:nvCxnSpPr>
          <p:cNvPr id="12" name="Straight Arrow Connector 11"/>
          <p:cNvCxnSpPr>
            <a:stCxn id="6" idx="2"/>
            <a:endCxn id="7" idx="0"/>
          </p:cNvCxnSpPr>
          <p:nvPr/>
        </p:nvCxnSpPr>
        <p:spPr>
          <a:xfrm>
            <a:off x="4295800" y="4149080"/>
            <a:ext cx="0" cy="277610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7" idx="2"/>
            <a:endCxn id="8" idx="0"/>
          </p:cNvCxnSpPr>
          <p:nvPr/>
        </p:nvCxnSpPr>
        <p:spPr>
          <a:xfrm>
            <a:off x="4295800" y="4786730"/>
            <a:ext cx="0" cy="277610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2"/>
            <a:endCxn id="9" idx="0"/>
          </p:cNvCxnSpPr>
          <p:nvPr/>
        </p:nvCxnSpPr>
        <p:spPr>
          <a:xfrm>
            <a:off x="4295800" y="5424380"/>
            <a:ext cx="0" cy="277610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320136" y="3789040"/>
            <a:ext cx="1008112" cy="3600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/>
          <p:cNvSpPr/>
          <p:nvPr/>
        </p:nvSpPr>
        <p:spPr>
          <a:xfrm>
            <a:off x="7320136" y="4426690"/>
            <a:ext cx="1008112" cy="3600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7320136" y="5064340"/>
            <a:ext cx="1008112" cy="3600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/>
          <p:cNvSpPr/>
          <p:nvPr/>
        </p:nvSpPr>
        <p:spPr>
          <a:xfrm>
            <a:off x="7320136" y="5701990"/>
            <a:ext cx="1008112" cy="36004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/>
          <p:cNvSpPr txBox="1"/>
          <p:nvPr/>
        </p:nvSpPr>
        <p:spPr>
          <a:xfrm>
            <a:off x="5951984" y="4427820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Training</a:t>
            </a:r>
          </a:p>
        </p:txBody>
      </p:sp>
      <p:cxnSp>
        <p:nvCxnSpPr>
          <p:cNvPr id="24" name="Straight Arrow Connector 23"/>
          <p:cNvCxnSpPr>
            <a:stCxn id="19" idx="2"/>
            <a:endCxn id="20" idx="0"/>
          </p:cNvCxnSpPr>
          <p:nvPr/>
        </p:nvCxnSpPr>
        <p:spPr>
          <a:xfrm>
            <a:off x="7824192" y="4149080"/>
            <a:ext cx="0" cy="277610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20" idx="2"/>
            <a:endCxn id="21" idx="0"/>
          </p:cNvCxnSpPr>
          <p:nvPr/>
        </p:nvCxnSpPr>
        <p:spPr>
          <a:xfrm>
            <a:off x="7824192" y="4786730"/>
            <a:ext cx="0" cy="277610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21" idx="2"/>
            <a:endCxn id="22" idx="0"/>
          </p:cNvCxnSpPr>
          <p:nvPr/>
        </p:nvCxnSpPr>
        <p:spPr>
          <a:xfrm>
            <a:off x="7824192" y="5424380"/>
            <a:ext cx="0" cy="277610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951984" y="5723964"/>
            <a:ext cx="1198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Validation</a:t>
            </a:r>
          </a:p>
        </p:txBody>
      </p:sp>
      <p:sp>
        <p:nvSpPr>
          <p:cNvPr id="28" name="Left Brace 27"/>
          <p:cNvSpPr/>
          <p:nvPr/>
        </p:nvSpPr>
        <p:spPr>
          <a:xfrm>
            <a:off x="7032104" y="3737876"/>
            <a:ext cx="216024" cy="1707348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/>
          <p:cNvSpPr txBox="1"/>
          <p:nvPr/>
        </p:nvSpPr>
        <p:spPr>
          <a:xfrm>
            <a:off x="8544398" y="4149080"/>
            <a:ext cx="17280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Only sensible design for assessment! </a:t>
            </a:r>
          </a:p>
        </p:txBody>
      </p:sp>
    </p:spTree>
    <p:extLst>
      <p:ext uri="{BB962C8B-B14F-4D97-AF65-F5344CB8AC3E}">
        <p14:creationId xmlns:p14="http://schemas.microsoft.com/office/powerpoint/2010/main" val="8830149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to Assess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Accuracy </a:t>
            </a:r>
          </a:p>
          <a:p>
            <a:pPr lvl="1"/>
            <a:r>
              <a:rPr lang="en-GB" dirty="0"/>
              <a:t>correlation between EBV and TBV</a:t>
            </a:r>
          </a:p>
          <a:p>
            <a:pPr lvl="1"/>
            <a:r>
              <a:rPr lang="en-GB" dirty="0"/>
              <a:t>related to gain in selection</a:t>
            </a:r>
          </a:p>
          <a:p>
            <a:pPr lvl="2"/>
            <a:r>
              <a:rPr lang="en-GB" dirty="0"/>
              <a:t>see additional information</a:t>
            </a:r>
          </a:p>
          <a:p>
            <a:pPr lvl="1"/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18948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Assessing Accuracy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Accuracy </a:t>
            </a:r>
          </a:p>
          <a:p>
            <a:pPr lvl="1"/>
            <a:r>
              <a:rPr lang="en-GB" dirty="0"/>
              <a:t>correlation between EBV (   ) and TBV (   )</a:t>
            </a:r>
          </a:p>
          <a:p>
            <a:pPr lvl="1"/>
            <a:r>
              <a:rPr lang="en-GB" dirty="0"/>
              <a:t>related to gain in selection</a:t>
            </a:r>
          </a:p>
          <a:p>
            <a:pPr lvl="2"/>
            <a:r>
              <a:rPr lang="en-GB" dirty="0"/>
              <a:t>see additional information</a:t>
            </a:r>
          </a:p>
          <a:p>
            <a:pPr lvl="1"/>
            <a:r>
              <a:rPr lang="en-GB" dirty="0"/>
              <a:t>when using phenotypes P (    )</a:t>
            </a:r>
          </a:p>
          <a:p>
            <a:pPr lvl="2"/>
            <a:r>
              <a:rPr lang="en-GB" dirty="0"/>
              <a:t> </a:t>
            </a:r>
          </a:p>
          <a:p>
            <a:pPr lvl="2"/>
            <a:endParaRPr lang="en-GB" dirty="0"/>
          </a:p>
          <a:p>
            <a:pPr marL="914400" lvl="2" indent="0">
              <a:buNone/>
            </a:pPr>
            <a:endParaRPr lang="en-GB" dirty="0"/>
          </a:p>
          <a:p>
            <a:pPr lvl="2"/>
            <a:r>
              <a:rPr lang="en-GB" dirty="0"/>
              <a:t>see notes</a:t>
            </a:r>
          </a:p>
          <a:p>
            <a:pPr lvl="2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3013690"/>
              </p:ext>
            </p:extLst>
          </p:nvPr>
        </p:nvGraphicFramePr>
        <p:xfrm>
          <a:off x="3362326" y="3798888"/>
          <a:ext cx="4181475" cy="1255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52" name="Equation" r:id="rId3" imgW="2323800" imgH="698400" progId="Equation.DSMT4">
                  <p:embed/>
                </p:oleObj>
              </mc:Choice>
              <mc:Fallback>
                <p:oleObj name="Equation" r:id="rId3" imgW="2323800" imgH="6984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2326" y="3798888"/>
                        <a:ext cx="4181475" cy="12557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2084695"/>
              </p:ext>
            </p:extLst>
          </p:nvPr>
        </p:nvGraphicFramePr>
        <p:xfrm>
          <a:off x="5231904" y="1772817"/>
          <a:ext cx="360040" cy="489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53" name="Equation" r:id="rId5" imgW="164880" imgH="228600" progId="Equation.DSMT4">
                  <p:embed/>
                </p:oleObj>
              </mc:Choice>
              <mc:Fallback>
                <p:oleObj name="Equation" r:id="rId5" imgW="16488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1904" y="1772817"/>
                        <a:ext cx="360040" cy="4891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5502028"/>
              </p:ext>
            </p:extLst>
          </p:nvPr>
        </p:nvGraphicFramePr>
        <p:xfrm>
          <a:off x="7320136" y="1772817"/>
          <a:ext cx="360040" cy="489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54" name="Equation" r:id="rId7" imgW="164880" imgH="228600" progId="Equation.DSMT4">
                  <p:embed/>
                </p:oleObj>
              </mc:Choice>
              <mc:Fallback>
                <p:oleObj name="Equation" r:id="rId7" imgW="16488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0136" y="1772817"/>
                        <a:ext cx="360040" cy="4891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1621136"/>
              </p:ext>
            </p:extLst>
          </p:nvPr>
        </p:nvGraphicFramePr>
        <p:xfrm>
          <a:off x="5375920" y="3227388"/>
          <a:ext cx="357187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55" name="Equation" r:id="rId9" imgW="164880" imgH="228600" progId="Equation.DSMT4">
                  <p:embed/>
                </p:oleObj>
              </mc:Choice>
              <mc:Fallback>
                <p:oleObj name="Equation" r:id="rId9" imgW="164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920" y="3227388"/>
                        <a:ext cx="357187" cy="4889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517280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High accuracy …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Good predictor of ranking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5879976" y="1701192"/>
            <a:ext cx="72" cy="36000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5400000">
            <a:off x="5807776" y="1634861"/>
            <a:ext cx="0" cy="40320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176120" y="2723608"/>
            <a:ext cx="72000" cy="7200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6833772" y="2783673"/>
            <a:ext cx="72000" cy="7200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7408911" y="2509664"/>
            <a:ext cx="72000" cy="7200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6354009" y="3080279"/>
            <a:ext cx="72000" cy="7200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/>
          <p:cNvSpPr/>
          <p:nvPr/>
        </p:nvSpPr>
        <p:spPr>
          <a:xfrm>
            <a:off x="7751808" y="2511084"/>
            <a:ext cx="72000" cy="7200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/>
          <p:cNvSpPr/>
          <p:nvPr/>
        </p:nvSpPr>
        <p:spPr>
          <a:xfrm>
            <a:off x="7823808" y="2232739"/>
            <a:ext cx="72000" cy="7200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8148295" y="2132856"/>
            <a:ext cx="72000" cy="7200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/>
          <p:cNvSpPr/>
          <p:nvPr/>
        </p:nvSpPr>
        <p:spPr>
          <a:xfrm>
            <a:off x="7319663" y="2891875"/>
            <a:ext cx="72000" cy="7200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/>
          <p:cNvSpPr/>
          <p:nvPr/>
        </p:nvSpPr>
        <p:spPr>
          <a:xfrm>
            <a:off x="5727648" y="3733444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/>
          <p:cNvSpPr/>
          <p:nvPr/>
        </p:nvSpPr>
        <p:spPr>
          <a:xfrm>
            <a:off x="4971970" y="4236670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/>
          <p:cNvSpPr/>
          <p:nvPr/>
        </p:nvSpPr>
        <p:spPr>
          <a:xfrm>
            <a:off x="4629749" y="4062989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/>
          <p:cNvSpPr/>
          <p:nvPr/>
        </p:nvSpPr>
        <p:spPr>
          <a:xfrm>
            <a:off x="5565076" y="3843040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/>
          <p:cNvSpPr/>
          <p:nvPr/>
        </p:nvSpPr>
        <p:spPr>
          <a:xfrm>
            <a:off x="5048068" y="4084607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/>
          <p:cNvSpPr/>
          <p:nvPr/>
        </p:nvSpPr>
        <p:spPr>
          <a:xfrm>
            <a:off x="5529519" y="3967130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/>
          <p:cNvSpPr/>
          <p:nvPr/>
        </p:nvSpPr>
        <p:spPr>
          <a:xfrm>
            <a:off x="5117905" y="3931130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/>
          <p:cNvSpPr/>
          <p:nvPr/>
        </p:nvSpPr>
        <p:spPr>
          <a:xfrm>
            <a:off x="5463384" y="3693276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/>
          <p:cNvSpPr/>
          <p:nvPr/>
        </p:nvSpPr>
        <p:spPr>
          <a:xfrm>
            <a:off x="5708918" y="3536511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/>
          <p:cNvSpPr/>
          <p:nvPr/>
        </p:nvSpPr>
        <p:spPr>
          <a:xfrm>
            <a:off x="6330897" y="3412845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/>
          <p:cNvSpPr/>
          <p:nvPr/>
        </p:nvSpPr>
        <p:spPr>
          <a:xfrm>
            <a:off x="6709221" y="3199388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/>
          <p:cNvSpPr/>
          <p:nvPr/>
        </p:nvSpPr>
        <p:spPr>
          <a:xfrm>
            <a:off x="6227182" y="3310079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/>
          <p:cNvSpPr/>
          <p:nvPr/>
        </p:nvSpPr>
        <p:spPr>
          <a:xfrm>
            <a:off x="4275851" y="4434171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/>
          <p:cNvSpPr/>
          <p:nvPr/>
        </p:nvSpPr>
        <p:spPr>
          <a:xfrm>
            <a:off x="6833772" y="3094798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/>
          <p:cNvSpPr/>
          <p:nvPr/>
        </p:nvSpPr>
        <p:spPr>
          <a:xfrm>
            <a:off x="6574169" y="3357332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/>
          <p:cNvSpPr/>
          <p:nvPr/>
        </p:nvSpPr>
        <p:spPr>
          <a:xfrm>
            <a:off x="7275346" y="2681309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/>
          <p:cNvSpPr/>
          <p:nvPr/>
        </p:nvSpPr>
        <p:spPr>
          <a:xfrm>
            <a:off x="4100623" y="4464779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angle 42"/>
          <p:cNvSpPr/>
          <p:nvPr/>
        </p:nvSpPr>
        <p:spPr>
          <a:xfrm>
            <a:off x="5880048" y="3885844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 43"/>
          <p:cNvSpPr/>
          <p:nvPr/>
        </p:nvSpPr>
        <p:spPr>
          <a:xfrm>
            <a:off x="6032448" y="3429000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 44"/>
          <p:cNvSpPr/>
          <p:nvPr/>
        </p:nvSpPr>
        <p:spPr>
          <a:xfrm>
            <a:off x="6184848" y="3581400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/>
          <p:cNvSpPr/>
          <p:nvPr/>
        </p:nvSpPr>
        <p:spPr>
          <a:xfrm>
            <a:off x="6023992" y="3733800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5181534" y="1750912"/>
            <a:ext cx="634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TBV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06092" y="3773178"/>
            <a:ext cx="71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EBV</a:t>
            </a:r>
          </a:p>
        </p:txBody>
      </p:sp>
    </p:spTree>
    <p:extLst>
      <p:ext uri="{BB962C8B-B14F-4D97-AF65-F5344CB8AC3E}">
        <p14:creationId xmlns:p14="http://schemas.microsoft.com/office/powerpoint/2010/main" val="41933183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Low accuracy …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Predictive, but …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5879976" y="1701192"/>
            <a:ext cx="0" cy="40320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5400000">
            <a:off x="5807776" y="1634861"/>
            <a:ext cx="0" cy="40320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104111" y="2204864"/>
            <a:ext cx="72000" cy="7200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6797772" y="2651600"/>
            <a:ext cx="72000" cy="7200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7408911" y="2509664"/>
            <a:ext cx="72000" cy="7200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6318009" y="2927879"/>
            <a:ext cx="72000" cy="7200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/>
          <p:cNvSpPr/>
          <p:nvPr/>
        </p:nvSpPr>
        <p:spPr>
          <a:xfrm>
            <a:off x="7751808" y="2840591"/>
            <a:ext cx="72000" cy="7200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/>
          <p:cNvSpPr/>
          <p:nvPr/>
        </p:nvSpPr>
        <p:spPr>
          <a:xfrm>
            <a:off x="7866111" y="2966864"/>
            <a:ext cx="72000" cy="7200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8269909" y="2517214"/>
            <a:ext cx="72000" cy="7200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/>
          <p:cNvSpPr/>
          <p:nvPr/>
        </p:nvSpPr>
        <p:spPr>
          <a:xfrm>
            <a:off x="7379937" y="3436764"/>
            <a:ext cx="72000" cy="7200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/>
          <p:cNvSpPr/>
          <p:nvPr/>
        </p:nvSpPr>
        <p:spPr>
          <a:xfrm>
            <a:off x="5727648" y="3733444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/>
          <p:cNvSpPr/>
          <p:nvPr/>
        </p:nvSpPr>
        <p:spPr>
          <a:xfrm>
            <a:off x="5046791" y="4836244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/>
          <p:cNvSpPr/>
          <p:nvPr/>
        </p:nvSpPr>
        <p:spPr>
          <a:xfrm>
            <a:off x="4620285" y="4398687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/>
          <p:cNvSpPr/>
          <p:nvPr/>
        </p:nvSpPr>
        <p:spPr>
          <a:xfrm>
            <a:off x="5609831" y="4561453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/>
          <p:cNvSpPr/>
          <p:nvPr/>
        </p:nvSpPr>
        <p:spPr>
          <a:xfrm>
            <a:off x="5048068" y="4084607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/>
          <p:cNvSpPr/>
          <p:nvPr/>
        </p:nvSpPr>
        <p:spPr>
          <a:xfrm>
            <a:off x="5538717" y="4135569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/>
          <p:cNvSpPr/>
          <p:nvPr/>
        </p:nvSpPr>
        <p:spPr>
          <a:xfrm>
            <a:off x="5046791" y="3445228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/>
          <p:cNvSpPr/>
          <p:nvPr/>
        </p:nvSpPr>
        <p:spPr>
          <a:xfrm>
            <a:off x="5370830" y="3088517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/>
          <p:cNvSpPr/>
          <p:nvPr/>
        </p:nvSpPr>
        <p:spPr>
          <a:xfrm>
            <a:off x="5655100" y="2753309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/>
          <p:cNvSpPr/>
          <p:nvPr/>
        </p:nvSpPr>
        <p:spPr>
          <a:xfrm>
            <a:off x="6354009" y="4382169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/>
          <p:cNvSpPr/>
          <p:nvPr/>
        </p:nvSpPr>
        <p:spPr>
          <a:xfrm>
            <a:off x="6769240" y="4207569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/>
          <p:cNvSpPr/>
          <p:nvPr/>
        </p:nvSpPr>
        <p:spPr>
          <a:xfrm>
            <a:off x="6253494" y="3584169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/>
          <p:cNvSpPr/>
          <p:nvPr/>
        </p:nvSpPr>
        <p:spPr>
          <a:xfrm>
            <a:off x="4180432" y="3748559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/>
          <p:cNvSpPr/>
          <p:nvPr/>
        </p:nvSpPr>
        <p:spPr>
          <a:xfrm>
            <a:off x="6833772" y="3253390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/>
          <p:cNvSpPr/>
          <p:nvPr/>
        </p:nvSpPr>
        <p:spPr>
          <a:xfrm>
            <a:off x="6640771" y="3849669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/>
          <p:cNvSpPr/>
          <p:nvPr/>
        </p:nvSpPr>
        <p:spPr>
          <a:xfrm>
            <a:off x="7104112" y="3717032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/>
          <p:cNvSpPr/>
          <p:nvPr/>
        </p:nvSpPr>
        <p:spPr>
          <a:xfrm>
            <a:off x="4067471" y="4202267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 44"/>
          <p:cNvSpPr/>
          <p:nvPr/>
        </p:nvSpPr>
        <p:spPr>
          <a:xfrm>
            <a:off x="5952878" y="3284992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/>
          <p:cNvSpPr/>
          <p:nvPr/>
        </p:nvSpPr>
        <p:spPr>
          <a:xfrm>
            <a:off x="6105278" y="3717040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 46"/>
          <p:cNvSpPr/>
          <p:nvPr/>
        </p:nvSpPr>
        <p:spPr>
          <a:xfrm>
            <a:off x="5735960" y="3501008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 47"/>
          <p:cNvSpPr/>
          <p:nvPr/>
        </p:nvSpPr>
        <p:spPr>
          <a:xfrm>
            <a:off x="5952878" y="4005072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TextBox 48"/>
          <p:cNvSpPr txBox="1"/>
          <p:nvPr/>
        </p:nvSpPr>
        <p:spPr>
          <a:xfrm>
            <a:off x="5181534" y="1750912"/>
            <a:ext cx="634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TBV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06092" y="3773178"/>
            <a:ext cx="71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EBV</a:t>
            </a:r>
          </a:p>
        </p:txBody>
      </p:sp>
    </p:spTree>
    <p:extLst>
      <p:ext uri="{BB962C8B-B14F-4D97-AF65-F5344CB8AC3E}">
        <p14:creationId xmlns:p14="http://schemas.microsoft.com/office/powerpoint/2010/main" val="28323766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Assessing Accuracy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comparing models using phenotypes P</a:t>
            </a:r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857250" lvl="1" indent="-457200"/>
            <a:r>
              <a:rPr lang="en-GB" dirty="0"/>
              <a:t>beware using the estimates of </a:t>
            </a:r>
            <a:r>
              <a:rPr lang="en-GB" i="1" dirty="0"/>
              <a:t>h</a:t>
            </a:r>
            <a:r>
              <a:rPr lang="en-GB" dirty="0"/>
              <a:t>!</a:t>
            </a:r>
          </a:p>
          <a:p>
            <a:pPr marL="857250" lvl="1" indent="-457200"/>
            <a:r>
              <a:rPr lang="en-GB" u="sng" dirty="0"/>
              <a:t>objective model comparison is </a:t>
            </a:r>
          </a:p>
          <a:p>
            <a:pPr marL="857250" lvl="1" indent="-457200"/>
            <a:r>
              <a:rPr lang="en-GB" i="1" dirty="0"/>
              <a:t>h </a:t>
            </a:r>
            <a:r>
              <a:rPr lang="en-GB" dirty="0"/>
              <a:t>is simply scaling </a:t>
            </a:r>
            <a:r>
              <a:rPr lang="en-GB" i="1" dirty="0"/>
              <a:t>P,</a:t>
            </a:r>
            <a:r>
              <a:rPr lang="en-GB" dirty="0"/>
              <a:t> by a value common to all models</a:t>
            </a:r>
          </a:p>
          <a:p>
            <a:pPr marL="857250" lvl="1" indent="-457200"/>
            <a:r>
              <a:rPr lang="en-GB" dirty="0"/>
              <a:t>different models may give different estimates of </a:t>
            </a:r>
            <a:r>
              <a:rPr lang="en-GB" i="1" dirty="0"/>
              <a:t>h</a:t>
            </a:r>
            <a:r>
              <a:rPr lang="en-GB" dirty="0"/>
              <a:t>!</a:t>
            </a:r>
          </a:p>
          <a:p>
            <a:pPr marL="857250" lvl="1" indent="-457200"/>
            <a:r>
              <a:rPr lang="en-GB" dirty="0"/>
              <a:t>use a consensus or ‘community’ estimate for </a:t>
            </a:r>
            <a:r>
              <a:rPr lang="en-GB" i="1" dirty="0"/>
              <a:t>h</a:t>
            </a:r>
            <a:r>
              <a:rPr lang="en-GB" dirty="0"/>
              <a:t>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191243"/>
              </p:ext>
            </p:extLst>
          </p:nvPr>
        </p:nvGraphicFramePr>
        <p:xfrm>
          <a:off x="3863753" y="1860774"/>
          <a:ext cx="4181475" cy="1255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8" name="Equation" r:id="rId3" imgW="2323800" imgH="698400" progId="Equation.DSMT4">
                  <p:embed/>
                </p:oleObj>
              </mc:Choice>
              <mc:Fallback>
                <p:oleObj name="Equation" r:id="rId3" imgW="2323800" imgH="69840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753" y="1860774"/>
                        <a:ext cx="4181475" cy="12557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892AE3A7-D839-4E4B-9E27-64C85B0BB2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4732850"/>
              </p:ext>
            </p:extLst>
          </p:nvPr>
        </p:nvGraphicFramePr>
        <p:xfrm>
          <a:off x="6240016" y="4149080"/>
          <a:ext cx="164465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9" name="Equation" r:id="rId5" imgW="914400" imgH="203040" progId="Equation.DSMT4">
                  <p:embed/>
                </p:oleObj>
              </mc:Choice>
              <mc:Fallback>
                <p:oleObj name="Equation" r:id="rId5" imgW="914400" imgH="20304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016" y="4149080"/>
                        <a:ext cx="1644650" cy="3667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96F8D75A-1F50-4968-9371-152FBBA17B3F}"/>
              </a:ext>
            </a:extLst>
          </p:cNvPr>
          <p:cNvSpPr/>
          <p:nvPr/>
        </p:nvSpPr>
        <p:spPr>
          <a:xfrm>
            <a:off x="479376" y="3429000"/>
            <a:ext cx="9577064" cy="266429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08928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Low accuracy …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Predictive, but …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5879976" y="1701192"/>
            <a:ext cx="0" cy="40320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5400000">
            <a:off x="5807776" y="1634861"/>
            <a:ext cx="0" cy="40320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104111" y="2204864"/>
            <a:ext cx="72000" cy="7200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6797772" y="2651600"/>
            <a:ext cx="72000" cy="7200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7408911" y="2509664"/>
            <a:ext cx="72000" cy="7200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6318009" y="2927879"/>
            <a:ext cx="72000" cy="7200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/>
          <p:cNvSpPr/>
          <p:nvPr/>
        </p:nvSpPr>
        <p:spPr>
          <a:xfrm>
            <a:off x="7751808" y="2840591"/>
            <a:ext cx="72000" cy="7200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/>
          <p:cNvSpPr/>
          <p:nvPr/>
        </p:nvSpPr>
        <p:spPr>
          <a:xfrm>
            <a:off x="7866111" y="2966864"/>
            <a:ext cx="72000" cy="7200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8269909" y="2517214"/>
            <a:ext cx="72000" cy="7200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/>
          <p:cNvSpPr/>
          <p:nvPr/>
        </p:nvSpPr>
        <p:spPr>
          <a:xfrm>
            <a:off x="7379937" y="3436764"/>
            <a:ext cx="72000" cy="7200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/>
          <p:cNvSpPr/>
          <p:nvPr/>
        </p:nvSpPr>
        <p:spPr>
          <a:xfrm>
            <a:off x="5727648" y="3733444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/>
          <p:cNvSpPr/>
          <p:nvPr/>
        </p:nvSpPr>
        <p:spPr>
          <a:xfrm>
            <a:off x="5046791" y="4836244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/>
          <p:cNvSpPr/>
          <p:nvPr/>
        </p:nvSpPr>
        <p:spPr>
          <a:xfrm>
            <a:off x="4620285" y="4398687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/>
          <p:cNvSpPr/>
          <p:nvPr/>
        </p:nvSpPr>
        <p:spPr>
          <a:xfrm>
            <a:off x="5609831" y="4561453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/>
          <p:cNvSpPr/>
          <p:nvPr/>
        </p:nvSpPr>
        <p:spPr>
          <a:xfrm>
            <a:off x="5048068" y="4084607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/>
          <p:cNvSpPr/>
          <p:nvPr/>
        </p:nvSpPr>
        <p:spPr>
          <a:xfrm>
            <a:off x="5538717" y="4135569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/>
          <p:cNvSpPr/>
          <p:nvPr/>
        </p:nvSpPr>
        <p:spPr>
          <a:xfrm>
            <a:off x="5046791" y="3445228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/>
          <p:cNvSpPr/>
          <p:nvPr/>
        </p:nvSpPr>
        <p:spPr>
          <a:xfrm>
            <a:off x="5370830" y="3088517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/>
          <p:cNvSpPr/>
          <p:nvPr/>
        </p:nvSpPr>
        <p:spPr>
          <a:xfrm>
            <a:off x="5655100" y="2753309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/>
          <p:cNvSpPr/>
          <p:nvPr/>
        </p:nvSpPr>
        <p:spPr>
          <a:xfrm>
            <a:off x="6354009" y="4382169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/>
          <p:cNvSpPr/>
          <p:nvPr/>
        </p:nvSpPr>
        <p:spPr>
          <a:xfrm>
            <a:off x="6769240" y="4207569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/>
          <p:cNvSpPr/>
          <p:nvPr/>
        </p:nvSpPr>
        <p:spPr>
          <a:xfrm>
            <a:off x="6253494" y="3584169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/>
          <p:cNvSpPr/>
          <p:nvPr/>
        </p:nvSpPr>
        <p:spPr>
          <a:xfrm>
            <a:off x="4180432" y="3748559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/>
          <p:cNvSpPr/>
          <p:nvPr/>
        </p:nvSpPr>
        <p:spPr>
          <a:xfrm>
            <a:off x="6833772" y="3253390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/>
          <p:cNvSpPr/>
          <p:nvPr/>
        </p:nvSpPr>
        <p:spPr>
          <a:xfrm>
            <a:off x="6640771" y="3849669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/>
          <p:cNvSpPr/>
          <p:nvPr/>
        </p:nvSpPr>
        <p:spPr>
          <a:xfrm>
            <a:off x="7104112" y="3717032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/>
          <p:cNvSpPr/>
          <p:nvPr/>
        </p:nvSpPr>
        <p:spPr>
          <a:xfrm>
            <a:off x="4067471" y="4202267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 44"/>
          <p:cNvSpPr/>
          <p:nvPr/>
        </p:nvSpPr>
        <p:spPr>
          <a:xfrm>
            <a:off x="5952878" y="3284992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/>
          <p:cNvSpPr/>
          <p:nvPr/>
        </p:nvSpPr>
        <p:spPr>
          <a:xfrm>
            <a:off x="6105278" y="3717040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 46"/>
          <p:cNvSpPr/>
          <p:nvPr/>
        </p:nvSpPr>
        <p:spPr>
          <a:xfrm>
            <a:off x="5735960" y="3501008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 47"/>
          <p:cNvSpPr/>
          <p:nvPr/>
        </p:nvSpPr>
        <p:spPr>
          <a:xfrm>
            <a:off x="5952878" y="4005072"/>
            <a:ext cx="71114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TextBox 48"/>
          <p:cNvSpPr txBox="1"/>
          <p:nvPr/>
        </p:nvSpPr>
        <p:spPr>
          <a:xfrm>
            <a:off x="5181534" y="1750912"/>
            <a:ext cx="634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TBV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06092" y="3773178"/>
            <a:ext cx="71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EBV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12224" y="3584169"/>
            <a:ext cx="2160240" cy="923330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What is the accuracy of mass selection?</a:t>
            </a:r>
          </a:p>
        </p:txBody>
      </p:sp>
    </p:spTree>
    <p:extLst>
      <p:ext uri="{BB962C8B-B14F-4D97-AF65-F5344CB8AC3E}">
        <p14:creationId xmlns:p14="http://schemas.microsoft.com/office/powerpoint/2010/main" val="3591220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to Assess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Accuracy </a:t>
            </a:r>
          </a:p>
          <a:p>
            <a:pPr lvl="1"/>
            <a:r>
              <a:rPr lang="en-GB" dirty="0"/>
              <a:t>correlation between EBV and TBV</a:t>
            </a:r>
          </a:p>
          <a:p>
            <a:pPr lvl="1"/>
            <a:r>
              <a:rPr lang="en-GB" dirty="0"/>
              <a:t>when using phenotypes P, </a:t>
            </a:r>
            <a:r>
              <a:rPr lang="en-GB" dirty="0" err="1"/>
              <a:t>corr</a:t>
            </a:r>
            <a:r>
              <a:rPr lang="en-GB" dirty="0"/>
              <a:t>(EBV,P)/</a:t>
            </a:r>
            <a:r>
              <a:rPr lang="en-GB" i="1" dirty="0"/>
              <a:t>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08237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to Assess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Accuracy </a:t>
            </a:r>
          </a:p>
          <a:p>
            <a:pPr lvl="1"/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correlation between EBV and TBV</a:t>
            </a:r>
          </a:p>
          <a:p>
            <a:pPr lvl="1"/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when using phenotypes P, </a:t>
            </a:r>
            <a:r>
              <a:rPr lang="en-GB" dirty="0" err="1">
                <a:solidFill>
                  <a:schemeClr val="bg1">
                    <a:lumMod val="65000"/>
                  </a:schemeClr>
                </a:solidFill>
              </a:rPr>
              <a:t>corr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(EBV,P)/</a:t>
            </a:r>
            <a:r>
              <a:rPr lang="en-GB" i="1" dirty="0">
                <a:solidFill>
                  <a:schemeClr val="bg1">
                    <a:lumMod val="65000"/>
                  </a:schemeClr>
                </a:solidFill>
              </a:rPr>
              <a:t>h</a:t>
            </a:r>
          </a:p>
          <a:p>
            <a:r>
              <a:rPr lang="en-GB" dirty="0"/>
              <a:t>Bias</a:t>
            </a:r>
          </a:p>
          <a:p>
            <a:pPr lvl="1"/>
            <a:r>
              <a:rPr lang="en-GB" dirty="0"/>
              <a:t>slope of </a:t>
            </a:r>
            <a:r>
              <a:rPr lang="en-GB" u="sng" dirty="0"/>
              <a:t>TBV on EBV</a:t>
            </a:r>
          </a:p>
          <a:p>
            <a:pPr lvl="1"/>
            <a:r>
              <a:rPr lang="en-GB" dirty="0"/>
              <a:t>with phenotypes P, slope of P(y) on EBV(x)</a:t>
            </a:r>
          </a:p>
          <a:p>
            <a:pPr lvl="2"/>
            <a:r>
              <a:rPr lang="en-GB" dirty="0"/>
              <a:t>see notes, slope TBV on EBV = slope P on EBV</a:t>
            </a:r>
          </a:p>
          <a:p>
            <a:pPr lvl="1"/>
            <a:r>
              <a:rPr lang="en-GB" dirty="0"/>
              <a:t>how magnitude of differences in EBVs reflect differences in TBVs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17565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Slope =1, no bias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Difference of 1 unit EBV         1 unit TBV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5879976" y="1701192"/>
            <a:ext cx="72" cy="36000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5400000">
            <a:off x="5807776" y="1634861"/>
            <a:ext cx="0" cy="40320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967258" y="4332035"/>
            <a:ext cx="72000" cy="720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6833772" y="2783673"/>
            <a:ext cx="72000" cy="720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7324963" y="1856990"/>
            <a:ext cx="72000" cy="720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6354009" y="3080279"/>
            <a:ext cx="72000" cy="720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/>
          <p:cNvSpPr/>
          <p:nvPr/>
        </p:nvSpPr>
        <p:spPr>
          <a:xfrm>
            <a:off x="7761249" y="2508082"/>
            <a:ext cx="72000" cy="720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/>
          <p:cNvSpPr/>
          <p:nvPr/>
        </p:nvSpPr>
        <p:spPr>
          <a:xfrm>
            <a:off x="7823808" y="2232739"/>
            <a:ext cx="72000" cy="720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8148295" y="2132856"/>
            <a:ext cx="72000" cy="720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/>
          <p:cNvSpPr/>
          <p:nvPr/>
        </p:nvSpPr>
        <p:spPr>
          <a:xfrm>
            <a:off x="6893681" y="2089333"/>
            <a:ext cx="72000" cy="720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/>
          <p:cNvSpPr/>
          <p:nvPr/>
        </p:nvSpPr>
        <p:spPr>
          <a:xfrm>
            <a:off x="5727648" y="3733444"/>
            <a:ext cx="71114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/>
          <p:cNvSpPr/>
          <p:nvPr/>
        </p:nvSpPr>
        <p:spPr>
          <a:xfrm>
            <a:off x="4976954" y="4836372"/>
            <a:ext cx="71114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/>
          <p:cNvSpPr/>
          <p:nvPr/>
        </p:nvSpPr>
        <p:spPr>
          <a:xfrm>
            <a:off x="4695529" y="4403004"/>
            <a:ext cx="71114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/>
          <p:cNvSpPr/>
          <p:nvPr/>
        </p:nvSpPr>
        <p:spPr>
          <a:xfrm>
            <a:off x="5565076" y="3843040"/>
            <a:ext cx="71114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/>
          <p:cNvSpPr/>
          <p:nvPr/>
        </p:nvSpPr>
        <p:spPr>
          <a:xfrm>
            <a:off x="5048068" y="4084607"/>
            <a:ext cx="71114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/>
          <p:cNvSpPr/>
          <p:nvPr/>
        </p:nvSpPr>
        <p:spPr>
          <a:xfrm>
            <a:off x="5529519" y="3967130"/>
            <a:ext cx="71114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/>
          <p:cNvSpPr/>
          <p:nvPr/>
        </p:nvSpPr>
        <p:spPr>
          <a:xfrm>
            <a:off x="5334901" y="4410106"/>
            <a:ext cx="71114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/>
          <p:cNvSpPr/>
          <p:nvPr/>
        </p:nvSpPr>
        <p:spPr>
          <a:xfrm>
            <a:off x="5463384" y="3693276"/>
            <a:ext cx="71114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/>
          <p:cNvSpPr/>
          <p:nvPr/>
        </p:nvSpPr>
        <p:spPr>
          <a:xfrm>
            <a:off x="5663696" y="3218965"/>
            <a:ext cx="71114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/>
          <p:cNvSpPr/>
          <p:nvPr/>
        </p:nvSpPr>
        <p:spPr>
          <a:xfrm>
            <a:off x="6228550" y="2387860"/>
            <a:ext cx="71114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/>
          <p:cNvSpPr/>
          <p:nvPr/>
        </p:nvSpPr>
        <p:spPr>
          <a:xfrm>
            <a:off x="6709221" y="3199388"/>
            <a:ext cx="71114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/>
          <p:cNvSpPr/>
          <p:nvPr/>
        </p:nvSpPr>
        <p:spPr>
          <a:xfrm>
            <a:off x="6227182" y="3310079"/>
            <a:ext cx="71114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/>
          <p:cNvSpPr/>
          <p:nvPr/>
        </p:nvSpPr>
        <p:spPr>
          <a:xfrm>
            <a:off x="4283113" y="4433942"/>
            <a:ext cx="71114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/>
          <p:cNvSpPr/>
          <p:nvPr/>
        </p:nvSpPr>
        <p:spPr>
          <a:xfrm>
            <a:off x="6640842" y="3974822"/>
            <a:ext cx="71114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/>
          <p:cNvSpPr/>
          <p:nvPr/>
        </p:nvSpPr>
        <p:spPr>
          <a:xfrm>
            <a:off x="5145976" y="3403377"/>
            <a:ext cx="71114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/>
          <p:cNvSpPr/>
          <p:nvPr/>
        </p:nvSpPr>
        <p:spPr>
          <a:xfrm>
            <a:off x="7275346" y="2681309"/>
            <a:ext cx="71114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/>
          <p:cNvSpPr/>
          <p:nvPr/>
        </p:nvSpPr>
        <p:spPr>
          <a:xfrm>
            <a:off x="4266182" y="5085192"/>
            <a:ext cx="71114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angle 42"/>
          <p:cNvSpPr/>
          <p:nvPr/>
        </p:nvSpPr>
        <p:spPr>
          <a:xfrm>
            <a:off x="5880048" y="3885844"/>
            <a:ext cx="71114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 43"/>
          <p:cNvSpPr/>
          <p:nvPr/>
        </p:nvSpPr>
        <p:spPr>
          <a:xfrm>
            <a:off x="6032448" y="3429000"/>
            <a:ext cx="71114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 44"/>
          <p:cNvSpPr/>
          <p:nvPr/>
        </p:nvSpPr>
        <p:spPr>
          <a:xfrm>
            <a:off x="6018058" y="2878537"/>
            <a:ext cx="71114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/>
          <p:cNvSpPr/>
          <p:nvPr/>
        </p:nvSpPr>
        <p:spPr>
          <a:xfrm>
            <a:off x="6270021" y="3733852"/>
            <a:ext cx="71114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5181534" y="1750912"/>
            <a:ext cx="634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TBV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06092" y="3773178"/>
            <a:ext cx="71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EBV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4346964" y="1916832"/>
            <a:ext cx="3240000" cy="324036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ight Arrow 47"/>
          <p:cNvSpPr/>
          <p:nvPr/>
        </p:nvSpPr>
        <p:spPr>
          <a:xfrm>
            <a:off x="5308731" y="5517232"/>
            <a:ext cx="571245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4301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Slope &lt;1, overestimation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Difference of 1 unit EBV         &lt;1 unit TBV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5879976" y="1701192"/>
            <a:ext cx="72" cy="36000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81534" y="1750912"/>
            <a:ext cx="634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TBV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06092" y="3773178"/>
            <a:ext cx="71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EBV</a:t>
            </a:r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5807776" y="1634861"/>
            <a:ext cx="0" cy="40320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967258" y="4113066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6833772" y="3099655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7324963" y="2493136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6354009" y="3293785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/>
          <p:cNvSpPr/>
          <p:nvPr/>
        </p:nvSpPr>
        <p:spPr>
          <a:xfrm>
            <a:off x="7761249" y="2919279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/>
          <p:cNvSpPr/>
          <p:nvPr/>
        </p:nvSpPr>
        <p:spPr>
          <a:xfrm>
            <a:off x="7823808" y="2739066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8148295" y="2673692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/>
          <p:cNvSpPr/>
          <p:nvPr/>
        </p:nvSpPr>
        <p:spPr>
          <a:xfrm>
            <a:off x="6893681" y="2645206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/>
          <p:cNvSpPr/>
          <p:nvPr/>
        </p:nvSpPr>
        <p:spPr>
          <a:xfrm>
            <a:off x="5727648" y="3721285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/>
          <p:cNvSpPr/>
          <p:nvPr/>
        </p:nvSpPr>
        <p:spPr>
          <a:xfrm>
            <a:off x="4976954" y="4443158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/>
          <p:cNvSpPr/>
          <p:nvPr/>
        </p:nvSpPr>
        <p:spPr>
          <a:xfrm>
            <a:off x="4695529" y="4159516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/>
          <p:cNvSpPr/>
          <p:nvPr/>
        </p:nvSpPr>
        <p:spPr>
          <a:xfrm>
            <a:off x="5565076" y="3793016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/>
          <p:cNvSpPr/>
          <p:nvPr/>
        </p:nvSpPr>
        <p:spPr>
          <a:xfrm>
            <a:off x="5048068" y="3951123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/>
          <p:cNvSpPr/>
          <p:nvPr/>
        </p:nvSpPr>
        <p:spPr>
          <a:xfrm>
            <a:off x="5529519" y="3874234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/>
          <p:cNvSpPr/>
          <p:nvPr/>
        </p:nvSpPr>
        <p:spPr>
          <a:xfrm>
            <a:off x="5334901" y="4164164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/>
          <p:cNvSpPr/>
          <p:nvPr/>
        </p:nvSpPr>
        <p:spPr>
          <a:xfrm>
            <a:off x="5463384" y="3694995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/>
          <p:cNvSpPr/>
          <p:nvPr/>
        </p:nvSpPr>
        <p:spPr>
          <a:xfrm>
            <a:off x="5663696" y="3384556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/>
          <p:cNvSpPr/>
          <p:nvPr/>
        </p:nvSpPr>
        <p:spPr>
          <a:xfrm>
            <a:off x="6228550" y="2840593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/>
          <p:cNvSpPr/>
          <p:nvPr/>
        </p:nvSpPr>
        <p:spPr>
          <a:xfrm>
            <a:off x="6709221" y="3371743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/>
          <p:cNvSpPr/>
          <p:nvPr/>
        </p:nvSpPr>
        <p:spPr>
          <a:xfrm>
            <a:off x="6227182" y="3444191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/>
          <p:cNvSpPr/>
          <p:nvPr/>
        </p:nvSpPr>
        <p:spPr>
          <a:xfrm>
            <a:off x="4283113" y="4179765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/>
          <p:cNvSpPr/>
          <p:nvPr/>
        </p:nvSpPr>
        <p:spPr>
          <a:xfrm>
            <a:off x="6640842" y="3879268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/>
          <p:cNvSpPr/>
          <p:nvPr/>
        </p:nvSpPr>
        <p:spPr>
          <a:xfrm>
            <a:off x="5145976" y="3505255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/>
          <p:cNvSpPr/>
          <p:nvPr/>
        </p:nvSpPr>
        <p:spPr>
          <a:xfrm>
            <a:off x="7275346" y="3032657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/>
          <p:cNvSpPr/>
          <p:nvPr/>
        </p:nvSpPr>
        <p:spPr>
          <a:xfrm>
            <a:off x="4266182" y="4606012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angle 42"/>
          <p:cNvSpPr/>
          <p:nvPr/>
        </p:nvSpPr>
        <p:spPr>
          <a:xfrm>
            <a:off x="5880048" y="3821032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 43"/>
          <p:cNvSpPr/>
          <p:nvPr/>
        </p:nvSpPr>
        <p:spPr>
          <a:xfrm>
            <a:off x="6032448" y="3522025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 44"/>
          <p:cNvSpPr/>
          <p:nvPr/>
        </p:nvSpPr>
        <p:spPr>
          <a:xfrm>
            <a:off x="6018058" y="3161744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/>
          <p:cNvSpPr/>
          <p:nvPr/>
        </p:nvSpPr>
        <p:spPr>
          <a:xfrm>
            <a:off x="6270021" y="3721552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4346964" y="2532304"/>
            <a:ext cx="3240000" cy="212083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ight Arrow 20"/>
          <p:cNvSpPr/>
          <p:nvPr/>
        </p:nvSpPr>
        <p:spPr>
          <a:xfrm>
            <a:off x="5303912" y="5517232"/>
            <a:ext cx="571245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53498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Slope &gt;1, underestimation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Difference of 1 unit EBV         &gt;1 unit TBV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5879976" y="1701192"/>
            <a:ext cx="72" cy="36000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5400000">
            <a:off x="5807776" y="1634861"/>
            <a:ext cx="0" cy="40320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81534" y="1750912"/>
            <a:ext cx="634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TBV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06092" y="3773178"/>
            <a:ext cx="71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EBV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67156" y="4332035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6598286" y="2783673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6956048" y="1856990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6248848" y="3080279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/>
          <p:cNvSpPr/>
          <p:nvPr/>
        </p:nvSpPr>
        <p:spPr>
          <a:xfrm>
            <a:off x="7273819" y="2508082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/>
          <p:cNvSpPr/>
          <p:nvPr/>
        </p:nvSpPr>
        <p:spPr>
          <a:xfrm>
            <a:off x="7319385" y="2232739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7555726" y="2132856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/>
          <p:cNvSpPr/>
          <p:nvPr/>
        </p:nvSpPr>
        <p:spPr>
          <a:xfrm>
            <a:off x="6641921" y="2089333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/>
          <p:cNvSpPr/>
          <p:nvPr/>
        </p:nvSpPr>
        <p:spPr>
          <a:xfrm>
            <a:off x="5792635" y="3733444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/>
          <p:cNvSpPr/>
          <p:nvPr/>
        </p:nvSpPr>
        <p:spPr>
          <a:xfrm>
            <a:off x="5245863" y="4836372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/>
          <p:cNvSpPr/>
          <p:nvPr/>
        </p:nvSpPr>
        <p:spPr>
          <a:xfrm>
            <a:off x="5040885" y="4403004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/>
          <p:cNvSpPr/>
          <p:nvPr/>
        </p:nvSpPr>
        <p:spPr>
          <a:xfrm>
            <a:off x="5674225" y="3843040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/>
          <p:cNvSpPr/>
          <p:nvPr/>
        </p:nvSpPr>
        <p:spPr>
          <a:xfrm>
            <a:off x="5297659" y="4084607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/>
          <p:cNvSpPr/>
          <p:nvPr/>
        </p:nvSpPr>
        <p:spPr>
          <a:xfrm>
            <a:off x="5648326" y="3967130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/>
          <p:cNvSpPr/>
          <p:nvPr/>
        </p:nvSpPr>
        <p:spPr>
          <a:xfrm>
            <a:off x="5506575" y="4410106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/>
          <p:cNvSpPr/>
          <p:nvPr/>
        </p:nvSpPr>
        <p:spPr>
          <a:xfrm>
            <a:off x="5600157" y="3693276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/>
          <p:cNvSpPr/>
          <p:nvPr/>
        </p:nvSpPr>
        <p:spPr>
          <a:xfrm>
            <a:off x="5746055" y="3218965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/>
          <p:cNvSpPr/>
          <p:nvPr/>
        </p:nvSpPr>
        <p:spPr>
          <a:xfrm>
            <a:off x="6157470" y="2387860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/>
          <p:cNvSpPr/>
          <p:nvPr/>
        </p:nvSpPr>
        <p:spPr>
          <a:xfrm>
            <a:off x="6507569" y="3199388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/>
          <p:cNvSpPr/>
          <p:nvPr/>
        </p:nvSpPr>
        <p:spPr>
          <a:xfrm>
            <a:off x="6156473" y="3310079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/>
          <p:cNvSpPr/>
          <p:nvPr/>
        </p:nvSpPr>
        <p:spPr>
          <a:xfrm>
            <a:off x="4740500" y="4433942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/>
          <p:cNvSpPr/>
          <p:nvPr/>
        </p:nvSpPr>
        <p:spPr>
          <a:xfrm>
            <a:off x="6457765" y="3974822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/>
          <p:cNvSpPr/>
          <p:nvPr/>
        </p:nvSpPr>
        <p:spPr>
          <a:xfrm>
            <a:off x="5368971" y="3403377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/>
          <p:cNvSpPr/>
          <p:nvPr/>
        </p:nvSpPr>
        <p:spPr>
          <a:xfrm>
            <a:off x="6919909" y="2681309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/>
          <p:cNvSpPr/>
          <p:nvPr/>
        </p:nvSpPr>
        <p:spPr>
          <a:xfrm>
            <a:off x="4728168" y="5085192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angle 42"/>
          <p:cNvSpPr/>
          <p:nvPr/>
        </p:nvSpPr>
        <p:spPr>
          <a:xfrm>
            <a:off x="5903636" y="3885844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 43"/>
          <p:cNvSpPr/>
          <p:nvPr/>
        </p:nvSpPr>
        <p:spPr>
          <a:xfrm>
            <a:off x="6014638" y="3429000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 44"/>
          <p:cNvSpPr/>
          <p:nvPr/>
        </p:nvSpPr>
        <p:spPr>
          <a:xfrm>
            <a:off x="6004157" y="2878537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/>
          <p:cNvSpPr/>
          <p:nvPr/>
        </p:nvSpPr>
        <p:spPr>
          <a:xfrm>
            <a:off x="6187675" y="3733852"/>
            <a:ext cx="72000" cy="7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4787006" y="1916832"/>
            <a:ext cx="2359872" cy="324036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ight Arrow 47"/>
          <p:cNvSpPr/>
          <p:nvPr/>
        </p:nvSpPr>
        <p:spPr>
          <a:xfrm>
            <a:off x="5231904" y="5517232"/>
            <a:ext cx="571245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10627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to Assess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Accuracy 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correlation between EBV and TBV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when using phenotypes P, </a:t>
            </a:r>
            <a:r>
              <a:rPr lang="en-GB" dirty="0" err="1">
                <a:solidFill>
                  <a:schemeClr val="tx1"/>
                </a:solidFill>
              </a:rPr>
              <a:t>corr</a:t>
            </a:r>
            <a:r>
              <a:rPr lang="en-GB" dirty="0">
                <a:solidFill>
                  <a:schemeClr val="tx1"/>
                </a:solidFill>
              </a:rPr>
              <a:t>(EBV,P)/</a:t>
            </a:r>
            <a:r>
              <a:rPr lang="en-GB" i="1" dirty="0">
                <a:solidFill>
                  <a:schemeClr val="tx1"/>
                </a:solidFill>
              </a:rPr>
              <a:t>h</a:t>
            </a:r>
          </a:p>
          <a:p>
            <a:pPr lvl="2"/>
            <a:r>
              <a:rPr lang="en-GB" dirty="0">
                <a:solidFill>
                  <a:schemeClr val="tx1"/>
                </a:solidFill>
              </a:rPr>
              <a:t>see notes</a:t>
            </a:r>
          </a:p>
          <a:p>
            <a:r>
              <a:rPr lang="en-GB" dirty="0"/>
              <a:t>Bias</a:t>
            </a:r>
          </a:p>
          <a:p>
            <a:pPr lvl="1"/>
            <a:r>
              <a:rPr lang="en-GB" dirty="0"/>
              <a:t>slope of </a:t>
            </a:r>
            <a:r>
              <a:rPr lang="en-GB" u="sng" dirty="0"/>
              <a:t>TBV on EBV</a:t>
            </a:r>
          </a:p>
          <a:p>
            <a:pPr lvl="1"/>
            <a:r>
              <a:rPr lang="en-GB" dirty="0"/>
              <a:t>with phenotypes P, slope of P(y) on EBV(x)</a:t>
            </a:r>
          </a:p>
          <a:p>
            <a:pPr lvl="2"/>
            <a:r>
              <a:rPr lang="en-GB" dirty="0"/>
              <a:t>see notes, slope TBV on EBV = slope P on EBV</a:t>
            </a:r>
          </a:p>
          <a:p>
            <a:pPr lvl="1"/>
            <a:r>
              <a:rPr lang="en-GB" dirty="0"/>
              <a:t>how magnitude of differences in EBVs reflect differences in TBVs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247514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5-Fold Cross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Prediction of Sitka spruce height </a:t>
            </a:r>
          </a:p>
          <a:p>
            <a:pPr lvl="1"/>
            <a:r>
              <a:rPr lang="en-GB" dirty="0"/>
              <a:t>prediction uses genomic data alone </a:t>
            </a:r>
          </a:p>
          <a:p>
            <a:pPr lvl="1"/>
            <a:r>
              <a:rPr lang="en-GB" dirty="0"/>
              <a:t>within a single family</a:t>
            </a:r>
          </a:p>
          <a:p>
            <a:pPr lvl="1"/>
            <a:r>
              <a:rPr lang="en-GB" dirty="0"/>
              <a:t>assessment of accuracy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83348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5-Fold Cross Validation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TextBox 1"/>
          <p:cNvSpPr txBox="1"/>
          <p:nvPr/>
        </p:nvSpPr>
        <p:spPr>
          <a:xfrm>
            <a:off x="5167692" y="5444831"/>
            <a:ext cx="1759527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Prediction</a:t>
            </a:r>
          </a:p>
        </p:txBody>
      </p:sp>
      <p:sp>
        <p:nvSpPr>
          <p:cNvPr id="14" name="TextBox 13"/>
          <p:cNvSpPr txBox="1"/>
          <p:nvPr/>
        </p:nvSpPr>
        <p:spPr>
          <a:xfrm rot="16200000">
            <a:off x="2465962" y="3094077"/>
            <a:ext cx="1759527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Observed</a:t>
            </a:r>
          </a:p>
        </p:txBody>
      </p:sp>
      <p:sp>
        <p:nvSpPr>
          <p:cNvPr id="17" name="TextBox 3"/>
          <p:cNvSpPr txBox="1">
            <a:spLocks noChangeArrowheads="1"/>
          </p:cNvSpPr>
          <p:nvPr/>
        </p:nvSpPr>
        <p:spPr bwMode="auto">
          <a:xfrm>
            <a:off x="8551993" y="1605924"/>
            <a:ext cx="1183814" cy="699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945" tIns="41473" rIns="82945" bIns="41473">
            <a:spAutoFit/>
          </a:bodyPr>
          <a:lstStyle/>
          <a:p>
            <a:r>
              <a:rPr lang="en-GB" sz="2000" dirty="0"/>
              <a:t>Set 1 </a:t>
            </a:r>
          </a:p>
          <a:p>
            <a:r>
              <a:rPr lang="en-GB" sz="2000" dirty="0"/>
              <a:t>r = 0.455</a:t>
            </a:r>
          </a:p>
        </p:txBody>
      </p:sp>
      <p:pic>
        <p:nvPicPr>
          <p:cNvPr id="25" name="Picture 4" descr="M:\1Picea_genotypes\slides.reports\height_plots\1stfold.jpg"/>
          <p:cNvPicPr preferRelativeResize="0">
            <a:picLocks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36" t="2424" r="2580" b="7189"/>
          <a:stretch/>
        </p:blipFill>
        <p:spPr bwMode="auto">
          <a:xfrm>
            <a:off x="3774000" y="1389600"/>
            <a:ext cx="3942000" cy="3942000"/>
          </a:xfrm>
          <a:prstGeom prst="rect">
            <a:avLst/>
          </a:prstGeom>
          <a:noFill/>
          <a:ln w="2540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272945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5-Fold Cross Validation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0488" name="TextBox 3"/>
          <p:cNvSpPr txBox="1">
            <a:spLocks noChangeArrowheads="1"/>
          </p:cNvSpPr>
          <p:nvPr/>
        </p:nvSpPr>
        <p:spPr bwMode="auto">
          <a:xfrm>
            <a:off x="8551993" y="2291743"/>
            <a:ext cx="1183814" cy="699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945" tIns="41473" rIns="82945" bIns="41473">
            <a:spAutoFit/>
          </a:bodyPr>
          <a:lstStyle/>
          <a:p>
            <a:r>
              <a:rPr lang="en-GB" sz="2000" dirty="0"/>
              <a:t>Set 2 </a:t>
            </a:r>
          </a:p>
          <a:p>
            <a:r>
              <a:rPr lang="en-GB" sz="2000" dirty="0"/>
              <a:t>r = 0.426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167692" y="5444831"/>
            <a:ext cx="1759527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Prediction</a:t>
            </a:r>
          </a:p>
        </p:txBody>
      </p:sp>
      <p:sp>
        <p:nvSpPr>
          <p:cNvPr id="14" name="TextBox 13"/>
          <p:cNvSpPr txBox="1"/>
          <p:nvPr/>
        </p:nvSpPr>
        <p:spPr>
          <a:xfrm rot="16200000">
            <a:off x="2465962" y="3094077"/>
            <a:ext cx="1759527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Observed</a:t>
            </a:r>
          </a:p>
        </p:txBody>
      </p:sp>
      <p:sp>
        <p:nvSpPr>
          <p:cNvPr id="17" name="TextBox 3"/>
          <p:cNvSpPr txBox="1">
            <a:spLocks noChangeArrowheads="1"/>
          </p:cNvSpPr>
          <p:nvPr/>
        </p:nvSpPr>
        <p:spPr bwMode="auto">
          <a:xfrm>
            <a:off x="8551993" y="1605924"/>
            <a:ext cx="1183814" cy="699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945" tIns="41473" rIns="82945" bIns="41473">
            <a:spAutoFit/>
          </a:bodyPr>
          <a:lstStyle/>
          <a:p>
            <a:r>
              <a:rPr lang="en-GB" sz="2000" dirty="0"/>
              <a:t>Set 1 </a:t>
            </a:r>
          </a:p>
          <a:p>
            <a:r>
              <a:rPr lang="en-GB" sz="2000" dirty="0"/>
              <a:t>r = 0.455</a:t>
            </a:r>
          </a:p>
        </p:txBody>
      </p:sp>
      <p:sp>
        <p:nvSpPr>
          <p:cNvPr id="18" name="TextBox 3"/>
          <p:cNvSpPr txBox="1">
            <a:spLocks noChangeArrowheads="1"/>
          </p:cNvSpPr>
          <p:nvPr/>
        </p:nvSpPr>
        <p:spPr bwMode="auto">
          <a:xfrm>
            <a:off x="8551993" y="2977562"/>
            <a:ext cx="1183814" cy="699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945" tIns="41473" rIns="82945" bIns="41473">
            <a:spAutoFit/>
          </a:bodyPr>
          <a:lstStyle/>
          <a:p>
            <a:r>
              <a:rPr lang="en-GB" sz="2000" dirty="0"/>
              <a:t>Set 3 </a:t>
            </a:r>
          </a:p>
          <a:p>
            <a:r>
              <a:rPr lang="en-GB" sz="2000" dirty="0"/>
              <a:t>r = 0.317</a:t>
            </a:r>
          </a:p>
        </p:txBody>
      </p:sp>
      <p:sp>
        <p:nvSpPr>
          <p:cNvPr id="19" name="TextBox 3"/>
          <p:cNvSpPr txBox="1">
            <a:spLocks noChangeArrowheads="1"/>
          </p:cNvSpPr>
          <p:nvPr/>
        </p:nvSpPr>
        <p:spPr bwMode="auto">
          <a:xfrm>
            <a:off x="8551993" y="3663381"/>
            <a:ext cx="1183814" cy="699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945" tIns="41473" rIns="82945" bIns="41473">
            <a:spAutoFit/>
          </a:bodyPr>
          <a:lstStyle/>
          <a:p>
            <a:r>
              <a:rPr lang="en-GB" sz="2000" dirty="0"/>
              <a:t>Set 4 </a:t>
            </a:r>
          </a:p>
          <a:p>
            <a:r>
              <a:rPr lang="en-GB" sz="2000" dirty="0"/>
              <a:t>r = 0.335</a:t>
            </a:r>
          </a:p>
        </p:txBody>
      </p:sp>
      <p:sp>
        <p:nvSpPr>
          <p:cNvPr id="20" name="TextBox 3"/>
          <p:cNvSpPr txBox="1">
            <a:spLocks noChangeArrowheads="1"/>
          </p:cNvSpPr>
          <p:nvPr/>
        </p:nvSpPr>
        <p:spPr bwMode="auto">
          <a:xfrm>
            <a:off x="8551993" y="4349199"/>
            <a:ext cx="1183814" cy="699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945" tIns="41473" rIns="82945" bIns="41473">
            <a:spAutoFit/>
          </a:bodyPr>
          <a:lstStyle/>
          <a:p>
            <a:r>
              <a:rPr lang="en-GB" sz="2000" dirty="0"/>
              <a:t>Set 5 </a:t>
            </a:r>
          </a:p>
          <a:p>
            <a:r>
              <a:rPr lang="en-GB" sz="2000" dirty="0"/>
              <a:t>r = 0.447</a:t>
            </a:r>
          </a:p>
        </p:txBody>
      </p:sp>
      <p:pic>
        <p:nvPicPr>
          <p:cNvPr id="25" name="Picture 4" descr="M:\1Picea_genotypes\slides.reports\height_plots\1stfold.jpg"/>
          <p:cNvPicPr preferRelativeResize="0">
            <a:picLocks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36" t="2424" r="2580" b="7189"/>
          <a:stretch/>
        </p:blipFill>
        <p:spPr bwMode="auto">
          <a:xfrm>
            <a:off x="3774000" y="1389600"/>
            <a:ext cx="3942000" cy="3942000"/>
          </a:xfrm>
          <a:prstGeom prst="rect">
            <a:avLst/>
          </a:prstGeom>
          <a:noFill/>
          <a:ln w="2540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5" descr="M:\1Picea_genotypes\slides.reports\height_plots\2ndfold.jpg"/>
          <p:cNvPicPr preferRelativeResize="0">
            <a:picLocks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01" t="3308" r="2484" b="7077"/>
          <a:stretch/>
        </p:blipFill>
        <p:spPr bwMode="auto">
          <a:xfrm>
            <a:off x="3774000" y="1389600"/>
            <a:ext cx="3942000" cy="3942000"/>
          </a:xfrm>
          <a:prstGeom prst="rect">
            <a:avLst/>
          </a:prstGeom>
          <a:noFill/>
          <a:ln w="25400">
            <a:solidFill>
              <a:srgbClr val="FFC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M:\1Picea_genotypes\slides.reports\height_plots\3rdfold.jpg"/>
          <p:cNvPicPr preferRelativeResize="0">
            <a:picLocks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62" t="2451" r="2758" b="7376"/>
          <a:stretch/>
        </p:blipFill>
        <p:spPr bwMode="auto">
          <a:xfrm>
            <a:off x="3774000" y="1389600"/>
            <a:ext cx="3942000" cy="3942000"/>
          </a:xfrm>
          <a:prstGeom prst="rect">
            <a:avLst/>
          </a:prstGeom>
          <a:noFill/>
          <a:ln w="2540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7" descr="M:\1Picea_genotypes\slides.reports\height_plots\4thfld.jpg"/>
          <p:cNvPicPr preferRelativeResize="0">
            <a:picLocks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40" t="2554" r="2152" b="7167"/>
          <a:stretch/>
        </p:blipFill>
        <p:spPr bwMode="auto">
          <a:xfrm>
            <a:off x="3774000" y="1389600"/>
            <a:ext cx="3942000" cy="3942000"/>
          </a:xfrm>
          <a:prstGeom prst="rect">
            <a:avLst/>
          </a:prstGeom>
          <a:noFill/>
          <a:ln w="25400">
            <a:solidFill>
              <a:srgbClr val="FFC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9" descr="M:\1Picea_genotypes\slides.reports\height_plots\5thfold.jpg"/>
          <p:cNvPicPr preferRelativeResize="0">
            <a:picLocks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01" t="2561" r="2537" b="6837"/>
          <a:stretch/>
        </p:blipFill>
        <p:spPr bwMode="auto">
          <a:xfrm>
            <a:off x="3774000" y="1389600"/>
            <a:ext cx="3942000" cy="3942000"/>
          </a:xfrm>
          <a:prstGeom prst="rect">
            <a:avLst/>
          </a:prstGeom>
          <a:noFill/>
          <a:ln w="2540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419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8" grpId="0"/>
      <p:bldP spid="2" grpId="0" animBg="1"/>
      <p:bldP spid="14" grpId="0" animBg="1"/>
      <p:bldP spid="17" grpId="0"/>
      <p:bldP spid="18" grpId="0"/>
      <p:bldP spid="19" grpId="0"/>
      <p:bldP spid="20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5-Fold Cross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182" y="1125539"/>
            <a:ext cx="4835739" cy="5000625"/>
          </a:xfrm>
        </p:spPr>
        <p:txBody>
          <a:bodyPr/>
          <a:lstStyle/>
          <a:p>
            <a:r>
              <a:rPr lang="en-GB" sz="2400" dirty="0"/>
              <a:t>Accuracy = 0.400</a:t>
            </a:r>
            <a:endParaRPr lang="en-GB" sz="2000" dirty="0"/>
          </a:p>
          <a:p>
            <a:endParaRPr lang="en-GB" dirty="0"/>
          </a:p>
        </p:txBody>
      </p:sp>
      <p:pic>
        <p:nvPicPr>
          <p:cNvPr id="4" name="Picture 8" descr="M:\1Picea_genotypes\slides.reports\height_plots\height.allfolds.jpg"/>
          <p:cNvPicPr preferRelativeResize="0"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67" t="2415" r="10170" b="8514"/>
          <a:stretch/>
        </p:blipFill>
        <p:spPr bwMode="auto">
          <a:xfrm>
            <a:off x="6290049" y="1191600"/>
            <a:ext cx="4081628" cy="411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788745" y="5621178"/>
            <a:ext cx="36438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Predicted Breeding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11656" y="5226870"/>
            <a:ext cx="734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2839" y="5226870"/>
            <a:ext cx="734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4022" y="5226870"/>
            <a:ext cx="734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65205" y="5226870"/>
            <a:ext cx="734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16388" y="5226870"/>
            <a:ext cx="734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67571" y="5226870"/>
            <a:ext cx="734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32756" y="4714230"/>
            <a:ext cx="734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32756" y="4040898"/>
            <a:ext cx="734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2756" y="3367567"/>
            <a:ext cx="734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32756" y="2694236"/>
            <a:ext cx="734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2756" y="2020905"/>
            <a:ext cx="734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2756" y="1347574"/>
            <a:ext cx="734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400</a:t>
            </a:r>
          </a:p>
        </p:txBody>
      </p:sp>
      <p:sp>
        <p:nvSpPr>
          <p:cNvPr id="19" name="TextBox 18"/>
          <p:cNvSpPr txBox="1"/>
          <p:nvPr/>
        </p:nvSpPr>
        <p:spPr>
          <a:xfrm rot="16200000">
            <a:off x="4076899" y="2898402"/>
            <a:ext cx="314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Observed Phenotype</a:t>
            </a:r>
          </a:p>
        </p:txBody>
      </p:sp>
    </p:spTree>
    <p:extLst>
      <p:ext uri="{BB962C8B-B14F-4D97-AF65-F5344CB8AC3E}">
        <p14:creationId xmlns:p14="http://schemas.microsoft.com/office/powerpoint/2010/main" val="134098899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067C3-4C7E-434C-BBC8-747F571B711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353485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7BF56-F99F-4BBD-9878-7E7AD3B26356}" type="datetime4">
              <a:rPr lang="en-GB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8</a:t>
            </a:r>
          </a:p>
        </p:txBody>
      </p:sp>
      <p:sp>
        <p:nvSpPr>
          <p:cNvPr id="388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286000"/>
            <a:ext cx="7772400" cy="1143000"/>
          </a:xfrm>
        </p:spPr>
        <p:txBody>
          <a:bodyPr/>
          <a:lstStyle/>
          <a:p>
            <a:r>
              <a:rPr lang="en-GB" dirty="0"/>
              <a:t>… Lecture 8 …</a:t>
            </a:r>
            <a:br>
              <a:rPr lang="en-GB" dirty="0"/>
            </a:br>
            <a:r>
              <a:rPr lang="en-GB" dirty="0"/>
              <a:t>Genomic Evaluation</a:t>
            </a:r>
          </a:p>
        </p:txBody>
      </p:sp>
      <p:sp>
        <p:nvSpPr>
          <p:cNvPr id="388099" name="Rectangle 3"/>
          <p:cNvSpPr>
            <a:spLocks noGrp="1" noChangeArrowheads="1"/>
          </p:cNvSpPr>
          <p:nvPr>
            <p:ph type="subTitle" idx="1"/>
          </p:nvPr>
        </p:nvSpPr>
        <p:spPr>
          <a:ln/>
        </p:spPr>
        <p:txBody>
          <a:bodyPr/>
          <a:lstStyle/>
          <a:p>
            <a:r>
              <a:rPr lang="en-US" dirty="0"/>
              <a:t>Part 3: using ROC curves to assess models</a:t>
            </a:r>
          </a:p>
        </p:txBody>
      </p:sp>
    </p:spTree>
    <p:extLst>
      <p:ext uri="{BB962C8B-B14F-4D97-AF65-F5344CB8AC3E}">
        <p14:creationId xmlns:p14="http://schemas.microsoft.com/office/powerpoint/2010/main" val="292501576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to Assess in Disease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/>
              <a:t>Continuous predictor of disease although phenotypes is binary</a:t>
            </a:r>
          </a:p>
          <a:p>
            <a:pPr lvl="1"/>
            <a:r>
              <a:rPr lang="en-GB" dirty="0"/>
              <a:t>classify as diseased above a given threshold</a:t>
            </a:r>
          </a:p>
          <a:p>
            <a:pPr lvl="1"/>
            <a:r>
              <a:rPr lang="en-GB" dirty="0"/>
              <a:t>Se, sensitivity, P(Predictor Diseased given Diseased)</a:t>
            </a:r>
          </a:p>
          <a:p>
            <a:pPr lvl="2"/>
            <a:r>
              <a:rPr lang="en-GB" dirty="0"/>
              <a:t>P(Predictor TRUE given Diseased)</a:t>
            </a:r>
          </a:p>
          <a:p>
            <a:pPr lvl="1"/>
            <a:r>
              <a:rPr lang="en-GB" dirty="0" err="1"/>
              <a:t>Sp</a:t>
            </a:r>
            <a:r>
              <a:rPr lang="en-GB" dirty="0"/>
              <a:t>, specificity, P(Predictor Healthy given Healthy)</a:t>
            </a:r>
          </a:p>
          <a:p>
            <a:pPr lvl="2"/>
            <a:r>
              <a:rPr lang="en-GB" dirty="0"/>
              <a:t>P(Predictor TRUE given Healthy)</a:t>
            </a:r>
          </a:p>
          <a:p>
            <a:pPr lvl="1"/>
            <a:r>
              <a:rPr lang="en-GB" dirty="0"/>
              <a:t>key epidemiological terms</a:t>
            </a:r>
          </a:p>
          <a:p>
            <a:pPr lvl="2"/>
            <a:r>
              <a:rPr lang="en-GB" dirty="0"/>
              <a:t>not the same as false positive rates</a:t>
            </a:r>
          </a:p>
          <a:p>
            <a:pPr lvl="2"/>
            <a:r>
              <a:rPr lang="en-GB" dirty="0"/>
              <a:t>not the same as P(Predictor TRUE) as this will depend on prevalence, i.e. fraction of population Diseased.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565594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to Assess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		Se = N</a:t>
            </a:r>
            <a:r>
              <a:rPr lang="en-GB" baseline="-25000" dirty="0"/>
              <a:t>D1</a:t>
            </a:r>
            <a:r>
              <a:rPr lang="en-GB" dirty="0"/>
              <a:t> / N</a:t>
            </a:r>
            <a:r>
              <a:rPr lang="en-GB" baseline="-25000" dirty="0"/>
              <a:t>D</a:t>
            </a:r>
          </a:p>
          <a:p>
            <a:r>
              <a:rPr lang="en-GB" dirty="0"/>
              <a:t>		</a:t>
            </a:r>
            <a:r>
              <a:rPr lang="en-GB" dirty="0" err="1"/>
              <a:t>Sp</a:t>
            </a:r>
            <a:r>
              <a:rPr lang="en-GB" dirty="0"/>
              <a:t> = N</a:t>
            </a:r>
            <a:r>
              <a:rPr lang="en-GB" baseline="-25000" dirty="0"/>
              <a:t>H0</a:t>
            </a:r>
            <a:r>
              <a:rPr lang="en-GB" dirty="0"/>
              <a:t> / N</a:t>
            </a:r>
            <a:r>
              <a:rPr lang="en-GB" baseline="-25000" dirty="0"/>
              <a:t>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028674"/>
              </p:ext>
            </p:extLst>
          </p:nvPr>
        </p:nvGraphicFramePr>
        <p:xfrm>
          <a:off x="3048000" y="1397000"/>
          <a:ext cx="6096000" cy="2680072"/>
        </p:xfrm>
        <a:graphic>
          <a:graphicData uri="http://schemas.openxmlformats.org/drawingml/2006/table">
            <a:tbl>
              <a:tblPr firstRow="1" firstCol="1" lastRow="1" lastCol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13830214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42089385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4188317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047947185"/>
                    </a:ext>
                  </a:extLst>
                </a:gridCol>
              </a:tblGrid>
              <a:tr h="670018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Predicted Healthy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Predicted </a:t>
                      </a:r>
                    </a:p>
                    <a:p>
                      <a:r>
                        <a:rPr lang="en-GB" dirty="0"/>
                        <a:t>Diseased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0063755"/>
                  </a:ext>
                </a:extLst>
              </a:tr>
              <a:tr h="670018">
                <a:tc>
                  <a:txBody>
                    <a:bodyPr/>
                    <a:lstStyle/>
                    <a:p>
                      <a:r>
                        <a:rPr lang="en-GB" dirty="0"/>
                        <a:t>Healthy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N</a:t>
                      </a:r>
                      <a:r>
                        <a:rPr lang="en-GB" sz="2400" baseline="-25000" dirty="0"/>
                        <a:t>H0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N</a:t>
                      </a:r>
                      <a:r>
                        <a:rPr lang="en-GB" sz="2400" baseline="-25000" dirty="0"/>
                        <a:t>H1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N</a:t>
                      </a:r>
                      <a:r>
                        <a:rPr lang="en-GB" sz="2400" baseline="-25000" dirty="0"/>
                        <a:t>H</a:t>
                      </a:r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6074653"/>
                  </a:ext>
                </a:extLst>
              </a:tr>
              <a:tr h="670018">
                <a:tc>
                  <a:txBody>
                    <a:bodyPr/>
                    <a:lstStyle/>
                    <a:p>
                      <a:r>
                        <a:rPr lang="en-GB" dirty="0"/>
                        <a:t>Diseased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N</a:t>
                      </a:r>
                      <a:r>
                        <a:rPr lang="en-GB" sz="2400" baseline="-25000" dirty="0"/>
                        <a:t>D0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N</a:t>
                      </a:r>
                      <a:r>
                        <a:rPr lang="en-GB" sz="2400" baseline="-25000" dirty="0"/>
                        <a:t>D1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N</a:t>
                      </a:r>
                      <a:r>
                        <a:rPr lang="en-GB" sz="2400" baseline="-25000" dirty="0"/>
                        <a:t>D</a:t>
                      </a:r>
                      <a:endParaRPr lang="en-GB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70234"/>
                  </a:ext>
                </a:extLst>
              </a:tr>
              <a:tr h="670018">
                <a:tc>
                  <a:txBody>
                    <a:bodyPr/>
                    <a:lstStyle/>
                    <a:p>
                      <a:r>
                        <a:rPr lang="en-GB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N</a:t>
                      </a:r>
                      <a:r>
                        <a:rPr lang="en-GB" sz="2400" baseline="-25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N</a:t>
                      </a:r>
                      <a:r>
                        <a:rPr lang="en-GB" sz="2400" baseline="-25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8250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111519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Disease Risk Predictor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  <p:sp>
        <p:nvSpPr>
          <p:cNvPr id="9" name="AutoShape 3"/>
          <p:cNvSpPr>
            <a:spLocks noChangeAspect="1" noChangeArrowheads="1" noTextEdit="1"/>
          </p:cNvSpPr>
          <p:nvPr/>
        </p:nvSpPr>
        <p:spPr bwMode="auto">
          <a:xfrm>
            <a:off x="3071144" y="1700809"/>
            <a:ext cx="5545137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4738916" y="3997187"/>
            <a:ext cx="301730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Predictor of Liability, T</a:t>
            </a:r>
            <a:endParaRPr lang="en-US" altLang="en-US" sz="2400" dirty="0">
              <a:cs typeface="Arial" panose="020B0604020202020204" pitchFamily="34" charset="0"/>
            </a:endParaRPr>
          </a:p>
        </p:txBody>
      </p:sp>
      <p:grpSp>
        <p:nvGrpSpPr>
          <p:cNvPr id="59" name="Group 58"/>
          <p:cNvGrpSpPr/>
          <p:nvPr/>
        </p:nvGrpSpPr>
        <p:grpSpPr>
          <a:xfrm>
            <a:off x="3114006" y="2551709"/>
            <a:ext cx="5254625" cy="1381125"/>
            <a:chOff x="1590005" y="2551708"/>
            <a:chExt cx="5254625" cy="1381125"/>
          </a:xfrm>
        </p:grpSpPr>
        <p:sp>
          <p:nvSpPr>
            <p:cNvPr id="10" name="Freeform 5"/>
            <p:cNvSpPr>
              <a:spLocks noEditPoints="1"/>
            </p:cNvSpPr>
            <p:nvPr/>
          </p:nvSpPr>
          <p:spPr bwMode="auto">
            <a:xfrm>
              <a:off x="1590005" y="3251796"/>
              <a:ext cx="5254625" cy="257175"/>
            </a:xfrm>
            <a:custGeom>
              <a:avLst/>
              <a:gdLst>
                <a:gd name="T0" fmla="*/ 0 w 28729"/>
                <a:gd name="T1" fmla="*/ 553 h 1411"/>
                <a:gd name="T2" fmla="*/ 28427 w 28729"/>
                <a:gd name="T3" fmla="*/ 553 h 1411"/>
                <a:gd name="T4" fmla="*/ 28427 w 28729"/>
                <a:gd name="T5" fmla="*/ 857 h 1411"/>
                <a:gd name="T6" fmla="*/ 0 w 28729"/>
                <a:gd name="T7" fmla="*/ 857 h 1411"/>
                <a:gd name="T8" fmla="*/ 0 w 28729"/>
                <a:gd name="T9" fmla="*/ 553 h 1411"/>
                <a:gd name="T10" fmla="*/ 27592 w 28729"/>
                <a:gd name="T11" fmla="*/ 42 h 1411"/>
                <a:gd name="T12" fmla="*/ 28729 w 28729"/>
                <a:gd name="T13" fmla="*/ 705 h 1411"/>
                <a:gd name="T14" fmla="*/ 27592 w 28729"/>
                <a:gd name="T15" fmla="*/ 1369 h 1411"/>
                <a:gd name="T16" fmla="*/ 27384 w 28729"/>
                <a:gd name="T17" fmla="*/ 1314 h 1411"/>
                <a:gd name="T18" fmla="*/ 27439 w 28729"/>
                <a:gd name="T19" fmla="*/ 1106 h 1411"/>
                <a:gd name="T20" fmla="*/ 28351 w 28729"/>
                <a:gd name="T21" fmla="*/ 574 h 1411"/>
                <a:gd name="T22" fmla="*/ 28351 w 28729"/>
                <a:gd name="T23" fmla="*/ 837 h 1411"/>
                <a:gd name="T24" fmla="*/ 27439 w 28729"/>
                <a:gd name="T25" fmla="*/ 305 h 1411"/>
                <a:gd name="T26" fmla="*/ 27384 w 28729"/>
                <a:gd name="T27" fmla="*/ 97 h 1411"/>
                <a:gd name="T28" fmla="*/ 27592 w 28729"/>
                <a:gd name="T29" fmla="*/ 42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729" h="1411">
                  <a:moveTo>
                    <a:pt x="0" y="553"/>
                  </a:moveTo>
                  <a:lnTo>
                    <a:pt x="28427" y="553"/>
                  </a:lnTo>
                  <a:lnTo>
                    <a:pt x="28427" y="857"/>
                  </a:lnTo>
                  <a:lnTo>
                    <a:pt x="0" y="857"/>
                  </a:lnTo>
                  <a:lnTo>
                    <a:pt x="0" y="553"/>
                  </a:lnTo>
                  <a:close/>
                  <a:moveTo>
                    <a:pt x="27592" y="42"/>
                  </a:moveTo>
                  <a:lnTo>
                    <a:pt x="28729" y="705"/>
                  </a:lnTo>
                  <a:lnTo>
                    <a:pt x="27592" y="1369"/>
                  </a:lnTo>
                  <a:cubicBezTo>
                    <a:pt x="27519" y="1411"/>
                    <a:pt x="27426" y="1387"/>
                    <a:pt x="27384" y="1314"/>
                  </a:cubicBezTo>
                  <a:cubicBezTo>
                    <a:pt x="27342" y="1242"/>
                    <a:pt x="27366" y="1148"/>
                    <a:pt x="27439" y="1106"/>
                  </a:cubicBezTo>
                  <a:lnTo>
                    <a:pt x="28351" y="574"/>
                  </a:lnTo>
                  <a:lnTo>
                    <a:pt x="28351" y="837"/>
                  </a:lnTo>
                  <a:lnTo>
                    <a:pt x="27439" y="305"/>
                  </a:lnTo>
                  <a:cubicBezTo>
                    <a:pt x="27366" y="262"/>
                    <a:pt x="27342" y="169"/>
                    <a:pt x="27384" y="97"/>
                  </a:cubicBezTo>
                  <a:cubicBezTo>
                    <a:pt x="27426" y="24"/>
                    <a:pt x="27519" y="0"/>
                    <a:pt x="27592" y="42"/>
                  </a:cubicBezTo>
                  <a:close/>
                </a:path>
              </a:pathLst>
            </a:custGeom>
            <a:solidFill>
              <a:srgbClr val="4A7EBB"/>
            </a:solidFill>
            <a:ln w="0" cap="flat">
              <a:solidFill>
                <a:srgbClr val="4A7EB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1747168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1678905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16" name="Line 9"/>
            <p:cNvSpPr>
              <a:spLocks noChangeShapeType="1"/>
            </p:cNvSpPr>
            <p:nvPr/>
          </p:nvSpPr>
          <p:spPr bwMode="auto">
            <a:xfrm>
              <a:off x="1893218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1824955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20" name="Line 11"/>
            <p:cNvSpPr>
              <a:spLocks noChangeShapeType="1"/>
            </p:cNvSpPr>
            <p:nvPr/>
          </p:nvSpPr>
          <p:spPr bwMode="auto">
            <a:xfrm>
              <a:off x="2161505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Rectangle 12"/>
            <p:cNvSpPr>
              <a:spLocks noChangeArrowheads="1"/>
            </p:cNvSpPr>
            <p:nvPr/>
          </p:nvSpPr>
          <p:spPr bwMode="auto">
            <a:xfrm>
              <a:off x="2094830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26" name="Line 13"/>
            <p:cNvSpPr>
              <a:spLocks noChangeShapeType="1"/>
            </p:cNvSpPr>
            <p:nvPr/>
          </p:nvSpPr>
          <p:spPr bwMode="auto">
            <a:xfrm>
              <a:off x="2369468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7" name="Rectangle 14"/>
            <p:cNvSpPr>
              <a:spLocks noChangeArrowheads="1"/>
            </p:cNvSpPr>
            <p:nvPr/>
          </p:nvSpPr>
          <p:spPr bwMode="auto">
            <a:xfrm>
              <a:off x="2301205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28" name="Line 15"/>
            <p:cNvSpPr>
              <a:spLocks noChangeShapeType="1"/>
            </p:cNvSpPr>
            <p:nvPr/>
          </p:nvSpPr>
          <p:spPr bwMode="auto">
            <a:xfrm>
              <a:off x="257743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9" name="Rectangle 16"/>
            <p:cNvSpPr>
              <a:spLocks noChangeArrowheads="1"/>
            </p:cNvSpPr>
            <p:nvPr/>
          </p:nvSpPr>
          <p:spPr bwMode="auto">
            <a:xfrm>
              <a:off x="2509168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31" name="Line 17"/>
            <p:cNvSpPr>
              <a:spLocks noChangeShapeType="1"/>
            </p:cNvSpPr>
            <p:nvPr/>
          </p:nvSpPr>
          <p:spPr bwMode="auto">
            <a:xfrm>
              <a:off x="6377905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2" name="Rectangle 18"/>
            <p:cNvSpPr>
              <a:spLocks noChangeArrowheads="1"/>
            </p:cNvSpPr>
            <p:nvPr/>
          </p:nvSpPr>
          <p:spPr bwMode="auto">
            <a:xfrm>
              <a:off x="6311230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33" name="Line 19"/>
            <p:cNvSpPr>
              <a:spLocks noChangeShapeType="1"/>
            </p:cNvSpPr>
            <p:nvPr/>
          </p:nvSpPr>
          <p:spPr bwMode="auto">
            <a:xfrm>
              <a:off x="306003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Rectangle 20"/>
            <p:cNvSpPr>
              <a:spLocks noChangeArrowheads="1"/>
            </p:cNvSpPr>
            <p:nvPr/>
          </p:nvSpPr>
          <p:spPr bwMode="auto">
            <a:xfrm>
              <a:off x="2993355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35" name="Line 21"/>
            <p:cNvSpPr>
              <a:spLocks noChangeShapeType="1"/>
            </p:cNvSpPr>
            <p:nvPr/>
          </p:nvSpPr>
          <p:spPr bwMode="auto">
            <a:xfrm>
              <a:off x="3336255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7" name="Rectangle 22"/>
            <p:cNvSpPr>
              <a:spLocks noChangeArrowheads="1"/>
            </p:cNvSpPr>
            <p:nvPr/>
          </p:nvSpPr>
          <p:spPr bwMode="auto">
            <a:xfrm>
              <a:off x="3269580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38" name="Line 23"/>
            <p:cNvSpPr>
              <a:spLocks noChangeShapeType="1"/>
            </p:cNvSpPr>
            <p:nvPr/>
          </p:nvSpPr>
          <p:spPr bwMode="auto">
            <a:xfrm>
              <a:off x="506663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9" name="Rectangle 24"/>
            <p:cNvSpPr>
              <a:spLocks noChangeArrowheads="1"/>
            </p:cNvSpPr>
            <p:nvPr/>
          </p:nvSpPr>
          <p:spPr bwMode="auto">
            <a:xfrm>
              <a:off x="4996780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40" name="Line 25"/>
            <p:cNvSpPr>
              <a:spLocks noChangeShapeType="1"/>
            </p:cNvSpPr>
            <p:nvPr/>
          </p:nvSpPr>
          <p:spPr bwMode="auto">
            <a:xfrm>
              <a:off x="375218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1" name="Rectangle 26"/>
            <p:cNvSpPr>
              <a:spLocks noChangeArrowheads="1"/>
            </p:cNvSpPr>
            <p:nvPr/>
          </p:nvSpPr>
          <p:spPr bwMode="auto">
            <a:xfrm>
              <a:off x="3683918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42" name="Line 27"/>
            <p:cNvSpPr>
              <a:spLocks noChangeShapeType="1"/>
            </p:cNvSpPr>
            <p:nvPr/>
          </p:nvSpPr>
          <p:spPr bwMode="auto">
            <a:xfrm>
              <a:off x="4028405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3" name="Rectangle 28"/>
            <p:cNvSpPr>
              <a:spLocks noChangeArrowheads="1"/>
            </p:cNvSpPr>
            <p:nvPr/>
          </p:nvSpPr>
          <p:spPr bwMode="auto">
            <a:xfrm>
              <a:off x="3960143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44" name="Line 29"/>
            <p:cNvSpPr>
              <a:spLocks noChangeShapeType="1"/>
            </p:cNvSpPr>
            <p:nvPr/>
          </p:nvSpPr>
          <p:spPr bwMode="auto">
            <a:xfrm>
              <a:off x="430463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5" name="Rectangle 30"/>
            <p:cNvSpPr>
              <a:spLocks noChangeArrowheads="1"/>
            </p:cNvSpPr>
            <p:nvPr/>
          </p:nvSpPr>
          <p:spPr bwMode="auto">
            <a:xfrm>
              <a:off x="4236368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46" name="Line 31"/>
            <p:cNvSpPr>
              <a:spLocks noChangeShapeType="1"/>
            </p:cNvSpPr>
            <p:nvPr/>
          </p:nvSpPr>
          <p:spPr bwMode="auto">
            <a:xfrm>
              <a:off x="4858668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7" name="Rectangle 32"/>
            <p:cNvSpPr>
              <a:spLocks noChangeArrowheads="1"/>
            </p:cNvSpPr>
            <p:nvPr/>
          </p:nvSpPr>
          <p:spPr bwMode="auto">
            <a:xfrm>
              <a:off x="4790405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48" name="Line 33"/>
            <p:cNvSpPr>
              <a:spLocks noChangeShapeType="1"/>
            </p:cNvSpPr>
            <p:nvPr/>
          </p:nvSpPr>
          <p:spPr bwMode="auto">
            <a:xfrm>
              <a:off x="5411118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9" name="Rectangle 34"/>
            <p:cNvSpPr>
              <a:spLocks noChangeArrowheads="1"/>
            </p:cNvSpPr>
            <p:nvPr/>
          </p:nvSpPr>
          <p:spPr bwMode="auto">
            <a:xfrm>
              <a:off x="5342855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50" name="Line 35"/>
            <p:cNvSpPr>
              <a:spLocks noChangeShapeType="1"/>
            </p:cNvSpPr>
            <p:nvPr/>
          </p:nvSpPr>
          <p:spPr bwMode="auto">
            <a:xfrm>
              <a:off x="561908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1" name="Rectangle 36"/>
            <p:cNvSpPr>
              <a:spLocks noChangeArrowheads="1"/>
            </p:cNvSpPr>
            <p:nvPr/>
          </p:nvSpPr>
          <p:spPr bwMode="auto">
            <a:xfrm>
              <a:off x="5550818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52" name="Line 37"/>
            <p:cNvSpPr>
              <a:spLocks noChangeShapeType="1"/>
            </p:cNvSpPr>
            <p:nvPr/>
          </p:nvSpPr>
          <p:spPr bwMode="auto">
            <a:xfrm>
              <a:off x="617153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3" name="Rectangle 38"/>
            <p:cNvSpPr>
              <a:spLocks noChangeArrowheads="1"/>
            </p:cNvSpPr>
            <p:nvPr/>
          </p:nvSpPr>
          <p:spPr bwMode="auto">
            <a:xfrm>
              <a:off x="6103268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54" name="Line 39"/>
            <p:cNvSpPr>
              <a:spLocks noChangeShapeType="1"/>
            </p:cNvSpPr>
            <p:nvPr/>
          </p:nvSpPr>
          <p:spPr bwMode="auto">
            <a:xfrm>
              <a:off x="4684043" y="2551708"/>
              <a:ext cx="0" cy="1381125"/>
            </a:xfrm>
            <a:prstGeom prst="line">
              <a:avLst/>
            </a:prstGeom>
            <a:noFill/>
            <a:ln w="19050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55" name="Rectangle 40"/>
          <p:cNvSpPr>
            <a:spLocks noChangeArrowheads="1"/>
          </p:cNvSpPr>
          <p:nvPr/>
        </p:nvSpPr>
        <p:spPr bwMode="auto">
          <a:xfrm>
            <a:off x="4728920" y="2024916"/>
            <a:ext cx="30232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t*: Se = 2/3, </a:t>
            </a:r>
            <a:r>
              <a:rPr lang="en-US" altLang="en-US" sz="2400" dirty="0" err="1">
                <a:solidFill>
                  <a:srgbClr val="000000"/>
                </a:solidFill>
                <a:cs typeface="Arial" panose="020B0604020202020204" pitchFamily="34" charset="0"/>
              </a:rPr>
              <a:t>Sp</a:t>
            </a:r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 = 4/5 </a:t>
            </a:r>
            <a:endParaRPr lang="en-US" altLang="en-US" sz="2400" dirty="0">
              <a:cs typeface="Arial" panose="020B0604020202020204" pitchFamily="34" charset="0"/>
            </a:endParaRPr>
          </a:p>
        </p:txBody>
      </p:sp>
      <p:sp>
        <p:nvSpPr>
          <p:cNvPr id="58" name="Rectangle 43"/>
          <p:cNvSpPr>
            <a:spLocks noChangeArrowheads="1"/>
          </p:cNvSpPr>
          <p:nvPr/>
        </p:nvSpPr>
        <p:spPr bwMode="auto">
          <a:xfrm>
            <a:off x="3805796" y="4859868"/>
            <a:ext cx="473847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Perfect tests are often not possible</a:t>
            </a:r>
            <a:endParaRPr lang="en-US" altLang="en-US" sz="24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6093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to Assess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7229" y="1196976"/>
            <a:ext cx="7874993" cy="4968875"/>
          </a:xfrm>
        </p:spPr>
        <p:txBody>
          <a:bodyPr/>
          <a:lstStyle/>
          <a:p>
            <a:r>
              <a:rPr lang="en-GB" dirty="0"/>
              <a:t>Predictor of disease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Se, sensitivity … P(Predictor True given Diseased)</a:t>
            </a:r>
          </a:p>
          <a:p>
            <a:pPr lvl="1"/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Sp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, specificity … P(Predictor True given Healthy)</a:t>
            </a:r>
          </a:p>
          <a:p>
            <a:r>
              <a:rPr lang="en-GB" dirty="0"/>
              <a:t>Receiver Operator Characteristic (ROC) curves</a:t>
            </a:r>
          </a:p>
          <a:p>
            <a:pPr lvl="2"/>
            <a:r>
              <a:rPr lang="en-GB" dirty="0"/>
              <a:t>change threshold t*</a:t>
            </a:r>
          </a:p>
          <a:p>
            <a:pPr lvl="2"/>
            <a:r>
              <a:rPr lang="en-GB" dirty="0"/>
              <a:t>calculate Se, </a:t>
            </a:r>
            <a:r>
              <a:rPr lang="en-GB" dirty="0" err="1"/>
              <a:t>Sp</a:t>
            </a:r>
            <a:endParaRPr lang="en-GB" dirty="0"/>
          </a:p>
          <a:p>
            <a:pPr lvl="2"/>
            <a:r>
              <a:rPr lang="en-GB" dirty="0"/>
              <a:t>judged by area under curve (AUC)</a:t>
            </a:r>
          </a:p>
          <a:p>
            <a:pPr lvl="2"/>
            <a:r>
              <a:rPr lang="en-GB" dirty="0"/>
              <a:t>ideally 1, random is ½ </a:t>
            </a:r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0A787A1-96E6-4F44-A312-7624ECBDBF06}"/>
              </a:ext>
            </a:extLst>
          </p:cNvPr>
          <p:cNvGrpSpPr/>
          <p:nvPr/>
        </p:nvGrpSpPr>
        <p:grpSpPr>
          <a:xfrm>
            <a:off x="8472264" y="1691516"/>
            <a:ext cx="3024336" cy="3479552"/>
            <a:chOff x="7392144" y="1691516"/>
            <a:chExt cx="3024336" cy="3479552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7536160" y="2060848"/>
              <a:ext cx="0" cy="273630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H="1">
              <a:off x="7464152" y="4725144"/>
              <a:ext cx="295232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8508268" y="4801736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1-Sp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392144" y="1691516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Se</a:t>
              </a: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10056440" y="4725144"/>
              <a:ext cx="0" cy="10801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rot="16200000">
              <a:off x="7482154" y="2294874"/>
              <a:ext cx="0" cy="10801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7536160" y="2348880"/>
              <a:ext cx="259228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V="1">
              <a:off x="10056440" y="2276872"/>
              <a:ext cx="0" cy="24482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V="1">
              <a:off x="7536160" y="2348880"/>
              <a:ext cx="2520280" cy="2376264"/>
            </a:xfrm>
            <a:prstGeom prst="line">
              <a:avLst/>
            </a:prstGeom>
            <a:ln w="2857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Freeform 35"/>
            <p:cNvSpPr/>
            <p:nvPr/>
          </p:nvSpPr>
          <p:spPr>
            <a:xfrm>
              <a:off x="7522464" y="2365248"/>
              <a:ext cx="2535936" cy="2365248"/>
            </a:xfrm>
            <a:custGeom>
              <a:avLst/>
              <a:gdLst>
                <a:gd name="connsiteX0" fmla="*/ 0 w 2535936"/>
                <a:gd name="connsiteY0" fmla="*/ 2365248 h 2365248"/>
                <a:gd name="connsiteX1" fmla="*/ 195072 w 2535936"/>
                <a:gd name="connsiteY1" fmla="*/ 1609344 h 2365248"/>
                <a:gd name="connsiteX2" fmla="*/ 804672 w 2535936"/>
                <a:gd name="connsiteY2" fmla="*/ 475488 h 2365248"/>
                <a:gd name="connsiteX3" fmla="*/ 1645920 w 2535936"/>
                <a:gd name="connsiteY3" fmla="*/ 182880 h 2365248"/>
                <a:gd name="connsiteX4" fmla="*/ 2535936 w 2535936"/>
                <a:gd name="connsiteY4" fmla="*/ 0 h 2365248"/>
                <a:gd name="connsiteX5" fmla="*/ 2535936 w 2535936"/>
                <a:gd name="connsiteY5" fmla="*/ 0 h 2365248"/>
                <a:gd name="connsiteX0" fmla="*/ 0 w 2535936"/>
                <a:gd name="connsiteY0" fmla="*/ 2365248 h 2365248"/>
                <a:gd name="connsiteX1" fmla="*/ 195072 w 2535936"/>
                <a:gd name="connsiteY1" fmla="*/ 1609344 h 2365248"/>
                <a:gd name="connsiteX2" fmla="*/ 804672 w 2535936"/>
                <a:gd name="connsiteY2" fmla="*/ 475488 h 2365248"/>
                <a:gd name="connsiteX3" fmla="*/ 1645920 w 2535936"/>
                <a:gd name="connsiteY3" fmla="*/ 182880 h 2365248"/>
                <a:gd name="connsiteX4" fmla="*/ 1621536 w 2535936"/>
                <a:gd name="connsiteY4" fmla="*/ 134112 h 2365248"/>
                <a:gd name="connsiteX5" fmla="*/ 2535936 w 2535936"/>
                <a:gd name="connsiteY5" fmla="*/ 0 h 2365248"/>
                <a:gd name="connsiteX6" fmla="*/ 2535936 w 2535936"/>
                <a:gd name="connsiteY6" fmla="*/ 0 h 2365248"/>
                <a:gd name="connsiteX0" fmla="*/ 0 w 2535936"/>
                <a:gd name="connsiteY0" fmla="*/ 2365248 h 2365248"/>
                <a:gd name="connsiteX1" fmla="*/ 195072 w 2535936"/>
                <a:gd name="connsiteY1" fmla="*/ 1609344 h 2365248"/>
                <a:gd name="connsiteX2" fmla="*/ 804672 w 2535936"/>
                <a:gd name="connsiteY2" fmla="*/ 475488 h 2365248"/>
                <a:gd name="connsiteX3" fmla="*/ 1621536 w 2535936"/>
                <a:gd name="connsiteY3" fmla="*/ 134112 h 2365248"/>
                <a:gd name="connsiteX4" fmla="*/ 2535936 w 2535936"/>
                <a:gd name="connsiteY4" fmla="*/ 0 h 2365248"/>
                <a:gd name="connsiteX5" fmla="*/ 2535936 w 2535936"/>
                <a:gd name="connsiteY5" fmla="*/ 0 h 236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35936" h="2365248">
                  <a:moveTo>
                    <a:pt x="0" y="2365248"/>
                  </a:moveTo>
                  <a:cubicBezTo>
                    <a:pt x="30480" y="2144776"/>
                    <a:pt x="60960" y="1924304"/>
                    <a:pt x="195072" y="1609344"/>
                  </a:cubicBezTo>
                  <a:cubicBezTo>
                    <a:pt x="329184" y="1294384"/>
                    <a:pt x="566928" y="721360"/>
                    <a:pt x="804672" y="475488"/>
                  </a:cubicBezTo>
                  <a:cubicBezTo>
                    <a:pt x="1042416" y="229616"/>
                    <a:pt x="1332992" y="213360"/>
                    <a:pt x="1621536" y="134112"/>
                  </a:cubicBezTo>
                  <a:cubicBezTo>
                    <a:pt x="1769872" y="103632"/>
                    <a:pt x="2383536" y="22352"/>
                    <a:pt x="2535936" y="0"/>
                  </a:cubicBezTo>
                  <a:lnTo>
                    <a:pt x="2535936" y="0"/>
                  </a:ln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43692352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Perfect ROC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DCCE7-68A7-442A-AA7A-2E7473D4FC32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  <p:graphicFrame>
        <p:nvGraphicFramePr>
          <p:cNvPr id="10" name="Chart 9"/>
          <p:cNvGraphicFramePr/>
          <p:nvPr/>
        </p:nvGraphicFramePr>
        <p:xfrm>
          <a:off x="3935760" y="2564905"/>
          <a:ext cx="3857972" cy="3408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Freeform 5"/>
          <p:cNvSpPr>
            <a:spLocks noEditPoints="1"/>
          </p:cNvSpPr>
          <p:nvPr/>
        </p:nvSpPr>
        <p:spPr bwMode="auto">
          <a:xfrm>
            <a:off x="3114006" y="1896841"/>
            <a:ext cx="5254625" cy="257175"/>
          </a:xfrm>
          <a:custGeom>
            <a:avLst/>
            <a:gdLst>
              <a:gd name="T0" fmla="*/ 0 w 28729"/>
              <a:gd name="T1" fmla="*/ 553 h 1411"/>
              <a:gd name="T2" fmla="*/ 28427 w 28729"/>
              <a:gd name="T3" fmla="*/ 553 h 1411"/>
              <a:gd name="T4" fmla="*/ 28427 w 28729"/>
              <a:gd name="T5" fmla="*/ 857 h 1411"/>
              <a:gd name="T6" fmla="*/ 0 w 28729"/>
              <a:gd name="T7" fmla="*/ 857 h 1411"/>
              <a:gd name="T8" fmla="*/ 0 w 28729"/>
              <a:gd name="T9" fmla="*/ 553 h 1411"/>
              <a:gd name="T10" fmla="*/ 27592 w 28729"/>
              <a:gd name="T11" fmla="*/ 42 h 1411"/>
              <a:gd name="T12" fmla="*/ 28729 w 28729"/>
              <a:gd name="T13" fmla="*/ 705 h 1411"/>
              <a:gd name="T14" fmla="*/ 27592 w 28729"/>
              <a:gd name="T15" fmla="*/ 1369 h 1411"/>
              <a:gd name="T16" fmla="*/ 27384 w 28729"/>
              <a:gd name="T17" fmla="*/ 1314 h 1411"/>
              <a:gd name="T18" fmla="*/ 27439 w 28729"/>
              <a:gd name="T19" fmla="*/ 1106 h 1411"/>
              <a:gd name="T20" fmla="*/ 28351 w 28729"/>
              <a:gd name="T21" fmla="*/ 574 h 1411"/>
              <a:gd name="T22" fmla="*/ 28351 w 28729"/>
              <a:gd name="T23" fmla="*/ 837 h 1411"/>
              <a:gd name="T24" fmla="*/ 27439 w 28729"/>
              <a:gd name="T25" fmla="*/ 305 h 1411"/>
              <a:gd name="T26" fmla="*/ 27384 w 28729"/>
              <a:gd name="T27" fmla="*/ 97 h 1411"/>
              <a:gd name="T28" fmla="*/ 27592 w 28729"/>
              <a:gd name="T29" fmla="*/ 42 h 1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8729" h="1411">
                <a:moveTo>
                  <a:pt x="0" y="553"/>
                </a:moveTo>
                <a:lnTo>
                  <a:pt x="28427" y="553"/>
                </a:lnTo>
                <a:lnTo>
                  <a:pt x="28427" y="857"/>
                </a:lnTo>
                <a:lnTo>
                  <a:pt x="0" y="857"/>
                </a:lnTo>
                <a:lnTo>
                  <a:pt x="0" y="553"/>
                </a:lnTo>
                <a:close/>
                <a:moveTo>
                  <a:pt x="27592" y="42"/>
                </a:moveTo>
                <a:lnTo>
                  <a:pt x="28729" y="705"/>
                </a:lnTo>
                <a:lnTo>
                  <a:pt x="27592" y="1369"/>
                </a:lnTo>
                <a:cubicBezTo>
                  <a:pt x="27519" y="1411"/>
                  <a:pt x="27426" y="1387"/>
                  <a:pt x="27384" y="1314"/>
                </a:cubicBezTo>
                <a:cubicBezTo>
                  <a:pt x="27342" y="1242"/>
                  <a:pt x="27366" y="1148"/>
                  <a:pt x="27439" y="1106"/>
                </a:cubicBezTo>
                <a:lnTo>
                  <a:pt x="28351" y="574"/>
                </a:lnTo>
                <a:lnTo>
                  <a:pt x="28351" y="837"/>
                </a:lnTo>
                <a:lnTo>
                  <a:pt x="27439" y="305"/>
                </a:lnTo>
                <a:cubicBezTo>
                  <a:pt x="27366" y="262"/>
                  <a:pt x="27342" y="169"/>
                  <a:pt x="27384" y="97"/>
                </a:cubicBezTo>
                <a:cubicBezTo>
                  <a:pt x="27426" y="24"/>
                  <a:pt x="27519" y="0"/>
                  <a:pt x="27592" y="42"/>
                </a:cubicBezTo>
                <a:close/>
              </a:path>
            </a:pathLst>
          </a:custGeom>
          <a:solidFill>
            <a:srgbClr val="FFC000"/>
          </a:solidFill>
          <a:ln w="0" cap="flat">
            <a:solidFill>
              <a:srgbClr val="FFC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3" name="Line 7"/>
          <p:cNvSpPr>
            <a:spLocks noChangeShapeType="1"/>
          </p:cNvSpPr>
          <p:nvPr/>
        </p:nvSpPr>
        <p:spPr bwMode="auto">
          <a:xfrm>
            <a:off x="3271168" y="1896841"/>
            <a:ext cx="0" cy="130175"/>
          </a:xfrm>
          <a:prstGeom prst="line">
            <a:avLst/>
          </a:prstGeom>
          <a:noFill/>
          <a:ln w="36513" cap="flat">
            <a:solidFill>
              <a:srgbClr val="FFC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3202905" y="1585690"/>
            <a:ext cx="11060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endParaRPr lang="en-US" altLang="en-US"/>
          </a:p>
        </p:txBody>
      </p:sp>
      <p:sp>
        <p:nvSpPr>
          <p:cNvPr id="15" name="Line 9"/>
          <p:cNvSpPr>
            <a:spLocks noChangeShapeType="1"/>
          </p:cNvSpPr>
          <p:nvPr/>
        </p:nvSpPr>
        <p:spPr bwMode="auto">
          <a:xfrm>
            <a:off x="3417218" y="1896841"/>
            <a:ext cx="0" cy="130175"/>
          </a:xfrm>
          <a:prstGeom prst="line">
            <a:avLst/>
          </a:prstGeom>
          <a:noFill/>
          <a:ln w="36513" cap="flat">
            <a:solidFill>
              <a:srgbClr val="FFC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3348955" y="1585690"/>
            <a:ext cx="11060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endParaRPr lang="en-US" altLang="en-US"/>
          </a:p>
        </p:txBody>
      </p:sp>
      <p:sp>
        <p:nvSpPr>
          <p:cNvPr id="17" name="Line 11"/>
          <p:cNvSpPr>
            <a:spLocks noChangeShapeType="1"/>
          </p:cNvSpPr>
          <p:nvPr/>
        </p:nvSpPr>
        <p:spPr bwMode="auto">
          <a:xfrm>
            <a:off x="3685505" y="1896841"/>
            <a:ext cx="0" cy="130175"/>
          </a:xfrm>
          <a:prstGeom prst="line">
            <a:avLst/>
          </a:prstGeom>
          <a:noFill/>
          <a:ln w="36513" cap="flat">
            <a:solidFill>
              <a:srgbClr val="FFC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8" name="Rectangle 12"/>
          <p:cNvSpPr>
            <a:spLocks noChangeArrowheads="1"/>
          </p:cNvSpPr>
          <p:nvPr/>
        </p:nvSpPr>
        <p:spPr bwMode="auto">
          <a:xfrm>
            <a:off x="3618830" y="1585690"/>
            <a:ext cx="11060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endParaRPr lang="en-US" altLang="en-US"/>
          </a:p>
        </p:txBody>
      </p:sp>
      <p:sp>
        <p:nvSpPr>
          <p:cNvPr id="19" name="Line 13"/>
          <p:cNvSpPr>
            <a:spLocks noChangeShapeType="1"/>
          </p:cNvSpPr>
          <p:nvPr/>
        </p:nvSpPr>
        <p:spPr bwMode="auto">
          <a:xfrm>
            <a:off x="3893468" y="1896841"/>
            <a:ext cx="0" cy="130175"/>
          </a:xfrm>
          <a:prstGeom prst="line">
            <a:avLst/>
          </a:prstGeom>
          <a:noFill/>
          <a:ln w="36513" cap="flat">
            <a:solidFill>
              <a:srgbClr val="FFC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3825205" y="1585690"/>
            <a:ext cx="11060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endParaRPr lang="en-US" altLang="en-US"/>
          </a:p>
        </p:txBody>
      </p:sp>
      <p:sp>
        <p:nvSpPr>
          <p:cNvPr id="21" name="Line 15"/>
          <p:cNvSpPr>
            <a:spLocks noChangeShapeType="1"/>
          </p:cNvSpPr>
          <p:nvPr/>
        </p:nvSpPr>
        <p:spPr bwMode="auto">
          <a:xfrm>
            <a:off x="4101430" y="1896841"/>
            <a:ext cx="0" cy="130175"/>
          </a:xfrm>
          <a:prstGeom prst="line">
            <a:avLst/>
          </a:prstGeom>
          <a:noFill/>
          <a:ln w="36513" cap="flat">
            <a:solidFill>
              <a:srgbClr val="FFC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2" name="Rectangle 16"/>
          <p:cNvSpPr>
            <a:spLocks noChangeArrowheads="1"/>
          </p:cNvSpPr>
          <p:nvPr/>
        </p:nvSpPr>
        <p:spPr bwMode="auto">
          <a:xfrm>
            <a:off x="4033168" y="1585690"/>
            <a:ext cx="11060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700" dirty="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endParaRPr lang="en-US" altLang="en-US" dirty="0"/>
          </a:p>
        </p:txBody>
      </p:sp>
      <p:sp>
        <p:nvSpPr>
          <p:cNvPr id="23" name="Line 17"/>
          <p:cNvSpPr>
            <a:spLocks noChangeShapeType="1"/>
          </p:cNvSpPr>
          <p:nvPr/>
        </p:nvSpPr>
        <p:spPr bwMode="auto">
          <a:xfrm>
            <a:off x="7901905" y="1896841"/>
            <a:ext cx="0" cy="130175"/>
          </a:xfrm>
          <a:prstGeom prst="line">
            <a:avLst/>
          </a:prstGeom>
          <a:noFill/>
          <a:ln w="36513" cap="flat">
            <a:solidFill>
              <a:srgbClr val="FFC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4" name="Rectangle 18"/>
          <p:cNvSpPr>
            <a:spLocks noChangeArrowheads="1"/>
          </p:cNvSpPr>
          <p:nvPr/>
        </p:nvSpPr>
        <p:spPr bwMode="auto">
          <a:xfrm>
            <a:off x="7835230" y="1585690"/>
            <a:ext cx="11060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Calibri" panose="020F0502020204030204" pitchFamily="34" charset="0"/>
              </a:rPr>
              <a:t>1</a:t>
            </a:r>
            <a:endParaRPr lang="en-US" altLang="en-US"/>
          </a:p>
        </p:txBody>
      </p:sp>
      <p:sp>
        <p:nvSpPr>
          <p:cNvPr id="25" name="Line 19"/>
          <p:cNvSpPr>
            <a:spLocks noChangeShapeType="1"/>
          </p:cNvSpPr>
          <p:nvPr/>
        </p:nvSpPr>
        <p:spPr bwMode="auto">
          <a:xfrm>
            <a:off x="4584030" y="1896841"/>
            <a:ext cx="0" cy="130175"/>
          </a:xfrm>
          <a:prstGeom prst="line">
            <a:avLst/>
          </a:prstGeom>
          <a:noFill/>
          <a:ln w="36513" cap="flat">
            <a:solidFill>
              <a:srgbClr val="FFC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6" name="Rectangle 20"/>
          <p:cNvSpPr>
            <a:spLocks noChangeArrowheads="1"/>
          </p:cNvSpPr>
          <p:nvPr/>
        </p:nvSpPr>
        <p:spPr bwMode="auto">
          <a:xfrm>
            <a:off x="4517355" y="1585690"/>
            <a:ext cx="11060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endParaRPr lang="en-US" altLang="en-US"/>
          </a:p>
        </p:txBody>
      </p:sp>
      <p:sp>
        <p:nvSpPr>
          <p:cNvPr id="27" name="Line 21"/>
          <p:cNvSpPr>
            <a:spLocks noChangeShapeType="1"/>
          </p:cNvSpPr>
          <p:nvPr/>
        </p:nvSpPr>
        <p:spPr bwMode="auto">
          <a:xfrm>
            <a:off x="4860255" y="1896841"/>
            <a:ext cx="0" cy="130175"/>
          </a:xfrm>
          <a:prstGeom prst="line">
            <a:avLst/>
          </a:prstGeom>
          <a:noFill/>
          <a:ln w="36513" cap="flat">
            <a:solidFill>
              <a:srgbClr val="FFC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8" name="Rectangle 22"/>
          <p:cNvSpPr>
            <a:spLocks noChangeArrowheads="1"/>
          </p:cNvSpPr>
          <p:nvPr/>
        </p:nvSpPr>
        <p:spPr bwMode="auto">
          <a:xfrm>
            <a:off x="4793580" y="1585690"/>
            <a:ext cx="11060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endParaRPr lang="en-US" altLang="en-US"/>
          </a:p>
        </p:txBody>
      </p:sp>
      <p:sp>
        <p:nvSpPr>
          <p:cNvPr id="29" name="Line 23"/>
          <p:cNvSpPr>
            <a:spLocks noChangeShapeType="1"/>
          </p:cNvSpPr>
          <p:nvPr/>
        </p:nvSpPr>
        <p:spPr bwMode="auto">
          <a:xfrm>
            <a:off x="6590630" y="1896841"/>
            <a:ext cx="0" cy="130175"/>
          </a:xfrm>
          <a:prstGeom prst="line">
            <a:avLst/>
          </a:prstGeom>
          <a:noFill/>
          <a:ln w="36513" cap="flat">
            <a:solidFill>
              <a:srgbClr val="FFC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0" name="Rectangle 24"/>
          <p:cNvSpPr>
            <a:spLocks noChangeArrowheads="1"/>
          </p:cNvSpPr>
          <p:nvPr/>
        </p:nvSpPr>
        <p:spPr bwMode="auto">
          <a:xfrm>
            <a:off x="6520780" y="1585690"/>
            <a:ext cx="11060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Calibri" panose="020F0502020204030204" pitchFamily="34" charset="0"/>
              </a:rPr>
              <a:t>1</a:t>
            </a:r>
            <a:endParaRPr lang="en-US" altLang="en-US"/>
          </a:p>
        </p:txBody>
      </p:sp>
      <p:sp>
        <p:nvSpPr>
          <p:cNvPr id="31" name="Line 25"/>
          <p:cNvSpPr>
            <a:spLocks noChangeShapeType="1"/>
          </p:cNvSpPr>
          <p:nvPr/>
        </p:nvSpPr>
        <p:spPr bwMode="auto">
          <a:xfrm>
            <a:off x="5276180" y="1896841"/>
            <a:ext cx="0" cy="130175"/>
          </a:xfrm>
          <a:prstGeom prst="line">
            <a:avLst/>
          </a:prstGeom>
          <a:noFill/>
          <a:ln w="36513" cap="flat">
            <a:solidFill>
              <a:srgbClr val="FFC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2" name="Rectangle 26"/>
          <p:cNvSpPr>
            <a:spLocks noChangeArrowheads="1"/>
          </p:cNvSpPr>
          <p:nvPr/>
        </p:nvSpPr>
        <p:spPr bwMode="auto">
          <a:xfrm>
            <a:off x="5207918" y="1585690"/>
            <a:ext cx="11060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endParaRPr lang="en-US" altLang="en-US"/>
          </a:p>
        </p:txBody>
      </p:sp>
      <p:sp>
        <p:nvSpPr>
          <p:cNvPr id="33" name="Line 27"/>
          <p:cNvSpPr>
            <a:spLocks noChangeShapeType="1"/>
          </p:cNvSpPr>
          <p:nvPr/>
        </p:nvSpPr>
        <p:spPr bwMode="auto">
          <a:xfrm>
            <a:off x="5552405" y="1896841"/>
            <a:ext cx="0" cy="130175"/>
          </a:xfrm>
          <a:prstGeom prst="line">
            <a:avLst/>
          </a:prstGeom>
          <a:noFill/>
          <a:ln w="36513" cap="flat">
            <a:solidFill>
              <a:srgbClr val="FFC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4" name="Rectangle 28"/>
          <p:cNvSpPr>
            <a:spLocks noChangeArrowheads="1"/>
          </p:cNvSpPr>
          <p:nvPr/>
        </p:nvSpPr>
        <p:spPr bwMode="auto">
          <a:xfrm>
            <a:off x="5484143" y="1585690"/>
            <a:ext cx="11060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700" dirty="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endParaRPr lang="en-US" altLang="en-US" dirty="0"/>
          </a:p>
        </p:txBody>
      </p:sp>
      <p:sp>
        <p:nvSpPr>
          <p:cNvPr id="35" name="Line 29"/>
          <p:cNvSpPr>
            <a:spLocks noChangeShapeType="1"/>
          </p:cNvSpPr>
          <p:nvPr/>
        </p:nvSpPr>
        <p:spPr bwMode="auto">
          <a:xfrm>
            <a:off x="5828630" y="1896841"/>
            <a:ext cx="0" cy="130175"/>
          </a:xfrm>
          <a:prstGeom prst="line">
            <a:avLst/>
          </a:prstGeom>
          <a:noFill/>
          <a:ln w="36513" cap="flat">
            <a:solidFill>
              <a:srgbClr val="FFC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6" name="Rectangle 30"/>
          <p:cNvSpPr>
            <a:spLocks noChangeArrowheads="1"/>
          </p:cNvSpPr>
          <p:nvPr/>
        </p:nvSpPr>
        <p:spPr bwMode="auto">
          <a:xfrm>
            <a:off x="5760368" y="1585690"/>
            <a:ext cx="11060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endParaRPr lang="en-US" altLang="en-US"/>
          </a:p>
        </p:txBody>
      </p:sp>
      <p:sp>
        <p:nvSpPr>
          <p:cNvPr id="37" name="Line 31"/>
          <p:cNvSpPr>
            <a:spLocks noChangeShapeType="1"/>
          </p:cNvSpPr>
          <p:nvPr/>
        </p:nvSpPr>
        <p:spPr bwMode="auto">
          <a:xfrm>
            <a:off x="6382668" y="1896841"/>
            <a:ext cx="0" cy="130175"/>
          </a:xfrm>
          <a:prstGeom prst="line">
            <a:avLst/>
          </a:prstGeom>
          <a:noFill/>
          <a:ln w="36513" cap="flat">
            <a:solidFill>
              <a:srgbClr val="FFC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8" name="Rectangle 32"/>
          <p:cNvSpPr>
            <a:spLocks noChangeArrowheads="1"/>
          </p:cNvSpPr>
          <p:nvPr/>
        </p:nvSpPr>
        <p:spPr bwMode="auto">
          <a:xfrm>
            <a:off x="6314405" y="1585690"/>
            <a:ext cx="11060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700" dirty="0">
                <a:solidFill>
                  <a:srgbClr val="000000"/>
                </a:solidFill>
                <a:latin typeface="Calibri" panose="020F0502020204030204" pitchFamily="34" charset="0"/>
              </a:rPr>
              <a:t>1</a:t>
            </a:r>
            <a:endParaRPr lang="en-US" altLang="en-US" dirty="0"/>
          </a:p>
        </p:txBody>
      </p:sp>
      <p:sp>
        <p:nvSpPr>
          <p:cNvPr id="39" name="Line 33"/>
          <p:cNvSpPr>
            <a:spLocks noChangeShapeType="1"/>
          </p:cNvSpPr>
          <p:nvPr/>
        </p:nvSpPr>
        <p:spPr bwMode="auto">
          <a:xfrm>
            <a:off x="6935118" y="1896841"/>
            <a:ext cx="0" cy="130175"/>
          </a:xfrm>
          <a:prstGeom prst="line">
            <a:avLst/>
          </a:prstGeom>
          <a:noFill/>
          <a:ln w="36513" cap="flat">
            <a:solidFill>
              <a:srgbClr val="FFC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0" name="Rectangle 34"/>
          <p:cNvSpPr>
            <a:spLocks noChangeArrowheads="1"/>
          </p:cNvSpPr>
          <p:nvPr/>
        </p:nvSpPr>
        <p:spPr bwMode="auto">
          <a:xfrm>
            <a:off x="6866855" y="1585690"/>
            <a:ext cx="11060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700" dirty="0">
                <a:solidFill>
                  <a:srgbClr val="000000"/>
                </a:solidFill>
                <a:latin typeface="Calibri" panose="020F0502020204030204" pitchFamily="34" charset="0"/>
              </a:rPr>
              <a:t>1</a:t>
            </a:r>
            <a:endParaRPr lang="en-US" altLang="en-US" dirty="0"/>
          </a:p>
        </p:txBody>
      </p:sp>
      <p:sp>
        <p:nvSpPr>
          <p:cNvPr id="41" name="Line 35"/>
          <p:cNvSpPr>
            <a:spLocks noChangeShapeType="1"/>
          </p:cNvSpPr>
          <p:nvPr/>
        </p:nvSpPr>
        <p:spPr bwMode="auto">
          <a:xfrm>
            <a:off x="7143080" y="1896841"/>
            <a:ext cx="0" cy="130175"/>
          </a:xfrm>
          <a:prstGeom prst="line">
            <a:avLst/>
          </a:prstGeom>
          <a:noFill/>
          <a:ln w="36513" cap="flat">
            <a:solidFill>
              <a:srgbClr val="FFC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2" name="Rectangle 36"/>
          <p:cNvSpPr>
            <a:spLocks noChangeArrowheads="1"/>
          </p:cNvSpPr>
          <p:nvPr/>
        </p:nvSpPr>
        <p:spPr bwMode="auto">
          <a:xfrm>
            <a:off x="7074818" y="1585690"/>
            <a:ext cx="11060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Calibri" panose="020F0502020204030204" pitchFamily="34" charset="0"/>
              </a:rPr>
              <a:t>1</a:t>
            </a:r>
            <a:endParaRPr lang="en-US" altLang="en-US"/>
          </a:p>
        </p:txBody>
      </p:sp>
      <p:sp>
        <p:nvSpPr>
          <p:cNvPr id="43" name="Line 37"/>
          <p:cNvSpPr>
            <a:spLocks noChangeShapeType="1"/>
          </p:cNvSpPr>
          <p:nvPr/>
        </p:nvSpPr>
        <p:spPr bwMode="auto">
          <a:xfrm>
            <a:off x="7695530" y="1896841"/>
            <a:ext cx="0" cy="130175"/>
          </a:xfrm>
          <a:prstGeom prst="line">
            <a:avLst/>
          </a:prstGeom>
          <a:noFill/>
          <a:ln w="36513" cap="flat">
            <a:solidFill>
              <a:srgbClr val="FFC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4" name="Rectangle 38"/>
          <p:cNvSpPr>
            <a:spLocks noChangeArrowheads="1"/>
          </p:cNvSpPr>
          <p:nvPr/>
        </p:nvSpPr>
        <p:spPr bwMode="auto">
          <a:xfrm>
            <a:off x="7627268" y="1585690"/>
            <a:ext cx="11060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700" dirty="0">
                <a:solidFill>
                  <a:srgbClr val="000000"/>
                </a:solidFill>
                <a:latin typeface="Calibri" panose="020F0502020204030204" pitchFamily="34" charset="0"/>
              </a:rPr>
              <a:t>1</a:t>
            </a:r>
            <a:endParaRPr lang="en-US" alt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8068592" y="3501008"/>
            <a:ext cx="2203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AUC = 1</a:t>
            </a:r>
          </a:p>
        </p:txBody>
      </p:sp>
    </p:spTree>
    <p:extLst>
      <p:ext uri="{BB962C8B-B14F-4D97-AF65-F5344CB8AC3E}">
        <p14:creationId xmlns:p14="http://schemas.microsoft.com/office/powerpoint/2010/main" val="209312252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Disease Risk Predictor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  <p:sp>
        <p:nvSpPr>
          <p:cNvPr id="9" name="AutoShape 3"/>
          <p:cNvSpPr>
            <a:spLocks noChangeAspect="1" noChangeArrowheads="1" noTextEdit="1"/>
          </p:cNvSpPr>
          <p:nvPr/>
        </p:nvSpPr>
        <p:spPr bwMode="auto">
          <a:xfrm>
            <a:off x="3071144" y="1700809"/>
            <a:ext cx="5545137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4738916" y="3997187"/>
            <a:ext cx="301730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Predictor of Liability, T</a:t>
            </a:r>
            <a:endParaRPr lang="en-US" altLang="en-US" sz="2400" dirty="0">
              <a:cs typeface="Arial" panose="020B0604020202020204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3114006" y="2551709"/>
            <a:ext cx="5254625" cy="1381125"/>
            <a:chOff x="1590005" y="2551708"/>
            <a:chExt cx="5254625" cy="1381125"/>
          </a:xfrm>
        </p:grpSpPr>
        <p:sp>
          <p:nvSpPr>
            <p:cNvPr id="10" name="Freeform 5"/>
            <p:cNvSpPr>
              <a:spLocks noEditPoints="1"/>
            </p:cNvSpPr>
            <p:nvPr/>
          </p:nvSpPr>
          <p:spPr bwMode="auto">
            <a:xfrm>
              <a:off x="1590005" y="3251796"/>
              <a:ext cx="5254625" cy="257175"/>
            </a:xfrm>
            <a:custGeom>
              <a:avLst/>
              <a:gdLst>
                <a:gd name="T0" fmla="*/ 0 w 28729"/>
                <a:gd name="T1" fmla="*/ 553 h 1411"/>
                <a:gd name="T2" fmla="*/ 28427 w 28729"/>
                <a:gd name="T3" fmla="*/ 553 h 1411"/>
                <a:gd name="T4" fmla="*/ 28427 w 28729"/>
                <a:gd name="T5" fmla="*/ 857 h 1411"/>
                <a:gd name="T6" fmla="*/ 0 w 28729"/>
                <a:gd name="T7" fmla="*/ 857 h 1411"/>
                <a:gd name="T8" fmla="*/ 0 w 28729"/>
                <a:gd name="T9" fmla="*/ 553 h 1411"/>
                <a:gd name="T10" fmla="*/ 27592 w 28729"/>
                <a:gd name="T11" fmla="*/ 42 h 1411"/>
                <a:gd name="T12" fmla="*/ 28729 w 28729"/>
                <a:gd name="T13" fmla="*/ 705 h 1411"/>
                <a:gd name="T14" fmla="*/ 27592 w 28729"/>
                <a:gd name="T15" fmla="*/ 1369 h 1411"/>
                <a:gd name="T16" fmla="*/ 27384 w 28729"/>
                <a:gd name="T17" fmla="*/ 1314 h 1411"/>
                <a:gd name="T18" fmla="*/ 27439 w 28729"/>
                <a:gd name="T19" fmla="*/ 1106 h 1411"/>
                <a:gd name="T20" fmla="*/ 28351 w 28729"/>
                <a:gd name="T21" fmla="*/ 574 h 1411"/>
                <a:gd name="T22" fmla="*/ 28351 w 28729"/>
                <a:gd name="T23" fmla="*/ 837 h 1411"/>
                <a:gd name="T24" fmla="*/ 27439 w 28729"/>
                <a:gd name="T25" fmla="*/ 305 h 1411"/>
                <a:gd name="T26" fmla="*/ 27384 w 28729"/>
                <a:gd name="T27" fmla="*/ 97 h 1411"/>
                <a:gd name="T28" fmla="*/ 27592 w 28729"/>
                <a:gd name="T29" fmla="*/ 42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729" h="1411">
                  <a:moveTo>
                    <a:pt x="0" y="553"/>
                  </a:moveTo>
                  <a:lnTo>
                    <a:pt x="28427" y="553"/>
                  </a:lnTo>
                  <a:lnTo>
                    <a:pt x="28427" y="857"/>
                  </a:lnTo>
                  <a:lnTo>
                    <a:pt x="0" y="857"/>
                  </a:lnTo>
                  <a:lnTo>
                    <a:pt x="0" y="553"/>
                  </a:lnTo>
                  <a:close/>
                  <a:moveTo>
                    <a:pt x="27592" y="42"/>
                  </a:moveTo>
                  <a:lnTo>
                    <a:pt x="28729" y="705"/>
                  </a:lnTo>
                  <a:lnTo>
                    <a:pt x="27592" y="1369"/>
                  </a:lnTo>
                  <a:cubicBezTo>
                    <a:pt x="27519" y="1411"/>
                    <a:pt x="27426" y="1387"/>
                    <a:pt x="27384" y="1314"/>
                  </a:cubicBezTo>
                  <a:cubicBezTo>
                    <a:pt x="27342" y="1242"/>
                    <a:pt x="27366" y="1148"/>
                    <a:pt x="27439" y="1106"/>
                  </a:cubicBezTo>
                  <a:lnTo>
                    <a:pt x="28351" y="574"/>
                  </a:lnTo>
                  <a:lnTo>
                    <a:pt x="28351" y="837"/>
                  </a:lnTo>
                  <a:lnTo>
                    <a:pt x="27439" y="305"/>
                  </a:lnTo>
                  <a:cubicBezTo>
                    <a:pt x="27366" y="262"/>
                    <a:pt x="27342" y="169"/>
                    <a:pt x="27384" y="97"/>
                  </a:cubicBezTo>
                  <a:cubicBezTo>
                    <a:pt x="27426" y="24"/>
                    <a:pt x="27519" y="0"/>
                    <a:pt x="27592" y="42"/>
                  </a:cubicBezTo>
                  <a:close/>
                </a:path>
              </a:pathLst>
            </a:custGeom>
            <a:solidFill>
              <a:srgbClr val="4A7EBB"/>
            </a:solidFill>
            <a:ln w="0" cap="flat">
              <a:solidFill>
                <a:srgbClr val="4A7EB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1747168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1678905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16" name="Line 9"/>
            <p:cNvSpPr>
              <a:spLocks noChangeShapeType="1"/>
            </p:cNvSpPr>
            <p:nvPr/>
          </p:nvSpPr>
          <p:spPr bwMode="auto">
            <a:xfrm>
              <a:off x="1893218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1824955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20" name="Line 11"/>
            <p:cNvSpPr>
              <a:spLocks noChangeShapeType="1"/>
            </p:cNvSpPr>
            <p:nvPr/>
          </p:nvSpPr>
          <p:spPr bwMode="auto">
            <a:xfrm>
              <a:off x="2161505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Rectangle 12"/>
            <p:cNvSpPr>
              <a:spLocks noChangeArrowheads="1"/>
            </p:cNvSpPr>
            <p:nvPr/>
          </p:nvSpPr>
          <p:spPr bwMode="auto">
            <a:xfrm>
              <a:off x="2094830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26" name="Line 13"/>
            <p:cNvSpPr>
              <a:spLocks noChangeShapeType="1"/>
            </p:cNvSpPr>
            <p:nvPr/>
          </p:nvSpPr>
          <p:spPr bwMode="auto">
            <a:xfrm>
              <a:off x="2369468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7" name="Rectangle 14"/>
            <p:cNvSpPr>
              <a:spLocks noChangeArrowheads="1"/>
            </p:cNvSpPr>
            <p:nvPr/>
          </p:nvSpPr>
          <p:spPr bwMode="auto">
            <a:xfrm>
              <a:off x="2301205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28" name="Line 15"/>
            <p:cNvSpPr>
              <a:spLocks noChangeShapeType="1"/>
            </p:cNvSpPr>
            <p:nvPr/>
          </p:nvSpPr>
          <p:spPr bwMode="auto">
            <a:xfrm>
              <a:off x="257743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9" name="Rectangle 16"/>
            <p:cNvSpPr>
              <a:spLocks noChangeArrowheads="1"/>
            </p:cNvSpPr>
            <p:nvPr/>
          </p:nvSpPr>
          <p:spPr bwMode="auto">
            <a:xfrm>
              <a:off x="2509168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31" name="Line 17"/>
            <p:cNvSpPr>
              <a:spLocks noChangeShapeType="1"/>
            </p:cNvSpPr>
            <p:nvPr/>
          </p:nvSpPr>
          <p:spPr bwMode="auto">
            <a:xfrm>
              <a:off x="6377905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2" name="Rectangle 18"/>
            <p:cNvSpPr>
              <a:spLocks noChangeArrowheads="1"/>
            </p:cNvSpPr>
            <p:nvPr/>
          </p:nvSpPr>
          <p:spPr bwMode="auto">
            <a:xfrm>
              <a:off x="6311230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33" name="Line 19"/>
            <p:cNvSpPr>
              <a:spLocks noChangeShapeType="1"/>
            </p:cNvSpPr>
            <p:nvPr/>
          </p:nvSpPr>
          <p:spPr bwMode="auto">
            <a:xfrm>
              <a:off x="306003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Rectangle 20"/>
            <p:cNvSpPr>
              <a:spLocks noChangeArrowheads="1"/>
            </p:cNvSpPr>
            <p:nvPr/>
          </p:nvSpPr>
          <p:spPr bwMode="auto">
            <a:xfrm>
              <a:off x="2993355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35" name="Line 21"/>
            <p:cNvSpPr>
              <a:spLocks noChangeShapeType="1"/>
            </p:cNvSpPr>
            <p:nvPr/>
          </p:nvSpPr>
          <p:spPr bwMode="auto">
            <a:xfrm>
              <a:off x="3336255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7" name="Rectangle 22"/>
            <p:cNvSpPr>
              <a:spLocks noChangeArrowheads="1"/>
            </p:cNvSpPr>
            <p:nvPr/>
          </p:nvSpPr>
          <p:spPr bwMode="auto">
            <a:xfrm>
              <a:off x="3269580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38" name="Line 23"/>
            <p:cNvSpPr>
              <a:spLocks noChangeShapeType="1"/>
            </p:cNvSpPr>
            <p:nvPr/>
          </p:nvSpPr>
          <p:spPr bwMode="auto">
            <a:xfrm>
              <a:off x="506663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9" name="Rectangle 24"/>
            <p:cNvSpPr>
              <a:spLocks noChangeArrowheads="1"/>
            </p:cNvSpPr>
            <p:nvPr/>
          </p:nvSpPr>
          <p:spPr bwMode="auto">
            <a:xfrm>
              <a:off x="4996780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40" name="Line 25"/>
            <p:cNvSpPr>
              <a:spLocks noChangeShapeType="1"/>
            </p:cNvSpPr>
            <p:nvPr/>
          </p:nvSpPr>
          <p:spPr bwMode="auto">
            <a:xfrm>
              <a:off x="375218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1" name="Rectangle 26"/>
            <p:cNvSpPr>
              <a:spLocks noChangeArrowheads="1"/>
            </p:cNvSpPr>
            <p:nvPr/>
          </p:nvSpPr>
          <p:spPr bwMode="auto">
            <a:xfrm>
              <a:off x="3683918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42" name="Line 27"/>
            <p:cNvSpPr>
              <a:spLocks noChangeShapeType="1"/>
            </p:cNvSpPr>
            <p:nvPr/>
          </p:nvSpPr>
          <p:spPr bwMode="auto">
            <a:xfrm>
              <a:off x="4028405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3" name="Rectangle 28"/>
            <p:cNvSpPr>
              <a:spLocks noChangeArrowheads="1"/>
            </p:cNvSpPr>
            <p:nvPr/>
          </p:nvSpPr>
          <p:spPr bwMode="auto">
            <a:xfrm>
              <a:off x="3960143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44" name="Line 29"/>
            <p:cNvSpPr>
              <a:spLocks noChangeShapeType="1"/>
            </p:cNvSpPr>
            <p:nvPr/>
          </p:nvSpPr>
          <p:spPr bwMode="auto">
            <a:xfrm>
              <a:off x="430463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5" name="Rectangle 30"/>
            <p:cNvSpPr>
              <a:spLocks noChangeArrowheads="1"/>
            </p:cNvSpPr>
            <p:nvPr/>
          </p:nvSpPr>
          <p:spPr bwMode="auto">
            <a:xfrm>
              <a:off x="4236368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46" name="Line 31"/>
            <p:cNvSpPr>
              <a:spLocks noChangeShapeType="1"/>
            </p:cNvSpPr>
            <p:nvPr/>
          </p:nvSpPr>
          <p:spPr bwMode="auto">
            <a:xfrm>
              <a:off x="4858668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7" name="Rectangle 32"/>
            <p:cNvSpPr>
              <a:spLocks noChangeArrowheads="1"/>
            </p:cNvSpPr>
            <p:nvPr/>
          </p:nvSpPr>
          <p:spPr bwMode="auto">
            <a:xfrm>
              <a:off x="4790405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48" name="Line 33"/>
            <p:cNvSpPr>
              <a:spLocks noChangeShapeType="1"/>
            </p:cNvSpPr>
            <p:nvPr/>
          </p:nvSpPr>
          <p:spPr bwMode="auto">
            <a:xfrm>
              <a:off x="5411118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9" name="Rectangle 34"/>
            <p:cNvSpPr>
              <a:spLocks noChangeArrowheads="1"/>
            </p:cNvSpPr>
            <p:nvPr/>
          </p:nvSpPr>
          <p:spPr bwMode="auto">
            <a:xfrm>
              <a:off x="5342855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50" name="Line 35"/>
            <p:cNvSpPr>
              <a:spLocks noChangeShapeType="1"/>
            </p:cNvSpPr>
            <p:nvPr/>
          </p:nvSpPr>
          <p:spPr bwMode="auto">
            <a:xfrm>
              <a:off x="561908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1" name="Rectangle 36"/>
            <p:cNvSpPr>
              <a:spLocks noChangeArrowheads="1"/>
            </p:cNvSpPr>
            <p:nvPr/>
          </p:nvSpPr>
          <p:spPr bwMode="auto">
            <a:xfrm>
              <a:off x="5550818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52" name="Line 37"/>
            <p:cNvSpPr>
              <a:spLocks noChangeShapeType="1"/>
            </p:cNvSpPr>
            <p:nvPr/>
          </p:nvSpPr>
          <p:spPr bwMode="auto">
            <a:xfrm>
              <a:off x="617153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3" name="Rectangle 38"/>
            <p:cNvSpPr>
              <a:spLocks noChangeArrowheads="1"/>
            </p:cNvSpPr>
            <p:nvPr/>
          </p:nvSpPr>
          <p:spPr bwMode="auto">
            <a:xfrm>
              <a:off x="6103268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54" name="Line 39"/>
            <p:cNvSpPr>
              <a:spLocks noChangeShapeType="1"/>
            </p:cNvSpPr>
            <p:nvPr/>
          </p:nvSpPr>
          <p:spPr bwMode="auto">
            <a:xfrm>
              <a:off x="1619672" y="2551708"/>
              <a:ext cx="0" cy="1381125"/>
            </a:xfrm>
            <a:prstGeom prst="line">
              <a:avLst/>
            </a:prstGeom>
            <a:noFill/>
            <a:ln w="19050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55" name="Rectangle 40"/>
          <p:cNvSpPr>
            <a:spLocks noChangeArrowheads="1"/>
          </p:cNvSpPr>
          <p:nvPr/>
        </p:nvSpPr>
        <p:spPr bwMode="auto">
          <a:xfrm>
            <a:off x="1919536" y="2024916"/>
            <a:ext cx="24253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t*: Se = 1, </a:t>
            </a:r>
            <a:r>
              <a:rPr lang="en-US" altLang="en-US" sz="2400" dirty="0" err="1">
                <a:solidFill>
                  <a:srgbClr val="000000"/>
                </a:solidFill>
                <a:cs typeface="Arial" panose="020B0604020202020204" pitchFamily="34" charset="0"/>
              </a:rPr>
              <a:t>Sp</a:t>
            </a:r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 = 0 </a:t>
            </a:r>
            <a:endParaRPr lang="en-US" altLang="en-US" sz="2400" dirty="0">
              <a:cs typeface="Arial" panose="020B0604020202020204" pitchFamily="34" charset="0"/>
            </a:endParaRPr>
          </a:p>
        </p:txBody>
      </p:sp>
      <p:sp>
        <p:nvSpPr>
          <p:cNvPr id="58" name="Rectangle 43"/>
          <p:cNvSpPr>
            <a:spLocks noChangeArrowheads="1"/>
          </p:cNvSpPr>
          <p:nvPr/>
        </p:nvSpPr>
        <p:spPr bwMode="auto">
          <a:xfrm>
            <a:off x="3805796" y="4859868"/>
            <a:ext cx="473847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Perfect tests are often not possible</a:t>
            </a:r>
            <a:endParaRPr lang="en-US" altLang="en-US" sz="24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02042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Disease Risk Predictor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  <p:sp>
        <p:nvSpPr>
          <p:cNvPr id="9" name="AutoShape 3"/>
          <p:cNvSpPr>
            <a:spLocks noChangeAspect="1" noChangeArrowheads="1" noTextEdit="1"/>
          </p:cNvSpPr>
          <p:nvPr/>
        </p:nvSpPr>
        <p:spPr bwMode="auto">
          <a:xfrm>
            <a:off x="3071144" y="1700809"/>
            <a:ext cx="5545137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4738916" y="3997187"/>
            <a:ext cx="301730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Predictor of Liability, T</a:t>
            </a:r>
            <a:endParaRPr lang="en-US" altLang="en-US" sz="2400" dirty="0">
              <a:cs typeface="Arial" panose="020B060402020202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3114006" y="2551709"/>
            <a:ext cx="5254625" cy="1381125"/>
            <a:chOff x="1590005" y="2551708"/>
            <a:chExt cx="5254625" cy="1381125"/>
          </a:xfrm>
        </p:grpSpPr>
        <p:sp>
          <p:nvSpPr>
            <p:cNvPr id="10" name="Freeform 5"/>
            <p:cNvSpPr>
              <a:spLocks noEditPoints="1"/>
            </p:cNvSpPr>
            <p:nvPr/>
          </p:nvSpPr>
          <p:spPr bwMode="auto">
            <a:xfrm>
              <a:off x="1590005" y="3251796"/>
              <a:ext cx="5254625" cy="257175"/>
            </a:xfrm>
            <a:custGeom>
              <a:avLst/>
              <a:gdLst>
                <a:gd name="T0" fmla="*/ 0 w 28729"/>
                <a:gd name="T1" fmla="*/ 553 h 1411"/>
                <a:gd name="T2" fmla="*/ 28427 w 28729"/>
                <a:gd name="T3" fmla="*/ 553 h 1411"/>
                <a:gd name="T4" fmla="*/ 28427 w 28729"/>
                <a:gd name="T5" fmla="*/ 857 h 1411"/>
                <a:gd name="T6" fmla="*/ 0 w 28729"/>
                <a:gd name="T7" fmla="*/ 857 h 1411"/>
                <a:gd name="T8" fmla="*/ 0 w 28729"/>
                <a:gd name="T9" fmla="*/ 553 h 1411"/>
                <a:gd name="T10" fmla="*/ 27592 w 28729"/>
                <a:gd name="T11" fmla="*/ 42 h 1411"/>
                <a:gd name="T12" fmla="*/ 28729 w 28729"/>
                <a:gd name="T13" fmla="*/ 705 h 1411"/>
                <a:gd name="T14" fmla="*/ 27592 w 28729"/>
                <a:gd name="T15" fmla="*/ 1369 h 1411"/>
                <a:gd name="T16" fmla="*/ 27384 w 28729"/>
                <a:gd name="T17" fmla="*/ 1314 h 1411"/>
                <a:gd name="T18" fmla="*/ 27439 w 28729"/>
                <a:gd name="T19" fmla="*/ 1106 h 1411"/>
                <a:gd name="T20" fmla="*/ 28351 w 28729"/>
                <a:gd name="T21" fmla="*/ 574 h 1411"/>
                <a:gd name="T22" fmla="*/ 28351 w 28729"/>
                <a:gd name="T23" fmla="*/ 837 h 1411"/>
                <a:gd name="T24" fmla="*/ 27439 w 28729"/>
                <a:gd name="T25" fmla="*/ 305 h 1411"/>
                <a:gd name="T26" fmla="*/ 27384 w 28729"/>
                <a:gd name="T27" fmla="*/ 97 h 1411"/>
                <a:gd name="T28" fmla="*/ 27592 w 28729"/>
                <a:gd name="T29" fmla="*/ 42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729" h="1411">
                  <a:moveTo>
                    <a:pt x="0" y="553"/>
                  </a:moveTo>
                  <a:lnTo>
                    <a:pt x="28427" y="553"/>
                  </a:lnTo>
                  <a:lnTo>
                    <a:pt x="28427" y="857"/>
                  </a:lnTo>
                  <a:lnTo>
                    <a:pt x="0" y="857"/>
                  </a:lnTo>
                  <a:lnTo>
                    <a:pt x="0" y="553"/>
                  </a:lnTo>
                  <a:close/>
                  <a:moveTo>
                    <a:pt x="27592" y="42"/>
                  </a:moveTo>
                  <a:lnTo>
                    <a:pt x="28729" y="705"/>
                  </a:lnTo>
                  <a:lnTo>
                    <a:pt x="27592" y="1369"/>
                  </a:lnTo>
                  <a:cubicBezTo>
                    <a:pt x="27519" y="1411"/>
                    <a:pt x="27426" y="1387"/>
                    <a:pt x="27384" y="1314"/>
                  </a:cubicBezTo>
                  <a:cubicBezTo>
                    <a:pt x="27342" y="1242"/>
                    <a:pt x="27366" y="1148"/>
                    <a:pt x="27439" y="1106"/>
                  </a:cubicBezTo>
                  <a:lnTo>
                    <a:pt x="28351" y="574"/>
                  </a:lnTo>
                  <a:lnTo>
                    <a:pt x="28351" y="837"/>
                  </a:lnTo>
                  <a:lnTo>
                    <a:pt x="27439" y="305"/>
                  </a:lnTo>
                  <a:cubicBezTo>
                    <a:pt x="27366" y="262"/>
                    <a:pt x="27342" y="169"/>
                    <a:pt x="27384" y="97"/>
                  </a:cubicBezTo>
                  <a:cubicBezTo>
                    <a:pt x="27426" y="24"/>
                    <a:pt x="27519" y="0"/>
                    <a:pt x="27592" y="42"/>
                  </a:cubicBezTo>
                  <a:close/>
                </a:path>
              </a:pathLst>
            </a:custGeom>
            <a:solidFill>
              <a:srgbClr val="4A7EBB"/>
            </a:solidFill>
            <a:ln w="0" cap="flat">
              <a:solidFill>
                <a:srgbClr val="4A7EB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1747168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1678905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16" name="Line 9"/>
            <p:cNvSpPr>
              <a:spLocks noChangeShapeType="1"/>
            </p:cNvSpPr>
            <p:nvPr/>
          </p:nvSpPr>
          <p:spPr bwMode="auto">
            <a:xfrm>
              <a:off x="1893218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1824955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20" name="Line 11"/>
            <p:cNvSpPr>
              <a:spLocks noChangeShapeType="1"/>
            </p:cNvSpPr>
            <p:nvPr/>
          </p:nvSpPr>
          <p:spPr bwMode="auto">
            <a:xfrm>
              <a:off x="2161505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Rectangle 12"/>
            <p:cNvSpPr>
              <a:spLocks noChangeArrowheads="1"/>
            </p:cNvSpPr>
            <p:nvPr/>
          </p:nvSpPr>
          <p:spPr bwMode="auto">
            <a:xfrm>
              <a:off x="2094830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26" name="Line 13"/>
            <p:cNvSpPr>
              <a:spLocks noChangeShapeType="1"/>
            </p:cNvSpPr>
            <p:nvPr/>
          </p:nvSpPr>
          <p:spPr bwMode="auto">
            <a:xfrm>
              <a:off x="2369468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7" name="Rectangle 14"/>
            <p:cNvSpPr>
              <a:spLocks noChangeArrowheads="1"/>
            </p:cNvSpPr>
            <p:nvPr/>
          </p:nvSpPr>
          <p:spPr bwMode="auto">
            <a:xfrm>
              <a:off x="2301205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28" name="Line 15"/>
            <p:cNvSpPr>
              <a:spLocks noChangeShapeType="1"/>
            </p:cNvSpPr>
            <p:nvPr/>
          </p:nvSpPr>
          <p:spPr bwMode="auto">
            <a:xfrm>
              <a:off x="257743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9" name="Rectangle 16"/>
            <p:cNvSpPr>
              <a:spLocks noChangeArrowheads="1"/>
            </p:cNvSpPr>
            <p:nvPr/>
          </p:nvSpPr>
          <p:spPr bwMode="auto">
            <a:xfrm>
              <a:off x="2509168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31" name="Line 17"/>
            <p:cNvSpPr>
              <a:spLocks noChangeShapeType="1"/>
            </p:cNvSpPr>
            <p:nvPr/>
          </p:nvSpPr>
          <p:spPr bwMode="auto">
            <a:xfrm>
              <a:off x="6377905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2" name="Rectangle 18"/>
            <p:cNvSpPr>
              <a:spLocks noChangeArrowheads="1"/>
            </p:cNvSpPr>
            <p:nvPr/>
          </p:nvSpPr>
          <p:spPr bwMode="auto">
            <a:xfrm>
              <a:off x="6311230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33" name="Line 19"/>
            <p:cNvSpPr>
              <a:spLocks noChangeShapeType="1"/>
            </p:cNvSpPr>
            <p:nvPr/>
          </p:nvSpPr>
          <p:spPr bwMode="auto">
            <a:xfrm>
              <a:off x="306003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Rectangle 20"/>
            <p:cNvSpPr>
              <a:spLocks noChangeArrowheads="1"/>
            </p:cNvSpPr>
            <p:nvPr/>
          </p:nvSpPr>
          <p:spPr bwMode="auto">
            <a:xfrm>
              <a:off x="2993355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35" name="Line 21"/>
            <p:cNvSpPr>
              <a:spLocks noChangeShapeType="1"/>
            </p:cNvSpPr>
            <p:nvPr/>
          </p:nvSpPr>
          <p:spPr bwMode="auto">
            <a:xfrm>
              <a:off x="3336255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7" name="Rectangle 22"/>
            <p:cNvSpPr>
              <a:spLocks noChangeArrowheads="1"/>
            </p:cNvSpPr>
            <p:nvPr/>
          </p:nvSpPr>
          <p:spPr bwMode="auto">
            <a:xfrm>
              <a:off x="3269580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38" name="Line 23"/>
            <p:cNvSpPr>
              <a:spLocks noChangeShapeType="1"/>
            </p:cNvSpPr>
            <p:nvPr/>
          </p:nvSpPr>
          <p:spPr bwMode="auto">
            <a:xfrm>
              <a:off x="506663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9" name="Rectangle 24"/>
            <p:cNvSpPr>
              <a:spLocks noChangeArrowheads="1"/>
            </p:cNvSpPr>
            <p:nvPr/>
          </p:nvSpPr>
          <p:spPr bwMode="auto">
            <a:xfrm>
              <a:off x="4996780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40" name="Line 25"/>
            <p:cNvSpPr>
              <a:spLocks noChangeShapeType="1"/>
            </p:cNvSpPr>
            <p:nvPr/>
          </p:nvSpPr>
          <p:spPr bwMode="auto">
            <a:xfrm>
              <a:off x="375218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1" name="Rectangle 26"/>
            <p:cNvSpPr>
              <a:spLocks noChangeArrowheads="1"/>
            </p:cNvSpPr>
            <p:nvPr/>
          </p:nvSpPr>
          <p:spPr bwMode="auto">
            <a:xfrm>
              <a:off x="3683918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42" name="Line 27"/>
            <p:cNvSpPr>
              <a:spLocks noChangeShapeType="1"/>
            </p:cNvSpPr>
            <p:nvPr/>
          </p:nvSpPr>
          <p:spPr bwMode="auto">
            <a:xfrm>
              <a:off x="4028405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3" name="Rectangle 28"/>
            <p:cNvSpPr>
              <a:spLocks noChangeArrowheads="1"/>
            </p:cNvSpPr>
            <p:nvPr/>
          </p:nvSpPr>
          <p:spPr bwMode="auto">
            <a:xfrm>
              <a:off x="3960143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44" name="Line 29"/>
            <p:cNvSpPr>
              <a:spLocks noChangeShapeType="1"/>
            </p:cNvSpPr>
            <p:nvPr/>
          </p:nvSpPr>
          <p:spPr bwMode="auto">
            <a:xfrm>
              <a:off x="430463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5" name="Rectangle 30"/>
            <p:cNvSpPr>
              <a:spLocks noChangeArrowheads="1"/>
            </p:cNvSpPr>
            <p:nvPr/>
          </p:nvSpPr>
          <p:spPr bwMode="auto">
            <a:xfrm>
              <a:off x="4236368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46" name="Line 31"/>
            <p:cNvSpPr>
              <a:spLocks noChangeShapeType="1"/>
            </p:cNvSpPr>
            <p:nvPr/>
          </p:nvSpPr>
          <p:spPr bwMode="auto">
            <a:xfrm>
              <a:off x="4858668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7" name="Rectangle 32"/>
            <p:cNvSpPr>
              <a:spLocks noChangeArrowheads="1"/>
            </p:cNvSpPr>
            <p:nvPr/>
          </p:nvSpPr>
          <p:spPr bwMode="auto">
            <a:xfrm>
              <a:off x="4790405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48" name="Line 33"/>
            <p:cNvSpPr>
              <a:spLocks noChangeShapeType="1"/>
            </p:cNvSpPr>
            <p:nvPr/>
          </p:nvSpPr>
          <p:spPr bwMode="auto">
            <a:xfrm>
              <a:off x="5411118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9" name="Rectangle 34"/>
            <p:cNvSpPr>
              <a:spLocks noChangeArrowheads="1"/>
            </p:cNvSpPr>
            <p:nvPr/>
          </p:nvSpPr>
          <p:spPr bwMode="auto">
            <a:xfrm>
              <a:off x="5342855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50" name="Line 35"/>
            <p:cNvSpPr>
              <a:spLocks noChangeShapeType="1"/>
            </p:cNvSpPr>
            <p:nvPr/>
          </p:nvSpPr>
          <p:spPr bwMode="auto">
            <a:xfrm>
              <a:off x="561908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1" name="Rectangle 36"/>
            <p:cNvSpPr>
              <a:spLocks noChangeArrowheads="1"/>
            </p:cNvSpPr>
            <p:nvPr/>
          </p:nvSpPr>
          <p:spPr bwMode="auto">
            <a:xfrm>
              <a:off x="5550818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52" name="Line 37"/>
            <p:cNvSpPr>
              <a:spLocks noChangeShapeType="1"/>
            </p:cNvSpPr>
            <p:nvPr/>
          </p:nvSpPr>
          <p:spPr bwMode="auto">
            <a:xfrm>
              <a:off x="617153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3" name="Rectangle 38"/>
            <p:cNvSpPr>
              <a:spLocks noChangeArrowheads="1"/>
            </p:cNvSpPr>
            <p:nvPr/>
          </p:nvSpPr>
          <p:spPr bwMode="auto">
            <a:xfrm>
              <a:off x="6103268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54" name="Line 39"/>
            <p:cNvSpPr>
              <a:spLocks noChangeShapeType="1"/>
            </p:cNvSpPr>
            <p:nvPr/>
          </p:nvSpPr>
          <p:spPr bwMode="auto">
            <a:xfrm>
              <a:off x="2483768" y="2551708"/>
              <a:ext cx="0" cy="1381125"/>
            </a:xfrm>
            <a:prstGeom prst="line">
              <a:avLst/>
            </a:prstGeom>
            <a:noFill/>
            <a:ln w="19050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55" name="Rectangle 40"/>
          <p:cNvSpPr>
            <a:spLocks noChangeArrowheads="1"/>
          </p:cNvSpPr>
          <p:nvPr/>
        </p:nvSpPr>
        <p:spPr bwMode="auto">
          <a:xfrm>
            <a:off x="2694096" y="2024916"/>
            <a:ext cx="26818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t*: Se = 1, </a:t>
            </a:r>
            <a:r>
              <a:rPr lang="en-US" altLang="en-US" sz="2400" dirty="0" err="1">
                <a:solidFill>
                  <a:srgbClr val="000000"/>
                </a:solidFill>
                <a:cs typeface="Arial" panose="020B0604020202020204" pitchFamily="34" charset="0"/>
              </a:rPr>
              <a:t>Sp</a:t>
            </a:r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 = 2/5 </a:t>
            </a:r>
            <a:endParaRPr lang="en-US" altLang="en-US" sz="2400" dirty="0">
              <a:cs typeface="Arial" panose="020B0604020202020204" pitchFamily="34" charset="0"/>
            </a:endParaRPr>
          </a:p>
        </p:txBody>
      </p:sp>
      <p:sp>
        <p:nvSpPr>
          <p:cNvPr id="58" name="Rectangle 43"/>
          <p:cNvSpPr>
            <a:spLocks noChangeArrowheads="1"/>
          </p:cNvSpPr>
          <p:nvPr/>
        </p:nvSpPr>
        <p:spPr bwMode="auto">
          <a:xfrm>
            <a:off x="3805796" y="4859868"/>
            <a:ext cx="473847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Perfect tests are often not possible</a:t>
            </a:r>
            <a:endParaRPr lang="en-US" altLang="en-US" sz="24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70185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Disease Risk Predictor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  <p:sp>
        <p:nvSpPr>
          <p:cNvPr id="9" name="AutoShape 3"/>
          <p:cNvSpPr>
            <a:spLocks noChangeAspect="1" noChangeArrowheads="1" noTextEdit="1"/>
          </p:cNvSpPr>
          <p:nvPr/>
        </p:nvSpPr>
        <p:spPr bwMode="auto">
          <a:xfrm>
            <a:off x="3071144" y="1700809"/>
            <a:ext cx="5545137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4738916" y="3997187"/>
            <a:ext cx="301730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Predictor of Liability, T</a:t>
            </a:r>
            <a:endParaRPr lang="en-US" altLang="en-US" sz="2400" dirty="0">
              <a:cs typeface="Arial" panose="020B0604020202020204" pitchFamily="34" charset="0"/>
            </a:endParaRPr>
          </a:p>
        </p:txBody>
      </p:sp>
      <p:grpSp>
        <p:nvGrpSpPr>
          <p:cNvPr id="59" name="Group 58"/>
          <p:cNvGrpSpPr/>
          <p:nvPr/>
        </p:nvGrpSpPr>
        <p:grpSpPr>
          <a:xfrm>
            <a:off x="3114006" y="2551709"/>
            <a:ext cx="5254625" cy="1381125"/>
            <a:chOff x="1590005" y="2551708"/>
            <a:chExt cx="5254625" cy="1381125"/>
          </a:xfrm>
        </p:grpSpPr>
        <p:sp>
          <p:nvSpPr>
            <p:cNvPr id="10" name="Freeform 5"/>
            <p:cNvSpPr>
              <a:spLocks noEditPoints="1"/>
            </p:cNvSpPr>
            <p:nvPr/>
          </p:nvSpPr>
          <p:spPr bwMode="auto">
            <a:xfrm>
              <a:off x="1590005" y="3251796"/>
              <a:ext cx="5254625" cy="257175"/>
            </a:xfrm>
            <a:custGeom>
              <a:avLst/>
              <a:gdLst>
                <a:gd name="T0" fmla="*/ 0 w 28729"/>
                <a:gd name="T1" fmla="*/ 553 h 1411"/>
                <a:gd name="T2" fmla="*/ 28427 w 28729"/>
                <a:gd name="T3" fmla="*/ 553 h 1411"/>
                <a:gd name="T4" fmla="*/ 28427 w 28729"/>
                <a:gd name="T5" fmla="*/ 857 h 1411"/>
                <a:gd name="T6" fmla="*/ 0 w 28729"/>
                <a:gd name="T7" fmla="*/ 857 h 1411"/>
                <a:gd name="T8" fmla="*/ 0 w 28729"/>
                <a:gd name="T9" fmla="*/ 553 h 1411"/>
                <a:gd name="T10" fmla="*/ 27592 w 28729"/>
                <a:gd name="T11" fmla="*/ 42 h 1411"/>
                <a:gd name="T12" fmla="*/ 28729 w 28729"/>
                <a:gd name="T13" fmla="*/ 705 h 1411"/>
                <a:gd name="T14" fmla="*/ 27592 w 28729"/>
                <a:gd name="T15" fmla="*/ 1369 h 1411"/>
                <a:gd name="T16" fmla="*/ 27384 w 28729"/>
                <a:gd name="T17" fmla="*/ 1314 h 1411"/>
                <a:gd name="T18" fmla="*/ 27439 w 28729"/>
                <a:gd name="T19" fmla="*/ 1106 h 1411"/>
                <a:gd name="T20" fmla="*/ 28351 w 28729"/>
                <a:gd name="T21" fmla="*/ 574 h 1411"/>
                <a:gd name="T22" fmla="*/ 28351 w 28729"/>
                <a:gd name="T23" fmla="*/ 837 h 1411"/>
                <a:gd name="T24" fmla="*/ 27439 w 28729"/>
                <a:gd name="T25" fmla="*/ 305 h 1411"/>
                <a:gd name="T26" fmla="*/ 27384 w 28729"/>
                <a:gd name="T27" fmla="*/ 97 h 1411"/>
                <a:gd name="T28" fmla="*/ 27592 w 28729"/>
                <a:gd name="T29" fmla="*/ 42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729" h="1411">
                  <a:moveTo>
                    <a:pt x="0" y="553"/>
                  </a:moveTo>
                  <a:lnTo>
                    <a:pt x="28427" y="553"/>
                  </a:lnTo>
                  <a:lnTo>
                    <a:pt x="28427" y="857"/>
                  </a:lnTo>
                  <a:lnTo>
                    <a:pt x="0" y="857"/>
                  </a:lnTo>
                  <a:lnTo>
                    <a:pt x="0" y="553"/>
                  </a:lnTo>
                  <a:close/>
                  <a:moveTo>
                    <a:pt x="27592" y="42"/>
                  </a:moveTo>
                  <a:lnTo>
                    <a:pt x="28729" y="705"/>
                  </a:lnTo>
                  <a:lnTo>
                    <a:pt x="27592" y="1369"/>
                  </a:lnTo>
                  <a:cubicBezTo>
                    <a:pt x="27519" y="1411"/>
                    <a:pt x="27426" y="1387"/>
                    <a:pt x="27384" y="1314"/>
                  </a:cubicBezTo>
                  <a:cubicBezTo>
                    <a:pt x="27342" y="1242"/>
                    <a:pt x="27366" y="1148"/>
                    <a:pt x="27439" y="1106"/>
                  </a:cubicBezTo>
                  <a:lnTo>
                    <a:pt x="28351" y="574"/>
                  </a:lnTo>
                  <a:lnTo>
                    <a:pt x="28351" y="837"/>
                  </a:lnTo>
                  <a:lnTo>
                    <a:pt x="27439" y="305"/>
                  </a:lnTo>
                  <a:cubicBezTo>
                    <a:pt x="27366" y="262"/>
                    <a:pt x="27342" y="169"/>
                    <a:pt x="27384" y="97"/>
                  </a:cubicBezTo>
                  <a:cubicBezTo>
                    <a:pt x="27426" y="24"/>
                    <a:pt x="27519" y="0"/>
                    <a:pt x="27592" y="42"/>
                  </a:cubicBezTo>
                  <a:close/>
                </a:path>
              </a:pathLst>
            </a:custGeom>
            <a:solidFill>
              <a:srgbClr val="4A7EBB"/>
            </a:solidFill>
            <a:ln w="0" cap="flat">
              <a:solidFill>
                <a:srgbClr val="4A7EB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1747168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1678905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16" name="Line 9"/>
            <p:cNvSpPr>
              <a:spLocks noChangeShapeType="1"/>
            </p:cNvSpPr>
            <p:nvPr/>
          </p:nvSpPr>
          <p:spPr bwMode="auto">
            <a:xfrm>
              <a:off x="1893218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1824955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20" name="Line 11"/>
            <p:cNvSpPr>
              <a:spLocks noChangeShapeType="1"/>
            </p:cNvSpPr>
            <p:nvPr/>
          </p:nvSpPr>
          <p:spPr bwMode="auto">
            <a:xfrm>
              <a:off x="2161505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Rectangle 12"/>
            <p:cNvSpPr>
              <a:spLocks noChangeArrowheads="1"/>
            </p:cNvSpPr>
            <p:nvPr/>
          </p:nvSpPr>
          <p:spPr bwMode="auto">
            <a:xfrm>
              <a:off x="2094830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26" name="Line 13"/>
            <p:cNvSpPr>
              <a:spLocks noChangeShapeType="1"/>
            </p:cNvSpPr>
            <p:nvPr/>
          </p:nvSpPr>
          <p:spPr bwMode="auto">
            <a:xfrm>
              <a:off x="2369468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7" name="Rectangle 14"/>
            <p:cNvSpPr>
              <a:spLocks noChangeArrowheads="1"/>
            </p:cNvSpPr>
            <p:nvPr/>
          </p:nvSpPr>
          <p:spPr bwMode="auto">
            <a:xfrm>
              <a:off x="2301205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28" name="Line 15"/>
            <p:cNvSpPr>
              <a:spLocks noChangeShapeType="1"/>
            </p:cNvSpPr>
            <p:nvPr/>
          </p:nvSpPr>
          <p:spPr bwMode="auto">
            <a:xfrm>
              <a:off x="257743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9" name="Rectangle 16"/>
            <p:cNvSpPr>
              <a:spLocks noChangeArrowheads="1"/>
            </p:cNvSpPr>
            <p:nvPr/>
          </p:nvSpPr>
          <p:spPr bwMode="auto">
            <a:xfrm>
              <a:off x="2509168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31" name="Line 17"/>
            <p:cNvSpPr>
              <a:spLocks noChangeShapeType="1"/>
            </p:cNvSpPr>
            <p:nvPr/>
          </p:nvSpPr>
          <p:spPr bwMode="auto">
            <a:xfrm>
              <a:off x="6377905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2" name="Rectangle 18"/>
            <p:cNvSpPr>
              <a:spLocks noChangeArrowheads="1"/>
            </p:cNvSpPr>
            <p:nvPr/>
          </p:nvSpPr>
          <p:spPr bwMode="auto">
            <a:xfrm>
              <a:off x="6311230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33" name="Line 19"/>
            <p:cNvSpPr>
              <a:spLocks noChangeShapeType="1"/>
            </p:cNvSpPr>
            <p:nvPr/>
          </p:nvSpPr>
          <p:spPr bwMode="auto">
            <a:xfrm>
              <a:off x="306003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Rectangle 20"/>
            <p:cNvSpPr>
              <a:spLocks noChangeArrowheads="1"/>
            </p:cNvSpPr>
            <p:nvPr/>
          </p:nvSpPr>
          <p:spPr bwMode="auto">
            <a:xfrm>
              <a:off x="2993355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35" name="Line 21"/>
            <p:cNvSpPr>
              <a:spLocks noChangeShapeType="1"/>
            </p:cNvSpPr>
            <p:nvPr/>
          </p:nvSpPr>
          <p:spPr bwMode="auto">
            <a:xfrm>
              <a:off x="3336255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7" name="Rectangle 22"/>
            <p:cNvSpPr>
              <a:spLocks noChangeArrowheads="1"/>
            </p:cNvSpPr>
            <p:nvPr/>
          </p:nvSpPr>
          <p:spPr bwMode="auto">
            <a:xfrm>
              <a:off x="3269580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38" name="Line 23"/>
            <p:cNvSpPr>
              <a:spLocks noChangeShapeType="1"/>
            </p:cNvSpPr>
            <p:nvPr/>
          </p:nvSpPr>
          <p:spPr bwMode="auto">
            <a:xfrm>
              <a:off x="506663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9" name="Rectangle 24"/>
            <p:cNvSpPr>
              <a:spLocks noChangeArrowheads="1"/>
            </p:cNvSpPr>
            <p:nvPr/>
          </p:nvSpPr>
          <p:spPr bwMode="auto">
            <a:xfrm>
              <a:off x="4996780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40" name="Line 25"/>
            <p:cNvSpPr>
              <a:spLocks noChangeShapeType="1"/>
            </p:cNvSpPr>
            <p:nvPr/>
          </p:nvSpPr>
          <p:spPr bwMode="auto">
            <a:xfrm>
              <a:off x="375218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1" name="Rectangle 26"/>
            <p:cNvSpPr>
              <a:spLocks noChangeArrowheads="1"/>
            </p:cNvSpPr>
            <p:nvPr/>
          </p:nvSpPr>
          <p:spPr bwMode="auto">
            <a:xfrm>
              <a:off x="3683918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42" name="Line 27"/>
            <p:cNvSpPr>
              <a:spLocks noChangeShapeType="1"/>
            </p:cNvSpPr>
            <p:nvPr/>
          </p:nvSpPr>
          <p:spPr bwMode="auto">
            <a:xfrm>
              <a:off x="4028405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3" name="Rectangle 28"/>
            <p:cNvSpPr>
              <a:spLocks noChangeArrowheads="1"/>
            </p:cNvSpPr>
            <p:nvPr/>
          </p:nvSpPr>
          <p:spPr bwMode="auto">
            <a:xfrm>
              <a:off x="3960143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44" name="Line 29"/>
            <p:cNvSpPr>
              <a:spLocks noChangeShapeType="1"/>
            </p:cNvSpPr>
            <p:nvPr/>
          </p:nvSpPr>
          <p:spPr bwMode="auto">
            <a:xfrm>
              <a:off x="430463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5" name="Rectangle 30"/>
            <p:cNvSpPr>
              <a:spLocks noChangeArrowheads="1"/>
            </p:cNvSpPr>
            <p:nvPr/>
          </p:nvSpPr>
          <p:spPr bwMode="auto">
            <a:xfrm>
              <a:off x="4236368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46" name="Line 31"/>
            <p:cNvSpPr>
              <a:spLocks noChangeShapeType="1"/>
            </p:cNvSpPr>
            <p:nvPr/>
          </p:nvSpPr>
          <p:spPr bwMode="auto">
            <a:xfrm>
              <a:off x="4858668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7" name="Rectangle 32"/>
            <p:cNvSpPr>
              <a:spLocks noChangeArrowheads="1"/>
            </p:cNvSpPr>
            <p:nvPr/>
          </p:nvSpPr>
          <p:spPr bwMode="auto">
            <a:xfrm>
              <a:off x="4790405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48" name="Line 33"/>
            <p:cNvSpPr>
              <a:spLocks noChangeShapeType="1"/>
            </p:cNvSpPr>
            <p:nvPr/>
          </p:nvSpPr>
          <p:spPr bwMode="auto">
            <a:xfrm>
              <a:off x="5411118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9" name="Rectangle 34"/>
            <p:cNvSpPr>
              <a:spLocks noChangeArrowheads="1"/>
            </p:cNvSpPr>
            <p:nvPr/>
          </p:nvSpPr>
          <p:spPr bwMode="auto">
            <a:xfrm>
              <a:off x="5342855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50" name="Line 35"/>
            <p:cNvSpPr>
              <a:spLocks noChangeShapeType="1"/>
            </p:cNvSpPr>
            <p:nvPr/>
          </p:nvSpPr>
          <p:spPr bwMode="auto">
            <a:xfrm>
              <a:off x="561908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1" name="Rectangle 36"/>
            <p:cNvSpPr>
              <a:spLocks noChangeArrowheads="1"/>
            </p:cNvSpPr>
            <p:nvPr/>
          </p:nvSpPr>
          <p:spPr bwMode="auto">
            <a:xfrm>
              <a:off x="5550818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52" name="Line 37"/>
            <p:cNvSpPr>
              <a:spLocks noChangeShapeType="1"/>
            </p:cNvSpPr>
            <p:nvPr/>
          </p:nvSpPr>
          <p:spPr bwMode="auto">
            <a:xfrm>
              <a:off x="617153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3" name="Rectangle 38"/>
            <p:cNvSpPr>
              <a:spLocks noChangeArrowheads="1"/>
            </p:cNvSpPr>
            <p:nvPr/>
          </p:nvSpPr>
          <p:spPr bwMode="auto">
            <a:xfrm>
              <a:off x="6103268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54" name="Line 39"/>
            <p:cNvSpPr>
              <a:spLocks noChangeShapeType="1"/>
            </p:cNvSpPr>
            <p:nvPr/>
          </p:nvSpPr>
          <p:spPr bwMode="auto">
            <a:xfrm>
              <a:off x="4684043" y="2551708"/>
              <a:ext cx="0" cy="1381125"/>
            </a:xfrm>
            <a:prstGeom prst="line">
              <a:avLst/>
            </a:prstGeom>
            <a:noFill/>
            <a:ln w="19050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55" name="Rectangle 40"/>
          <p:cNvSpPr>
            <a:spLocks noChangeArrowheads="1"/>
          </p:cNvSpPr>
          <p:nvPr/>
        </p:nvSpPr>
        <p:spPr bwMode="auto">
          <a:xfrm>
            <a:off x="4728920" y="2024916"/>
            <a:ext cx="30232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t*: Se = 2/3, </a:t>
            </a:r>
            <a:r>
              <a:rPr lang="en-US" altLang="en-US" sz="2400" dirty="0" err="1">
                <a:solidFill>
                  <a:srgbClr val="000000"/>
                </a:solidFill>
                <a:cs typeface="Arial" panose="020B0604020202020204" pitchFamily="34" charset="0"/>
              </a:rPr>
              <a:t>Sp</a:t>
            </a:r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 = 4/5 </a:t>
            </a:r>
            <a:endParaRPr lang="en-US" altLang="en-US" sz="2400" dirty="0">
              <a:cs typeface="Arial" panose="020B0604020202020204" pitchFamily="34" charset="0"/>
            </a:endParaRPr>
          </a:p>
        </p:txBody>
      </p:sp>
      <p:sp>
        <p:nvSpPr>
          <p:cNvPr id="58" name="Rectangle 43"/>
          <p:cNvSpPr>
            <a:spLocks noChangeArrowheads="1"/>
          </p:cNvSpPr>
          <p:nvPr/>
        </p:nvSpPr>
        <p:spPr bwMode="auto">
          <a:xfrm>
            <a:off x="3805796" y="4859868"/>
            <a:ext cx="473847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Perfect tests are often not possible</a:t>
            </a:r>
            <a:endParaRPr lang="en-US" altLang="en-US" sz="24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02510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Disease Risk Predictor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  <p:sp>
        <p:nvSpPr>
          <p:cNvPr id="9" name="AutoShape 3"/>
          <p:cNvSpPr>
            <a:spLocks noChangeAspect="1" noChangeArrowheads="1" noTextEdit="1"/>
          </p:cNvSpPr>
          <p:nvPr/>
        </p:nvSpPr>
        <p:spPr bwMode="auto">
          <a:xfrm>
            <a:off x="3071144" y="1700809"/>
            <a:ext cx="5545137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4738916" y="3997187"/>
            <a:ext cx="301730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Predictor of Liability, T</a:t>
            </a:r>
            <a:endParaRPr lang="en-US" altLang="en-US" sz="2400" dirty="0">
              <a:cs typeface="Arial" panose="020B060402020202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3114006" y="2551709"/>
            <a:ext cx="5254625" cy="1381125"/>
            <a:chOff x="1590005" y="2551708"/>
            <a:chExt cx="5254625" cy="1381125"/>
          </a:xfrm>
        </p:grpSpPr>
        <p:sp>
          <p:nvSpPr>
            <p:cNvPr id="10" name="Freeform 5"/>
            <p:cNvSpPr>
              <a:spLocks noEditPoints="1"/>
            </p:cNvSpPr>
            <p:nvPr/>
          </p:nvSpPr>
          <p:spPr bwMode="auto">
            <a:xfrm>
              <a:off x="1590005" y="3251796"/>
              <a:ext cx="5254625" cy="257175"/>
            </a:xfrm>
            <a:custGeom>
              <a:avLst/>
              <a:gdLst>
                <a:gd name="T0" fmla="*/ 0 w 28729"/>
                <a:gd name="T1" fmla="*/ 553 h 1411"/>
                <a:gd name="T2" fmla="*/ 28427 w 28729"/>
                <a:gd name="T3" fmla="*/ 553 h 1411"/>
                <a:gd name="T4" fmla="*/ 28427 w 28729"/>
                <a:gd name="T5" fmla="*/ 857 h 1411"/>
                <a:gd name="T6" fmla="*/ 0 w 28729"/>
                <a:gd name="T7" fmla="*/ 857 h 1411"/>
                <a:gd name="T8" fmla="*/ 0 w 28729"/>
                <a:gd name="T9" fmla="*/ 553 h 1411"/>
                <a:gd name="T10" fmla="*/ 27592 w 28729"/>
                <a:gd name="T11" fmla="*/ 42 h 1411"/>
                <a:gd name="T12" fmla="*/ 28729 w 28729"/>
                <a:gd name="T13" fmla="*/ 705 h 1411"/>
                <a:gd name="T14" fmla="*/ 27592 w 28729"/>
                <a:gd name="T15" fmla="*/ 1369 h 1411"/>
                <a:gd name="T16" fmla="*/ 27384 w 28729"/>
                <a:gd name="T17" fmla="*/ 1314 h 1411"/>
                <a:gd name="T18" fmla="*/ 27439 w 28729"/>
                <a:gd name="T19" fmla="*/ 1106 h 1411"/>
                <a:gd name="T20" fmla="*/ 28351 w 28729"/>
                <a:gd name="T21" fmla="*/ 574 h 1411"/>
                <a:gd name="T22" fmla="*/ 28351 w 28729"/>
                <a:gd name="T23" fmla="*/ 837 h 1411"/>
                <a:gd name="T24" fmla="*/ 27439 w 28729"/>
                <a:gd name="T25" fmla="*/ 305 h 1411"/>
                <a:gd name="T26" fmla="*/ 27384 w 28729"/>
                <a:gd name="T27" fmla="*/ 97 h 1411"/>
                <a:gd name="T28" fmla="*/ 27592 w 28729"/>
                <a:gd name="T29" fmla="*/ 42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729" h="1411">
                  <a:moveTo>
                    <a:pt x="0" y="553"/>
                  </a:moveTo>
                  <a:lnTo>
                    <a:pt x="28427" y="553"/>
                  </a:lnTo>
                  <a:lnTo>
                    <a:pt x="28427" y="857"/>
                  </a:lnTo>
                  <a:lnTo>
                    <a:pt x="0" y="857"/>
                  </a:lnTo>
                  <a:lnTo>
                    <a:pt x="0" y="553"/>
                  </a:lnTo>
                  <a:close/>
                  <a:moveTo>
                    <a:pt x="27592" y="42"/>
                  </a:moveTo>
                  <a:lnTo>
                    <a:pt x="28729" y="705"/>
                  </a:lnTo>
                  <a:lnTo>
                    <a:pt x="27592" y="1369"/>
                  </a:lnTo>
                  <a:cubicBezTo>
                    <a:pt x="27519" y="1411"/>
                    <a:pt x="27426" y="1387"/>
                    <a:pt x="27384" y="1314"/>
                  </a:cubicBezTo>
                  <a:cubicBezTo>
                    <a:pt x="27342" y="1242"/>
                    <a:pt x="27366" y="1148"/>
                    <a:pt x="27439" y="1106"/>
                  </a:cubicBezTo>
                  <a:lnTo>
                    <a:pt x="28351" y="574"/>
                  </a:lnTo>
                  <a:lnTo>
                    <a:pt x="28351" y="837"/>
                  </a:lnTo>
                  <a:lnTo>
                    <a:pt x="27439" y="305"/>
                  </a:lnTo>
                  <a:cubicBezTo>
                    <a:pt x="27366" y="262"/>
                    <a:pt x="27342" y="169"/>
                    <a:pt x="27384" y="97"/>
                  </a:cubicBezTo>
                  <a:cubicBezTo>
                    <a:pt x="27426" y="24"/>
                    <a:pt x="27519" y="0"/>
                    <a:pt x="27592" y="42"/>
                  </a:cubicBezTo>
                  <a:close/>
                </a:path>
              </a:pathLst>
            </a:custGeom>
            <a:solidFill>
              <a:srgbClr val="4A7EBB"/>
            </a:solidFill>
            <a:ln w="0" cap="flat">
              <a:solidFill>
                <a:srgbClr val="4A7EB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1747168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1678905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16" name="Line 9"/>
            <p:cNvSpPr>
              <a:spLocks noChangeShapeType="1"/>
            </p:cNvSpPr>
            <p:nvPr/>
          </p:nvSpPr>
          <p:spPr bwMode="auto">
            <a:xfrm>
              <a:off x="1893218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1824955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20" name="Line 11"/>
            <p:cNvSpPr>
              <a:spLocks noChangeShapeType="1"/>
            </p:cNvSpPr>
            <p:nvPr/>
          </p:nvSpPr>
          <p:spPr bwMode="auto">
            <a:xfrm>
              <a:off x="2161505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Rectangle 12"/>
            <p:cNvSpPr>
              <a:spLocks noChangeArrowheads="1"/>
            </p:cNvSpPr>
            <p:nvPr/>
          </p:nvSpPr>
          <p:spPr bwMode="auto">
            <a:xfrm>
              <a:off x="2094830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26" name="Line 13"/>
            <p:cNvSpPr>
              <a:spLocks noChangeShapeType="1"/>
            </p:cNvSpPr>
            <p:nvPr/>
          </p:nvSpPr>
          <p:spPr bwMode="auto">
            <a:xfrm>
              <a:off x="2369468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7" name="Rectangle 14"/>
            <p:cNvSpPr>
              <a:spLocks noChangeArrowheads="1"/>
            </p:cNvSpPr>
            <p:nvPr/>
          </p:nvSpPr>
          <p:spPr bwMode="auto">
            <a:xfrm>
              <a:off x="2301205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28" name="Line 15"/>
            <p:cNvSpPr>
              <a:spLocks noChangeShapeType="1"/>
            </p:cNvSpPr>
            <p:nvPr/>
          </p:nvSpPr>
          <p:spPr bwMode="auto">
            <a:xfrm>
              <a:off x="257743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9" name="Rectangle 16"/>
            <p:cNvSpPr>
              <a:spLocks noChangeArrowheads="1"/>
            </p:cNvSpPr>
            <p:nvPr/>
          </p:nvSpPr>
          <p:spPr bwMode="auto">
            <a:xfrm>
              <a:off x="2509168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31" name="Line 17"/>
            <p:cNvSpPr>
              <a:spLocks noChangeShapeType="1"/>
            </p:cNvSpPr>
            <p:nvPr/>
          </p:nvSpPr>
          <p:spPr bwMode="auto">
            <a:xfrm>
              <a:off x="6377905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2" name="Rectangle 18"/>
            <p:cNvSpPr>
              <a:spLocks noChangeArrowheads="1"/>
            </p:cNvSpPr>
            <p:nvPr/>
          </p:nvSpPr>
          <p:spPr bwMode="auto">
            <a:xfrm>
              <a:off x="6311230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33" name="Line 19"/>
            <p:cNvSpPr>
              <a:spLocks noChangeShapeType="1"/>
            </p:cNvSpPr>
            <p:nvPr/>
          </p:nvSpPr>
          <p:spPr bwMode="auto">
            <a:xfrm>
              <a:off x="306003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Rectangle 20"/>
            <p:cNvSpPr>
              <a:spLocks noChangeArrowheads="1"/>
            </p:cNvSpPr>
            <p:nvPr/>
          </p:nvSpPr>
          <p:spPr bwMode="auto">
            <a:xfrm>
              <a:off x="2993355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35" name="Line 21"/>
            <p:cNvSpPr>
              <a:spLocks noChangeShapeType="1"/>
            </p:cNvSpPr>
            <p:nvPr/>
          </p:nvSpPr>
          <p:spPr bwMode="auto">
            <a:xfrm>
              <a:off x="3336255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7" name="Rectangle 22"/>
            <p:cNvSpPr>
              <a:spLocks noChangeArrowheads="1"/>
            </p:cNvSpPr>
            <p:nvPr/>
          </p:nvSpPr>
          <p:spPr bwMode="auto">
            <a:xfrm>
              <a:off x="3269580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38" name="Line 23"/>
            <p:cNvSpPr>
              <a:spLocks noChangeShapeType="1"/>
            </p:cNvSpPr>
            <p:nvPr/>
          </p:nvSpPr>
          <p:spPr bwMode="auto">
            <a:xfrm>
              <a:off x="506663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9" name="Rectangle 24"/>
            <p:cNvSpPr>
              <a:spLocks noChangeArrowheads="1"/>
            </p:cNvSpPr>
            <p:nvPr/>
          </p:nvSpPr>
          <p:spPr bwMode="auto">
            <a:xfrm>
              <a:off x="4996780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40" name="Line 25"/>
            <p:cNvSpPr>
              <a:spLocks noChangeShapeType="1"/>
            </p:cNvSpPr>
            <p:nvPr/>
          </p:nvSpPr>
          <p:spPr bwMode="auto">
            <a:xfrm>
              <a:off x="375218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1" name="Rectangle 26"/>
            <p:cNvSpPr>
              <a:spLocks noChangeArrowheads="1"/>
            </p:cNvSpPr>
            <p:nvPr/>
          </p:nvSpPr>
          <p:spPr bwMode="auto">
            <a:xfrm>
              <a:off x="3683918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42" name="Line 27"/>
            <p:cNvSpPr>
              <a:spLocks noChangeShapeType="1"/>
            </p:cNvSpPr>
            <p:nvPr/>
          </p:nvSpPr>
          <p:spPr bwMode="auto">
            <a:xfrm>
              <a:off x="4028405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3" name="Rectangle 28"/>
            <p:cNvSpPr>
              <a:spLocks noChangeArrowheads="1"/>
            </p:cNvSpPr>
            <p:nvPr/>
          </p:nvSpPr>
          <p:spPr bwMode="auto">
            <a:xfrm>
              <a:off x="3960143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44" name="Line 29"/>
            <p:cNvSpPr>
              <a:spLocks noChangeShapeType="1"/>
            </p:cNvSpPr>
            <p:nvPr/>
          </p:nvSpPr>
          <p:spPr bwMode="auto">
            <a:xfrm>
              <a:off x="430463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5" name="Rectangle 30"/>
            <p:cNvSpPr>
              <a:spLocks noChangeArrowheads="1"/>
            </p:cNvSpPr>
            <p:nvPr/>
          </p:nvSpPr>
          <p:spPr bwMode="auto">
            <a:xfrm>
              <a:off x="4236368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46" name="Line 31"/>
            <p:cNvSpPr>
              <a:spLocks noChangeShapeType="1"/>
            </p:cNvSpPr>
            <p:nvPr/>
          </p:nvSpPr>
          <p:spPr bwMode="auto">
            <a:xfrm>
              <a:off x="4858668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7" name="Rectangle 32"/>
            <p:cNvSpPr>
              <a:spLocks noChangeArrowheads="1"/>
            </p:cNvSpPr>
            <p:nvPr/>
          </p:nvSpPr>
          <p:spPr bwMode="auto">
            <a:xfrm>
              <a:off x="4790405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48" name="Line 33"/>
            <p:cNvSpPr>
              <a:spLocks noChangeShapeType="1"/>
            </p:cNvSpPr>
            <p:nvPr/>
          </p:nvSpPr>
          <p:spPr bwMode="auto">
            <a:xfrm>
              <a:off x="5411118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9" name="Rectangle 34"/>
            <p:cNvSpPr>
              <a:spLocks noChangeArrowheads="1"/>
            </p:cNvSpPr>
            <p:nvPr/>
          </p:nvSpPr>
          <p:spPr bwMode="auto">
            <a:xfrm>
              <a:off x="5342855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50" name="Line 35"/>
            <p:cNvSpPr>
              <a:spLocks noChangeShapeType="1"/>
            </p:cNvSpPr>
            <p:nvPr/>
          </p:nvSpPr>
          <p:spPr bwMode="auto">
            <a:xfrm>
              <a:off x="561908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1" name="Rectangle 36"/>
            <p:cNvSpPr>
              <a:spLocks noChangeArrowheads="1"/>
            </p:cNvSpPr>
            <p:nvPr/>
          </p:nvSpPr>
          <p:spPr bwMode="auto">
            <a:xfrm>
              <a:off x="5550818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52" name="Line 37"/>
            <p:cNvSpPr>
              <a:spLocks noChangeShapeType="1"/>
            </p:cNvSpPr>
            <p:nvPr/>
          </p:nvSpPr>
          <p:spPr bwMode="auto">
            <a:xfrm>
              <a:off x="617153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3" name="Rectangle 38"/>
            <p:cNvSpPr>
              <a:spLocks noChangeArrowheads="1"/>
            </p:cNvSpPr>
            <p:nvPr/>
          </p:nvSpPr>
          <p:spPr bwMode="auto">
            <a:xfrm>
              <a:off x="6103268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54" name="Line 39"/>
            <p:cNvSpPr>
              <a:spLocks noChangeShapeType="1"/>
            </p:cNvSpPr>
            <p:nvPr/>
          </p:nvSpPr>
          <p:spPr bwMode="auto">
            <a:xfrm>
              <a:off x="5508104" y="2551708"/>
              <a:ext cx="0" cy="1381125"/>
            </a:xfrm>
            <a:prstGeom prst="line">
              <a:avLst/>
            </a:prstGeom>
            <a:noFill/>
            <a:ln w="19050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55" name="Rectangle 40"/>
          <p:cNvSpPr>
            <a:spLocks noChangeArrowheads="1"/>
          </p:cNvSpPr>
          <p:nvPr/>
        </p:nvSpPr>
        <p:spPr bwMode="auto">
          <a:xfrm>
            <a:off x="5663952" y="2024916"/>
            <a:ext cx="26818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t*: Se = 1/2, </a:t>
            </a:r>
            <a:r>
              <a:rPr lang="en-US" altLang="en-US" sz="2400" dirty="0" err="1">
                <a:solidFill>
                  <a:srgbClr val="000000"/>
                </a:solidFill>
                <a:cs typeface="Arial" panose="020B0604020202020204" pitchFamily="34" charset="0"/>
              </a:rPr>
              <a:t>Sp</a:t>
            </a:r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 = 1 </a:t>
            </a:r>
            <a:endParaRPr lang="en-US" altLang="en-US" sz="2400" dirty="0">
              <a:cs typeface="Arial" panose="020B0604020202020204" pitchFamily="34" charset="0"/>
            </a:endParaRPr>
          </a:p>
        </p:txBody>
      </p:sp>
      <p:sp>
        <p:nvSpPr>
          <p:cNvPr id="58" name="Rectangle 43"/>
          <p:cNvSpPr>
            <a:spLocks noChangeArrowheads="1"/>
          </p:cNvSpPr>
          <p:nvPr/>
        </p:nvSpPr>
        <p:spPr bwMode="auto">
          <a:xfrm>
            <a:off x="3805796" y="4859868"/>
            <a:ext cx="473847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Perfect tests are often not possible</a:t>
            </a:r>
            <a:endParaRPr lang="en-US" altLang="en-US" sz="24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09495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Disease Risk Predictor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  <p:sp>
        <p:nvSpPr>
          <p:cNvPr id="9" name="AutoShape 3"/>
          <p:cNvSpPr>
            <a:spLocks noChangeAspect="1" noChangeArrowheads="1" noTextEdit="1"/>
          </p:cNvSpPr>
          <p:nvPr/>
        </p:nvSpPr>
        <p:spPr bwMode="auto">
          <a:xfrm>
            <a:off x="3071144" y="1700809"/>
            <a:ext cx="5545137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4738916" y="3997187"/>
            <a:ext cx="301730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Predictor of Liability, T</a:t>
            </a:r>
            <a:endParaRPr lang="en-US" altLang="en-US" sz="2400" dirty="0">
              <a:cs typeface="Arial" panose="020B060402020202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3114006" y="2551709"/>
            <a:ext cx="5254625" cy="1381125"/>
            <a:chOff x="1590005" y="2551708"/>
            <a:chExt cx="5254625" cy="1381125"/>
          </a:xfrm>
        </p:grpSpPr>
        <p:sp>
          <p:nvSpPr>
            <p:cNvPr id="10" name="Freeform 5"/>
            <p:cNvSpPr>
              <a:spLocks noEditPoints="1"/>
            </p:cNvSpPr>
            <p:nvPr/>
          </p:nvSpPr>
          <p:spPr bwMode="auto">
            <a:xfrm>
              <a:off x="1590005" y="3251796"/>
              <a:ext cx="5254625" cy="257175"/>
            </a:xfrm>
            <a:custGeom>
              <a:avLst/>
              <a:gdLst>
                <a:gd name="T0" fmla="*/ 0 w 28729"/>
                <a:gd name="T1" fmla="*/ 553 h 1411"/>
                <a:gd name="T2" fmla="*/ 28427 w 28729"/>
                <a:gd name="T3" fmla="*/ 553 h 1411"/>
                <a:gd name="T4" fmla="*/ 28427 w 28729"/>
                <a:gd name="T5" fmla="*/ 857 h 1411"/>
                <a:gd name="T6" fmla="*/ 0 w 28729"/>
                <a:gd name="T7" fmla="*/ 857 h 1411"/>
                <a:gd name="T8" fmla="*/ 0 w 28729"/>
                <a:gd name="T9" fmla="*/ 553 h 1411"/>
                <a:gd name="T10" fmla="*/ 27592 w 28729"/>
                <a:gd name="T11" fmla="*/ 42 h 1411"/>
                <a:gd name="T12" fmla="*/ 28729 w 28729"/>
                <a:gd name="T13" fmla="*/ 705 h 1411"/>
                <a:gd name="T14" fmla="*/ 27592 w 28729"/>
                <a:gd name="T15" fmla="*/ 1369 h 1411"/>
                <a:gd name="T16" fmla="*/ 27384 w 28729"/>
                <a:gd name="T17" fmla="*/ 1314 h 1411"/>
                <a:gd name="T18" fmla="*/ 27439 w 28729"/>
                <a:gd name="T19" fmla="*/ 1106 h 1411"/>
                <a:gd name="T20" fmla="*/ 28351 w 28729"/>
                <a:gd name="T21" fmla="*/ 574 h 1411"/>
                <a:gd name="T22" fmla="*/ 28351 w 28729"/>
                <a:gd name="T23" fmla="*/ 837 h 1411"/>
                <a:gd name="T24" fmla="*/ 27439 w 28729"/>
                <a:gd name="T25" fmla="*/ 305 h 1411"/>
                <a:gd name="T26" fmla="*/ 27384 w 28729"/>
                <a:gd name="T27" fmla="*/ 97 h 1411"/>
                <a:gd name="T28" fmla="*/ 27592 w 28729"/>
                <a:gd name="T29" fmla="*/ 42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729" h="1411">
                  <a:moveTo>
                    <a:pt x="0" y="553"/>
                  </a:moveTo>
                  <a:lnTo>
                    <a:pt x="28427" y="553"/>
                  </a:lnTo>
                  <a:lnTo>
                    <a:pt x="28427" y="857"/>
                  </a:lnTo>
                  <a:lnTo>
                    <a:pt x="0" y="857"/>
                  </a:lnTo>
                  <a:lnTo>
                    <a:pt x="0" y="553"/>
                  </a:lnTo>
                  <a:close/>
                  <a:moveTo>
                    <a:pt x="27592" y="42"/>
                  </a:moveTo>
                  <a:lnTo>
                    <a:pt x="28729" y="705"/>
                  </a:lnTo>
                  <a:lnTo>
                    <a:pt x="27592" y="1369"/>
                  </a:lnTo>
                  <a:cubicBezTo>
                    <a:pt x="27519" y="1411"/>
                    <a:pt x="27426" y="1387"/>
                    <a:pt x="27384" y="1314"/>
                  </a:cubicBezTo>
                  <a:cubicBezTo>
                    <a:pt x="27342" y="1242"/>
                    <a:pt x="27366" y="1148"/>
                    <a:pt x="27439" y="1106"/>
                  </a:cubicBezTo>
                  <a:lnTo>
                    <a:pt x="28351" y="574"/>
                  </a:lnTo>
                  <a:lnTo>
                    <a:pt x="28351" y="837"/>
                  </a:lnTo>
                  <a:lnTo>
                    <a:pt x="27439" y="305"/>
                  </a:lnTo>
                  <a:cubicBezTo>
                    <a:pt x="27366" y="262"/>
                    <a:pt x="27342" y="169"/>
                    <a:pt x="27384" y="97"/>
                  </a:cubicBezTo>
                  <a:cubicBezTo>
                    <a:pt x="27426" y="24"/>
                    <a:pt x="27519" y="0"/>
                    <a:pt x="27592" y="42"/>
                  </a:cubicBezTo>
                  <a:close/>
                </a:path>
              </a:pathLst>
            </a:custGeom>
            <a:solidFill>
              <a:srgbClr val="4A7EBB"/>
            </a:solidFill>
            <a:ln w="0" cap="flat">
              <a:solidFill>
                <a:srgbClr val="4A7EB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1747168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1678905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16" name="Line 9"/>
            <p:cNvSpPr>
              <a:spLocks noChangeShapeType="1"/>
            </p:cNvSpPr>
            <p:nvPr/>
          </p:nvSpPr>
          <p:spPr bwMode="auto">
            <a:xfrm>
              <a:off x="1893218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1824955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20" name="Line 11"/>
            <p:cNvSpPr>
              <a:spLocks noChangeShapeType="1"/>
            </p:cNvSpPr>
            <p:nvPr/>
          </p:nvSpPr>
          <p:spPr bwMode="auto">
            <a:xfrm>
              <a:off x="2161505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Rectangle 12"/>
            <p:cNvSpPr>
              <a:spLocks noChangeArrowheads="1"/>
            </p:cNvSpPr>
            <p:nvPr/>
          </p:nvSpPr>
          <p:spPr bwMode="auto">
            <a:xfrm>
              <a:off x="2094830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26" name="Line 13"/>
            <p:cNvSpPr>
              <a:spLocks noChangeShapeType="1"/>
            </p:cNvSpPr>
            <p:nvPr/>
          </p:nvSpPr>
          <p:spPr bwMode="auto">
            <a:xfrm>
              <a:off x="2369468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7" name="Rectangle 14"/>
            <p:cNvSpPr>
              <a:spLocks noChangeArrowheads="1"/>
            </p:cNvSpPr>
            <p:nvPr/>
          </p:nvSpPr>
          <p:spPr bwMode="auto">
            <a:xfrm>
              <a:off x="2301205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28" name="Line 15"/>
            <p:cNvSpPr>
              <a:spLocks noChangeShapeType="1"/>
            </p:cNvSpPr>
            <p:nvPr/>
          </p:nvSpPr>
          <p:spPr bwMode="auto">
            <a:xfrm>
              <a:off x="257743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9" name="Rectangle 16"/>
            <p:cNvSpPr>
              <a:spLocks noChangeArrowheads="1"/>
            </p:cNvSpPr>
            <p:nvPr/>
          </p:nvSpPr>
          <p:spPr bwMode="auto">
            <a:xfrm>
              <a:off x="2509168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31" name="Line 17"/>
            <p:cNvSpPr>
              <a:spLocks noChangeShapeType="1"/>
            </p:cNvSpPr>
            <p:nvPr/>
          </p:nvSpPr>
          <p:spPr bwMode="auto">
            <a:xfrm>
              <a:off x="6377905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2" name="Rectangle 18"/>
            <p:cNvSpPr>
              <a:spLocks noChangeArrowheads="1"/>
            </p:cNvSpPr>
            <p:nvPr/>
          </p:nvSpPr>
          <p:spPr bwMode="auto">
            <a:xfrm>
              <a:off x="6311230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33" name="Line 19"/>
            <p:cNvSpPr>
              <a:spLocks noChangeShapeType="1"/>
            </p:cNvSpPr>
            <p:nvPr/>
          </p:nvSpPr>
          <p:spPr bwMode="auto">
            <a:xfrm>
              <a:off x="306003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Rectangle 20"/>
            <p:cNvSpPr>
              <a:spLocks noChangeArrowheads="1"/>
            </p:cNvSpPr>
            <p:nvPr/>
          </p:nvSpPr>
          <p:spPr bwMode="auto">
            <a:xfrm>
              <a:off x="2993355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35" name="Line 21"/>
            <p:cNvSpPr>
              <a:spLocks noChangeShapeType="1"/>
            </p:cNvSpPr>
            <p:nvPr/>
          </p:nvSpPr>
          <p:spPr bwMode="auto">
            <a:xfrm>
              <a:off x="3336255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7" name="Rectangle 22"/>
            <p:cNvSpPr>
              <a:spLocks noChangeArrowheads="1"/>
            </p:cNvSpPr>
            <p:nvPr/>
          </p:nvSpPr>
          <p:spPr bwMode="auto">
            <a:xfrm>
              <a:off x="3269580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38" name="Line 23"/>
            <p:cNvSpPr>
              <a:spLocks noChangeShapeType="1"/>
            </p:cNvSpPr>
            <p:nvPr/>
          </p:nvSpPr>
          <p:spPr bwMode="auto">
            <a:xfrm>
              <a:off x="506663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9" name="Rectangle 24"/>
            <p:cNvSpPr>
              <a:spLocks noChangeArrowheads="1"/>
            </p:cNvSpPr>
            <p:nvPr/>
          </p:nvSpPr>
          <p:spPr bwMode="auto">
            <a:xfrm>
              <a:off x="4996780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40" name="Line 25"/>
            <p:cNvSpPr>
              <a:spLocks noChangeShapeType="1"/>
            </p:cNvSpPr>
            <p:nvPr/>
          </p:nvSpPr>
          <p:spPr bwMode="auto">
            <a:xfrm>
              <a:off x="375218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1" name="Rectangle 26"/>
            <p:cNvSpPr>
              <a:spLocks noChangeArrowheads="1"/>
            </p:cNvSpPr>
            <p:nvPr/>
          </p:nvSpPr>
          <p:spPr bwMode="auto">
            <a:xfrm>
              <a:off x="3683918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42" name="Line 27"/>
            <p:cNvSpPr>
              <a:spLocks noChangeShapeType="1"/>
            </p:cNvSpPr>
            <p:nvPr/>
          </p:nvSpPr>
          <p:spPr bwMode="auto">
            <a:xfrm>
              <a:off x="4028405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3" name="Rectangle 28"/>
            <p:cNvSpPr>
              <a:spLocks noChangeArrowheads="1"/>
            </p:cNvSpPr>
            <p:nvPr/>
          </p:nvSpPr>
          <p:spPr bwMode="auto">
            <a:xfrm>
              <a:off x="3960143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44" name="Line 29"/>
            <p:cNvSpPr>
              <a:spLocks noChangeShapeType="1"/>
            </p:cNvSpPr>
            <p:nvPr/>
          </p:nvSpPr>
          <p:spPr bwMode="auto">
            <a:xfrm>
              <a:off x="430463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5" name="Rectangle 30"/>
            <p:cNvSpPr>
              <a:spLocks noChangeArrowheads="1"/>
            </p:cNvSpPr>
            <p:nvPr/>
          </p:nvSpPr>
          <p:spPr bwMode="auto">
            <a:xfrm>
              <a:off x="4236368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46" name="Line 31"/>
            <p:cNvSpPr>
              <a:spLocks noChangeShapeType="1"/>
            </p:cNvSpPr>
            <p:nvPr/>
          </p:nvSpPr>
          <p:spPr bwMode="auto">
            <a:xfrm>
              <a:off x="4858668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7" name="Rectangle 32"/>
            <p:cNvSpPr>
              <a:spLocks noChangeArrowheads="1"/>
            </p:cNvSpPr>
            <p:nvPr/>
          </p:nvSpPr>
          <p:spPr bwMode="auto">
            <a:xfrm>
              <a:off x="4790405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48" name="Line 33"/>
            <p:cNvSpPr>
              <a:spLocks noChangeShapeType="1"/>
            </p:cNvSpPr>
            <p:nvPr/>
          </p:nvSpPr>
          <p:spPr bwMode="auto">
            <a:xfrm>
              <a:off x="5411118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9" name="Rectangle 34"/>
            <p:cNvSpPr>
              <a:spLocks noChangeArrowheads="1"/>
            </p:cNvSpPr>
            <p:nvPr/>
          </p:nvSpPr>
          <p:spPr bwMode="auto">
            <a:xfrm>
              <a:off x="5342855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50" name="Line 35"/>
            <p:cNvSpPr>
              <a:spLocks noChangeShapeType="1"/>
            </p:cNvSpPr>
            <p:nvPr/>
          </p:nvSpPr>
          <p:spPr bwMode="auto">
            <a:xfrm>
              <a:off x="561908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1" name="Rectangle 36"/>
            <p:cNvSpPr>
              <a:spLocks noChangeArrowheads="1"/>
            </p:cNvSpPr>
            <p:nvPr/>
          </p:nvSpPr>
          <p:spPr bwMode="auto">
            <a:xfrm>
              <a:off x="5550818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52" name="Line 37"/>
            <p:cNvSpPr>
              <a:spLocks noChangeShapeType="1"/>
            </p:cNvSpPr>
            <p:nvPr/>
          </p:nvSpPr>
          <p:spPr bwMode="auto">
            <a:xfrm>
              <a:off x="6171530" y="3251796"/>
              <a:ext cx="0" cy="130175"/>
            </a:xfrm>
            <a:prstGeom prst="line">
              <a:avLst/>
            </a:prstGeom>
            <a:noFill/>
            <a:ln w="36513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3" name="Rectangle 38"/>
            <p:cNvSpPr>
              <a:spLocks noChangeArrowheads="1"/>
            </p:cNvSpPr>
            <p:nvPr/>
          </p:nvSpPr>
          <p:spPr bwMode="auto">
            <a:xfrm>
              <a:off x="6103268" y="2940646"/>
              <a:ext cx="11060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54" name="Line 39"/>
            <p:cNvSpPr>
              <a:spLocks noChangeShapeType="1"/>
            </p:cNvSpPr>
            <p:nvPr/>
          </p:nvSpPr>
          <p:spPr bwMode="auto">
            <a:xfrm>
              <a:off x="6516216" y="2551708"/>
              <a:ext cx="0" cy="1381125"/>
            </a:xfrm>
            <a:prstGeom prst="line">
              <a:avLst/>
            </a:prstGeom>
            <a:noFill/>
            <a:ln w="19050" cap="flat">
              <a:solidFill>
                <a:srgbClr val="4A7E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55" name="Rectangle 40"/>
          <p:cNvSpPr>
            <a:spLocks noChangeArrowheads="1"/>
          </p:cNvSpPr>
          <p:nvPr/>
        </p:nvSpPr>
        <p:spPr bwMode="auto">
          <a:xfrm>
            <a:off x="6839008" y="2024916"/>
            <a:ext cx="24253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t*: Se = 0, </a:t>
            </a:r>
            <a:r>
              <a:rPr lang="en-US" altLang="en-US" sz="2400" dirty="0" err="1">
                <a:solidFill>
                  <a:srgbClr val="000000"/>
                </a:solidFill>
                <a:cs typeface="Arial" panose="020B0604020202020204" pitchFamily="34" charset="0"/>
              </a:rPr>
              <a:t>Sp</a:t>
            </a:r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 = 1 </a:t>
            </a:r>
            <a:endParaRPr lang="en-US" altLang="en-US" sz="2400" dirty="0">
              <a:cs typeface="Arial" panose="020B0604020202020204" pitchFamily="34" charset="0"/>
            </a:endParaRPr>
          </a:p>
        </p:txBody>
      </p:sp>
      <p:sp>
        <p:nvSpPr>
          <p:cNvPr id="58" name="Rectangle 43"/>
          <p:cNvSpPr>
            <a:spLocks noChangeArrowheads="1"/>
          </p:cNvSpPr>
          <p:nvPr/>
        </p:nvSpPr>
        <p:spPr bwMode="auto">
          <a:xfrm>
            <a:off x="3805796" y="4859868"/>
            <a:ext cx="473847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Perfect tests are often not possible</a:t>
            </a:r>
            <a:endParaRPr lang="en-US" altLang="en-US" sz="24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27740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Imperfect ROC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DCCE7-68A7-442A-AA7A-2E7473D4FC32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  <p:graphicFrame>
        <p:nvGraphicFramePr>
          <p:cNvPr id="10" name="Chart 9"/>
          <p:cNvGraphicFramePr/>
          <p:nvPr>
            <p:extLst>
              <p:ext uri="{D42A27DB-BD31-4B8C-83A1-F6EECF244321}">
                <p14:modId xmlns:p14="http://schemas.microsoft.com/office/powerpoint/2010/main" val="3859798174"/>
              </p:ext>
            </p:extLst>
          </p:nvPr>
        </p:nvGraphicFramePr>
        <p:xfrm>
          <a:off x="3935760" y="2564905"/>
          <a:ext cx="3857972" cy="3408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Freeform 5"/>
          <p:cNvSpPr>
            <a:spLocks noEditPoints="1"/>
          </p:cNvSpPr>
          <p:nvPr/>
        </p:nvSpPr>
        <p:spPr bwMode="auto">
          <a:xfrm>
            <a:off x="3114006" y="1896841"/>
            <a:ext cx="5254625" cy="257175"/>
          </a:xfrm>
          <a:custGeom>
            <a:avLst/>
            <a:gdLst>
              <a:gd name="T0" fmla="*/ 0 w 28729"/>
              <a:gd name="T1" fmla="*/ 553 h 1411"/>
              <a:gd name="T2" fmla="*/ 28427 w 28729"/>
              <a:gd name="T3" fmla="*/ 553 h 1411"/>
              <a:gd name="T4" fmla="*/ 28427 w 28729"/>
              <a:gd name="T5" fmla="*/ 857 h 1411"/>
              <a:gd name="T6" fmla="*/ 0 w 28729"/>
              <a:gd name="T7" fmla="*/ 857 h 1411"/>
              <a:gd name="T8" fmla="*/ 0 w 28729"/>
              <a:gd name="T9" fmla="*/ 553 h 1411"/>
              <a:gd name="T10" fmla="*/ 27592 w 28729"/>
              <a:gd name="T11" fmla="*/ 42 h 1411"/>
              <a:gd name="T12" fmla="*/ 28729 w 28729"/>
              <a:gd name="T13" fmla="*/ 705 h 1411"/>
              <a:gd name="T14" fmla="*/ 27592 w 28729"/>
              <a:gd name="T15" fmla="*/ 1369 h 1411"/>
              <a:gd name="T16" fmla="*/ 27384 w 28729"/>
              <a:gd name="T17" fmla="*/ 1314 h 1411"/>
              <a:gd name="T18" fmla="*/ 27439 w 28729"/>
              <a:gd name="T19" fmla="*/ 1106 h 1411"/>
              <a:gd name="T20" fmla="*/ 28351 w 28729"/>
              <a:gd name="T21" fmla="*/ 574 h 1411"/>
              <a:gd name="T22" fmla="*/ 28351 w 28729"/>
              <a:gd name="T23" fmla="*/ 837 h 1411"/>
              <a:gd name="T24" fmla="*/ 27439 w 28729"/>
              <a:gd name="T25" fmla="*/ 305 h 1411"/>
              <a:gd name="T26" fmla="*/ 27384 w 28729"/>
              <a:gd name="T27" fmla="*/ 97 h 1411"/>
              <a:gd name="T28" fmla="*/ 27592 w 28729"/>
              <a:gd name="T29" fmla="*/ 42 h 1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8729" h="1411">
                <a:moveTo>
                  <a:pt x="0" y="553"/>
                </a:moveTo>
                <a:lnTo>
                  <a:pt x="28427" y="553"/>
                </a:lnTo>
                <a:lnTo>
                  <a:pt x="28427" y="857"/>
                </a:lnTo>
                <a:lnTo>
                  <a:pt x="0" y="857"/>
                </a:lnTo>
                <a:lnTo>
                  <a:pt x="0" y="553"/>
                </a:lnTo>
                <a:close/>
                <a:moveTo>
                  <a:pt x="27592" y="42"/>
                </a:moveTo>
                <a:lnTo>
                  <a:pt x="28729" y="705"/>
                </a:lnTo>
                <a:lnTo>
                  <a:pt x="27592" y="1369"/>
                </a:lnTo>
                <a:cubicBezTo>
                  <a:pt x="27519" y="1411"/>
                  <a:pt x="27426" y="1387"/>
                  <a:pt x="27384" y="1314"/>
                </a:cubicBezTo>
                <a:cubicBezTo>
                  <a:pt x="27342" y="1242"/>
                  <a:pt x="27366" y="1148"/>
                  <a:pt x="27439" y="1106"/>
                </a:cubicBezTo>
                <a:lnTo>
                  <a:pt x="28351" y="574"/>
                </a:lnTo>
                <a:lnTo>
                  <a:pt x="28351" y="837"/>
                </a:lnTo>
                <a:lnTo>
                  <a:pt x="27439" y="305"/>
                </a:lnTo>
                <a:cubicBezTo>
                  <a:pt x="27366" y="262"/>
                  <a:pt x="27342" y="169"/>
                  <a:pt x="27384" y="97"/>
                </a:cubicBezTo>
                <a:cubicBezTo>
                  <a:pt x="27426" y="24"/>
                  <a:pt x="27519" y="0"/>
                  <a:pt x="27592" y="42"/>
                </a:cubicBezTo>
                <a:close/>
              </a:path>
            </a:pathLst>
          </a:custGeom>
          <a:solidFill>
            <a:srgbClr val="FFC000"/>
          </a:solidFill>
          <a:ln w="0" cap="flat">
            <a:solidFill>
              <a:srgbClr val="FFC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3" name="Line 7"/>
          <p:cNvSpPr>
            <a:spLocks noChangeShapeType="1"/>
          </p:cNvSpPr>
          <p:nvPr/>
        </p:nvSpPr>
        <p:spPr bwMode="auto">
          <a:xfrm>
            <a:off x="3271168" y="1896841"/>
            <a:ext cx="0" cy="130175"/>
          </a:xfrm>
          <a:prstGeom prst="line">
            <a:avLst/>
          </a:prstGeom>
          <a:noFill/>
          <a:ln w="36513" cap="flat">
            <a:solidFill>
              <a:srgbClr val="FFC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3202905" y="1585690"/>
            <a:ext cx="11060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endParaRPr lang="en-US" altLang="en-US"/>
          </a:p>
        </p:txBody>
      </p:sp>
      <p:sp>
        <p:nvSpPr>
          <p:cNvPr id="15" name="Line 9"/>
          <p:cNvSpPr>
            <a:spLocks noChangeShapeType="1"/>
          </p:cNvSpPr>
          <p:nvPr/>
        </p:nvSpPr>
        <p:spPr bwMode="auto">
          <a:xfrm>
            <a:off x="3417218" y="1896841"/>
            <a:ext cx="0" cy="130175"/>
          </a:xfrm>
          <a:prstGeom prst="line">
            <a:avLst/>
          </a:prstGeom>
          <a:noFill/>
          <a:ln w="36513" cap="flat">
            <a:solidFill>
              <a:srgbClr val="FFC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3348955" y="1585690"/>
            <a:ext cx="11060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endParaRPr lang="en-US" altLang="en-US"/>
          </a:p>
        </p:txBody>
      </p:sp>
      <p:sp>
        <p:nvSpPr>
          <p:cNvPr id="17" name="Line 11"/>
          <p:cNvSpPr>
            <a:spLocks noChangeShapeType="1"/>
          </p:cNvSpPr>
          <p:nvPr/>
        </p:nvSpPr>
        <p:spPr bwMode="auto">
          <a:xfrm>
            <a:off x="3685505" y="1896841"/>
            <a:ext cx="0" cy="130175"/>
          </a:xfrm>
          <a:prstGeom prst="line">
            <a:avLst/>
          </a:prstGeom>
          <a:noFill/>
          <a:ln w="36513" cap="flat">
            <a:solidFill>
              <a:srgbClr val="FFC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8" name="Rectangle 12"/>
          <p:cNvSpPr>
            <a:spLocks noChangeArrowheads="1"/>
          </p:cNvSpPr>
          <p:nvPr/>
        </p:nvSpPr>
        <p:spPr bwMode="auto">
          <a:xfrm>
            <a:off x="3618830" y="1585690"/>
            <a:ext cx="11060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endParaRPr lang="en-US" altLang="en-US"/>
          </a:p>
        </p:txBody>
      </p:sp>
      <p:sp>
        <p:nvSpPr>
          <p:cNvPr id="19" name="Line 13"/>
          <p:cNvSpPr>
            <a:spLocks noChangeShapeType="1"/>
          </p:cNvSpPr>
          <p:nvPr/>
        </p:nvSpPr>
        <p:spPr bwMode="auto">
          <a:xfrm>
            <a:off x="3893468" y="1896841"/>
            <a:ext cx="0" cy="130175"/>
          </a:xfrm>
          <a:prstGeom prst="line">
            <a:avLst/>
          </a:prstGeom>
          <a:noFill/>
          <a:ln w="36513" cap="flat">
            <a:solidFill>
              <a:srgbClr val="FFC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3825205" y="1585690"/>
            <a:ext cx="11060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endParaRPr lang="en-US" altLang="en-US"/>
          </a:p>
        </p:txBody>
      </p:sp>
      <p:sp>
        <p:nvSpPr>
          <p:cNvPr id="21" name="Line 15"/>
          <p:cNvSpPr>
            <a:spLocks noChangeShapeType="1"/>
          </p:cNvSpPr>
          <p:nvPr/>
        </p:nvSpPr>
        <p:spPr bwMode="auto">
          <a:xfrm>
            <a:off x="4101430" y="1896841"/>
            <a:ext cx="0" cy="130175"/>
          </a:xfrm>
          <a:prstGeom prst="line">
            <a:avLst/>
          </a:prstGeom>
          <a:noFill/>
          <a:ln w="36513" cap="flat">
            <a:solidFill>
              <a:srgbClr val="FFC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2" name="Rectangle 16"/>
          <p:cNvSpPr>
            <a:spLocks noChangeArrowheads="1"/>
          </p:cNvSpPr>
          <p:nvPr/>
        </p:nvSpPr>
        <p:spPr bwMode="auto">
          <a:xfrm>
            <a:off x="4033168" y="1585690"/>
            <a:ext cx="11060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Calibri" panose="020F0502020204030204" pitchFamily="34" charset="0"/>
              </a:rPr>
              <a:t>1</a:t>
            </a:r>
            <a:endParaRPr lang="en-US" altLang="en-US"/>
          </a:p>
        </p:txBody>
      </p:sp>
      <p:sp>
        <p:nvSpPr>
          <p:cNvPr id="23" name="Line 17"/>
          <p:cNvSpPr>
            <a:spLocks noChangeShapeType="1"/>
          </p:cNvSpPr>
          <p:nvPr/>
        </p:nvSpPr>
        <p:spPr bwMode="auto">
          <a:xfrm>
            <a:off x="7901905" y="1896841"/>
            <a:ext cx="0" cy="130175"/>
          </a:xfrm>
          <a:prstGeom prst="line">
            <a:avLst/>
          </a:prstGeom>
          <a:noFill/>
          <a:ln w="36513" cap="flat">
            <a:solidFill>
              <a:srgbClr val="FFC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4" name="Rectangle 18"/>
          <p:cNvSpPr>
            <a:spLocks noChangeArrowheads="1"/>
          </p:cNvSpPr>
          <p:nvPr/>
        </p:nvSpPr>
        <p:spPr bwMode="auto">
          <a:xfrm>
            <a:off x="7835230" y="1585690"/>
            <a:ext cx="11060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Calibri" panose="020F0502020204030204" pitchFamily="34" charset="0"/>
              </a:rPr>
              <a:t>1</a:t>
            </a:r>
            <a:endParaRPr lang="en-US" altLang="en-US"/>
          </a:p>
        </p:txBody>
      </p:sp>
      <p:sp>
        <p:nvSpPr>
          <p:cNvPr id="25" name="Line 19"/>
          <p:cNvSpPr>
            <a:spLocks noChangeShapeType="1"/>
          </p:cNvSpPr>
          <p:nvPr/>
        </p:nvSpPr>
        <p:spPr bwMode="auto">
          <a:xfrm>
            <a:off x="4584030" y="1896841"/>
            <a:ext cx="0" cy="130175"/>
          </a:xfrm>
          <a:prstGeom prst="line">
            <a:avLst/>
          </a:prstGeom>
          <a:noFill/>
          <a:ln w="36513" cap="flat">
            <a:solidFill>
              <a:srgbClr val="FFC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6" name="Rectangle 20"/>
          <p:cNvSpPr>
            <a:spLocks noChangeArrowheads="1"/>
          </p:cNvSpPr>
          <p:nvPr/>
        </p:nvSpPr>
        <p:spPr bwMode="auto">
          <a:xfrm>
            <a:off x="4517355" y="1585690"/>
            <a:ext cx="11060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endParaRPr lang="en-US" altLang="en-US"/>
          </a:p>
        </p:txBody>
      </p:sp>
      <p:sp>
        <p:nvSpPr>
          <p:cNvPr id="27" name="Line 21"/>
          <p:cNvSpPr>
            <a:spLocks noChangeShapeType="1"/>
          </p:cNvSpPr>
          <p:nvPr/>
        </p:nvSpPr>
        <p:spPr bwMode="auto">
          <a:xfrm>
            <a:off x="4860255" y="1896841"/>
            <a:ext cx="0" cy="130175"/>
          </a:xfrm>
          <a:prstGeom prst="line">
            <a:avLst/>
          </a:prstGeom>
          <a:noFill/>
          <a:ln w="36513" cap="flat">
            <a:solidFill>
              <a:srgbClr val="FFC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8" name="Rectangle 22"/>
          <p:cNvSpPr>
            <a:spLocks noChangeArrowheads="1"/>
          </p:cNvSpPr>
          <p:nvPr/>
        </p:nvSpPr>
        <p:spPr bwMode="auto">
          <a:xfrm>
            <a:off x="4793580" y="1585690"/>
            <a:ext cx="11060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endParaRPr lang="en-US" altLang="en-US"/>
          </a:p>
        </p:txBody>
      </p:sp>
      <p:sp>
        <p:nvSpPr>
          <p:cNvPr id="29" name="Line 23"/>
          <p:cNvSpPr>
            <a:spLocks noChangeShapeType="1"/>
          </p:cNvSpPr>
          <p:nvPr/>
        </p:nvSpPr>
        <p:spPr bwMode="auto">
          <a:xfrm>
            <a:off x="6590630" y="1896841"/>
            <a:ext cx="0" cy="130175"/>
          </a:xfrm>
          <a:prstGeom prst="line">
            <a:avLst/>
          </a:prstGeom>
          <a:noFill/>
          <a:ln w="36513" cap="flat">
            <a:solidFill>
              <a:srgbClr val="FFC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0" name="Rectangle 24"/>
          <p:cNvSpPr>
            <a:spLocks noChangeArrowheads="1"/>
          </p:cNvSpPr>
          <p:nvPr/>
        </p:nvSpPr>
        <p:spPr bwMode="auto">
          <a:xfrm>
            <a:off x="6520780" y="1585690"/>
            <a:ext cx="11060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Calibri" panose="020F0502020204030204" pitchFamily="34" charset="0"/>
              </a:rPr>
              <a:t>1</a:t>
            </a:r>
            <a:endParaRPr lang="en-US" altLang="en-US"/>
          </a:p>
        </p:txBody>
      </p:sp>
      <p:sp>
        <p:nvSpPr>
          <p:cNvPr id="31" name="Line 25"/>
          <p:cNvSpPr>
            <a:spLocks noChangeShapeType="1"/>
          </p:cNvSpPr>
          <p:nvPr/>
        </p:nvSpPr>
        <p:spPr bwMode="auto">
          <a:xfrm>
            <a:off x="5276180" y="1896841"/>
            <a:ext cx="0" cy="130175"/>
          </a:xfrm>
          <a:prstGeom prst="line">
            <a:avLst/>
          </a:prstGeom>
          <a:noFill/>
          <a:ln w="36513" cap="flat">
            <a:solidFill>
              <a:srgbClr val="FFC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2" name="Rectangle 26"/>
          <p:cNvSpPr>
            <a:spLocks noChangeArrowheads="1"/>
          </p:cNvSpPr>
          <p:nvPr/>
        </p:nvSpPr>
        <p:spPr bwMode="auto">
          <a:xfrm>
            <a:off x="5207918" y="1585690"/>
            <a:ext cx="11060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endParaRPr lang="en-US" altLang="en-US"/>
          </a:p>
        </p:txBody>
      </p:sp>
      <p:sp>
        <p:nvSpPr>
          <p:cNvPr id="33" name="Line 27"/>
          <p:cNvSpPr>
            <a:spLocks noChangeShapeType="1"/>
          </p:cNvSpPr>
          <p:nvPr/>
        </p:nvSpPr>
        <p:spPr bwMode="auto">
          <a:xfrm>
            <a:off x="5552405" y="1896841"/>
            <a:ext cx="0" cy="130175"/>
          </a:xfrm>
          <a:prstGeom prst="line">
            <a:avLst/>
          </a:prstGeom>
          <a:noFill/>
          <a:ln w="36513" cap="flat">
            <a:solidFill>
              <a:srgbClr val="FFC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4" name="Rectangle 28"/>
          <p:cNvSpPr>
            <a:spLocks noChangeArrowheads="1"/>
          </p:cNvSpPr>
          <p:nvPr/>
        </p:nvSpPr>
        <p:spPr bwMode="auto">
          <a:xfrm>
            <a:off x="5484143" y="1585690"/>
            <a:ext cx="11060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Calibri" panose="020F0502020204030204" pitchFamily="34" charset="0"/>
              </a:rPr>
              <a:t>1</a:t>
            </a:r>
            <a:endParaRPr lang="en-US" altLang="en-US"/>
          </a:p>
        </p:txBody>
      </p:sp>
      <p:sp>
        <p:nvSpPr>
          <p:cNvPr id="35" name="Line 29"/>
          <p:cNvSpPr>
            <a:spLocks noChangeShapeType="1"/>
          </p:cNvSpPr>
          <p:nvPr/>
        </p:nvSpPr>
        <p:spPr bwMode="auto">
          <a:xfrm>
            <a:off x="5828630" y="1896841"/>
            <a:ext cx="0" cy="130175"/>
          </a:xfrm>
          <a:prstGeom prst="line">
            <a:avLst/>
          </a:prstGeom>
          <a:noFill/>
          <a:ln w="36513" cap="flat">
            <a:solidFill>
              <a:srgbClr val="FFC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6" name="Rectangle 30"/>
          <p:cNvSpPr>
            <a:spLocks noChangeArrowheads="1"/>
          </p:cNvSpPr>
          <p:nvPr/>
        </p:nvSpPr>
        <p:spPr bwMode="auto">
          <a:xfrm>
            <a:off x="5760368" y="1585690"/>
            <a:ext cx="11060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endParaRPr lang="en-US" altLang="en-US"/>
          </a:p>
        </p:txBody>
      </p:sp>
      <p:sp>
        <p:nvSpPr>
          <p:cNvPr id="37" name="Line 31"/>
          <p:cNvSpPr>
            <a:spLocks noChangeShapeType="1"/>
          </p:cNvSpPr>
          <p:nvPr/>
        </p:nvSpPr>
        <p:spPr bwMode="auto">
          <a:xfrm>
            <a:off x="6382668" y="1896841"/>
            <a:ext cx="0" cy="130175"/>
          </a:xfrm>
          <a:prstGeom prst="line">
            <a:avLst/>
          </a:prstGeom>
          <a:noFill/>
          <a:ln w="36513" cap="flat">
            <a:solidFill>
              <a:srgbClr val="FFC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8" name="Rectangle 32"/>
          <p:cNvSpPr>
            <a:spLocks noChangeArrowheads="1"/>
          </p:cNvSpPr>
          <p:nvPr/>
        </p:nvSpPr>
        <p:spPr bwMode="auto">
          <a:xfrm>
            <a:off x="6314405" y="1585690"/>
            <a:ext cx="11060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endParaRPr lang="en-US" altLang="en-US"/>
          </a:p>
        </p:txBody>
      </p:sp>
      <p:sp>
        <p:nvSpPr>
          <p:cNvPr id="39" name="Line 33"/>
          <p:cNvSpPr>
            <a:spLocks noChangeShapeType="1"/>
          </p:cNvSpPr>
          <p:nvPr/>
        </p:nvSpPr>
        <p:spPr bwMode="auto">
          <a:xfrm>
            <a:off x="6935118" y="1896841"/>
            <a:ext cx="0" cy="130175"/>
          </a:xfrm>
          <a:prstGeom prst="line">
            <a:avLst/>
          </a:prstGeom>
          <a:noFill/>
          <a:ln w="36513" cap="flat">
            <a:solidFill>
              <a:srgbClr val="FFC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0" name="Rectangle 34"/>
          <p:cNvSpPr>
            <a:spLocks noChangeArrowheads="1"/>
          </p:cNvSpPr>
          <p:nvPr/>
        </p:nvSpPr>
        <p:spPr bwMode="auto">
          <a:xfrm>
            <a:off x="6866855" y="1585690"/>
            <a:ext cx="11060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endParaRPr lang="en-US" altLang="en-US"/>
          </a:p>
        </p:txBody>
      </p:sp>
      <p:sp>
        <p:nvSpPr>
          <p:cNvPr id="41" name="Line 35"/>
          <p:cNvSpPr>
            <a:spLocks noChangeShapeType="1"/>
          </p:cNvSpPr>
          <p:nvPr/>
        </p:nvSpPr>
        <p:spPr bwMode="auto">
          <a:xfrm>
            <a:off x="7143080" y="1896841"/>
            <a:ext cx="0" cy="130175"/>
          </a:xfrm>
          <a:prstGeom prst="line">
            <a:avLst/>
          </a:prstGeom>
          <a:noFill/>
          <a:ln w="36513" cap="flat">
            <a:solidFill>
              <a:srgbClr val="FFC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2" name="Rectangle 36"/>
          <p:cNvSpPr>
            <a:spLocks noChangeArrowheads="1"/>
          </p:cNvSpPr>
          <p:nvPr/>
        </p:nvSpPr>
        <p:spPr bwMode="auto">
          <a:xfrm>
            <a:off x="7074818" y="1585690"/>
            <a:ext cx="11060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Calibri" panose="020F0502020204030204" pitchFamily="34" charset="0"/>
              </a:rPr>
              <a:t>1</a:t>
            </a:r>
            <a:endParaRPr lang="en-US" altLang="en-US"/>
          </a:p>
        </p:txBody>
      </p:sp>
      <p:sp>
        <p:nvSpPr>
          <p:cNvPr id="43" name="Line 37"/>
          <p:cNvSpPr>
            <a:spLocks noChangeShapeType="1"/>
          </p:cNvSpPr>
          <p:nvPr/>
        </p:nvSpPr>
        <p:spPr bwMode="auto">
          <a:xfrm>
            <a:off x="7695530" y="1896841"/>
            <a:ext cx="0" cy="130175"/>
          </a:xfrm>
          <a:prstGeom prst="line">
            <a:avLst/>
          </a:prstGeom>
          <a:noFill/>
          <a:ln w="36513" cap="flat">
            <a:solidFill>
              <a:srgbClr val="FFC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4" name="Rectangle 38"/>
          <p:cNvSpPr>
            <a:spLocks noChangeArrowheads="1"/>
          </p:cNvSpPr>
          <p:nvPr/>
        </p:nvSpPr>
        <p:spPr bwMode="auto">
          <a:xfrm>
            <a:off x="7627268" y="1585690"/>
            <a:ext cx="11060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Calibri" panose="020F0502020204030204" pitchFamily="34" charset="0"/>
              </a:rPr>
              <a:t>1</a:t>
            </a:r>
            <a:endParaRPr lang="en-US" altLang="en-US"/>
          </a:p>
        </p:txBody>
      </p:sp>
      <p:sp>
        <p:nvSpPr>
          <p:cNvPr id="2" name="TextBox 1"/>
          <p:cNvSpPr txBox="1"/>
          <p:nvPr/>
        </p:nvSpPr>
        <p:spPr>
          <a:xfrm>
            <a:off x="8068592" y="3501008"/>
            <a:ext cx="2203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AUC = 0.8</a:t>
            </a:r>
          </a:p>
        </p:txBody>
      </p:sp>
    </p:spTree>
    <p:extLst>
      <p:ext uri="{BB962C8B-B14F-4D97-AF65-F5344CB8AC3E}">
        <p14:creationId xmlns:p14="http://schemas.microsoft.com/office/powerpoint/2010/main" val="193997156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067C3-4C7E-434C-BBC8-747F571B711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224956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7BF56-F99F-4BBD-9878-7E7AD3B26356}" type="datetime4">
              <a:rPr lang="en-GB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Lecture 8</a:t>
            </a:r>
          </a:p>
        </p:txBody>
      </p:sp>
      <p:sp>
        <p:nvSpPr>
          <p:cNvPr id="388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286000"/>
            <a:ext cx="7772400" cy="1143000"/>
          </a:xfrm>
        </p:spPr>
        <p:txBody>
          <a:bodyPr/>
          <a:lstStyle/>
          <a:p>
            <a:r>
              <a:rPr lang="en-GB" dirty="0"/>
              <a:t>… Lecture 8 …</a:t>
            </a:r>
            <a:br>
              <a:rPr lang="en-GB" dirty="0"/>
            </a:br>
            <a:r>
              <a:rPr lang="en-GB" dirty="0"/>
              <a:t>Genomic Evaluation</a:t>
            </a:r>
          </a:p>
        </p:txBody>
      </p:sp>
      <p:sp>
        <p:nvSpPr>
          <p:cNvPr id="388099" name="Rectangle 3"/>
          <p:cNvSpPr>
            <a:spLocks noGrp="1" noChangeArrowheads="1"/>
          </p:cNvSpPr>
          <p:nvPr>
            <p:ph type="subTitle" idx="1"/>
          </p:nvPr>
        </p:nvSpPr>
        <p:spPr>
          <a:ln/>
        </p:spPr>
        <p:txBody>
          <a:bodyPr/>
          <a:lstStyle/>
          <a:p>
            <a:r>
              <a:rPr lang="en-US" dirty="0"/>
              <a:t>Part 4: concluding notes on predictive quality</a:t>
            </a:r>
          </a:p>
        </p:txBody>
      </p:sp>
    </p:spTree>
    <p:extLst>
      <p:ext uri="{BB962C8B-B14F-4D97-AF65-F5344CB8AC3E}">
        <p14:creationId xmlns:p14="http://schemas.microsoft.com/office/powerpoint/2010/main" val="82087080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Pedigree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Pros</a:t>
            </a:r>
          </a:p>
          <a:p>
            <a:pPr marL="514350" indent="-514350">
              <a:buFont typeface="+mj-lt"/>
              <a:buAutoNum type="romanLcPeriod"/>
            </a:pPr>
            <a:r>
              <a:rPr lang="en-GB" sz="2400" dirty="0"/>
              <a:t>relatively simple model</a:t>
            </a:r>
          </a:p>
          <a:p>
            <a:pPr marL="514350" indent="-514350">
              <a:buFont typeface="+mj-lt"/>
              <a:buAutoNum type="romanLcPeriod"/>
            </a:pPr>
            <a:r>
              <a:rPr lang="en-GB" sz="2400" dirty="0"/>
              <a:t>computationally efficient</a:t>
            </a:r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Cons</a:t>
            </a:r>
          </a:p>
          <a:p>
            <a:pPr marL="571500" indent="-571500">
              <a:buFont typeface="+mj-lt"/>
              <a:buAutoNum type="romanLcPeriod"/>
            </a:pPr>
            <a:r>
              <a:rPr lang="en-GB" sz="2400" dirty="0"/>
              <a:t>need to record pedigree</a:t>
            </a:r>
          </a:p>
          <a:p>
            <a:pPr marL="571500" indent="-571500">
              <a:buFont typeface="+mj-lt"/>
              <a:buAutoNum type="romanLcPeriod"/>
            </a:pPr>
            <a:r>
              <a:rPr lang="en-GB" sz="2400" dirty="0"/>
              <a:t>need (close) relatives recorded</a:t>
            </a:r>
          </a:p>
          <a:p>
            <a:pPr marL="571500" indent="-571500">
              <a:buFont typeface="+mj-lt"/>
              <a:buAutoNum type="romanLcPeriod"/>
            </a:pPr>
            <a:r>
              <a:rPr lang="en-GB" sz="2400" dirty="0"/>
              <a:t>accuracy at birth &lt; 0.71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817314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Genomics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Pros</a:t>
            </a:r>
          </a:p>
          <a:p>
            <a:pPr marL="514350" indent="-514350">
              <a:buFont typeface="+mj-lt"/>
              <a:buAutoNum type="romanLcPeriod"/>
            </a:pPr>
            <a:r>
              <a:rPr lang="en-GB" sz="2400" dirty="0"/>
              <a:t>no need for pedigree</a:t>
            </a:r>
          </a:p>
          <a:p>
            <a:pPr marL="514350" indent="-514350">
              <a:buFont typeface="+mj-lt"/>
              <a:buAutoNum type="romanLcPeriod"/>
            </a:pPr>
            <a:r>
              <a:rPr lang="en-GB" sz="2400" dirty="0"/>
              <a:t>no need for close relatives</a:t>
            </a:r>
          </a:p>
          <a:p>
            <a:pPr marL="514350" indent="-514350">
              <a:buFont typeface="+mj-lt"/>
              <a:buAutoNum type="romanLcPeriod"/>
            </a:pPr>
            <a:r>
              <a:rPr lang="en-GB" sz="2400" dirty="0"/>
              <a:t>(potentially) high accuracy at birth</a:t>
            </a:r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Cons</a:t>
            </a:r>
          </a:p>
          <a:p>
            <a:pPr marL="571500" indent="-571500">
              <a:buFont typeface="+mj-lt"/>
              <a:buAutoNum type="romanLcPeriod"/>
            </a:pPr>
            <a:r>
              <a:rPr lang="en-GB" sz="2400" dirty="0"/>
              <a:t>needs large training set</a:t>
            </a:r>
          </a:p>
          <a:p>
            <a:pPr marL="571500" indent="-571500">
              <a:buFont typeface="+mj-lt"/>
              <a:buAutoNum type="romanLcPeriod"/>
            </a:pPr>
            <a:r>
              <a:rPr lang="en-GB" sz="2400" dirty="0"/>
              <a:t>require large # SNP</a:t>
            </a:r>
          </a:p>
          <a:p>
            <a:pPr marL="571500" indent="-571500">
              <a:buFont typeface="+mj-lt"/>
              <a:buAutoNum type="romanLcPeriod"/>
            </a:pPr>
            <a:r>
              <a:rPr lang="en-GB" sz="2400" dirty="0"/>
              <a:t>large # records computationally heavy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03995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Genomic vs Pedigree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Without pedigree, genomics the only option!</a:t>
            </a:r>
          </a:p>
          <a:p>
            <a:pPr lvl="1"/>
            <a:r>
              <a:rPr lang="en-GB" dirty="0"/>
              <a:t>but don’t just assume genomic must be better!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6196" y="2849478"/>
            <a:ext cx="6239611" cy="324381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7562967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Genomic vs Pedigree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Without pedigree, genomics the only option!</a:t>
            </a:r>
          </a:p>
          <a:p>
            <a:pPr lvl="1"/>
            <a:r>
              <a:rPr lang="en-GB" dirty="0"/>
              <a:t>but don’t just assume genomic must be better!</a:t>
            </a:r>
          </a:p>
          <a:p>
            <a:pPr lvl="1"/>
            <a:r>
              <a:rPr lang="en-GB" dirty="0"/>
              <a:t>best option is to combine info … ‘single step’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6196" y="2849478"/>
            <a:ext cx="6239611" cy="324381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3953939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Genomic vs Pedigree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Without pedigree, genomics the only option!</a:t>
            </a:r>
          </a:p>
          <a:p>
            <a:pPr lvl="1"/>
            <a:r>
              <a:rPr lang="en-GB" dirty="0"/>
              <a:t>but don’t just assume genomic must be better!</a:t>
            </a:r>
          </a:p>
          <a:p>
            <a:pPr lvl="1"/>
            <a:r>
              <a:rPr lang="en-GB" dirty="0"/>
              <a:t>best option is to combine info … ‘single step’</a:t>
            </a:r>
          </a:p>
          <a:p>
            <a:pPr marL="457200" lvl="1" indent="0">
              <a:buNone/>
            </a:pPr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6196" y="2849478"/>
            <a:ext cx="6239611" cy="3243818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 rot="21299289">
            <a:off x="3569911" y="3520180"/>
            <a:ext cx="5400600" cy="369332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More on accuracy and training sets in Lecture 10</a:t>
            </a:r>
          </a:p>
        </p:txBody>
      </p:sp>
    </p:spTree>
    <p:extLst>
      <p:ext uri="{BB962C8B-B14F-4D97-AF65-F5344CB8AC3E}">
        <p14:creationId xmlns:p14="http://schemas.microsoft.com/office/powerpoint/2010/main" val="36648622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067C3-4C7E-434C-BBC8-747F571B711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299975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Accuracies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Model based accuracy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Validation accuracy </a:t>
            </a:r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4974129"/>
              </p:ext>
            </p:extLst>
          </p:nvPr>
        </p:nvGraphicFramePr>
        <p:xfrm>
          <a:off x="2855641" y="1712243"/>
          <a:ext cx="4588985" cy="823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04" name="Equation" r:id="rId4" imgW="1485720" imgH="266400" progId="Equation.DSMT4">
                  <p:embed/>
                </p:oleObj>
              </mc:Choice>
              <mc:Fallback>
                <p:oleObj name="Equation" r:id="rId4" imgW="148572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55641" y="1712243"/>
                        <a:ext cx="4588985" cy="8236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9998719"/>
              </p:ext>
            </p:extLst>
          </p:nvPr>
        </p:nvGraphicFramePr>
        <p:xfrm>
          <a:off x="2784682" y="3501008"/>
          <a:ext cx="3278188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05" name="Equation" r:id="rId6" imgW="1028520" imgH="203040" progId="Equation.DSMT4">
                  <p:embed/>
                </p:oleObj>
              </mc:Choice>
              <mc:Fallback>
                <p:oleObj name="Equation" r:id="rId6" imgW="10285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784682" y="3501008"/>
                        <a:ext cx="3278188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454740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vs Validation Accuracy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Model Accuracy </a:t>
            </a:r>
          </a:p>
          <a:p>
            <a:pPr lvl="1"/>
            <a:r>
              <a:rPr lang="en-GB" dirty="0">
                <a:solidFill>
                  <a:srgbClr val="008000"/>
                </a:solidFill>
              </a:rPr>
              <a:t>parameters based on all data</a:t>
            </a:r>
          </a:p>
          <a:p>
            <a:pPr lvl="1"/>
            <a:r>
              <a:rPr lang="en-GB" dirty="0">
                <a:solidFill>
                  <a:srgbClr val="008000"/>
                </a:solidFill>
              </a:rPr>
              <a:t>readily available</a:t>
            </a:r>
          </a:p>
          <a:p>
            <a:pPr lvl="1"/>
            <a:r>
              <a:rPr lang="en-GB" dirty="0">
                <a:solidFill>
                  <a:srgbClr val="008000"/>
                </a:solidFill>
              </a:rPr>
              <a:t>customises to individuals with differing information</a:t>
            </a:r>
          </a:p>
          <a:p>
            <a:pPr lvl="1"/>
            <a:r>
              <a:rPr lang="en-GB" dirty="0">
                <a:solidFill>
                  <a:srgbClr val="C00000"/>
                </a:solidFill>
              </a:rPr>
              <a:t>computationally hard to look within special subsets</a:t>
            </a:r>
          </a:p>
          <a:p>
            <a:pPr lvl="1"/>
            <a:r>
              <a:rPr lang="en-GB" dirty="0">
                <a:solidFill>
                  <a:srgbClr val="C00000"/>
                </a:solidFill>
              </a:rPr>
              <a:t>assumes model is correct</a:t>
            </a:r>
          </a:p>
          <a:p>
            <a:pPr lvl="1"/>
            <a:r>
              <a:rPr lang="en-GB" dirty="0">
                <a:solidFill>
                  <a:srgbClr val="C00000"/>
                </a:solidFill>
              </a:rPr>
              <a:t>model is wrong</a:t>
            </a:r>
          </a:p>
          <a:p>
            <a:pPr lvl="1"/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Validation Accuracy</a:t>
            </a:r>
          </a:p>
          <a:p>
            <a:pPr lvl="1"/>
            <a:r>
              <a:rPr lang="en-GB" dirty="0">
                <a:solidFill>
                  <a:srgbClr val="C00000"/>
                </a:solidFill>
              </a:rPr>
              <a:t>parameters estimated with subset</a:t>
            </a:r>
          </a:p>
          <a:p>
            <a:pPr lvl="1"/>
            <a:r>
              <a:rPr lang="en-GB" dirty="0">
                <a:solidFill>
                  <a:srgbClr val="C00000"/>
                </a:solidFill>
              </a:rPr>
              <a:t>separate design</a:t>
            </a:r>
          </a:p>
          <a:p>
            <a:pPr lvl="1"/>
            <a:r>
              <a:rPr lang="en-GB" dirty="0">
                <a:solidFill>
                  <a:srgbClr val="C00000"/>
                </a:solidFill>
              </a:rPr>
              <a:t>doesn’t easily extend to variable information</a:t>
            </a:r>
            <a:endParaRPr lang="en-GB" dirty="0">
              <a:solidFill>
                <a:srgbClr val="008000"/>
              </a:solidFill>
            </a:endParaRPr>
          </a:p>
          <a:p>
            <a:pPr lvl="1"/>
            <a:r>
              <a:rPr lang="en-GB" dirty="0">
                <a:solidFill>
                  <a:srgbClr val="008000"/>
                </a:solidFill>
              </a:rPr>
              <a:t>can look within special subsets</a:t>
            </a:r>
          </a:p>
          <a:p>
            <a:pPr lvl="1"/>
            <a:endParaRPr lang="en-GB" dirty="0">
              <a:solidFill>
                <a:srgbClr val="008000"/>
              </a:solidFill>
            </a:endParaRPr>
          </a:p>
          <a:p>
            <a:pPr lvl="1"/>
            <a:r>
              <a:rPr lang="en-GB" dirty="0">
                <a:solidFill>
                  <a:srgbClr val="008000"/>
                </a:solidFill>
              </a:rPr>
              <a:t>does not assume model correct</a:t>
            </a:r>
          </a:p>
          <a:p>
            <a:pPr lvl="1"/>
            <a:r>
              <a:rPr lang="en-GB" dirty="0">
                <a:solidFill>
                  <a:srgbClr val="008000"/>
                </a:solidFill>
              </a:rPr>
              <a:t>real life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256459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795" y="224789"/>
            <a:ext cx="8676410" cy="57877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6632716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35AC-8509-4286-B41F-026BC07FE1F9}" type="datetime4">
              <a:rPr lang="en-GB" smtClean="0"/>
              <a:pPr/>
              <a:t>05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148978"/>
      </p:ext>
    </p:extLst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1_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Default Design">
  <a:themeElements>
    <a:clrScheme name="1_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15167</TotalTime>
  <Words>6697</Words>
  <Application>Microsoft Office PowerPoint</Application>
  <PresentationFormat>Widescreen</PresentationFormat>
  <Paragraphs>3763</Paragraphs>
  <Slides>89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5" baseType="lpstr">
      <vt:lpstr>Arial</vt:lpstr>
      <vt:lpstr>Calibri</vt:lpstr>
      <vt:lpstr>Times New Roman</vt:lpstr>
      <vt:lpstr>1_Default Design</vt:lpstr>
      <vt:lpstr>2_Default Design</vt:lpstr>
      <vt:lpstr>Equation</vt:lpstr>
      <vt:lpstr>… Lecture 8 … Genomic Evaluation</vt:lpstr>
      <vt:lpstr>Marker Effects</vt:lpstr>
      <vt:lpstr>… Lecture 8 … Genomic Evaluation</vt:lpstr>
      <vt:lpstr>Lecture 6 Population</vt:lpstr>
      <vt:lpstr>PowerPoint Presentation</vt:lpstr>
      <vt:lpstr>Allele Summary</vt:lpstr>
      <vt:lpstr>X Covariate Matrix</vt:lpstr>
      <vt:lpstr>X Covariate Matrix</vt:lpstr>
      <vt:lpstr>W1 Covariate Matrix</vt:lpstr>
      <vt:lpstr>Genomic Relationship Matrix (1)</vt:lpstr>
      <vt:lpstr>W1 Covariate Matrix</vt:lpstr>
      <vt:lpstr>W1 Covariate Matrix</vt:lpstr>
      <vt:lpstr>W2 Covariate Matrix</vt:lpstr>
      <vt:lpstr>Genomic Relationship Matrix (2)</vt:lpstr>
      <vt:lpstr>Comparison (1) &amp; (2)</vt:lpstr>
      <vt:lpstr>Properties of G</vt:lpstr>
      <vt:lpstr>Genomic Relationship Matrix (1)</vt:lpstr>
      <vt:lpstr>Genomic Relationship Matrix (2)</vt:lpstr>
      <vt:lpstr>Properties of G</vt:lpstr>
      <vt:lpstr>PowerPoint Presentation</vt:lpstr>
      <vt:lpstr>Looking at Correlations</vt:lpstr>
      <vt:lpstr>Examples (1)</vt:lpstr>
      <vt:lpstr>PowerPoint Presentation</vt:lpstr>
      <vt:lpstr>Examples (2)</vt:lpstr>
      <vt:lpstr>PowerPoint Presentation</vt:lpstr>
      <vt:lpstr>… more examples</vt:lpstr>
      <vt:lpstr>Genomics, IBD &amp; IBS</vt:lpstr>
      <vt:lpstr>PowerPoint Presentation</vt:lpstr>
      <vt:lpstr>Numerator Relationship Matrix</vt:lpstr>
      <vt:lpstr>Numerator Relationship Matrix</vt:lpstr>
      <vt:lpstr>GFG</vt:lpstr>
      <vt:lpstr>Genomic Relationship Matrix</vt:lpstr>
      <vt:lpstr>Why Use G?</vt:lpstr>
      <vt:lpstr>IBD, IBS &amp; LD</vt:lpstr>
      <vt:lpstr>G and GFG</vt:lpstr>
      <vt:lpstr>Variants on G</vt:lpstr>
      <vt:lpstr>PowerPoint Presentation</vt:lpstr>
      <vt:lpstr>… Lecture 8 … Genomic Evaluation</vt:lpstr>
      <vt:lpstr>Assessing Model Quality</vt:lpstr>
      <vt:lpstr>Assessing Model Quality</vt:lpstr>
      <vt:lpstr>Model for Genomic Evaluation</vt:lpstr>
      <vt:lpstr>Model for Genomic Evaluation</vt:lpstr>
      <vt:lpstr>Comparisons</vt:lpstr>
      <vt:lpstr>Comparisons</vt:lpstr>
      <vt:lpstr>Cross Validation</vt:lpstr>
      <vt:lpstr>e.g. 4-Fold Cross Validation</vt:lpstr>
      <vt:lpstr>Cross Validation</vt:lpstr>
      <vt:lpstr>Validation Sets</vt:lpstr>
      <vt:lpstr>What to Assess</vt:lpstr>
      <vt:lpstr>Assessing Accuracy </vt:lpstr>
      <vt:lpstr>Accuracy</vt:lpstr>
      <vt:lpstr>Accuracy</vt:lpstr>
      <vt:lpstr>Assessing Accuracy </vt:lpstr>
      <vt:lpstr>Accuracy</vt:lpstr>
      <vt:lpstr>What to Assess</vt:lpstr>
      <vt:lpstr>What to Assess</vt:lpstr>
      <vt:lpstr>Bias</vt:lpstr>
      <vt:lpstr>Bias</vt:lpstr>
      <vt:lpstr>Bias</vt:lpstr>
      <vt:lpstr>What to Assess</vt:lpstr>
      <vt:lpstr>5-Fold Cross Validation</vt:lpstr>
      <vt:lpstr>5-Fold Cross Validation</vt:lpstr>
      <vt:lpstr>5-Fold Cross Validation</vt:lpstr>
      <vt:lpstr>5-Fold Cross Validation</vt:lpstr>
      <vt:lpstr>PowerPoint Presentation</vt:lpstr>
      <vt:lpstr>… Lecture 8 … Genomic Evaluation</vt:lpstr>
      <vt:lpstr>What to Assess in Disease Data</vt:lpstr>
      <vt:lpstr>What to Assess</vt:lpstr>
      <vt:lpstr>Disease Risk Predictor </vt:lpstr>
      <vt:lpstr>What to Assess</vt:lpstr>
      <vt:lpstr>Perfect ROC </vt:lpstr>
      <vt:lpstr>Disease Risk Predictor </vt:lpstr>
      <vt:lpstr>Disease Risk Predictor </vt:lpstr>
      <vt:lpstr>Disease Risk Predictor </vt:lpstr>
      <vt:lpstr>Disease Risk Predictor </vt:lpstr>
      <vt:lpstr>Disease Risk Predictor </vt:lpstr>
      <vt:lpstr>Imperfect ROC</vt:lpstr>
      <vt:lpstr>PowerPoint Presentation</vt:lpstr>
      <vt:lpstr>… Lecture 8 … Genomic Evaluation</vt:lpstr>
      <vt:lpstr>Pedigree</vt:lpstr>
      <vt:lpstr>Genomics</vt:lpstr>
      <vt:lpstr>Genomic vs Pedigree</vt:lpstr>
      <vt:lpstr>Genomic vs Pedigree</vt:lpstr>
      <vt:lpstr>Genomic vs Pedigree</vt:lpstr>
      <vt:lpstr>PowerPoint Presentation</vt:lpstr>
      <vt:lpstr>Accuracies</vt:lpstr>
      <vt:lpstr>Model vs Validation Accuracy</vt:lpstr>
      <vt:lpstr>PowerPoint Presentation</vt:lpstr>
      <vt:lpstr>PowerPoint Presentation</vt:lpstr>
    </vt:vector>
  </TitlesOfParts>
  <Company>Roslin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Effective Population Size: Calculation and Use</dc:title>
  <dc:creator>woollja</dc:creator>
  <cp:lastModifiedBy>John Woolliams</cp:lastModifiedBy>
  <cp:revision>400</cp:revision>
  <dcterms:created xsi:type="dcterms:W3CDTF">2007-10-16T08:44:29Z</dcterms:created>
  <dcterms:modified xsi:type="dcterms:W3CDTF">2025-02-05T10:21:54Z</dcterms:modified>
</cp:coreProperties>
</file>