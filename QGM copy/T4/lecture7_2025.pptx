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1" r:id="rId1"/>
  </p:sldMasterIdLst>
  <p:notesMasterIdLst>
    <p:notesMasterId r:id="rId89"/>
  </p:notesMasterIdLst>
  <p:handoutMasterIdLst>
    <p:handoutMasterId r:id="rId90"/>
  </p:handoutMasterIdLst>
  <p:sldIdLst>
    <p:sldId id="354" r:id="rId2"/>
    <p:sldId id="256" r:id="rId3"/>
    <p:sldId id="257" r:id="rId4"/>
    <p:sldId id="258" r:id="rId5"/>
    <p:sldId id="383" r:id="rId6"/>
    <p:sldId id="261" r:id="rId7"/>
    <p:sldId id="323" r:id="rId8"/>
    <p:sldId id="324" r:id="rId9"/>
    <p:sldId id="336" r:id="rId10"/>
    <p:sldId id="335" r:id="rId11"/>
    <p:sldId id="262" r:id="rId12"/>
    <p:sldId id="343" r:id="rId13"/>
    <p:sldId id="325" r:id="rId14"/>
    <p:sldId id="321" r:id="rId15"/>
    <p:sldId id="384" r:id="rId16"/>
    <p:sldId id="264" r:id="rId17"/>
    <p:sldId id="338" r:id="rId18"/>
    <p:sldId id="270" r:id="rId19"/>
    <p:sldId id="271" r:id="rId20"/>
    <p:sldId id="267" r:id="rId21"/>
    <p:sldId id="385" r:id="rId22"/>
    <p:sldId id="266" r:id="rId23"/>
    <p:sldId id="269" r:id="rId24"/>
    <p:sldId id="272" r:id="rId25"/>
    <p:sldId id="358" r:id="rId26"/>
    <p:sldId id="359" r:id="rId27"/>
    <p:sldId id="386" r:id="rId28"/>
    <p:sldId id="273" r:id="rId29"/>
    <p:sldId id="348" r:id="rId30"/>
    <p:sldId id="349" r:id="rId31"/>
    <p:sldId id="379" r:id="rId32"/>
    <p:sldId id="288" r:id="rId33"/>
    <p:sldId id="303" r:id="rId34"/>
    <p:sldId id="380" r:id="rId35"/>
    <p:sldId id="387" r:id="rId36"/>
    <p:sldId id="346" r:id="rId37"/>
    <p:sldId id="327" r:id="rId38"/>
    <p:sldId id="347" r:id="rId39"/>
    <p:sldId id="344" r:id="rId40"/>
    <p:sldId id="329" r:id="rId41"/>
    <p:sldId id="388" r:id="rId42"/>
    <p:sldId id="306" r:id="rId43"/>
    <p:sldId id="308" r:id="rId44"/>
    <p:sldId id="378" r:id="rId45"/>
    <p:sldId id="309" r:id="rId46"/>
    <p:sldId id="310" r:id="rId47"/>
    <p:sldId id="375" r:id="rId48"/>
    <p:sldId id="341" r:id="rId49"/>
    <p:sldId id="337" r:id="rId50"/>
    <p:sldId id="350" r:id="rId51"/>
    <p:sldId id="326" r:id="rId52"/>
    <p:sldId id="334" r:id="rId53"/>
    <p:sldId id="365" r:id="rId54"/>
    <p:sldId id="366" r:id="rId55"/>
    <p:sldId id="368" r:id="rId56"/>
    <p:sldId id="369" r:id="rId57"/>
    <p:sldId id="367" r:id="rId58"/>
    <p:sldId id="370" r:id="rId59"/>
    <p:sldId id="389" r:id="rId60"/>
    <p:sldId id="390" r:id="rId61"/>
    <p:sldId id="275" r:id="rId62"/>
    <p:sldId id="391" r:id="rId63"/>
    <p:sldId id="276" r:id="rId64"/>
    <p:sldId id="371" r:id="rId65"/>
    <p:sldId id="277" r:id="rId66"/>
    <p:sldId id="377" r:id="rId67"/>
    <p:sldId id="394" r:id="rId68"/>
    <p:sldId id="395" r:id="rId69"/>
    <p:sldId id="311" r:id="rId70"/>
    <p:sldId id="330" r:id="rId71"/>
    <p:sldId id="331" r:id="rId72"/>
    <p:sldId id="332" r:id="rId73"/>
    <p:sldId id="333" r:id="rId74"/>
    <p:sldId id="313" r:id="rId75"/>
    <p:sldId id="345" r:id="rId76"/>
    <p:sldId id="314" r:id="rId77"/>
    <p:sldId id="342" r:id="rId78"/>
    <p:sldId id="352" r:id="rId79"/>
    <p:sldId id="351" r:id="rId80"/>
    <p:sldId id="315" r:id="rId81"/>
    <p:sldId id="294" r:id="rId82"/>
    <p:sldId id="286" r:id="rId83"/>
    <p:sldId id="318" r:id="rId84"/>
    <p:sldId id="357" r:id="rId85"/>
    <p:sldId id="287" r:id="rId86"/>
    <p:sldId id="292" r:id="rId87"/>
    <p:sldId id="355" r:id="rId88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E4E4E4"/>
    <a:srgbClr val="DEDEDE"/>
    <a:srgbClr val="DA0000"/>
    <a:srgbClr val="4D4D4D"/>
    <a:srgbClr val="008000"/>
    <a:srgbClr val="666666"/>
    <a:srgbClr val="FF0000"/>
    <a:srgbClr val="00009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7" autoAdjust="0"/>
    <p:restoredTop sz="84686" autoAdjust="0"/>
  </p:normalViewPr>
  <p:slideViewPr>
    <p:cSldViewPr>
      <p:cViewPr varScale="1">
        <p:scale>
          <a:sx n="60" d="100"/>
          <a:sy n="60" d="100"/>
        </p:scale>
        <p:origin x="60" y="1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680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1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7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11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55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55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41B923E-D67D-4BC8-8244-C922695204D6}" type="datetimeFigureOut">
              <a:rPr lang="en-GB"/>
              <a:pPr>
                <a:defRPr/>
              </a:pPr>
              <a:t>03/02/2025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C9AE2CC-92F6-4938-8EEF-436EDCEC4B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42CEF99-F7CC-479E-AD54-21132FF90E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3CB99FE-9A88-49F5-A4D5-976C7A7E41D7}" type="slidenum">
              <a:rPr lang="en-GB" altLang="en-US" smtClean="0"/>
              <a:pPr/>
              <a:t>1</a:t>
            </a:fld>
            <a:endParaRPr lang="en-GB" altLang="en-US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D661957-C4B1-421A-9826-FFE6652F0A54}" type="slidenum">
              <a:rPr lang="en-GB" altLang="en-US" smtClean="0"/>
              <a:pPr/>
              <a:t>2</a:t>
            </a:fld>
            <a:endParaRPr lang="en-GB" alt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C84A042-443C-48AE-A7B3-A840BCBE311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2345AD8-F805-4847-A9AB-395BC9F73CB1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73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397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677E7F2-7B91-49D1-AC4B-D356B894D752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471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DBD6295-051B-4BAC-826F-B74A2616F7AE}" type="slidenum">
              <a:rPr lang="en-GB" altLang="en-US" smtClean="0"/>
              <a:pPr/>
              <a:t>30</a:t>
            </a:fld>
            <a:endParaRPr lang="en-GB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922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5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614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6433EDB-53EE-4785-B4CA-7CAB24F8AB5C}" type="slidenum">
              <a:rPr lang="en-GB" altLang="en-US" smtClean="0"/>
              <a:pPr/>
              <a:t>50</a:t>
            </a:fld>
            <a:endParaRPr lang="en-GB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30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7688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647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4115CD0-6A8B-452A-98BA-C3008B7A16FE}" type="slidenum">
              <a:rPr lang="en-GB" altLang="en-US" smtClean="0">
                <a:solidFill>
                  <a:srgbClr val="000000"/>
                </a:solidFill>
              </a:rPr>
              <a:pPr/>
              <a:t>79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2CEF99-F7CC-479E-AD54-21132FF90E7E}" type="slidenum">
              <a:rPr lang="en-GB" smtClean="0"/>
              <a:pPr>
                <a:defRPr/>
              </a:pPr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469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F7DC4-A8DA-483B-B078-D49E8322F23F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CFBA2-9C8E-4336-B8C6-997C098D54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83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 sz="2400"/>
            </a:lvl4pPr>
            <a:lvl5pPr>
              <a:buClr>
                <a:srgbClr val="C00000"/>
              </a:buCl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083F2-7222-4B97-9AC7-B6D21AFA543C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AEC0A-A7B4-49FE-A256-D0957D21CA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356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F084A3-E6EA-4C39-B665-355E7D82111A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8F70A-564B-42DD-99EE-778C624443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46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72275-0E63-4A42-999F-57FDE921CF5F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61156-E0F8-43EB-A826-71953763BA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799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4" y="1196976"/>
            <a:ext cx="5755216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96976"/>
            <a:ext cx="5755217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0F016-5215-481A-A1D2-346FF46AC489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6E5C7-B8A3-464C-8EA0-D2CC0FDD5C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51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D249A-BFC1-4EE0-B298-068AFC305C3C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C5C36-7BD3-4C94-8B12-DAA2D52CB8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50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0D9BAB-1AF1-4546-9BDF-8F8CBA0873AC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1AB54-B4E7-4082-AF17-A9476840C9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8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E8B61-24AB-4FDF-B192-28ABBF179E7F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D7F68C-889B-4E19-95D4-525BCBF096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04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3664F-D758-4919-BFF4-1421429CE93B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235E9-0124-4BE1-983A-6FB1D5568A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91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FC9D7-0885-41A3-BB11-249469A7EFE3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00841E-D3FA-4E87-B2AC-3FDB2B916C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994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C5D2C-62ED-4302-BA6D-6E0D47610013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FFBE0-C22B-4B11-8688-42D9B12A1C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44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5467" y="269876"/>
            <a:ext cx="2927351" cy="5895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9184" y="269876"/>
            <a:ext cx="8583083" cy="5895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4DDB5-D718-4C17-9D10-52CCC2C0D03D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5509D-A808-4BE6-9288-9FFAAC2208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23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E6E6E6"/>
            </a:gs>
            <a:gs pos="50000">
              <a:srgbClr val="DDDDDD"/>
            </a:gs>
            <a:gs pos="100000">
              <a:srgbClr val="E6E6E6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9185" y="269875"/>
            <a:ext cx="11713633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5" y="1196976"/>
            <a:ext cx="11713633" cy="4968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F5F5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5B3B915-4F61-4761-8825-7611809240AF}" type="datetime4">
              <a:rPr lang="en-GB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5785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6C18EDB-75EF-4BD6-A8E8-83A1C9FC5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143934" y="212725"/>
            <a:ext cx="662516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600" b="1">
              <a:solidFill>
                <a:schemeClr val="bg1"/>
              </a:solidFill>
            </a:endParaRPr>
          </a:p>
        </p:txBody>
      </p:sp>
      <p:pic>
        <p:nvPicPr>
          <p:cNvPr id="1032" name="Picture 9" descr="roslin new logo Blk"/>
          <p:cNvPicPr>
            <a:picLocks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328" y="6336000"/>
            <a:ext cx="105576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 descr="R(D)SVSlogofade3.psd"/>
          <p:cNvPicPr>
            <a:picLocks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6211888"/>
            <a:ext cx="1537929" cy="52228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1"/>
          <p:cNvPicPr>
            <a:picLocks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5" y="6219825"/>
            <a:ext cx="524901" cy="5222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Times New Roman" panose="02020603050405020304" pitchFamily="18" charset="0"/>
        <a:buChar char="»"/>
        <a:defRPr sz="2800">
          <a:solidFill>
            <a:srgbClr val="4D4D4D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Times New Roman" panose="02020603050405020304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Times New Roman" panose="02020603050405020304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Times New Roman" panose="02020603050405020304" pitchFamily="18" charset="0"/>
        <a:buChar char="»"/>
        <a:defRPr sz="2400">
          <a:solidFill>
            <a:srgbClr val="4D4D4D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4D4D4D"/>
        </a:buClr>
        <a:buFont typeface="Times New Roman" pitchFamily="18" charset="0"/>
        <a:buChar char="»"/>
        <a:defRPr sz="2000">
          <a:solidFill>
            <a:srgbClr val="4D4D4D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6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1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2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4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4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3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38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53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54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4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4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44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45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62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67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68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71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73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1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55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55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56.w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56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56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58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59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88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65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66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67.wmf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68.w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70.w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65D57CD-9A31-42A4-B211-F05BC827BA5C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09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11339" y="2286000"/>
            <a:ext cx="8569325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7 ...</a:t>
            </a:r>
            <a:br>
              <a:rPr lang="en-GB" altLang="en-US"/>
            </a:br>
            <a:r>
              <a:rPr lang="en-GB" altLang="en-US"/>
              <a:t>Genome Wide Markers &amp; EBVs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E94C8CA-20E7-49B7-B5AD-18A173B6D27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7 ...</a:t>
            </a:r>
            <a:br>
              <a:rPr lang="en-GB" altLang="en-US"/>
            </a:br>
            <a:r>
              <a:rPr lang="en-GB" altLang="en-US"/>
              <a:t>Genome Wide Markers &amp; EBVs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1: a different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Revision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Examined polygenic ‘infinitesimal’ models</a:t>
            </a:r>
          </a:p>
          <a:p>
            <a:pPr eaLnBrk="1" hangingPunct="1"/>
            <a:r>
              <a:rPr lang="en-GB" altLang="en-US" dirty="0"/>
              <a:t>Single identified locus</a:t>
            </a:r>
          </a:p>
          <a:p>
            <a:pPr lvl="1" eaLnBrk="1" hangingPunct="1"/>
            <a:r>
              <a:rPr lang="en-GB" altLang="en-US" dirty="0"/>
              <a:t>always include a polygenic effect from pedigree</a:t>
            </a:r>
          </a:p>
          <a:p>
            <a:pPr lvl="2" eaLnBrk="1" hangingPunct="1"/>
            <a:r>
              <a:rPr lang="en-GB" altLang="en-US" dirty="0"/>
              <a:t>if no ‘polygenic’ the bias in QTL effects are the same as the stratification problems that underlie GWAS</a:t>
            </a:r>
          </a:p>
          <a:p>
            <a:pPr lvl="1" eaLnBrk="1" hangingPunct="1"/>
            <a:r>
              <a:rPr lang="en-GB" altLang="en-US" dirty="0"/>
              <a:t>locus as fixed effect to estimate e.g. allelic substitution effects</a:t>
            </a:r>
          </a:p>
          <a:p>
            <a:pPr lvl="1" eaLnBrk="1" hangingPunct="1"/>
            <a:r>
              <a:rPr lang="en-GB" altLang="en-US" dirty="0"/>
              <a:t>locus as random effects to estimate a variance</a:t>
            </a:r>
          </a:p>
          <a:p>
            <a:pPr lvl="2" eaLnBrk="1" hangingPunct="1"/>
            <a:r>
              <a:rPr lang="en-GB" altLang="en-US" dirty="0"/>
              <a:t>calculate a locus-specific relationship variance based on IBD </a:t>
            </a:r>
          </a:p>
          <a:p>
            <a:pPr lvl="1" eaLnBrk="1" hangingPunct="1"/>
            <a:endParaRPr lang="en-GB" altLang="en-US" dirty="0"/>
          </a:p>
        </p:txBody>
      </p:sp>
      <p:sp>
        <p:nvSpPr>
          <p:cNvPr id="819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37C9188-2D72-43E4-9C6B-AD6EE61061F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819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Some Limitations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Difficult to extend to &gt; handful of loci</a:t>
            </a:r>
          </a:p>
          <a:p>
            <a:pPr eaLnBrk="1" hangingPunct="1"/>
            <a:r>
              <a:rPr lang="en-GB" altLang="en-US"/>
              <a:t>What if I don’t have pedigree?</a:t>
            </a:r>
          </a:p>
          <a:p>
            <a:pPr lvl="1" eaLnBrk="1" hangingPunct="1"/>
            <a:r>
              <a:rPr lang="en-GB" altLang="en-US"/>
              <a:t>e.g. typical medical or wildlife data</a:t>
            </a:r>
          </a:p>
          <a:p>
            <a:pPr eaLnBrk="1" hangingPunct="1"/>
            <a:r>
              <a:rPr lang="en-GB" altLang="en-US"/>
              <a:t>What if there are huge amounts of data?</a:t>
            </a:r>
          </a:p>
          <a:p>
            <a:pPr lvl="1" eaLnBrk="1" hangingPunct="1"/>
            <a:r>
              <a:rPr lang="en-GB" altLang="en-US"/>
              <a:t>SNP chips deliver 100,000’s markers</a:t>
            </a:r>
          </a:p>
          <a:p>
            <a:pPr lvl="1" eaLnBrk="1" hangingPunct="1"/>
            <a:r>
              <a:rPr lang="en-GB" altLang="en-US"/>
              <a:t>sequence delivers 100 millions variants</a:t>
            </a:r>
          </a:p>
          <a:p>
            <a:pPr lvl="2" eaLnBrk="1" hangingPunct="1"/>
            <a:r>
              <a:rPr lang="en-GB" altLang="en-US"/>
              <a:t>sequence has all variants in the data</a:t>
            </a:r>
          </a:p>
          <a:p>
            <a:pPr eaLnBrk="1" hangingPunct="1"/>
            <a:endParaRPr lang="en-GB" altLang="en-US"/>
          </a:p>
        </p:txBody>
      </p:sp>
      <p:sp>
        <p:nvSpPr>
          <p:cNvPr id="102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4650F7-1EA6-45AA-BB43-A3BCCED5AE83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703389" y="239713"/>
            <a:ext cx="8785225" cy="927100"/>
          </a:xfrm>
        </p:spPr>
        <p:txBody>
          <a:bodyPr/>
          <a:lstStyle/>
          <a:p>
            <a:pPr eaLnBrk="1" hangingPunct="1"/>
            <a:r>
              <a:rPr lang="en-GB" altLang="en-US"/>
              <a:t>Predicting Genotypes</a:t>
            </a:r>
          </a:p>
        </p:txBody>
      </p:sp>
      <p:sp>
        <p:nvSpPr>
          <p:cNvPr id="12291" name="Content Placeholder 64"/>
          <p:cNvSpPr>
            <a:spLocks noGrp="1"/>
          </p:cNvSpPr>
          <p:nvPr>
            <p:ph sz="half" idx="1"/>
          </p:nvPr>
        </p:nvSpPr>
        <p:spPr>
          <a:xfrm>
            <a:off x="243459" y="1196976"/>
            <a:ext cx="4618085" cy="4968875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Choose a target SNP locus</a:t>
            </a:r>
          </a:p>
          <a:p>
            <a:pPr lvl="1" indent="-342900" eaLnBrk="1" hangingPunct="1"/>
            <a:r>
              <a:rPr lang="en-GB" altLang="en-US" sz="2000" dirty="0"/>
              <a:t>pretend unknown QTL</a:t>
            </a:r>
          </a:p>
          <a:p>
            <a:pPr marL="0" indent="0" eaLnBrk="1" hangingPunct="1">
              <a:buNone/>
            </a:pPr>
            <a:endParaRPr lang="en-GB" altLang="en-US" sz="2400" dirty="0"/>
          </a:p>
          <a:p>
            <a:pPr eaLnBrk="1" hangingPunct="1"/>
            <a:r>
              <a:rPr lang="en-GB" altLang="en-US" sz="2400" dirty="0"/>
              <a:t>Use marker SNP within 500kb</a:t>
            </a:r>
          </a:p>
          <a:p>
            <a:pPr marL="0" indent="0" eaLnBrk="1" hangingPunct="1">
              <a:buNone/>
            </a:pPr>
            <a:endParaRPr lang="en-GB" altLang="en-US" sz="2400" dirty="0"/>
          </a:p>
          <a:p>
            <a:pPr eaLnBrk="1" hangingPunct="1"/>
            <a:r>
              <a:rPr lang="en-GB" altLang="en-US" sz="2400" dirty="0"/>
              <a:t>Code target &amp; markers 0,1,2</a:t>
            </a:r>
          </a:p>
        </p:txBody>
      </p:sp>
      <p:sp>
        <p:nvSpPr>
          <p:cNvPr id="12292" name="Content Placeholder 66"/>
          <p:cNvSpPr>
            <a:spLocks noGrp="1"/>
          </p:cNvSpPr>
          <p:nvPr>
            <p:ph sz="half" idx="2"/>
          </p:nvPr>
        </p:nvSpPr>
        <p:spPr>
          <a:xfrm>
            <a:off x="4944094" y="1196976"/>
            <a:ext cx="6840538" cy="4968875"/>
          </a:xfrm>
        </p:spPr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1229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E047911-CF5C-4B0F-B68D-35E4092B6DB0}" type="datetime4">
              <a:rPr lang="en-GB" altLang="en-US" smtClean="0"/>
              <a:pPr/>
              <a:t>03 February 2025</a:t>
            </a:fld>
            <a:endParaRPr lang="en-GB" altLang="en-US"/>
          </a:p>
        </p:txBody>
      </p:sp>
      <p:sp>
        <p:nvSpPr>
          <p:cNvPr id="122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FD2E48-5BB0-475C-8B22-7CE23EB4ECF1}"/>
              </a:ext>
            </a:extLst>
          </p:cNvPr>
          <p:cNvGrpSpPr/>
          <p:nvPr/>
        </p:nvGrpSpPr>
        <p:grpSpPr>
          <a:xfrm>
            <a:off x="5015880" y="1274763"/>
            <a:ext cx="6697663" cy="4813300"/>
            <a:chOff x="3724276" y="1279525"/>
            <a:chExt cx="6697663" cy="4813300"/>
          </a:xfrm>
        </p:grpSpPr>
        <p:sp>
          <p:nvSpPr>
            <p:cNvPr id="48" name="Rectangle 47"/>
            <p:cNvSpPr/>
            <p:nvPr/>
          </p:nvSpPr>
          <p:spPr bwMode="auto">
            <a:xfrm>
              <a:off x="3724276" y="1279525"/>
              <a:ext cx="6697663" cy="48133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grpSp>
          <p:nvGrpSpPr>
            <p:cNvPr id="12310" name="Group 7"/>
            <p:cNvGrpSpPr>
              <a:grpSpLocks/>
            </p:cNvGrpSpPr>
            <p:nvPr/>
          </p:nvGrpSpPr>
          <p:grpSpPr bwMode="auto">
            <a:xfrm>
              <a:off x="4234716" y="1333847"/>
              <a:ext cx="6115214" cy="4182971"/>
              <a:chOff x="2024055" y="1693892"/>
              <a:chExt cx="6115050" cy="4183380"/>
            </a:xfrm>
          </p:grpSpPr>
          <p:pic>
            <p:nvPicPr>
              <p:cNvPr id="12311" name="Picture 2" descr="C:\Users\jwoollia\Desktop\Capture.JP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4055" y="1693892"/>
                <a:ext cx="6115050" cy="4183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Oval 5"/>
              <p:cNvSpPr/>
              <p:nvPr/>
            </p:nvSpPr>
            <p:spPr>
              <a:xfrm>
                <a:off x="2269258" y="1853899"/>
                <a:ext cx="142871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2491502" y="1844373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2523252" y="1906291"/>
                <a:ext cx="144459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607387" y="1853899"/>
                <a:ext cx="142871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2556589" y="2852533"/>
                <a:ext cx="144458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859793" y="2057119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3093149" y="1926931"/>
                <a:ext cx="142871" cy="1428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245545" y="1926931"/>
                <a:ext cx="144458" cy="1428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388416" y="1968210"/>
                <a:ext cx="144458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3388416" y="2223822"/>
                <a:ext cx="144458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4002762" y="1853899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4212306" y="2133326"/>
                <a:ext cx="144459" cy="1428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250405" y="1853899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7525330" y="1844373"/>
                <a:ext cx="142871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7452307" y="1858661"/>
                <a:ext cx="144458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158431" y="1926931"/>
                <a:ext cx="142871" cy="14288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5010798" y="1906291"/>
                <a:ext cx="142871" cy="144477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7812660" y="1844373"/>
                <a:ext cx="144459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7741225" y="1844373"/>
                <a:ext cx="144458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7668202" y="1844373"/>
                <a:ext cx="144458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2593100" y="2003138"/>
                <a:ext cx="142871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280371" y="2784265"/>
                <a:ext cx="144458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2485153" y="3789250"/>
                <a:ext cx="142871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523252" y="4063915"/>
                <a:ext cx="144459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2491502" y="4797411"/>
                <a:ext cx="144459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3267770" y="5516619"/>
                <a:ext cx="144458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2815344" y="3068454"/>
                <a:ext cx="144459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3086799" y="2708057"/>
                <a:ext cx="142871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3388416" y="2928741"/>
                <a:ext cx="144458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3388416" y="2347659"/>
                <a:ext cx="144458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4034511" y="3644774"/>
                <a:ext cx="144459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4155158" y="3139899"/>
                <a:ext cx="142871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5158431" y="3651124"/>
                <a:ext cx="142871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4986986" y="2609623"/>
                <a:ext cx="144459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7739637" y="3284375"/>
                <a:ext cx="144459" cy="144477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7452307" y="2857297"/>
                <a:ext cx="144458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7655502" y="2784265"/>
                <a:ext cx="144458" cy="14447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7655502" y="2041242"/>
                <a:ext cx="144458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12350" name="TextBox 6"/>
              <p:cNvSpPr txBox="1">
                <a:spLocks noChangeArrowheads="1"/>
              </p:cNvSpPr>
              <p:nvPr/>
            </p:nvSpPr>
            <p:spPr bwMode="auto">
              <a:xfrm>
                <a:off x="4249934" y="4870901"/>
                <a:ext cx="1834234" cy="64633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GB" altLang="en-US"/>
                  <a:t>Bovine 54k </a:t>
                </a:r>
              </a:p>
              <a:p>
                <a:pPr eaLnBrk="1" hangingPunct="1"/>
                <a:r>
                  <a:rPr lang="en-GB" altLang="en-US"/>
                  <a:t>Bovine 777k</a:t>
                </a:r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5725154" y="5013333"/>
                <a:ext cx="142871" cy="142889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5725154" y="5229254"/>
                <a:ext cx="142871" cy="14447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GB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F9A1FA4-2ADD-4724-8BE1-98B9C91CE208}"/>
              </a:ext>
            </a:extLst>
          </p:cNvPr>
          <p:cNvGrpSpPr/>
          <p:nvPr/>
        </p:nvGrpSpPr>
        <p:grpSpPr>
          <a:xfrm>
            <a:off x="5015084" y="1393825"/>
            <a:ext cx="6913564" cy="4627563"/>
            <a:chOff x="3724275" y="1393825"/>
            <a:chExt cx="6913564" cy="4627563"/>
          </a:xfrm>
        </p:grpSpPr>
        <p:sp>
          <p:nvSpPr>
            <p:cNvPr id="12296" name="TextBox 50"/>
            <p:cNvSpPr txBox="1">
              <a:spLocks noChangeArrowheads="1"/>
            </p:cNvSpPr>
            <p:nvPr/>
          </p:nvSpPr>
          <p:spPr bwMode="auto">
            <a:xfrm>
              <a:off x="5424487" y="5436964"/>
              <a:ext cx="6715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0.1</a:t>
              </a:r>
            </a:p>
          </p:txBody>
        </p:sp>
        <p:sp>
          <p:nvSpPr>
            <p:cNvPr id="12297" name="TextBox 53"/>
            <p:cNvSpPr txBox="1">
              <a:spLocks noChangeArrowheads="1"/>
            </p:cNvSpPr>
            <p:nvPr/>
          </p:nvSpPr>
          <p:spPr bwMode="auto">
            <a:xfrm>
              <a:off x="6576616" y="5436964"/>
              <a:ext cx="6715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0.2</a:t>
              </a:r>
            </a:p>
          </p:txBody>
        </p:sp>
        <p:sp>
          <p:nvSpPr>
            <p:cNvPr id="12298" name="TextBox 54"/>
            <p:cNvSpPr txBox="1">
              <a:spLocks noChangeArrowheads="1"/>
            </p:cNvSpPr>
            <p:nvPr/>
          </p:nvSpPr>
          <p:spPr bwMode="auto">
            <a:xfrm>
              <a:off x="7800751" y="5436964"/>
              <a:ext cx="6715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0.3</a:t>
              </a:r>
            </a:p>
          </p:txBody>
        </p:sp>
        <p:sp>
          <p:nvSpPr>
            <p:cNvPr id="12299" name="TextBox 55"/>
            <p:cNvSpPr txBox="1">
              <a:spLocks noChangeArrowheads="1"/>
            </p:cNvSpPr>
            <p:nvPr/>
          </p:nvSpPr>
          <p:spPr bwMode="auto">
            <a:xfrm>
              <a:off x="8952880" y="5436964"/>
              <a:ext cx="6715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0.4</a:t>
              </a:r>
            </a:p>
          </p:txBody>
        </p:sp>
        <p:sp>
          <p:nvSpPr>
            <p:cNvPr id="12300" name="TextBox 56"/>
            <p:cNvSpPr txBox="1">
              <a:spLocks noChangeArrowheads="1"/>
            </p:cNvSpPr>
            <p:nvPr/>
          </p:nvSpPr>
          <p:spPr bwMode="auto">
            <a:xfrm>
              <a:off x="4084638" y="5436964"/>
              <a:ext cx="6731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0.0</a:t>
              </a:r>
            </a:p>
          </p:txBody>
        </p:sp>
        <p:sp>
          <p:nvSpPr>
            <p:cNvPr id="12301" name="TextBox 57"/>
            <p:cNvSpPr txBox="1">
              <a:spLocks noChangeArrowheads="1"/>
            </p:cNvSpPr>
            <p:nvPr/>
          </p:nvSpPr>
          <p:spPr bwMode="auto">
            <a:xfrm>
              <a:off x="9966326" y="5436964"/>
              <a:ext cx="6715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0.5</a:t>
              </a:r>
            </a:p>
          </p:txBody>
        </p:sp>
        <p:sp>
          <p:nvSpPr>
            <p:cNvPr id="12302" name="TextBox 58"/>
            <p:cNvSpPr txBox="1">
              <a:spLocks noChangeArrowheads="1"/>
            </p:cNvSpPr>
            <p:nvPr/>
          </p:nvSpPr>
          <p:spPr bwMode="auto">
            <a:xfrm>
              <a:off x="3868738" y="4356100"/>
              <a:ext cx="6715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0.2</a:t>
              </a:r>
            </a:p>
          </p:txBody>
        </p:sp>
        <p:sp>
          <p:nvSpPr>
            <p:cNvPr id="12303" name="TextBox 59"/>
            <p:cNvSpPr txBox="1">
              <a:spLocks noChangeArrowheads="1"/>
            </p:cNvSpPr>
            <p:nvPr/>
          </p:nvSpPr>
          <p:spPr bwMode="auto">
            <a:xfrm>
              <a:off x="3868738" y="3614739"/>
              <a:ext cx="67151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0.4</a:t>
              </a:r>
            </a:p>
          </p:txBody>
        </p:sp>
        <p:sp>
          <p:nvSpPr>
            <p:cNvPr id="12304" name="TextBox 60"/>
            <p:cNvSpPr txBox="1">
              <a:spLocks noChangeArrowheads="1"/>
            </p:cNvSpPr>
            <p:nvPr/>
          </p:nvSpPr>
          <p:spPr bwMode="auto">
            <a:xfrm>
              <a:off x="3868738" y="2874964"/>
              <a:ext cx="67151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0.6</a:t>
              </a:r>
            </a:p>
          </p:txBody>
        </p:sp>
        <p:sp>
          <p:nvSpPr>
            <p:cNvPr id="12305" name="TextBox 61"/>
            <p:cNvSpPr txBox="1">
              <a:spLocks noChangeArrowheads="1"/>
            </p:cNvSpPr>
            <p:nvPr/>
          </p:nvSpPr>
          <p:spPr bwMode="auto">
            <a:xfrm>
              <a:off x="3868738" y="2135188"/>
              <a:ext cx="671512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dirty="0"/>
                <a:t>0.8</a:t>
              </a:r>
            </a:p>
          </p:txBody>
        </p:sp>
        <p:sp>
          <p:nvSpPr>
            <p:cNvPr id="12306" name="TextBox 62"/>
            <p:cNvSpPr txBox="1">
              <a:spLocks noChangeArrowheads="1"/>
            </p:cNvSpPr>
            <p:nvPr/>
          </p:nvSpPr>
          <p:spPr bwMode="auto">
            <a:xfrm>
              <a:off x="3868738" y="1393825"/>
              <a:ext cx="67151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1.0</a:t>
              </a:r>
            </a:p>
          </p:txBody>
        </p:sp>
        <p:sp>
          <p:nvSpPr>
            <p:cNvPr id="12307" name="TextBox 52"/>
            <p:cNvSpPr txBox="1">
              <a:spLocks noChangeArrowheads="1"/>
            </p:cNvSpPr>
            <p:nvPr/>
          </p:nvSpPr>
          <p:spPr bwMode="auto">
            <a:xfrm>
              <a:off x="7037389" y="5651500"/>
              <a:ext cx="15128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MAF</a:t>
              </a:r>
            </a:p>
          </p:txBody>
        </p:sp>
        <p:sp>
          <p:nvSpPr>
            <p:cNvPr id="12308" name="TextBox 65"/>
            <p:cNvSpPr txBox="1">
              <a:spLocks noChangeArrowheads="1"/>
            </p:cNvSpPr>
            <p:nvPr/>
          </p:nvSpPr>
          <p:spPr bwMode="auto">
            <a:xfrm>
              <a:off x="3724275" y="3275014"/>
              <a:ext cx="151288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/>
                <a:t>r</a:t>
              </a:r>
              <a:r>
                <a:rPr lang="en-GB" altLang="en-US" baseline="30000"/>
                <a:t>2</a:t>
              </a:r>
              <a:endParaRPr lang="en-GB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Predict additive effects of a QTL locus from additive effects of multiple marker loci </a:t>
            </a:r>
          </a:p>
          <a:p>
            <a:pPr eaLnBrk="1" hangingPunct="1">
              <a:defRPr/>
            </a:pPr>
            <a:r>
              <a:rPr lang="en-GB" dirty="0"/>
              <a:t>With enough markers, all variants might be (nearly) explained by regressions on markers</a:t>
            </a:r>
          </a:p>
          <a:p>
            <a:pPr eaLnBrk="1" hangingPunct="1">
              <a:defRPr/>
            </a:pPr>
            <a:r>
              <a:rPr lang="en-GB" dirty="0"/>
              <a:t>Do not require pedigree!</a:t>
            </a:r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E149C76-BC58-4CB5-80AF-A885C7A3EF76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Marker Model (1)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i="1" dirty="0"/>
              <a:t>m</a:t>
            </a:r>
            <a:r>
              <a:rPr lang="en-GB" altLang="en-US" dirty="0"/>
              <a:t> markers,</a:t>
            </a:r>
            <a:r>
              <a:rPr lang="en-GB" altLang="en-US" i="1" dirty="0"/>
              <a:t> j</a:t>
            </a:r>
            <a:r>
              <a:rPr lang="en-GB" altLang="en-US" dirty="0"/>
              <a:t> = 1, … </a:t>
            </a:r>
            <a:r>
              <a:rPr lang="en-GB" altLang="en-US" i="1" dirty="0"/>
              <a:t>m</a:t>
            </a:r>
          </a:p>
          <a:p>
            <a:pPr eaLnBrk="1" hangingPunct="1"/>
            <a:r>
              <a:rPr lang="en-GB" altLang="en-US" i="1" dirty="0"/>
              <a:t>n</a:t>
            </a:r>
            <a:r>
              <a:rPr lang="en-GB" altLang="en-US" dirty="0"/>
              <a:t> records, </a:t>
            </a:r>
            <a:r>
              <a:rPr lang="en-GB" altLang="en-US" i="1" dirty="0" err="1"/>
              <a:t>y</a:t>
            </a:r>
            <a:r>
              <a:rPr lang="en-GB" altLang="en-US" i="1" baseline="-25000" dirty="0" err="1"/>
              <a:t>i</a:t>
            </a:r>
            <a:r>
              <a:rPr lang="en-GB" altLang="en-US" dirty="0"/>
              <a:t>, </a:t>
            </a:r>
            <a:r>
              <a:rPr lang="en-GB" altLang="en-US" i="1" dirty="0" err="1"/>
              <a:t>i</a:t>
            </a:r>
            <a:r>
              <a:rPr lang="en-GB" altLang="en-US" i="1" dirty="0"/>
              <a:t> </a:t>
            </a:r>
            <a:r>
              <a:rPr lang="en-GB" altLang="en-US" dirty="0"/>
              <a:t>= 1, … </a:t>
            </a:r>
            <a:r>
              <a:rPr lang="en-GB" altLang="en-US" i="1" dirty="0"/>
              <a:t>n</a:t>
            </a:r>
          </a:p>
          <a:p>
            <a:pPr lvl="1" eaLnBrk="1" hangingPunct="1"/>
            <a:r>
              <a:rPr lang="en-GB" altLang="en-US" dirty="0"/>
              <a:t>assume for now all records are distinct individuals</a:t>
            </a:r>
          </a:p>
          <a:p>
            <a:pPr lvl="1" eaLnBrk="1" hangingPunct="1"/>
            <a:r>
              <a:rPr lang="en-GB" altLang="en-US" dirty="0"/>
              <a:t>assume all individuals with records have genotypes for all markers</a:t>
            </a:r>
          </a:p>
          <a:p>
            <a:pPr eaLnBrk="1" hangingPunct="1"/>
            <a:r>
              <a:rPr lang="en-GB" altLang="en-US" dirty="0"/>
              <a:t>Allele frequency in records is </a:t>
            </a:r>
            <a:r>
              <a:rPr lang="en-GB" altLang="en-US" i="1" dirty="0" err="1"/>
              <a:t>p</a:t>
            </a:r>
            <a:r>
              <a:rPr lang="en-GB" altLang="en-US" i="1" baseline="-25000" dirty="0" err="1"/>
              <a:t>j</a:t>
            </a:r>
            <a:r>
              <a:rPr lang="en-GB" altLang="en-US" dirty="0"/>
              <a:t> for marker </a:t>
            </a:r>
            <a:r>
              <a:rPr lang="en-GB" altLang="en-US" i="1" dirty="0"/>
              <a:t>j</a:t>
            </a:r>
          </a:p>
          <a:p>
            <a:pPr eaLnBrk="1" hangingPunct="1"/>
            <a:r>
              <a:rPr lang="en-GB" altLang="en-US" dirty="0"/>
              <a:t>Individual </a:t>
            </a:r>
            <a:r>
              <a:rPr lang="en-GB" altLang="en-US" i="1" dirty="0" err="1"/>
              <a:t>i</a:t>
            </a:r>
            <a:r>
              <a:rPr lang="en-GB" altLang="en-US" dirty="0"/>
              <a:t> has </a:t>
            </a:r>
            <a:r>
              <a:rPr lang="en-GB" altLang="en-US" i="1" dirty="0" err="1"/>
              <a:t>x</a:t>
            </a:r>
            <a:r>
              <a:rPr lang="en-GB" altLang="en-US" i="1" baseline="-25000" dirty="0" err="1"/>
              <a:t>ij</a:t>
            </a:r>
            <a:r>
              <a:rPr lang="en-GB" altLang="en-US" i="1" dirty="0"/>
              <a:t> </a:t>
            </a:r>
            <a:r>
              <a:rPr lang="en-GB" altLang="en-US" dirty="0"/>
              <a:t>copies of alternative allele</a:t>
            </a:r>
            <a:r>
              <a:rPr lang="en-GB" altLang="en-US" i="1" dirty="0"/>
              <a:t> </a:t>
            </a:r>
            <a:r>
              <a:rPr lang="en-GB" altLang="en-US" dirty="0"/>
              <a:t>at </a:t>
            </a:r>
            <a:r>
              <a:rPr lang="en-GB" altLang="en-US" i="1" dirty="0"/>
              <a:t>j</a:t>
            </a:r>
          </a:p>
          <a:p>
            <a:pPr lvl="1" eaLnBrk="1" hangingPunct="1"/>
            <a:r>
              <a:rPr lang="en-GB" altLang="en-US" i="1" dirty="0"/>
              <a:t>i.e. </a:t>
            </a:r>
            <a:r>
              <a:rPr lang="en-GB" altLang="en-US" i="1" dirty="0" err="1"/>
              <a:t>x</a:t>
            </a:r>
            <a:r>
              <a:rPr lang="en-GB" altLang="en-US" i="1" baseline="-25000" dirty="0" err="1"/>
              <a:t>ij</a:t>
            </a:r>
            <a:r>
              <a:rPr lang="en-GB" altLang="en-US" i="1" dirty="0"/>
              <a:t> = </a:t>
            </a:r>
            <a:r>
              <a:rPr lang="en-GB" altLang="en-US" dirty="0"/>
              <a:t>0, 1 or 2, form an 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m</a:t>
            </a:r>
            <a:r>
              <a:rPr lang="en-GB" altLang="en-US" dirty="0"/>
              <a:t> design matrix, </a:t>
            </a:r>
            <a:r>
              <a:rPr lang="en-GB" altLang="en-US" b="1" dirty="0"/>
              <a:t>X</a:t>
            </a:r>
            <a:endParaRPr lang="en-GB" altLang="en-US" dirty="0"/>
          </a:p>
        </p:txBody>
      </p:sp>
      <p:sp>
        <p:nvSpPr>
          <p:cNvPr id="1434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A924E20-9E69-4911-A485-1336955D553E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1434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Marker Model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n-GB" dirty="0"/>
              <a:t>Marker </a:t>
            </a:r>
            <a:r>
              <a:rPr lang="en-GB" i="1" dirty="0"/>
              <a:t>j </a:t>
            </a:r>
            <a:r>
              <a:rPr lang="en-GB" dirty="0"/>
              <a:t>has true effect of allelic substitution </a:t>
            </a:r>
            <a:r>
              <a:rPr lang="en-GB" i="1" dirty="0" err="1"/>
              <a:t>b</a:t>
            </a:r>
            <a:r>
              <a:rPr lang="en-GB" i="1" baseline="-25000" dirty="0" err="1"/>
              <a:t>j</a:t>
            </a:r>
            <a:r>
              <a:rPr lang="en-GB" dirty="0"/>
              <a:t> in population</a:t>
            </a:r>
          </a:p>
          <a:p>
            <a:pPr lvl="1" algn="just" eaLnBrk="1" hangingPunct="1">
              <a:defRPr/>
            </a:pPr>
            <a:r>
              <a:rPr lang="en-GB" dirty="0"/>
              <a:t>form an </a:t>
            </a:r>
            <a:r>
              <a:rPr lang="en-GB" i="1" dirty="0"/>
              <a:t>m </a:t>
            </a:r>
            <a:r>
              <a:rPr lang="en-GB" dirty="0"/>
              <a:t>x 1 vector </a:t>
            </a:r>
          </a:p>
          <a:p>
            <a:pPr algn="just" eaLnBrk="1" hangingPunct="1">
              <a:defRPr/>
            </a:pPr>
            <a:r>
              <a:rPr lang="en-GB" dirty="0"/>
              <a:t>Breeding value can be explained by markers</a:t>
            </a:r>
          </a:p>
          <a:p>
            <a:pPr marL="0" indent="0" algn="just" eaLnBrk="1" hangingPunct="1">
              <a:buNone/>
              <a:defRPr/>
            </a:pPr>
            <a:r>
              <a:rPr lang="en-GB" dirty="0"/>
              <a:t>            		 (i.e.                   )</a:t>
            </a:r>
          </a:p>
          <a:p>
            <a:pPr marL="857250" lvl="1" indent="-457200" algn="just" eaLnBrk="1" hangingPunct="1">
              <a:defRPr/>
            </a:pPr>
            <a:r>
              <a:rPr lang="en-GB" dirty="0"/>
              <a:t>where </a:t>
            </a:r>
            <a:r>
              <a:rPr lang="en-GB" b="1" dirty="0"/>
              <a:t>g</a:t>
            </a:r>
            <a:r>
              <a:rPr lang="en-GB" dirty="0"/>
              <a:t> is a </a:t>
            </a:r>
            <a:r>
              <a:rPr lang="en-GB" i="1" dirty="0"/>
              <a:t>n</a:t>
            </a:r>
            <a:r>
              <a:rPr lang="en-GB" dirty="0"/>
              <a:t> x 1 vector of breeding values</a:t>
            </a:r>
          </a:p>
          <a:p>
            <a:pPr algn="just" eaLnBrk="1" hangingPunct="1">
              <a:defRPr/>
            </a:pPr>
            <a:r>
              <a:rPr lang="en-GB" dirty="0"/>
              <a:t>If have estimates of marker effects    , EBV’s are </a:t>
            </a:r>
          </a:p>
          <a:p>
            <a:pPr marL="0" indent="0" algn="just" eaLnBrk="1" hangingPunct="1">
              <a:buNone/>
              <a:defRPr/>
            </a:pPr>
            <a:r>
              <a:rPr lang="en-GB" dirty="0"/>
              <a:t>			(i.e.                   )</a:t>
            </a:r>
          </a:p>
        </p:txBody>
      </p:sp>
      <p:sp>
        <p:nvSpPr>
          <p:cNvPr id="1638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D8CEA2E-54F1-4C41-B14D-0D859B61533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1638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1639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408078"/>
              </p:ext>
            </p:extLst>
          </p:nvPr>
        </p:nvGraphicFramePr>
        <p:xfrm>
          <a:off x="8904312" y="2274466"/>
          <a:ext cx="151288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6" name="Equation" r:id="rId4" imgW="495000" imgH="203040" progId="Equation.DSMT4">
                  <p:embed/>
                </p:oleObj>
              </mc:Choice>
              <mc:Fallback>
                <p:oleObj name="Equation" r:id="rId4" imgW="49500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312" y="2274466"/>
                        <a:ext cx="1512888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913679"/>
              </p:ext>
            </p:extLst>
          </p:nvPr>
        </p:nvGraphicFramePr>
        <p:xfrm>
          <a:off x="4017333" y="2833688"/>
          <a:ext cx="19478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7" name="Equation" r:id="rId6" imgW="787320" imgH="342720" progId="Equation.DSMT4">
                  <p:embed/>
                </p:oleObj>
              </mc:Choice>
              <mc:Fallback>
                <p:oleObj name="Equation" r:id="rId6" imgW="787320" imgH="342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333" y="2833688"/>
                        <a:ext cx="19478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3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3" name="Rectangle 4"/>
          <p:cNvSpPr>
            <a:spLocks noChangeArrowheads="1"/>
          </p:cNvSpPr>
          <p:nvPr/>
        </p:nvSpPr>
        <p:spPr bwMode="auto">
          <a:xfrm>
            <a:off x="5965195" y="516895"/>
            <a:ext cx="26161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 </a:t>
            </a:r>
            <a:endParaRPr lang="nb-NO" altLang="en-US"/>
          </a:p>
        </p:txBody>
      </p:sp>
      <p:sp>
        <p:nvSpPr>
          <p:cNvPr id="16394" name="Rectangle 5"/>
          <p:cNvSpPr>
            <a:spLocks noChangeArrowheads="1"/>
          </p:cNvSpPr>
          <p:nvPr/>
        </p:nvSpPr>
        <p:spPr bwMode="auto">
          <a:xfrm>
            <a:off x="1524000" y="805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5" name="Rectangle 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639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843076"/>
              </p:ext>
            </p:extLst>
          </p:nvPr>
        </p:nvGraphicFramePr>
        <p:xfrm>
          <a:off x="7032104" y="3789040"/>
          <a:ext cx="4111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8" name="Equation" r:id="rId8" imgW="126720" imgH="228600" progId="Equation.DSMT4">
                  <p:embed/>
                </p:oleObj>
              </mc:Choice>
              <mc:Fallback>
                <p:oleObj name="Equation" r:id="rId8" imgW="12672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3789040"/>
                        <a:ext cx="41116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1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8" name="Rectangle 1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63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979004"/>
              </p:ext>
            </p:extLst>
          </p:nvPr>
        </p:nvGraphicFramePr>
        <p:xfrm>
          <a:off x="4511824" y="1772816"/>
          <a:ext cx="358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9" name="Equation" r:id="rId10" imgW="126720" imgH="177480" progId="Equation.DSMT4">
                  <p:embed/>
                </p:oleObj>
              </mc:Choice>
              <mc:Fallback>
                <p:oleObj name="Equation" r:id="rId10" imgW="126720" imgH="177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1772816"/>
                        <a:ext cx="3587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Rectangle 20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64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649981"/>
              </p:ext>
            </p:extLst>
          </p:nvPr>
        </p:nvGraphicFramePr>
        <p:xfrm>
          <a:off x="9480376" y="3861048"/>
          <a:ext cx="15525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20" name="Equation" r:id="rId12" imgW="495000" imgH="253800" progId="Equation.DSMT4">
                  <p:embed/>
                </p:oleObj>
              </mc:Choice>
              <mc:Fallback>
                <p:oleObj name="Equation" r:id="rId12" imgW="495000" imgH="253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0376" y="3861048"/>
                        <a:ext cx="15525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2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640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069518"/>
              </p:ext>
            </p:extLst>
          </p:nvPr>
        </p:nvGraphicFramePr>
        <p:xfrm>
          <a:off x="4004568" y="4563857"/>
          <a:ext cx="18034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21" name="Equation" r:id="rId14" imgW="787320" imgH="355320" progId="Equation.DSMT4">
                  <p:embed/>
                </p:oleObj>
              </mc:Choice>
              <mc:Fallback>
                <p:oleObj name="Equation" r:id="rId14" imgW="787320" imgH="35532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4568" y="4563857"/>
                        <a:ext cx="180340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Small Example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X</a:t>
            </a:r>
            <a:r>
              <a:rPr lang="en-GB" altLang="en-US"/>
              <a:t> for 3 individuals (</a:t>
            </a:r>
            <a:r>
              <a:rPr lang="en-GB" altLang="en-US" i="1"/>
              <a:t>n</a:t>
            </a:r>
            <a:r>
              <a:rPr lang="en-GB" altLang="en-US"/>
              <a:t>) with 2 loci (</a:t>
            </a:r>
            <a:r>
              <a:rPr lang="en-GB" altLang="en-US" i="1"/>
              <a:t>m</a:t>
            </a:r>
            <a:r>
              <a:rPr lang="en-GB" altLang="en-US"/>
              <a:t>)</a:t>
            </a:r>
          </a:p>
        </p:txBody>
      </p:sp>
      <p:sp>
        <p:nvSpPr>
          <p:cNvPr id="1843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57123FE-BBFC-4E65-824A-AEF355CD7F87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1843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18438" name="Object 5"/>
          <p:cNvGraphicFramePr>
            <a:graphicFrameLocks noChangeAspect="1"/>
          </p:cNvGraphicFramePr>
          <p:nvPr/>
        </p:nvGraphicFramePr>
        <p:xfrm>
          <a:off x="5448301" y="2492375"/>
          <a:ext cx="121761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3" name="Formula" r:id="rId4" imgW="614880" imgH="847440" progId="Equation.Ribbit">
                  <p:embed/>
                </p:oleObj>
              </mc:Choice>
              <mc:Fallback>
                <p:oleObj name="Formula" r:id="rId4" imgW="614880" imgH="847440" progId="Equation.Ribbit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2492375"/>
                        <a:ext cx="1217613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ight Brace 6"/>
          <p:cNvSpPr/>
          <p:nvPr/>
        </p:nvSpPr>
        <p:spPr>
          <a:xfrm rot="16200000" flipV="1">
            <a:off x="5988051" y="1881188"/>
            <a:ext cx="144462" cy="79216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440" name="TextBox 7"/>
          <p:cNvSpPr txBox="1">
            <a:spLocks noChangeArrowheads="1"/>
          </p:cNvSpPr>
          <p:nvPr/>
        </p:nvSpPr>
        <p:spPr bwMode="auto">
          <a:xfrm>
            <a:off x="5664201" y="1743076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sp>
        <p:nvSpPr>
          <p:cNvPr id="9" name="Right Brace 8"/>
          <p:cNvSpPr/>
          <p:nvPr/>
        </p:nvSpPr>
        <p:spPr>
          <a:xfrm flipH="1" flipV="1">
            <a:off x="4727576" y="2565400"/>
            <a:ext cx="144463" cy="1511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442" name="TextBox 9"/>
          <p:cNvSpPr txBox="1">
            <a:spLocks noChangeArrowheads="1"/>
          </p:cNvSpPr>
          <p:nvPr/>
        </p:nvSpPr>
        <p:spPr bwMode="auto">
          <a:xfrm>
            <a:off x="3071814" y="30686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Individuals</a:t>
            </a:r>
            <a:endParaRPr lang="en-GB" altLang="en-US"/>
          </a:p>
        </p:txBody>
      </p:sp>
      <p:sp>
        <p:nvSpPr>
          <p:cNvPr id="12" name="Rectangle 11"/>
          <p:cNvSpPr/>
          <p:nvPr/>
        </p:nvSpPr>
        <p:spPr>
          <a:xfrm>
            <a:off x="7608889" y="2593976"/>
            <a:ext cx="287337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7967664" y="2593976"/>
            <a:ext cx="288925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8688389" y="2593976"/>
            <a:ext cx="287337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9048750" y="2593976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608889" y="3170239"/>
            <a:ext cx="287337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967664" y="3170239"/>
            <a:ext cx="288925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8688389" y="3170239"/>
            <a:ext cx="287337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9048750" y="3170239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7608889" y="3746501"/>
            <a:ext cx="287337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7967664" y="3746501"/>
            <a:ext cx="288925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8688389" y="3746501"/>
            <a:ext cx="287337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9048750" y="3746501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4" name="Right Brace 23"/>
          <p:cNvSpPr/>
          <p:nvPr/>
        </p:nvSpPr>
        <p:spPr>
          <a:xfrm rot="16200000" flipV="1">
            <a:off x="8401051" y="1443038"/>
            <a:ext cx="142875" cy="17272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457" name="TextBox 24"/>
          <p:cNvSpPr txBox="1">
            <a:spLocks noChangeArrowheads="1"/>
          </p:cNvSpPr>
          <p:nvPr/>
        </p:nvSpPr>
        <p:spPr bwMode="auto">
          <a:xfrm>
            <a:off x="8075614" y="1773238"/>
            <a:ext cx="1044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791606"/>
              </p:ext>
            </p:extLst>
          </p:nvPr>
        </p:nvGraphicFramePr>
        <p:xfrm>
          <a:off x="7434264" y="4466556"/>
          <a:ext cx="2327275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1">
                <a:tc gridSpan="3"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Breeding values</a:t>
                      </a:r>
                    </a:p>
                  </a:txBody>
                  <a:tcPr marL="91415" marR="91415" marT="45700" marB="4570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aseline="0" dirty="0"/>
                        <a:t>+4</a:t>
                      </a:r>
                      <a:endParaRPr lang="en-GB" sz="1800" dirty="0"/>
                    </a:p>
                  </a:txBody>
                  <a:tcPr marL="91415" marR="9141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2</a:t>
                      </a:r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+1</a:t>
                      </a:r>
                    </a:p>
                  </a:txBody>
                  <a:tcPr marL="91415" marR="9141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3</a:t>
                      </a:r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+6</a:t>
                      </a:r>
                    </a:p>
                  </a:txBody>
                  <a:tcPr marL="91415" marR="9141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8A04093-511C-4A06-BBB6-CE24E89DC725}"/>
              </a:ext>
            </a:extLst>
          </p:cNvPr>
          <p:cNvGrpSpPr/>
          <p:nvPr/>
        </p:nvGrpSpPr>
        <p:grpSpPr>
          <a:xfrm>
            <a:off x="7680325" y="4896000"/>
            <a:ext cx="287338" cy="1008064"/>
            <a:chOff x="7680325" y="4797424"/>
            <a:chExt cx="287338" cy="1008064"/>
          </a:xfrm>
        </p:grpSpPr>
        <p:sp>
          <p:nvSpPr>
            <p:cNvPr id="33" name="Oval 32"/>
            <p:cNvSpPr/>
            <p:nvPr/>
          </p:nvSpPr>
          <p:spPr>
            <a:xfrm>
              <a:off x="7680325" y="4797424"/>
              <a:ext cx="287338" cy="28733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7680325" y="5157788"/>
              <a:ext cx="287338" cy="2873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680325" y="5516563"/>
              <a:ext cx="287338" cy="28892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AA103F8-AF8C-4FAC-AD7E-A661ED9DE5DA}"/>
              </a:ext>
            </a:extLst>
          </p:cNvPr>
          <p:cNvGrpSpPr/>
          <p:nvPr/>
        </p:nvGrpSpPr>
        <p:grpSpPr>
          <a:xfrm>
            <a:off x="1199209" y="4437112"/>
            <a:ext cx="5184823" cy="1568450"/>
            <a:chOff x="1919289" y="4614862"/>
            <a:chExt cx="5184823" cy="1568450"/>
          </a:xfrm>
        </p:grpSpPr>
        <p:sp>
          <p:nvSpPr>
            <p:cNvPr id="18443" name="TextBox 10"/>
            <p:cNvSpPr txBox="1">
              <a:spLocks noChangeArrowheads="1"/>
            </p:cNvSpPr>
            <p:nvPr/>
          </p:nvSpPr>
          <p:spPr bwMode="auto">
            <a:xfrm>
              <a:off x="1919289" y="4614862"/>
              <a:ext cx="5184823" cy="1568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2400" dirty="0"/>
                <a:t>       is reference allele for a locus</a:t>
              </a:r>
            </a:p>
            <a:p>
              <a:pPr eaLnBrk="1" hangingPunct="1"/>
              <a:r>
                <a:rPr lang="en-GB" altLang="en-US" sz="2400" dirty="0"/>
                <a:t>Alternative alleles:</a:t>
              </a:r>
            </a:p>
            <a:p>
              <a:pPr eaLnBrk="1" hangingPunct="1"/>
              <a:r>
                <a:rPr lang="en-GB" altLang="en-US" sz="2400" dirty="0"/>
                <a:t>Locus 1,  allele effect        = (      +2)</a:t>
              </a:r>
            </a:p>
            <a:p>
              <a:pPr eaLnBrk="1" hangingPunct="1"/>
              <a:r>
                <a:rPr lang="en-GB" altLang="en-US" sz="2400" dirty="0"/>
                <a:t>Locus 2,  allele effect        = (      +1) 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087939" y="5805488"/>
              <a:ext cx="287337" cy="287337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951539" y="5805488"/>
              <a:ext cx="288925" cy="2873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87939" y="5434013"/>
              <a:ext cx="287337" cy="28892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951539" y="5434013"/>
              <a:ext cx="288925" cy="2889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065339" y="4652963"/>
              <a:ext cx="288925" cy="2889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 = X b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endParaRPr lang="en-GB" altLang="en-US"/>
          </a:p>
          <a:p>
            <a:pPr marL="0" indent="0" eaLnBrk="1" hangingPunct="1">
              <a:buNone/>
            </a:pPr>
            <a:endParaRPr lang="en-GB" altLang="en-US"/>
          </a:p>
          <a:p>
            <a:pPr marL="0" indent="0" eaLnBrk="1" hangingPunct="1">
              <a:buNone/>
            </a:pPr>
            <a:endParaRPr lang="en-GB" altLang="en-US"/>
          </a:p>
          <a:p>
            <a:pPr marL="0" indent="0" eaLnBrk="1" hangingPunct="1">
              <a:buNone/>
            </a:pPr>
            <a:endParaRPr lang="en-GB" altLang="en-US"/>
          </a:p>
          <a:p>
            <a:pPr marL="0" indent="0" eaLnBrk="1" hangingPunct="1">
              <a:buNone/>
            </a:pPr>
            <a:endParaRPr lang="en-GB" altLang="en-US"/>
          </a:p>
          <a:p>
            <a:pPr marL="0" indent="0" eaLnBrk="1" hangingPunct="1">
              <a:buNone/>
            </a:pPr>
            <a:endParaRPr lang="en-GB" altLang="en-US"/>
          </a:p>
        </p:txBody>
      </p:sp>
      <p:sp>
        <p:nvSpPr>
          <p:cNvPr id="1946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4D701D2-8E41-4B17-9343-0428BDF9A8E7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1946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824039" y="1296988"/>
          <a:ext cx="2327275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78">
                <a:tc gridSpan="3"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Breeding values</a:t>
                      </a:r>
                    </a:p>
                  </a:txBody>
                  <a:tcPr marL="91415" marR="91415" marT="45749" marB="45749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15" marR="91415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sz="1800" dirty="0"/>
                    </a:p>
                  </a:txBody>
                  <a:tcPr marL="91415" marR="91415" marT="45749" marB="4574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aseline="0" dirty="0"/>
                        <a:t>+4</a:t>
                      </a:r>
                      <a:endParaRPr lang="en-GB" sz="1800" dirty="0"/>
                    </a:p>
                  </a:txBody>
                  <a:tcPr marL="91415" marR="91415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15" marR="91415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2</a:t>
                      </a:r>
                      <a:endParaRPr lang="en-GB" sz="1800" dirty="0"/>
                    </a:p>
                  </a:txBody>
                  <a:tcPr marL="91415" marR="91415" marT="45749" marB="4574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aseline="0" dirty="0"/>
                        <a:t>+1</a:t>
                      </a:r>
                      <a:endParaRPr lang="en-GB" sz="1800" dirty="0"/>
                    </a:p>
                  </a:txBody>
                  <a:tcPr marL="91415" marR="91415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15" marR="91415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3</a:t>
                      </a:r>
                      <a:endParaRPr lang="en-GB" sz="1800" dirty="0"/>
                    </a:p>
                  </a:txBody>
                  <a:tcPr marL="91415" marR="91415" marT="45749" marB="4574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+6</a:t>
                      </a:r>
                    </a:p>
                  </a:txBody>
                  <a:tcPr marL="91415" marR="91415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Oval 44"/>
          <p:cNvSpPr/>
          <p:nvPr/>
        </p:nvSpPr>
        <p:spPr>
          <a:xfrm>
            <a:off x="1919289" y="1730375"/>
            <a:ext cx="288925" cy="28733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1919289" y="2089151"/>
            <a:ext cx="288925" cy="2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Oval 46"/>
          <p:cNvSpPr/>
          <p:nvPr/>
        </p:nvSpPr>
        <p:spPr>
          <a:xfrm>
            <a:off x="1919289" y="2449514"/>
            <a:ext cx="288925" cy="2889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961009"/>
              </p:ext>
            </p:extLst>
          </p:nvPr>
        </p:nvGraphicFramePr>
        <p:xfrm>
          <a:off x="2711624" y="3253853"/>
          <a:ext cx="431800" cy="1111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b="0" baseline="0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88" marR="91388" marT="45668" marB="456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2</a:t>
                      </a:r>
                      <a:endParaRPr lang="en-GB" sz="1800" dirty="0"/>
                    </a:p>
                  </a:txBody>
                  <a:tcPr marL="91388" marR="91388" marT="45668" marB="45668">
                    <a:lnT w="38100" cmpd="sng">
                      <a:noFill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3</a:t>
                      </a:r>
                      <a:endParaRPr lang="en-GB" sz="1800" dirty="0"/>
                    </a:p>
                  </a:txBody>
                  <a:tcPr marL="91388" marR="91388" marT="45668" marB="45668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64823"/>
              </p:ext>
            </p:extLst>
          </p:nvPr>
        </p:nvGraphicFramePr>
        <p:xfrm>
          <a:off x="5015086" y="3253852"/>
          <a:ext cx="58420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GB" sz="1800" b="0" baseline="0" dirty="0">
                          <a:solidFill>
                            <a:schemeClr val="tx1"/>
                          </a:solidFill>
                        </a:rPr>
                        <a:t> b</a:t>
                      </a:r>
                    </a:p>
                  </a:txBody>
                  <a:tcPr marL="91518" marR="91518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 b</a:t>
                      </a:r>
                    </a:p>
                  </a:txBody>
                  <a:tcPr marL="91518" marR="91518" marT="45700" marB="45700">
                    <a:lnT w="38100" cmpd="sng">
                      <a:noFill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78315"/>
              </p:ext>
            </p:extLst>
          </p:nvPr>
        </p:nvGraphicFramePr>
        <p:xfrm>
          <a:off x="3824461" y="3253853"/>
          <a:ext cx="873126" cy="1111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94" marR="91494" marT="45668" marB="456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94" marR="91494" marT="45668" marB="456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</a:t>
                      </a:r>
                    </a:p>
                  </a:txBody>
                  <a:tcPr marL="91494" marR="91494" marT="45668" marB="45668">
                    <a:lnT w="38100" cmpd="sng">
                      <a:noFill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</a:t>
                      </a:r>
                    </a:p>
                  </a:txBody>
                  <a:tcPr marL="91494" marR="91494" marT="45668" marB="45668">
                    <a:lnT w="38100" cmpd="sng">
                      <a:noFill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 marL="91494" marR="91494" marT="45668" marB="45668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 marL="91494" marR="91494" marT="45668" marB="45668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511" name="TextBox 51"/>
          <p:cNvSpPr txBox="1">
            <a:spLocks noChangeArrowheads="1"/>
          </p:cNvSpPr>
          <p:nvPr/>
        </p:nvSpPr>
        <p:spPr bwMode="auto">
          <a:xfrm>
            <a:off x="3267250" y="3634853"/>
            <a:ext cx="485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 =</a:t>
            </a:r>
          </a:p>
        </p:txBody>
      </p:sp>
      <p:sp>
        <p:nvSpPr>
          <p:cNvPr id="19512" name="TextBox 52"/>
          <p:cNvSpPr txBox="1">
            <a:spLocks noChangeArrowheads="1"/>
          </p:cNvSpPr>
          <p:nvPr/>
        </p:nvSpPr>
        <p:spPr bwMode="auto">
          <a:xfrm>
            <a:off x="2711450" y="4845051"/>
            <a:ext cx="3455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/>
              <a:t>g     </a:t>
            </a:r>
            <a:r>
              <a:rPr lang="en-GB" altLang="en-US" sz="2400"/>
              <a:t>=</a:t>
            </a:r>
            <a:r>
              <a:rPr lang="en-GB" altLang="en-US" sz="2400" b="1"/>
              <a:t>        X        b</a:t>
            </a:r>
            <a:endParaRPr lang="en-GB" altLang="en-US" sz="2400"/>
          </a:p>
        </p:txBody>
      </p:sp>
      <p:sp>
        <p:nvSpPr>
          <p:cNvPr id="48" name="Rectangle 47"/>
          <p:cNvSpPr/>
          <p:nvPr/>
        </p:nvSpPr>
        <p:spPr>
          <a:xfrm>
            <a:off x="5338936" y="3396727"/>
            <a:ext cx="107950" cy="10795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55" name="Rectangle 54"/>
          <p:cNvSpPr/>
          <p:nvPr/>
        </p:nvSpPr>
        <p:spPr>
          <a:xfrm>
            <a:off x="5338936" y="3768202"/>
            <a:ext cx="107950" cy="107950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312417"/>
              </p:ext>
            </p:extLst>
          </p:nvPr>
        </p:nvGraphicFramePr>
        <p:xfrm>
          <a:off x="6815311" y="3253853"/>
          <a:ext cx="431800" cy="1111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b="0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88" marR="91388" marT="45668" marB="456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1</a:t>
                      </a:r>
                      <a:endParaRPr lang="en-GB" sz="1800" dirty="0"/>
                    </a:p>
                  </a:txBody>
                  <a:tcPr marL="91388" marR="91388" marT="45668" marB="45668">
                    <a:lnT w="38100" cmpd="sng">
                      <a:noFill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6</a:t>
                      </a:r>
                      <a:endParaRPr lang="en-GB" sz="1800" dirty="0"/>
                    </a:p>
                  </a:txBody>
                  <a:tcPr marL="91388" marR="91388" marT="45668" marB="45668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413946"/>
              </p:ext>
            </p:extLst>
          </p:nvPr>
        </p:nvGraphicFramePr>
        <p:xfrm>
          <a:off x="9120362" y="3253852"/>
          <a:ext cx="582613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b="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269" marR="91269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</a:t>
                      </a:r>
                    </a:p>
                  </a:txBody>
                  <a:tcPr marL="91269" marR="91269" marT="45700" marB="45700">
                    <a:lnT w="38100" cmpd="sng">
                      <a:noFill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075742"/>
              </p:ext>
            </p:extLst>
          </p:nvPr>
        </p:nvGraphicFramePr>
        <p:xfrm>
          <a:off x="7929736" y="3253853"/>
          <a:ext cx="871538" cy="1111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328" marR="91328" marT="45668" marB="456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328" marR="91328" marT="45668" marB="45668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</a:t>
                      </a:r>
                    </a:p>
                  </a:txBody>
                  <a:tcPr marL="91328" marR="91328" marT="45668" marB="45668">
                    <a:lnT w="38100" cmpd="sng">
                      <a:noFill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</a:t>
                      </a:r>
                    </a:p>
                  </a:txBody>
                  <a:tcPr marL="91328" marR="91328" marT="45668" marB="45668">
                    <a:lnT w="38100" cmpd="sng">
                      <a:noFill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 marL="91328" marR="91328" marT="45668" marB="45668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 marL="91328" marR="91328" marT="45668" marB="45668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541" name="TextBox 58"/>
          <p:cNvSpPr txBox="1">
            <a:spLocks noChangeArrowheads="1"/>
          </p:cNvSpPr>
          <p:nvPr/>
        </p:nvSpPr>
        <p:spPr bwMode="auto">
          <a:xfrm>
            <a:off x="7372525" y="3634853"/>
            <a:ext cx="484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/>
              <a:t> =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031086" y="3504678"/>
            <a:ext cx="431800" cy="592137"/>
          </a:xfrm>
          <a:prstGeom prst="rightArrow">
            <a:avLst>
              <a:gd name="adj1" fmla="val 50000"/>
              <a:gd name="adj2" fmla="val 4786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Multiple Regression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observations 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μ</a:t>
            </a:r>
            <a:r>
              <a:rPr lang="en-GB" altLang="en-US" b="1" dirty="0"/>
              <a:t> </a:t>
            </a:r>
            <a:r>
              <a:rPr lang="en-GB" altLang="en-US" dirty="0"/>
              <a:t>is a mean vector, with </a:t>
            </a:r>
            <a:r>
              <a:rPr lang="en-GB" altLang="en-US" b="1" dirty="0"/>
              <a:t>1</a:t>
            </a:r>
            <a:r>
              <a:rPr lang="en-GB" altLang="en-US" dirty="0"/>
              <a:t> (</a:t>
            </a:r>
            <a:r>
              <a:rPr lang="en-GB" altLang="en-US" i="1" dirty="0"/>
              <a:t>n</a:t>
            </a:r>
            <a:r>
              <a:rPr lang="en-GB" altLang="en-US" dirty="0"/>
              <a:t> x 1) vector of 1’s</a:t>
            </a:r>
          </a:p>
          <a:p>
            <a:pPr lvl="1" eaLnBrk="1" hangingPunct="1"/>
            <a:r>
              <a:rPr lang="en-GB" altLang="en-US" dirty="0"/>
              <a:t>…</a:t>
            </a:r>
          </a:p>
          <a:p>
            <a:pPr lvl="1" eaLnBrk="1" hangingPunct="1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fixed marker effects</a:t>
            </a:r>
          </a:p>
          <a:p>
            <a:pPr lvl="1" eaLnBrk="1" hangingPunct="1"/>
            <a:r>
              <a:rPr lang="en-GB" altLang="en-US" b="1" dirty="0"/>
              <a:t>X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m</a:t>
            </a:r>
            <a:r>
              <a:rPr lang="en-GB" altLang="en-US" dirty="0"/>
              <a:t>) design matrix, mapping markers to individuals</a:t>
            </a:r>
          </a:p>
          <a:p>
            <a:pPr lvl="1" eaLnBrk="1" hangingPunct="1"/>
            <a:r>
              <a:rPr lang="en-GB" altLang="en-US" b="1" dirty="0"/>
              <a:t>e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residual effects</a:t>
            </a:r>
          </a:p>
          <a:p>
            <a:pPr lvl="2" eaLnBrk="1" hangingPunct="1"/>
            <a:r>
              <a:rPr lang="en-GB" altLang="en-US" b="1" dirty="0"/>
              <a:t>e </a:t>
            </a:r>
            <a:r>
              <a:rPr lang="en-GB" altLang="en-US" dirty="0"/>
              <a:t>is assumed to be MVN(0, 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eaLnBrk="1" hangingPunct="1"/>
            <a:r>
              <a:rPr lang="en-GB" altLang="en-US" dirty="0"/>
              <a:t>Above ignores nuisance factors</a:t>
            </a:r>
          </a:p>
          <a:p>
            <a:pPr lvl="2" eaLnBrk="1" hangingPunct="1"/>
            <a:r>
              <a:rPr lang="en-GB" altLang="en-US" dirty="0"/>
              <a:t>know models can handle them</a:t>
            </a:r>
          </a:p>
          <a:p>
            <a:pPr lvl="1" eaLnBrk="1" hangingPunct="1"/>
            <a:endParaRPr lang="en-GB" altLang="en-US" b="1" dirty="0"/>
          </a:p>
          <a:p>
            <a:pPr eaLnBrk="1" hangingPunct="1"/>
            <a:endParaRPr lang="en-GB" altLang="en-US" dirty="0"/>
          </a:p>
        </p:txBody>
      </p:sp>
      <p:sp>
        <p:nvSpPr>
          <p:cNvPr id="2048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C9A2D88-34D0-4198-B8A5-D54A69C6852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048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20486" name="Rectangle 11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048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4600"/>
              </p:ext>
            </p:extLst>
          </p:nvPr>
        </p:nvGraphicFramePr>
        <p:xfrm>
          <a:off x="3278189" y="1196976"/>
          <a:ext cx="35639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2" name="Equation" r:id="rId3" imgW="1282680" imgH="203040" progId="Equation.DSMT4">
                  <p:embed/>
                </p:oleObj>
              </mc:Choice>
              <mc:Fallback>
                <p:oleObj name="Equation" r:id="rId3" imgW="128268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9" y="1196976"/>
                        <a:ext cx="35639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Rectangle 11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Multiple Regression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observations 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μ</a:t>
            </a:r>
            <a:r>
              <a:rPr lang="en-GB" altLang="en-US" b="1" dirty="0"/>
              <a:t> </a:t>
            </a:r>
            <a:r>
              <a:rPr lang="en-GB" altLang="en-US" dirty="0"/>
              <a:t>is a mean vector, with </a:t>
            </a:r>
            <a:r>
              <a:rPr lang="en-GB" altLang="en-US" b="1" dirty="0"/>
              <a:t>1</a:t>
            </a:r>
            <a:r>
              <a:rPr lang="en-GB" altLang="en-US" dirty="0"/>
              <a:t> (</a:t>
            </a:r>
            <a:r>
              <a:rPr lang="en-GB" altLang="en-US" i="1" dirty="0"/>
              <a:t>n</a:t>
            </a:r>
            <a:r>
              <a:rPr lang="en-GB" altLang="en-US" dirty="0"/>
              <a:t> x 1) vector of 1’s</a:t>
            </a:r>
          </a:p>
          <a:p>
            <a:pPr lvl="1" eaLnBrk="1" hangingPunct="1"/>
            <a:r>
              <a:rPr lang="en-GB" altLang="en-US" dirty="0"/>
              <a:t>…</a:t>
            </a:r>
          </a:p>
          <a:p>
            <a:pPr lvl="1" eaLnBrk="1" hangingPunct="1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fixed marker effects</a:t>
            </a:r>
          </a:p>
          <a:p>
            <a:pPr lvl="1" eaLnBrk="1" hangingPunct="1"/>
            <a:r>
              <a:rPr lang="en-GB" altLang="en-US" b="1" dirty="0"/>
              <a:t>X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m</a:t>
            </a:r>
            <a:r>
              <a:rPr lang="en-GB" altLang="en-US" dirty="0"/>
              <a:t>) design matrix, mapping markers to individuals</a:t>
            </a:r>
          </a:p>
          <a:p>
            <a:pPr lvl="1" eaLnBrk="1" hangingPunct="1"/>
            <a:r>
              <a:rPr lang="en-GB" altLang="en-US" b="1" dirty="0"/>
              <a:t>e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residual effects</a:t>
            </a:r>
          </a:p>
          <a:p>
            <a:pPr lvl="2" eaLnBrk="1" hangingPunct="1"/>
            <a:r>
              <a:rPr lang="en-GB" altLang="en-US" b="1" dirty="0"/>
              <a:t>e </a:t>
            </a:r>
            <a:r>
              <a:rPr lang="en-GB" altLang="en-US" dirty="0"/>
              <a:t>is assumed to be MVN(0, 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eaLnBrk="1" hangingPunct="1"/>
            <a:r>
              <a:rPr lang="en-GB" altLang="en-US" dirty="0"/>
              <a:t>Above ignores nuisance factors</a:t>
            </a:r>
          </a:p>
          <a:p>
            <a:pPr lvl="2" eaLnBrk="1" hangingPunct="1"/>
            <a:r>
              <a:rPr lang="en-GB" altLang="en-US" dirty="0"/>
              <a:t>know models can handle them</a:t>
            </a:r>
          </a:p>
          <a:p>
            <a:pPr lvl="1" eaLnBrk="1" hangingPunct="1"/>
            <a:endParaRPr lang="en-GB" altLang="en-US" b="1" dirty="0"/>
          </a:p>
          <a:p>
            <a:pPr eaLnBrk="1" hangingPunct="1"/>
            <a:endParaRPr lang="en-GB" altLang="en-US" dirty="0"/>
          </a:p>
        </p:txBody>
      </p:sp>
      <p:sp>
        <p:nvSpPr>
          <p:cNvPr id="2150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B057838-0402-460F-974B-6A90BDAABE5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150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21510" name="Rectangle 11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15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874393"/>
              </p:ext>
            </p:extLst>
          </p:nvPr>
        </p:nvGraphicFramePr>
        <p:xfrm>
          <a:off x="3278189" y="1196976"/>
          <a:ext cx="35639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7" name="Equation" r:id="rId3" imgW="1282680" imgH="203040" progId="Equation.DSMT4">
                  <p:embed/>
                </p:oleObj>
              </mc:Choice>
              <mc:Fallback>
                <p:oleObj name="Equation" r:id="rId3" imgW="128268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9" y="1196976"/>
                        <a:ext cx="35639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11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8543926" y="1341439"/>
            <a:ext cx="1800225" cy="935037"/>
          </a:xfrm>
          <a:prstGeom prst="rect">
            <a:avLst/>
          </a:prstGeom>
          <a:solidFill>
            <a:srgbClr val="FFFF9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Notation!</a:t>
            </a:r>
          </a:p>
          <a:p>
            <a:pPr eaLnBrk="1" hangingPunct="1">
              <a:defRPr/>
            </a:pPr>
            <a:r>
              <a:rPr lang="el-GR" i="1" dirty="0">
                <a:solidFill>
                  <a:schemeClr val="tx1"/>
                </a:solidFill>
              </a:rPr>
              <a:t>μ</a:t>
            </a:r>
            <a:r>
              <a:rPr lang="en-GB" dirty="0">
                <a:solidFill>
                  <a:schemeClr val="tx1"/>
                </a:solidFill>
              </a:rPr>
              <a:t> is mean, </a:t>
            </a:r>
          </a:p>
          <a:p>
            <a:pPr eaLnBrk="1" hangingPunct="1">
              <a:defRPr/>
            </a:pPr>
            <a:r>
              <a:rPr lang="en-GB" i="1" dirty="0">
                <a:solidFill>
                  <a:schemeClr val="tx1"/>
                </a:solidFill>
              </a:rPr>
              <a:t>m</a:t>
            </a:r>
            <a:r>
              <a:rPr lang="en-GB" dirty="0">
                <a:solidFill>
                  <a:schemeClr val="tx1"/>
                </a:solidFill>
              </a:rPr>
              <a:t> is # markers.</a:t>
            </a:r>
          </a:p>
        </p:txBody>
      </p:sp>
      <p:sp>
        <p:nvSpPr>
          <p:cNvPr id="2" name="Down Arrow Callout 1"/>
          <p:cNvSpPr/>
          <p:nvPr/>
        </p:nvSpPr>
        <p:spPr>
          <a:xfrm>
            <a:off x="3508164" y="408074"/>
            <a:ext cx="3091892" cy="1148719"/>
          </a:xfrm>
          <a:prstGeom prst="downArrowCallou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Other terms …. as required for the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Multiple Regression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It looks feasible to treat this as a regression</a:t>
            </a:r>
          </a:p>
          <a:p>
            <a:pPr lvl="1" eaLnBrk="1" hangingPunct="1"/>
            <a:r>
              <a:rPr lang="en-GB" altLang="en-US"/>
              <a:t>model the </a:t>
            </a:r>
            <a:r>
              <a:rPr lang="en-GB" altLang="en-US" i="1"/>
              <a:t>y</a:t>
            </a:r>
            <a:r>
              <a:rPr lang="en-GB" altLang="en-US" i="1" baseline="-25000"/>
              <a:t>i</a:t>
            </a:r>
            <a:r>
              <a:rPr lang="en-GB" altLang="en-US" i="1"/>
              <a:t> </a:t>
            </a:r>
            <a:r>
              <a:rPr lang="en-GB" altLang="en-US"/>
              <a:t>as a regression on the 0, 1, 2 of the </a:t>
            </a:r>
            <a:r>
              <a:rPr lang="en-GB" altLang="en-US" i="1"/>
              <a:t>x</a:t>
            </a:r>
            <a:r>
              <a:rPr lang="en-GB" altLang="en-US" i="1" baseline="-25000"/>
              <a:t>ij</a:t>
            </a:r>
            <a:r>
              <a:rPr lang="en-GB" altLang="en-US" i="1"/>
              <a:t> </a:t>
            </a:r>
            <a:r>
              <a:rPr lang="en-GB" altLang="en-US"/>
              <a:t>for all markers</a:t>
            </a:r>
            <a:r>
              <a:rPr lang="en-GB" altLang="en-US" i="1"/>
              <a:t> j </a:t>
            </a:r>
            <a:r>
              <a:rPr lang="en-GB" altLang="en-US"/>
              <a:t>with coefficient </a:t>
            </a:r>
          </a:p>
          <a:p>
            <a:pPr eaLnBrk="1" hangingPunct="1"/>
            <a:endParaRPr lang="en-GB" altLang="en-US"/>
          </a:p>
        </p:txBody>
      </p:sp>
      <p:sp>
        <p:nvSpPr>
          <p:cNvPr id="2253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0B69226-E748-4A71-825F-26E772B4FF16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253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22534" name="Rectangle 11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253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144395"/>
              </p:ext>
            </p:extLst>
          </p:nvPr>
        </p:nvGraphicFramePr>
        <p:xfrm>
          <a:off x="3997325" y="3071813"/>
          <a:ext cx="35687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" name="Equation" r:id="rId3" imgW="1282680" imgH="203040" progId="Equation.DSMT4">
                  <p:embed/>
                </p:oleObj>
              </mc:Choice>
              <mc:Fallback>
                <p:oleObj name="Equation" r:id="rId3" imgW="128268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3071813"/>
                        <a:ext cx="35687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Rectangle 11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7" name="Rectangle 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253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982723"/>
              </p:ext>
            </p:extLst>
          </p:nvPr>
        </p:nvGraphicFramePr>
        <p:xfrm>
          <a:off x="3575720" y="2204864"/>
          <a:ext cx="269579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" name="Equation" r:id="rId5" imgW="164880" imgH="266400" progId="Equation.DSMT4">
                  <p:embed/>
                </p:oleObj>
              </mc:Choice>
              <mc:Fallback>
                <p:oleObj name="Equation" r:id="rId5" imgW="164880" imgH="26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2204864"/>
                        <a:ext cx="269579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Multiple Regression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observations 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μ</a:t>
            </a:r>
            <a:r>
              <a:rPr lang="en-GB" altLang="en-US" b="1" dirty="0"/>
              <a:t> </a:t>
            </a:r>
            <a:r>
              <a:rPr lang="en-GB" altLang="en-US" dirty="0"/>
              <a:t>is the mean vector, with </a:t>
            </a:r>
            <a:r>
              <a:rPr lang="en-GB" altLang="en-US" b="1" dirty="0"/>
              <a:t>1</a:t>
            </a:r>
            <a:r>
              <a:rPr lang="en-GB" altLang="en-US" dirty="0"/>
              <a:t> (</a:t>
            </a:r>
            <a:r>
              <a:rPr lang="en-GB" altLang="en-US" i="1" dirty="0"/>
              <a:t>n</a:t>
            </a:r>
            <a:r>
              <a:rPr lang="en-GB" altLang="en-US" dirty="0"/>
              <a:t> x 1) vector of 1’s</a:t>
            </a:r>
          </a:p>
          <a:p>
            <a:pPr lvl="1" eaLnBrk="1" hangingPunct="1"/>
            <a:r>
              <a:rPr lang="en-GB" altLang="en-US" dirty="0"/>
              <a:t>…</a:t>
            </a:r>
          </a:p>
          <a:p>
            <a:pPr lvl="1" eaLnBrk="1" hangingPunct="1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fixed marker effects</a:t>
            </a:r>
          </a:p>
          <a:p>
            <a:pPr lvl="1" eaLnBrk="1" hangingPunct="1"/>
            <a:r>
              <a:rPr lang="en-GB" altLang="en-US" b="1" dirty="0"/>
              <a:t>X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m</a:t>
            </a:r>
            <a:r>
              <a:rPr lang="en-GB" altLang="en-US" dirty="0"/>
              <a:t>) design matrix, mapping markers to individuals</a:t>
            </a:r>
          </a:p>
          <a:p>
            <a:pPr lvl="1" eaLnBrk="1" hangingPunct="1"/>
            <a:r>
              <a:rPr lang="en-GB" altLang="en-US" b="1" dirty="0"/>
              <a:t>e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residual effects</a:t>
            </a:r>
          </a:p>
          <a:p>
            <a:pPr lvl="2" eaLnBrk="1" hangingPunct="1"/>
            <a:r>
              <a:rPr lang="en-GB" altLang="en-US" b="1" dirty="0"/>
              <a:t>e </a:t>
            </a:r>
            <a:r>
              <a:rPr lang="en-GB" altLang="en-US" dirty="0"/>
              <a:t>is assumed to be MVN(0, 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eaLnBrk="1" hangingPunct="1"/>
            <a:r>
              <a:rPr lang="en-GB" altLang="en-US" dirty="0"/>
              <a:t>So                            and </a:t>
            </a:r>
          </a:p>
          <a:p>
            <a:pPr lvl="1" eaLnBrk="1" hangingPunct="1"/>
            <a:endParaRPr lang="en-GB" altLang="en-US" b="1" dirty="0"/>
          </a:p>
          <a:p>
            <a:pPr eaLnBrk="1" hangingPunct="1"/>
            <a:endParaRPr lang="en-GB" altLang="en-US" dirty="0"/>
          </a:p>
        </p:txBody>
      </p:sp>
      <p:sp>
        <p:nvSpPr>
          <p:cNvPr id="235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FC4891A-94FE-4CEC-AF41-512ADCDC1128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355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23558" name="Rectangle 11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355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350396"/>
              </p:ext>
            </p:extLst>
          </p:nvPr>
        </p:nvGraphicFramePr>
        <p:xfrm>
          <a:off x="3278189" y="1196976"/>
          <a:ext cx="35639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5" name="Equation" r:id="rId3" imgW="1282680" imgH="203040" progId="Equation.DSMT4">
                  <p:embed/>
                </p:oleObj>
              </mc:Choice>
              <mc:Fallback>
                <p:oleObj name="Equation" r:id="rId3" imgW="128268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9" y="1196976"/>
                        <a:ext cx="35639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11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356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203249"/>
              </p:ext>
            </p:extLst>
          </p:nvPr>
        </p:nvGraphicFramePr>
        <p:xfrm>
          <a:off x="1545694" y="5267672"/>
          <a:ext cx="25685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6" name="Equation" r:id="rId5" imgW="1054080" imgH="253800" progId="Equation.DSMT4">
                  <p:embed/>
                </p:oleObj>
              </mc:Choice>
              <mc:Fallback>
                <p:oleObj name="Equation" r:id="rId5" imgW="1054080" imgH="253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694" y="5267672"/>
                        <a:ext cx="25685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565597"/>
              </p:ext>
            </p:extLst>
          </p:nvPr>
        </p:nvGraphicFramePr>
        <p:xfrm>
          <a:off x="5447928" y="5229200"/>
          <a:ext cx="137160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7" name="Equation" r:id="rId7" imgW="495000" imgH="253800" progId="Equation.DSMT4">
                  <p:embed/>
                </p:oleObj>
              </mc:Choice>
              <mc:Fallback>
                <p:oleObj name="Equation" r:id="rId7" imgW="495000" imgH="253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5229200"/>
                        <a:ext cx="137160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Multiple Regression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observations 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μ</a:t>
            </a:r>
            <a:r>
              <a:rPr lang="en-GB" altLang="en-US" b="1" dirty="0"/>
              <a:t> </a:t>
            </a:r>
            <a:r>
              <a:rPr lang="en-GB" altLang="en-US" dirty="0"/>
              <a:t>is the mean vector, with </a:t>
            </a:r>
            <a:r>
              <a:rPr lang="en-GB" altLang="en-US" b="1" dirty="0"/>
              <a:t>1</a:t>
            </a:r>
            <a:r>
              <a:rPr lang="en-GB" altLang="en-US" dirty="0"/>
              <a:t> (</a:t>
            </a:r>
            <a:r>
              <a:rPr lang="en-GB" altLang="en-US" i="1" dirty="0"/>
              <a:t>n</a:t>
            </a:r>
            <a:r>
              <a:rPr lang="en-GB" altLang="en-US" dirty="0"/>
              <a:t> x 1) vector of 1’s</a:t>
            </a:r>
          </a:p>
          <a:p>
            <a:pPr lvl="1" eaLnBrk="1" hangingPunct="1"/>
            <a:r>
              <a:rPr lang="en-GB" altLang="en-US" dirty="0"/>
              <a:t>…</a:t>
            </a:r>
          </a:p>
          <a:p>
            <a:pPr lvl="1" eaLnBrk="1" hangingPunct="1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fixed marker effects</a:t>
            </a:r>
          </a:p>
          <a:p>
            <a:pPr lvl="1" eaLnBrk="1" hangingPunct="1"/>
            <a:r>
              <a:rPr lang="en-GB" altLang="en-US" b="1" dirty="0"/>
              <a:t>X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m</a:t>
            </a:r>
            <a:r>
              <a:rPr lang="en-GB" altLang="en-US" dirty="0"/>
              <a:t>) design matrix, mapping markers to individuals</a:t>
            </a:r>
          </a:p>
          <a:p>
            <a:pPr lvl="1" eaLnBrk="1" hangingPunct="1"/>
            <a:r>
              <a:rPr lang="en-GB" altLang="en-US" b="1" dirty="0"/>
              <a:t>e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residual effects</a:t>
            </a:r>
          </a:p>
          <a:p>
            <a:pPr lvl="2" eaLnBrk="1" hangingPunct="1"/>
            <a:r>
              <a:rPr lang="en-GB" altLang="en-US" b="1" dirty="0"/>
              <a:t>e </a:t>
            </a:r>
            <a:r>
              <a:rPr lang="en-GB" altLang="en-US" dirty="0"/>
              <a:t>is assumed to be MVN(0, 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eaLnBrk="1" hangingPunct="1"/>
            <a:r>
              <a:rPr lang="en-GB" altLang="en-US" dirty="0"/>
              <a:t>So                            and </a:t>
            </a:r>
          </a:p>
          <a:p>
            <a:pPr lvl="1" eaLnBrk="1" hangingPunct="1"/>
            <a:endParaRPr lang="en-GB" altLang="en-US" b="1" dirty="0"/>
          </a:p>
          <a:p>
            <a:pPr eaLnBrk="1" hangingPunct="1"/>
            <a:endParaRPr lang="en-GB" altLang="en-US" dirty="0"/>
          </a:p>
        </p:txBody>
      </p:sp>
      <p:sp>
        <p:nvSpPr>
          <p:cNvPr id="235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FC4891A-94FE-4CEC-AF41-512ADCDC1128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355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23558" name="Rectangle 11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3559" name="Object 8"/>
          <p:cNvGraphicFramePr>
            <a:graphicFrameLocks noChangeAspect="1"/>
          </p:cNvGraphicFramePr>
          <p:nvPr/>
        </p:nvGraphicFramePr>
        <p:xfrm>
          <a:off x="3278189" y="1196976"/>
          <a:ext cx="35639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" name="Equation" r:id="rId3" imgW="1282680" imgH="203040" progId="Equation.DSMT4">
                  <p:embed/>
                </p:oleObj>
              </mc:Choice>
              <mc:Fallback>
                <p:oleObj name="Equation" r:id="rId3" imgW="1282680" imgH="203040" progId="Equation.DSMT4">
                  <p:embed/>
                  <p:pic>
                    <p:nvPicPr>
                      <p:cNvPr id="2355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9" y="1196976"/>
                        <a:ext cx="35639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11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3561" name="Object 10"/>
          <p:cNvGraphicFramePr>
            <a:graphicFrameLocks noChangeAspect="1"/>
          </p:cNvGraphicFramePr>
          <p:nvPr/>
        </p:nvGraphicFramePr>
        <p:xfrm>
          <a:off x="1545694" y="5267672"/>
          <a:ext cx="25685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" name="Equation" r:id="rId5" imgW="1054080" imgH="253800" progId="Equation.DSMT4">
                  <p:embed/>
                </p:oleObj>
              </mc:Choice>
              <mc:Fallback>
                <p:oleObj name="Equation" r:id="rId5" imgW="1054080" imgH="253800" progId="Equation.DSMT4">
                  <p:embed/>
                  <p:pic>
                    <p:nvPicPr>
                      <p:cNvPr id="2356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694" y="5267672"/>
                        <a:ext cx="25685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1"/>
          <p:cNvGraphicFramePr>
            <a:graphicFrameLocks noChangeAspect="1"/>
          </p:cNvGraphicFramePr>
          <p:nvPr/>
        </p:nvGraphicFramePr>
        <p:xfrm>
          <a:off x="5447928" y="5229200"/>
          <a:ext cx="137160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8" name="Equation" r:id="rId7" imgW="495000" imgH="253800" progId="Equation.DSMT4">
                  <p:embed/>
                </p:oleObj>
              </mc:Choice>
              <mc:Fallback>
                <p:oleObj name="Equation" r:id="rId7" imgW="495000" imgH="253800" progId="Equation.DSMT4">
                  <p:embed/>
                  <p:pic>
                    <p:nvPicPr>
                      <p:cNvPr id="2356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5229200"/>
                        <a:ext cx="137160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8">
            <a:extLst>
              <a:ext uri="{FF2B5EF4-FFF2-40B4-BE49-F238E27FC236}">
                <a16:creationId xmlns:a16="http://schemas.microsoft.com/office/drawing/2014/main" id="{1D3ECA7E-BA23-4700-8D61-7C0EA6533C45}"/>
              </a:ext>
            </a:extLst>
          </p:cNvPr>
          <p:cNvSpPr txBox="1">
            <a:spLocks noChangeArrowheads="1"/>
          </p:cNvSpPr>
          <p:nvPr/>
        </p:nvSpPr>
        <p:spPr bwMode="auto">
          <a:xfrm rot="20925975">
            <a:off x="2444750" y="2811464"/>
            <a:ext cx="7416800" cy="954087"/>
          </a:xfrm>
          <a:prstGeom prst="rect">
            <a:avLst/>
          </a:prstGeom>
          <a:solidFill>
            <a:srgbClr val="FFFF99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800"/>
              <a:t>BUT  m &gt; n … more predictors than records</a:t>
            </a:r>
          </a:p>
          <a:p>
            <a:pPr algn="ctr" eaLnBrk="1" hangingPunct="1"/>
            <a:r>
              <a:rPr lang="en-GB" altLang="en-US" sz="2800"/>
              <a:t>No inverse! No solution! Over-fitting!</a:t>
            </a:r>
          </a:p>
        </p:txBody>
      </p:sp>
    </p:spTree>
    <p:extLst>
      <p:ext uri="{BB962C8B-B14F-4D97-AF65-F5344CB8AC3E}">
        <p14:creationId xmlns:p14="http://schemas.microsoft.com/office/powerpoint/2010/main" val="2839724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Predictors &gt;&gt; 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An increasingly common problem</a:t>
            </a:r>
          </a:p>
          <a:p>
            <a:pPr lvl="1" eaLnBrk="1" hangingPunct="1">
              <a:defRPr/>
            </a:pPr>
            <a:r>
              <a:rPr lang="en-GB" dirty="0"/>
              <a:t>e.g. 100,000s markers, 1000’s phenotypes</a:t>
            </a:r>
          </a:p>
          <a:p>
            <a:pPr lvl="1" eaLnBrk="1" hangingPunct="1">
              <a:defRPr/>
            </a:pPr>
            <a:r>
              <a:rPr lang="en-GB" dirty="0"/>
              <a:t>‘</a:t>
            </a:r>
            <a:r>
              <a:rPr lang="en-GB" dirty="0" err="1"/>
              <a:t>omics</a:t>
            </a:r>
            <a:r>
              <a:rPr lang="en-GB" dirty="0"/>
              <a:t> data generates yet more 100,000s of expression data to fit the same ‘few’ phenotypes!</a:t>
            </a:r>
          </a:p>
          <a:p>
            <a:pPr marL="457200" lvl="1" indent="0" eaLnBrk="1" hangingPunct="1">
              <a:buNone/>
              <a:defRPr/>
            </a:pPr>
            <a:endParaRPr lang="en-GB" dirty="0"/>
          </a:p>
          <a:p>
            <a:pPr lvl="1" eaLnBrk="1" hangingPunct="1">
              <a:defRPr/>
            </a:pPr>
            <a:endParaRPr lang="en-GB" dirty="0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F6AA972-FC27-4FB4-854C-1F778BE09593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560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Predictors &gt;&gt; 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An increasingly common problem</a:t>
            </a:r>
          </a:p>
          <a:p>
            <a:pPr lvl="1" eaLnBrk="1" hangingPunct="1">
              <a:defRPr/>
            </a:pPr>
            <a:r>
              <a:rPr lang="en-GB" dirty="0"/>
              <a:t>e.g. 100,000s markers, 1000’s phenotypes</a:t>
            </a:r>
          </a:p>
          <a:p>
            <a:pPr lvl="1" eaLnBrk="1" hangingPunct="1">
              <a:defRPr/>
            </a:pPr>
            <a:r>
              <a:rPr lang="en-GB" dirty="0"/>
              <a:t>‘</a:t>
            </a:r>
            <a:r>
              <a:rPr lang="en-GB" dirty="0" err="1"/>
              <a:t>omics</a:t>
            </a:r>
            <a:r>
              <a:rPr lang="en-GB" dirty="0"/>
              <a:t> data generates yet more 100,000s of expression data to fit the same ‘few’ phenotypes!</a:t>
            </a:r>
          </a:p>
          <a:p>
            <a:pPr eaLnBrk="1" hangingPunct="1">
              <a:defRPr/>
            </a:pPr>
            <a:r>
              <a:rPr lang="en-GB" dirty="0"/>
              <a:t>Options </a:t>
            </a:r>
          </a:p>
          <a:p>
            <a:pPr lvl="1" eaLnBrk="1" hangingPunct="1">
              <a:defRPr/>
            </a:pPr>
            <a:r>
              <a:rPr lang="en-GB" dirty="0"/>
              <a:t>reduce dimensionality of predictors</a:t>
            </a:r>
          </a:p>
          <a:p>
            <a:pPr lvl="1" eaLnBrk="1" hangingPunct="1">
              <a:defRPr/>
            </a:pPr>
            <a:r>
              <a:rPr lang="en-GB" dirty="0"/>
              <a:t>subset selection</a:t>
            </a:r>
          </a:p>
          <a:p>
            <a:pPr lvl="1" eaLnBrk="1" hangingPunct="1">
              <a:defRPr/>
            </a:pPr>
            <a:r>
              <a:rPr lang="en-GB" dirty="0"/>
              <a:t>shrinkage</a:t>
            </a:r>
          </a:p>
          <a:p>
            <a:pPr marL="457200" lvl="1" indent="0" eaLnBrk="1" hangingPunct="1">
              <a:buNone/>
              <a:defRPr/>
            </a:pPr>
            <a:endParaRPr lang="en-GB" dirty="0"/>
          </a:p>
          <a:p>
            <a:pPr lvl="1" eaLnBrk="1" hangingPunct="1">
              <a:defRPr/>
            </a:pPr>
            <a:endParaRPr lang="en-GB" dirty="0"/>
          </a:p>
          <a:p>
            <a:pPr lvl="1" eaLnBrk="1" hangingPunct="1">
              <a:defRPr/>
            </a:pPr>
            <a:endParaRPr lang="en-GB" dirty="0"/>
          </a:p>
        </p:txBody>
      </p:sp>
      <p:sp>
        <p:nvSpPr>
          <p:cNvPr id="2662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9A10C1A-1CCB-49EC-80FF-6ACDE7719A18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662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Predictors &gt;&gt; Data 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 increasingly common problem</a:t>
            </a:r>
          </a:p>
          <a:p>
            <a:pPr lvl="1" eaLnBrk="1" hangingPunct="1"/>
            <a:r>
              <a:rPr lang="en-GB" altLang="en-US"/>
              <a:t>e.g. 100,000s markers, 1000’s phenotypes</a:t>
            </a:r>
          </a:p>
          <a:p>
            <a:pPr lvl="1" eaLnBrk="1" hangingPunct="1"/>
            <a:r>
              <a:rPr lang="en-GB" altLang="en-US"/>
              <a:t>‘omics data generates yet more 100,000s of expression data to fit the same ‘few’ phenotypes!</a:t>
            </a:r>
          </a:p>
          <a:p>
            <a:pPr eaLnBrk="1" hangingPunct="1"/>
            <a:r>
              <a:rPr lang="en-GB" altLang="en-US"/>
              <a:t>Options </a:t>
            </a:r>
          </a:p>
          <a:p>
            <a:pPr lvl="1" eaLnBrk="1" hangingPunct="1"/>
            <a:r>
              <a:rPr lang="en-GB" altLang="en-US"/>
              <a:t>reduce dimensionality</a:t>
            </a:r>
          </a:p>
          <a:p>
            <a:pPr lvl="1" eaLnBrk="1" hangingPunct="1"/>
            <a:r>
              <a:rPr lang="en-GB" altLang="en-US"/>
              <a:t>subset selection</a:t>
            </a:r>
          </a:p>
          <a:p>
            <a:pPr lvl="1" eaLnBrk="1" hangingPunct="1"/>
            <a:r>
              <a:rPr lang="en-GB" altLang="en-US"/>
              <a:t>shrinkage</a:t>
            </a:r>
          </a:p>
          <a:p>
            <a:pPr lvl="1" eaLnBrk="1" hangingPunct="1"/>
            <a:endParaRPr lang="en-GB" altLang="en-US"/>
          </a:p>
          <a:p>
            <a:pPr lvl="1" eaLnBrk="1" hangingPunct="1"/>
            <a:endParaRPr lang="en-GB" altLang="en-US"/>
          </a:p>
        </p:txBody>
      </p:sp>
      <p:sp>
        <p:nvSpPr>
          <p:cNvPr id="2765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8E08AE5-24EE-40E2-BB02-1DB2181E9F06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765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" name="Freeform 5"/>
          <p:cNvSpPr/>
          <p:nvPr/>
        </p:nvSpPr>
        <p:spPr>
          <a:xfrm>
            <a:off x="767408" y="4653136"/>
            <a:ext cx="2179637" cy="927100"/>
          </a:xfrm>
          <a:custGeom>
            <a:avLst/>
            <a:gdLst>
              <a:gd name="connsiteX0" fmla="*/ 2122560 w 2180274"/>
              <a:gd name="connsiteY0" fmla="*/ 259307 h 927542"/>
              <a:gd name="connsiteX1" fmla="*/ 785079 w 2180274"/>
              <a:gd name="connsiteY1" fmla="*/ 136477 h 927542"/>
              <a:gd name="connsiteX2" fmla="*/ 7157 w 2180274"/>
              <a:gd name="connsiteY2" fmla="*/ 736979 h 927542"/>
              <a:gd name="connsiteX3" fmla="*/ 1221807 w 2180274"/>
              <a:gd name="connsiteY3" fmla="*/ 914400 h 927542"/>
              <a:gd name="connsiteX4" fmla="*/ 1235455 w 2180274"/>
              <a:gd name="connsiteY4" fmla="*/ 914400 h 927542"/>
              <a:gd name="connsiteX5" fmla="*/ 2177151 w 2180274"/>
              <a:gd name="connsiteY5" fmla="*/ 764274 h 927542"/>
              <a:gd name="connsiteX6" fmla="*/ 1481115 w 2180274"/>
              <a:gd name="connsiteY6" fmla="*/ 0 h 92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0274" h="927542">
                <a:moveTo>
                  <a:pt x="2122560" y="259307"/>
                </a:moveTo>
                <a:cubicBezTo>
                  <a:pt x="1630103" y="158086"/>
                  <a:pt x="1137646" y="56865"/>
                  <a:pt x="785079" y="136477"/>
                </a:cubicBezTo>
                <a:cubicBezTo>
                  <a:pt x="432512" y="216089"/>
                  <a:pt x="-65631" y="607325"/>
                  <a:pt x="7157" y="736979"/>
                </a:cubicBezTo>
                <a:cubicBezTo>
                  <a:pt x="79945" y="866633"/>
                  <a:pt x="1017091" y="884830"/>
                  <a:pt x="1221807" y="914400"/>
                </a:cubicBezTo>
                <a:cubicBezTo>
                  <a:pt x="1426523" y="943970"/>
                  <a:pt x="1235455" y="914400"/>
                  <a:pt x="1235455" y="914400"/>
                </a:cubicBezTo>
                <a:cubicBezTo>
                  <a:pt x="1394679" y="889379"/>
                  <a:pt x="2136208" y="916674"/>
                  <a:pt x="2177151" y="764274"/>
                </a:cubicBezTo>
                <a:cubicBezTo>
                  <a:pt x="2218094" y="611874"/>
                  <a:pt x="1849604" y="305937"/>
                  <a:pt x="1481115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Established method for overcoming </a:t>
            </a:r>
            <a:r>
              <a:rPr lang="en-GB" i="1" dirty="0"/>
              <a:t>m</a:t>
            </a:r>
            <a:r>
              <a:rPr lang="en-GB" dirty="0"/>
              <a:t> &gt; </a:t>
            </a:r>
            <a:r>
              <a:rPr lang="en-GB" i="1" dirty="0"/>
              <a:t>n</a:t>
            </a:r>
            <a:r>
              <a:rPr lang="en-GB" dirty="0"/>
              <a:t> in regression problems</a:t>
            </a:r>
          </a:p>
          <a:p>
            <a:pPr lvl="1" eaLnBrk="1" hangingPunct="1">
              <a:defRPr/>
            </a:pPr>
            <a:r>
              <a:rPr lang="en-GB" dirty="0"/>
              <a:t>assume </a:t>
            </a:r>
            <a:r>
              <a:rPr lang="en-GB" i="1" dirty="0"/>
              <a:t>m</a:t>
            </a:r>
            <a:r>
              <a:rPr lang="en-GB" dirty="0"/>
              <a:t> regression coefficients on marker loci are </a:t>
            </a:r>
            <a:r>
              <a:rPr lang="en-GB" u="sng" dirty="0"/>
              <a:t>random effect</a:t>
            </a:r>
          </a:p>
          <a:p>
            <a:pPr lvl="1" eaLnBrk="1" hangingPunct="1">
              <a:defRPr/>
            </a:pPr>
            <a:r>
              <a:rPr lang="en-GB" dirty="0"/>
              <a:t>‘shrinkage’ method, shrinks coefficients towards 0</a:t>
            </a:r>
          </a:p>
          <a:p>
            <a:pPr lvl="1" eaLnBrk="1" hangingPunct="1">
              <a:defRPr/>
            </a:pPr>
            <a:r>
              <a:rPr lang="en-GB" dirty="0"/>
              <a:t>shrinkage at each marker will depend on info</a:t>
            </a:r>
          </a:p>
          <a:p>
            <a:pPr lvl="1" eaLnBrk="1" hangingPunct="1">
              <a:defRPr/>
            </a:pPr>
            <a:r>
              <a:rPr lang="en-GB" dirty="0"/>
              <a:t>can formulated as a penalty on the size of      ’s </a:t>
            </a:r>
          </a:p>
          <a:p>
            <a:pPr marL="457200" lvl="1" indent="0" eaLnBrk="1" hangingPunct="1">
              <a:buNone/>
              <a:defRPr/>
            </a:pPr>
            <a:r>
              <a:rPr lang="en-GB" dirty="0"/>
              <a:t>		i.e.</a:t>
            </a:r>
          </a:p>
          <a:p>
            <a:pPr lvl="1" eaLnBrk="1" hangingPunct="1">
              <a:defRPr/>
            </a:pPr>
            <a:endParaRPr lang="en-GB" dirty="0"/>
          </a:p>
          <a:p>
            <a:pPr lvl="1" eaLnBrk="1" hangingPunct="1">
              <a:defRPr/>
            </a:pPr>
            <a:r>
              <a:rPr lang="en-GB" dirty="0"/>
              <a:t>we will stick to mixed model formulation </a:t>
            </a:r>
          </a:p>
          <a:p>
            <a:pPr marL="457200" lvl="1" indent="0" eaLnBrk="1" hangingPunct="1">
              <a:buNone/>
              <a:defRPr/>
            </a:pPr>
            <a:endParaRPr lang="en-GB" dirty="0"/>
          </a:p>
        </p:txBody>
      </p:sp>
      <p:sp>
        <p:nvSpPr>
          <p:cNvPr id="2867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1B7A9E7-AD06-44CE-B4A8-4B7D87CE5CD7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867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28678" name="Rectangle 5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86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577412"/>
              </p:ext>
            </p:extLst>
          </p:nvPr>
        </p:nvGraphicFramePr>
        <p:xfrm>
          <a:off x="2855640" y="4309913"/>
          <a:ext cx="1614487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1" name="Equation" r:id="rId3" imgW="787320" imgH="342720" progId="Equation.DSMT4">
                  <p:embed/>
                </p:oleObj>
              </mc:Choice>
              <mc:Fallback>
                <p:oleObj name="Equation" r:id="rId3" imgW="787320" imgH="3427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4309913"/>
                        <a:ext cx="1614487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55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126692"/>
              </p:ext>
            </p:extLst>
          </p:nvPr>
        </p:nvGraphicFramePr>
        <p:xfrm>
          <a:off x="7752184" y="3805932"/>
          <a:ext cx="4318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2" name="Equation" r:id="rId5" imgW="164880" imgH="241200" progId="Equation.DSMT4">
                  <p:embed/>
                </p:oleObj>
              </mc:Choice>
              <mc:Fallback>
                <p:oleObj name="Equation" r:id="rId5" imgW="16488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2184" y="3805932"/>
                        <a:ext cx="4318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9767118" y="2829942"/>
            <a:ext cx="1441450" cy="527050"/>
          </a:xfrm>
          <a:prstGeom prst="rect">
            <a:avLst/>
          </a:prstGeom>
          <a:solidFill>
            <a:srgbClr val="FFFF9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i.e. the </a:t>
            </a:r>
            <a:r>
              <a:rPr lang="en-GB" i="1" dirty="0">
                <a:solidFill>
                  <a:schemeClr val="tx1"/>
                </a:solidFill>
              </a:rPr>
              <a:t>b</a:t>
            </a:r>
            <a:r>
              <a:rPr lang="en-GB" dirty="0">
                <a:solidFill>
                  <a:schemeClr val="tx1"/>
                </a:solidFill>
              </a:rPr>
              <a:t>’s are random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Centre the X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In simple regression, easiest to make regression slope independent of the intercept</a:t>
            </a:r>
          </a:p>
          <a:p>
            <a:pPr lvl="1" eaLnBrk="1" hangingPunct="1"/>
            <a:r>
              <a:rPr lang="en-GB" altLang="en-US" dirty="0"/>
              <a:t>computation ease, statistical clarity</a:t>
            </a:r>
          </a:p>
          <a:p>
            <a:pPr lvl="1" eaLnBrk="1" hangingPunct="1"/>
            <a:r>
              <a:rPr lang="en-GB" altLang="en-US" dirty="0"/>
              <a:t>does not change model fits</a:t>
            </a:r>
          </a:p>
          <a:p>
            <a:pPr lvl="1" eaLnBrk="1" hangingPunct="1"/>
            <a:r>
              <a:rPr lang="en-GB" altLang="en-US" dirty="0"/>
              <a:t>‘centre’ covariates as deviations from their mean</a:t>
            </a:r>
          </a:p>
          <a:p>
            <a:pPr lvl="1" eaLnBrk="1" hangingPunct="1"/>
            <a:r>
              <a:rPr lang="en-GB" altLang="en-US" dirty="0"/>
              <a:t>e.g.                       becomes</a:t>
            </a:r>
          </a:p>
          <a:p>
            <a:pPr eaLnBrk="1" hangingPunct="1"/>
            <a:r>
              <a:rPr lang="en-GB" altLang="en-US" dirty="0"/>
              <a:t>This is typically done in ridge regression</a:t>
            </a:r>
          </a:p>
          <a:p>
            <a:pPr eaLnBrk="1" hangingPunct="1"/>
            <a:r>
              <a:rPr lang="en-GB" altLang="en-US" b="1" dirty="0"/>
              <a:t>X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m</a:t>
            </a:r>
            <a:r>
              <a:rPr lang="en-GB" altLang="en-US" dirty="0"/>
              <a:t>) design matrix mapping </a:t>
            </a:r>
            <a:r>
              <a:rPr lang="en-GB" altLang="en-US" i="1" dirty="0"/>
              <a:t>m </a:t>
            </a:r>
            <a:r>
              <a:rPr lang="en-GB" altLang="en-US" dirty="0"/>
              <a:t>markers to </a:t>
            </a:r>
            <a:r>
              <a:rPr lang="en-GB" altLang="en-US" i="1" dirty="0"/>
              <a:t>n </a:t>
            </a:r>
            <a:r>
              <a:rPr lang="en-GB" altLang="en-US" dirty="0"/>
              <a:t>individuals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2970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0D87FF8-0C48-49C6-8D31-39E6EB085D3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2970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29702" name="Rectangle 9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970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70107"/>
              </p:ext>
            </p:extLst>
          </p:nvPr>
        </p:nvGraphicFramePr>
        <p:xfrm>
          <a:off x="1775520" y="3860801"/>
          <a:ext cx="20161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2" name="Equation" r:id="rId3" imgW="990360" imgH="203040" progId="Equation.DSMT4">
                  <p:embed/>
                </p:oleObj>
              </mc:Choice>
              <mc:Fallback>
                <p:oleObj name="Equation" r:id="rId3" imgW="99036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3860801"/>
                        <a:ext cx="20161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9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970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149579"/>
              </p:ext>
            </p:extLst>
          </p:nvPr>
        </p:nvGraphicFramePr>
        <p:xfrm>
          <a:off x="5591944" y="3860801"/>
          <a:ext cx="28543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3" name="Equation" r:id="rId5" imgW="1409400" imgH="203040" progId="Equation.DSMT4">
                  <p:embed/>
                </p:oleObj>
              </mc:Choice>
              <mc:Fallback>
                <p:oleObj name="Equation" r:id="rId5" imgW="140940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3860801"/>
                        <a:ext cx="285432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Small Example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X</a:t>
            </a:r>
            <a:r>
              <a:rPr lang="en-GB" altLang="en-US"/>
              <a:t> for 3 individuals (</a:t>
            </a:r>
            <a:r>
              <a:rPr lang="en-GB" altLang="en-US" i="1"/>
              <a:t>n</a:t>
            </a:r>
            <a:r>
              <a:rPr lang="en-GB" altLang="en-US"/>
              <a:t>) with 2 loci (</a:t>
            </a:r>
            <a:r>
              <a:rPr lang="en-GB" altLang="en-US" i="1"/>
              <a:t>m</a:t>
            </a:r>
            <a:r>
              <a:rPr lang="en-GB" altLang="en-US"/>
              <a:t>)</a:t>
            </a:r>
          </a:p>
        </p:txBody>
      </p:sp>
      <p:sp>
        <p:nvSpPr>
          <p:cNvPr id="1843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57123FE-BBFC-4E65-824A-AEF355CD7F87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1843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18438" name="Object 5"/>
          <p:cNvGraphicFramePr>
            <a:graphicFrameLocks noChangeAspect="1"/>
          </p:cNvGraphicFramePr>
          <p:nvPr/>
        </p:nvGraphicFramePr>
        <p:xfrm>
          <a:off x="5448301" y="2492375"/>
          <a:ext cx="121761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5" name="Formula" r:id="rId4" imgW="614880" imgH="847440" progId="Equation.Ribbit">
                  <p:embed/>
                </p:oleObj>
              </mc:Choice>
              <mc:Fallback>
                <p:oleObj name="Formula" r:id="rId4" imgW="614880" imgH="847440" progId="Equation.Ribbit">
                  <p:embed/>
                  <p:pic>
                    <p:nvPicPr>
                      <p:cNvPr id="1843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2492375"/>
                        <a:ext cx="1217613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ight Brace 6"/>
          <p:cNvSpPr/>
          <p:nvPr/>
        </p:nvSpPr>
        <p:spPr>
          <a:xfrm rot="16200000" flipV="1">
            <a:off x="5988051" y="1881188"/>
            <a:ext cx="144462" cy="79216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440" name="TextBox 7"/>
          <p:cNvSpPr txBox="1">
            <a:spLocks noChangeArrowheads="1"/>
          </p:cNvSpPr>
          <p:nvPr/>
        </p:nvSpPr>
        <p:spPr bwMode="auto">
          <a:xfrm>
            <a:off x="5664201" y="1743076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sp>
        <p:nvSpPr>
          <p:cNvPr id="9" name="Right Brace 8"/>
          <p:cNvSpPr/>
          <p:nvPr/>
        </p:nvSpPr>
        <p:spPr>
          <a:xfrm flipH="1" flipV="1">
            <a:off x="4727576" y="2565400"/>
            <a:ext cx="144463" cy="1511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442" name="TextBox 9"/>
          <p:cNvSpPr txBox="1">
            <a:spLocks noChangeArrowheads="1"/>
          </p:cNvSpPr>
          <p:nvPr/>
        </p:nvSpPr>
        <p:spPr bwMode="auto">
          <a:xfrm>
            <a:off x="3071814" y="30686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Individuals</a:t>
            </a:r>
            <a:endParaRPr lang="en-GB" altLang="en-US"/>
          </a:p>
        </p:txBody>
      </p:sp>
      <p:sp>
        <p:nvSpPr>
          <p:cNvPr id="12" name="Rectangle 11"/>
          <p:cNvSpPr/>
          <p:nvPr/>
        </p:nvSpPr>
        <p:spPr>
          <a:xfrm>
            <a:off x="7608889" y="2593976"/>
            <a:ext cx="287337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7967664" y="2593976"/>
            <a:ext cx="288925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8688389" y="2593976"/>
            <a:ext cx="287337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9048750" y="2593976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608889" y="3170239"/>
            <a:ext cx="287337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967664" y="3170239"/>
            <a:ext cx="288925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8688389" y="3170239"/>
            <a:ext cx="287337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9048750" y="3170239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7608889" y="3746501"/>
            <a:ext cx="287337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7967664" y="3746501"/>
            <a:ext cx="288925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8688389" y="3746501"/>
            <a:ext cx="287337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9048750" y="3746501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4" name="Right Brace 23"/>
          <p:cNvSpPr/>
          <p:nvPr/>
        </p:nvSpPr>
        <p:spPr>
          <a:xfrm rot="16200000" flipV="1">
            <a:off x="8401051" y="1443038"/>
            <a:ext cx="142875" cy="17272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457" name="TextBox 24"/>
          <p:cNvSpPr txBox="1">
            <a:spLocks noChangeArrowheads="1"/>
          </p:cNvSpPr>
          <p:nvPr/>
        </p:nvSpPr>
        <p:spPr bwMode="auto">
          <a:xfrm>
            <a:off x="8075614" y="1773238"/>
            <a:ext cx="1044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434264" y="4466556"/>
          <a:ext cx="2327275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1">
                <a:tc gridSpan="3"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Breeding values</a:t>
                      </a:r>
                    </a:p>
                  </a:txBody>
                  <a:tcPr marL="91415" marR="91415" marT="45700" marB="45700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1</a:t>
                      </a:r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aseline="0" dirty="0"/>
                        <a:t>+4</a:t>
                      </a:r>
                      <a:endParaRPr lang="en-GB" sz="1800" dirty="0"/>
                    </a:p>
                  </a:txBody>
                  <a:tcPr marL="91415" marR="9141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2</a:t>
                      </a:r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+1</a:t>
                      </a:r>
                    </a:p>
                  </a:txBody>
                  <a:tcPr marL="91415" marR="9141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/>
                        <a:t>g</a:t>
                      </a:r>
                      <a:r>
                        <a:rPr lang="en-GB" sz="1800" baseline="-25000" dirty="0"/>
                        <a:t>3</a:t>
                      </a:r>
                      <a:endParaRPr lang="en-GB" sz="1800" dirty="0"/>
                    </a:p>
                  </a:txBody>
                  <a:tcPr marL="91415" marR="91415" marT="45700" marB="457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+6</a:t>
                      </a:r>
                    </a:p>
                  </a:txBody>
                  <a:tcPr marL="91415" marR="9141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8A04093-511C-4A06-BBB6-CE24E89DC725}"/>
              </a:ext>
            </a:extLst>
          </p:cNvPr>
          <p:cNvGrpSpPr/>
          <p:nvPr/>
        </p:nvGrpSpPr>
        <p:grpSpPr>
          <a:xfrm>
            <a:off x="7680325" y="4896000"/>
            <a:ext cx="287338" cy="1008064"/>
            <a:chOff x="7680325" y="4797424"/>
            <a:chExt cx="287338" cy="1008064"/>
          </a:xfrm>
        </p:grpSpPr>
        <p:sp>
          <p:nvSpPr>
            <p:cNvPr id="33" name="Oval 32"/>
            <p:cNvSpPr/>
            <p:nvPr/>
          </p:nvSpPr>
          <p:spPr>
            <a:xfrm>
              <a:off x="7680325" y="4797424"/>
              <a:ext cx="287338" cy="28733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7680325" y="5157788"/>
              <a:ext cx="287338" cy="28733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680325" y="5516563"/>
              <a:ext cx="287338" cy="28892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AA103F8-AF8C-4FAC-AD7E-A661ED9DE5DA}"/>
              </a:ext>
            </a:extLst>
          </p:cNvPr>
          <p:cNvGrpSpPr/>
          <p:nvPr/>
        </p:nvGrpSpPr>
        <p:grpSpPr>
          <a:xfrm>
            <a:off x="1199209" y="4437112"/>
            <a:ext cx="5184823" cy="1568450"/>
            <a:chOff x="1919289" y="4614862"/>
            <a:chExt cx="5184823" cy="1568450"/>
          </a:xfrm>
        </p:grpSpPr>
        <p:sp>
          <p:nvSpPr>
            <p:cNvPr id="18443" name="TextBox 10"/>
            <p:cNvSpPr txBox="1">
              <a:spLocks noChangeArrowheads="1"/>
            </p:cNvSpPr>
            <p:nvPr/>
          </p:nvSpPr>
          <p:spPr bwMode="auto">
            <a:xfrm>
              <a:off x="1919289" y="4614862"/>
              <a:ext cx="5184823" cy="1568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2400" dirty="0"/>
                <a:t>       is reference allele for a locus</a:t>
              </a:r>
            </a:p>
            <a:p>
              <a:pPr eaLnBrk="1" hangingPunct="1"/>
              <a:r>
                <a:rPr lang="en-GB" altLang="en-US" sz="2400" dirty="0"/>
                <a:t>Alternative alleles:</a:t>
              </a:r>
            </a:p>
            <a:p>
              <a:pPr eaLnBrk="1" hangingPunct="1"/>
              <a:r>
                <a:rPr lang="en-GB" altLang="en-US" sz="2400" dirty="0"/>
                <a:t>Locus 1,  allele effect        = (      +2)</a:t>
              </a:r>
            </a:p>
            <a:p>
              <a:pPr eaLnBrk="1" hangingPunct="1"/>
              <a:r>
                <a:rPr lang="en-GB" altLang="en-US" sz="2400" dirty="0"/>
                <a:t>Locus 2,  allele effect        = (      +1) 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087939" y="5805488"/>
              <a:ext cx="287337" cy="287337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951539" y="5805488"/>
              <a:ext cx="288925" cy="2873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87939" y="5434013"/>
              <a:ext cx="287337" cy="28892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951539" y="5434013"/>
              <a:ext cx="288925" cy="2889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065339" y="4652963"/>
              <a:ext cx="288925" cy="2889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36492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Centre the X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/>
              <a:t>X</a:t>
            </a:r>
            <a:r>
              <a:rPr lang="en-GB" altLang="en-US"/>
              <a:t> for 3 individuals (</a:t>
            </a:r>
            <a:r>
              <a:rPr lang="en-GB" altLang="en-US" i="1"/>
              <a:t>n</a:t>
            </a:r>
            <a:r>
              <a:rPr lang="en-GB" altLang="en-US"/>
              <a:t>) with 2 loci (</a:t>
            </a:r>
            <a:r>
              <a:rPr lang="en-GB" altLang="en-US" i="1"/>
              <a:t>m</a:t>
            </a:r>
            <a:r>
              <a:rPr lang="en-GB" altLang="en-US"/>
              <a:t>)</a:t>
            </a:r>
          </a:p>
        </p:txBody>
      </p:sp>
      <p:sp>
        <p:nvSpPr>
          <p:cNvPr id="3072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2AA249C-D95B-40C1-9E3B-8004BC3B21A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072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30726" name="Object 5"/>
          <p:cNvGraphicFramePr>
            <a:graphicFrameLocks noChangeAspect="1"/>
          </p:cNvGraphicFramePr>
          <p:nvPr/>
        </p:nvGraphicFramePr>
        <p:xfrm>
          <a:off x="5448301" y="2492375"/>
          <a:ext cx="121761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8" name="Formula" r:id="rId3" imgW="614880" imgH="847440" progId="Equation.Ribbit">
                  <p:embed/>
                </p:oleObj>
              </mc:Choice>
              <mc:Fallback>
                <p:oleObj name="Formula" r:id="rId3" imgW="614880" imgH="847440" progId="Equation.Ribbit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2492375"/>
                        <a:ext cx="1217613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ight Brace 6"/>
          <p:cNvSpPr/>
          <p:nvPr/>
        </p:nvSpPr>
        <p:spPr>
          <a:xfrm rot="16200000" flipV="1">
            <a:off x="5988051" y="1881188"/>
            <a:ext cx="144462" cy="79216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0728" name="TextBox 7"/>
          <p:cNvSpPr txBox="1">
            <a:spLocks noChangeArrowheads="1"/>
          </p:cNvSpPr>
          <p:nvPr/>
        </p:nvSpPr>
        <p:spPr bwMode="auto">
          <a:xfrm>
            <a:off x="5664201" y="1743076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sp>
        <p:nvSpPr>
          <p:cNvPr id="9" name="Right Brace 8"/>
          <p:cNvSpPr/>
          <p:nvPr/>
        </p:nvSpPr>
        <p:spPr>
          <a:xfrm flipH="1" flipV="1">
            <a:off x="4727576" y="2565400"/>
            <a:ext cx="144463" cy="1511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0730" name="TextBox 9"/>
          <p:cNvSpPr txBox="1">
            <a:spLocks noChangeArrowheads="1"/>
          </p:cNvSpPr>
          <p:nvPr/>
        </p:nvSpPr>
        <p:spPr bwMode="auto">
          <a:xfrm>
            <a:off x="3071814" y="30686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Individuals</a:t>
            </a:r>
            <a:endParaRPr lang="en-GB" altLang="en-US"/>
          </a:p>
        </p:txBody>
      </p:sp>
      <p:sp>
        <p:nvSpPr>
          <p:cNvPr id="30731" name="TextBox 10"/>
          <p:cNvSpPr txBox="1">
            <a:spLocks noChangeArrowheads="1"/>
          </p:cNvSpPr>
          <p:nvPr/>
        </p:nvSpPr>
        <p:spPr bwMode="auto">
          <a:xfrm>
            <a:off x="1919288" y="4292600"/>
            <a:ext cx="52562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Frequency, p</a:t>
            </a:r>
            <a:r>
              <a:rPr lang="en-GB" altLang="en-US" sz="2400" baseline="-25000"/>
              <a:t>j</a:t>
            </a:r>
            <a:r>
              <a:rPr lang="en-GB" altLang="en-US" sz="2400"/>
              <a:t> 	            ½  5/6 </a:t>
            </a:r>
          </a:p>
          <a:p>
            <a:pPr eaLnBrk="1" hangingPunct="1"/>
            <a:r>
              <a:rPr lang="en-GB" altLang="en-US" sz="2400"/>
              <a:t>Mean of covariate, 2p</a:t>
            </a:r>
            <a:r>
              <a:rPr lang="en-GB" altLang="en-US" sz="2400" baseline="-25000"/>
              <a:t>j</a:t>
            </a:r>
            <a:r>
              <a:rPr lang="en-GB" altLang="en-US" sz="2400"/>
              <a:t>  	 1   5/3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8889" y="2593976"/>
            <a:ext cx="287337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7967664" y="2593976"/>
            <a:ext cx="288925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8688389" y="2593976"/>
            <a:ext cx="287337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9048750" y="2593976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608889" y="3170239"/>
            <a:ext cx="287337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967664" y="3170239"/>
            <a:ext cx="288925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8688389" y="3170239"/>
            <a:ext cx="287337" cy="2889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9048750" y="3170239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7608889" y="3746501"/>
            <a:ext cx="287337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7967664" y="3746501"/>
            <a:ext cx="288925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8688389" y="3746501"/>
            <a:ext cx="287337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9048750" y="3746501"/>
            <a:ext cx="287338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4" name="Right Brace 23"/>
          <p:cNvSpPr/>
          <p:nvPr/>
        </p:nvSpPr>
        <p:spPr>
          <a:xfrm rot="16200000" flipV="1">
            <a:off x="8401051" y="1443038"/>
            <a:ext cx="142875" cy="17272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0745" name="TextBox 24"/>
          <p:cNvSpPr txBox="1">
            <a:spLocks noChangeArrowheads="1"/>
          </p:cNvSpPr>
          <p:nvPr/>
        </p:nvSpPr>
        <p:spPr bwMode="auto">
          <a:xfrm>
            <a:off x="8075614" y="1773238"/>
            <a:ext cx="1044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Centre the X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‘Centre’ </a:t>
            </a:r>
            <a:r>
              <a:rPr lang="en-GB" altLang="en-US" b="1" dirty="0"/>
              <a:t>X</a:t>
            </a:r>
            <a:r>
              <a:rPr lang="en-GB" altLang="en-US" dirty="0"/>
              <a:t> </a:t>
            </a:r>
            <a:r>
              <a:rPr lang="en-GB" altLang="en-US" b="1" dirty="0"/>
              <a:t>                                                     W</a:t>
            </a:r>
            <a:r>
              <a:rPr lang="en-GB" altLang="en-US" b="1" baseline="-25000" dirty="0"/>
              <a:t>1</a:t>
            </a:r>
            <a:endParaRPr lang="en-GB" altLang="en-US" b="1" dirty="0"/>
          </a:p>
        </p:txBody>
      </p:sp>
      <p:sp>
        <p:nvSpPr>
          <p:cNvPr id="3174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C1738DF-4D34-404B-9F77-D4550B1AA576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174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31750" name="Object 5"/>
          <p:cNvGraphicFramePr>
            <a:graphicFrameLocks noChangeAspect="1"/>
          </p:cNvGraphicFramePr>
          <p:nvPr/>
        </p:nvGraphicFramePr>
        <p:xfrm>
          <a:off x="5448301" y="2492375"/>
          <a:ext cx="121761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9" name="Formula" r:id="rId3" imgW="614880" imgH="847440" progId="Equation.Ribbit">
                  <p:embed/>
                </p:oleObj>
              </mc:Choice>
              <mc:Fallback>
                <p:oleObj name="Formula" r:id="rId3" imgW="614880" imgH="847440" progId="Equation.Ribbit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2492375"/>
                        <a:ext cx="1217613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ight Brace 6"/>
          <p:cNvSpPr/>
          <p:nvPr/>
        </p:nvSpPr>
        <p:spPr>
          <a:xfrm rot="16200000" flipV="1">
            <a:off x="5988051" y="1881188"/>
            <a:ext cx="144462" cy="79216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1752" name="TextBox 7"/>
          <p:cNvSpPr txBox="1">
            <a:spLocks noChangeArrowheads="1"/>
          </p:cNvSpPr>
          <p:nvPr/>
        </p:nvSpPr>
        <p:spPr bwMode="auto">
          <a:xfrm>
            <a:off x="5664201" y="1743076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sp>
        <p:nvSpPr>
          <p:cNvPr id="9" name="Right Brace 8"/>
          <p:cNvSpPr/>
          <p:nvPr/>
        </p:nvSpPr>
        <p:spPr>
          <a:xfrm flipH="1" flipV="1">
            <a:off x="4727576" y="2565400"/>
            <a:ext cx="144463" cy="1511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1754" name="TextBox 9"/>
          <p:cNvSpPr txBox="1">
            <a:spLocks noChangeArrowheads="1"/>
          </p:cNvSpPr>
          <p:nvPr/>
        </p:nvSpPr>
        <p:spPr bwMode="auto">
          <a:xfrm>
            <a:off x="3071814" y="30686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Individuals</a:t>
            </a:r>
            <a:endParaRPr lang="en-GB" altLang="en-US"/>
          </a:p>
        </p:txBody>
      </p:sp>
      <p:sp>
        <p:nvSpPr>
          <p:cNvPr id="31755" name="TextBox 10"/>
          <p:cNvSpPr txBox="1">
            <a:spLocks noChangeArrowheads="1"/>
          </p:cNvSpPr>
          <p:nvPr/>
        </p:nvSpPr>
        <p:spPr bwMode="auto">
          <a:xfrm>
            <a:off x="1919288" y="4292600"/>
            <a:ext cx="52562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Frequency, p</a:t>
            </a:r>
            <a:r>
              <a:rPr lang="en-GB" altLang="en-US" sz="2400" baseline="-25000"/>
              <a:t>j</a:t>
            </a:r>
            <a:r>
              <a:rPr lang="en-GB" altLang="en-US" sz="2400"/>
              <a:t>		            ½  5/6 </a:t>
            </a:r>
          </a:p>
          <a:p>
            <a:pPr eaLnBrk="1" hangingPunct="1"/>
            <a:r>
              <a:rPr lang="en-GB" altLang="en-US" sz="2400"/>
              <a:t>Mean of covariate, 2p</a:t>
            </a:r>
            <a:r>
              <a:rPr lang="en-GB" altLang="en-US" sz="2400" baseline="-25000"/>
              <a:t>j</a:t>
            </a:r>
            <a:r>
              <a:rPr lang="en-GB" altLang="en-US" sz="2400"/>
              <a:t>    	 1   5/3</a:t>
            </a:r>
          </a:p>
        </p:txBody>
      </p:sp>
      <p:graphicFrame>
        <p:nvGraphicFramePr>
          <p:cNvPr id="31756" name="Object 11"/>
          <p:cNvGraphicFramePr>
            <a:graphicFrameLocks noChangeAspect="1"/>
          </p:cNvGraphicFramePr>
          <p:nvPr/>
        </p:nvGraphicFramePr>
        <p:xfrm>
          <a:off x="7762875" y="2492375"/>
          <a:ext cx="23495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0" name="Formula" r:id="rId5" imgW="1185120" imgH="847440" progId="Equation.Ribbit">
                  <p:embed/>
                </p:oleObj>
              </mc:Choice>
              <mc:Fallback>
                <p:oleObj name="Formula" r:id="rId5" imgW="1185120" imgH="847440" progId="Equation.Ribbit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75" y="2492375"/>
                        <a:ext cx="234950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6888164" y="3155951"/>
            <a:ext cx="503237" cy="417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4" name="Right Arrow 13"/>
          <p:cNvSpPr/>
          <p:nvPr/>
        </p:nvSpPr>
        <p:spPr>
          <a:xfrm>
            <a:off x="2855640" y="1284289"/>
            <a:ext cx="4535761" cy="415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5" name="Right Brace 14"/>
          <p:cNvSpPr/>
          <p:nvPr/>
        </p:nvSpPr>
        <p:spPr>
          <a:xfrm rot="16200000" flipV="1">
            <a:off x="8905083" y="1340645"/>
            <a:ext cx="71437" cy="180022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1760" name="TextBox 15"/>
          <p:cNvSpPr txBox="1">
            <a:spLocks noChangeArrowheads="1"/>
          </p:cNvSpPr>
          <p:nvPr/>
        </p:nvSpPr>
        <p:spPr bwMode="auto">
          <a:xfrm>
            <a:off x="8472489" y="1743076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sp>
        <p:nvSpPr>
          <p:cNvPr id="17" name="Rectangle 16"/>
          <p:cNvSpPr/>
          <p:nvPr/>
        </p:nvSpPr>
        <p:spPr>
          <a:xfrm>
            <a:off x="8112125" y="4365625"/>
            <a:ext cx="287338" cy="287338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8472489" y="4365625"/>
            <a:ext cx="287337" cy="28733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9191626" y="4365625"/>
            <a:ext cx="288925" cy="287338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9551989" y="4365625"/>
            <a:ext cx="288925" cy="287338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8112125" y="4941889"/>
            <a:ext cx="287338" cy="2873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8472489" y="4941889"/>
            <a:ext cx="287337" cy="2873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9191626" y="4941889"/>
            <a:ext cx="288925" cy="2873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9551989" y="4941889"/>
            <a:ext cx="288925" cy="287337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8112125" y="5516564"/>
            <a:ext cx="287338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8472489" y="5516564"/>
            <a:ext cx="287337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9191626" y="5516564"/>
            <a:ext cx="288925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9551989" y="5516564"/>
            <a:ext cx="288925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SNP BLUP (1)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observations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μ</a:t>
            </a:r>
            <a:r>
              <a:rPr lang="en-GB" altLang="en-US" b="1" dirty="0"/>
              <a:t> </a:t>
            </a:r>
            <a:r>
              <a:rPr lang="en-GB" altLang="en-US" dirty="0"/>
              <a:t>is the mean vector, with </a:t>
            </a:r>
            <a:r>
              <a:rPr lang="en-GB" altLang="en-US" b="1" dirty="0"/>
              <a:t>1</a:t>
            </a:r>
            <a:r>
              <a:rPr lang="en-GB" altLang="en-US" dirty="0"/>
              <a:t> (</a:t>
            </a:r>
            <a:r>
              <a:rPr lang="en-GB" altLang="en-US" i="1" dirty="0"/>
              <a:t>n</a:t>
            </a:r>
            <a:r>
              <a:rPr lang="en-GB" altLang="en-US" dirty="0"/>
              <a:t> x 1) vector of 1’s </a:t>
            </a:r>
          </a:p>
          <a:p>
            <a:pPr lvl="1" eaLnBrk="1" hangingPunct="1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random marker effects</a:t>
            </a:r>
          </a:p>
          <a:p>
            <a:pPr lvl="2" eaLnBrk="1" hangingPunct="1"/>
            <a:r>
              <a:rPr lang="en-GB" altLang="en-US" b="1" dirty="0"/>
              <a:t>b</a:t>
            </a:r>
            <a:r>
              <a:rPr lang="en-GB" altLang="en-US" dirty="0"/>
              <a:t> assumed to be MVN(0,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 eaLnBrk="1" hangingPunct="1"/>
            <a:r>
              <a:rPr lang="en-GB" altLang="en-US" dirty="0"/>
              <a:t>random regression coefficients with mean 0</a:t>
            </a:r>
          </a:p>
          <a:p>
            <a:pPr lvl="1" eaLnBrk="1" hangingPunct="1"/>
            <a:r>
              <a:rPr lang="en-GB" altLang="en-US" b="1" dirty="0"/>
              <a:t>W</a:t>
            </a:r>
            <a:r>
              <a:rPr lang="en-GB" altLang="en-US" b="1" baseline="-25000" dirty="0"/>
              <a:t>1</a:t>
            </a:r>
            <a:r>
              <a:rPr lang="en-GB" altLang="en-US" b="1" dirty="0"/>
              <a:t>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m</a:t>
            </a:r>
            <a:r>
              <a:rPr lang="en-GB" altLang="en-US" dirty="0"/>
              <a:t>) design matrix</a:t>
            </a:r>
          </a:p>
          <a:p>
            <a:pPr lvl="2" eaLnBrk="1" hangingPunct="1"/>
            <a:r>
              <a:rPr lang="en-GB" altLang="en-US" dirty="0"/>
              <a:t>mapping centred markers (columns) to individuals (rows)</a:t>
            </a:r>
          </a:p>
          <a:p>
            <a:pPr lvl="1" eaLnBrk="1" hangingPunct="1"/>
            <a:r>
              <a:rPr lang="en-GB" altLang="en-US" b="1" dirty="0"/>
              <a:t>e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residual effects</a:t>
            </a:r>
          </a:p>
          <a:p>
            <a:pPr lvl="2" eaLnBrk="1" hangingPunct="1"/>
            <a:r>
              <a:rPr lang="en-GB" altLang="en-US" b="1" dirty="0"/>
              <a:t>e</a:t>
            </a:r>
            <a:r>
              <a:rPr lang="en-GB" altLang="en-US" dirty="0"/>
              <a:t> assumed to be MVN(0,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3277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B893817-522C-42E6-BD43-F8DBB88FF633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277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32774" name="Rectangle 65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277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609132"/>
              </p:ext>
            </p:extLst>
          </p:nvPr>
        </p:nvGraphicFramePr>
        <p:xfrm>
          <a:off x="3519488" y="1184275"/>
          <a:ext cx="33512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1" name="Equation" r:id="rId3" imgW="1346040" imgH="228600" progId="Equation.DSMT4">
                  <p:embed/>
                </p:oleObj>
              </mc:Choice>
              <mc:Fallback>
                <p:oleObj name="Equation" r:id="rId3" imgW="134604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1184275"/>
                        <a:ext cx="335121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Rectangle 66"/>
          <p:cNvSpPr>
            <a:spLocks noChangeArrowheads="1"/>
          </p:cNvSpPr>
          <p:nvPr/>
        </p:nvSpPr>
        <p:spPr bwMode="auto">
          <a:xfrm>
            <a:off x="1524000" y="478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SNP BLUP (1)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observations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μ</a:t>
            </a:r>
            <a:r>
              <a:rPr lang="en-GB" altLang="en-US" b="1" dirty="0"/>
              <a:t> </a:t>
            </a:r>
            <a:r>
              <a:rPr lang="en-GB" altLang="en-US" dirty="0"/>
              <a:t>is the mean vector, with </a:t>
            </a:r>
            <a:r>
              <a:rPr lang="en-GB" altLang="en-US" b="1" dirty="0"/>
              <a:t>1</a:t>
            </a:r>
            <a:r>
              <a:rPr lang="en-GB" altLang="en-US" dirty="0"/>
              <a:t> (</a:t>
            </a:r>
            <a:r>
              <a:rPr lang="en-GB" altLang="en-US" i="1" dirty="0"/>
              <a:t>n</a:t>
            </a:r>
            <a:r>
              <a:rPr lang="en-GB" altLang="en-US" dirty="0"/>
              <a:t> x 1) vector of 1’s </a:t>
            </a:r>
          </a:p>
          <a:p>
            <a:pPr lvl="1" eaLnBrk="1" hangingPunct="1"/>
            <a:r>
              <a:rPr lang="en-GB" altLang="en-US" b="1" dirty="0"/>
              <a:t>b </a:t>
            </a:r>
            <a:r>
              <a:rPr lang="en-GB" altLang="en-US" dirty="0"/>
              <a:t>is (</a:t>
            </a:r>
            <a:r>
              <a:rPr lang="en-GB" altLang="en-US" i="1" dirty="0"/>
              <a:t>m</a:t>
            </a:r>
            <a:r>
              <a:rPr lang="en-GB" altLang="en-US" dirty="0"/>
              <a:t> x 1) vector of random marker effects</a:t>
            </a:r>
          </a:p>
          <a:p>
            <a:pPr lvl="2" eaLnBrk="1" hangingPunct="1"/>
            <a:r>
              <a:rPr lang="en-GB" altLang="en-US" b="1" dirty="0"/>
              <a:t>b</a:t>
            </a:r>
            <a:r>
              <a:rPr lang="en-GB" altLang="en-US" dirty="0"/>
              <a:t> assumed to be MVN(0,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 eaLnBrk="1" hangingPunct="1"/>
            <a:r>
              <a:rPr lang="en-GB" altLang="en-US" dirty="0"/>
              <a:t>random regression coefficients with mean 0</a:t>
            </a:r>
          </a:p>
          <a:p>
            <a:pPr lvl="1" eaLnBrk="1" hangingPunct="1"/>
            <a:r>
              <a:rPr lang="en-GB" altLang="en-US" b="1" dirty="0"/>
              <a:t>W</a:t>
            </a:r>
            <a:r>
              <a:rPr lang="en-GB" altLang="en-US" b="1" baseline="-25000" dirty="0"/>
              <a:t>1</a:t>
            </a:r>
            <a:r>
              <a:rPr lang="en-GB" altLang="en-US" b="1" dirty="0"/>
              <a:t>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m</a:t>
            </a:r>
            <a:r>
              <a:rPr lang="en-GB" altLang="en-US" dirty="0"/>
              <a:t>) design matrix</a:t>
            </a:r>
          </a:p>
          <a:p>
            <a:pPr lvl="2" eaLnBrk="1" hangingPunct="1"/>
            <a:r>
              <a:rPr lang="en-GB" altLang="en-US" dirty="0"/>
              <a:t>mapping centred markers (columns) to individuals (rows)</a:t>
            </a:r>
          </a:p>
          <a:p>
            <a:pPr lvl="1" eaLnBrk="1" hangingPunct="1"/>
            <a:r>
              <a:rPr lang="en-GB" altLang="en-US" b="1" dirty="0"/>
              <a:t>e</a:t>
            </a:r>
            <a:r>
              <a:rPr lang="en-GB" altLang="en-US" dirty="0"/>
              <a:t> is (</a:t>
            </a:r>
            <a:r>
              <a:rPr lang="en-GB" altLang="en-US" i="1" dirty="0"/>
              <a:t>n</a:t>
            </a:r>
            <a:r>
              <a:rPr lang="en-GB" altLang="en-US" dirty="0"/>
              <a:t> x 1) vector of residual effects</a:t>
            </a:r>
          </a:p>
          <a:p>
            <a:pPr lvl="2" eaLnBrk="1" hangingPunct="1"/>
            <a:r>
              <a:rPr lang="en-GB" altLang="en-US" b="1" dirty="0"/>
              <a:t>e</a:t>
            </a:r>
            <a:r>
              <a:rPr lang="en-GB" altLang="en-US" dirty="0"/>
              <a:t> assumed to be MVN(0,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3379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6A84EB6-85E0-4465-A157-7AED270B8F9E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379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33798" name="Rectangle 65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379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465483"/>
              </p:ext>
            </p:extLst>
          </p:nvPr>
        </p:nvGraphicFramePr>
        <p:xfrm>
          <a:off x="3519488" y="1184275"/>
          <a:ext cx="33512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6" name="Equation" r:id="rId4" imgW="1346040" imgH="228600" progId="Equation.DSMT4">
                  <p:embed/>
                </p:oleObj>
              </mc:Choice>
              <mc:Fallback>
                <p:oleObj name="Equation" r:id="rId4" imgW="134604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1184275"/>
                        <a:ext cx="335121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Rectangle 66"/>
          <p:cNvSpPr>
            <a:spLocks noChangeArrowheads="1"/>
          </p:cNvSpPr>
          <p:nvPr/>
        </p:nvSpPr>
        <p:spPr bwMode="auto">
          <a:xfrm>
            <a:off x="1524000" y="478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4674208" y="1812131"/>
            <a:ext cx="6704384" cy="1728787"/>
          </a:xfrm>
          <a:prstGeom prst="rect">
            <a:avLst/>
          </a:prstGeom>
          <a:solidFill>
            <a:srgbClr val="FFFF9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The lecture is assuming no fixed nuisance effects – focussing on the genomics. </a:t>
            </a:r>
          </a:p>
          <a:p>
            <a:pPr eaLnBrk="1" hangingPunct="1">
              <a:defRPr/>
            </a:pPr>
            <a:endParaRPr lang="en-GB" sz="200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If they exist -  and they always do in practice – they just get added into the model &amp; description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SNP BLUP (1)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Solutions are</a:t>
            </a:r>
          </a:p>
          <a:p>
            <a:pPr lvl="1" eaLnBrk="1" hangingPunct="1"/>
            <a:r>
              <a:rPr lang="en-GB" altLang="en-US" dirty="0"/>
              <a:t>can be inverted (as add a constant to diagonal)</a:t>
            </a:r>
          </a:p>
          <a:p>
            <a:pPr lvl="1" eaLnBrk="1" hangingPunct="1"/>
            <a:r>
              <a:rPr lang="en-GB" altLang="en-US" dirty="0"/>
              <a:t>where </a:t>
            </a:r>
            <a:r>
              <a:rPr lang="el-GR" altLang="en-US" i="1" dirty="0"/>
              <a:t>γ</a:t>
            </a:r>
            <a:r>
              <a:rPr lang="en-GB" altLang="en-US" dirty="0"/>
              <a:t> = 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dirty="0"/>
              <a:t>/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dirty="0"/>
              <a:t> </a:t>
            </a:r>
          </a:p>
          <a:p>
            <a:pPr lvl="1" eaLnBrk="1" hangingPunct="1"/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 </a:t>
            </a:r>
            <a:r>
              <a:rPr lang="en-GB" altLang="en-US" dirty="0"/>
              <a:t>estimated by REML, or assumed known</a:t>
            </a:r>
          </a:p>
          <a:p>
            <a:pPr eaLnBrk="1" hangingPunct="1"/>
            <a:r>
              <a:rPr lang="en-GB" altLang="en-US" dirty="0"/>
              <a:t>		     are EBV’s</a:t>
            </a:r>
          </a:p>
          <a:p>
            <a:pPr lvl="1" eaLnBrk="1" hangingPunct="1"/>
            <a:r>
              <a:rPr lang="en-GB" altLang="en-US" dirty="0"/>
              <a:t>can give EBV for any individual with genotypes</a:t>
            </a:r>
          </a:p>
          <a:p>
            <a:pPr lvl="2" eaLnBrk="1" hangingPunct="1"/>
            <a:r>
              <a:rPr lang="en-GB" altLang="en-US" dirty="0"/>
              <a:t>even if not used to estimate parameters</a:t>
            </a:r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545DF22-D812-44A9-8497-BC97E3A0626E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35846" name="Rectangle 5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7" name="Rectangle 5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5848" name="Object 9"/>
          <p:cNvGraphicFramePr>
            <a:graphicFrameLocks noChangeAspect="1"/>
          </p:cNvGraphicFramePr>
          <p:nvPr/>
        </p:nvGraphicFramePr>
        <p:xfrm>
          <a:off x="4632326" y="1182688"/>
          <a:ext cx="36671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" name="Equation" r:id="rId3" imgW="1600200" imgH="266400" progId="Equation.DSMT4">
                  <p:embed/>
                </p:oleObj>
              </mc:Choice>
              <mc:Fallback>
                <p:oleObj name="Equation" r:id="rId3" imgW="1600200" imgH="26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6" y="1182688"/>
                        <a:ext cx="36671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517524"/>
              </p:ext>
            </p:extLst>
          </p:nvPr>
        </p:nvGraphicFramePr>
        <p:xfrm>
          <a:off x="983432" y="3284984"/>
          <a:ext cx="1487487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9" name="Equation" r:id="rId5" imgW="571320" imgH="266400" progId="Equation.DSMT4">
                  <p:embed/>
                </p:oleObj>
              </mc:Choice>
              <mc:Fallback>
                <p:oleObj name="Equation" r:id="rId5" imgW="571320" imgH="266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3284984"/>
                        <a:ext cx="1487487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SNP BLUP (1)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Solutions are</a:t>
            </a:r>
          </a:p>
          <a:p>
            <a:pPr lvl="1" eaLnBrk="1" hangingPunct="1"/>
            <a:r>
              <a:rPr lang="en-GB" altLang="en-US" dirty="0"/>
              <a:t>can be inverted (as add a constant to diagonal)</a:t>
            </a:r>
          </a:p>
          <a:p>
            <a:pPr lvl="1" eaLnBrk="1" hangingPunct="1"/>
            <a:r>
              <a:rPr lang="en-GB" altLang="en-US" dirty="0"/>
              <a:t>where </a:t>
            </a:r>
            <a:r>
              <a:rPr lang="el-GR" altLang="en-US" i="1" dirty="0"/>
              <a:t>γ</a:t>
            </a:r>
            <a:r>
              <a:rPr lang="en-GB" altLang="en-US" dirty="0"/>
              <a:t> = </a:t>
            </a:r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</a:t>
            </a:r>
            <a:r>
              <a:rPr lang="en-GB" altLang="en-US" dirty="0"/>
              <a:t>/</a:t>
            </a:r>
            <a:r>
              <a:rPr lang="el-GR" altLang="en-US" dirty="0"/>
              <a:t>σ</a:t>
            </a:r>
            <a:r>
              <a:rPr lang="en-GB" altLang="en-US" baseline="-25000" dirty="0"/>
              <a:t>E</a:t>
            </a:r>
            <a:r>
              <a:rPr lang="en-GB" altLang="en-US" baseline="30000" dirty="0"/>
              <a:t>2</a:t>
            </a:r>
            <a:r>
              <a:rPr lang="en-GB" altLang="en-US" dirty="0"/>
              <a:t> </a:t>
            </a:r>
          </a:p>
          <a:p>
            <a:pPr lvl="1" eaLnBrk="1" hangingPunct="1"/>
            <a:r>
              <a:rPr lang="el-GR" altLang="en-US" dirty="0"/>
              <a:t>σ</a:t>
            </a:r>
            <a:r>
              <a:rPr lang="en-GB" altLang="en-US" baseline="-25000" dirty="0"/>
              <a:t>b</a:t>
            </a:r>
            <a:r>
              <a:rPr lang="en-GB" altLang="en-US" baseline="30000" dirty="0"/>
              <a:t>2 </a:t>
            </a:r>
            <a:r>
              <a:rPr lang="en-GB" altLang="en-US" dirty="0"/>
              <a:t>estimated by REML, or assumed known</a:t>
            </a:r>
          </a:p>
          <a:p>
            <a:pPr eaLnBrk="1" hangingPunct="1"/>
            <a:r>
              <a:rPr lang="en-GB" altLang="en-US" dirty="0"/>
              <a:t>		     are EBV’s</a:t>
            </a:r>
          </a:p>
          <a:p>
            <a:pPr lvl="1" eaLnBrk="1" hangingPunct="1"/>
            <a:r>
              <a:rPr lang="en-GB" altLang="en-US" dirty="0"/>
              <a:t>can give EBV for any individual with genotypes</a:t>
            </a:r>
          </a:p>
          <a:p>
            <a:pPr lvl="2" eaLnBrk="1" hangingPunct="1"/>
            <a:r>
              <a:rPr lang="en-GB" altLang="en-US" dirty="0"/>
              <a:t>even if not used to estimate parameters</a:t>
            </a:r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545DF22-D812-44A9-8497-BC97E3A0626E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35846" name="Rectangle 5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7" name="Rectangle 5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5848" name="Object 9"/>
          <p:cNvGraphicFramePr>
            <a:graphicFrameLocks noChangeAspect="1"/>
          </p:cNvGraphicFramePr>
          <p:nvPr/>
        </p:nvGraphicFramePr>
        <p:xfrm>
          <a:off x="4632326" y="1182688"/>
          <a:ext cx="36671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3" name="Equation" r:id="rId3" imgW="1600200" imgH="266400" progId="Equation.DSMT4">
                  <p:embed/>
                </p:oleObj>
              </mc:Choice>
              <mc:Fallback>
                <p:oleObj name="Equation" r:id="rId3" imgW="1600200" imgH="266400" progId="Equation.DSMT4">
                  <p:embed/>
                  <p:pic>
                    <p:nvPicPr>
                      <p:cNvPr id="3584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6" y="1182688"/>
                        <a:ext cx="36671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13"/>
          <p:cNvGraphicFramePr>
            <a:graphicFrameLocks noChangeAspect="1"/>
          </p:cNvGraphicFramePr>
          <p:nvPr/>
        </p:nvGraphicFramePr>
        <p:xfrm>
          <a:off x="983432" y="3284984"/>
          <a:ext cx="1487487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4" name="Equation" r:id="rId5" imgW="571320" imgH="266400" progId="Equation.DSMT4">
                  <p:embed/>
                </p:oleObj>
              </mc:Choice>
              <mc:Fallback>
                <p:oleObj name="Equation" r:id="rId5" imgW="571320" imgH="266400" progId="Equation.DSMT4">
                  <p:embed/>
                  <p:pic>
                    <p:nvPicPr>
                      <p:cNvPr id="358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3284984"/>
                        <a:ext cx="1487487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67CB2D40-655E-4D08-8A6C-00ED072C5149}"/>
              </a:ext>
            </a:extLst>
          </p:cNvPr>
          <p:cNvSpPr/>
          <p:nvPr/>
        </p:nvSpPr>
        <p:spPr>
          <a:xfrm>
            <a:off x="5087888" y="4869160"/>
            <a:ext cx="4896544" cy="806152"/>
          </a:xfrm>
          <a:prstGeom prst="rect">
            <a:avLst/>
          </a:prstGeom>
          <a:solidFill>
            <a:srgbClr val="FFFF99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GB" sz="2000" dirty="0">
              <a:solidFill>
                <a:schemeClr val="tx1"/>
              </a:solidFill>
            </a:endParaRP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97201242-0516-4AAF-B4A9-3A88E94EC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666883"/>
              </p:ext>
            </p:extLst>
          </p:nvPr>
        </p:nvGraphicFramePr>
        <p:xfrm>
          <a:off x="5879976" y="5026271"/>
          <a:ext cx="33512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5" name="Equation" r:id="rId7" imgW="1346040" imgH="228600" progId="Equation.DSMT4">
                  <p:embed/>
                </p:oleObj>
              </mc:Choice>
              <mc:Fallback>
                <p:oleObj name="Equation" r:id="rId7" imgW="1346040" imgH="228600" progId="Equation.DSMT4">
                  <p:embed/>
                  <p:pic>
                    <p:nvPicPr>
                      <p:cNvPr id="327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5026271"/>
                        <a:ext cx="335121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590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SNP BLUP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Genetic interpretation of regressions on 0,1,2</a:t>
            </a:r>
          </a:p>
          <a:p>
            <a:pPr lvl="1" eaLnBrk="1" hangingPunct="1">
              <a:defRPr/>
            </a:pPr>
            <a:r>
              <a:rPr lang="en-GB" dirty="0"/>
              <a:t>effects of allelic substitution (    ) i.e.               </a:t>
            </a:r>
            <a:r>
              <a:rPr lang="en-GB" u="sng" dirty="0"/>
              <a:t>if</a:t>
            </a:r>
          </a:p>
          <a:p>
            <a:pPr lvl="2" eaLnBrk="1" hangingPunct="1">
              <a:defRPr/>
            </a:pPr>
            <a:r>
              <a:rPr lang="en-GB" dirty="0"/>
              <a:t>loci assumed strictly additive i.e. </a:t>
            </a:r>
            <a:r>
              <a:rPr lang="en-GB" i="1" dirty="0" err="1"/>
              <a:t>d</a:t>
            </a:r>
            <a:r>
              <a:rPr lang="en-GB" i="1" baseline="-25000" dirty="0" err="1"/>
              <a:t>j</a:t>
            </a:r>
            <a:r>
              <a:rPr lang="en-GB" dirty="0"/>
              <a:t> = 0; </a:t>
            </a:r>
          </a:p>
          <a:p>
            <a:pPr marL="914400" lvl="2" indent="0" eaLnBrk="1" hangingPunct="1">
              <a:buNone/>
              <a:defRPr/>
            </a:pPr>
            <a:r>
              <a:rPr lang="en-GB" u="sng" dirty="0"/>
              <a:t>or</a:t>
            </a:r>
          </a:p>
          <a:p>
            <a:pPr lvl="2" eaLnBrk="1" hangingPunct="1">
              <a:defRPr/>
            </a:pPr>
            <a:r>
              <a:rPr lang="en-GB" dirty="0"/>
              <a:t>population used for estimation is a sample of target population in which estimates will be used</a:t>
            </a:r>
          </a:p>
          <a:p>
            <a:pPr lvl="3" eaLnBrk="1" hangingPunct="1">
              <a:defRPr/>
            </a:pPr>
            <a:r>
              <a:rPr lang="en-GB" dirty="0"/>
              <a:t>so allele frequency at each locus is similar</a:t>
            </a:r>
          </a:p>
          <a:p>
            <a:pPr eaLnBrk="1" hangingPunct="1">
              <a:defRPr/>
            </a:pPr>
            <a:r>
              <a:rPr lang="en-GB" dirty="0"/>
              <a:t>No pedigree, or map, or map order is needed</a:t>
            </a:r>
          </a:p>
        </p:txBody>
      </p:sp>
      <p:sp>
        <p:nvSpPr>
          <p:cNvPr id="3686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73863B5-E7B6-46A8-932E-52BBB76A1CB9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36870" name="Rectangle 5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1" name="Rectangle 5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68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906479"/>
              </p:ext>
            </p:extLst>
          </p:nvPr>
        </p:nvGraphicFramePr>
        <p:xfrm>
          <a:off x="6888088" y="1736726"/>
          <a:ext cx="119062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2" name="Equation" r:id="rId4" imgW="482400" imgH="241200" progId="Equation.DSMT4">
                  <p:embed/>
                </p:oleObj>
              </mc:Choice>
              <mc:Fallback>
                <p:oleObj name="Equation" r:id="rId4" imgW="482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088" y="1736726"/>
                        <a:ext cx="1190625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047559"/>
              </p:ext>
            </p:extLst>
          </p:nvPr>
        </p:nvGraphicFramePr>
        <p:xfrm>
          <a:off x="5591944" y="1844675"/>
          <a:ext cx="51593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3" name="Equation" r:id="rId6" imgW="152280" imgH="139680" progId="Equation.DSMT4">
                  <p:embed/>
                </p:oleObj>
              </mc:Choice>
              <mc:Fallback>
                <p:oleObj name="Equation" r:id="rId6" imgW="152280" imgH="1396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1844675"/>
                        <a:ext cx="51593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159AB70-44CF-4D89-A14A-0FD722112BFD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7891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F47CA36-E73A-4894-8586-8386DC2DDB56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891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7 ...</a:t>
            </a:r>
            <a:br>
              <a:rPr lang="en-GB" altLang="en-US"/>
            </a:br>
            <a:r>
              <a:rPr lang="en-GB" altLang="en-US"/>
              <a:t>Genome Wide Markers &amp; EBVs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Part 2: from SNPs to Breeding Values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Exploring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What are Estimated Breeding Values (EBV)?</a:t>
            </a:r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r>
              <a:rPr lang="en-GB" dirty="0"/>
              <a:t> </a:t>
            </a:r>
          </a:p>
        </p:txBody>
      </p:sp>
      <p:sp>
        <p:nvSpPr>
          <p:cNvPr id="4096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5866312-CB0F-45D1-B789-AD3EA566E397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096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0966" name="Rectangle 2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0967" name="Object 9"/>
          <p:cNvGraphicFramePr>
            <a:graphicFrameLocks noChangeAspect="1"/>
          </p:cNvGraphicFramePr>
          <p:nvPr/>
        </p:nvGraphicFramePr>
        <p:xfrm>
          <a:off x="2162175" y="1757363"/>
          <a:ext cx="1487488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73" name="Equation" r:id="rId3" imgW="571320" imgH="266400" progId="Equation.DSMT4">
                  <p:embed/>
                </p:oleObj>
              </mc:Choice>
              <mc:Fallback>
                <p:oleObj name="Equation" r:id="rId3" imgW="571320" imgH="266400" progId="Equation.DSMT4">
                  <p:embed/>
                  <p:pic>
                    <p:nvPicPr>
                      <p:cNvPr id="4096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1757363"/>
                        <a:ext cx="1487488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429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Exploring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What are Estimated Breeding Values (EBV)?</a:t>
            </a:r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dirty="0"/>
              <a:t>What are True Breeding Values (TBV)? </a:t>
            </a:r>
          </a:p>
          <a:p>
            <a:pPr eaLnBrk="1" hangingPunct="1">
              <a:defRPr/>
            </a:pPr>
            <a:endParaRPr lang="en-GB" dirty="0"/>
          </a:p>
          <a:p>
            <a:pPr lvl="1" eaLnBrk="1" hangingPunct="1">
              <a:defRPr/>
            </a:pPr>
            <a:r>
              <a:rPr lang="en-GB" dirty="0"/>
              <a:t>assumed markers can precisely predict the TBV</a:t>
            </a:r>
          </a:p>
          <a:p>
            <a:pPr eaLnBrk="1" hangingPunct="1">
              <a:defRPr/>
            </a:pPr>
            <a:r>
              <a:rPr lang="en-GB" dirty="0"/>
              <a:t>E[</a:t>
            </a:r>
            <a:r>
              <a:rPr lang="en-GB" b="1" dirty="0"/>
              <a:t>g</a:t>
            </a:r>
            <a:r>
              <a:rPr lang="en-GB" dirty="0"/>
              <a:t>] = E[ </a:t>
            </a: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b="1" dirty="0"/>
              <a:t>b</a:t>
            </a:r>
            <a:r>
              <a:rPr lang="en-GB" dirty="0"/>
              <a:t> ]</a:t>
            </a:r>
            <a:r>
              <a:rPr lang="en-GB" b="1" dirty="0"/>
              <a:t> </a:t>
            </a:r>
            <a:r>
              <a:rPr lang="en-GB" dirty="0"/>
              <a:t>= </a:t>
            </a: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dirty="0"/>
              <a:t>E[ </a:t>
            </a:r>
            <a:r>
              <a:rPr lang="en-GB" b="1" dirty="0"/>
              <a:t>b</a:t>
            </a:r>
            <a:r>
              <a:rPr lang="en-GB" dirty="0"/>
              <a:t> ] = 0 </a:t>
            </a:r>
          </a:p>
          <a:p>
            <a:pPr lvl="1" eaLnBrk="1" hangingPunct="1">
              <a:defRPr/>
            </a:pPr>
            <a:r>
              <a:rPr lang="en-GB" dirty="0"/>
              <a:t>regression coefficients were assumed to be MVN(0,</a:t>
            </a:r>
            <a:r>
              <a:rPr lang="el-GR" i="1" dirty="0"/>
              <a:t>σ</a:t>
            </a:r>
            <a:r>
              <a:rPr lang="en-GB" i="1" baseline="-25000" dirty="0"/>
              <a:t>b</a:t>
            </a:r>
            <a:r>
              <a:rPr lang="en-GB" i="1" baseline="30000" dirty="0"/>
              <a:t>2</a:t>
            </a:r>
            <a:r>
              <a:rPr lang="en-GB" b="1" dirty="0"/>
              <a:t>I</a:t>
            </a:r>
            <a:r>
              <a:rPr lang="en-GB" dirty="0"/>
              <a:t>)  </a:t>
            </a:r>
          </a:p>
          <a:p>
            <a:pPr lvl="2" eaLnBrk="1" hangingPunct="1">
              <a:defRPr/>
            </a:pPr>
            <a:r>
              <a:rPr lang="en-GB" dirty="0"/>
              <a:t>i.e. have mean 0</a:t>
            </a:r>
          </a:p>
          <a:p>
            <a:pPr lvl="2" eaLnBrk="1" hangingPunct="1">
              <a:defRPr/>
            </a:pPr>
            <a:r>
              <a:rPr lang="en-GB" dirty="0"/>
              <a:t>i.e. mean allelic substitution effect is 0</a:t>
            </a:r>
          </a:p>
          <a:p>
            <a:pPr marL="0" indent="0" eaLnBrk="1" hangingPunct="1">
              <a:buNone/>
              <a:defRPr/>
            </a:pPr>
            <a:r>
              <a:rPr lang="en-GB" dirty="0"/>
              <a:t> </a:t>
            </a:r>
          </a:p>
          <a:p>
            <a:pPr eaLnBrk="1" hangingPunct="1">
              <a:defRPr/>
            </a:pPr>
            <a:endParaRPr lang="en-GB" dirty="0"/>
          </a:p>
        </p:txBody>
      </p:sp>
      <p:sp>
        <p:nvSpPr>
          <p:cNvPr id="4096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5866312-CB0F-45D1-B789-AD3EA566E397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096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0966" name="Rectangle 2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0967" name="Object 9"/>
          <p:cNvGraphicFramePr>
            <a:graphicFrameLocks noChangeAspect="1"/>
          </p:cNvGraphicFramePr>
          <p:nvPr/>
        </p:nvGraphicFramePr>
        <p:xfrm>
          <a:off x="2162175" y="1757363"/>
          <a:ext cx="1487488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6" name="Equation" r:id="rId3" imgW="571320" imgH="266400" progId="Equation.DSMT4">
                  <p:embed/>
                </p:oleObj>
              </mc:Choice>
              <mc:Fallback>
                <p:oleObj name="Equation" r:id="rId3" imgW="571320" imgH="26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1757363"/>
                        <a:ext cx="1487488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0969" name="Object 11"/>
          <p:cNvGraphicFramePr>
            <a:graphicFrameLocks noChangeAspect="1"/>
          </p:cNvGraphicFramePr>
          <p:nvPr/>
        </p:nvGraphicFramePr>
        <p:xfrm>
          <a:off x="2154239" y="3048001"/>
          <a:ext cx="14890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7" name="Equation" r:id="rId5" imgW="558720" imgH="228600" progId="Equation.DSMT4">
                  <p:embed/>
                </p:oleObj>
              </mc:Choice>
              <mc:Fallback>
                <p:oleObj name="Equation" r:id="rId5" imgW="55872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9" y="3048001"/>
                        <a:ext cx="148907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The (co)variance matrix of the TBV</a:t>
            </a:r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4198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E1667E-0AEC-4883-9699-36CBD097A64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198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1990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1991" name="Object 10"/>
          <p:cNvGraphicFramePr>
            <a:graphicFrameLocks noChangeAspect="1"/>
          </p:cNvGraphicFramePr>
          <p:nvPr/>
        </p:nvGraphicFramePr>
        <p:xfrm>
          <a:off x="2919413" y="1830388"/>
          <a:ext cx="63563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1" name="Equation" r:id="rId3" imgW="2565360" imgH="241200" progId="Equation.DSMT4">
                  <p:embed/>
                </p:oleObj>
              </mc:Choice>
              <mc:Fallback>
                <p:oleObj name="Equation" r:id="rId3" imgW="2565360" imgH="24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830388"/>
                        <a:ext cx="63563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11"/>
          <p:cNvGraphicFramePr>
            <a:graphicFrameLocks noChangeAspect="1"/>
          </p:cNvGraphicFramePr>
          <p:nvPr/>
        </p:nvGraphicFramePr>
        <p:xfrm>
          <a:off x="4089401" y="2630488"/>
          <a:ext cx="45577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2" name="Equation" r:id="rId5" imgW="1790640" imgH="241200" progId="Equation.DSMT4">
                  <p:embed/>
                </p:oleObj>
              </mc:Choice>
              <mc:Fallback>
                <p:oleObj name="Equation" r:id="rId5" imgW="179064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1" y="2630488"/>
                        <a:ext cx="45577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66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5" name="Rectangle 67"/>
          <p:cNvSpPr>
            <a:spLocks noChangeArrowheads="1"/>
          </p:cNvSpPr>
          <p:nvPr/>
        </p:nvSpPr>
        <p:spPr bwMode="auto">
          <a:xfrm>
            <a:off x="1524000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6" name="Rectangle 68"/>
          <p:cNvSpPr>
            <a:spLocks noChangeArrowheads="1"/>
          </p:cNvSpPr>
          <p:nvPr/>
        </p:nvSpPr>
        <p:spPr bwMode="auto">
          <a:xfrm>
            <a:off x="5984431" y="799470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</a:t>
            </a:r>
            <a:endParaRPr lang="nb-NO" altLang="en-US"/>
          </a:p>
        </p:txBody>
      </p:sp>
      <p:sp>
        <p:nvSpPr>
          <p:cNvPr id="41997" name="Rectangle 69"/>
          <p:cNvSpPr>
            <a:spLocks noChangeArrowheads="1"/>
          </p:cNvSpPr>
          <p:nvPr/>
        </p:nvSpPr>
        <p:spPr bwMode="auto">
          <a:xfrm>
            <a:off x="152400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Up Arrow Callout 1"/>
          <p:cNvSpPr/>
          <p:nvPr/>
        </p:nvSpPr>
        <p:spPr>
          <a:xfrm>
            <a:off x="3863752" y="3267026"/>
            <a:ext cx="3240360" cy="1728192"/>
          </a:xfrm>
          <a:prstGeom prst="upArrowCallou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Remember since E[</a:t>
            </a:r>
            <a:r>
              <a:rPr lang="en-GB" b="1" dirty="0">
                <a:solidFill>
                  <a:schemeClr val="tx1"/>
                </a:solidFill>
              </a:rPr>
              <a:t>b</a:t>
            </a:r>
            <a:r>
              <a:rPr lang="en-GB" dirty="0">
                <a:solidFill>
                  <a:schemeClr val="tx1"/>
                </a:solidFill>
              </a:rPr>
              <a:t>]=0, E[</a:t>
            </a:r>
            <a:r>
              <a:rPr lang="en-GB" b="1" dirty="0" err="1">
                <a:solidFill>
                  <a:schemeClr val="tx1"/>
                </a:solidFill>
              </a:rPr>
              <a:t>bb</a:t>
            </a:r>
            <a:r>
              <a:rPr lang="en-GB" baseline="30000" dirty="0" err="1">
                <a:solidFill>
                  <a:schemeClr val="tx1"/>
                </a:solidFill>
              </a:rPr>
              <a:t>T</a:t>
            </a:r>
            <a:r>
              <a:rPr lang="en-GB" dirty="0">
                <a:solidFill>
                  <a:schemeClr val="tx1"/>
                </a:solidFill>
              </a:rPr>
              <a:t>] is (co)variance matrix of </a:t>
            </a:r>
            <a:r>
              <a:rPr lang="en-GB" b="1" dirty="0">
                <a:solidFill>
                  <a:schemeClr val="tx1"/>
                </a:solidFill>
              </a:rPr>
              <a:t>b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The (co)variance matrix of the TBV</a:t>
            </a:r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4198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E1667E-0AEC-4883-9699-36CBD097A64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198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1990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1991" name="Object 10"/>
          <p:cNvGraphicFramePr>
            <a:graphicFrameLocks noChangeAspect="1"/>
          </p:cNvGraphicFramePr>
          <p:nvPr/>
        </p:nvGraphicFramePr>
        <p:xfrm>
          <a:off x="2919413" y="1830388"/>
          <a:ext cx="63563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1" name="Equation" r:id="rId3" imgW="2565360" imgH="241200" progId="Equation.DSMT4">
                  <p:embed/>
                </p:oleObj>
              </mc:Choice>
              <mc:Fallback>
                <p:oleObj name="Equation" r:id="rId3" imgW="2565360" imgH="241200" progId="Equation.DSMT4">
                  <p:embed/>
                  <p:pic>
                    <p:nvPicPr>
                      <p:cNvPr id="4199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830388"/>
                        <a:ext cx="63563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11"/>
          <p:cNvGraphicFramePr>
            <a:graphicFrameLocks noChangeAspect="1"/>
          </p:cNvGraphicFramePr>
          <p:nvPr/>
        </p:nvGraphicFramePr>
        <p:xfrm>
          <a:off x="4089401" y="2630488"/>
          <a:ext cx="45577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2" name="Equation" r:id="rId5" imgW="1790640" imgH="241200" progId="Equation.DSMT4">
                  <p:embed/>
                </p:oleObj>
              </mc:Choice>
              <mc:Fallback>
                <p:oleObj name="Equation" r:id="rId5" imgW="1790640" imgH="241200" progId="Equation.DSMT4">
                  <p:embed/>
                  <p:pic>
                    <p:nvPicPr>
                      <p:cNvPr id="4199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1" y="2630488"/>
                        <a:ext cx="45577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12"/>
          <p:cNvGraphicFramePr>
            <a:graphicFrameLocks noChangeAspect="1"/>
          </p:cNvGraphicFramePr>
          <p:nvPr/>
        </p:nvGraphicFramePr>
        <p:xfrm>
          <a:off x="4122739" y="3335339"/>
          <a:ext cx="197643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53" name="Equation" r:id="rId7" imgW="723600" imgH="241200" progId="Equation.DSMT4">
                  <p:embed/>
                </p:oleObj>
              </mc:Choice>
              <mc:Fallback>
                <p:oleObj name="Equation" r:id="rId7" imgW="723600" imgH="241200" progId="Equation.DSMT4">
                  <p:embed/>
                  <p:pic>
                    <p:nvPicPr>
                      <p:cNvPr id="4199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9" y="3335339"/>
                        <a:ext cx="1976437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66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5" name="Rectangle 67"/>
          <p:cNvSpPr>
            <a:spLocks noChangeArrowheads="1"/>
          </p:cNvSpPr>
          <p:nvPr/>
        </p:nvSpPr>
        <p:spPr bwMode="auto">
          <a:xfrm>
            <a:off x="1524000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6" name="Rectangle 68"/>
          <p:cNvSpPr>
            <a:spLocks noChangeArrowheads="1"/>
          </p:cNvSpPr>
          <p:nvPr/>
        </p:nvSpPr>
        <p:spPr bwMode="auto">
          <a:xfrm>
            <a:off x="5984431" y="799470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</a:t>
            </a:r>
            <a:endParaRPr lang="nb-NO" altLang="en-US"/>
          </a:p>
        </p:txBody>
      </p:sp>
      <p:sp>
        <p:nvSpPr>
          <p:cNvPr id="41997" name="Rectangle 69"/>
          <p:cNvSpPr>
            <a:spLocks noChangeArrowheads="1"/>
          </p:cNvSpPr>
          <p:nvPr/>
        </p:nvSpPr>
        <p:spPr bwMode="auto">
          <a:xfrm>
            <a:off x="152400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26285591-6EF6-4FDA-98DC-73AEAE283BA8}"/>
              </a:ext>
            </a:extLst>
          </p:cNvPr>
          <p:cNvSpPr/>
          <p:nvPr/>
        </p:nvSpPr>
        <p:spPr>
          <a:xfrm>
            <a:off x="4655840" y="3285264"/>
            <a:ext cx="6516732" cy="2520000"/>
          </a:xfrm>
          <a:prstGeom prst="upArrowCallout">
            <a:avLst>
              <a:gd name="adj1" fmla="val 16562"/>
              <a:gd name="adj2" fmla="val 17891"/>
              <a:gd name="adj3" fmla="val 15088"/>
              <a:gd name="adj4" fmla="val 35020"/>
            </a:avLst>
          </a:prstGeom>
          <a:solidFill>
            <a:srgbClr val="FFFF99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/>
            <a:r>
              <a:rPr lang="en-GB" altLang="en-US" sz="2400" dirty="0"/>
              <a:t>Remember the model …</a:t>
            </a:r>
          </a:p>
          <a:p>
            <a:pPr lvl="1"/>
            <a:r>
              <a:rPr lang="en-GB" altLang="en-US" sz="2400" dirty="0"/>
              <a:t> </a:t>
            </a:r>
            <a:r>
              <a:rPr lang="en-GB" altLang="en-US" sz="2400" b="1" dirty="0"/>
              <a:t>b</a:t>
            </a:r>
            <a:r>
              <a:rPr lang="en-GB" altLang="en-US" sz="2400" dirty="0"/>
              <a:t> is (</a:t>
            </a:r>
            <a:r>
              <a:rPr lang="en-GB" altLang="en-US" sz="2400" i="1" dirty="0"/>
              <a:t>m</a:t>
            </a:r>
            <a:r>
              <a:rPr lang="en-GB" altLang="en-US" sz="2400" dirty="0"/>
              <a:t> x 1) assumed to be MVN(0,</a:t>
            </a:r>
            <a:r>
              <a:rPr lang="el-GR" altLang="en-US" sz="2400" dirty="0"/>
              <a:t>σ</a:t>
            </a:r>
            <a:r>
              <a:rPr lang="en-GB" altLang="en-US" sz="2400" baseline="-25000" dirty="0"/>
              <a:t>b</a:t>
            </a:r>
            <a:r>
              <a:rPr lang="en-GB" altLang="en-US" sz="2400" baseline="30000" dirty="0"/>
              <a:t>2</a:t>
            </a:r>
            <a:r>
              <a:rPr lang="en-GB" altLang="en-US" sz="2400" b="1" dirty="0"/>
              <a:t>I</a:t>
            </a:r>
            <a:r>
              <a:rPr lang="en-GB" alt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7389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The (co)variance matrix of the TBV</a:t>
            </a:r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baseline="30000" dirty="0"/>
              <a:t>T</a:t>
            </a:r>
            <a:r>
              <a:rPr lang="en-GB" b="1" dirty="0"/>
              <a:t> </a:t>
            </a:r>
            <a:r>
              <a:rPr lang="en-GB" dirty="0"/>
              <a:t>is (</a:t>
            </a:r>
            <a:r>
              <a:rPr lang="en-GB" i="1" dirty="0"/>
              <a:t>n</a:t>
            </a:r>
            <a:r>
              <a:rPr lang="en-GB" dirty="0"/>
              <a:t> x </a:t>
            </a:r>
            <a:r>
              <a:rPr lang="en-GB" i="1" dirty="0"/>
              <a:t>n</a:t>
            </a:r>
            <a:r>
              <a:rPr lang="en-GB" dirty="0"/>
              <a:t>) matrix of the scaled (co)variances of all TBV in our population</a:t>
            </a:r>
          </a:p>
          <a:p>
            <a:pPr lvl="2" eaLnBrk="1" hangingPunct="1">
              <a:defRPr/>
            </a:pPr>
            <a:r>
              <a:rPr lang="en-GB" dirty="0"/>
              <a:t>scaled by </a:t>
            </a:r>
            <a:endParaRPr lang="en-GB" i="1" dirty="0"/>
          </a:p>
          <a:p>
            <a:pPr lvl="2" eaLnBrk="1" hangingPunct="1">
              <a:defRPr/>
            </a:pPr>
            <a:r>
              <a:rPr lang="en-GB" dirty="0"/>
              <a:t>its definition is very similar to definition of </a:t>
            </a:r>
            <a:r>
              <a:rPr lang="en-GB" b="1" dirty="0"/>
              <a:t>A!</a:t>
            </a:r>
            <a:endParaRPr lang="en-GB" dirty="0"/>
          </a:p>
        </p:txBody>
      </p:sp>
      <p:sp>
        <p:nvSpPr>
          <p:cNvPr id="4198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E1667E-0AEC-4883-9699-36CBD097A64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198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1990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1991" name="Object 10"/>
          <p:cNvGraphicFramePr>
            <a:graphicFrameLocks noChangeAspect="1"/>
          </p:cNvGraphicFramePr>
          <p:nvPr/>
        </p:nvGraphicFramePr>
        <p:xfrm>
          <a:off x="2919413" y="1830388"/>
          <a:ext cx="63563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4" name="Equation" r:id="rId3" imgW="2565360" imgH="241200" progId="Equation.DSMT4">
                  <p:embed/>
                </p:oleObj>
              </mc:Choice>
              <mc:Fallback>
                <p:oleObj name="Equation" r:id="rId3" imgW="2565360" imgH="241200" progId="Equation.DSMT4">
                  <p:embed/>
                  <p:pic>
                    <p:nvPicPr>
                      <p:cNvPr id="4199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830388"/>
                        <a:ext cx="63563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11"/>
          <p:cNvGraphicFramePr>
            <a:graphicFrameLocks noChangeAspect="1"/>
          </p:cNvGraphicFramePr>
          <p:nvPr/>
        </p:nvGraphicFramePr>
        <p:xfrm>
          <a:off x="4089401" y="2630488"/>
          <a:ext cx="45577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5" name="Equation" r:id="rId5" imgW="1790640" imgH="241200" progId="Equation.DSMT4">
                  <p:embed/>
                </p:oleObj>
              </mc:Choice>
              <mc:Fallback>
                <p:oleObj name="Equation" r:id="rId5" imgW="1790640" imgH="241200" progId="Equation.DSMT4">
                  <p:embed/>
                  <p:pic>
                    <p:nvPicPr>
                      <p:cNvPr id="4199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1" y="2630488"/>
                        <a:ext cx="45577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12"/>
          <p:cNvGraphicFramePr>
            <a:graphicFrameLocks noChangeAspect="1"/>
          </p:cNvGraphicFramePr>
          <p:nvPr/>
        </p:nvGraphicFramePr>
        <p:xfrm>
          <a:off x="4122739" y="3335339"/>
          <a:ext cx="197643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6" name="Equation" r:id="rId7" imgW="723600" imgH="241200" progId="Equation.DSMT4">
                  <p:embed/>
                </p:oleObj>
              </mc:Choice>
              <mc:Fallback>
                <p:oleObj name="Equation" r:id="rId7" imgW="723600" imgH="241200" progId="Equation.DSMT4">
                  <p:embed/>
                  <p:pic>
                    <p:nvPicPr>
                      <p:cNvPr id="4199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9" y="3335339"/>
                        <a:ext cx="1976437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66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5" name="Rectangle 67"/>
          <p:cNvSpPr>
            <a:spLocks noChangeArrowheads="1"/>
          </p:cNvSpPr>
          <p:nvPr/>
        </p:nvSpPr>
        <p:spPr bwMode="auto">
          <a:xfrm>
            <a:off x="1524000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96" name="Rectangle 68"/>
          <p:cNvSpPr>
            <a:spLocks noChangeArrowheads="1"/>
          </p:cNvSpPr>
          <p:nvPr/>
        </p:nvSpPr>
        <p:spPr bwMode="auto">
          <a:xfrm>
            <a:off x="5984431" y="799470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</a:t>
            </a:r>
            <a:endParaRPr lang="nb-NO" altLang="en-US"/>
          </a:p>
        </p:txBody>
      </p:sp>
      <p:sp>
        <p:nvSpPr>
          <p:cNvPr id="41997" name="Rectangle 69"/>
          <p:cNvSpPr>
            <a:spLocks noChangeArrowheads="1"/>
          </p:cNvSpPr>
          <p:nvPr/>
        </p:nvSpPr>
        <p:spPr bwMode="auto">
          <a:xfrm>
            <a:off x="152400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199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88721"/>
              </p:ext>
            </p:extLst>
          </p:nvPr>
        </p:nvGraphicFramePr>
        <p:xfrm>
          <a:off x="2948087" y="5084764"/>
          <a:ext cx="5556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7" name="Equation" r:id="rId9" imgW="203040" imgH="241200" progId="Equation.DSMT4">
                  <p:embed/>
                </p:oleObj>
              </mc:Choice>
              <mc:Fallback>
                <p:oleObj name="Equation" r:id="rId9" imgW="203040" imgH="241200" progId="Equation.DSMT4">
                  <p:embed/>
                  <p:pic>
                    <p:nvPicPr>
                      <p:cNvPr id="4199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8087" y="5084764"/>
                        <a:ext cx="5556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2041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The (co)variance matrix of the TBV</a:t>
            </a:r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baseline="30000" dirty="0"/>
              <a:t>T</a:t>
            </a:r>
            <a:r>
              <a:rPr lang="en-GB" b="1" dirty="0"/>
              <a:t> </a:t>
            </a:r>
            <a:r>
              <a:rPr lang="en-GB" dirty="0"/>
              <a:t>is an (</a:t>
            </a:r>
            <a:r>
              <a:rPr lang="en-GB" i="1" dirty="0"/>
              <a:t>n</a:t>
            </a:r>
            <a:r>
              <a:rPr lang="en-GB" dirty="0"/>
              <a:t> x </a:t>
            </a:r>
            <a:r>
              <a:rPr lang="en-GB" i="1" dirty="0"/>
              <a:t>n</a:t>
            </a:r>
            <a:r>
              <a:rPr lang="en-GB" dirty="0"/>
              <a:t>) matrix of the scaled (co)variances of all TBV in our population</a:t>
            </a:r>
          </a:p>
          <a:p>
            <a:pPr lvl="2" eaLnBrk="1" hangingPunct="1">
              <a:defRPr/>
            </a:pPr>
            <a:r>
              <a:rPr lang="en-GB" dirty="0"/>
              <a:t>scaled by </a:t>
            </a:r>
            <a:endParaRPr lang="en-GB" i="1" dirty="0"/>
          </a:p>
          <a:p>
            <a:pPr lvl="2" eaLnBrk="1" hangingPunct="1">
              <a:defRPr/>
            </a:pPr>
            <a:r>
              <a:rPr lang="en-GB" dirty="0"/>
              <a:t>its definition </a:t>
            </a:r>
            <a:r>
              <a:rPr lang="en-GB"/>
              <a:t>is very </a:t>
            </a:r>
            <a:r>
              <a:rPr lang="en-GB" dirty="0"/>
              <a:t>similar to definition of </a:t>
            </a:r>
            <a:r>
              <a:rPr lang="en-GB" b="1" dirty="0"/>
              <a:t>A!</a:t>
            </a:r>
            <a:endParaRPr lang="en-GB" dirty="0"/>
          </a:p>
        </p:txBody>
      </p:sp>
      <p:sp>
        <p:nvSpPr>
          <p:cNvPr id="4301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A3D63C1-91EB-4887-BC83-CAC4FBD96695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301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3014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3015" name="Object 10"/>
          <p:cNvGraphicFramePr>
            <a:graphicFrameLocks noChangeAspect="1"/>
          </p:cNvGraphicFramePr>
          <p:nvPr/>
        </p:nvGraphicFramePr>
        <p:xfrm>
          <a:off x="2919413" y="1830388"/>
          <a:ext cx="63563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6" name="Equation" r:id="rId3" imgW="2565360" imgH="241200" progId="Equation.DSMT4">
                  <p:embed/>
                </p:oleObj>
              </mc:Choice>
              <mc:Fallback>
                <p:oleObj name="Equation" r:id="rId3" imgW="2565360" imgH="24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830388"/>
                        <a:ext cx="63563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11"/>
          <p:cNvGraphicFramePr>
            <a:graphicFrameLocks noChangeAspect="1"/>
          </p:cNvGraphicFramePr>
          <p:nvPr/>
        </p:nvGraphicFramePr>
        <p:xfrm>
          <a:off x="4089401" y="2630488"/>
          <a:ext cx="45577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7" name="Equation" r:id="rId5" imgW="1790640" imgH="241200" progId="Equation.DSMT4">
                  <p:embed/>
                </p:oleObj>
              </mc:Choice>
              <mc:Fallback>
                <p:oleObj name="Equation" r:id="rId5" imgW="179064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1" y="2630488"/>
                        <a:ext cx="45577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12"/>
          <p:cNvGraphicFramePr>
            <a:graphicFrameLocks noChangeAspect="1"/>
          </p:cNvGraphicFramePr>
          <p:nvPr/>
        </p:nvGraphicFramePr>
        <p:xfrm>
          <a:off x="4122739" y="3335339"/>
          <a:ext cx="197643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8" name="Equation" r:id="rId7" imgW="723600" imgH="241200" progId="Equation.DSMT4">
                  <p:embed/>
                </p:oleObj>
              </mc:Choice>
              <mc:Fallback>
                <p:oleObj name="Equation" r:id="rId7" imgW="72360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9" y="3335339"/>
                        <a:ext cx="1976437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8" name="Rectangle 66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019" name="Rectangle 67"/>
          <p:cNvSpPr>
            <a:spLocks noChangeArrowheads="1"/>
          </p:cNvSpPr>
          <p:nvPr/>
        </p:nvSpPr>
        <p:spPr bwMode="auto">
          <a:xfrm>
            <a:off x="1524000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020" name="Rectangle 68"/>
          <p:cNvSpPr>
            <a:spLocks noChangeArrowheads="1"/>
          </p:cNvSpPr>
          <p:nvPr/>
        </p:nvSpPr>
        <p:spPr bwMode="auto">
          <a:xfrm>
            <a:off x="5984431" y="799470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</a:t>
            </a:r>
            <a:endParaRPr lang="nb-NO" altLang="en-US"/>
          </a:p>
        </p:txBody>
      </p:sp>
      <p:sp>
        <p:nvSpPr>
          <p:cNvPr id="43021" name="Rectangle 69"/>
          <p:cNvSpPr>
            <a:spLocks noChangeArrowheads="1"/>
          </p:cNvSpPr>
          <p:nvPr/>
        </p:nvSpPr>
        <p:spPr bwMode="auto">
          <a:xfrm>
            <a:off x="152400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3022" name="Object 17"/>
          <p:cNvGraphicFramePr>
            <a:graphicFrameLocks noChangeAspect="1"/>
          </p:cNvGraphicFramePr>
          <p:nvPr/>
        </p:nvGraphicFramePr>
        <p:xfrm>
          <a:off x="4295776" y="5084764"/>
          <a:ext cx="5556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9" name="Equation" r:id="rId9" imgW="203040" imgH="241200" progId="Equation.DSMT4">
                  <p:embed/>
                </p:oleObj>
              </mc:Choice>
              <mc:Fallback>
                <p:oleObj name="Equation" r:id="rId9" imgW="203040" imgH="241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5084764"/>
                        <a:ext cx="5556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3" name="TextBox 18"/>
          <p:cNvSpPr txBox="1">
            <a:spLocks noChangeArrowheads="1"/>
          </p:cNvSpPr>
          <p:nvPr/>
        </p:nvSpPr>
        <p:spPr bwMode="auto">
          <a:xfrm rot="20925975">
            <a:off x="2444750" y="2811464"/>
            <a:ext cx="7416800" cy="954087"/>
          </a:xfrm>
          <a:prstGeom prst="rect">
            <a:avLst/>
          </a:prstGeom>
          <a:solidFill>
            <a:srgbClr val="FFFF99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800"/>
              <a:t>Remember … numerator relationships are about (co)variances of TBV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However in </a:t>
            </a:r>
            <a:r>
              <a:rPr lang="en-GB" altLang="en-US" b="1" dirty="0"/>
              <a:t>A </a:t>
            </a:r>
            <a:r>
              <a:rPr lang="en-GB" altLang="en-US" dirty="0"/>
              <a:t>the scaling variance is a measure of additive genetic variance</a:t>
            </a:r>
            <a:r>
              <a:rPr lang="en-GB" altLang="en-US" b="1" dirty="0"/>
              <a:t> </a:t>
            </a:r>
          </a:p>
          <a:p>
            <a:pPr lvl="1" eaLnBrk="1" hangingPunct="1"/>
            <a:r>
              <a:rPr lang="en-GB" altLang="en-US" dirty="0"/>
              <a:t>in the base population</a:t>
            </a:r>
          </a:p>
          <a:p>
            <a:pPr eaLnBrk="1" hangingPunct="1"/>
            <a:r>
              <a:rPr lang="en-GB" altLang="en-US" dirty="0"/>
              <a:t>In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baseline="30000" dirty="0"/>
              <a:t>T</a:t>
            </a:r>
            <a:r>
              <a:rPr lang="en-GB" altLang="en-US" dirty="0"/>
              <a:t>, it is variance of individual marker allelic substitution effects</a:t>
            </a:r>
          </a:p>
          <a:p>
            <a:pPr lvl="1" eaLnBrk="1" hangingPunct="1"/>
            <a:r>
              <a:rPr lang="en-GB" altLang="en-US" dirty="0"/>
              <a:t> if change </a:t>
            </a:r>
            <a:r>
              <a:rPr lang="en-GB" altLang="en-US" i="1" dirty="0"/>
              <a:t>m </a:t>
            </a:r>
            <a:r>
              <a:rPr lang="en-GB" altLang="en-US" dirty="0"/>
              <a:t>would expect       to change </a:t>
            </a:r>
          </a:p>
          <a:p>
            <a:pPr lvl="1" eaLnBrk="1" hangingPunct="1"/>
            <a:r>
              <a:rPr lang="en-GB" altLang="en-US" dirty="0"/>
              <a:t>↓ </a:t>
            </a:r>
            <a:r>
              <a:rPr lang="en-GB" altLang="en-US" i="1" dirty="0"/>
              <a:t>m,</a:t>
            </a:r>
            <a:r>
              <a:rPr lang="en-GB" altLang="en-US" dirty="0"/>
              <a:t> fewer markers trying to explain the QTL</a:t>
            </a:r>
          </a:p>
          <a:p>
            <a:pPr lvl="1" eaLnBrk="1" hangingPunct="1"/>
            <a:r>
              <a:rPr lang="en-GB" altLang="en-US" dirty="0"/>
              <a:t>↑ </a:t>
            </a:r>
            <a:r>
              <a:rPr lang="en-GB" altLang="en-US" i="1" dirty="0"/>
              <a:t>m, </a:t>
            </a:r>
            <a:r>
              <a:rPr lang="en-GB" altLang="en-US" dirty="0"/>
              <a:t>spread genetic variance over more loci</a:t>
            </a:r>
          </a:p>
          <a:p>
            <a:pPr lvl="1" eaLnBrk="1" hangingPunct="1"/>
            <a:r>
              <a:rPr lang="en-GB" altLang="en-US" dirty="0"/>
              <a:t>remember the loci are anonymous markers</a:t>
            </a:r>
          </a:p>
        </p:txBody>
      </p:sp>
      <p:sp>
        <p:nvSpPr>
          <p:cNvPr id="4403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6F40104-1F95-49A4-BD0B-4454677B9162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403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4038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039" name="Rectangle 66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040" name="Rectangle 67"/>
          <p:cNvSpPr>
            <a:spLocks noChangeArrowheads="1"/>
          </p:cNvSpPr>
          <p:nvPr/>
        </p:nvSpPr>
        <p:spPr bwMode="auto">
          <a:xfrm>
            <a:off x="1524000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041" name="Rectangle 68"/>
          <p:cNvSpPr>
            <a:spLocks noChangeArrowheads="1"/>
          </p:cNvSpPr>
          <p:nvPr/>
        </p:nvSpPr>
        <p:spPr bwMode="auto">
          <a:xfrm>
            <a:off x="5984431" y="799470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</a:t>
            </a:r>
            <a:endParaRPr lang="nb-NO" altLang="en-US"/>
          </a:p>
        </p:txBody>
      </p:sp>
      <p:sp>
        <p:nvSpPr>
          <p:cNvPr id="44042" name="Rectangle 69"/>
          <p:cNvSpPr>
            <a:spLocks noChangeArrowheads="1"/>
          </p:cNvSpPr>
          <p:nvPr/>
        </p:nvSpPr>
        <p:spPr bwMode="auto">
          <a:xfrm>
            <a:off x="152400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043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404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247091"/>
              </p:ext>
            </p:extLst>
          </p:nvPr>
        </p:nvGraphicFramePr>
        <p:xfrm>
          <a:off x="1991544" y="3212976"/>
          <a:ext cx="57626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2" name="Equation" r:id="rId3" imgW="203040" imgH="241200" progId="Equation.DSMT4">
                  <p:embed/>
                </p:oleObj>
              </mc:Choice>
              <mc:Fallback>
                <p:oleObj name="Equation" r:id="rId3" imgW="20304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3212976"/>
                        <a:ext cx="576263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921855"/>
              </p:ext>
            </p:extLst>
          </p:nvPr>
        </p:nvGraphicFramePr>
        <p:xfrm>
          <a:off x="5303912" y="3717032"/>
          <a:ext cx="57626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3" name="Equation" r:id="rId5" imgW="203040" imgH="241200" progId="Equation.DSMT4">
                  <p:embed/>
                </p:oleObj>
              </mc:Choice>
              <mc:Fallback>
                <p:oleObj name="Equation" r:id="rId5" imgW="20304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912" y="3717032"/>
                        <a:ext cx="576263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Suppose scale </a:t>
            </a:r>
            <a:r>
              <a:rPr lang="en-GB" altLang="en-US" b="1"/>
              <a:t>W</a:t>
            </a:r>
            <a:r>
              <a:rPr lang="en-GB" altLang="en-US" b="1" baseline="-25000"/>
              <a:t>1</a:t>
            </a:r>
            <a:r>
              <a:rPr lang="en-GB" altLang="en-US" b="1"/>
              <a:t> </a:t>
            </a:r>
            <a:r>
              <a:rPr lang="en-GB" altLang="en-US"/>
              <a:t>by a constant </a:t>
            </a:r>
            <a:r>
              <a:rPr lang="en-GB" altLang="en-US" i="1"/>
              <a:t>c</a:t>
            </a:r>
          </a:p>
          <a:p>
            <a:pPr lvl="1" eaLnBrk="1" hangingPunct="1"/>
            <a:r>
              <a:rPr lang="en-GB" altLang="en-US"/>
              <a:t>i.e. </a:t>
            </a:r>
            <a:r>
              <a:rPr lang="en-GB" altLang="en-US" b="1"/>
              <a:t>W</a:t>
            </a:r>
            <a:r>
              <a:rPr lang="en-GB" altLang="en-US"/>
              <a:t>* =</a:t>
            </a:r>
            <a:r>
              <a:rPr lang="en-GB" altLang="en-US" b="1"/>
              <a:t>W</a:t>
            </a:r>
            <a:r>
              <a:rPr lang="en-GB" altLang="en-US" b="1" baseline="-25000"/>
              <a:t>1</a:t>
            </a:r>
            <a:r>
              <a:rPr lang="en-GB" altLang="en-US"/>
              <a:t>/</a:t>
            </a:r>
            <a:r>
              <a:rPr lang="en-GB" altLang="en-US" i="1"/>
              <a:t>c </a:t>
            </a:r>
            <a:r>
              <a:rPr lang="en-GB" altLang="en-US"/>
              <a:t>and </a:t>
            </a:r>
            <a:r>
              <a:rPr lang="en-GB" altLang="en-US" b="1"/>
              <a:t>W</a:t>
            </a:r>
            <a:r>
              <a:rPr lang="en-GB" altLang="en-US" baseline="-25000"/>
              <a:t>1</a:t>
            </a:r>
            <a:r>
              <a:rPr lang="en-GB" altLang="en-US" b="1"/>
              <a:t> </a:t>
            </a:r>
            <a:r>
              <a:rPr lang="en-GB" altLang="en-US"/>
              <a:t>= </a:t>
            </a:r>
            <a:r>
              <a:rPr lang="en-GB" altLang="en-US" i="1"/>
              <a:t>c</a:t>
            </a:r>
            <a:r>
              <a:rPr lang="en-GB" altLang="en-US" b="1"/>
              <a:t>W*</a:t>
            </a:r>
            <a:endParaRPr lang="en-GB" altLang="en-US"/>
          </a:p>
          <a:p>
            <a:pPr lvl="1" eaLnBrk="1" hangingPunct="1"/>
            <a:r>
              <a:rPr lang="en-GB" altLang="en-US"/>
              <a:t>then</a:t>
            </a:r>
          </a:p>
          <a:p>
            <a:pPr eaLnBrk="1" hangingPunct="1"/>
            <a:endParaRPr lang="en-GB" altLang="en-US"/>
          </a:p>
        </p:txBody>
      </p:sp>
      <p:sp>
        <p:nvSpPr>
          <p:cNvPr id="4506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BC4A03D-B179-4AAC-A5D5-E557BAB478D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506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5062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063" name="Rectangle 66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064" name="Rectangle 67"/>
          <p:cNvSpPr>
            <a:spLocks noChangeArrowheads="1"/>
          </p:cNvSpPr>
          <p:nvPr/>
        </p:nvSpPr>
        <p:spPr bwMode="auto">
          <a:xfrm>
            <a:off x="1524000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065" name="Rectangle 68"/>
          <p:cNvSpPr>
            <a:spLocks noChangeArrowheads="1"/>
          </p:cNvSpPr>
          <p:nvPr/>
        </p:nvSpPr>
        <p:spPr bwMode="auto">
          <a:xfrm>
            <a:off x="5984431" y="799470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</a:t>
            </a:r>
            <a:endParaRPr lang="nb-NO" altLang="en-US"/>
          </a:p>
        </p:txBody>
      </p:sp>
      <p:sp>
        <p:nvSpPr>
          <p:cNvPr id="45066" name="Rectangle 69"/>
          <p:cNvSpPr>
            <a:spLocks noChangeArrowheads="1"/>
          </p:cNvSpPr>
          <p:nvPr/>
        </p:nvSpPr>
        <p:spPr bwMode="auto">
          <a:xfrm>
            <a:off x="152400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067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068" name="Rectangle 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5069" name="Object 9"/>
          <p:cNvGraphicFramePr>
            <a:graphicFrameLocks noChangeAspect="1"/>
          </p:cNvGraphicFramePr>
          <p:nvPr/>
        </p:nvGraphicFramePr>
        <p:xfrm>
          <a:off x="3294063" y="2276476"/>
          <a:ext cx="6648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4" name="Equation" r:id="rId3" imgW="2755800" imgH="241200" progId="Equation.DSMT4">
                  <p:embed/>
                </p:oleObj>
              </mc:Choice>
              <mc:Fallback>
                <p:oleObj name="Equation" r:id="rId3" imgW="275580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063" y="2276476"/>
                        <a:ext cx="66484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0" name="Rectangle 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071" name="Rectangle 1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Suppose scale </a:t>
            </a:r>
            <a:r>
              <a:rPr lang="en-GB" altLang="en-US" b="1"/>
              <a:t>W</a:t>
            </a:r>
            <a:r>
              <a:rPr lang="en-GB" altLang="en-US" b="1" baseline="-25000"/>
              <a:t>1</a:t>
            </a:r>
            <a:r>
              <a:rPr lang="en-GB" altLang="en-US" b="1"/>
              <a:t> </a:t>
            </a:r>
            <a:r>
              <a:rPr lang="en-GB" altLang="en-US"/>
              <a:t>by a constant </a:t>
            </a:r>
            <a:r>
              <a:rPr lang="en-GB" altLang="en-US" i="1"/>
              <a:t>c</a:t>
            </a:r>
          </a:p>
          <a:p>
            <a:pPr lvl="1" eaLnBrk="1" hangingPunct="1"/>
            <a:r>
              <a:rPr lang="en-GB" altLang="en-US"/>
              <a:t>i.e. </a:t>
            </a:r>
            <a:r>
              <a:rPr lang="en-GB" altLang="en-US" b="1"/>
              <a:t>W</a:t>
            </a:r>
            <a:r>
              <a:rPr lang="en-GB" altLang="en-US"/>
              <a:t>* =</a:t>
            </a:r>
            <a:r>
              <a:rPr lang="en-GB" altLang="en-US" b="1"/>
              <a:t>W</a:t>
            </a:r>
            <a:r>
              <a:rPr lang="en-GB" altLang="en-US" b="1" baseline="-25000"/>
              <a:t>1</a:t>
            </a:r>
            <a:r>
              <a:rPr lang="en-GB" altLang="en-US"/>
              <a:t>/</a:t>
            </a:r>
            <a:r>
              <a:rPr lang="en-GB" altLang="en-US" i="1"/>
              <a:t>c </a:t>
            </a:r>
            <a:r>
              <a:rPr lang="en-GB" altLang="en-US"/>
              <a:t>and </a:t>
            </a:r>
            <a:r>
              <a:rPr lang="en-GB" altLang="en-US" b="1"/>
              <a:t>W</a:t>
            </a:r>
            <a:r>
              <a:rPr lang="en-GB" altLang="en-US" baseline="-25000"/>
              <a:t>1</a:t>
            </a:r>
            <a:r>
              <a:rPr lang="en-GB" altLang="en-US" b="1"/>
              <a:t> </a:t>
            </a:r>
            <a:r>
              <a:rPr lang="en-GB" altLang="en-US"/>
              <a:t>= </a:t>
            </a:r>
            <a:r>
              <a:rPr lang="en-GB" altLang="en-US" i="1"/>
              <a:t>c</a:t>
            </a:r>
            <a:r>
              <a:rPr lang="en-GB" altLang="en-US" b="1"/>
              <a:t>W*</a:t>
            </a:r>
            <a:endParaRPr lang="en-GB" altLang="en-US"/>
          </a:p>
          <a:p>
            <a:pPr lvl="1" eaLnBrk="1" hangingPunct="1"/>
            <a:r>
              <a:rPr lang="en-GB" altLang="en-US"/>
              <a:t>then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Choose                          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Then</a:t>
            </a:r>
          </a:p>
          <a:p>
            <a:pPr lvl="1"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4608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B442C2F-64CF-465A-85AA-3504761DC9A8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608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6086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7" name="Rectangle 66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8" name="Rectangle 67"/>
          <p:cNvSpPr>
            <a:spLocks noChangeArrowheads="1"/>
          </p:cNvSpPr>
          <p:nvPr/>
        </p:nvSpPr>
        <p:spPr bwMode="auto">
          <a:xfrm>
            <a:off x="1524000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9" name="Rectangle 68"/>
          <p:cNvSpPr>
            <a:spLocks noChangeArrowheads="1"/>
          </p:cNvSpPr>
          <p:nvPr/>
        </p:nvSpPr>
        <p:spPr bwMode="auto">
          <a:xfrm>
            <a:off x="5984431" y="799470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</a:t>
            </a:r>
            <a:endParaRPr lang="nb-NO" altLang="en-US"/>
          </a:p>
        </p:txBody>
      </p:sp>
      <p:sp>
        <p:nvSpPr>
          <p:cNvPr id="46090" name="Rectangle 69"/>
          <p:cNvSpPr>
            <a:spLocks noChangeArrowheads="1"/>
          </p:cNvSpPr>
          <p:nvPr/>
        </p:nvSpPr>
        <p:spPr bwMode="auto">
          <a:xfrm>
            <a:off x="152400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91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92" name="Rectangle 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93" name="Rectangle 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6094" name="Object 11"/>
          <p:cNvGraphicFramePr>
            <a:graphicFrameLocks noChangeAspect="1"/>
          </p:cNvGraphicFramePr>
          <p:nvPr/>
        </p:nvGraphicFramePr>
        <p:xfrm>
          <a:off x="3719514" y="3933825"/>
          <a:ext cx="256857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4" name="Equation" r:id="rId3" imgW="1244520" imgH="393480" progId="Equation.DSMT4">
                  <p:embed/>
                </p:oleObj>
              </mc:Choice>
              <mc:Fallback>
                <p:oleObj name="Equation" r:id="rId3" imgW="124452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3933825"/>
                        <a:ext cx="256857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Rectangle 1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6096" name="Object 18"/>
          <p:cNvGraphicFramePr>
            <a:graphicFrameLocks noChangeAspect="1"/>
          </p:cNvGraphicFramePr>
          <p:nvPr/>
        </p:nvGraphicFramePr>
        <p:xfrm>
          <a:off x="3149601" y="5157789"/>
          <a:ext cx="587057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5" name="Equation" r:id="rId5" imgW="2565360" imgH="342720" progId="Equation.DSMT4">
                  <p:embed/>
                </p:oleObj>
              </mc:Choice>
              <mc:Fallback>
                <p:oleObj name="Equation" r:id="rId5" imgW="2565360" imgH="34272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1" y="5157789"/>
                        <a:ext cx="587057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19"/>
          <p:cNvGraphicFramePr>
            <a:graphicFrameLocks noChangeAspect="1"/>
          </p:cNvGraphicFramePr>
          <p:nvPr/>
        </p:nvGraphicFramePr>
        <p:xfrm>
          <a:off x="3294063" y="2276476"/>
          <a:ext cx="6648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6" name="Equation" r:id="rId7" imgW="2755800" imgH="241200" progId="Equation.DSMT4">
                  <p:embed/>
                </p:oleObj>
              </mc:Choice>
              <mc:Fallback>
                <p:oleObj name="Equation" r:id="rId7" imgW="2755800" imgH="241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063" y="2276476"/>
                        <a:ext cx="66484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Let</a:t>
            </a:r>
          </a:p>
          <a:p>
            <a:pPr lvl="1" eaLnBrk="1" hangingPunct="1">
              <a:defRPr/>
            </a:pPr>
            <a:r>
              <a:rPr lang="en-GB" dirty="0"/>
              <a:t>looks like a genetic variance, 2</a:t>
            </a:r>
            <a:r>
              <a:rPr lang="en-GB" i="1" dirty="0"/>
              <a:t>pqα</a:t>
            </a:r>
            <a:r>
              <a:rPr lang="en-GB" baseline="30000" dirty="0"/>
              <a:t>2</a:t>
            </a:r>
            <a:r>
              <a:rPr lang="en-GB" dirty="0"/>
              <a:t>, for loci in HWE </a:t>
            </a:r>
          </a:p>
          <a:p>
            <a:pPr lvl="1" eaLnBrk="1" hangingPunct="1">
              <a:defRPr/>
            </a:pPr>
            <a:r>
              <a:rPr lang="en-GB" dirty="0"/>
              <a:t>summed over loci, replacing </a:t>
            </a:r>
            <a:r>
              <a:rPr lang="en-GB" i="1" dirty="0"/>
              <a:t>α</a:t>
            </a:r>
            <a:r>
              <a:rPr lang="en-GB" baseline="30000" dirty="0"/>
              <a:t>2</a:t>
            </a:r>
            <a:r>
              <a:rPr lang="en-GB" dirty="0"/>
              <a:t> by E[</a:t>
            </a:r>
            <a:r>
              <a:rPr lang="en-GB" i="1" dirty="0"/>
              <a:t>α</a:t>
            </a:r>
            <a:r>
              <a:rPr lang="en-GB" baseline="30000" dirty="0"/>
              <a:t>2</a:t>
            </a:r>
            <a:r>
              <a:rPr lang="en-GB" dirty="0"/>
              <a:t>], i.e. </a:t>
            </a:r>
            <a:r>
              <a:rPr lang="el-GR" i="1" dirty="0"/>
              <a:t>σ</a:t>
            </a:r>
            <a:r>
              <a:rPr lang="en-GB" i="1" baseline="-25000" dirty="0"/>
              <a:t>b</a:t>
            </a:r>
            <a:r>
              <a:rPr lang="en-GB" baseline="30000" dirty="0"/>
              <a:t>2</a:t>
            </a:r>
            <a:endParaRPr lang="en-GB" dirty="0"/>
          </a:p>
          <a:p>
            <a:pPr lvl="1" eaLnBrk="1" hangingPunct="1">
              <a:defRPr/>
            </a:pPr>
            <a:r>
              <a:rPr lang="en-GB" dirty="0"/>
              <a:t>it is called the </a:t>
            </a:r>
            <a:r>
              <a:rPr lang="en-GB" u="sng" dirty="0"/>
              <a:t>genic</a:t>
            </a:r>
            <a:r>
              <a:rPr lang="en-GB" dirty="0"/>
              <a:t> variance </a:t>
            </a:r>
          </a:p>
          <a:p>
            <a:pPr lvl="2" eaLnBrk="1" hangingPunct="1">
              <a:defRPr/>
            </a:pPr>
            <a:r>
              <a:rPr lang="en-GB" dirty="0"/>
              <a:t>additive genetic variance of individuals used to construct </a:t>
            </a:r>
            <a:r>
              <a:rPr lang="en-GB" b="1" dirty="0"/>
              <a:t>W </a:t>
            </a:r>
            <a:r>
              <a:rPr lang="en-GB" dirty="0"/>
              <a:t>if loci in HWE</a:t>
            </a:r>
          </a:p>
          <a:p>
            <a:pPr marL="457200" lvl="1" indent="0" eaLnBrk="1" hangingPunct="1">
              <a:buNone/>
              <a:defRPr/>
            </a:pPr>
            <a:endParaRPr lang="en-GB" b="1" dirty="0"/>
          </a:p>
          <a:p>
            <a:pPr lvl="1" eaLnBrk="1" hangingPunct="1">
              <a:defRPr/>
            </a:pPr>
            <a:endParaRPr lang="en-GB" dirty="0"/>
          </a:p>
        </p:txBody>
      </p:sp>
      <p:sp>
        <p:nvSpPr>
          <p:cNvPr id="4710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A17D8D4-CD95-4C27-B7F9-09708AFD750D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710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7110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7111" name="Object 6"/>
          <p:cNvGraphicFramePr>
            <a:graphicFrameLocks noChangeAspect="1"/>
          </p:cNvGraphicFramePr>
          <p:nvPr/>
        </p:nvGraphicFramePr>
        <p:xfrm>
          <a:off x="3065464" y="1274764"/>
          <a:ext cx="28860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1" name="Equation" r:id="rId4" imgW="1384200" imgH="342720" progId="Equation.DSMT4">
                  <p:embed/>
                </p:oleObj>
              </mc:Choice>
              <mc:Fallback>
                <p:oleObj name="Equation" r:id="rId4" imgW="1384200" imgH="342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4" y="1274764"/>
                        <a:ext cx="28860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Rectangle 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Let</a:t>
            </a:r>
          </a:p>
          <a:p>
            <a:pPr lvl="1" eaLnBrk="1" hangingPunct="1">
              <a:defRPr/>
            </a:pPr>
            <a:r>
              <a:rPr lang="en-GB" dirty="0"/>
              <a:t>looks like a genetic variance, 2</a:t>
            </a:r>
            <a:r>
              <a:rPr lang="en-GB" i="1" dirty="0"/>
              <a:t>pqα</a:t>
            </a:r>
            <a:r>
              <a:rPr lang="en-GB" baseline="30000" dirty="0"/>
              <a:t>2</a:t>
            </a:r>
            <a:r>
              <a:rPr lang="en-GB" dirty="0"/>
              <a:t>, for loci in HWE </a:t>
            </a:r>
          </a:p>
          <a:p>
            <a:pPr lvl="1" eaLnBrk="1" hangingPunct="1">
              <a:defRPr/>
            </a:pPr>
            <a:r>
              <a:rPr lang="en-GB" dirty="0"/>
              <a:t>summed over loci, replacing </a:t>
            </a:r>
            <a:r>
              <a:rPr lang="en-GB" i="1" dirty="0"/>
              <a:t>α</a:t>
            </a:r>
            <a:r>
              <a:rPr lang="en-GB" baseline="30000" dirty="0"/>
              <a:t>2</a:t>
            </a:r>
            <a:r>
              <a:rPr lang="en-GB" dirty="0"/>
              <a:t> by E[</a:t>
            </a:r>
            <a:r>
              <a:rPr lang="en-GB" i="1" dirty="0"/>
              <a:t>α</a:t>
            </a:r>
            <a:r>
              <a:rPr lang="en-GB" baseline="30000" dirty="0"/>
              <a:t>2</a:t>
            </a:r>
            <a:r>
              <a:rPr lang="en-GB" dirty="0"/>
              <a:t>], i.e. </a:t>
            </a:r>
            <a:r>
              <a:rPr lang="el-GR" i="1" dirty="0"/>
              <a:t>σ</a:t>
            </a:r>
            <a:r>
              <a:rPr lang="en-GB" i="1" baseline="-25000" dirty="0"/>
              <a:t>b</a:t>
            </a:r>
            <a:r>
              <a:rPr lang="en-GB" baseline="30000" dirty="0"/>
              <a:t>2</a:t>
            </a:r>
            <a:endParaRPr lang="en-GB" dirty="0"/>
          </a:p>
          <a:p>
            <a:pPr lvl="1" eaLnBrk="1" hangingPunct="1">
              <a:defRPr/>
            </a:pPr>
            <a:r>
              <a:rPr lang="en-GB" dirty="0"/>
              <a:t>it is called the </a:t>
            </a:r>
            <a:r>
              <a:rPr lang="en-GB" u="sng" dirty="0"/>
              <a:t>genic</a:t>
            </a:r>
            <a:r>
              <a:rPr lang="en-GB" dirty="0"/>
              <a:t> variance </a:t>
            </a:r>
          </a:p>
          <a:p>
            <a:pPr lvl="2" eaLnBrk="1" hangingPunct="1">
              <a:defRPr/>
            </a:pPr>
            <a:r>
              <a:rPr lang="en-GB" dirty="0"/>
              <a:t>additive genetic variance of individuals used to construct </a:t>
            </a:r>
            <a:r>
              <a:rPr lang="en-GB" b="1" dirty="0"/>
              <a:t>W </a:t>
            </a:r>
            <a:r>
              <a:rPr lang="en-GB" dirty="0"/>
              <a:t>if loci in HWE</a:t>
            </a:r>
          </a:p>
          <a:p>
            <a:pPr eaLnBrk="1" hangingPunct="1">
              <a:defRPr/>
            </a:pPr>
            <a:r>
              <a:rPr lang="en-GB" dirty="0"/>
              <a:t>So SNP BLUP (1) assumes </a:t>
            </a:r>
            <a:r>
              <a:rPr lang="en-GB" b="1" dirty="0"/>
              <a:t>g </a:t>
            </a:r>
            <a:r>
              <a:rPr lang="en-GB" dirty="0"/>
              <a:t>is distributed </a:t>
            </a:r>
          </a:p>
          <a:p>
            <a:pPr lvl="1" eaLnBrk="1" hangingPunct="1">
              <a:defRPr/>
            </a:pPr>
            <a:r>
              <a:rPr lang="en-GB" dirty="0"/>
              <a:t>E[</a:t>
            </a:r>
            <a:r>
              <a:rPr lang="en-GB" b="1" dirty="0"/>
              <a:t>g</a:t>
            </a:r>
            <a:r>
              <a:rPr lang="en-GB" dirty="0"/>
              <a:t>] =0 </a:t>
            </a:r>
          </a:p>
          <a:p>
            <a:pPr lvl="1" eaLnBrk="1" hangingPunct="1">
              <a:defRPr/>
            </a:pPr>
            <a:r>
              <a:rPr lang="en-GB" dirty="0"/>
              <a:t>and (co)variance matrix </a:t>
            </a:r>
          </a:p>
          <a:p>
            <a:pPr marL="457200" lvl="1" indent="0" eaLnBrk="1" hangingPunct="1">
              <a:buNone/>
              <a:defRPr/>
            </a:pPr>
            <a:endParaRPr lang="en-GB" b="1" dirty="0"/>
          </a:p>
          <a:p>
            <a:pPr lvl="1" eaLnBrk="1" hangingPunct="1">
              <a:defRPr/>
            </a:pPr>
            <a:endParaRPr lang="en-GB" dirty="0"/>
          </a:p>
        </p:txBody>
      </p:sp>
      <p:sp>
        <p:nvSpPr>
          <p:cNvPr id="4710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A17D8D4-CD95-4C27-B7F9-09708AFD750D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710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7110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7111" name="Object 6"/>
          <p:cNvGraphicFramePr>
            <a:graphicFrameLocks noChangeAspect="1"/>
          </p:cNvGraphicFramePr>
          <p:nvPr/>
        </p:nvGraphicFramePr>
        <p:xfrm>
          <a:off x="3065464" y="1274764"/>
          <a:ext cx="28860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6" name="Equation" r:id="rId4" imgW="1384200" imgH="342720" progId="Equation.DSMT4">
                  <p:embed/>
                </p:oleObj>
              </mc:Choice>
              <mc:Fallback>
                <p:oleObj name="Equation" r:id="rId4" imgW="1384200" imgH="342720" progId="Equation.DSMT4">
                  <p:embed/>
                  <p:pic>
                    <p:nvPicPr>
                      <p:cNvPr id="471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4" y="1274764"/>
                        <a:ext cx="28860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Rectangle 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71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042110"/>
              </p:ext>
            </p:extLst>
          </p:nvPr>
        </p:nvGraphicFramePr>
        <p:xfrm>
          <a:off x="5015880" y="4884739"/>
          <a:ext cx="5381625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7" name="Equation" r:id="rId6" imgW="2565360" imgH="609480" progId="Equation.DSMT4">
                  <p:embed/>
                </p:oleObj>
              </mc:Choice>
              <mc:Fallback>
                <p:oleObj name="Equation" r:id="rId6" imgW="2565360" imgH="609480" progId="Equation.DSMT4">
                  <p:embed/>
                  <p:pic>
                    <p:nvPicPr>
                      <p:cNvPr id="471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4884739"/>
                        <a:ext cx="5381625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4410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Covariance between breeding values is</a:t>
            </a:r>
          </a:p>
          <a:p>
            <a:pPr lvl="1" eaLnBrk="1" hangingPunct="1"/>
            <a:r>
              <a:rPr lang="en-GB" altLang="en-US" dirty="0"/>
              <a:t> where  </a:t>
            </a:r>
            <a:r>
              <a:rPr lang="en-GB" altLang="en-US" b="1" dirty="0"/>
              <a:t>G</a:t>
            </a:r>
            <a:r>
              <a:rPr lang="en-GB" altLang="en-US" baseline="-25000" dirty="0"/>
              <a:t>1</a:t>
            </a:r>
            <a:r>
              <a:rPr lang="en-GB" altLang="en-US" b="1" dirty="0"/>
              <a:t> = W</a:t>
            </a:r>
            <a:r>
              <a:rPr lang="en-GB" altLang="en-US" baseline="-25000" dirty="0"/>
              <a:t>1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baseline="30000" dirty="0"/>
              <a:t>T</a:t>
            </a:r>
            <a:r>
              <a:rPr lang="en-GB" altLang="en-US" dirty="0"/>
              <a:t>/</a:t>
            </a:r>
            <a:r>
              <a:rPr lang="en-GB" altLang="en-US" i="1" dirty="0"/>
              <a:t>c</a:t>
            </a:r>
            <a:r>
              <a:rPr lang="en-GB" altLang="en-US" i="1" baseline="30000" dirty="0"/>
              <a:t>2</a:t>
            </a:r>
            <a:endParaRPr lang="en-GB" altLang="en-US" baseline="30000" dirty="0"/>
          </a:p>
          <a:p>
            <a:pPr lvl="2" eaLnBrk="1" hangingPunct="1"/>
            <a:r>
              <a:rPr lang="en-GB" altLang="en-US" dirty="0"/>
              <a:t>with   </a:t>
            </a:r>
          </a:p>
          <a:p>
            <a:pPr lvl="2" eaLnBrk="1" hangingPunct="1"/>
            <a:r>
              <a:rPr lang="en-GB" altLang="en-US" dirty="0"/>
              <a:t>the 0/1/2 covariates are centred &amp; scaled by</a:t>
            </a:r>
            <a:r>
              <a:rPr lang="en-GB" altLang="en-US" i="1" dirty="0"/>
              <a:t> </a:t>
            </a:r>
            <a:r>
              <a:rPr lang="en-GB" altLang="en-US" dirty="0"/>
              <a:t>same </a:t>
            </a:r>
            <a:r>
              <a:rPr lang="en-GB" altLang="en-US" i="1" dirty="0"/>
              <a:t>c </a:t>
            </a:r>
            <a:r>
              <a:rPr lang="en-GB" altLang="en-US" u="sng" dirty="0"/>
              <a:t>for all loci</a:t>
            </a:r>
            <a:endParaRPr lang="en-GB" altLang="en-US" b="1" dirty="0"/>
          </a:p>
          <a:p>
            <a:pPr lvl="1" eaLnBrk="1" hangingPunct="1"/>
            <a:r>
              <a:rPr lang="en-GB" altLang="en-US" b="1" dirty="0"/>
              <a:t>G</a:t>
            </a:r>
            <a:r>
              <a:rPr lang="en-GB" altLang="en-US" baseline="-25000" dirty="0"/>
              <a:t>1</a:t>
            </a:r>
            <a:r>
              <a:rPr lang="en-GB" altLang="en-US" dirty="0"/>
              <a:t> is</a:t>
            </a:r>
            <a:r>
              <a:rPr lang="en-GB" altLang="en-US" b="1" dirty="0"/>
              <a:t> </a:t>
            </a:r>
            <a:r>
              <a:rPr lang="en-GB" altLang="en-US" dirty="0"/>
              <a:t>a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n</a:t>
            </a:r>
            <a:r>
              <a:rPr lang="en-GB" altLang="en-US" dirty="0"/>
              <a:t>) genomic relationship matrix</a:t>
            </a:r>
          </a:p>
          <a:p>
            <a:pPr lvl="2" eaLnBrk="1" hangingPunct="1"/>
            <a:r>
              <a:rPr lang="en-GB" altLang="en-US" dirty="0"/>
              <a:t>derived from IBS of markers alone, </a:t>
            </a:r>
            <a:r>
              <a:rPr lang="en-GB" altLang="en-US" u="sng" dirty="0"/>
              <a:t>not IBD</a:t>
            </a:r>
          </a:p>
          <a:p>
            <a:pPr lvl="1" eaLnBrk="1" hangingPunct="1"/>
            <a:r>
              <a:rPr lang="el-GR" altLang="en-US" i="1" dirty="0"/>
              <a:t>σ</a:t>
            </a:r>
            <a:r>
              <a:rPr lang="en-GB" altLang="en-US" i="1" baseline="-25000" dirty="0"/>
              <a:t>g</a:t>
            </a:r>
            <a:r>
              <a:rPr lang="en-GB" altLang="en-US" i="1" baseline="30000" dirty="0"/>
              <a:t>2</a:t>
            </a:r>
            <a:r>
              <a:rPr lang="en-GB" altLang="en-US" dirty="0"/>
              <a:t> is ‘a’ genetic variance called </a:t>
            </a:r>
            <a:r>
              <a:rPr lang="en-GB" altLang="en-US" i="1" dirty="0"/>
              <a:t>genic variance</a:t>
            </a:r>
          </a:p>
          <a:p>
            <a:pPr lvl="2" eaLnBrk="1" hangingPunct="1"/>
            <a:r>
              <a:rPr lang="en-GB" altLang="en-US" dirty="0"/>
              <a:t>population used to construct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dirty="0"/>
              <a:t> if in HWE</a:t>
            </a:r>
          </a:p>
          <a:p>
            <a:pPr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481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4813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6B3BF3-597E-455C-8479-7EA494B6CF6A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813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8134" name="Rectangle 10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8135" name="Object 12"/>
          <p:cNvGraphicFramePr>
            <a:graphicFrameLocks noChangeAspect="1"/>
          </p:cNvGraphicFramePr>
          <p:nvPr/>
        </p:nvGraphicFramePr>
        <p:xfrm>
          <a:off x="9269413" y="1136651"/>
          <a:ext cx="1008062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6" name="Equation" r:id="rId3" imgW="355320" imgH="253800" progId="Equation.DSMT4">
                  <p:embed/>
                </p:oleObj>
              </mc:Choice>
              <mc:Fallback>
                <p:oleObj name="Equation" r:id="rId3" imgW="355320" imgH="253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9413" y="1136651"/>
                        <a:ext cx="1008062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Rectangle 11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8137" name="Object 14"/>
          <p:cNvGraphicFramePr>
            <a:graphicFrameLocks noChangeAspect="1"/>
          </p:cNvGraphicFramePr>
          <p:nvPr/>
        </p:nvGraphicFramePr>
        <p:xfrm>
          <a:off x="3784600" y="2185989"/>
          <a:ext cx="231140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7" name="Equation" r:id="rId5" imgW="1244520" imgH="393480" progId="Equation.DSMT4">
                  <p:embed/>
                </p:oleObj>
              </mc:Choice>
              <mc:Fallback>
                <p:oleObj name="Equation" r:id="rId5" imgW="1244520" imgH="393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2185989"/>
                        <a:ext cx="231140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is (</a:t>
            </a:r>
            <a:r>
              <a:rPr lang="en-GB" altLang="en-US" i="1" dirty="0"/>
              <a:t>d</a:t>
            </a:r>
            <a:r>
              <a:rPr lang="en-GB" altLang="en-US" dirty="0"/>
              <a:t> x 1) vector of observations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μ</a:t>
            </a:r>
            <a:r>
              <a:rPr lang="en-GB" altLang="en-US" b="1" dirty="0"/>
              <a:t> </a:t>
            </a:r>
            <a:r>
              <a:rPr lang="en-GB" altLang="en-US" dirty="0"/>
              <a:t>is the mean vector, with </a:t>
            </a:r>
            <a:r>
              <a:rPr lang="en-GB" altLang="en-US" b="1" dirty="0"/>
              <a:t>1</a:t>
            </a:r>
            <a:r>
              <a:rPr lang="en-GB" altLang="en-US" dirty="0"/>
              <a:t> (</a:t>
            </a:r>
            <a:r>
              <a:rPr lang="en-GB" altLang="en-US" i="1" dirty="0"/>
              <a:t>d</a:t>
            </a:r>
            <a:r>
              <a:rPr lang="en-GB" altLang="en-US" dirty="0"/>
              <a:t> x 1) vector of 1’s</a:t>
            </a:r>
          </a:p>
          <a:p>
            <a:pPr lvl="1" eaLnBrk="1" hangingPunct="1"/>
            <a:r>
              <a:rPr lang="en-GB" altLang="en-US" dirty="0"/>
              <a:t>… [nuisance effects]</a:t>
            </a:r>
          </a:p>
          <a:p>
            <a:pPr lvl="1" eaLnBrk="1" hangingPunct="1"/>
            <a:r>
              <a:rPr lang="en-GB" altLang="en-US" b="1" dirty="0"/>
              <a:t>g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1) vector of breeding values</a:t>
            </a:r>
          </a:p>
          <a:p>
            <a:pPr lvl="2" eaLnBrk="1" hangingPunct="1"/>
            <a:r>
              <a:rPr lang="en-GB" altLang="en-US" b="1" dirty="0"/>
              <a:t>g</a:t>
            </a:r>
            <a:r>
              <a:rPr lang="en-GB" altLang="en-US" dirty="0"/>
              <a:t> assumed to be random and distributed MVN(0,</a:t>
            </a:r>
            <a:r>
              <a:rPr lang="el-GR" altLang="en-US" i="1" dirty="0"/>
              <a:t>σ</a:t>
            </a:r>
            <a:r>
              <a:rPr lang="en-GB" altLang="en-US" i="1" baseline="-25000" dirty="0"/>
              <a:t>g</a:t>
            </a:r>
            <a:r>
              <a:rPr lang="en-GB" altLang="en-US" i="1" baseline="30000" dirty="0"/>
              <a:t>2</a:t>
            </a:r>
            <a:r>
              <a:rPr lang="en-GB" altLang="en-US" b="1" dirty="0"/>
              <a:t>G</a:t>
            </a:r>
            <a:r>
              <a:rPr lang="en-GB" altLang="en-US" baseline="-25000" dirty="0"/>
              <a:t>1</a:t>
            </a:r>
            <a:r>
              <a:rPr lang="en-GB" altLang="en-US" dirty="0"/>
              <a:t>)</a:t>
            </a:r>
          </a:p>
          <a:p>
            <a:pPr lvl="1" eaLnBrk="1" hangingPunct="1"/>
            <a:r>
              <a:rPr lang="en-GB" altLang="en-US" b="1" dirty="0"/>
              <a:t>Z</a:t>
            </a:r>
            <a:r>
              <a:rPr lang="en-GB" altLang="en-US" dirty="0"/>
              <a:t> is (</a:t>
            </a:r>
            <a:r>
              <a:rPr lang="en-GB" altLang="en-US" i="1" dirty="0"/>
              <a:t>d </a:t>
            </a:r>
            <a:r>
              <a:rPr lang="en-GB" altLang="en-US" dirty="0"/>
              <a:t>x </a:t>
            </a:r>
            <a:r>
              <a:rPr lang="en-GB" altLang="en-US" i="1" dirty="0"/>
              <a:t>n</a:t>
            </a:r>
            <a:r>
              <a:rPr lang="en-GB" altLang="en-US" dirty="0"/>
              <a:t>) design matrix for </a:t>
            </a:r>
            <a:r>
              <a:rPr lang="en-GB" altLang="en-US" b="1" dirty="0"/>
              <a:t>g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e</a:t>
            </a:r>
            <a:r>
              <a:rPr lang="en-GB" altLang="en-US" dirty="0"/>
              <a:t> is (</a:t>
            </a:r>
            <a:r>
              <a:rPr lang="en-GB" altLang="en-US" i="1" dirty="0"/>
              <a:t>d</a:t>
            </a:r>
            <a:r>
              <a:rPr lang="en-GB" altLang="en-US" dirty="0"/>
              <a:t> x 1) vector of residual effects</a:t>
            </a:r>
          </a:p>
          <a:p>
            <a:pPr lvl="2" eaLnBrk="1" hangingPunct="1"/>
            <a:r>
              <a:rPr lang="en-GB" altLang="en-US" b="1" dirty="0"/>
              <a:t>e</a:t>
            </a:r>
            <a:r>
              <a:rPr lang="en-GB" altLang="en-US" dirty="0"/>
              <a:t> assumed to be MVN(0,</a:t>
            </a:r>
            <a:r>
              <a:rPr lang="el-GR" altLang="en-US" i="1" dirty="0"/>
              <a:t>σ</a:t>
            </a:r>
            <a:r>
              <a:rPr lang="en-GB" altLang="en-US" i="1" baseline="-25000" dirty="0"/>
              <a:t>E</a:t>
            </a:r>
            <a:r>
              <a:rPr lang="en-GB" altLang="en-US" i="1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 eaLnBrk="1" hangingPunct="1"/>
            <a:endParaRPr lang="en-GB" altLang="en-US" b="1" dirty="0"/>
          </a:p>
          <a:p>
            <a:pPr lvl="2" eaLnBrk="1" hangingPunct="1"/>
            <a:endParaRPr lang="en-GB" altLang="en-US" b="1" dirty="0"/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491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GBLUP Van Raden Model 1</a:t>
            </a:r>
          </a:p>
        </p:txBody>
      </p:sp>
      <p:sp>
        <p:nvSpPr>
          <p:cNvPr id="491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F3D997E-A4B6-4BE1-B4C4-6818BE58E8C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915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9158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9159" name="Object 6"/>
          <p:cNvGraphicFramePr>
            <a:graphicFrameLocks noChangeAspect="1"/>
          </p:cNvGraphicFramePr>
          <p:nvPr/>
        </p:nvGraphicFramePr>
        <p:xfrm>
          <a:off x="3668713" y="1196976"/>
          <a:ext cx="336391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4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1196976"/>
                        <a:ext cx="336391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Model</a:t>
            </a:r>
          </a:p>
          <a:p>
            <a:pPr lvl="1" eaLnBrk="1" hangingPunct="1"/>
            <a:r>
              <a:rPr lang="en-GB" altLang="en-US" b="1" dirty="0"/>
              <a:t>y</a:t>
            </a:r>
            <a:r>
              <a:rPr lang="en-GB" altLang="en-US" dirty="0"/>
              <a:t> is (</a:t>
            </a:r>
            <a:r>
              <a:rPr lang="en-GB" altLang="en-US" i="1" dirty="0"/>
              <a:t>d</a:t>
            </a:r>
            <a:r>
              <a:rPr lang="en-GB" altLang="en-US" dirty="0"/>
              <a:t> x 1) vector of observations</a:t>
            </a:r>
          </a:p>
          <a:p>
            <a:pPr lvl="1" eaLnBrk="1" hangingPunct="1"/>
            <a:r>
              <a:rPr lang="en-GB" altLang="en-US" b="1" dirty="0"/>
              <a:t>1</a:t>
            </a:r>
            <a:r>
              <a:rPr lang="en-GB" altLang="en-US" i="1" dirty="0"/>
              <a:t>μ</a:t>
            </a:r>
            <a:r>
              <a:rPr lang="en-GB" altLang="en-US" b="1" dirty="0"/>
              <a:t> </a:t>
            </a:r>
            <a:r>
              <a:rPr lang="en-GB" altLang="en-US" dirty="0"/>
              <a:t>is the mean vector, with </a:t>
            </a:r>
            <a:r>
              <a:rPr lang="en-GB" altLang="en-US" b="1" dirty="0"/>
              <a:t>1</a:t>
            </a:r>
            <a:r>
              <a:rPr lang="en-GB" altLang="en-US" dirty="0"/>
              <a:t> (</a:t>
            </a:r>
            <a:r>
              <a:rPr lang="en-GB" altLang="en-US" i="1" dirty="0"/>
              <a:t>d</a:t>
            </a:r>
            <a:r>
              <a:rPr lang="en-GB" altLang="en-US" dirty="0"/>
              <a:t> x 1) vector of 1’s</a:t>
            </a:r>
          </a:p>
          <a:p>
            <a:pPr lvl="1" eaLnBrk="1" hangingPunct="1"/>
            <a:r>
              <a:rPr lang="en-GB" altLang="en-US" dirty="0"/>
              <a:t>… [nuisance effects]</a:t>
            </a:r>
          </a:p>
          <a:p>
            <a:pPr lvl="1" eaLnBrk="1" hangingPunct="1"/>
            <a:r>
              <a:rPr lang="en-GB" altLang="en-US" b="1" dirty="0"/>
              <a:t>g </a:t>
            </a:r>
            <a:r>
              <a:rPr lang="en-GB" altLang="en-US" dirty="0"/>
              <a:t>is (</a:t>
            </a:r>
            <a:r>
              <a:rPr lang="en-GB" altLang="en-US" i="1" dirty="0"/>
              <a:t>n</a:t>
            </a:r>
            <a:r>
              <a:rPr lang="en-GB" altLang="en-US" dirty="0"/>
              <a:t> x 1) vector of breeding values</a:t>
            </a:r>
          </a:p>
          <a:p>
            <a:pPr lvl="2" eaLnBrk="1" hangingPunct="1"/>
            <a:r>
              <a:rPr lang="en-GB" altLang="en-US" b="1" dirty="0"/>
              <a:t>g</a:t>
            </a:r>
            <a:r>
              <a:rPr lang="en-GB" altLang="en-US" dirty="0"/>
              <a:t> assumed to be random and distributed MVN(0,</a:t>
            </a:r>
            <a:r>
              <a:rPr lang="el-GR" altLang="en-US" i="1" dirty="0"/>
              <a:t>σ</a:t>
            </a:r>
            <a:r>
              <a:rPr lang="en-GB" altLang="en-US" i="1" baseline="-25000" dirty="0"/>
              <a:t>g</a:t>
            </a:r>
            <a:r>
              <a:rPr lang="en-GB" altLang="en-US" i="1" baseline="30000" dirty="0"/>
              <a:t>2</a:t>
            </a:r>
            <a:r>
              <a:rPr lang="en-GB" altLang="en-US" b="1" dirty="0"/>
              <a:t>G</a:t>
            </a:r>
            <a:r>
              <a:rPr lang="en-GB" altLang="en-US" baseline="-25000" dirty="0"/>
              <a:t>1</a:t>
            </a:r>
            <a:r>
              <a:rPr lang="en-GB" altLang="en-US" dirty="0"/>
              <a:t>)</a:t>
            </a:r>
          </a:p>
          <a:p>
            <a:pPr lvl="1" eaLnBrk="1" hangingPunct="1"/>
            <a:r>
              <a:rPr lang="en-GB" altLang="en-US" b="1" dirty="0"/>
              <a:t>Z</a:t>
            </a:r>
            <a:r>
              <a:rPr lang="en-GB" altLang="en-US" dirty="0"/>
              <a:t> is (</a:t>
            </a:r>
            <a:r>
              <a:rPr lang="en-GB" altLang="en-US" i="1" dirty="0"/>
              <a:t>d</a:t>
            </a:r>
            <a:r>
              <a:rPr lang="en-GB" altLang="en-US" dirty="0"/>
              <a:t> x </a:t>
            </a:r>
            <a:r>
              <a:rPr lang="en-GB" altLang="en-US" i="1" dirty="0"/>
              <a:t>n</a:t>
            </a:r>
            <a:r>
              <a:rPr lang="en-GB" altLang="en-US" dirty="0"/>
              <a:t>) design matrix for </a:t>
            </a:r>
            <a:r>
              <a:rPr lang="en-GB" altLang="en-US" b="1" dirty="0"/>
              <a:t>g</a:t>
            </a:r>
            <a:endParaRPr lang="en-GB" altLang="en-US" dirty="0"/>
          </a:p>
          <a:p>
            <a:pPr lvl="1" eaLnBrk="1" hangingPunct="1"/>
            <a:r>
              <a:rPr lang="en-GB" altLang="en-US" b="1" dirty="0"/>
              <a:t>e</a:t>
            </a:r>
            <a:r>
              <a:rPr lang="en-GB" altLang="en-US" dirty="0"/>
              <a:t> is (</a:t>
            </a:r>
            <a:r>
              <a:rPr lang="en-GB" altLang="en-US" i="1" dirty="0"/>
              <a:t>d</a:t>
            </a:r>
            <a:r>
              <a:rPr lang="en-GB" altLang="en-US" dirty="0"/>
              <a:t> x 1) vector of residual effects</a:t>
            </a:r>
          </a:p>
          <a:p>
            <a:pPr lvl="2" eaLnBrk="1" hangingPunct="1"/>
            <a:r>
              <a:rPr lang="en-GB" altLang="en-US" b="1" dirty="0"/>
              <a:t>e</a:t>
            </a:r>
            <a:r>
              <a:rPr lang="en-GB" altLang="en-US" dirty="0"/>
              <a:t> assumed to be MVN(0,</a:t>
            </a:r>
            <a:r>
              <a:rPr lang="el-GR" altLang="en-US" i="1" dirty="0"/>
              <a:t>σ</a:t>
            </a:r>
            <a:r>
              <a:rPr lang="en-GB" altLang="en-US" i="1" baseline="-25000" dirty="0"/>
              <a:t>E</a:t>
            </a:r>
            <a:r>
              <a:rPr lang="en-GB" altLang="en-US" i="1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2" eaLnBrk="1" hangingPunct="1"/>
            <a:endParaRPr lang="en-GB" altLang="en-US" b="1" dirty="0"/>
          </a:p>
          <a:p>
            <a:pPr lvl="2" eaLnBrk="1" hangingPunct="1"/>
            <a:endParaRPr lang="en-GB" altLang="en-US" b="1" dirty="0"/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491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GBLUP Van Raden Model 1</a:t>
            </a:r>
          </a:p>
        </p:txBody>
      </p:sp>
      <p:sp>
        <p:nvSpPr>
          <p:cNvPr id="491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F3D997E-A4B6-4BE1-B4C4-6818BE58E8C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4915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49158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49159" name="Object 6"/>
          <p:cNvGraphicFramePr>
            <a:graphicFrameLocks noChangeAspect="1"/>
          </p:cNvGraphicFramePr>
          <p:nvPr/>
        </p:nvGraphicFramePr>
        <p:xfrm>
          <a:off x="3668713" y="1196976"/>
          <a:ext cx="336391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64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4915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1196976"/>
                        <a:ext cx="336391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8112224" y="4581128"/>
            <a:ext cx="3603642" cy="1295921"/>
          </a:xfrm>
          <a:prstGeom prst="rect">
            <a:avLst/>
          </a:prstGeom>
          <a:solidFill>
            <a:srgbClr val="FFFF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i="1" dirty="0">
                <a:solidFill>
                  <a:schemeClr val="tx1"/>
                </a:solidFill>
              </a:rPr>
              <a:t>d</a:t>
            </a:r>
            <a:r>
              <a:rPr lang="en-GB" dirty="0">
                <a:solidFill>
                  <a:schemeClr val="tx1"/>
                </a:solidFill>
              </a:rPr>
              <a:t> = # data points</a:t>
            </a:r>
          </a:p>
          <a:p>
            <a:pPr algn="just"/>
            <a:r>
              <a:rPr lang="en-GB" i="1" dirty="0">
                <a:solidFill>
                  <a:schemeClr val="tx1"/>
                </a:solidFill>
              </a:rPr>
              <a:t>n</a:t>
            </a:r>
            <a:r>
              <a:rPr lang="en-GB" dirty="0">
                <a:solidFill>
                  <a:schemeClr val="tx1"/>
                </a:solidFill>
              </a:rPr>
              <a:t> = # of genotyped individuals forming </a:t>
            </a:r>
            <a:r>
              <a:rPr lang="en-GB" b="1" dirty="0">
                <a:solidFill>
                  <a:schemeClr val="tx1"/>
                </a:solidFill>
              </a:rPr>
              <a:t>G</a:t>
            </a:r>
            <a:r>
              <a:rPr lang="en-GB" dirty="0">
                <a:solidFill>
                  <a:schemeClr val="tx1"/>
                </a:solidFill>
              </a:rPr>
              <a:t> (</a:t>
            </a:r>
            <a:r>
              <a:rPr lang="en-GB" i="1" dirty="0">
                <a:solidFill>
                  <a:schemeClr val="tx1"/>
                </a:solidFill>
              </a:rPr>
              <a:t>d</a:t>
            </a:r>
            <a:r>
              <a:rPr lang="en-GB" dirty="0">
                <a:solidFill>
                  <a:schemeClr val="tx1"/>
                </a:solidFill>
              </a:rPr>
              <a:t> ≤ </a:t>
            </a:r>
            <a:r>
              <a:rPr lang="en-GB" i="1" dirty="0">
                <a:solidFill>
                  <a:schemeClr val="tx1"/>
                </a:solidFill>
              </a:rPr>
              <a:t>n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9166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Van Raden Model 1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Derived GBLUP (with Van Raden Model 1)</a:t>
            </a:r>
          </a:p>
          <a:p>
            <a:pPr eaLnBrk="1" hangingPunct="1"/>
            <a:r>
              <a:rPr lang="en-GB" altLang="en-US" dirty="0"/>
              <a:t>Uses a relationship matrix </a:t>
            </a:r>
            <a:r>
              <a:rPr lang="en-GB" altLang="en-US" b="1" dirty="0"/>
              <a:t>G</a:t>
            </a:r>
            <a:r>
              <a:rPr lang="en-GB" altLang="en-US" baseline="-25000" dirty="0"/>
              <a:t>1</a:t>
            </a:r>
            <a:endParaRPr lang="en-GB" altLang="en-US" b="1" dirty="0"/>
          </a:p>
          <a:p>
            <a:pPr lvl="1" eaLnBrk="1" hangingPunct="1"/>
            <a:r>
              <a:rPr lang="en-GB" altLang="en-US" dirty="0"/>
              <a:t>calculated from markers alone with 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rabicPeriod"/>
            </a:pPr>
            <a:r>
              <a:rPr lang="en-GB" altLang="en-US" sz="2800" dirty="0"/>
              <a:t>form </a:t>
            </a:r>
            <a:r>
              <a:rPr lang="en-GB" altLang="en-US" sz="2800" b="1" dirty="0">
                <a:solidFill>
                  <a:schemeClr val="tx1"/>
                </a:solidFill>
              </a:rPr>
              <a:t>W</a:t>
            </a:r>
            <a:r>
              <a:rPr lang="en-GB" altLang="en-US" sz="2800" baseline="-25000" dirty="0">
                <a:solidFill>
                  <a:schemeClr val="tx1"/>
                </a:solidFill>
              </a:rPr>
              <a:t>1</a:t>
            </a:r>
            <a:r>
              <a:rPr lang="en-GB" altLang="en-US" sz="2800" dirty="0"/>
              <a:t> as centred allele counts 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rabicPeriod"/>
            </a:pPr>
            <a:r>
              <a:rPr lang="en-GB" altLang="en-US" sz="2800" dirty="0"/>
              <a:t>form              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rabicPeriod"/>
            </a:pPr>
            <a:r>
              <a:rPr lang="en-GB" altLang="en-US" sz="2800" dirty="0"/>
              <a:t>scale by</a:t>
            </a:r>
          </a:p>
        </p:txBody>
      </p:sp>
      <p:sp>
        <p:nvSpPr>
          <p:cNvPr id="5018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6EBC2AE-AA70-40B9-AE10-DDCAD428130B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018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50182" name="Rectangle 63"/>
          <p:cNvSpPr>
            <a:spLocks noChangeArrowheads="1"/>
          </p:cNvSpPr>
          <p:nvPr/>
        </p:nvSpPr>
        <p:spPr bwMode="auto">
          <a:xfrm>
            <a:off x="5984431" y="97795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en-GB" altLang="en-US" sz="1100">
                <a:cs typeface="Times New Roman" panose="02020603050405020304" pitchFamily="18" charset="0"/>
              </a:rPr>
              <a:t> </a:t>
            </a:r>
            <a:endParaRPr lang="en-GB" altLang="en-US"/>
          </a:p>
        </p:txBody>
      </p:sp>
      <p:graphicFrame>
        <p:nvGraphicFramePr>
          <p:cNvPr id="5018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88428"/>
              </p:ext>
            </p:extLst>
          </p:nvPr>
        </p:nvGraphicFramePr>
        <p:xfrm>
          <a:off x="6744072" y="2384426"/>
          <a:ext cx="221138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6" name="Equation" r:id="rId3" imgW="927000" imgH="215640" progId="Equation.DSMT4">
                  <p:embed/>
                </p:oleObj>
              </mc:Choice>
              <mc:Fallback>
                <p:oleObj name="Equation" r:id="rId3" imgW="927000" imgH="215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2384426"/>
                        <a:ext cx="221138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Rectangle 64"/>
          <p:cNvSpPr>
            <a:spLocks noChangeArrowheads="1"/>
          </p:cNvSpPr>
          <p:nvPr/>
        </p:nvSpPr>
        <p:spPr bwMode="auto">
          <a:xfrm>
            <a:off x="1524000" y="478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018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257622"/>
              </p:ext>
            </p:extLst>
          </p:nvPr>
        </p:nvGraphicFramePr>
        <p:xfrm>
          <a:off x="3143672" y="3861048"/>
          <a:ext cx="2645899" cy="858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7" name="Equation" r:id="rId5" imgW="1066680" imgH="342720" progId="Equation.DSMT4">
                  <p:embed/>
                </p:oleObj>
              </mc:Choice>
              <mc:Fallback>
                <p:oleObj name="Equation" r:id="rId5" imgW="1066680" imgH="34272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3861048"/>
                        <a:ext cx="2645899" cy="858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589021"/>
              </p:ext>
            </p:extLst>
          </p:nvPr>
        </p:nvGraphicFramePr>
        <p:xfrm>
          <a:off x="2567607" y="3356992"/>
          <a:ext cx="1102483" cy="599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8" name="Equation" r:id="rId7" imgW="406080" imgH="215640" progId="Equation.DSMT4">
                  <p:embed/>
                </p:oleObj>
              </mc:Choice>
              <mc:Fallback>
                <p:oleObj name="Equation" r:id="rId7" imgW="406080" imgH="2156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7" y="3356992"/>
                        <a:ext cx="1102483" cy="599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Van Raden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Has variance on allelic substitution effects</a:t>
            </a:r>
          </a:p>
          <a:p>
            <a:pPr lvl="1" eaLnBrk="1" hangingPunct="1">
              <a:defRPr/>
            </a:pPr>
            <a:r>
              <a:rPr lang="en-GB" dirty="0"/>
              <a:t>variance </a:t>
            </a:r>
            <a:r>
              <a:rPr lang="el-GR" i="1" dirty="0"/>
              <a:t>σ</a:t>
            </a:r>
            <a:r>
              <a:rPr lang="en-GB" i="1" baseline="-25000" dirty="0"/>
              <a:t>g</a:t>
            </a:r>
            <a:r>
              <a:rPr lang="en-GB" i="1" baseline="30000" dirty="0"/>
              <a:t>2</a:t>
            </a:r>
            <a:r>
              <a:rPr lang="en-GB" i="1" dirty="0"/>
              <a:t> </a:t>
            </a:r>
            <a:r>
              <a:rPr lang="en-GB" dirty="0"/>
              <a:t>is a genic variance</a:t>
            </a:r>
          </a:p>
          <a:p>
            <a:pPr lvl="1" eaLnBrk="1" hangingPunct="1">
              <a:defRPr/>
            </a:pPr>
            <a:r>
              <a:rPr lang="en-GB" dirty="0"/>
              <a:t>additive genetic for individuals used to construct </a:t>
            </a: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b="1" dirty="0"/>
              <a:t>, </a:t>
            </a:r>
            <a:r>
              <a:rPr lang="en-GB" dirty="0"/>
              <a:t>if loci in HWE</a:t>
            </a:r>
          </a:p>
          <a:p>
            <a:pPr eaLnBrk="1" hangingPunct="1">
              <a:defRPr/>
            </a:pPr>
            <a:r>
              <a:rPr lang="en-GB" dirty="0"/>
              <a:t>All loci are scaled by same value </a:t>
            </a:r>
            <a:r>
              <a:rPr lang="en-GB" i="1" dirty="0"/>
              <a:t>c</a:t>
            </a:r>
          </a:p>
          <a:p>
            <a:pPr eaLnBrk="1" hangingPunct="1">
              <a:defRPr/>
            </a:pPr>
            <a:r>
              <a:rPr lang="en-GB" dirty="0"/>
              <a:t>Scaling by </a:t>
            </a:r>
            <a:r>
              <a:rPr lang="en-GB" i="1" dirty="0"/>
              <a:t>c</a:t>
            </a:r>
            <a:r>
              <a:rPr lang="en-GB" dirty="0"/>
              <a:t> does </a:t>
            </a:r>
            <a:r>
              <a:rPr lang="en-GB" u="sng" dirty="0"/>
              <a:t>not</a:t>
            </a:r>
            <a:r>
              <a:rPr lang="en-GB" dirty="0"/>
              <a:t> alter the EBV obtained</a:t>
            </a:r>
          </a:p>
          <a:p>
            <a:pPr lvl="1" eaLnBrk="1" hangingPunct="1">
              <a:defRPr/>
            </a:pPr>
            <a:r>
              <a:rPr lang="en-GB" dirty="0"/>
              <a:t>the scaling of </a:t>
            </a: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i="1" dirty="0"/>
              <a:t> </a:t>
            </a:r>
            <a:r>
              <a:rPr lang="en-GB" dirty="0"/>
              <a:t>only changes the value of ‘the genetic variance’ parameter, i.e. </a:t>
            </a:r>
            <a:r>
              <a:rPr lang="el-GR" i="1" dirty="0"/>
              <a:t>σ</a:t>
            </a:r>
            <a:r>
              <a:rPr lang="en-GB" i="1" baseline="-25000" dirty="0"/>
              <a:t>g</a:t>
            </a:r>
            <a:r>
              <a:rPr lang="en-GB" i="1" baseline="30000" dirty="0"/>
              <a:t>2 </a:t>
            </a:r>
            <a:endParaRPr lang="en-GB" dirty="0"/>
          </a:p>
          <a:p>
            <a:pPr lvl="1" eaLnBrk="1" hangingPunct="1">
              <a:defRPr/>
            </a:pPr>
            <a:r>
              <a:rPr lang="en-GB" dirty="0"/>
              <a:t>does </a:t>
            </a:r>
            <a:r>
              <a:rPr lang="en-GB" u="sng" dirty="0"/>
              <a:t>not</a:t>
            </a:r>
            <a:r>
              <a:rPr lang="en-GB" dirty="0"/>
              <a:t> change (co)variances of breeding values as </a:t>
            </a:r>
            <a:r>
              <a:rPr lang="en-GB" i="1" dirty="0"/>
              <a:t>c</a:t>
            </a:r>
            <a:r>
              <a:rPr lang="en-GB" i="1" baseline="30000" dirty="0"/>
              <a:t>2</a:t>
            </a:r>
            <a:r>
              <a:rPr lang="en-GB" i="1" dirty="0"/>
              <a:t> </a:t>
            </a:r>
            <a:r>
              <a:rPr lang="en-GB" dirty="0"/>
              <a:t>values in </a:t>
            </a:r>
            <a:r>
              <a:rPr lang="el-GR" i="1" dirty="0"/>
              <a:t>σ</a:t>
            </a:r>
            <a:r>
              <a:rPr lang="en-GB" i="1" baseline="-25000" dirty="0"/>
              <a:t>g</a:t>
            </a:r>
            <a:r>
              <a:rPr lang="en-GB" i="1" baseline="30000" dirty="0"/>
              <a:t>2 </a:t>
            </a:r>
            <a:r>
              <a:rPr lang="en-GB" dirty="0"/>
              <a:t>and </a:t>
            </a: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b="1" dirty="0"/>
              <a:t>W</a:t>
            </a:r>
            <a:r>
              <a:rPr lang="en-GB" baseline="-25000" dirty="0"/>
              <a:t>1</a:t>
            </a:r>
            <a:r>
              <a:rPr lang="en-GB" baseline="30000" dirty="0"/>
              <a:t>T</a:t>
            </a:r>
            <a:r>
              <a:rPr lang="en-GB" dirty="0"/>
              <a:t>/</a:t>
            </a:r>
            <a:r>
              <a:rPr lang="en-GB" i="1" dirty="0"/>
              <a:t>c</a:t>
            </a:r>
            <a:r>
              <a:rPr lang="en-GB" i="1" baseline="30000" dirty="0"/>
              <a:t>2</a:t>
            </a:r>
            <a:r>
              <a:rPr lang="en-GB" dirty="0"/>
              <a:t> cancel</a:t>
            </a:r>
          </a:p>
          <a:p>
            <a:pPr lvl="1"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5120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4BFE46E-C621-4B92-870A-F3D51B20F72A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120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Lecture 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Van Raden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It is </a:t>
            </a:r>
            <a:r>
              <a:rPr lang="en-GB" u="sng" dirty="0"/>
              <a:t>the same model</a:t>
            </a:r>
            <a:r>
              <a:rPr lang="en-GB" dirty="0"/>
              <a:t> as SNP BLUP (1)</a:t>
            </a:r>
          </a:p>
          <a:p>
            <a:pPr lvl="1" eaLnBrk="1" hangingPunct="1">
              <a:defRPr/>
            </a:pPr>
            <a:r>
              <a:rPr lang="en-GB" dirty="0"/>
              <a:t>only expressed in a different form</a:t>
            </a:r>
          </a:p>
          <a:p>
            <a:pPr lvl="1" eaLnBrk="1" hangingPunct="1"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dirty="0"/>
              <a:t>All individuals used for deriving </a:t>
            </a:r>
            <a:r>
              <a:rPr lang="en-GB" b="1" dirty="0"/>
              <a:t>G</a:t>
            </a:r>
            <a:r>
              <a:rPr lang="en-GB" baseline="-25000" dirty="0"/>
              <a:t>1</a:t>
            </a:r>
            <a:r>
              <a:rPr lang="en-GB" dirty="0"/>
              <a:t> have EBV</a:t>
            </a:r>
          </a:p>
          <a:p>
            <a:pPr lvl="1" eaLnBrk="1" hangingPunct="1">
              <a:defRPr/>
            </a:pPr>
            <a:r>
              <a:rPr lang="en-GB" dirty="0"/>
              <a:t>irrespective of whether they have records</a:t>
            </a:r>
          </a:p>
          <a:p>
            <a:pPr marL="457200" lvl="1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</p:txBody>
      </p:sp>
      <p:sp>
        <p:nvSpPr>
          <p:cNvPr id="5120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4BFE46E-C621-4B92-870A-F3D51B20F72A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120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  <p:extLst>
      <p:ext uri="{BB962C8B-B14F-4D97-AF65-F5344CB8AC3E}">
        <p14:creationId xmlns:p14="http://schemas.microsoft.com/office/powerpoint/2010/main" val="2088006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Van Raden Model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Variance explained by a locus is</a:t>
            </a:r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dirty="0"/>
              <a:t>What is expected variance explained for a locus with allele frequency </a:t>
            </a:r>
            <a:r>
              <a:rPr lang="en-GB" i="1" dirty="0"/>
              <a:t>p</a:t>
            </a:r>
            <a:r>
              <a:rPr lang="en-GB" dirty="0"/>
              <a:t> ?</a:t>
            </a:r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dirty="0"/>
              <a:t>It varies with </a:t>
            </a:r>
            <a:r>
              <a:rPr lang="en-GB" i="1" dirty="0"/>
              <a:t>p …</a:t>
            </a:r>
          </a:p>
          <a:p>
            <a:pPr lvl="1" eaLnBrk="1" hangingPunct="1">
              <a:defRPr/>
            </a:pPr>
            <a:r>
              <a:rPr lang="en-GB" dirty="0"/>
              <a:t>intermediate frequencies highest per locus</a:t>
            </a:r>
          </a:p>
          <a:p>
            <a:pPr lvl="1" eaLnBrk="1" hangingPunct="1">
              <a:defRPr/>
            </a:pPr>
            <a:r>
              <a:rPr lang="en-GB" dirty="0"/>
              <a:t>MAF close to 0 contribute very little</a:t>
            </a:r>
          </a:p>
          <a:p>
            <a:pPr eaLnBrk="1" hangingPunct="1"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</p:txBody>
      </p:sp>
      <p:sp>
        <p:nvSpPr>
          <p:cNvPr id="5222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F3905C8-9574-465D-A471-97B320D6CAD1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222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522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063703"/>
              </p:ext>
            </p:extLst>
          </p:nvPr>
        </p:nvGraphicFramePr>
        <p:xfrm>
          <a:off x="4287837" y="1858964"/>
          <a:ext cx="2096195" cy="612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8" name="Equation" r:id="rId4" imgW="876240" imgH="253800" progId="Equation.DSMT4">
                  <p:embed/>
                </p:oleObj>
              </mc:Choice>
              <mc:Fallback>
                <p:oleObj name="Equation" r:id="rId4" imgW="876240" imgH="253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837" y="1858964"/>
                        <a:ext cx="2096195" cy="612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6"/>
          <p:cNvGraphicFramePr>
            <a:graphicFrameLocks noChangeAspect="1"/>
          </p:cNvGraphicFramePr>
          <p:nvPr/>
        </p:nvGraphicFramePr>
        <p:xfrm>
          <a:off x="2703514" y="4076700"/>
          <a:ext cx="676433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9" name="Equation" r:id="rId6" imgW="3276360" imgH="253800" progId="Equation.DSMT4">
                  <p:embed/>
                </p:oleObj>
              </mc:Choice>
              <mc:Fallback>
                <p:oleObj name="Equation" r:id="rId6" imgW="327636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4" y="4076700"/>
                        <a:ext cx="6764337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325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3503529-97C6-4F3D-883E-66E4500A06E1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325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ED41E6A-CE3D-4E87-93B3-F7DDE5977629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42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7 ...</a:t>
            </a:r>
            <a:br>
              <a:rPr lang="en-GB" altLang="en-US"/>
            </a:br>
            <a:r>
              <a:rPr lang="en-GB" altLang="en-US"/>
              <a:t>Genome Wide Markers &amp; EBVs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3: another </a:t>
            </a:r>
            <a:r>
              <a:rPr lang="en-US" altLang="en-US" b="1"/>
              <a:t>G</a:t>
            </a:r>
            <a:r>
              <a:rPr lang="en-US" altLang="en-US"/>
              <a:t>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Ridge Regression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Treated allelic substitutions as random effect </a:t>
            </a:r>
          </a:p>
          <a:p>
            <a:pPr lvl="1" eaLnBrk="1" hangingPunct="1"/>
            <a:r>
              <a:rPr lang="en-GB" altLang="en-US"/>
              <a:t>distribution assumptions were defined independent of MAF</a:t>
            </a:r>
          </a:p>
          <a:p>
            <a:pPr eaLnBrk="1" hangingPunct="1"/>
            <a:r>
              <a:rPr lang="en-GB" altLang="en-US"/>
              <a:t>Effects are regressed back to zero …</a:t>
            </a:r>
          </a:p>
        </p:txBody>
      </p:sp>
      <p:sp>
        <p:nvSpPr>
          <p:cNvPr id="5632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06C3D4C-4E0F-4319-9C20-84D44E3A7CE1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632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56326" name="Rectangle 4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7" name="Rectangle 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8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altLang="en-US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5" y="1196976"/>
            <a:ext cx="11713633" cy="4968875"/>
          </a:xfrm>
        </p:spPr>
        <p:txBody>
          <a:bodyPr/>
          <a:lstStyle/>
          <a:p>
            <a:r>
              <a:rPr lang="en-GB" dirty="0"/>
              <a:t>Regression to zero (‘shrinkage’) greatest</a:t>
            </a:r>
          </a:p>
          <a:p>
            <a:pPr lvl="1"/>
            <a:r>
              <a:rPr lang="en-GB" dirty="0"/>
              <a:t>if </a:t>
            </a:r>
            <a:r>
              <a:rPr lang="el-GR" i="1" dirty="0"/>
              <a:t>σ</a:t>
            </a:r>
            <a:r>
              <a:rPr lang="en-GB" i="1" baseline="-25000" dirty="0"/>
              <a:t>b</a:t>
            </a:r>
            <a:r>
              <a:rPr lang="en-GB" i="1" baseline="30000" dirty="0"/>
              <a:t>2</a:t>
            </a:r>
            <a:r>
              <a:rPr lang="en-GB" dirty="0"/>
              <a:t>/</a:t>
            </a:r>
            <a:r>
              <a:rPr lang="el-GR" i="1" dirty="0"/>
              <a:t>σ</a:t>
            </a:r>
            <a:r>
              <a:rPr lang="en-GB" i="1" baseline="-25000" dirty="0"/>
              <a:t>E</a:t>
            </a:r>
            <a:r>
              <a:rPr lang="en-GB" i="1" baseline="30000" dirty="0"/>
              <a:t>2</a:t>
            </a:r>
            <a:r>
              <a:rPr lang="en-GB" dirty="0"/>
              <a:t>  is small</a:t>
            </a:r>
          </a:p>
          <a:p>
            <a:pPr lvl="2"/>
            <a:r>
              <a:rPr lang="en-GB" dirty="0"/>
              <a:t>attribute of the problem, same for all loci</a:t>
            </a:r>
          </a:p>
          <a:p>
            <a:pPr lvl="1"/>
            <a:r>
              <a:rPr lang="en-GB" dirty="0"/>
              <a:t>if uncertainty over locus effect is greatest</a:t>
            </a:r>
          </a:p>
          <a:p>
            <a:pPr lvl="2"/>
            <a:r>
              <a:rPr lang="en-GB" dirty="0"/>
              <a:t>sampling error for locus j is   ~                     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                   as centred, so                                for locus j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so uncertainty greatest when              is small</a:t>
            </a:r>
          </a:p>
        </p:txBody>
      </p:sp>
      <p:sp>
        <p:nvSpPr>
          <p:cNvPr id="57348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1352D1C-74C1-435D-B9F5-3FF2BF623BB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734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57350" name="Rectangle 4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7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158173"/>
              </p:ext>
            </p:extLst>
          </p:nvPr>
        </p:nvGraphicFramePr>
        <p:xfrm>
          <a:off x="5735960" y="3212976"/>
          <a:ext cx="1696112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3" name="Equation" r:id="rId3" imgW="876240" imgH="355320" progId="Equation.DSMT4">
                  <p:embed/>
                </p:oleObj>
              </mc:Choice>
              <mc:Fallback>
                <p:oleObj name="Equation" r:id="rId3" imgW="876240" imgH="3553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960" y="3212976"/>
                        <a:ext cx="1696112" cy="68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Rectangle 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73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660332"/>
              </p:ext>
            </p:extLst>
          </p:nvPr>
        </p:nvGraphicFramePr>
        <p:xfrm>
          <a:off x="1559496" y="4149080"/>
          <a:ext cx="1298282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4" name="Equation" r:id="rId5" imgW="647640" imgH="342720" progId="Equation.DSMT4">
                  <p:embed/>
                </p:oleObj>
              </mc:Choice>
              <mc:Fallback>
                <p:oleObj name="Equation" r:id="rId5" imgW="647640" imgH="3427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4149080"/>
                        <a:ext cx="1298282" cy="68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4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573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920480"/>
              </p:ext>
            </p:extLst>
          </p:nvPr>
        </p:nvGraphicFramePr>
        <p:xfrm>
          <a:off x="5159895" y="4113152"/>
          <a:ext cx="2350509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5" name="Equation" r:id="rId7" imgW="1180800" imgH="342720" progId="Equation.DSMT4">
                  <p:embed/>
                </p:oleObj>
              </mc:Choice>
              <mc:Fallback>
                <p:oleObj name="Equation" r:id="rId7" imgW="1180800" imgH="34272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5" y="4113152"/>
                        <a:ext cx="2350509" cy="68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604115"/>
              </p:ext>
            </p:extLst>
          </p:nvPr>
        </p:nvGraphicFramePr>
        <p:xfrm>
          <a:off x="5467954" y="4999101"/>
          <a:ext cx="10915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76" name="Equation" r:id="rId9" imgW="545760" imgH="241200" progId="Equation.DSMT4">
                  <p:embed/>
                </p:oleObj>
              </mc:Choice>
              <mc:Fallback>
                <p:oleObj name="Equation" r:id="rId9" imgW="545760" imgH="241200" progId="Equation.DSMT4">
                  <p:embed/>
                  <p:pic>
                    <p:nvPicPr>
                      <p:cNvPr id="573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954" y="4999101"/>
                        <a:ext cx="10915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confident about the slope?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83F2-7222-4B97-9AC7-B6D21AFA543C}" type="datetime4">
              <a:rPr lang="en-GB" smtClean="0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7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0" y="2060848"/>
            <a:ext cx="0" cy="338437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294581" y="3252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688836" y="3108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245983" y="29837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6726871" y="2780928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5529645" y="412219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5972216" y="41437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6870848" y="334054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7342820" y="278115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038020" y="27809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7447116" y="3324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7687035" y="235384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836074" y="306837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8256240" y="24943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5225591" y="35730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5142081" y="414968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4467835" y="422110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4751744" y="462596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4655840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5591944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6344412" y="394549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112224" y="198867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4223792" y="472516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7342820" y="225089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7044005" y="3789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5811445" y="352179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5294481" y="45811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6184233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6599381" y="35568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3189894" y="2132676"/>
            <a:ext cx="2258035" cy="331254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7320137" y="1772816"/>
            <a:ext cx="2258035" cy="331254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2927648" y="3717032"/>
            <a:ext cx="64807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71664" y="5631632"/>
            <a:ext cx="5328592" cy="461665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Narrow spread of x’s – small variance</a:t>
            </a:r>
          </a:p>
        </p:txBody>
      </p:sp>
    </p:spTree>
    <p:extLst>
      <p:ext uri="{BB962C8B-B14F-4D97-AF65-F5344CB8AC3E}">
        <p14:creationId xmlns:p14="http://schemas.microsoft.com/office/powerpoint/2010/main" val="30235098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confident about the slope?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83F2-7222-4B97-9AC7-B6D21AFA543C}" type="datetime4">
              <a:rPr lang="en-GB" smtClean="0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11" name="Oval 10"/>
          <p:cNvSpPr/>
          <p:nvPr/>
        </p:nvSpPr>
        <p:spPr>
          <a:xfrm>
            <a:off x="6294581" y="3252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688836" y="3108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245983" y="29837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6726871" y="29515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5529645" y="412219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5972216" y="41437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6870848" y="334054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7342820" y="278115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038020" y="25099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7447116" y="3324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7687035" y="235384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836074" y="306837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8256240" y="24943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5225591" y="35730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5142081" y="414968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4467835" y="422110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4751744" y="462596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4655840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5591944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6344412" y="394549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112224" y="198867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4223792" y="472516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7342820" y="225089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7044005" y="3789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5811445" y="352179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5294481" y="45811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6184233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6599381" y="35568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5486296" y="2132676"/>
            <a:ext cx="1761832" cy="2736484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116232" y="2132676"/>
            <a:ext cx="0" cy="338437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071664" y="5631632"/>
            <a:ext cx="5328592" cy="461665"/>
          </a:xfrm>
          <a:prstGeom prst="rect">
            <a:avLst/>
          </a:prstGeom>
          <a:solidFill>
            <a:srgbClr val="FFFF99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Wide spread of x’s – large variance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927648" y="3717032"/>
            <a:ext cx="64807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9085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confident about the slope?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83F2-7222-4B97-9AC7-B6D21AFA543C}" type="datetime4">
              <a:rPr lang="en-GB" smtClean="0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7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0" y="2060848"/>
            <a:ext cx="0" cy="338437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294581" y="3252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688836" y="3108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245983" y="29837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6726871" y="2780928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5529645" y="412219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5972216" y="41437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6870848" y="334054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7342820" y="278115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038020" y="27809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7447116" y="3324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7687035" y="235384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836074" y="306837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8256240" y="24943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5225591" y="35730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5142081" y="414968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4467835" y="422110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4751744" y="462596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4655840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5591944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6344412" y="394549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112224" y="198867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4223792" y="472516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7342820" y="225089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7044005" y="3789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5811445" y="352179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5294481" y="45811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6184233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6599381" y="35568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3189894" y="2132676"/>
            <a:ext cx="2258035" cy="331254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7320137" y="1772816"/>
            <a:ext cx="2258035" cy="331254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2927648" y="3717032"/>
            <a:ext cx="64807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6123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confident about the slope?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83F2-7222-4B97-9AC7-B6D21AFA543C}" type="datetime4">
              <a:rPr lang="en-GB" smtClean="0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11" name="Oval 10"/>
          <p:cNvSpPr/>
          <p:nvPr/>
        </p:nvSpPr>
        <p:spPr>
          <a:xfrm>
            <a:off x="6294581" y="3252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688836" y="3108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245983" y="29837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6726871" y="29515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5529645" y="412219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5972216" y="41437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6870848" y="334054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7342820" y="278115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038020" y="25099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7447116" y="3324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7687035" y="235384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836074" y="306837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8256240" y="24943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5225591" y="35730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5142081" y="414968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4467835" y="422110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4751744" y="462596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4655840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5591944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6344412" y="394549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112224" y="198867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4223792" y="472516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7342820" y="225089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7044005" y="3789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5811445" y="352179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5294481" y="45811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6184233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6599381" y="35568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5486296" y="2132676"/>
            <a:ext cx="1761832" cy="2736484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116232" y="2132676"/>
            <a:ext cx="0" cy="338437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27648" y="3717032"/>
            <a:ext cx="64807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1286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2943873" y="3717032"/>
            <a:ext cx="64807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confident about the slope?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4083F2-7222-4B97-9AC7-B6D21AFA543C}" type="datetime4">
              <a:rPr lang="en-GB" smtClean="0"/>
              <a:pPr>
                <a:defRPr/>
              </a:pPr>
              <a:t>03 February 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Lecture 7</a:t>
            </a:r>
          </a:p>
        </p:txBody>
      </p:sp>
      <p:sp>
        <p:nvSpPr>
          <p:cNvPr id="11" name="Oval 10"/>
          <p:cNvSpPr/>
          <p:nvPr/>
        </p:nvSpPr>
        <p:spPr>
          <a:xfrm>
            <a:off x="6294581" y="3252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688836" y="3108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6245983" y="298372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6726871" y="2780928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5529645" y="412219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5972216" y="41437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6870848" y="334054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7342820" y="278115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038020" y="27809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7447116" y="33240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7687035" y="235384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7836074" y="306837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8256240" y="2494385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5225591" y="3573032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5142081" y="414968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4467835" y="422110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4751744" y="4625961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4655840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5591944" y="378905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6344412" y="394549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8112224" y="1988676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4223792" y="472516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7342820" y="2250897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7044005" y="3789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5811445" y="3521793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5294481" y="4581144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6184233" y="3645040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/>
          <p:cNvSpPr/>
          <p:nvPr/>
        </p:nvSpPr>
        <p:spPr>
          <a:xfrm>
            <a:off x="6599381" y="3556849"/>
            <a:ext cx="144016" cy="144000"/>
          </a:xfrm>
          <a:prstGeom prst="ellipse">
            <a:avLst/>
          </a:prstGeom>
          <a:solidFill>
            <a:srgbClr val="DA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116232" y="2132676"/>
            <a:ext cx="0" cy="338437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2636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altLang="en-US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5" y="1196976"/>
            <a:ext cx="11713633" cy="4968875"/>
          </a:xfrm>
        </p:spPr>
        <p:txBody>
          <a:bodyPr/>
          <a:lstStyle/>
          <a:p>
            <a:r>
              <a:rPr lang="en-GB" dirty="0"/>
              <a:t>Regression to zero (‘shrinkage’) greatest</a:t>
            </a:r>
          </a:p>
          <a:p>
            <a:pPr lvl="1" eaLnBrk="1" hangingPunct="1">
              <a:defRPr/>
            </a:pPr>
            <a:r>
              <a:rPr lang="en-GB" dirty="0"/>
              <a:t>if </a:t>
            </a:r>
            <a:r>
              <a:rPr lang="el-GR" i="1" dirty="0"/>
              <a:t>σ</a:t>
            </a:r>
            <a:r>
              <a:rPr lang="en-GB" i="1" baseline="-25000" dirty="0"/>
              <a:t>b</a:t>
            </a:r>
            <a:r>
              <a:rPr lang="en-GB" i="1" baseline="30000" dirty="0"/>
              <a:t>2</a:t>
            </a:r>
            <a:r>
              <a:rPr lang="en-GB" dirty="0"/>
              <a:t>/</a:t>
            </a:r>
            <a:r>
              <a:rPr lang="el-GR" i="1" dirty="0"/>
              <a:t>σ</a:t>
            </a:r>
            <a:r>
              <a:rPr lang="en-GB" i="1" baseline="-25000" dirty="0"/>
              <a:t>E</a:t>
            </a:r>
            <a:r>
              <a:rPr lang="en-GB" i="1" baseline="30000" dirty="0"/>
              <a:t>2 </a:t>
            </a:r>
            <a:r>
              <a:rPr lang="en-GB" dirty="0"/>
              <a:t> is small</a:t>
            </a:r>
          </a:p>
          <a:p>
            <a:pPr lvl="2" eaLnBrk="1" hangingPunct="1">
              <a:defRPr/>
            </a:pPr>
            <a:r>
              <a:rPr lang="en-GB" dirty="0"/>
              <a:t>attribute of the problem, same for all loci</a:t>
            </a:r>
          </a:p>
          <a:p>
            <a:pPr lvl="1" eaLnBrk="1" hangingPunct="1">
              <a:defRPr/>
            </a:pPr>
            <a:r>
              <a:rPr lang="en-GB" dirty="0"/>
              <a:t>if uncertainty over locus effect is greatest</a:t>
            </a:r>
          </a:p>
          <a:p>
            <a:pPr lvl="2" eaLnBrk="1" hangingPunct="1">
              <a:defRPr/>
            </a:pPr>
            <a:r>
              <a:rPr lang="en-GB" dirty="0"/>
              <a:t>uncertainty greatest when              is small</a:t>
            </a:r>
          </a:p>
          <a:p>
            <a:pPr lvl="2" eaLnBrk="1" hangingPunct="1">
              <a:defRPr/>
            </a:pPr>
            <a:r>
              <a:rPr lang="en-GB" dirty="0"/>
              <a:t>assuming HWE </a:t>
            </a:r>
          </a:p>
          <a:p>
            <a:pPr lvl="2" eaLnBrk="1" hangingPunct="1">
              <a:defRPr/>
            </a:pPr>
            <a:r>
              <a:rPr lang="en-GB" dirty="0"/>
              <a:t>              small when MAF is small</a:t>
            </a:r>
          </a:p>
        </p:txBody>
      </p:sp>
      <p:sp>
        <p:nvSpPr>
          <p:cNvPr id="57348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1352D1C-74C1-435D-B9F5-3FF2BF623BB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734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57350" name="Rectangle 4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2" name="Rectangle 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4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428505"/>
              </p:ext>
            </p:extLst>
          </p:nvPr>
        </p:nvGraphicFramePr>
        <p:xfrm>
          <a:off x="5068607" y="3284984"/>
          <a:ext cx="10915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29" name="Equation" r:id="rId4" imgW="545760" imgH="241200" progId="Equation.DSMT4">
                  <p:embed/>
                </p:oleObj>
              </mc:Choice>
              <mc:Fallback>
                <p:oleObj name="Equation" r:id="rId4" imgW="545760" imgH="241200" progId="Equation.DSMT4">
                  <p:embed/>
                  <p:pic>
                    <p:nvPicPr>
                      <p:cNvPr id="1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607" y="3284984"/>
                        <a:ext cx="10915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646251"/>
              </p:ext>
            </p:extLst>
          </p:nvPr>
        </p:nvGraphicFramePr>
        <p:xfrm>
          <a:off x="3863752" y="3691955"/>
          <a:ext cx="27684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30" name="Equation" r:id="rId6" imgW="1384200" imgH="241200" progId="Equation.DSMT4">
                  <p:embed/>
                </p:oleObj>
              </mc:Choice>
              <mc:Fallback>
                <p:oleObj name="Equation" r:id="rId6" imgW="1384200" imgH="241200" progId="Equation.DSMT4">
                  <p:embed/>
                  <p:pic>
                    <p:nvPicPr>
                      <p:cNvPr id="1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3691955"/>
                        <a:ext cx="276840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2CD06278-D80F-422C-A257-C40C1B218C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461356"/>
              </p:ext>
            </p:extLst>
          </p:nvPr>
        </p:nvGraphicFramePr>
        <p:xfrm>
          <a:off x="1487488" y="4149080"/>
          <a:ext cx="10915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31" name="Equation" r:id="rId8" imgW="545760" imgH="241200" progId="Equation.DSMT4">
                  <p:embed/>
                </p:oleObj>
              </mc:Choice>
              <mc:Fallback>
                <p:oleObj name="Equation" r:id="rId8" imgW="545760" imgH="24120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AF61D662-75E5-46EB-97F5-7ECDFAC8C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149080"/>
                        <a:ext cx="10915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16428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altLang="en-US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5" y="1196976"/>
            <a:ext cx="11713633" cy="4968875"/>
          </a:xfrm>
        </p:spPr>
        <p:txBody>
          <a:bodyPr/>
          <a:lstStyle/>
          <a:p>
            <a:r>
              <a:rPr lang="en-GB" dirty="0"/>
              <a:t>Regression to zero (‘shrinkage’) greatest</a:t>
            </a:r>
          </a:p>
          <a:p>
            <a:pPr lvl="1" eaLnBrk="1" hangingPunct="1">
              <a:defRPr/>
            </a:pPr>
            <a:r>
              <a:rPr lang="en-GB" dirty="0"/>
              <a:t>if </a:t>
            </a:r>
            <a:r>
              <a:rPr lang="el-GR" i="1" dirty="0"/>
              <a:t>σ</a:t>
            </a:r>
            <a:r>
              <a:rPr lang="en-GB" i="1" baseline="-25000" dirty="0"/>
              <a:t>b</a:t>
            </a:r>
            <a:r>
              <a:rPr lang="en-GB" i="1" baseline="30000" dirty="0"/>
              <a:t>2</a:t>
            </a:r>
            <a:r>
              <a:rPr lang="en-GB" dirty="0"/>
              <a:t>/</a:t>
            </a:r>
            <a:r>
              <a:rPr lang="el-GR" i="1" dirty="0"/>
              <a:t>σ</a:t>
            </a:r>
            <a:r>
              <a:rPr lang="en-GB" i="1" baseline="-25000" dirty="0"/>
              <a:t>E</a:t>
            </a:r>
            <a:r>
              <a:rPr lang="en-GB" i="1" baseline="30000" dirty="0"/>
              <a:t>2 </a:t>
            </a:r>
            <a:r>
              <a:rPr lang="en-GB" dirty="0"/>
              <a:t> is small</a:t>
            </a:r>
          </a:p>
          <a:p>
            <a:pPr lvl="2" eaLnBrk="1" hangingPunct="1">
              <a:defRPr/>
            </a:pPr>
            <a:r>
              <a:rPr lang="en-GB" dirty="0"/>
              <a:t>attribute of the problem, same for all loci</a:t>
            </a:r>
          </a:p>
          <a:p>
            <a:pPr lvl="1" eaLnBrk="1" hangingPunct="1">
              <a:defRPr/>
            </a:pPr>
            <a:r>
              <a:rPr lang="en-GB" dirty="0"/>
              <a:t>if uncertainty over locus effect is greatest</a:t>
            </a:r>
          </a:p>
          <a:p>
            <a:pPr lvl="2" eaLnBrk="1" hangingPunct="1">
              <a:defRPr/>
            </a:pPr>
            <a:r>
              <a:rPr lang="en-GB" dirty="0"/>
              <a:t>uncertainty greatest when              is small</a:t>
            </a:r>
          </a:p>
          <a:p>
            <a:pPr lvl="2" eaLnBrk="1" hangingPunct="1">
              <a:defRPr/>
            </a:pPr>
            <a:r>
              <a:rPr lang="en-GB" dirty="0"/>
              <a:t>assuming HWE </a:t>
            </a:r>
          </a:p>
          <a:p>
            <a:pPr lvl="2" eaLnBrk="1" hangingPunct="1">
              <a:defRPr/>
            </a:pPr>
            <a:r>
              <a:rPr lang="en-GB" dirty="0"/>
              <a:t>              small when MAF is small</a:t>
            </a:r>
          </a:p>
        </p:txBody>
      </p:sp>
      <p:sp>
        <p:nvSpPr>
          <p:cNvPr id="57348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1352D1C-74C1-435D-B9F5-3FF2BF623BB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734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57350" name="Rectangle 4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2" name="Rectangle 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4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5068607" y="3284984"/>
          <a:ext cx="10915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1" name="Equation" r:id="rId4" imgW="545760" imgH="241200" progId="Equation.DSMT4">
                  <p:embed/>
                </p:oleObj>
              </mc:Choice>
              <mc:Fallback>
                <p:oleObj name="Equation" r:id="rId4" imgW="545760" imgH="241200" progId="Equation.DSMT4">
                  <p:embed/>
                  <p:pic>
                    <p:nvPicPr>
                      <p:cNvPr id="1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607" y="3284984"/>
                        <a:ext cx="10915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3863752" y="3691955"/>
          <a:ext cx="27684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2" name="Equation" r:id="rId6" imgW="1384200" imgH="241200" progId="Equation.DSMT4">
                  <p:embed/>
                </p:oleObj>
              </mc:Choice>
              <mc:Fallback>
                <p:oleObj name="Equation" r:id="rId6" imgW="1384200" imgH="241200" progId="Equation.DSMT4">
                  <p:embed/>
                  <p:pic>
                    <p:nvPicPr>
                      <p:cNvPr id="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3691955"/>
                        <a:ext cx="276840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FB893F-93B4-46E1-ABCC-25CACD82D81E}"/>
              </a:ext>
            </a:extLst>
          </p:cNvPr>
          <p:cNvCxnSpPr>
            <a:cxnSpLocks/>
          </p:cNvCxnSpPr>
          <p:nvPr/>
        </p:nvCxnSpPr>
        <p:spPr>
          <a:xfrm>
            <a:off x="6050521" y="6093046"/>
            <a:ext cx="3789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C700E17-D5A6-4E9E-A6B2-7C70A193319C}"/>
              </a:ext>
            </a:extLst>
          </p:cNvPr>
          <p:cNvSpPr/>
          <p:nvPr/>
        </p:nvSpPr>
        <p:spPr>
          <a:xfrm>
            <a:off x="6505309" y="5618560"/>
            <a:ext cx="454787" cy="474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8420FD-0DB7-46A0-AA07-38CE4ADF02A1}"/>
              </a:ext>
            </a:extLst>
          </p:cNvPr>
          <p:cNvSpPr/>
          <p:nvPr/>
        </p:nvSpPr>
        <p:spPr>
          <a:xfrm>
            <a:off x="6960096" y="5148273"/>
            <a:ext cx="454787" cy="944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C7D5C1-591F-48EF-AE3C-77CADACBAFF7}"/>
              </a:ext>
            </a:extLst>
          </p:cNvPr>
          <p:cNvSpPr/>
          <p:nvPr/>
        </p:nvSpPr>
        <p:spPr>
          <a:xfrm>
            <a:off x="7414883" y="5618560"/>
            <a:ext cx="454787" cy="474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B64526-EBCE-411E-852B-944EB489ECF9}"/>
              </a:ext>
            </a:extLst>
          </p:cNvPr>
          <p:cNvCxnSpPr>
            <a:cxnSpLocks/>
          </p:cNvCxnSpPr>
          <p:nvPr/>
        </p:nvCxnSpPr>
        <p:spPr>
          <a:xfrm>
            <a:off x="2639616" y="6093046"/>
            <a:ext cx="37898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4CB7E98-D19A-4382-A634-6FA985940405}"/>
              </a:ext>
            </a:extLst>
          </p:cNvPr>
          <p:cNvSpPr/>
          <p:nvPr/>
        </p:nvSpPr>
        <p:spPr>
          <a:xfrm>
            <a:off x="3094403" y="4581326"/>
            <a:ext cx="454737" cy="1511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2803E-8C4B-4D59-AADD-C4B6F596874D}"/>
              </a:ext>
            </a:extLst>
          </p:cNvPr>
          <p:cNvSpPr/>
          <p:nvPr/>
        </p:nvSpPr>
        <p:spPr>
          <a:xfrm>
            <a:off x="3549140" y="5933484"/>
            <a:ext cx="454737" cy="159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1497F7-FFF1-4111-B9A9-123AF58A273E}"/>
              </a:ext>
            </a:extLst>
          </p:cNvPr>
          <p:cNvSpPr/>
          <p:nvPr/>
        </p:nvSpPr>
        <p:spPr>
          <a:xfrm>
            <a:off x="4003978" y="6078004"/>
            <a:ext cx="454787" cy="167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444480-8C0E-4A4F-8106-A5C411A84CBD}"/>
              </a:ext>
            </a:extLst>
          </p:cNvPr>
          <p:cNvSpPr txBox="1"/>
          <p:nvPr/>
        </p:nvSpPr>
        <p:spPr>
          <a:xfrm>
            <a:off x="4231372" y="4895070"/>
            <a:ext cx="1515825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MAF =0.05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F6702C-4214-42D5-9F8A-4F7B25F72D85}"/>
              </a:ext>
            </a:extLst>
          </p:cNvPr>
          <p:cNvSpPr txBox="1"/>
          <p:nvPr/>
        </p:nvSpPr>
        <p:spPr>
          <a:xfrm>
            <a:off x="7869671" y="4906360"/>
            <a:ext cx="1364362" cy="430784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>
            <a:defPPr>
              <a:defRPr lang="en-GB"/>
            </a:defPPr>
          </a:lstStyle>
          <a:p>
            <a:r>
              <a:rPr lang="en-GB" dirty="0"/>
              <a:t>MAF =0.5</a:t>
            </a:r>
          </a:p>
        </p:txBody>
      </p:sp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4831AEB0-2B71-4E03-A0AD-4B42A5B4E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745234"/>
              </p:ext>
            </p:extLst>
          </p:nvPr>
        </p:nvGraphicFramePr>
        <p:xfrm>
          <a:off x="1487488" y="4149080"/>
          <a:ext cx="10915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3" name="Equation" r:id="rId8" imgW="545760" imgH="241200" progId="Equation.DSMT4">
                  <p:embed/>
                </p:oleObj>
              </mc:Choice>
              <mc:Fallback>
                <p:oleObj name="Equation" r:id="rId8" imgW="545760" imgH="24120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AF61D662-75E5-46EB-97F5-7ECDFAC8C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149080"/>
                        <a:ext cx="10915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94028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239185" y="269875"/>
            <a:ext cx="11713633" cy="927100"/>
          </a:xfrm>
        </p:spPr>
        <p:txBody>
          <a:bodyPr/>
          <a:lstStyle/>
          <a:p>
            <a:r>
              <a:rPr lang="en-GB" altLang="en-US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5" y="1196976"/>
            <a:ext cx="11713633" cy="4968875"/>
          </a:xfrm>
        </p:spPr>
        <p:txBody>
          <a:bodyPr/>
          <a:lstStyle/>
          <a:p>
            <a:r>
              <a:rPr lang="en-GB" dirty="0"/>
              <a:t>Regression to zero (‘shrinkage’) greatest</a:t>
            </a:r>
          </a:p>
          <a:p>
            <a:pPr lvl="1" eaLnBrk="1" hangingPunct="1">
              <a:defRPr/>
            </a:pPr>
            <a:r>
              <a:rPr lang="en-GB" dirty="0"/>
              <a:t>if </a:t>
            </a:r>
            <a:r>
              <a:rPr lang="el-GR" i="1" dirty="0"/>
              <a:t>σ</a:t>
            </a:r>
            <a:r>
              <a:rPr lang="en-GB" i="1" baseline="-25000" dirty="0"/>
              <a:t>b</a:t>
            </a:r>
            <a:r>
              <a:rPr lang="en-GB" i="1" baseline="30000" dirty="0"/>
              <a:t>2</a:t>
            </a:r>
            <a:r>
              <a:rPr lang="en-GB" dirty="0"/>
              <a:t>/</a:t>
            </a:r>
            <a:r>
              <a:rPr lang="el-GR" i="1" dirty="0"/>
              <a:t>σ</a:t>
            </a:r>
            <a:r>
              <a:rPr lang="en-GB" i="1" baseline="-25000" dirty="0"/>
              <a:t>E</a:t>
            </a:r>
            <a:r>
              <a:rPr lang="en-GB" i="1" baseline="30000" dirty="0"/>
              <a:t>2 </a:t>
            </a:r>
            <a:r>
              <a:rPr lang="en-GB" dirty="0"/>
              <a:t> is small</a:t>
            </a:r>
          </a:p>
          <a:p>
            <a:pPr lvl="2" eaLnBrk="1" hangingPunct="1">
              <a:defRPr/>
            </a:pPr>
            <a:r>
              <a:rPr lang="en-GB" dirty="0"/>
              <a:t>attribute of the problem, same for all loci</a:t>
            </a:r>
          </a:p>
          <a:p>
            <a:pPr lvl="1" eaLnBrk="1" hangingPunct="1">
              <a:defRPr/>
            </a:pPr>
            <a:r>
              <a:rPr lang="en-GB" dirty="0"/>
              <a:t>if uncertainty over locus effect is greatest</a:t>
            </a:r>
          </a:p>
          <a:p>
            <a:pPr lvl="2" eaLnBrk="1" hangingPunct="1">
              <a:defRPr/>
            </a:pPr>
            <a:r>
              <a:rPr lang="en-GB" dirty="0"/>
              <a:t>uncertainty greatest when              is small</a:t>
            </a:r>
          </a:p>
          <a:p>
            <a:pPr lvl="2" eaLnBrk="1" hangingPunct="1">
              <a:defRPr/>
            </a:pPr>
            <a:r>
              <a:rPr lang="en-GB" dirty="0"/>
              <a:t>assuming HWE </a:t>
            </a:r>
          </a:p>
          <a:p>
            <a:pPr lvl="2" eaLnBrk="1" hangingPunct="1">
              <a:defRPr/>
            </a:pPr>
            <a:r>
              <a:rPr lang="en-GB" dirty="0"/>
              <a:t>              small when MAF is small</a:t>
            </a:r>
          </a:p>
          <a:p>
            <a:pPr lvl="2" eaLnBrk="1" hangingPunct="1">
              <a:defRPr/>
            </a:pPr>
            <a:endParaRPr lang="en-GB" dirty="0"/>
          </a:p>
          <a:p>
            <a:pPr lvl="1" eaLnBrk="1" hangingPunct="1">
              <a:defRPr/>
            </a:pPr>
            <a:r>
              <a:rPr lang="en-GB" dirty="0"/>
              <a:t>shrinkage will tend to be greatest for low MAF</a:t>
            </a:r>
          </a:p>
        </p:txBody>
      </p:sp>
      <p:sp>
        <p:nvSpPr>
          <p:cNvPr id="57348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1352D1C-74C1-435D-B9F5-3FF2BF623BB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734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57350" name="Rectangle 4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2" name="Rectangle 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4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5068607" y="3284984"/>
          <a:ext cx="10915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6" name="Equation" r:id="rId4" imgW="545760" imgH="241200" progId="Equation.DSMT4">
                  <p:embed/>
                </p:oleObj>
              </mc:Choice>
              <mc:Fallback>
                <p:oleObj name="Equation" r:id="rId4" imgW="545760" imgH="241200" progId="Equation.DSMT4">
                  <p:embed/>
                  <p:pic>
                    <p:nvPicPr>
                      <p:cNvPr id="1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607" y="3284984"/>
                        <a:ext cx="10915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3863752" y="3691955"/>
          <a:ext cx="27684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7" name="Equation" r:id="rId6" imgW="1384200" imgH="241200" progId="Equation.DSMT4">
                  <p:embed/>
                </p:oleObj>
              </mc:Choice>
              <mc:Fallback>
                <p:oleObj name="Equation" r:id="rId6" imgW="1384200" imgH="241200" progId="Equation.DSMT4">
                  <p:embed/>
                  <p:pic>
                    <p:nvPicPr>
                      <p:cNvPr id="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3691955"/>
                        <a:ext cx="276840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AF61D662-75E5-46EB-97F5-7ECDFAC8C2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892049"/>
              </p:ext>
            </p:extLst>
          </p:nvPr>
        </p:nvGraphicFramePr>
        <p:xfrm>
          <a:off x="1487488" y="4149080"/>
          <a:ext cx="10915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8" name="Equation" r:id="rId8" imgW="545760" imgH="241200" progId="Equation.DSMT4">
                  <p:embed/>
                </p:oleObj>
              </mc:Choice>
              <mc:Fallback>
                <p:oleObj name="Equation" r:id="rId8" imgW="545760" imgH="241200" progId="Equation.DSMT4">
                  <p:embed/>
                  <p:pic>
                    <p:nvPicPr>
                      <p:cNvPr id="2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149080"/>
                        <a:ext cx="10915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169B6A60-5D9F-4024-AFC5-D672D7C6E4F4}"/>
              </a:ext>
            </a:extLst>
          </p:cNvPr>
          <p:cNvSpPr/>
          <p:nvPr/>
        </p:nvSpPr>
        <p:spPr>
          <a:xfrm>
            <a:off x="335360" y="5013176"/>
            <a:ext cx="8136904" cy="5760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6751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Ridge Regression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Genetically </a:t>
            </a:r>
          </a:p>
          <a:p>
            <a:pPr lvl="1" eaLnBrk="1" hangingPunct="1"/>
            <a:r>
              <a:rPr lang="en-GB" altLang="en-US" dirty="0"/>
              <a:t>hypothesis of rare alleles of large effect</a:t>
            </a:r>
          </a:p>
          <a:p>
            <a:pPr lvl="1" eaLnBrk="1" hangingPunct="1"/>
            <a:r>
              <a:rPr lang="en-GB" altLang="en-US" dirty="0"/>
              <a:t>so genetic variance resides in low MAF</a:t>
            </a:r>
          </a:p>
          <a:p>
            <a:pPr eaLnBrk="1" hangingPunct="1"/>
            <a:r>
              <a:rPr lang="en-GB" altLang="en-US" dirty="0"/>
              <a:t>Statistically</a:t>
            </a:r>
          </a:p>
          <a:p>
            <a:pPr lvl="1" eaLnBrk="1" hangingPunct="1"/>
            <a:r>
              <a:rPr lang="en-GB" altLang="en-US" dirty="0"/>
              <a:t>it is common to standardise design matrix </a:t>
            </a:r>
          </a:p>
          <a:p>
            <a:pPr lvl="1" eaLnBrk="1" hangingPunct="1"/>
            <a:r>
              <a:rPr lang="en-GB" altLang="en-US" dirty="0"/>
              <a:t>divide regression variables by </a:t>
            </a:r>
            <a:r>
              <a:rPr lang="en-GB" altLang="en-US" dirty="0" err="1"/>
              <a:t>s.d.</a:t>
            </a:r>
            <a:endParaRPr lang="en-GB" altLang="en-US" dirty="0"/>
          </a:p>
          <a:p>
            <a:pPr lvl="1" eaLnBrk="1" hangingPunct="1"/>
            <a:r>
              <a:rPr lang="en-GB" altLang="en-US" dirty="0"/>
              <a:t>centred and normalised</a:t>
            </a:r>
          </a:p>
          <a:p>
            <a:pPr lvl="2" eaLnBrk="1" hangingPunct="1"/>
            <a:r>
              <a:rPr lang="en-GB" altLang="en-US" dirty="0"/>
              <a:t>all covariates have mean 0 and </a:t>
            </a:r>
            <a:r>
              <a:rPr lang="en-GB" altLang="en-US" dirty="0" err="1"/>
              <a:t>s.d.</a:t>
            </a:r>
            <a:r>
              <a:rPr lang="en-GB" altLang="en-US" dirty="0"/>
              <a:t> = 1</a:t>
            </a:r>
          </a:p>
        </p:txBody>
      </p:sp>
      <p:sp>
        <p:nvSpPr>
          <p:cNvPr id="5837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3CDFE93-5CBB-4AE9-902A-74D1C7DC4AC2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5837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Centre the X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‘Centre’ </a:t>
            </a:r>
            <a:r>
              <a:rPr lang="en-GB" altLang="en-US" b="1" dirty="0"/>
              <a:t>X</a:t>
            </a:r>
            <a:r>
              <a:rPr lang="en-GB" altLang="en-US" dirty="0"/>
              <a:t> </a:t>
            </a:r>
            <a:r>
              <a:rPr lang="en-GB" altLang="en-US" b="1" dirty="0"/>
              <a:t>                                                     W</a:t>
            </a:r>
            <a:r>
              <a:rPr lang="en-GB" altLang="en-US" b="1" baseline="-25000" dirty="0"/>
              <a:t>1</a:t>
            </a:r>
            <a:endParaRPr lang="en-GB" altLang="en-US" b="1" dirty="0"/>
          </a:p>
        </p:txBody>
      </p:sp>
      <p:sp>
        <p:nvSpPr>
          <p:cNvPr id="3174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C1738DF-4D34-404B-9F77-D4550B1AA576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3174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31750" name="Object 5"/>
          <p:cNvGraphicFramePr>
            <a:graphicFrameLocks noChangeAspect="1"/>
          </p:cNvGraphicFramePr>
          <p:nvPr/>
        </p:nvGraphicFramePr>
        <p:xfrm>
          <a:off x="5448301" y="2492375"/>
          <a:ext cx="121761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7" name="Formula" r:id="rId3" imgW="614880" imgH="847440" progId="Equation.Ribbit">
                  <p:embed/>
                </p:oleObj>
              </mc:Choice>
              <mc:Fallback>
                <p:oleObj name="Formula" r:id="rId3" imgW="614880" imgH="847440" progId="Equation.Ribbit">
                  <p:embed/>
                  <p:pic>
                    <p:nvPicPr>
                      <p:cNvPr id="317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2492375"/>
                        <a:ext cx="1217613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ight Brace 6"/>
          <p:cNvSpPr/>
          <p:nvPr/>
        </p:nvSpPr>
        <p:spPr>
          <a:xfrm rot="16200000" flipV="1">
            <a:off x="5988051" y="1881188"/>
            <a:ext cx="144462" cy="79216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1752" name="TextBox 7"/>
          <p:cNvSpPr txBox="1">
            <a:spLocks noChangeArrowheads="1"/>
          </p:cNvSpPr>
          <p:nvPr/>
        </p:nvSpPr>
        <p:spPr bwMode="auto">
          <a:xfrm>
            <a:off x="5664201" y="1743076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sp>
        <p:nvSpPr>
          <p:cNvPr id="9" name="Right Brace 8"/>
          <p:cNvSpPr/>
          <p:nvPr/>
        </p:nvSpPr>
        <p:spPr>
          <a:xfrm flipH="1" flipV="1">
            <a:off x="4727576" y="2565400"/>
            <a:ext cx="144463" cy="1511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1754" name="TextBox 9"/>
          <p:cNvSpPr txBox="1">
            <a:spLocks noChangeArrowheads="1"/>
          </p:cNvSpPr>
          <p:nvPr/>
        </p:nvSpPr>
        <p:spPr bwMode="auto">
          <a:xfrm>
            <a:off x="3071814" y="30686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Individuals</a:t>
            </a:r>
            <a:endParaRPr lang="en-GB" altLang="en-US"/>
          </a:p>
        </p:txBody>
      </p:sp>
      <p:sp>
        <p:nvSpPr>
          <p:cNvPr id="31755" name="TextBox 10"/>
          <p:cNvSpPr txBox="1">
            <a:spLocks noChangeArrowheads="1"/>
          </p:cNvSpPr>
          <p:nvPr/>
        </p:nvSpPr>
        <p:spPr bwMode="auto">
          <a:xfrm>
            <a:off x="1919288" y="4292600"/>
            <a:ext cx="52562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Frequency, p</a:t>
            </a:r>
            <a:r>
              <a:rPr lang="en-GB" altLang="en-US" sz="2400" baseline="-25000"/>
              <a:t>j</a:t>
            </a:r>
            <a:r>
              <a:rPr lang="en-GB" altLang="en-US" sz="2400"/>
              <a:t>		            ½  5/6 </a:t>
            </a:r>
          </a:p>
          <a:p>
            <a:pPr eaLnBrk="1" hangingPunct="1"/>
            <a:r>
              <a:rPr lang="en-GB" altLang="en-US" sz="2400"/>
              <a:t>Mean of covariate, 2p</a:t>
            </a:r>
            <a:r>
              <a:rPr lang="en-GB" altLang="en-US" sz="2400" baseline="-25000"/>
              <a:t>j</a:t>
            </a:r>
            <a:r>
              <a:rPr lang="en-GB" altLang="en-US" sz="2400"/>
              <a:t>    	 1   5/3</a:t>
            </a:r>
          </a:p>
        </p:txBody>
      </p:sp>
      <p:graphicFrame>
        <p:nvGraphicFramePr>
          <p:cNvPr id="31756" name="Object 11"/>
          <p:cNvGraphicFramePr>
            <a:graphicFrameLocks noChangeAspect="1"/>
          </p:cNvGraphicFramePr>
          <p:nvPr/>
        </p:nvGraphicFramePr>
        <p:xfrm>
          <a:off x="7762875" y="2492375"/>
          <a:ext cx="23495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8" name="Formula" r:id="rId5" imgW="1185120" imgH="847440" progId="Equation.Ribbit">
                  <p:embed/>
                </p:oleObj>
              </mc:Choice>
              <mc:Fallback>
                <p:oleObj name="Formula" r:id="rId5" imgW="1185120" imgH="847440" progId="Equation.Ribbit">
                  <p:embed/>
                  <p:pic>
                    <p:nvPicPr>
                      <p:cNvPr id="3175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75" y="2492375"/>
                        <a:ext cx="234950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6888164" y="3155951"/>
            <a:ext cx="503237" cy="417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4" name="Right Arrow 13"/>
          <p:cNvSpPr/>
          <p:nvPr/>
        </p:nvSpPr>
        <p:spPr>
          <a:xfrm>
            <a:off x="2855640" y="1284289"/>
            <a:ext cx="4535761" cy="415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5" name="Right Brace 14"/>
          <p:cNvSpPr/>
          <p:nvPr/>
        </p:nvSpPr>
        <p:spPr>
          <a:xfrm rot="16200000" flipV="1">
            <a:off x="8905083" y="1340645"/>
            <a:ext cx="71437" cy="180022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1760" name="TextBox 15"/>
          <p:cNvSpPr txBox="1">
            <a:spLocks noChangeArrowheads="1"/>
          </p:cNvSpPr>
          <p:nvPr/>
        </p:nvSpPr>
        <p:spPr bwMode="auto">
          <a:xfrm>
            <a:off x="8472489" y="1743076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Loci</a:t>
            </a:r>
            <a:endParaRPr lang="en-GB" altLang="en-US"/>
          </a:p>
        </p:txBody>
      </p:sp>
      <p:sp>
        <p:nvSpPr>
          <p:cNvPr id="17" name="Rectangle 16"/>
          <p:cNvSpPr/>
          <p:nvPr/>
        </p:nvSpPr>
        <p:spPr>
          <a:xfrm>
            <a:off x="8112125" y="4365625"/>
            <a:ext cx="287338" cy="287338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8472489" y="4365625"/>
            <a:ext cx="287337" cy="28733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9191626" y="4365625"/>
            <a:ext cx="288925" cy="287338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9551989" y="4365625"/>
            <a:ext cx="288925" cy="287338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8112125" y="4941889"/>
            <a:ext cx="287338" cy="2873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8472489" y="4941889"/>
            <a:ext cx="287337" cy="2873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9191626" y="4941889"/>
            <a:ext cx="288925" cy="2873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9551989" y="4941889"/>
            <a:ext cx="288925" cy="287337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8112125" y="5516564"/>
            <a:ext cx="287338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8472489" y="5516564"/>
            <a:ext cx="287337" cy="2889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9191626" y="5516564"/>
            <a:ext cx="288925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9551989" y="5516564"/>
            <a:ext cx="288925" cy="28892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8838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Normalise W</a:t>
            </a:r>
            <a:r>
              <a:rPr lang="en-GB" altLang="en-US" baseline="-25000"/>
              <a:t>1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Normalising                    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b="1" baseline="-25000" dirty="0"/>
              <a:t>                                     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endParaRPr lang="en-GB" altLang="en-US" dirty="0"/>
          </a:p>
        </p:txBody>
      </p:sp>
      <p:sp>
        <p:nvSpPr>
          <p:cNvPr id="604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5C66E10-B1B8-4008-92DE-0354DA667CBC}" type="datetime4">
              <a:rPr lang="en-GB" altLang="en-US">
                <a:solidFill>
                  <a:srgbClr val="000000"/>
                </a:solidFill>
              </a:rPr>
              <a:pPr/>
              <a:t>03 February 2025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604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>
                <a:solidFill>
                  <a:srgbClr val="000000"/>
                </a:solidFill>
              </a:rPr>
              <a:t>Lecture 7</a:t>
            </a:r>
          </a:p>
        </p:txBody>
      </p:sp>
      <p:sp>
        <p:nvSpPr>
          <p:cNvPr id="7" name="Right Brace 6"/>
          <p:cNvSpPr/>
          <p:nvPr/>
        </p:nvSpPr>
        <p:spPr>
          <a:xfrm rot="16200000" flipV="1">
            <a:off x="5519739" y="1628776"/>
            <a:ext cx="73025" cy="136842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0423" name="TextBox 7"/>
          <p:cNvSpPr txBox="1">
            <a:spLocks noChangeArrowheads="1"/>
          </p:cNvSpPr>
          <p:nvPr/>
        </p:nvSpPr>
        <p:spPr bwMode="auto">
          <a:xfrm>
            <a:off x="5124450" y="1743076"/>
            <a:ext cx="1042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solidFill>
                  <a:srgbClr val="000000"/>
                </a:solidFill>
              </a:rPr>
              <a:t>Loci</a:t>
            </a:r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9" name="Right Brace 8"/>
          <p:cNvSpPr/>
          <p:nvPr/>
        </p:nvSpPr>
        <p:spPr>
          <a:xfrm flipH="1" flipV="1">
            <a:off x="4151313" y="2565400"/>
            <a:ext cx="144462" cy="1511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0425" name="TextBox 9"/>
          <p:cNvSpPr txBox="1">
            <a:spLocks noChangeArrowheads="1"/>
          </p:cNvSpPr>
          <p:nvPr/>
        </p:nvSpPr>
        <p:spPr bwMode="auto">
          <a:xfrm>
            <a:off x="2495551" y="30686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solidFill>
                  <a:srgbClr val="000000"/>
                </a:solidFill>
              </a:rPr>
              <a:t>Individuals</a:t>
            </a:r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60426" name="TextBox 10"/>
          <p:cNvSpPr txBox="1">
            <a:spLocks noChangeArrowheads="1"/>
          </p:cNvSpPr>
          <p:nvPr/>
        </p:nvSpPr>
        <p:spPr bwMode="auto">
          <a:xfrm>
            <a:off x="1919288" y="4292600"/>
            <a:ext cx="52562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solidFill>
                  <a:srgbClr val="000000"/>
                </a:solidFill>
              </a:rPr>
              <a:t>Frequency (p</a:t>
            </a:r>
            <a:r>
              <a:rPr lang="en-GB" altLang="en-US" sz="2400" baseline="-25000">
                <a:solidFill>
                  <a:srgbClr val="000000"/>
                </a:solidFill>
              </a:rPr>
              <a:t>j</a:t>
            </a:r>
            <a:r>
              <a:rPr lang="en-GB" altLang="en-US" sz="2400">
                <a:solidFill>
                  <a:srgbClr val="000000"/>
                </a:solidFill>
              </a:rPr>
              <a:t>) 	   ½       5/6 </a:t>
            </a:r>
          </a:p>
          <a:p>
            <a:pPr eaLnBrk="1" hangingPunct="1"/>
            <a:r>
              <a:rPr lang="en-GB" altLang="en-US" sz="2400">
                <a:solidFill>
                  <a:srgbClr val="000000"/>
                </a:solidFill>
              </a:rPr>
              <a:t>s.d. ~ [2p</a:t>
            </a:r>
            <a:r>
              <a:rPr lang="en-GB" altLang="en-US" sz="2400" baseline="-25000">
                <a:solidFill>
                  <a:srgbClr val="000000"/>
                </a:solidFill>
              </a:rPr>
              <a:t>j</a:t>
            </a:r>
            <a:r>
              <a:rPr lang="en-GB" altLang="en-US" sz="2400">
                <a:solidFill>
                  <a:srgbClr val="000000"/>
                </a:solidFill>
              </a:rPr>
              <a:t>(1-p</a:t>
            </a:r>
            <a:r>
              <a:rPr lang="en-GB" altLang="en-US" sz="2400" baseline="-25000">
                <a:solidFill>
                  <a:srgbClr val="000000"/>
                </a:solidFill>
              </a:rPr>
              <a:t>j</a:t>
            </a:r>
            <a:r>
              <a:rPr lang="en-GB" altLang="en-US" sz="2400">
                <a:solidFill>
                  <a:srgbClr val="000000"/>
                </a:solidFill>
              </a:rPr>
              <a:t>)]</a:t>
            </a:r>
            <a:r>
              <a:rPr lang="en-GB" altLang="en-US" sz="2400" baseline="30000">
                <a:solidFill>
                  <a:srgbClr val="000000"/>
                </a:solidFill>
              </a:rPr>
              <a:t>1/2</a:t>
            </a:r>
            <a:r>
              <a:rPr lang="en-GB" altLang="en-US" sz="2400">
                <a:solidFill>
                  <a:srgbClr val="000000"/>
                </a:solidFill>
              </a:rPr>
              <a:t>       0.71   0.53</a:t>
            </a:r>
          </a:p>
        </p:txBody>
      </p:sp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7442200" y="2492375"/>
          <a:ext cx="299085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37" name="Formula" r:id="rId3" imgW="1510200" imgH="847440" progId="Equation.Ribbit">
                  <p:embed/>
                </p:oleObj>
              </mc:Choice>
              <mc:Fallback>
                <p:oleObj name="Formula" r:id="rId3" imgW="1510200" imgH="847440" progId="Equation.Ribbit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2492375"/>
                        <a:ext cx="299085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6888164" y="3155951"/>
            <a:ext cx="503237" cy="417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graphicFrame>
        <p:nvGraphicFramePr>
          <p:cNvPr id="60429" name="Object 13"/>
          <p:cNvGraphicFramePr>
            <a:graphicFrameLocks noChangeAspect="1"/>
          </p:cNvGraphicFramePr>
          <p:nvPr/>
        </p:nvGraphicFramePr>
        <p:xfrm>
          <a:off x="4367213" y="2492375"/>
          <a:ext cx="23495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38" name="Formula" r:id="rId5" imgW="1184910" imgH="847090" progId="Equation.Ribbit">
                  <p:embed/>
                </p:oleObj>
              </mc:Choice>
              <mc:Fallback>
                <p:oleObj name="Formula" r:id="rId5" imgW="1184910" imgH="847090" progId="Equation.Ribbit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2492375"/>
                        <a:ext cx="234950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ight Arrow 14"/>
          <p:cNvSpPr/>
          <p:nvPr/>
        </p:nvSpPr>
        <p:spPr>
          <a:xfrm>
            <a:off x="6888164" y="1268413"/>
            <a:ext cx="503237" cy="4175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Normalise W</a:t>
            </a:r>
            <a:r>
              <a:rPr lang="en-GB" altLang="en-US" baseline="-25000"/>
              <a:t>1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Normalising                    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b="1" baseline="-25000" dirty="0"/>
              <a:t>                                     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endParaRPr lang="en-GB" altLang="en-US" dirty="0"/>
          </a:p>
        </p:txBody>
      </p:sp>
      <p:sp>
        <p:nvSpPr>
          <p:cNvPr id="604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5C66E10-B1B8-4008-92DE-0354DA667CBC}" type="datetime4">
              <a:rPr lang="en-GB" altLang="en-US">
                <a:solidFill>
                  <a:srgbClr val="000000"/>
                </a:solidFill>
              </a:rPr>
              <a:pPr/>
              <a:t>03 February 2025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604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>
                <a:solidFill>
                  <a:srgbClr val="000000"/>
                </a:solidFill>
              </a:rPr>
              <a:t>Lecture 7</a:t>
            </a:r>
          </a:p>
        </p:txBody>
      </p:sp>
      <p:sp>
        <p:nvSpPr>
          <p:cNvPr id="7" name="Right Brace 6"/>
          <p:cNvSpPr/>
          <p:nvPr/>
        </p:nvSpPr>
        <p:spPr>
          <a:xfrm rot="16200000" flipV="1">
            <a:off x="5519739" y="1628776"/>
            <a:ext cx="73025" cy="136842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0423" name="TextBox 7"/>
          <p:cNvSpPr txBox="1">
            <a:spLocks noChangeArrowheads="1"/>
          </p:cNvSpPr>
          <p:nvPr/>
        </p:nvSpPr>
        <p:spPr bwMode="auto">
          <a:xfrm>
            <a:off x="5124450" y="1743076"/>
            <a:ext cx="1042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solidFill>
                  <a:srgbClr val="000000"/>
                </a:solidFill>
              </a:rPr>
              <a:t>Loci</a:t>
            </a:r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9" name="Right Brace 8"/>
          <p:cNvSpPr/>
          <p:nvPr/>
        </p:nvSpPr>
        <p:spPr>
          <a:xfrm flipH="1" flipV="1">
            <a:off x="4151313" y="2565400"/>
            <a:ext cx="144462" cy="1511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0425" name="TextBox 9"/>
          <p:cNvSpPr txBox="1">
            <a:spLocks noChangeArrowheads="1"/>
          </p:cNvSpPr>
          <p:nvPr/>
        </p:nvSpPr>
        <p:spPr bwMode="auto">
          <a:xfrm>
            <a:off x="2495551" y="30686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solidFill>
                  <a:srgbClr val="000000"/>
                </a:solidFill>
              </a:rPr>
              <a:t>Individuals</a:t>
            </a:r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60426" name="TextBox 10"/>
          <p:cNvSpPr txBox="1">
            <a:spLocks noChangeArrowheads="1"/>
          </p:cNvSpPr>
          <p:nvPr/>
        </p:nvSpPr>
        <p:spPr bwMode="auto">
          <a:xfrm>
            <a:off x="1919288" y="4292600"/>
            <a:ext cx="52562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solidFill>
                  <a:srgbClr val="000000"/>
                </a:solidFill>
              </a:rPr>
              <a:t>Frequency (p</a:t>
            </a:r>
            <a:r>
              <a:rPr lang="en-GB" altLang="en-US" sz="2400" baseline="-25000">
                <a:solidFill>
                  <a:srgbClr val="000000"/>
                </a:solidFill>
              </a:rPr>
              <a:t>j</a:t>
            </a:r>
            <a:r>
              <a:rPr lang="en-GB" altLang="en-US" sz="2400">
                <a:solidFill>
                  <a:srgbClr val="000000"/>
                </a:solidFill>
              </a:rPr>
              <a:t>) 	   ½       5/6 </a:t>
            </a:r>
          </a:p>
          <a:p>
            <a:pPr eaLnBrk="1" hangingPunct="1"/>
            <a:r>
              <a:rPr lang="en-GB" altLang="en-US" sz="2400">
                <a:solidFill>
                  <a:srgbClr val="000000"/>
                </a:solidFill>
              </a:rPr>
              <a:t>s.d. ~ [2p</a:t>
            </a:r>
            <a:r>
              <a:rPr lang="en-GB" altLang="en-US" sz="2400" baseline="-25000">
                <a:solidFill>
                  <a:srgbClr val="000000"/>
                </a:solidFill>
              </a:rPr>
              <a:t>j</a:t>
            </a:r>
            <a:r>
              <a:rPr lang="en-GB" altLang="en-US" sz="2400">
                <a:solidFill>
                  <a:srgbClr val="000000"/>
                </a:solidFill>
              </a:rPr>
              <a:t>(1-p</a:t>
            </a:r>
            <a:r>
              <a:rPr lang="en-GB" altLang="en-US" sz="2400" baseline="-25000">
                <a:solidFill>
                  <a:srgbClr val="000000"/>
                </a:solidFill>
              </a:rPr>
              <a:t>j</a:t>
            </a:r>
            <a:r>
              <a:rPr lang="en-GB" altLang="en-US" sz="2400">
                <a:solidFill>
                  <a:srgbClr val="000000"/>
                </a:solidFill>
              </a:rPr>
              <a:t>)]</a:t>
            </a:r>
            <a:r>
              <a:rPr lang="en-GB" altLang="en-US" sz="2400" baseline="30000">
                <a:solidFill>
                  <a:srgbClr val="000000"/>
                </a:solidFill>
              </a:rPr>
              <a:t>1/2</a:t>
            </a:r>
            <a:r>
              <a:rPr lang="en-GB" altLang="en-US" sz="2400">
                <a:solidFill>
                  <a:srgbClr val="000000"/>
                </a:solidFill>
              </a:rPr>
              <a:t>       0.71   0.53</a:t>
            </a:r>
          </a:p>
        </p:txBody>
      </p:sp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7442200" y="2492375"/>
          <a:ext cx="299085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4" name="Formula" r:id="rId3" imgW="1510200" imgH="847440" progId="Equation.Ribbit">
                  <p:embed/>
                </p:oleObj>
              </mc:Choice>
              <mc:Fallback>
                <p:oleObj name="Formula" r:id="rId3" imgW="1510200" imgH="847440" progId="Equation.Ribbit">
                  <p:embed/>
                  <p:pic>
                    <p:nvPicPr>
                      <p:cNvPr id="604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2492375"/>
                        <a:ext cx="299085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6888164" y="3155951"/>
            <a:ext cx="503237" cy="417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graphicFrame>
        <p:nvGraphicFramePr>
          <p:cNvPr id="60429" name="Object 13"/>
          <p:cNvGraphicFramePr>
            <a:graphicFrameLocks noChangeAspect="1"/>
          </p:cNvGraphicFramePr>
          <p:nvPr/>
        </p:nvGraphicFramePr>
        <p:xfrm>
          <a:off x="4367213" y="2492375"/>
          <a:ext cx="23495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5" name="Formula" r:id="rId5" imgW="1184910" imgH="847090" progId="Equation.Ribbit">
                  <p:embed/>
                </p:oleObj>
              </mc:Choice>
              <mc:Fallback>
                <p:oleObj name="Formula" r:id="rId5" imgW="1184910" imgH="847090" progId="Equation.Ribbit">
                  <p:embed/>
                  <p:pic>
                    <p:nvPicPr>
                      <p:cNvPr id="604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2492375"/>
                        <a:ext cx="234950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ight Arrow 14"/>
          <p:cNvSpPr/>
          <p:nvPr/>
        </p:nvSpPr>
        <p:spPr>
          <a:xfrm>
            <a:off x="6888164" y="1268413"/>
            <a:ext cx="503237" cy="4175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67608" y="5157192"/>
            <a:ext cx="1864568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Assumes HWE</a:t>
            </a:r>
          </a:p>
        </p:txBody>
      </p:sp>
    </p:spTree>
    <p:extLst>
      <p:ext uri="{BB962C8B-B14F-4D97-AF65-F5344CB8AC3E}">
        <p14:creationId xmlns:p14="http://schemas.microsoft.com/office/powerpoint/2010/main" val="33629088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Normalise W</a:t>
            </a:r>
            <a:r>
              <a:rPr lang="en-GB" altLang="en-US" baseline="-25000"/>
              <a:t>1</a:t>
            </a:r>
            <a:endParaRPr lang="en-GB" altLang="en-US" b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If covariates are scaled the slopes </a:t>
            </a:r>
            <a:r>
              <a:rPr lang="en-GB" altLang="en-US" i="1" dirty="0" err="1"/>
              <a:t>b</a:t>
            </a:r>
            <a:r>
              <a:rPr lang="en-GB" altLang="en-US" i="1" baseline="-25000" dirty="0" err="1"/>
              <a:t>j</a:t>
            </a:r>
            <a:r>
              <a:rPr lang="en-GB" altLang="en-US" i="1" baseline="-25000" dirty="0"/>
              <a:t> </a:t>
            </a:r>
            <a:r>
              <a:rPr lang="en-GB" altLang="en-US" dirty="0"/>
              <a:t>are scaled opposite way!</a:t>
            </a:r>
          </a:p>
          <a:p>
            <a:pPr lvl="1" eaLnBrk="1" hangingPunct="1"/>
            <a:r>
              <a:rPr lang="en-GB" altLang="en-US" dirty="0"/>
              <a:t>i.e. </a:t>
            </a:r>
          </a:p>
          <a:p>
            <a:pPr lvl="1"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</p:txBody>
      </p:sp>
      <p:sp>
        <p:nvSpPr>
          <p:cNvPr id="614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944791F-F0B6-4083-8959-9B3C239B706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1446" name="Rectangle 4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849745"/>
              </p:ext>
            </p:extLst>
          </p:nvPr>
        </p:nvGraphicFramePr>
        <p:xfrm>
          <a:off x="2732087" y="1700808"/>
          <a:ext cx="286702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7" name="Equation" r:id="rId3" imgW="1282680" imgH="279360" progId="Equation.DSMT4">
                  <p:embed/>
                </p:oleObj>
              </mc:Choice>
              <mc:Fallback>
                <p:oleObj name="Equation" r:id="rId3" imgW="128268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7" y="1700808"/>
                        <a:ext cx="2867025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Rectangle 5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2495600" y="1052736"/>
            <a:ext cx="1224136" cy="4320002"/>
            <a:chOff x="2494274" y="1079999"/>
            <a:chExt cx="4543524" cy="4320002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521331" y="1079999"/>
              <a:ext cx="0" cy="4320000"/>
            </a:xfrm>
            <a:prstGeom prst="line">
              <a:avLst/>
            </a:prstGeom>
            <a:ln w="444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494274" y="5381944"/>
              <a:ext cx="4543524" cy="0"/>
            </a:xfrm>
            <a:prstGeom prst="line">
              <a:avLst/>
            </a:prstGeom>
            <a:ln w="444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2494274" y="1243173"/>
              <a:ext cx="4440782" cy="4156828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14833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Normalise W</a:t>
            </a:r>
            <a:r>
              <a:rPr lang="en-GB" altLang="en-US" baseline="-25000"/>
              <a:t>1</a:t>
            </a:r>
            <a:endParaRPr lang="en-GB" altLang="en-US" b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If covariates are scaled the slopes </a:t>
            </a:r>
            <a:r>
              <a:rPr lang="en-GB" altLang="en-US" i="1" dirty="0" err="1"/>
              <a:t>b</a:t>
            </a:r>
            <a:r>
              <a:rPr lang="en-GB" altLang="en-US" i="1" baseline="-25000" dirty="0" err="1"/>
              <a:t>j</a:t>
            </a:r>
            <a:r>
              <a:rPr lang="en-GB" altLang="en-US" i="1" baseline="-25000" dirty="0"/>
              <a:t> </a:t>
            </a:r>
            <a:r>
              <a:rPr lang="en-GB" altLang="en-US" dirty="0"/>
              <a:t>are scaled opposite way!</a:t>
            </a:r>
          </a:p>
          <a:p>
            <a:pPr lvl="1" eaLnBrk="1" hangingPunct="1"/>
            <a:r>
              <a:rPr lang="en-GB" altLang="en-US" dirty="0"/>
              <a:t>i.e. </a:t>
            </a:r>
          </a:p>
          <a:p>
            <a:pPr lvl="2" eaLnBrk="1" hangingPunct="1"/>
            <a:r>
              <a:rPr lang="en-GB" altLang="en-US" sz="2800" i="1" dirty="0" err="1"/>
              <a:t>b</a:t>
            </a:r>
            <a:r>
              <a:rPr lang="en-GB" altLang="en-US" sz="2800" i="1" baseline="-25000" dirty="0" err="1"/>
              <a:t>j</a:t>
            </a:r>
            <a:r>
              <a:rPr lang="en-GB" altLang="en-US" sz="2800" dirty="0" err="1"/>
              <a:t>’s</a:t>
            </a:r>
            <a:r>
              <a:rPr lang="en-GB" altLang="en-US" sz="2800" dirty="0"/>
              <a:t> are allelic substitution effects</a:t>
            </a:r>
          </a:p>
          <a:p>
            <a:pPr lvl="2" eaLnBrk="1" hangingPunct="1"/>
            <a:r>
              <a:rPr kumimoji="0" lang="en-GB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β</a:t>
            </a:r>
            <a:r>
              <a:rPr lang="en-GB" altLang="en-US" sz="2800" i="1" baseline="-25000" dirty="0"/>
              <a:t>j</a:t>
            </a:r>
            <a:r>
              <a:rPr lang="en-GB" altLang="en-US" sz="2800" dirty="0"/>
              <a:t>’s are scaled allelic substitution effects</a:t>
            </a:r>
            <a:endParaRPr lang="en-GB" altLang="en-US" dirty="0"/>
          </a:p>
          <a:p>
            <a:pPr lvl="1" eaLnBrk="1" hangingPunct="1"/>
            <a:r>
              <a:rPr lang="en-GB" altLang="en-US" dirty="0"/>
              <a:t>so </a:t>
            </a:r>
            <a:endParaRPr lang="en-GB" altLang="en-US" baseline="30000" dirty="0"/>
          </a:p>
          <a:p>
            <a:pPr lvl="2" eaLnBrk="1" hangingPunct="1"/>
            <a:r>
              <a:rPr lang="en-GB" altLang="en-US" sz="2800" i="1" dirty="0"/>
              <a:t>β</a:t>
            </a:r>
            <a:r>
              <a:rPr lang="en-GB" altLang="en-US" sz="2800" i="1" baseline="-25000" dirty="0"/>
              <a:t>j</a:t>
            </a:r>
            <a:r>
              <a:rPr lang="en-GB" altLang="en-US" sz="2800" i="1" baseline="30000" dirty="0"/>
              <a:t>2</a:t>
            </a:r>
            <a:r>
              <a:rPr lang="en-GB" altLang="en-US" sz="2800" dirty="0"/>
              <a:t> are contributions to genetic variance</a:t>
            </a:r>
          </a:p>
          <a:p>
            <a:pPr lvl="2" eaLnBrk="1" hangingPunct="1"/>
            <a:r>
              <a:rPr lang="en-GB" altLang="en-US" sz="2800" dirty="0"/>
              <a:t>E[</a:t>
            </a:r>
            <a:r>
              <a:rPr lang="en-GB" altLang="en-US" sz="2800" i="1" dirty="0"/>
              <a:t>β</a:t>
            </a:r>
            <a:r>
              <a:rPr lang="en-GB" altLang="en-US" sz="2800" i="1" baseline="-25000" dirty="0"/>
              <a:t>j</a:t>
            </a:r>
            <a:r>
              <a:rPr lang="en-GB" altLang="en-US" sz="2800" i="1" baseline="30000" dirty="0"/>
              <a:t>2</a:t>
            </a:r>
            <a:r>
              <a:rPr lang="en-GB" altLang="en-US" sz="2800" dirty="0"/>
              <a:t>] = var(</a:t>
            </a:r>
            <a:r>
              <a:rPr kumimoji="0" lang="en-GB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β</a:t>
            </a:r>
            <a:r>
              <a:rPr lang="en-GB" altLang="en-US" sz="2800" i="1" baseline="-25000" dirty="0"/>
              <a:t>j</a:t>
            </a:r>
            <a:r>
              <a:rPr lang="en-GB" altLang="en-US" sz="2800" dirty="0"/>
              <a:t>) is </a:t>
            </a:r>
            <a:r>
              <a:rPr lang="en-GB" altLang="en-US" sz="2800" dirty="0" err="1"/>
              <a:t>expection</a:t>
            </a:r>
            <a:r>
              <a:rPr lang="en-GB" altLang="en-US" sz="2800" dirty="0"/>
              <a:t> of variance explained by marker </a:t>
            </a:r>
            <a:r>
              <a:rPr lang="en-GB" altLang="en-US" sz="2800" i="1" dirty="0"/>
              <a:t>j</a:t>
            </a:r>
          </a:p>
          <a:p>
            <a:pPr lvl="1"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</p:txBody>
      </p:sp>
      <p:sp>
        <p:nvSpPr>
          <p:cNvPr id="614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944791F-F0B6-4083-8959-9B3C239B706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1446" name="Rectangle 4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2732087" y="1700808"/>
          <a:ext cx="286702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9" name="Equation" r:id="rId3" imgW="1282680" imgH="279360" progId="Equation.DSMT4">
                  <p:embed/>
                </p:oleObj>
              </mc:Choice>
              <mc:Fallback>
                <p:oleObj name="Equation" r:id="rId3" imgW="1282680" imgH="279360" progId="Equation.DSMT4">
                  <p:embed/>
                  <p:pic>
                    <p:nvPicPr>
                      <p:cNvPr id="61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7" y="1700808"/>
                        <a:ext cx="2867025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Rectangle 5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18EEDF10-0A18-4F41-A023-0220F2EF4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840617"/>
              </p:ext>
            </p:extLst>
          </p:nvPr>
        </p:nvGraphicFramePr>
        <p:xfrm>
          <a:off x="2279576" y="3284984"/>
          <a:ext cx="648176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0" name="Equation" r:id="rId5" imgW="2616120" imgH="253800" progId="Equation.DSMT4">
                  <p:embed/>
                </p:oleObj>
              </mc:Choice>
              <mc:Fallback>
                <p:oleObj name="Equation" r:id="rId5" imgW="2616120" imgH="253800" progId="Equation.DSMT4">
                  <p:embed/>
                  <p:pic>
                    <p:nvPicPr>
                      <p:cNvPr id="614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284984"/>
                        <a:ext cx="648176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13586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Normalise W</a:t>
            </a:r>
            <a:r>
              <a:rPr lang="en-GB" altLang="en-US" baseline="-25000"/>
              <a:t>1</a:t>
            </a:r>
            <a:endParaRPr lang="en-GB" altLang="en-US" b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If covariates are scaled the slopes </a:t>
            </a:r>
            <a:r>
              <a:rPr lang="en-GB" altLang="en-US" i="1" dirty="0" err="1"/>
              <a:t>b</a:t>
            </a:r>
            <a:r>
              <a:rPr lang="en-GB" altLang="en-US" i="1" baseline="-25000" dirty="0" err="1"/>
              <a:t>j</a:t>
            </a:r>
            <a:r>
              <a:rPr lang="en-GB" altLang="en-US" i="1" baseline="-25000" dirty="0"/>
              <a:t> </a:t>
            </a:r>
            <a:r>
              <a:rPr lang="en-GB" altLang="en-US" dirty="0"/>
              <a:t>are scaled opposite way!</a:t>
            </a:r>
          </a:p>
          <a:p>
            <a:pPr lvl="1" eaLnBrk="1" hangingPunct="1"/>
            <a:r>
              <a:rPr lang="en-GB" altLang="en-US" dirty="0"/>
              <a:t>i.e. </a:t>
            </a:r>
          </a:p>
          <a:p>
            <a:pPr lvl="1" eaLnBrk="1" hangingPunct="1"/>
            <a:r>
              <a:rPr lang="en-GB" altLang="en-US" dirty="0"/>
              <a:t>so </a:t>
            </a:r>
            <a:endParaRPr lang="en-GB" altLang="en-US" baseline="30000" dirty="0"/>
          </a:p>
          <a:p>
            <a:pPr lvl="2" eaLnBrk="1" hangingPunct="1"/>
            <a:r>
              <a:rPr lang="en-GB" altLang="en-US" sz="2800" i="1" dirty="0"/>
              <a:t>β</a:t>
            </a:r>
            <a:r>
              <a:rPr lang="en-GB" altLang="en-US" sz="2800" i="1" baseline="-25000" dirty="0"/>
              <a:t>j</a:t>
            </a:r>
            <a:r>
              <a:rPr lang="en-GB" altLang="en-US" sz="2800" i="1" baseline="30000" dirty="0"/>
              <a:t>2</a:t>
            </a:r>
            <a:r>
              <a:rPr lang="en-GB" altLang="en-US" sz="2800" dirty="0"/>
              <a:t> are contributions to genetic variance</a:t>
            </a:r>
          </a:p>
          <a:p>
            <a:pPr lvl="2" eaLnBrk="1" hangingPunct="1"/>
            <a:r>
              <a:rPr lang="en-GB" altLang="en-US" sz="2800" dirty="0"/>
              <a:t>E[</a:t>
            </a:r>
            <a:r>
              <a:rPr lang="en-GB" altLang="en-US" sz="2800" i="1" dirty="0"/>
              <a:t>β</a:t>
            </a:r>
            <a:r>
              <a:rPr lang="en-GB" altLang="en-US" sz="2800" i="1" baseline="-25000" dirty="0"/>
              <a:t>j</a:t>
            </a:r>
            <a:r>
              <a:rPr lang="en-GB" altLang="en-US" sz="2800" i="1" baseline="30000" dirty="0"/>
              <a:t>2</a:t>
            </a:r>
            <a:r>
              <a:rPr lang="en-GB" altLang="en-US" sz="2800" dirty="0"/>
              <a:t>] = var(</a:t>
            </a:r>
            <a:r>
              <a:rPr kumimoji="0" lang="en-GB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β</a:t>
            </a:r>
            <a:r>
              <a:rPr lang="en-GB" altLang="en-US" sz="2800" i="1" baseline="-25000" dirty="0"/>
              <a:t>j</a:t>
            </a:r>
            <a:r>
              <a:rPr lang="en-GB" altLang="en-US" sz="2800" dirty="0"/>
              <a:t>) is expectation of variance explained by marker </a:t>
            </a:r>
            <a:r>
              <a:rPr lang="en-GB" altLang="en-US" sz="2800" i="1" dirty="0"/>
              <a:t>j</a:t>
            </a:r>
          </a:p>
          <a:p>
            <a:pPr eaLnBrk="1" hangingPunct="1"/>
            <a:r>
              <a:rPr lang="en-GB" altLang="en-US" dirty="0"/>
              <a:t>So if assume </a:t>
            </a:r>
            <a:r>
              <a:rPr lang="en-GB" altLang="en-US" i="1" dirty="0"/>
              <a:t>β</a:t>
            </a:r>
            <a:r>
              <a:rPr lang="en-GB" altLang="en-US" i="1" baseline="-25000" dirty="0"/>
              <a:t>j</a:t>
            </a:r>
            <a:r>
              <a:rPr lang="en-GB" altLang="en-US" i="1" dirty="0"/>
              <a:t> ~ </a:t>
            </a:r>
            <a:r>
              <a:rPr lang="en-GB" altLang="en-US" dirty="0"/>
              <a:t>MVN(0,</a:t>
            </a:r>
            <a:r>
              <a:rPr lang="el-GR" altLang="en-US" i="1" dirty="0"/>
              <a:t>σ</a:t>
            </a:r>
            <a:r>
              <a:rPr lang="en-GB" altLang="en-US" i="1" baseline="-25000" dirty="0"/>
              <a:t>v</a:t>
            </a:r>
            <a:r>
              <a:rPr lang="en-GB" altLang="en-US" i="1" baseline="30000" dirty="0"/>
              <a:t>2</a:t>
            </a:r>
            <a:r>
              <a:rPr lang="en-GB" altLang="en-US" b="1" dirty="0"/>
              <a:t>I</a:t>
            </a:r>
            <a:r>
              <a:rPr lang="en-GB" altLang="en-US" dirty="0"/>
              <a:t>)</a:t>
            </a:r>
          </a:p>
          <a:p>
            <a:pPr lvl="1" eaLnBrk="1" hangingPunct="1"/>
            <a:r>
              <a:rPr lang="en-GB" altLang="en-US" dirty="0"/>
              <a:t>now expect genetic variance shared equally amongst all marker loci</a:t>
            </a:r>
          </a:p>
          <a:p>
            <a:pPr lvl="1" eaLnBrk="1" hangingPunct="1"/>
            <a:r>
              <a:rPr lang="en-GB" altLang="en-US" dirty="0"/>
              <a:t>distribution of allelic substitution effects now depends on MAF! </a:t>
            </a:r>
          </a:p>
          <a:p>
            <a:pPr lvl="1"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</p:txBody>
      </p:sp>
      <p:sp>
        <p:nvSpPr>
          <p:cNvPr id="6144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944791F-F0B6-4083-8959-9B3C239B7060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Lecture 7</a:t>
            </a:r>
          </a:p>
        </p:txBody>
      </p:sp>
      <p:sp>
        <p:nvSpPr>
          <p:cNvPr id="61446" name="Rectangle 4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2732087" y="1700808"/>
          <a:ext cx="286702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2" name="Equation" r:id="rId3" imgW="1282680" imgH="279360" progId="Equation.DSMT4">
                  <p:embed/>
                </p:oleObj>
              </mc:Choice>
              <mc:Fallback>
                <p:oleObj name="Equation" r:id="rId3" imgW="1282680" imgH="279360" progId="Equation.DSMT4">
                  <p:embed/>
                  <p:pic>
                    <p:nvPicPr>
                      <p:cNvPr id="614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7" y="1700808"/>
                        <a:ext cx="2867025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Rectangle 5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18EEDF10-0A18-4F41-A023-0220F2EF4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708469"/>
              </p:ext>
            </p:extLst>
          </p:nvPr>
        </p:nvGraphicFramePr>
        <p:xfrm>
          <a:off x="2279576" y="2276872"/>
          <a:ext cx="648176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3" name="Equation" r:id="rId5" imgW="2616120" imgH="253800" progId="Equation.DSMT4">
                  <p:embed/>
                </p:oleObj>
              </mc:Choice>
              <mc:Fallback>
                <p:oleObj name="Equation" r:id="rId5" imgW="2616120" imgH="25380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18EEDF10-0A18-4F41-A023-0220F2EF4C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2276872"/>
                        <a:ext cx="648176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49059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SNP BLUP (2)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Model</a:t>
            </a:r>
          </a:p>
          <a:p>
            <a:pPr lvl="1" eaLnBrk="1" hangingPunct="1"/>
            <a:r>
              <a:rPr lang="en-GB" altLang="en-US" b="1"/>
              <a:t>y</a:t>
            </a:r>
            <a:r>
              <a:rPr lang="en-GB" altLang="en-US"/>
              <a:t> is (</a:t>
            </a:r>
            <a:r>
              <a:rPr lang="en-GB" altLang="en-US" i="1"/>
              <a:t>n</a:t>
            </a:r>
            <a:r>
              <a:rPr lang="en-GB" altLang="en-US"/>
              <a:t> x 1) vector of observations</a:t>
            </a:r>
          </a:p>
          <a:p>
            <a:pPr lvl="1" eaLnBrk="1" hangingPunct="1"/>
            <a:r>
              <a:rPr lang="en-GB" altLang="en-US" b="1"/>
              <a:t>1</a:t>
            </a:r>
            <a:r>
              <a:rPr lang="en-GB" altLang="en-US" i="1"/>
              <a:t>μ</a:t>
            </a:r>
            <a:r>
              <a:rPr lang="en-GB" altLang="en-US" b="1"/>
              <a:t> </a:t>
            </a:r>
            <a:r>
              <a:rPr lang="en-GB" altLang="en-US"/>
              <a:t>is the mean vector, with </a:t>
            </a:r>
            <a:r>
              <a:rPr lang="en-GB" altLang="en-US" b="1"/>
              <a:t>1</a:t>
            </a:r>
            <a:r>
              <a:rPr lang="en-GB" altLang="en-US"/>
              <a:t> (</a:t>
            </a:r>
            <a:r>
              <a:rPr lang="en-GB" altLang="en-US" i="1"/>
              <a:t>n</a:t>
            </a:r>
            <a:r>
              <a:rPr lang="en-GB" altLang="en-US"/>
              <a:t> x 1) vector of 1’s </a:t>
            </a:r>
          </a:p>
          <a:p>
            <a:pPr lvl="1" eaLnBrk="1" hangingPunct="1"/>
            <a:r>
              <a:rPr lang="en-GB" altLang="en-US" b="1"/>
              <a:t>β </a:t>
            </a:r>
            <a:r>
              <a:rPr lang="en-GB" altLang="en-US"/>
              <a:t>is (</a:t>
            </a:r>
            <a:r>
              <a:rPr lang="en-GB" altLang="en-US" i="1"/>
              <a:t>m</a:t>
            </a:r>
            <a:r>
              <a:rPr lang="en-GB" altLang="en-US"/>
              <a:t> x 1) vector of random marker effects</a:t>
            </a:r>
          </a:p>
          <a:p>
            <a:pPr lvl="2" eaLnBrk="1" hangingPunct="1"/>
            <a:r>
              <a:rPr lang="en-GB" altLang="en-US" b="1"/>
              <a:t>β</a:t>
            </a:r>
            <a:r>
              <a:rPr lang="en-GB" altLang="en-US"/>
              <a:t> assumed to be MVN(0,</a:t>
            </a:r>
            <a:r>
              <a:rPr lang="el-GR" altLang="en-US" i="1"/>
              <a:t>σ</a:t>
            </a:r>
            <a:r>
              <a:rPr lang="en-GB" altLang="en-US" i="1" baseline="-25000"/>
              <a:t>v</a:t>
            </a:r>
            <a:r>
              <a:rPr lang="en-GB" altLang="en-US" i="1" baseline="30000"/>
              <a:t>2</a:t>
            </a:r>
            <a:r>
              <a:rPr lang="en-GB" altLang="en-US" b="1"/>
              <a:t>I</a:t>
            </a:r>
            <a:r>
              <a:rPr lang="en-GB" altLang="en-US"/>
              <a:t>)</a:t>
            </a:r>
          </a:p>
          <a:p>
            <a:pPr lvl="2" eaLnBrk="1" hangingPunct="1"/>
            <a:r>
              <a:rPr lang="en-GB" altLang="en-US"/>
              <a:t>coefficients with mean 0 are scaled substitution effects</a:t>
            </a:r>
          </a:p>
          <a:p>
            <a:pPr lvl="1" eaLnBrk="1" hangingPunct="1"/>
            <a:r>
              <a:rPr lang="en-GB" altLang="en-US" b="1"/>
              <a:t>W</a:t>
            </a:r>
            <a:r>
              <a:rPr lang="en-GB" altLang="en-US" baseline="-25000"/>
              <a:t>2</a:t>
            </a:r>
            <a:r>
              <a:rPr lang="en-GB" altLang="en-US" b="1"/>
              <a:t> </a:t>
            </a:r>
            <a:r>
              <a:rPr lang="en-GB" altLang="en-US"/>
              <a:t>is (</a:t>
            </a:r>
            <a:r>
              <a:rPr lang="en-GB" altLang="en-US" i="1"/>
              <a:t>n</a:t>
            </a:r>
            <a:r>
              <a:rPr lang="en-GB" altLang="en-US"/>
              <a:t> x </a:t>
            </a:r>
            <a:r>
              <a:rPr lang="en-GB" altLang="en-US" i="1"/>
              <a:t>m</a:t>
            </a:r>
            <a:r>
              <a:rPr lang="en-GB" altLang="en-US"/>
              <a:t>) design matrix, mapping centred &amp; </a:t>
            </a:r>
            <a:r>
              <a:rPr lang="en-GB" altLang="en-US" u="sng"/>
              <a:t>normalised</a:t>
            </a:r>
            <a:r>
              <a:rPr lang="en-GB" altLang="en-US"/>
              <a:t> markers (cols) to individuals (rows)</a:t>
            </a:r>
          </a:p>
          <a:p>
            <a:pPr lvl="1" eaLnBrk="1" hangingPunct="1"/>
            <a:r>
              <a:rPr lang="en-GB" altLang="en-US" b="1"/>
              <a:t>e</a:t>
            </a:r>
            <a:r>
              <a:rPr lang="en-GB" altLang="en-US"/>
              <a:t> is (</a:t>
            </a:r>
            <a:r>
              <a:rPr lang="en-GB" altLang="en-US" i="1"/>
              <a:t>n </a:t>
            </a:r>
            <a:r>
              <a:rPr lang="en-GB" altLang="en-US"/>
              <a:t>x 1) vector of residual effects</a:t>
            </a:r>
          </a:p>
          <a:p>
            <a:pPr lvl="2" eaLnBrk="1" hangingPunct="1"/>
            <a:r>
              <a:rPr lang="en-GB" altLang="en-US" b="1"/>
              <a:t>e</a:t>
            </a:r>
            <a:r>
              <a:rPr lang="en-GB" altLang="en-US"/>
              <a:t> assumed to be MVN(0,</a:t>
            </a:r>
            <a:r>
              <a:rPr lang="el-GR" altLang="en-US" i="1"/>
              <a:t>σ</a:t>
            </a:r>
            <a:r>
              <a:rPr lang="en-GB" altLang="en-US" i="1" baseline="-25000"/>
              <a:t>E</a:t>
            </a:r>
            <a:r>
              <a:rPr lang="en-GB" altLang="en-US" i="1" baseline="30000"/>
              <a:t>2</a:t>
            </a:r>
            <a:r>
              <a:rPr lang="en-GB" altLang="en-US"/>
              <a:t>I)</a:t>
            </a:r>
          </a:p>
          <a:p>
            <a:pPr lvl="1"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6246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F656813-61E7-4373-80E2-90FC7C07751A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246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2470" name="Rectangle 2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471" name="Rectangle 2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247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684191"/>
              </p:ext>
            </p:extLst>
          </p:nvPr>
        </p:nvGraphicFramePr>
        <p:xfrm>
          <a:off x="3178175" y="1157289"/>
          <a:ext cx="37353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6" name="Equation" r:id="rId3" imgW="1371600" imgH="228600" progId="Equation.DSMT4">
                  <p:embed/>
                </p:oleObj>
              </mc:Choice>
              <mc:Fallback>
                <p:oleObj name="Equation" r:id="rId3" imgW="13716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1157289"/>
                        <a:ext cx="37353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Exploring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What are Estimated Breeding Values (EBV)?</a:t>
            </a:r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dirty="0"/>
              <a:t>What are True Breeding Values (TBV)? </a:t>
            </a:r>
          </a:p>
          <a:p>
            <a:pPr eaLnBrk="1" hangingPunct="1">
              <a:defRPr/>
            </a:pPr>
            <a:endParaRPr lang="en-GB" dirty="0"/>
          </a:p>
          <a:p>
            <a:pPr lvl="1" eaLnBrk="1" hangingPunct="1">
              <a:defRPr/>
            </a:pPr>
            <a:r>
              <a:rPr lang="en-GB" dirty="0"/>
              <a:t>assumed markers can precisely predict the TBV</a:t>
            </a:r>
          </a:p>
          <a:p>
            <a:pPr eaLnBrk="1" hangingPunct="1">
              <a:defRPr/>
            </a:pPr>
            <a:r>
              <a:rPr lang="en-GB" dirty="0"/>
              <a:t>E[</a:t>
            </a:r>
            <a:r>
              <a:rPr lang="en-GB" b="1" dirty="0"/>
              <a:t>g</a:t>
            </a:r>
            <a:r>
              <a:rPr lang="en-GB" dirty="0"/>
              <a:t>] = E[ </a:t>
            </a:r>
            <a:r>
              <a:rPr lang="en-GB" b="1" dirty="0"/>
              <a:t>W</a:t>
            </a:r>
            <a:r>
              <a:rPr lang="en-GB" baseline="-25000" dirty="0"/>
              <a:t>2</a:t>
            </a:r>
            <a:r>
              <a:rPr lang="en-GB" b="1" dirty="0"/>
              <a:t>β</a:t>
            </a:r>
            <a:r>
              <a:rPr lang="en-GB" dirty="0"/>
              <a:t> ]</a:t>
            </a:r>
            <a:r>
              <a:rPr lang="en-GB" b="1" dirty="0"/>
              <a:t> </a:t>
            </a:r>
            <a:r>
              <a:rPr lang="en-GB" dirty="0"/>
              <a:t>= </a:t>
            </a:r>
            <a:r>
              <a:rPr lang="en-GB" b="1" dirty="0"/>
              <a:t>W</a:t>
            </a:r>
            <a:r>
              <a:rPr lang="en-GB" baseline="-25000" dirty="0"/>
              <a:t>2</a:t>
            </a:r>
            <a:r>
              <a:rPr lang="en-GB" b="1" dirty="0"/>
              <a:t> </a:t>
            </a:r>
            <a:r>
              <a:rPr lang="en-GB" dirty="0"/>
              <a:t>E[ </a:t>
            </a:r>
            <a:r>
              <a:rPr lang="en-GB" b="1" dirty="0"/>
              <a:t>β</a:t>
            </a:r>
            <a:r>
              <a:rPr lang="en-GB" dirty="0"/>
              <a:t> ] = 0 </a:t>
            </a:r>
          </a:p>
          <a:p>
            <a:pPr lvl="1" eaLnBrk="1" hangingPunct="1">
              <a:defRPr/>
            </a:pPr>
            <a:r>
              <a:rPr lang="en-GB" dirty="0"/>
              <a:t>as regressions were assumed to have mean 0</a:t>
            </a:r>
          </a:p>
          <a:p>
            <a:pPr marL="0" indent="0" eaLnBrk="1" hangingPunct="1">
              <a:buNone/>
              <a:defRPr/>
            </a:pPr>
            <a:r>
              <a:rPr lang="en-GB" dirty="0"/>
              <a:t> </a:t>
            </a:r>
          </a:p>
          <a:p>
            <a:pPr eaLnBrk="1" hangingPunct="1">
              <a:defRPr/>
            </a:pPr>
            <a:endParaRPr lang="en-GB" dirty="0"/>
          </a:p>
        </p:txBody>
      </p:sp>
      <p:sp>
        <p:nvSpPr>
          <p:cNvPr id="6349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1E5CAF0-F79C-4388-AD61-39415B817DCC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349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3494" name="Rectangle 23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3495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3496" name="Rectangle 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3497" name="Object 6"/>
          <p:cNvGraphicFramePr>
            <a:graphicFrameLocks noChangeAspect="1"/>
          </p:cNvGraphicFramePr>
          <p:nvPr/>
        </p:nvGraphicFramePr>
        <p:xfrm>
          <a:off x="1936751" y="1700214"/>
          <a:ext cx="150971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4" name="Equation" r:id="rId3" imgW="583920" imgH="266400" progId="Equation.DSMT4">
                  <p:embed/>
                </p:oleObj>
              </mc:Choice>
              <mc:Fallback>
                <p:oleObj name="Equation" r:id="rId3" imgW="583920" imgH="26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1" y="1700214"/>
                        <a:ext cx="1509713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8" name="Rectangle 7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3499" name="Object 12"/>
          <p:cNvGraphicFramePr>
            <a:graphicFrameLocks noChangeAspect="1"/>
          </p:cNvGraphicFramePr>
          <p:nvPr/>
        </p:nvGraphicFramePr>
        <p:xfrm>
          <a:off x="1936751" y="2895600"/>
          <a:ext cx="15605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5" name="Equation" r:id="rId5" imgW="571320" imgH="228600" progId="Equation.DSMT4">
                  <p:embed/>
                </p:oleObj>
              </mc:Choice>
              <mc:Fallback>
                <p:oleObj name="Equation" r:id="rId5" imgW="57132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1" y="2895600"/>
                        <a:ext cx="15605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The covariance of the TBV</a:t>
            </a:r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r>
              <a:rPr lang="en-GB" b="1" dirty="0"/>
              <a:t>W</a:t>
            </a:r>
            <a:r>
              <a:rPr lang="en-GB" baseline="-25000" dirty="0"/>
              <a:t>2</a:t>
            </a:r>
            <a:r>
              <a:rPr lang="en-GB" b="1" dirty="0"/>
              <a:t>W</a:t>
            </a:r>
            <a:r>
              <a:rPr lang="en-GB" baseline="-25000" dirty="0"/>
              <a:t>2</a:t>
            </a:r>
            <a:r>
              <a:rPr lang="en-GB" baseline="30000" dirty="0"/>
              <a:t>T</a:t>
            </a:r>
            <a:r>
              <a:rPr lang="en-GB" b="1" dirty="0"/>
              <a:t> </a:t>
            </a:r>
            <a:r>
              <a:rPr lang="en-GB" dirty="0"/>
              <a:t>is an (</a:t>
            </a:r>
            <a:r>
              <a:rPr lang="en-GB" i="1" dirty="0"/>
              <a:t>n</a:t>
            </a:r>
            <a:r>
              <a:rPr lang="en-GB" dirty="0"/>
              <a:t> x </a:t>
            </a:r>
            <a:r>
              <a:rPr lang="en-GB" i="1" dirty="0"/>
              <a:t>n</a:t>
            </a:r>
            <a:r>
              <a:rPr lang="en-GB" dirty="0"/>
              <a:t>) matrix of the (co)variances of all TBV in our population scaled by </a:t>
            </a:r>
          </a:p>
          <a:p>
            <a:pPr marL="0" indent="0" eaLnBrk="1" hangingPunct="1">
              <a:buNone/>
              <a:defRPr/>
            </a:pPr>
            <a:endParaRPr lang="en-GB" dirty="0"/>
          </a:p>
          <a:p>
            <a:pPr lvl="1" eaLnBrk="1" hangingPunct="1"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</p:txBody>
      </p:sp>
      <p:sp>
        <p:nvSpPr>
          <p:cNvPr id="6451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1B86542-1E00-4269-B4EA-4B383A72AC24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451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4518" name="Rectangle 6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4519" name="Rectangle 66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4520" name="Rectangle 67"/>
          <p:cNvSpPr>
            <a:spLocks noChangeArrowheads="1"/>
          </p:cNvSpPr>
          <p:nvPr/>
        </p:nvSpPr>
        <p:spPr bwMode="auto">
          <a:xfrm>
            <a:off x="1524000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4521" name="Rectangle 68"/>
          <p:cNvSpPr>
            <a:spLocks noChangeArrowheads="1"/>
          </p:cNvSpPr>
          <p:nvPr/>
        </p:nvSpPr>
        <p:spPr bwMode="auto">
          <a:xfrm>
            <a:off x="5984431" y="799470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nb-NO" altLang="en-US" sz="1100">
                <a:cs typeface="Times New Roman" panose="02020603050405020304" pitchFamily="18" charset="0"/>
              </a:rPr>
              <a:t> </a:t>
            </a:r>
            <a:endParaRPr lang="nb-NO" altLang="en-US"/>
          </a:p>
        </p:txBody>
      </p:sp>
      <p:sp>
        <p:nvSpPr>
          <p:cNvPr id="64522" name="Rectangle 69"/>
          <p:cNvSpPr>
            <a:spLocks noChangeArrowheads="1"/>
          </p:cNvSpPr>
          <p:nvPr/>
        </p:nvSpPr>
        <p:spPr bwMode="auto">
          <a:xfrm>
            <a:off x="1524000" y="990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4523" name="Rectangle 21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4524" name="Object 7"/>
          <p:cNvGraphicFramePr>
            <a:graphicFrameLocks noChangeAspect="1"/>
          </p:cNvGraphicFramePr>
          <p:nvPr/>
        </p:nvGraphicFramePr>
        <p:xfrm>
          <a:off x="2146300" y="1773238"/>
          <a:ext cx="63452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43" name="Equation" r:id="rId3" imgW="2628720" imgH="241200" progId="Equation.DSMT4">
                  <p:embed/>
                </p:oleObj>
              </mc:Choice>
              <mc:Fallback>
                <p:oleObj name="Equation" r:id="rId3" imgW="262872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1773238"/>
                        <a:ext cx="6345238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5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4526" name="Object 17"/>
          <p:cNvGraphicFramePr>
            <a:graphicFrameLocks noChangeAspect="1"/>
          </p:cNvGraphicFramePr>
          <p:nvPr/>
        </p:nvGraphicFramePr>
        <p:xfrm>
          <a:off x="3359150" y="2651126"/>
          <a:ext cx="43053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44" name="Equation" r:id="rId5" imgW="1828800" imgH="241200" progId="Equation.DSMT4">
                  <p:embed/>
                </p:oleObj>
              </mc:Choice>
              <mc:Fallback>
                <p:oleObj name="Equation" r:id="rId5" imgW="1828800" imgH="241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651126"/>
                        <a:ext cx="43053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7" name="Object 18"/>
          <p:cNvGraphicFramePr>
            <a:graphicFrameLocks noChangeAspect="1"/>
          </p:cNvGraphicFramePr>
          <p:nvPr/>
        </p:nvGraphicFramePr>
        <p:xfrm>
          <a:off x="3332163" y="3429001"/>
          <a:ext cx="17716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45" name="Equation" r:id="rId7" imgW="749160" imgH="241200" progId="Equation.DSMT4">
                  <p:embed/>
                </p:oleObj>
              </mc:Choice>
              <mc:Fallback>
                <p:oleObj name="Equation" r:id="rId7" imgW="749160" imgH="241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3429001"/>
                        <a:ext cx="17716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8" name="Rectangle 29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4529" name="Rectangle 30"/>
          <p:cNvSpPr>
            <a:spLocks noChangeArrowheads="1"/>
          </p:cNvSpPr>
          <p:nvPr/>
        </p:nvSpPr>
        <p:spPr bwMode="auto">
          <a:xfrm>
            <a:off x="1524000" y="517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453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124121"/>
              </p:ext>
            </p:extLst>
          </p:nvPr>
        </p:nvGraphicFramePr>
        <p:xfrm>
          <a:off x="5256535" y="4581128"/>
          <a:ext cx="4794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46" name="Equation" r:id="rId9" imgW="203040" imgH="241200" progId="Equation.DSMT4">
                  <p:embed/>
                </p:oleObj>
              </mc:Choice>
              <mc:Fallback>
                <p:oleObj name="Equation" r:id="rId9" imgW="203040" imgH="241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535" y="4581128"/>
                        <a:ext cx="47942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Remember </a:t>
            </a:r>
            <a:r>
              <a:rPr lang="el-GR" i="1" dirty="0"/>
              <a:t>σ</a:t>
            </a:r>
            <a:r>
              <a:rPr lang="en-GB" i="1" baseline="-25000" dirty="0"/>
              <a:t>v</a:t>
            </a:r>
            <a:r>
              <a:rPr lang="en-GB" baseline="30000" dirty="0"/>
              <a:t>2</a:t>
            </a:r>
            <a:r>
              <a:rPr lang="en-GB" dirty="0"/>
              <a:t> is a genic variance per locus</a:t>
            </a:r>
          </a:p>
          <a:p>
            <a:pPr eaLnBrk="1" hangingPunct="1">
              <a:defRPr/>
            </a:pPr>
            <a:r>
              <a:rPr lang="en-GB" dirty="0"/>
              <a:t>Total genic variance is </a:t>
            </a:r>
            <a:r>
              <a:rPr lang="en-GB" i="1" dirty="0"/>
              <a:t>m</a:t>
            </a:r>
            <a:r>
              <a:rPr lang="el-GR" i="1" dirty="0"/>
              <a:t>σ</a:t>
            </a:r>
            <a:r>
              <a:rPr lang="en-GB" i="1" baseline="-25000" dirty="0"/>
              <a:t>v</a:t>
            </a:r>
            <a:r>
              <a:rPr lang="en-GB" baseline="30000" dirty="0"/>
              <a:t>2</a:t>
            </a:r>
          </a:p>
          <a:p>
            <a:pPr eaLnBrk="1" hangingPunct="1">
              <a:defRPr/>
            </a:pPr>
            <a:r>
              <a:rPr lang="en-GB" dirty="0"/>
              <a:t>Let </a:t>
            </a:r>
            <a:r>
              <a:rPr lang="el-GR" i="1" dirty="0"/>
              <a:t>σ</a:t>
            </a:r>
            <a:r>
              <a:rPr lang="en-GB" i="1" baseline="-25000" dirty="0"/>
              <a:t>g</a:t>
            </a:r>
            <a:r>
              <a:rPr lang="en-GB" baseline="30000" dirty="0"/>
              <a:t>2</a:t>
            </a:r>
            <a:r>
              <a:rPr lang="en-GB" i="1" dirty="0"/>
              <a:t> = m</a:t>
            </a:r>
            <a:r>
              <a:rPr lang="el-GR" i="1" dirty="0"/>
              <a:t>σ</a:t>
            </a:r>
            <a:r>
              <a:rPr lang="en-GB" i="1" baseline="-25000" dirty="0"/>
              <a:t>v</a:t>
            </a:r>
            <a:r>
              <a:rPr lang="en-GB" baseline="30000" dirty="0"/>
              <a:t>2</a:t>
            </a:r>
            <a:endParaRPr lang="en-GB" dirty="0"/>
          </a:p>
          <a:p>
            <a:pPr marL="0" indent="0" eaLnBrk="1" hangingPunct="1">
              <a:buNone/>
              <a:defRPr/>
            </a:pPr>
            <a:endParaRPr lang="en-GB" i="1" dirty="0"/>
          </a:p>
          <a:p>
            <a:pPr lvl="1" eaLnBrk="1" hangingPunct="1">
              <a:defRPr/>
            </a:pPr>
            <a:endParaRPr lang="en-GB" dirty="0"/>
          </a:p>
          <a:p>
            <a:pPr marL="457200" lvl="1" indent="0" eaLnBrk="1" hangingPunct="1">
              <a:buNone/>
              <a:defRPr/>
            </a:pPr>
            <a:endParaRPr lang="en-GB" b="1" dirty="0"/>
          </a:p>
          <a:p>
            <a:pPr lvl="1" eaLnBrk="1" hangingPunct="1">
              <a:defRPr/>
            </a:pPr>
            <a:endParaRPr lang="en-GB" dirty="0"/>
          </a:p>
        </p:txBody>
      </p:sp>
      <p:sp>
        <p:nvSpPr>
          <p:cNvPr id="6554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F4B6564-FF2A-45C3-9095-C925641C5DA3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554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5542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5543" name="Rectangle 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5544" name="Object 9"/>
          <p:cNvGraphicFramePr>
            <a:graphicFrameLocks noChangeAspect="1"/>
          </p:cNvGraphicFramePr>
          <p:nvPr/>
        </p:nvGraphicFramePr>
        <p:xfrm>
          <a:off x="2782889" y="3716339"/>
          <a:ext cx="66071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9" name="Equation" r:id="rId3" imgW="3149280" imgH="253800" progId="Equation.DSMT4">
                  <p:embed/>
                </p:oleObj>
              </mc:Choice>
              <mc:Fallback>
                <p:oleObj name="Equation" r:id="rId3" imgW="3149280" imgH="253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3716339"/>
                        <a:ext cx="66071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Covariance between breeding values is</a:t>
            </a:r>
          </a:p>
          <a:p>
            <a:pPr lvl="1" eaLnBrk="1" hangingPunct="1"/>
            <a:r>
              <a:rPr lang="en-GB" altLang="en-US" dirty="0"/>
              <a:t> where  </a:t>
            </a:r>
            <a:r>
              <a:rPr lang="en-GB" altLang="en-US" b="1" dirty="0"/>
              <a:t>G</a:t>
            </a:r>
            <a:r>
              <a:rPr lang="en-GB" altLang="en-US" baseline="-25000" dirty="0"/>
              <a:t>2</a:t>
            </a:r>
            <a:r>
              <a:rPr lang="en-GB" altLang="en-US" b="1" dirty="0"/>
              <a:t> = W</a:t>
            </a:r>
            <a:r>
              <a:rPr lang="en-GB" altLang="en-US" baseline="-25000" dirty="0"/>
              <a:t>2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aseline="30000" dirty="0"/>
              <a:t>T</a:t>
            </a:r>
            <a:r>
              <a:rPr lang="en-GB" altLang="en-US" dirty="0"/>
              <a:t>/</a:t>
            </a:r>
            <a:r>
              <a:rPr lang="en-GB" altLang="en-US" i="1" dirty="0"/>
              <a:t>m</a:t>
            </a:r>
          </a:p>
          <a:p>
            <a:pPr lvl="2" eaLnBrk="1" hangingPunct="1"/>
            <a:r>
              <a:rPr lang="en-GB" altLang="en-US" dirty="0"/>
              <a:t>the 0/1/2 variates are centred &amp; normalised marker by marker so each has variance 1 across individuals</a:t>
            </a:r>
            <a:endParaRPr lang="en-GB" altLang="en-US" b="1" dirty="0"/>
          </a:p>
          <a:p>
            <a:pPr lvl="1" eaLnBrk="1" hangingPunct="1"/>
            <a:r>
              <a:rPr lang="en-GB" altLang="en-US" b="1" dirty="0"/>
              <a:t>G</a:t>
            </a:r>
            <a:r>
              <a:rPr lang="en-GB" altLang="en-US" baseline="-25000" dirty="0"/>
              <a:t>2</a:t>
            </a:r>
            <a:r>
              <a:rPr lang="en-GB" altLang="en-US" dirty="0"/>
              <a:t> is</a:t>
            </a:r>
            <a:r>
              <a:rPr lang="en-GB" altLang="en-US" b="1" dirty="0"/>
              <a:t> </a:t>
            </a:r>
            <a:r>
              <a:rPr lang="en-GB" altLang="en-US" dirty="0"/>
              <a:t>a (</a:t>
            </a:r>
            <a:r>
              <a:rPr lang="en-GB" altLang="en-US" i="1" dirty="0"/>
              <a:t>n</a:t>
            </a:r>
            <a:r>
              <a:rPr lang="en-GB" altLang="en-US" dirty="0"/>
              <a:t> x </a:t>
            </a:r>
            <a:r>
              <a:rPr lang="en-GB" altLang="en-US" i="1" dirty="0"/>
              <a:t>n</a:t>
            </a:r>
            <a:r>
              <a:rPr lang="en-GB" altLang="en-US" dirty="0"/>
              <a:t>) genomic relationship matrix</a:t>
            </a:r>
          </a:p>
          <a:p>
            <a:pPr lvl="2" eaLnBrk="1" hangingPunct="1"/>
            <a:r>
              <a:rPr lang="en-GB" altLang="en-US" dirty="0"/>
              <a:t>derived from IBS of markers alone, </a:t>
            </a:r>
            <a:r>
              <a:rPr lang="en-GB" altLang="en-US" u="sng" dirty="0"/>
              <a:t>not IBD</a:t>
            </a:r>
            <a:endParaRPr lang="en-GB" altLang="en-US" dirty="0"/>
          </a:p>
          <a:p>
            <a:pPr lvl="1" eaLnBrk="1" hangingPunct="1"/>
            <a:r>
              <a:rPr lang="el-GR" altLang="en-US" i="1" dirty="0"/>
              <a:t>σ</a:t>
            </a:r>
            <a:r>
              <a:rPr lang="en-GB" altLang="en-US" i="1" baseline="-25000" dirty="0"/>
              <a:t>g</a:t>
            </a:r>
            <a:r>
              <a:rPr lang="en-GB" altLang="en-US" i="1" baseline="30000" dirty="0"/>
              <a:t>2</a:t>
            </a:r>
            <a:r>
              <a:rPr lang="en-GB" altLang="en-US" dirty="0"/>
              <a:t> is ‘a’ genetic variance called </a:t>
            </a:r>
            <a:r>
              <a:rPr lang="en-GB" altLang="en-US" i="1" dirty="0"/>
              <a:t>genic variance</a:t>
            </a:r>
          </a:p>
          <a:p>
            <a:pPr lvl="2" eaLnBrk="1" hangingPunct="1"/>
            <a:r>
              <a:rPr lang="en-GB" altLang="en-US" dirty="0"/>
              <a:t>population used to construct </a:t>
            </a:r>
            <a:r>
              <a:rPr lang="en-GB" altLang="en-US" b="1" dirty="0"/>
              <a:t>W</a:t>
            </a:r>
            <a:r>
              <a:rPr lang="en-GB" altLang="en-US" b="1" baseline="-25000" dirty="0"/>
              <a:t>2</a:t>
            </a:r>
            <a:r>
              <a:rPr lang="en-GB" altLang="en-US" dirty="0"/>
              <a:t> if in HWE</a:t>
            </a:r>
          </a:p>
          <a:p>
            <a:pPr lvl="2" eaLnBrk="1" hangingPunct="1"/>
            <a:r>
              <a:rPr lang="en-GB" altLang="en-US" dirty="0"/>
              <a:t>more in Lecture 9</a:t>
            </a:r>
          </a:p>
          <a:p>
            <a:pPr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665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Covariance of Breeding Values</a:t>
            </a:r>
          </a:p>
        </p:txBody>
      </p:sp>
      <p:sp>
        <p:nvSpPr>
          <p:cNvPr id="6656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3EF5002-D636-4BDB-87DB-A095C503A639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656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66566" name="Rectangle 109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656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451562"/>
              </p:ext>
            </p:extLst>
          </p:nvPr>
        </p:nvGraphicFramePr>
        <p:xfrm>
          <a:off x="8040216" y="1136651"/>
          <a:ext cx="1081087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23" name="Equation" r:id="rId3" imgW="380880" imgH="253800" progId="Equation.DSMT4">
                  <p:embed/>
                </p:oleObj>
              </mc:Choice>
              <mc:Fallback>
                <p:oleObj name="Equation" r:id="rId3" imgW="380880" imgH="253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216" y="1136651"/>
                        <a:ext cx="1081087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8" name="Rectangle 11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Model</a:t>
            </a:r>
          </a:p>
          <a:p>
            <a:pPr lvl="1" eaLnBrk="1" hangingPunct="1"/>
            <a:r>
              <a:rPr lang="en-GB" altLang="en-US" b="1"/>
              <a:t>y</a:t>
            </a:r>
            <a:r>
              <a:rPr lang="en-GB" altLang="en-US"/>
              <a:t> is (</a:t>
            </a:r>
            <a:r>
              <a:rPr lang="en-GB" altLang="en-US" i="1"/>
              <a:t>n</a:t>
            </a:r>
            <a:r>
              <a:rPr lang="en-GB" altLang="en-US"/>
              <a:t> x 1) vector of observations</a:t>
            </a:r>
          </a:p>
          <a:p>
            <a:pPr lvl="1" eaLnBrk="1" hangingPunct="1"/>
            <a:r>
              <a:rPr lang="en-GB" altLang="en-US" b="1"/>
              <a:t>1</a:t>
            </a:r>
            <a:r>
              <a:rPr lang="en-GB" altLang="en-US" i="1"/>
              <a:t>μ</a:t>
            </a:r>
            <a:r>
              <a:rPr lang="en-GB" altLang="en-US" b="1"/>
              <a:t> </a:t>
            </a:r>
            <a:r>
              <a:rPr lang="en-GB" altLang="en-US"/>
              <a:t>is the mean vector, with </a:t>
            </a:r>
            <a:r>
              <a:rPr lang="en-GB" altLang="en-US" b="1"/>
              <a:t>1</a:t>
            </a:r>
            <a:r>
              <a:rPr lang="en-GB" altLang="en-US"/>
              <a:t> (</a:t>
            </a:r>
            <a:r>
              <a:rPr lang="en-GB" altLang="en-US" i="1"/>
              <a:t>n</a:t>
            </a:r>
            <a:r>
              <a:rPr lang="en-GB" altLang="en-US"/>
              <a:t> x 1) vector of 1’s</a:t>
            </a:r>
          </a:p>
          <a:p>
            <a:pPr lvl="1" eaLnBrk="1" hangingPunct="1"/>
            <a:r>
              <a:rPr lang="en-GB" altLang="en-US"/>
              <a:t> … [nuisance effects] </a:t>
            </a:r>
          </a:p>
          <a:p>
            <a:pPr lvl="1" eaLnBrk="1" hangingPunct="1"/>
            <a:r>
              <a:rPr lang="en-GB" altLang="en-US" b="1"/>
              <a:t>g </a:t>
            </a:r>
            <a:r>
              <a:rPr lang="en-GB" altLang="en-US"/>
              <a:t>is (</a:t>
            </a:r>
            <a:r>
              <a:rPr lang="en-GB" altLang="en-US" i="1"/>
              <a:t>n</a:t>
            </a:r>
            <a:r>
              <a:rPr lang="en-GB" altLang="en-US"/>
              <a:t> x 1) vector of breeding values</a:t>
            </a:r>
          </a:p>
          <a:p>
            <a:pPr lvl="2" eaLnBrk="1" hangingPunct="1"/>
            <a:r>
              <a:rPr lang="en-GB" altLang="en-US" b="1"/>
              <a:t>g</a:t>
            </a:r>
            <a:r>
              <a:rPr lang="en-GB" altLang="en-US"/>
              <a:t> assumed to be MVN(0,</a:t>
            </a:r>
            <a:r>
              <a:rPr lang="el-GR" altLang="en-US" i="1"/>
              <a:t>σ</a:t>
            </a:r>
            <a:r>
              <a:rPr lang="en-GB" altLang="en-US" i="1" baseline="-25000"/>
              <a:t>g</a:t>
            </a:r>
            <a:r>
              <a:rPr lang="en-GB" altLang="en-US" i="1" baseline="30000"/>
              <a:t>2</a:t>
            </a:r>
            <a:r>
              <a:rPr lang="en-GB" altLang="en-US" b="1"/>
              <a:t>G</a:t>
            </a:r>
            <a:r>
              <a:rPr lang="en-GB" altLang="en-US" baseline="-25000"/>
              <a:t>2</a:t>
            </a:r>
            <a:r>
              <a:rPr lang="en-GB" altLang="en-US"/>
              <a:t>)</a:t>
            </a:r>
          </a:p>
          <a:p>
            <a:pPr lvl="1" eaLnBrk="1" hangingPunct="1"/>
            <a:r>
              <a:rPr lang="en-GB" altLang="en-US" b="1"/>
              <a:t>Z</a:t>
            </a:r>
            <a:r>
              <a:rPr lang="en-GB" altLang="en-US"/>
              <a:t> is design matrix</a:t>
            </a:r>
          </a:p>
          <a:p>
            <a:pPr lvl="2" eaLnBrk="1" hangingPunct="1"/>
            <a:r>
              <a:rPr lang="en-GB" altLang="en-US"/>
              <a:t>(= </a:t>
            </a:r>
            <a:r>
              <a:rPr lang="en-GB" altLang="en-US" b="1"/>
              <a:t>I </a:t>
            </a:r>
            <a:r>
              <a:rPr lang="en-GB" altLang="en-US"/>
              <a:t>if recorded </a:t>
            </a:r>
            <a:r>
              <a:rPr lang="en-GB" altLang="en-US" b="1"/>
              <a:t>y </a:t>
            </a:r>
            <a:r>
              <a:rPr lang="en-GB" altLang="en-US"/>
              <a:t>and genotyped individuals the same)</a:t>
            </a:r>
          </a:p>
          <a:p>
            <a:pPr lvl="1" eaLnBrk="1" hangingPunct="1"/>
            <a:r>
              <a:rPr lang="en-GB" altLang="en-US" b="1"/>
              <a:t>e</a:t>
            </a:r>
            <a:r>
              <a:rPr lang="en-GB" altLang="en-US"/>
              <a:t> is (</a:t>
            </a:r>
            <a:r>
              <a:rPr lang="en-GB" altLang="en-US" i="1"/>
              <a:t>n</a:t>
            </a:r>
            <a:r>
              <a:rPr lang="en-GB" altLang="en-US"/>
              <a:t> x 1) vector of residual effects</a:t>
            </a:r>
          </a:p>
          <a:p>
            <a:pPr lvl="2" eaLnBrk="1" hangingPunct="1"/>
            <a:r>
              <a:rPr lang="en-GB" altLang="en-US" b="1"/>
              <a:t>e</a:t>
            </a:r>
            <a:r>
              <a:rPr lang="en-GB" altLang="en-US"/>
              <a:t> assumed to be MVN(0,</a:t>
            </a:r>
            <a:r>
              <a:rPr lang="el-GR" altLang="en-US" i="1"/>
              <a:t>σ</a:t>
            </a:r>
            <a:r>
              <a:rPr lang="en-GB" altLang="en-US" i="1" baseline="-25000"/>
              <a:t>E</a:t>
            </a:r>
            <a:r>
              <a:rPr lang="en-GB" altLang="en-US" i="1" baseline="30000"/>
              <a:t>2</a:t>
            </a:r>
            <a:r>
              <a:rPr lang="en-GB" altLang="en-US" b="1"/>
              <a:t>I</a:t>
            </a:r>
            <a:r>
              <a:rPr lang="en-GB" altLang="en-US"/>
              <a:t>)</a:t>
            </a:r>
          </a:p>
          <a:p>
            <a:pPr lvl="1" eaLnBrk="1" hangingPunct="1"/>
            <a:endParaRPr lang="en-GB" altLang="en-US"/>
          </a:p>
          <a:p>
            <a:pPr lvl="1"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sp>
        <p:nvSpPr>
          <p:cNvPr id="675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GBLUP Van Raden Model 2</a:t>
            </a:r>
          </a:p>
        </p:txBody>
      </p:sp>
      <p:sp>
        <p:nvSpPr>
          <p:cNvPr id="6758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E230778-6B66-4DF7-88F4-98A42D52D2B2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758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3408363" y="1196976"/>
          <a:ext cx="33655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3" name="Equation" r:id="rId3" imgW="1269720" imgH="203040" progId="Equation.DSMT4">
                  <p:embed/>
                </p:oleObj>
              </mc:Choice>
              <mc:Fallback>
                <p:oleObj name="Equation" r:id="rId3" imgW="126972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1196976"/>
                        <a:ext cx="33655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 dirty="0"/>
              <a:t>G</a:t>
            </a:r>
            <a:r>
              <a:rPr lang="en-GB" altLang="en-US" baseline="-25000" dirty="0"/>
              <a:t>2</a:t>
            </a:r>
            <a:r>
              <a:rPr lang="en-GB" altLang="en-US" b="1" dirty="0"/>
              <a:t> </a:t>
            </a:r>
            <a:r>
              <a:rPr lang="en-GB" altLang="en-US" dirty="0"/>
              <a:t>= (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="1" baseline="30000" dirty="0"/>
              <a:t>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aseline="30000" dirty="0"/>
              <a:t>T</a:t>
            </a:r>
            <a:r>
              <a:rPr lang="en-GB" altLang="en-US" dirty="0"/>
              <a:t>)/</a:t>
            </a:r>
            <a:r>
              <a:rPr lang="en-GB" altLang="en-US" i="1" dirty="0"/>
              <a:t>m</a:t>
            </a:r>
          </a:p>
          <a:p>
            <a:pPr lvl="1" eaLnBrk="1" hangingPunct="1"/>
            <a:r>
              <a:rPr lang="en-GB" altLang="en-US" i="1" dirty="0"/>
              <a:t>m</a:t>
            </a:r>
            <a:r>
              <a:rPr lang="en-GB" altLang="en-US" dirty="0"/>
              <a:t> = number of markers</a:t>
            </a:r>
          </a:p>
          <a:p>
            <a:pPr eaLnBrk="1" hangingPunct="1"/>
            <a:r>
              <a:rPr lang="en-GB" altLang="en-US" b="1" dirty="0"/>
              <a:t>G</a:t>
            </a:r>
            <a:r>
              <a:rPr lang="en-GB" altLang="en-US" baseline="-25000" dirty="0"/>
              <a:t>2</a:t>
            </a:r>
            <a:r>
              <a:rPr lang="en-GB" altLang="en-US" b="1" dirty="0"/>
              <a:t> </a:t>
            </a:r>
            <a:r>
              <a:rPr lang="en-GB" altLang="en-US" dirty="0"/>
              <a:t>=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="1" baseline="30000" dirty="0"/>
              <a:t>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aseline="30000" dirty="0"/>
              <a:t>T</a:t>
            </a:r>
            <a:r>
              <a:rPr lang="en-GB" altLang="en-US" dirty="0"/>
              <a:t>/</a:t>
            </a:r>
            <a:r>
              <a:rPr lang="en-GB" altLang="en-US" i="1" dirty="0"/>
              <a:t>m</a:t>
            </a:r>
            <a:r>
              <a:rPr lang="en-GB" altLang="en-US" dirty="0"/>
              <a:t> =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b="1" dirty="0"/>
              <a:t>D</a:t>
            </a:r>
            <a:r>
              <a:rPr lang="en-GB" altLang="en-US" baseline="30000" dirty="0"/>
              <a:t>-1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baseline="30000" dirty="0"/>
              <a:t>T</a:t>
            </a:r>
            <a:r>
              <a:rPr lang="en-GB" altLang="en-US" dirty="0"/>
              <a:t>/</a:t>
            </a:r>
            <a:r>
              <a:rPr lang="en-GB" altLang="en-US" i="1" dirty="0"/>
              <a:t>m</a:t>
            </a:r>
          </a:p>
          <a:p>
            <a:pPr lvl="1" eaLnBrk="1" hangingPunct="1"/>
            <a:r>
              <a:rPr lang="en-GB" altLang="en-US" b="1" dirty="0"/>
              <a:t>D</a:t>
            </a:r>
            <a:r>
              <a:rPr lang="en-GB" altLang="en-US" dirty="0"/>
              <a:t> is </a:t>
            </a:r>
            <a:r>
              <a:rPr lang="en-GB" altLang="en-US" i="1" dirty="0"/>
              <a:t>m </a:t>
            </a:r>
            <a:r>
              <a:rPr lang="en-GB" altLang="en-US" dirty="0"/>
              <a:t>x </a:t>
            </a:r>
            <a:r>
              <a:rPr lang="en-GB" altLang="en-US" i="1" dirty="0"/>
              <a:t>m</a:t>
            </a:r>
            <a:r>
              <a:rPr lang="en-GB" altLang="en-US" dirty="0"/>
              <a:t> diagonal matrix</a:t>
            </a:r>
            <a:r>
              <a:rPr lang="en-GB" altLang="en-US" b="1" dirty="0"/>
              <a:t> </a:t>
            </a:r>
            <a:r>
              <a:rPr lang="en-GB" altLang="en-US" dirty="0"/>
              <a:t>with </a:t>
            </a:r>
            <a:r>
              <a:rPr lang="en-GB" altLang="en-US" i="1" dirty="0" err="1"/>
              <a:t>d</a:t>
            </a:r>
            <a:r>
              <a:rPr lang="en-GB" altLang="en-US" i="1" baseline="-25000" dirty="0" err="1"/>
              <a:t>jj</a:t>
            </a:r>
            <a:r>
              <a:rPr lang="en-GB" altLang="en-US" i="1" dirty="0"/>
              <a:t>=2p</a:t>
            </a:r>
            <a:r>
              <a:rPr lang="en-GB" altLang="en-US" i="1" baseline="-25000" dirty="0"/>
              <a:t>j</a:t>
            </a:r>
            <a:r>
              <a:rPr lang="en-GB" altLang="en-US" dirty="0"/>
              <a:t>(</a:t>
            </a:r>
            <a:r>
              <a:rPr lang="en-GB" altLang="en-US" i="1" dirty="0"/>
              <a:t>1-p</a:t>
            </a:r>
            <a:r>
              <a:rPr lang="en-GB" altLang="en-US" i="1" baseline="-25000" dirty="0"/>
              <a:t>j</a:t>
            </a:r>
            <a:r>
              <a:rPr lang="en-GB" altLang="en-US" dirty="0"/>
              <a:t>)</a:t>
            </a:r>
          </a:p>
          <a:p>
            <a:pPr lvl="1"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6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GBLUP Van Raden Model 2</a:t>
            </a:r>
          </a:p>
        </p:txBody>
      </p:sp>
      <p:sp>
        <p:nvSpPr>
          <p:cNvPr id="6861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9A1D9E2-4838-44A3-85DC-AEAA16A9FBA9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861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Van Raden Model 2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GBLUP with Van Raden Model 2</a:t>
            </a:r>
          </a:p>
          <a:p>
            <a:pPr eaLnBrk="1" hangingPunct="1"/>
            <a:r>
              <a:rPr lang="en-GB" altLang="en-US" dirty="0"/>
              <a:t>Uses a relationship matrix </a:t>
            </a:r>
            <a:r>
              <a:rPr lang="en-GB" altLang="en-US" b="1" dirty="0"/>
              <a:t>G</a:t>
            </a:r>
            <a:r>
              <a:rPr lang="en-GB" altLang="en-US" baseline="-25000" dirty="0"/>
              <a:t>2</a:t>
            </a:r>
            <a:r>
              <a:rPr lang="en-GB" altLang="en-US" dirty="0"/>
              <a:t>,</a:t>
            </a:r>
          </a:p>
          <a:p>
            <a:pPr lvl="1" eaLnBrk="1" hangingPunct="1"/>
            <a:r>
              <a:rPr lang="en-GB" altLang="en-US" dirty="0"/>
              <a:t>calculated from markers alone </a:t>
            </a:r>
            <a:r>
              <a:rPr lang="en-GB" altLang="en-US" b="1" dirty="0"/>
              <a:t>G</a:t>
            </a:r>
            <a:r>
              <a:rPr lang="en-GB" altLang="en-US" baseline="-25000" dirty="0"/>
              <a:t>2</a:t>
            </a:r>
            <a:r>
              <a:rPr lang="en-GB" altLang="en-US" b="1" dirty="0"/>
              <a:t> </a:t>
            </a:r>
            <a:r>
              <a:rPr lang="en-GB" altLang="en-US" dirty="0"/>
              <a:t>= (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="1" baseline="30000" dirty="0"/>
              <a:t>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aseline="30000" dirty="0"/>
              <a:t>T</a:t>
            </a:r>
            <a:r>
              <a:rPr lang="en-GB" altLang="en-US" dirty="0"/>
              <a:t>)/</a:t>
            </a:r>
            <a:r>
              <a:rPr lang="en-GB" altLang="en-US" i="1" dirty="0"/>
              <a:t>m</a:t>
            </a:r>
            <a:endParaRPr lang="en-GB" altLang="en-US" dirty="0"/>
          </a:p>
          <a:p>
            <a:pPr marL="1371600" lvl="2" indent="-457200" eaLnBrk="1" hangingPunct="1">
              <a:buFont typeface="Arial" panose="020B0604020202020204" pitchFamily="34" charset="0"/>
              <a:buAutoNum type="arabicPeriod"/>
            </a:pPr>
            <a:r>
              <a:rPr lang="en-GB" altLang="en-US" dirty="0"/>
              <a:t>form </a:t>
            </a:r>
            <a:r>
              <a:rPr lang="en-GB" altLang="en-US" b="1" dirty="0"/>
              <a:t>W</a:t>
            </a:r>
            <a:r>
              <a:rPr lang="en-GB" altLang="en-US" baseline="-25000" dirty="0"/>
              <a:t>1</a:t>
            </a:r>
            <a:r>
              <a:rPr lang="en-GB" altLang="en-US" b="1" dirty="0"/>
              <a:t> </a:t>
            </a:r>
            <a:r>
              <a:rPr lang="en-GB" altLang="en-US" dirty="0"/>
              <a:t>as centred allele counts 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rabicPeriod"/>
            </a:pPr>
            <a:r>
              <a:rPr lang="en-GB" altLang="en-US" dirty="0"/>
              <a:t>form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dirty="0"/>
              <a:t> by normalising each locus by dividing by             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rabicPeriod"/>
            </a:pPr>
            <a:endParaRPr lang="en-GB" altLang="en-US" dirty="0"/>
          </a:p>
          <a:p>
            <a:pPr marL="1371600" lvl="2" indent="-457200" eaLnBrk="1" hangingPunct="1">
              <a:buFont typeface="Arial" panose="020B0604020202020204" pitchFamily="34" charset="0"/>
              <a:buAutoNum type="arabicPeriod"/>
            </a:pPr>
            <a:r>
              <a:rPr lang="en-GB" altLang="en-US" dirty="0"/>
              <a:t>form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="1" dirty="0"/>
              <a:t> W</a:t>
            </a:r>
            <a:r>
              <a:rPr lang="en-GB" altLang="en-US" baseline="-25000" dirty="0"/>
              <a:t>2</a:t>
            </a:r>
            <a:r>
              <a:rPr lang="en-GB" altLang="en-US" baseline="30000" dirty="0"/>
              <a:t>T</a:t>
            </a:r>
          </a:p>
          <a:p>
            <a:pPr marL="1371600" lvl="2" indent="-457200" eaLnBrk="1" hangingPunct="1">
              <a:buFont typeface="Arial" panose="020B0604020202020204" pitchFamily="34" charset="0"/>
              <a:buAutoNum type="arabicPeriod"/>
            </a:pPr>
            <a:r>
              <a:rPr lang="en-GB" altLang="en-US" dirty="0"/>
              <a:t>scale by number of markers </a:t>
            </a:r>
            <a:r>
              <a:rPr lang="en-GB" altLang="en-US" i="1" dirty="0"/>
              <a:t>m</a:t>
            </a:r>
            <a:endParaRPr lang="en-GB" altLang="en-US" dirty="0"/>
          </a:p>
          <a:p>
            <a:pPr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</p:txBody>
      </p:sp>
      <p:sp>
        <p:nvSpPr>
          <p:cNvPr id="6963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67CC78F-645C-4587-AA9C-3DE5CA3E336B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6963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graphicFrame>
        <p:nvGraphicFramePr>
          <p:cNvPr id="69638" name="Object 6"/>
          <p:cNvGraphicFramePr>
            <a:graphicFrameLocks noChangeAspect="1"/>
          </p:cNvGraphicFramePr>
          <p:nvPr/>
        </p:nvGraphicFramePr>
        <p:xfrm>
          <a:off x="4151314" y="3716339"/>
          <a:ext cx="20986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4" name="Equation" r:id="rId3" imgW="1130040" imgH="279360" progId="Equation.DSMT4">
                  <p:embed/>
                </p:oleObj>
              </mc:Choice>
              <mc:Fallback>
                <p:oleObj name="Equation" r:id="rId3" imgW="1130040" imgH="279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3716339"/>
                        <a:ext cx="20986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5"/>
          <p:cNvGraphicFramePr>
            <a:graphicFrameLocks noChangeAspect="1"/>
          </p:cNvGraphicFramePr>
          <p:nvPr/>
        </p:nvGraphicFramePr>
        <p:xfrm>
          <a:off x="6038850" y="22225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5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22225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Van Raden Model 2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Has variance on marker effects in ‘locus </a:t>
            </a:r>
            <a:r>
              <a:rPr lang="en-GB" altLang="en-US" dirty="0" err="1"/>
              <a:t>s.d.</a:t>
            </a:r>
            <a:r>
              <a:rPr lang="en-GB" altLang="en-US" dirty="0"/>
              <a:t>’ units</a:t>
            </a:r>
          </a:p>
          <a:p>
            <a:pPr lvl="1" eaLnBrk="1" hangingPunct="1"/>
            <a:r>
              <a:rPr lang="en-GB" altLang="en-US" dirty="0"/>
              <a:t>each locus expected to contribute same variance irrespective of MAF</a:t>
            </a:r>
          </a:p>
          <a:p>
            <a:pPr lvl="1" eaLnBrk="1" hangingPunct="1"/>
            <a:r>
              <a:rPr lang="el-GR" altLang="en-US" i="1" dirty="0"/>
              <a:t>σ</a:t>
            </a:r>
            <a:r>
              <a:rPr lang="en-GB" altLang="en-US" i="1" baseline="-25000" dirty="0"/>
              <a:t>g</a:t>
            </a:r>
            <a:r>
              <a:rPr lang="en-GB" altLang="en-US" i="1" baseline="30000" dirty="0"/>
              <a:t>2</a:t>
            </a:r>
            <a:r>
              <a:rPr lang="en-GB" altLang="en-US" dirty="0"/>
              <a:t> is ‘a’ genetic variance called </a:t>
            </a:r>
            <a:r>
              <a:rPr lang="en-GB" altLang="en-US" i="1" dirty="0"/>
              <a:t>genic variance</a:t>
            </a:r>
          </a:p>
          <a:p>
            <a:pPr lvl="2" eaLnBrk="1" hangingPunct="1"/>
            <a:r>
              <a:rPr lang="en-GB" altLang="en-US" dirty="0"/>
              <a:t>population used to construct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dirty="0"/>
              <a:t> if in HWE</a:t>
            </a:r>
          </a:p>
          <a:p>
            <a:pPr eaLnBrk="1" hangingPunct="1"/>
            <a:r>
              <a:rPr lang="en-GB" altLang="en-US" dirty="0"/>
              <a:t>Implemented in GCTA &amp; ACTA</a:t>
            </a:r>
          </a:p>
          <a:p>
            <a:pPr eaLnBrk="1" hangingPunct="1">
              <a:defRPr/>
            </a:pPr>
            <a:r>
              <a:rPr lang="en-GB" dirty="0"/>
              <a:t>It is </a:t>
            </a:r>
            <a:r>
              <a:rPr lang="en-GB" u="sng" dirty="0"/>
              <a:t>the same model</a:t>
            </a:r>
            <a:r>
              <a:rPr lang="en-GB" dirty="0"/>
              <a:t> as SNP BLUP (2)</a:t>
            </a:r>
          </a:p>
          <a:p>
            <a:pPr lvl="1" eaLnBrk="1" hangingPunct="1">
              <a:defRPr/>
            </a:pPr>
            <a:r>
              <a:rPr lang="en-GB" dirty="0"/>
              <a:t>only expressed in a different form</a:t>
            </a:r>
          </a:p>
          <a:p>
            <a:pPr eaLnBrk="1" hangingPunct="1"/>
            <a:endParaRPr lang="en-GB" altLang="en-US" dirty="0"/>
          </a:p>
          <a:p>
            <a:pPr lvl="1" eaLnBrk="1" hangingPunct="1"/>
            <a:endParaRPr lang="en-GB" altLang="en-US" dirty="0"/>
          </a:p>
        </p:txBody>
      </p:sp>
      <p:sp>
        <p:nvSpPr>
          <p:cNvPr id="7066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33C85E3-8FF6-4430-AE33-955F4FB06F6D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7066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72A750D-4CE8-4615-A08D-726C0F55276A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7168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D305CF5-D5CA-4449-AE24-B20795F45D74}" type="datetime4">
              <a:rPr lang="en-GB" altLang="en-US">
                <a:solidFill>
                  <a:srgbClr val="000000"/>
                </a:solidFill>
              </a:rPr>
              <a:pPr/>
              <a:t>03 February 2025</a:t>
            </a:fld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7270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>
                <a:solidFill>
                  <a:srgbClr val="000000"/>
                </a:solidFill>
              </a:rPr>
              <a:t>Lecture 7</a:t>
            </a:r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... Lecture 7 ...</a:t>
            </a:r>
            <a:br>
              <a:rPr lang="en-GB" altLang="en-US"/>
            </a:br>
            <a:r>
              <a:rPr lang="en-GB" altLang="en-US"/>
              <a:t>Genome Wide Markers &amp; EBVs</a:t>
            </a:r>
          </a:p>
        </p:txBody>
      </p:sp>
      <p:sp>
        <p:nvSpPr>
          <p:cNvPr id="7270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 4: some concluding remarks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Van Raden Models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Allele counts scaled by same value in Model 1 &amp; locus-specific values in Model 2</a:t>
            </a:r>
          </a:p>
          <a:p>
            <a:pPr eaLnBrk="1" hangingPunct="1"/>
            <a:r>
              <a:rPr lang="en-GB" altLang="en-US" dirty="0"/>
              <a:t>Models 1 and 2 </a:t>
            </a:r>
            <a:r>
              <a:rPr lang="en-GB" altLang="en-US" b="1" dirty="0"/>
              <a:t>are</a:t>
            </a:r>
            <a:r>
              <a:rPr lang="en-GB" altLang="en-US" dirty="0"/>
              <a:t> different</a:t>
            </a:r>
          </a:p>
          <a:p>
            <a:pPr lvl="1" eaLnBrk="1" hangingPunct="1"/>
            <a:r>
              <a:rPr lang="en-GB" altLang="en-US" dirty="0"/>
              <a:t>variances, effects and EBVs</a:t>
            </a:r>
          </a:p>
          <a:p>
            <a:pPr lvl="1" eaLnBrk="1" hangingPunct="1"/>
            <a:r>
              <a:rPr lang="en-GB" altLang="en-US" dirty="0"/>
              <a:t>even if using sequence </a:t>
            </a:r>
          </a:p>
          <a:p>
            <a:pPr lvl="1" eaLnBrk="1" hangingPunct="1"/>
            <a:r>
              <a:rPr lang="en-GB" altLang="en-US" dirty="0"/>
              <a:t>distributional assumptions on effects changed</a:t>
            </a:r>
          </a:p>
          <a:p>
            <a:pPr lvl="1" eaLnBrk="1" hangingPunct="1"/>
            <a:r>
              <a:rPr lang="en-GB" altLang="en-US" dirty="0"/>
              <a:t>VR(2) has substitution effects related  to 1/MAF</a:t>
            </a:r>
          </a:p>
          <a:p>
            <a:pPr eaLnBrk="1" hangingPunct="1"/>
            <a:r>
              <a:rPr lang="en-GB" altLang="en-US" dirty="0"/>
              <a:t>As yet, no evidence of large differences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7475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13A33B3-7574-4D7E-9E2C-E9BD4334DB6E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7475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Marker Effects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Estimates from Van </a:t>
            </a:r>
            <a:r>
              <a:rPr lang="en-GB" altLang="en-US" dirty="0" err="1"/>
              <a:t>Raden</a:t>
            </a:r>
            <a:r>
              <a:rPr lang="en-GB" altLang="en-US" dirty="0"/>
              <a:t> models are EBV</a:t>
            </a:r>
          </a:p>
          <a:p>
            <a:pPr eaLnBrk="1" hangingPunct="1"/>
            <a:r>
              <a:rPr lang="en-GB" altLang="en-US" dirty="0"/>
              <a:t>Can obtain marker effects as</a:t>
            </a:r>
          </a:p>
          <a:p>
            <a:pPr lvl="1" eaLnBrk="1" hangingPunct="1"/>
            <a:r>
              <a:rPr lang="en-GB" altLang="en-US" dirty="0"/>
              <a:t>Van </a:t>
            </a:r>
            <a:r>
              <a:rPr lang="en-GB" altLang="en-US" dirty="0" err="1"/>
              <a:t>Raden</a:t>
            </a:r>
            <a:r>
              <a:rPr lang="en-GB" altLang="en-US" dirty="0"/>
              <a:t> Model 1</a:t>
            </a:r>
          </a:p>
          <a:p>
            <a:pPr lvl="2" eaLnBrk="1" hangingPunct="1"/>
            <a:r>
              <a:rPr lang="en-GB" altLang="en-US" dirty="0"/>
              <a:t>units are ‘y-units’ per allele count </a:t>
            </a:r>
          </a:p>
          <a:p>
            <a:pPr lvl="1" eaLnBrk="1" hangingPunct="1"/>
            <a:r>
              <a:rPr lang="en-GB" altLang="en-US" dirty="0"/>
              <a:t>Van </a:t>
            </a:r>
            <a:r>
              <a:rPr lang="en-GB" altLang="en-US" dirty="0" err="1"/>
              <a:t>Raden</a:t>
            </a:r>
            <a:r>
              <a:rPr lang="en-GB" altLang="en-US" dirty="0"/>
              <a:t> Model 2 </a:t>
            </a:r>
          </a:p>
          <a:p>
            <a:pPr lvl="2" eaLnBrk="1" hangingPunct="1"/>
            <a:r>
              <a:rPr lang="en-GB" altLang="en-US" dirty="0"/>
              <a:t>units are ‘y-units’ per standardised allele count</a:t>
            </a:r>
          </a:p>
          <a:p>
            <a:pPr lvl="2" eaLnBrk="1" hangingPunct="1"/>
            <a:r>
              <a:rPr lang="en-GB" altLang="en-US" dirty="0"/>
              <a:t>to obtain as ‘y-units’ per allele count </a:t>
            </a:r>
          </a:p>
          <a:p>
            <a:pPr lvl="2" eaLnBrk="1" hangingPunct="1"/>
            <a:r>
              <a:rPr lang="en-GB" altLang="en-US" dirty="0"/>
              <a:t>where</a:t>
            </a:r>
            <a:r>
              <a:rPr lang="en-GB" altLang="en-US" b="1" dirty="0"/>
              <a:t> D</a:t>
            </a:r>
            <a:r>
              <a:rPr lang="en-GB" altLang="en-US" dirty="0"/>
              <a:t> is </a:t>
            </a:r>
            <a:r>
              <a:rPr lang="en-GB" altLang="en-US" i="1" dirty="0"/>
              <a:t>m </a:t>
            </a:r>
            <a:r>
              <a:rPr lang="en-GB" altLang="en-US" dirty="0"/>
              <a:t>x </a:t>
            </a:r>
            <a:r>
              <a:rPr lang="en-GB" altLang="en-US" i="1" dirty="0"/>
              <a:t>m</a:t>
            </a:r>
            <a:r>
              <a:rPr lang="en-GB" altLang="en-US" dirty="0"/>
              <a:t> diagonal matrix</a:t>
            </a:r>
            <a:r>
              <a:rPr lang="en-GB" altLang="en-US" b="1" dirty="0"/>
              <a:t> </a:t>
            </a:r>
            <a:r>
              <a:rPr lang="en-GB" altLang="en-US" dirty="0"/>
              <a:t>with </a:t>
            </a:r>
            <a:r>
              <a:rPr lang="en-GB" altLang="en-US" i="1" dirty="0" err="1"/>
              <a:t>d</a:t>
            </a:r>
            <a:r>
              <a:rPr lang="en-GB" altLang="en-US" i="1" baseline="-25000" dirty="0" err="1"/>
              <a:t>jj</a:t>
            </a:r>
            <a:r>
              <a:rPr lang="en-GB" altLang="en-US" i="1" dirty="0"/>
              <a:t>=2p</a:t>
            </a:r>
            <a:r>
              <a:rPr lang="en-GB" altLang="en-US" i="1" baseline="-25000" dirty="0"/>
              <a:t>j</a:t>
            </a:r>
            <a:r>
              <a:rPr lang="en-GB" altLang="en-US" dirty="0"/>
              <a:t>(</a:t>
            </a:r>
            <a:r>
              <a:rPr lang="en-GB" altLang="en-US" i="1" dirty="0"/>
              <a:t>1-p</a:t>
            </a:r>
            <a:r>
              <a:rPr lang="en-GB" altLang="en-US" i="1" baseline="-25000" dirty="0"/>
              <a:t>j</a:t>
            </a:r>
            <a:r>
              <a:rPr lang="en-GB" altLang="en-US" dirty="0"/>
              <a:t>)</a:t>
            </a:r>
          </a:p>
          <a:p>
            <a:pPr eaLnBrk="1" hangingPunct="1"/>
            <a:r>
              <a:rPr lang="en-GB" altLang="en-US" dirty="0"/>
              <a:t>They are different! </a:t>
            </a:r>
          </a:p>
          <a:p>
            <a:pPr lvl="1" eaLnBrk="1" hangingPunct="1"/>
            <a:r>
              <a:rPr lang="en-GB" altLang="en-US"/>
              <a:t>more </a:t>
            </a:r>
            <a:r>
              <a:rPr lang="en-GB" altLang="en-US" dirty="0"/>
              <a:t>in Tutorial 8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7578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4C6473F-E3AE-49F5-8E50-58A1AB136FBE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7578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  <p:sp>
        <p:nvSpPr>
          <p:cNvPr id="75782" name="Rectangle 6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75783" name="Object 10"/>
          <p:cNvGraphicFramePr>
            <a:graphicFrameLocks noChangeAspect="1"/>
          </p:cNvGraphicFramePr>
          <p:nvPr/>
        </p:nvGraphicFramePr>
        <p:xfrm>
          <a:off x="6200775" y="2319339"/>
          <a:ext cx="23002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05" name="Equation" r:id="rId3" imgW="1066680" imgH="266400" progId="Equation.DSMT4">
                  <p:embed/>
                </p:oleObj>
              </mc:Choice>
              <mc:Fallback>
                <p:oleObj name="Equation" r:id="rId3" imgW="1066680" imgH="26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775" y="2319339"/>
                        <a:ext cx="230028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386962"/>
              </p:ext>
            </p:extLst>
          </p:nvPr>
        </p:nvGraphicFramePr>
        <p:xfrm>
          <a:off x="6184900" y="3259386"/>
          <a:ext cx="2401888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06" name="Equation" r:id="rId5" imgW="1066680" imgH="266400" progId="Equation.DSMT4">
                  <p:embed/>
                </p:oleObj>
              </mc:Choice>
              <mc:Fallback>
                <p:oleObj name="Equation" r:id="rId5" imgW="1066680" imgH="26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259386"/>
                        <a:ext cx="2401888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Rectangle 70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786" name="Rectangle 71"/>
          <p:cNvSpPr>
            <a:spLocks noChangeArrowheads="1"/>
          </p:cNvSpPr>
          <p:nvPr/>
        </p:nvSpPr>
        <p:spPr bwMode="auto">
          <a:xfrm>
            <a:off x="1524000" y="53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5787" name="Rectangle 72"/>
          <p:cNvSpPr>
            <a:spLocks noChangeArrowheads="1"/>
          </p:cNvSpPr>
          <p:nvPr/>
        </p:nvSpPr>
        <p:spPr bwMode="auto">
          <a:xfrm>
            <a:off x="1524000" y="805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411855"/>
              </p:ext>
            </p:extLst>
          </p:nvPr>
        </p:nvGraphicFramePr>
        <p:xfrm>
          <a:off x="7896201" y="4175125"/>
          <a:ext cx="9731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07" name="Equation" r:id="rId7" imgW="431640" imgH="253800" progId="Equation.DSMT4">
                  <p:embed/>
                </p:oleObj>
              </mc:Choice>
              <mc:Fallback>
                <p:oleObj name="Equation" r:id="rId7" imgW="431640" imgH="253800" progId="Equation.DSMT4">
                  <p:embed/>
                  <p:pic>
                    <p:nvPicPr>
                      <p:cNvPr id="7578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01" y="4175125"/>
                        <a:ext cx="97313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What is </a:t>
            </a:r>
            <a:r>
              <a:rPr lang="el-GR" altLang="en-US"/>
              <a:t>σ</a:t>
            </a:r>
            <a:r>
              <a:rPr lang="en-GB" altLang="en-US" baseline="-25000"/>
              <a:t>g</a:t>
            </a:r>
            <a:r>
              <a:rPr lang="en-GB" altLang="en-US" baseline="30000"/>
              <a:t>2</a:t>
            </a:r>
            <a:r>
              <a:rPr lang="en-GB" altLang="en-US"/>
              <a:t>? 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l-GR" altLang="en-US" i="1" dirty="0"/>
              <a:t>σ</a:t>
            </a:r>
            <a:r>
              <a:rPr lang="en-GB" altLang="en-US" i="1" baseline="-25000" dirty="0"/>
              <a:t>g</a:t>
            </a:r>
            <a:r>
              <a:rPr lang="en-GB" altLang="en-US" i="1" baseline="30000" dirty="0"/>
              <a:t>2</a:t>
            </a:r>
            <a:r>
              <a:rPr lang="en-GB" altLang="en-US" dirty="0"/>
              <a:t> is an ‘</a:t>
            </a:r>
            <a:r>
              <a:rPr lang="en-GB" altLang="en-US" i="1" dirty="0"/>
              <a:t>additive variance</a:t>
            </a:r>
            <a:r>
              <a:rPr lang="en-GB" altLang="en-US" dirty="0"/>
              <a:t>’</a:t>
            </a:r>
          </a:p>
          <a:p>
            <a:pPr lvl="1" eaLnBrk="1" hangingPunct="1"/>
            <a:r>
              <a:rPr lang="en-GB" altLang="en-US" dirty="0"/>
              <a:t>as it comes from linear regressions regression on allele counts</a:t>
            </a:r>
          </a:p>
          <a:p>
            <a:pPr eaLnBrk="1" hangingPunct="1"/>
            <a:r>
              <a:rPr lang="en-GB" altLang="en-US" dirty="0"/>
              <a:t>EBV have validity even though using a ‘</a:t>
            </a:r>
            <a:r>
              <a:rPr lang="en-GB" altLang="en-US" i="1" dirty="0"/>
              <a:t>genic variance</a:t>
            </a:r>
            <a:r>
              <a:rPr lang="en-GB" altLang="en-US" dirty="0"/>
              <a:t>’</a:t>
            </a:r>
          </a:p>
          <a:p>
            <a:pPr eaLnBrk="1" hangingPunct="1"/>
            <a:r>
              <a:rPr lang="en-GB" altLang="en-US" dirty="0"/>
              <a:t>Can also calculate genetic variance in any subset</a:t>
            </a:r>
          </a:p>
          <a:p>
            <a:pPr lvl="1" eaLnBrk="1" hangingPunct="1"/>
            <a:r>
              <a:rPr lang="en-GB" altLang="en-US" dirty="0"/>
              <a:t>more in Lecture 9</a:t>
            </a:r>
          </a:p>
        </p:txBody>
      </p:sp>
      <p:sp>
        <p:nvSpPr>
          <p:cNvPr id="7680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8AEAC6F-7C32-4EF4-9587-0AFEAF6D5A3D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7680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Using Markers  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Markers may not capture </a:t>
            </a:r>
            <a:r>
              <a:rPr lang="el-GR" altLang="en-US" i="1" dirty="0"/>
              <a:t>σ</a:t>
            </a:r>
            <a:r>
              <a:rPr lang="en-GB" altLang="en-US" i="1" baseline="-25000" dirty="0"/>
              <a:t>A</a:t>
            </a:r>
            <a:r>
              <a:rPr lang="en-GB" altLang="en-US" i="1" baseline="30000" dirty="0"/>
              <a:t>2</a:t>
            </a:r>
            <a:r>
              <a:rPr lang="en-GB" altLang="en-US" dirty="0"/>
              <a:t> for trait</a:t>
            </a:r>
          </a:p>
          <a:p>
            <a:pPr lvl="1" eaLnBrk="1" hangingPunct="1"/>
            <a:r>
              <a:rPr lang="en-GB" altLang="en-US" dirty="0"/>
              <a:t>consider trait as two components </a:t>
            </a:r>
            <a:r>
              <a:rPr lang="en-GB" altLang="en-US" i="1" dirty="0" err="1"/>
              <a:t>g</a:t>
            </a:r>
            <a:r>
              <a:rPr lang="en-GB" altLang="en-US" i="1" baseline="-25000" dirty="0" err="1"/>
              <a:t>i</a:t>
            </a:r>
            <a:r>
              <a:rPr lang="en-GB" altLang="en-US" i="1" dirty="0"/>
              <a:t> = </a:t>
            </a:r>
            <a:r>
              <a:rPr lang="en-GB" altLang="en-US" i="1" dirty="0" err="1"/>
              <a:t>u</a:t>
            </a:r>
            <a:r>
              <a:rPr lang="en-GB" altLang="en-US" i="1" baseline="-25000" dirty="0" err="1"/>
              <a:t>i</a:t>
            </a:r>
            <a:r>
              <a:rPr lang="en-GB" altLang="en-US" i="1" dirty="0"/>
              <a:t> + </a:t>
            </a:r>
            <a:r>
              <a:rPr lang="en-GB" altLang="en-US" i="1" dirty="0" err="1"/>
              <a:t>e</a:t>
            </a:r>
            <a:r>
              <a:rPr lang="en-GB" altLang="en-US" i="1" baseline="-25000" dirty="0" err="1"/>
              <a:t>i</a:t>
            </a:r>
            <a:endParaRPr lang="en-GB" altLang="en-US" i="1" baseline="-25000" dirty="0"/>
          </a:p>
          <a:p>
            <a:pPr lvl="2" eaLnBrk="1" hangingPunct="1"/>
            <a:r>
              <a:rPr lang="en-GB" altLang="en-US" i="1" dirty="0"/>
              <a:t>g</a:t>
            </a:r>
            <a:r>
              <a:rPr lang="en-GB" altLang="en-US" dirty="0"/>
              <a:t> is the trait breeding value </a:t>
            </a:r>
          </a:p>
          <a:p>
            <a:pPr lvl="2" eaLnBrk="1" hangingPunct="1"/>
            <a:r>
              <a:rPr lang="en-GB" altLang="en-US" i="1" dirty="0"/>
              <a:t>u</a:t>
            </a:r>
            <a:r>
              <a:rPr lang="en-GB" altLang="en-US" dirty="0"/>
              <a:t> is the component of the breeding value that is accessible by markers</a:t>
            </a:r>
          </a:p>
          <a:p>
            <a:pPr lvl="2" eaLnBrk="1" hangingPunct="1"/>
            <a:r>
              <a:rPr lang="en-GB" altLang="en-US" i="1" dirty="0"/>
              <a:t>e</a:t>
            </a:r>
            <a:r>
              <a:rPr lang="en-GB" altLang="en-US" dirty="0"/>
              <a:t> is the component independent of the markers, hopefully small</a:t>
            </a:r>
          </a:p>
          <a:p>
            <a:pPr eaLnBrk="1" hangingPunct="1"/>
            <a:r>
              <a:rPr lang="en-GB" altLang="en-US" dirty="0"/>
              <a:t>If I use sequence there </a:t>
            </a:r>
            <a:r>
              <a:rPr lang="en-GB" altLang="en-US" u="sng" dirty="0"/>
              <a:t>may</a:t>
            </a:r>
            <a:r>
              <a:rPr lang="en-GB" altLang="en-US" dirty="0"/>
              <a:t> be a prior with effects to be larger for low MAF</a:t>
            </a:r>
          </a:p>
          <a:p>
            <a:pPr lvl="1" eaLnBrk="1" hangingPunct="1"/>
            <a:r>
              <a:rPr lang="en-GB" altLang="en-US" dirty="0"/>
              <a:t>if I use markers this does not hold!</a:t>
            </a:r>
          </a:p>
        </p:txBody>
      </p:sp>
      <p:sp>
        <p:nvSpPr>
          <p:cNvPr id="7782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41D88CA-7BE9-44C8-84AF-BD67D4FD69A8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7782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Summary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Can fit multiple markers using shrinkage</a:t>
            </a:r>
          </a:p>
          <a:p>
            <a:pPr lvl="2" eaLnBrk="1" hangingPunct="1"/>
            <a:r>
              <a:rPr lang="en-GB" altLang="en-US" dirty="0"/>
              <a:t>Ridge Regression (RR)</a:t>
            </a:r>
          </a:p>
          <a:p>
            <a:pPr eaLnBrk="1" hangingPunct="1"/>
            <a:r>
              <a:rPr lang="en-GB" altLang="en-US" dirty="0"/>
              <a:t>If markers capture total genetic variance</a:t>
            </a:r>
          </a:p>
          <a:p>
            <a:pPr lvl="2" eaLnBrk="1" hangingPunct="1"/>
            <a:r>
              <a:rPr lang="en-GB" altLang="en-US" dirty="0"/>
              <a:t>2 ridge regression models</a:t>
            </a:r>
          </a:p>
          <a:p>
            <a:pPr lvl="2" eaLnBrk="1" hangingPunct="1"/>
            <a:r>
              <a:rPr lang="en-GB" altLang="en-US" dirty="0"/>
              <a:t>Model (1) has variance of allelic substitutions independent of MAF</a:t>
            </a:r>
          </a:p>
          <a:p>
            <a:pPr lvl="2" eaLnBrk="1" hangingPunct="1"/>
            <a:r>
              <a:rPr lang="en-GB" altLang="en-US" dirty="0"/>
              <a:t>Model (2) with normalised &amp; centred marker design matrix </a:t>
            </a:r>
            <a:r>
              <a:rPr lang="en-GB" altLang="en-US" b="1" dirty="0"/>
              <a:t>W</a:t>
            </a:r>
            <a:r>
              <a:rPr lang="en-GB" altLang="en-US" baseline="-25000" dirty="0"/>
              <a:t>2</a:t>
            </a:r>
            <a:r>
              <a:rPr lang="en-GB" altLang="en-US" b="1" dirty="0"/>
              <a:t> </a:t>
            </a:r>
            <a:r>
              <a:rPr lang="en-GB" altLang="en-US" dirty="0"/>
              <a:t>shares variance among loci</a:t>
            </a:r>
          </a:p>
          <a:p>
            <a:pPr eaLnBrk="1" hangingPunct="1"/>
            <a:r>
              <a:rPr lang="en-GB" altLang="en-US" dirty="0"/>
              <a:t>No pedigree, or map or map order is needed</a:t>
            </a:r>
          </a:p>
          <a:p>
            <a:pPr lvl="1" eaLnBrk="1" hangingPunct="1"/>
            <a:r>
              <a:rPr lang="en-GB" altLang="en-US" dirty="0"/>
              <a:t>assume dense across genome to capture </a:t>
            </a:r>
            <a:r>
              <a:rPr lang="el-GR" altLang="en-US" i="1" dirty="0"/>
              <a:t>σ</a:t>
            </a:r>
            <a:r>
              <a:rPr lang="en-GB" altLang="en-US" i="1" baseline="-25000" dirty="0"/>
              <a:t>A</a:t>
            </a:r>
            <a:r>
              <a:rPr lang="en-GB" altLang="en-US" i="1" baseline="30000" dirty="0"/>
              <a:t>2</a:t>
            </a:r>
            <a:r>
              <a:rPr lang="en-GB" altLang="en-US" dirty="0"/>
              <a:t> 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7885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8AD20A5-A134-4C4A-B3F5-32078CB03C71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7885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Summary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Lead to GBLUP Van Raden Models 1 &amp; 2</a:t>
            </a:r>
          </a:p>
          <a:p>
            <a:pPr lvl="2" eaLnBrk="1" hangingPunct="1"/>
            <a:r>
              <a:rPr lang="en-GB" altLang="en-US" dirty="0"/>
              <a:t>Equivalent models to the corresponding RR</a:t>
            </a:r>
          </a:p>
          <a:p>
            <a:pPr lvl="2" eaLnBrk="1" hangingPunct="1"/>
            <a:r>
              <a:rPr lang="en-GB" altLang="en-US" dirty="0"/>
              <a:t>GBLUP smaller computing demands than RR</a:t>
            </a:r>
          </a:p>
          <a:p>
            <a:pPr lvl="1"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sp>
        <p:nvSpPr>
          <p:cNvPr id="7987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5E6C643-E86D-4F6C-97D4-FAD34F830BE8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7987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/>
              <a:t>By analogy with </a:t>
            </a:r>
            <a:r>
              <a:rPr lang="en-GB" b="1" dirty="0"/>
              <a:t>A, </a:t>
            </a:r>
            <a:r>
              <a:rPr lang="en-GB" dirty="0"/>
              <a:t>can define </a:t>
            </a:r>
          </a:p>
          <a:p>
            <a:pPr marL="857250" lvl="1" indent="-457200" eaLnBrk="1" hangingPunct="1">
              <a:defRPr/>
            </a:pPr>
            <a:r>
              <a:rPr lang="en-GB" dirty="0"/>
              <a:t>a genomic relationship coefficient</a:t>
            </a:r>
          </a:p>
          <a:p>
            <a:pPr marL="857250" lvl="1" indent="-457200" eaLnBrk="1" hangingPunct="1">
              <a:defRPr/>
            </a:pPr>
            <a:r>
              <a:rPr lang="en-GB" dirty="0"/>
              <a:t>can construct matrix of coefficients, </a:t>
            </a:r>
            <a:r>
              <a:rPr lang="en-GB" b="1" dirty="0"/>
              <a:t>G</a:t>
            </a:r>
          </a:p>
          <a:p>
            <a:pPr marL="857250" lvl="1" indent="-457200" eaLnBrk="1" hangingPunct="1">
              <a:defRPr/>
            </a:pPr>
            <a:r>
              <a:rPr lang="en-GB" b="1" dirty="0"/>
              <a:t>G </a:t>
            </a:r>
            <a:r>
              <a:rPr lang="en-GB" u="sng" dirty="0"/>
              <a:t>defined by IBS</a:t>
            </a:r>
            <a:r>
              <a:rPr lang="en-GB" b="1" dirty="0"/>
              <a:t> </a:t>
            </a:r>
          </a:p>
          <a:p>
            <a:pPr marL="857250" lvl="1" indent="-457200" eaLnBrk="1" hangingPunct="1">
              <a:defRPr/>
            </a:pPr>
            <a:r>
              <a:rPr lang="en-GB" dirty="0"/>
              <a:t>there is not a single </a:t>
            </a:r>
            <a:r>
              <a:rPr lang="en-GB" b="1" dirty="0"/>
              <a:t>G</a:t>
            </a:r>
            <a:r>
              <a:rPr lang="en-GB" dirty="0"/>
              <a:t>!</a:t>
            </a:r>
          </a:p>
          <a:p>
            <a:pPr marL="457200" indent="-457200" eaLnBrk="1" hangingPunct="1">
              <a:defRPr/>
            </a:pPr>
            <a:r>
              <a:rPr lang="en-GB" b="1" dirty="0"/>
              <a:t>G</a:t>
            </a:r>
            <a:r>
              <a:rPr lang="en-GB" dirty="0"/>
              <a:t> can replace </a:t>
            </a:r>
            <a:r>
              <a:rPr lang="en-GB" b="1" dirty="0"/>
              <a:t>A </a:t>
            </a:r>
            <a:r>
              <a:rPr lang="en-GB" dirty="0"/>
              <a:t>in models</a:t>
            </a:r>
            <a:endParaRPr lang="en-GB" b="1" dirty="0"/>
          </a:p>
          <a:p>
            <a:pPr marL="857250" lvl="1" indent="-457200" eaLnBrk="1" hangingPunct="1">
              <a:defRPr/>
            </a:pPr>
            <a:r>
              <a:rPr lang="en-GB" dirty="0"/>
              <a:t>e.g. individual, repeatability &amp; multi-trait models</a:t>
            </a:r>
          </a:p>
          <a:p>
            <a:pPr marL="1257300" lvl="2" indent="-457200" eaLnBrk="1" hangingPunct="1">
              <a:defRPr/>
            </a:pPr>
            <a:r>
              <a:rPr lang="en-GB" dirty="0"/>
              <a:t>QGM lectures 1 to 6</a:t>
            </a:r>
          </a:p>
          <a:p>
            <a:pPr eaLnBrk="1" hangingPunct="1">
              <a:defRPr/>
            </a:pPr>
            <a:endParaRPr lang="en-GB" dirty="0"/>
          </a:p>
          <a:p>
            <a:pPr marL="400050" lvl="1" indent="0" eaLnBrk="1" hangingPunct="1">
              <a:buNone/>
              <a:defRPr/>
            </a:pPr>
            <a:endParaRPr lang="en-GB" dirty="0"/>
          </a:p>
          <a:p>
            <a:pPr marL="400050" lvl="1" indent="0" eaLnBrk="1" hangingPunct="1">
              <a:buNone/>
              <a:defRPr/>
            </a:pPr>
            <a:endParaRPr lang="en-GB" dirty="0"/>
          </a:p>
          <a:p>
            <a:pPr eaLnBrk="1" hangingPunct="1">
              <a:defRPr/>
            </a:pPr>
            <a:endParaRPr lang="en-GB" dirty="0"/>
          </a:p>
        </p:txBody>
      </p:sp>
      <p:sp>
        <p:nvSpPr>
          <p:cNvPr id="8090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E4AEC3D-9850-4DA9-B9F6-4E51C69FD0EA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8090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Optional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‘van_raden_models.pdf’</a:t>
            </a:r>
          </a:p>
          <a:p>
            <a:pPr lvl="2"/>
            <a:r>
              <a:rPr lang="en-GB" dirty="0"/>
              <a:t>a more detailed algebraic treatment joining up the SNP BLUP and Van </a:t>
            </a:r>
            <a:r>
              <a:rPr lang="en-GB" dirty="0" err="1"/>
              <a:t>Raden</a:t>
            </a:r>
            <a:r>
              <a:rPr lang="en-GB" dirty="0"/>
              <a:t> models</a:t>
            </a:r>
          </a:p>
          <a:p>
            <a:r>
              <a:rPr lang="en-GB" dirty="0"/>
              <a:t>‘meuwissen_hayes_goddard.pdf’</a:t>
            </a:r>
          </a:p>
          <a:p>
            <a:pPr lvl="2"/>
            <a:r>
              <a:rPr lang="en-GB" dirty="0"/>
              <a:t>the pioneering paper</a:t>
            </a:r>
          </a:p>
          <a:p>
            <a:r>
              <a:rPr lang="en-GB" dirty="0"/>
              <a:t>‘van_raden_2008.pdf’</a:t>
            </a:r>
          </a:p>
          <a:p>
            <a:pPr lvl="2"/>
            <a:r>
              <a:rPr lang="en-GB" dirty="0"/>
              <a:t>the origin of the relationship matrices</a:t>
            </a:r>
          </a:p>
        </p:txBody>
      </p:sp>
      <p:sp>
        <p:nvSpPr>
          <p:cNvPr id="81922" name="Date Placeholder 1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DE89F2E-8FC6-4DE0-BE6D-8C330DB99952}" type="datetime4">
              <a:rPr lang="en-GB" altLang="en-US"/>
              <a:pPr/>
              <a:t>03 February 2025</a:t>
            </a:fld>
            <a:endParaRPr lang="en-GB" altLang="en-US"/>
          </a:p>
        </p:txBody>
      </p:sp>
      <p:sp>
        <p:nvSpPr>
          <p:cNvPr id="8192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/>
              <a:t>Lecture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17255</TotalTime>
  <Words>4550</Words>
  <Application>Microsoft Office PowerPoint</Application>
  <PresentationFormat>Widescreen</PresentationFormat>
  <Paragraphs>900</Paragraphs>
  <Slides>87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Arial</vt:lpstr>
      <vt:lpstr>Times New Roman</vt:lpstr>
      <vt:lpstr>1_Default Design</vt:lpstr>
      <vt:lpstr>Equation</vt:lpstr>
      <vt:lpstr>Formula</vt:lpstr>
      <vt:lpstr>MathType 6.0 Equation</vt:lpstr>
      <vt:lpstr>... Lecture 7 ... Genome Wide Markers &amp; EBVs</vt:lpstr>
      <vt:lpstr>... Lecture 7 ... Genome Wide Markers &amp; EBVs</vt:lpstr>
      <vt:lpstr>Revision</vt:lpstr>
      <vt:lpstr>Some Limitations</vt:lpstr>
      <vt:lpstr>Predicting Genotypes</vt:lpstr>
      <vt:lpstr>Opportunities</vt:lpstr>
      <vt:lpstr>Marker Model (1)</vt:lpstr>
      <vt:lpstr>Marker Model (2)</vt:lpstr>
      <vt:lpstr>Small Example</vt:lpstr>
      <vt:lpstr>g = X b</vt:lpstr>
      <vt:lpstr>Multiple Regression</vt:lpstr>
      <vt:lpstr>Multiple Regression</vt:lpstr>
      <vt:lpstr>Multiple Regression</vt:lpstr>
      <vt:lpstr>Multiple Regression</vt:lpstr>
      <vt:lpstr>Multiple Regression</vt:lpstr>
      <vt:lpstr>Predictors &gt;&gt; Data </vt:lpstr>
      <vt:lpstr>Predictors &gt;&gt; Data </vt:lpstr>
      <vt:lpstr>Predictors &gt;&gt; Data </vt:lpstr>
      <vt:lpstr>Ridge Regression</vt:lpstr>
      <vt:lpstr>Centre the X</vt:lpstr>
      <vt:lpstr>Small Example</vt:lpstr>
      <vt:lpstr>Centre the X</vt:lpstr>
      <vt:lpstr>Centre the X</vt:lpstr>
      <vt:lpstr>SNP BLUP (1)</vt:lpstr>
      <vt:lpstr>SNP BLUP (1)</vt:lpstr>
      <vt:lpstr>SNP BLUP (1)</vt:lpstr>
      <vt:lpstr>SNP BLUP (1)</vt:lpstr>
      <vt:lpstr>SNP BLUP (1)</vt:lpstr>
      <vt:lpstr>PowerPoint Presentation</vt:lpstr>
      <vt:lpstr>... Lecture 7 ... Genome Wide Markers &amp; EBVs</vt:lpstr>
      <vt:lpstr>Exploring Breeding Values</vt:lpstr>
      <vt:lpstr>Exploring Breeding Values</vt:lpstr>
      <vt:lpstr>Covariance of Breeding Values</vt:lpstr>
      <vt:lpstr>Covariance of Breeding Values</vt:lpstr>
      <vt:lpstr>Covariance of Breeding Values</vt:lpstr>
      <vt:lpstr>Covariance of Breeding Values</vt:lpstr>
      <vt:lpstr>Covariance of Breeding Values</vt:lpstr>
      <vt:lpstr>Covariance of Breeding Values</vt:lpstr>
      <vt:lpstr>Covariance of Breeding Values</vt:lpstr>
      <vt:lpstr>Covariance of Breeding Values</vt:lpstr>
      <vt:lpstr>Covariance of Breeding Values</vt:lpstr>
      <vt:lpstr>Covariance of Breeding Values</vt:lpstr>
      <vt:lpstr>GBLUP Van Raden Model 1</vt:lpstr>
      <vt:lpstr>GBLUP Van Raden Model 1</vt:lpstr>
      <vt:lpstr>Van Raden Model 1</vt:lpstr>
      <vt:lpstr>Van Raden Model 1</vt:lpstr>
      <vt:lpstr>Van Raden Model 1</vt:lpstr>
      <vt:lpstr>Van Raden Model 1</vt:lpstr>
      <vt:lpstr>PowerPoint Presentation</vt:lpstr>
      <vt:lpstr>... Lecture 7 ... Genome Wide Markers &amp; EBVs</vt:lpstr>
      <vt:lpstr>Ridge Regression</vt:lpstr>
      <vt:lpstr>Ridge Regression</vt:lpstr>
      <vt:lpstr>How confident about the slope?</vt:lpstr>
      <vt:lpstr>How confident about the slope?</vt:lpstr>
      <vt:lpstr>How confident about the slope?</vt:lpstr>
      <vt:lpstr>How confident about the slope?</vt:lpstr>
      <vt:lpstr>How confident about the slope?</vt:lpstr>
      <vt:lpstr>Ridge Regression</vt:lpstr>
      <vt:lpstr>Ridge Regression</vt:lpstr>
      <vt:lpstr>Ridge Regression</vt:lpstr>
      <vt:lpstr>Ridge Regression</vt:lpstr>
      <vt:lpstr>Centre the X</vt:lpstr>
      <vt:lpstr>Normalise W1</vt:lpstr>
      <vt:lpstr>Normalise W1</vt:lpstr>
      <vt:lpstr>Normalise W1</vt:lpstr>
      <vt:lpstr>PowerPoint Presentation</vt:lpstr>
      <vt:lpstr>Normalise W1</vt:lpstr>
      <vt:lpstr>Normalise W1</vt:lpstr>
      <vt:lpstr>SNP BLUP (2)</vt:lpstr>
      <vt:lpstr>Exploring Breeding Values</vt:lpstr>
      <vt:lpstr>Covariance of Breeding Values</vt:lpstr>
      <vt:lpstr>Covariance of Breeding Values</vt:lpstr>
      <vt:lpstr>Covariance of Breeding Values</vt:lpstr>
      <vt:lpstr>GBLUP Van Raden Model 2</vt:lpstr>
      <vt:lpstr>GBLUP Van Raden Model 2</vt:lpstr>
      <vt:lpstr>Van Raden Model 2</vt:lpstr>
      <vt:lpstr>Van Raden Model 2</vt:lpstr>
      <vt:lpstr>PowerPoint Presentation</vt:lpstr>
      <vt:lpstr>... Lecture 7 ... Genome Wide Markers &amp; EBVs</vt:lpstr>
      <vt:lpstr>Van Raden Models</vt:lpstr>
      <vt:lpstr>Marker Effects</vt:lpstr>
      <vt:lpstr>What is σg2? </vt:lpstr>
      <vt:lpstr>Using Markers  </vt:lpstr>
      <vt:lpstr>Summary</vt:lpstr>
      <vt:lpstr>Summary</vt:lpstr>
      <vt:lpstr>Summary</vt:lpstr>
      <vt:lpstr>Additional Optional Material</vt:lpstr>
    </vt:vector>
  </TitlesOfParts>
  <Company>Roslin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Population Size: Calculation and Use</dc:title>
  <dc:creator>woollja</dc:creator>
  <cp:lastModifiedBy>John Woolliams</cp:lastModifiedBy>
  <cp:revision>469</cp:revision>
  <dcterms:created xsi:type="dcterms:W3CDTF">2007-10-16T08:44:29Z</dcterms:created>
  <dcterms:modified xsi:type="dcterms:W3CDTF">2025-02-03T12:38:59Z</dcterms:modified>
</cp:coreProperties>
</file>